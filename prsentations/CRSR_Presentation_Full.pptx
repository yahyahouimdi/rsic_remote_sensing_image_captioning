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0100"/>
            <a:ext cx="4572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CRSR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1180"/>
            <a:ext cx="8046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Cross-Modal Retrieval and Semantic Refinement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Remote Sensing Image Captioning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9641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Li, Zhao, Du, Zhou &amp; Zhang  ·  Remote Sensing, 2024  ·  Chinese Academy of Sciences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11880"/>
            <a:ext cx="2011680" cy="347472"/>
          </a:xfrm>
          <a:prstGeom prst="rect">
            <a:avLst/>
          </a:prstGeom>
          <a:solidFill>
            <a:srgbClr val="0D7EA0">
              <a:alpha val="60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611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CLIP Retrieval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3611880"/>
            <a:ext cx="2011680" cy="347472"/>
          </a:xfrm>
          <a:prstGeom prst="rect">
            <a:avLst/>
          </a:prstGeom>
          <a:solidFill>
            <a:srgbClr val="0D7EA0">
              <a:alpha val="60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611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Semantic Refinement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611880"/>
            <a:ext cx="2011680" cy="347472"/>
          </a:xfrm>
          <a:prstGeom prst="rect">
            <a:avLst/>
          </a:prstGeom>
          <a:solidFill>
            <a:srgbClr val="0D7EA0">
              <a:alpha val="60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611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Transformer Mapper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3611880"/>
            <a:ext cx="2011680" cy="347472"/>
          </a:xfrm>
          <a:prstGeom prst="rect">
            <a:avLst/>
          </a:prstGeom>
          <a:solidFill>
            <a:srgbClr val="0D7EA0">
              <a:alpha val="60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611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Cross-Modal Decoder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EA0">
              <a:alpha val="30000"/>
            </a:srgbClr>
          </a:solidFill>
          <a:ln w="12700">
            <a:solidFill>
              <a:srgbClr val="0D7EA0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 Will Cover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850392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143000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RSIC challenges and why prior methods fall short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27632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27632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165506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Prior Work &amp; Limitations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1947672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One-stage vs two-stage methods and their gaps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32304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32304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2459736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CRSR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752344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Full pipeline: Retrieval → Refinement → Mapper → Decoder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36976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36976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3264408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Semantic Refinement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3557016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CLIP fine-tuning, masked attention, cross-modal filtering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4041648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41648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41648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" y="4069080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Transformer Mapper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4361688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Visual tokens, learnable queries, omitted semantic prediction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822960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822960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822960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850392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Cross-Modal Decoder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1143000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Attention, fusion gate, caption generation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1627632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627632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627632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165506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Training Strategy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1947672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Three losses: Lw, LQ, Lc — joint optimisation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432304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432304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32304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21808" y="2459736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Experiments &amp; Results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2752344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Datasets, metrics, ablation, comparisons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236976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236976"/>
            <a:ext cx="502920" cy="67665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236976"/>
            <a:ext cx="502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21808" y="3264408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21808" y="3557016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Summary, insights, and future directions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Remote Sensing Image Captioning (RSIC)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926080" cy="1737360"/>
          </a:xfrm>
          <a:prstGeom prst="roundRect">
            <a:avLst>
              <a:gd name="adj" fmla="val 3871"/>
            </a:avLst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41248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What is RSIC?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8E8"/>
                </a:solidFill>
              </a:rPr>
              <a:t>Given a satellite or aerial image, automatically generate a natural language description of its content, objects, and spatial relationships.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EAD4"/>
                </a:solidFill>
              </a:rPr>
              <a:t>"Three baseball fields are surrounded by many green trees."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42032"/>
            <a:ext cx="2926080" cy="2304288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60604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A0"/>
                </a:solidFill>
              </a:rPr>
              <a:t>Real-world Applications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Environmental monitoring &amp; disaster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55848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Land surveying &amp; urban planning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Traffic control &amp; infrastructure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215384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Military &amp; security intelligence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777240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777240"/>
            <a:ext cx="384048" cy="1170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777240"/>
            <a:ext cx="38404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832104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Scale diversity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1161288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Objects range from cars (tiny) to airports (huge). Single-scale features miss them.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777240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777240"/>
            <a:ext cx="384048" cy="1170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777240"/>
            <a:ext cx="38404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832104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Spatial relationships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1161288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'Trees on both sides of a river' ≠ 'trees near a river'. Position matters.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2130552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2130552"/>
            <a:ext cx="384048" cy="1170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130552"/>
            <a:ext cx="38404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86200" y="2185416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Global vs local tension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86200" y="2514600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Captions need fine-grained detail AND overall scene context simultaneously.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2130552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130552"/>
            <a:ext cx="384048" cy="1170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130552"/>
            <a:ext cx="38404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2185416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Domain gap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2514600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Satellite imagery differs greatly from natural photos used to pre-train vision models.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9000" y="3483864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29000" y="3483864"/>
            <a:ext cx="384048" cy="1170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483864"/>
            <a:ext cx="38404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86200" y="3538728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Modality mismatch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86200" y="3867912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Visual feature vectors and text embeddings live in different semantic spaces.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3483864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483864"/>
            <a:ext cx="384048" cy="11704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483864"/>
            <a:ext cx="38404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675120" y="3538728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Predefined-label limit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75120" y="3867912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Detectors constrained by fixed labels miss diverse RS image semantics.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PRIOR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Existing Methods and Their Limitations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371600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ONE-STAGE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0" y="8321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CNN + RNN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106424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CNN encoder extracts image features; RNN/LSTM decoder generates text descriptions.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74920" y="832104"/>
            <a:ext cx="35661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868680"/>
            <a:ext cx="33832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2400E"/>
                </a:solidFill>
              </a:rPr>
              <a:t>⚠  Single-scale features; no spatial relationship modeling; limited global context.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18488"/>
            <a:ext cx="1371600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1848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ONE-STAGE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16733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Attention Mechanisms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19476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Soft/hard attention integrates intricate visual–textual relationships into encoder–decoder.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74920" y="1673352"/>
            <a:ext cx="35661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709928"/>
            <a:ext cx="33832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2400E"/>
                </a:solidFill>
              </a:rPr>
              <a:t>⚠  Attention alone insufficient for complex RS scenes without supplementary semantic info.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459736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59736"/>
            <a:ext cx="1371600" cy="7132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59736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TWO-STAGE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25146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Pre-trained Detectors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278892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Object detectors/classifiers provide additional semantic labels as auxiliary information.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74920" y="2514600"/>
            <a:ext cx="35661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51176"/>
            <a:ext cx="33832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2400E"/>
                </a:solidFill>
              </a:rPr>
              <a:t>⚠  Constrained by predefined labels; not optimized during decoding; can't filter misleading tokens.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300984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300984"/>
            <a:ext cx="1371600" cy="7132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300984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TWO-STAGE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0" y="335584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Label-Attention (LAM)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363016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Incorporates class label information from RS images to guide caption generation.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74920" y="3355848"/>
            <a:ext cx="35661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392424"/>
            <a:ext cx="33832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2400E"/>
                </a:solidFill>
              </a:rPr>
              <a:t>⚠  Single label per image misses most objects in complex multi-object scenes.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4142232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142232"/>
            <a:ext cx="1371600" cy="71323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142232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TWO-STAGE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28800" y="419709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Retrieval Topic RNN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447141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Topic words from a retrieval repository guide sentence generation recurrently.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74920" y="4197096"/>
            <a:ext cx="35661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233672"/>
            <a:ext cx="33832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2400E"/>
                </a:solidFill>
              </a:rPr>
              <a:t>⚠  Topics are shallow; no cross-modal refinement; noisy retrieval degrades quality.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1528"/>
          </a:solidFill>
          <a:ln w="12700">
            <a:solidFill>
              <a:srgbClr val="01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CRSR Full Pipeline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74320" y="3127248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712464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297680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1" name="Imag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" y="715645"/>
            <a:ext cx="8759190" cy="4198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SEMANTIC REFINEMENT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51760" y="0"/>
            <a:ext cx="6126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1: CLIP Retrieval and Semantic Filtering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57200" cy="19202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457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89611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Fine-tune CLIP with Mask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52044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CLIP model is fine-tuned on RSIC image–caption pairs. A semantic mask module hides irrelevant words during training so the model learns to match images to only their salient content words — preventing 'tennis court' sentences from scoring high on 'storage tank' images.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06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57200" cy="19202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04672"/>
            <a:ext cx="457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57800" y="89611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Top-K Sentence Retrieval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280160"/>
            <a:ext cx="352044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Masked image–text similarity scores select the top-K most relevant captions from the full sentence pool. Retrieved sentences are decomposed into individual words, forming the initial semantic token set Vs = [w¹s … wᴺʷs].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4206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9504"/>
            <a:ext cx="457200" cy="19202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9504"/>
            <a:ext cx="457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298094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Masked Transformer Blocks (Nc layers)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364992"/>
            <a:ext cx="352044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Self-attention captures relationships between retrieved words. Conflicting terms (e.g. 'plane' vs 'planes') are randomly masked. Cross-attention with image features vI then filters irrelevant words:</a:t>
            </a:r>
            <a:endParaRPr lang="en-US" sz="8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yⁱs = Vⁱs + MultiHead(norm(Vⁱs), Vⁱs, Vⁱs)</a:t>
            </a:r>
            <a:endParaRPr lang="en-US" sz="8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Vⁱ⁺¹s = F(yⁱs + MultiHead(norm(yⁱs), vI, vI))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709160" y="2889504"/>
            <a:ext cx="4206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889504"/>
            <a:ext cx="457200" cy="19202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89504"/>
            <a:ext cx="457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298094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Semantic Token Prediction (Loss Lw)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3364992"/>
            <a:ext cx="352044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Each semantic token is classified into a vocabulary of Nv+1 items (the extra class = 'misleading'). Cross-entropy loss trains the filter to suppress noise:</a:t>
            </a:r>
            <a:endParaRPr lang="en-US" sz="8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Lw = −(1/Nw) Σᵢ Σᵥ yⁱᵥ log(Pⁱᵥ)</a:t>
            </a:r>
            <a:endParaRPr lang="en-US" sz="8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Output: refined semantic tokens Ṽs ready for the decoder.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CLIP?  Pre-trained on massive image–text data → richer semantics beyond predefined labels. Fine-tuned on RS data → domain-adapted retrieval.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TRANSFORMER 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34640" y="0"/>
            <a:ext cx="5943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2: Visual Token Expansion and Query Prediction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4124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</a:rPr>
              <a:t>Motivation: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822960"/>
            <a:ext cx="7086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E8"/>
                </a:solidFill>
              </a:rPr>
              <a:t>CLIP produces a single 512-dim feature vector — too compact for rich captioning. Semantic retrieval may also miss important words not in the top-K sentences. The Transformer Mapper (a) restructures visual features into k structured tokens and (b) uses learnable queries to predict those missing words.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36192"/>
            <a:ext cx="45720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36192"/>
            <a:ext cx="4572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6093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352044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CLIP image feature vI (dim 512) is projected into k=10 visual vectors: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[v¹I … vᵏI] = P(vI)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This gives the model a sequence of spatial-like representations rather than one flat vector.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709160" y="1536192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536192"/>
            <a:ext cx="45720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36192"/>
            <a:ext cx="4572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57800" y="16093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Learnable Queries 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920240"/>
            <a:ext cx="352044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A set of l learnable query vectors Q = [q¹ … qˡ] (l=4/2/7 for Sydney/UCM/RSICD) is concatenated with the visual tokens: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WI = [v¹I … vᵏI, q¹ … qˡ]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73552"/>
            <a:ext cx="45720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73552"/>
            <a:ext cx="4572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33467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Transformer Blocks (Nr=6)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352044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Nr stacked Transformer blocks with multi-head self-attention + MLP process WI: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xⁱI = WⁱI + MultiHead(norm(WⁱI), VⁱI, VⁱI)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Wⁱ⁺¹I = xⁱI + MLP(norm(xⁱI))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Self-attention captures relationships across visual regions and queries simultaneously.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709160" y="3273552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273552"/>
            <a:ext cx="45720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273552"/>
            <a:ext cx="4572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33467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Hungarian Matching &amp; Loss LQ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657600"/>
            <a:ext cx="352044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Query outputs Q̃I predict words omitted from retrieval. Hungarian algorithm matches l queries to No ground-truth words (l &gt; No). Matched pairs optimised with cross-entropy: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  LQ = −Σᵢ yᵢ log(q̃ᵢⱼ)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Unmatched queries are labelled as the 'misleading' class (Nv+1).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7432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 → Enhanced Visual Tokens Ṽ I + Query Tokens Q̃ I  ·  k=10 visual tokens + l query tokens → fed into Cross-Modal Decoder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· CROSS-MODAL DECODER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88920" y="0"/>
            <a:ext cx="60350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Fusion and Autoregressive Caption Generation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5120" y="777240"/>
            <a:ext cx="2194560" cy="4251960"/>
          </a:xfrm>
          <a:prstGeom prst="roundRect">
            <a:avLst>
              <a:gd name="adj" fmla="val 2500"/>
            </a:avLst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8686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</a:rPr>
              <a:t>Glossary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12280" y="120700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Q / K / 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4630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Query, Key, Value (attention projections)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12280" y="177393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γ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12280" y="20299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Sigmoid gate weight balancing text vs vision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12280" y="23408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atti(I)t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259689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Cross-attention output for visual tokens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12280" y="290779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atti(s)t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16382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Cross-attention output for semantic tokens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12280" y="34747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atti(f)t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37307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Fused visual + semantic feature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12280" y="404164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Nd = 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42976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Number of decoder Transformer blocks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777240"/>
            <a:ext cx="6217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777240"/>
            <a:ext cx="38404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777240"/>
            <a:ext cx="38404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" y="83210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Self-Attention over Partial Caption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1124712"/>
            <a:ext cx="5623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At each timestep t, the partial caption embedding S̃⁰₀:t attends to itself: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  zⁱt = multihead(s̃ⁱt, S̃ⁱ₀:t, S̃ⁱ₀:t)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Captures sequential word dependencies and autoregressive context.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1828800"/>
            <a:ext cx="6217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1828800"/>
            <a:ext cx="38404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828800"/>
            <a:ext cx="38404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9808" y="188366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Dual Cross-Attention (Visual &amp; Semantic)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2176272"/>
            <a:ext cx="5623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Two parallel cross-attention heads: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  atti(I)t = multihead(zⁱt, W̃I, W̃I)   [visual + query tokens]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  atti(s)t = multihead(zⁱt, Ṽs, Ṽs)  [semantic tokens]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Each timestep attends to the most relevant image region AND the most relevant semantic word.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6217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880360"/>
            <a:ext cx="38404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880360"/>
            <a:ext cx="38404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9808" y="293522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Fusion Gate 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3227832"/>
            <a:ext cx="5623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Visual and semantic attentions are concatenated and projected, then a sigmoid gate γ blends them with the caption state: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  γ = Sigmoid(Fusion(concat(zⁱt, atti(f)t)))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  s̃ⁱ⁺¹t = s̃ⁱt + norm(γ·zⁱt + (1−γ)·atti(f)t)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This lets the model decide per-token how much to weight language context vs image+semantic context.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6217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31920"/>
            <a:ext cx="38404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31920"/>
            <a:ext cx="38404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9808" y="398678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Word Prediction &amp; Caption Loss Lc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4279392"/>
            <a:ext cx="5623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The final Transformer block output s̃ᴺᵈt passes through a linear + softmax to predict the next word. Trained with cross-entropy: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  Lc = −Σt log(pθ(st|s₀:t−1))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Unlike TSFE, CRSR uses discrete softmax — standard for Transformer decoders.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983480"/>
            <a:ext cx="6217920" cy="7315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· TRAINING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Training Strategy &amp; Objective Functions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697480" cy="502920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804672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Semantic Refinement Loss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371600"/>
            <a:ext cx="2468880" cy="2542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Cross-entropy over Nv+1 classes for each retrieved semantic token. Trains the masked Transformer to suppress misleading words while preserving semantically valid ones.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  Lw = −(1/Nw) Σᵢ Σᵥ yⁱᵥ log(Pⁱᵥ)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04672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804672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LQ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804672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Query Prediction Loss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371600"/>
            <a:ext cx="2468880" cy="2542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Hungarian-matched cross-entropy for learnable queries predicting omitted words. Unmatched queries target the 'misleading' class.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  LQ = −ΣᵢNo yᵢ log(q̃ᵢⱼ)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804672"/>
            <a:ext cx="2697480" cy="32004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04672"/>
            <a:ext cx="2697480" cy="502920"/>
          </a:xfrm>
          <a:prstGeom prst="rect">
            <a:avLst/>
          </a:prstGeom>
          <a:solidFill>
            <a:srgbClr val="065F52"/>
          </a:solidFill>
          <a:ln w="12700">
            <a:solidFill>
              <a:srgbClr val="065F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804672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804672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Caption Generation Loss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44768" y="1371600"/>
            <a:ext cx="2468880" cy="2542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Standard cross-entropy for autoregressive word prediction. Optimizes the full encoder–decoder pipeline end-to-end.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  Lc = −Σt log(pθ(st|s₀:t−1))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502920"/>
          </a:xfrm>
          <a:prstGeom prst="roundRect">
            <a:avLst>
              <a:gd name="adj" fmla="val 9091"/>
            </a:avLst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1605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Total Loss: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4160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  =  Lw  +  LQ  +  Lc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418795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(jointly optimised end-to-end)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⚙  Adam optimizer  ·  lr = 4×10⁻⁵  ·  warmup 20k iterations  ·  20 epochs  ·  batch 16  ·  beam search (beam=3)  ·  Tesla V100  ·  PyTorch 1.13.1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· EXPERIMENTS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Datasets and Evaluation Metrics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851525" cy="124396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234440" cy="123444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RSICD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44168"/>
            <a:ext cx="123444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D1F5EE"/>
                </a:solidFill>
              </a:rPr>
              <a:t>Largest benchmark · 80/10/10 split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00200" y="83210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Remote Sensing Image Caption 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234440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A0"/>
                </a:solidFill>
              </a:rPr>
              <a:t>10,921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16002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images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234440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A0"/>
                </a:solidFill>
              </a:rPr>
              <a:t>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16002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scene types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29000" y="1234440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A0"/>
                </a:solidFill>
              </a:rPr>
              <a:t>224×224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43400" y="1234440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A0"/>
                </a:solidFill>
              </a:rPr>
              <a:t>5 captions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16002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per image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57800" y="1234440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A0"/>
                </a:solidFill>
              </a:rPr>
              <a:t>Vocab 1,252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6002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(cleaned)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167255"/>
            <a:ext cx="585089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67128"/>
            <a:ext cx="123444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25856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UCM-Captions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2734056"/>
            <a:ext cx="123444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D1F5EE"/>
                </a:solidFill>
              </a:rPr>
              <a:t>Balanced class distribution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600200" y="222199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UC Merced Land-Use Captions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2624328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2,100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29900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images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14600" y="2624328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14600" y="29900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categories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2624328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256×256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29900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px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43400" y="2624328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 captions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43400" y="29900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per image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57800" y="2624328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Vocab</a:t>
            </a:r>
            <a:endParaRPr lang="en-US" sz="140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 179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29900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(cleaned)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557270"/>
            <a:ext cx="5880735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57016"/>
            <a:ext cx="1234440" cy="1234440"/>
          </a:xfrm>
          <a:prstGeom prst="rect">
            <a:avLst/>
          </a:prstGeom>
          <a:solidFill>
            <a:srgbClr val="065F52"/>
          </a:solidFill>
          <a:ln w="12700">
            <a:solidFill>
              <a:srgbClr val="065F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484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Sydney-Captions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123944"/>
            <a:ext cx="123444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D1F5EE"/>
                </a:solidFill>
              </a:rPr>
              <a:t>Smallest — tests generalisation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600200" y="361188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Sydney Urban Dataset Captions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401421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52"/>
                </a:solidFill>
              </a:rPr>
              <a:t>613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00200" y="437997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images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514600" y="401421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52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514600" y="437997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urban categories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29000" y="401421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52"/>
                </a:solidFill>
              </a:rPr>
              <a:t>500×500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429000" y="437997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px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343400" y="401421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52"/>
                </a:solidFill>
              </a:rPr>
              <a:t>5 captions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343400" y="437997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per image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57800" y="401421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52"/>
                </a:solidFill>
              </a:rPr>
              <a:t>Vocab 298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257800" y="437997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(cleaned)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26480" y="831850"/>
            <a:ext cx="2815590" cy="4041775"/>
          </a:xfrm>
          <a:prstGeom prst="roundRect">
            <a:avLst>
              <a:gd name="adj" fmla="val 1791"/>
            </a:avLst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240780" y="941705"/>
            <a:ext cx="2697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40780" y="1234567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BLEU-N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40780" y="1499616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N-gram precision (N=1–4). Higher N = stricter matching.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40780" y="178308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METEOR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40780" y="2021459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Harmonic mean of precision &amp; recall with synonym matching.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40780" y="23042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ROUGE-L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40780" y="2542667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Longest common subsequence F-measure; rewards fluency.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40780" y="282549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CIDEr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40780" y="3108960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TF-IDF weighted n-gram consensus; most informative for RSIC.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40780" y="3347339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SPICE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40780" y="3611753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Scene-graph tuple matching; focuses on semantic meaning.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40780" y="3849497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Sm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40780" y="4105656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8D8E8"/>
                </a:solidFill>
              </a:rPr>
              <a:t>Arithmetic mean of BLEU-4, METEOR, ROUGE-L, CIDEr, SPICE.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·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Quantitative Results vs State-of-the-Art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A0"/>
                </a:solidFill>
              </a:rPr>
              <a:t>RSICD Dataset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74320" y="1078992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58368"/>
                <a:gridCol w="658368"/>
                <a:gridCol w="658368"/>
                <a:gridCol w="694944"/>
                <a:gridCol w="658368"/>
                <a:gridCol w="694944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BLEU-1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BLEU-4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METEOR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ROUGE-L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Up-Down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0.7679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0.4962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0.3534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0.6590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2.6022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JTTS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0.7893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0.5135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0.3773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0.6823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2.7958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0.9713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SCST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0.7836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0.5042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0.3672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0.6730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2.8436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0.7965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0.5224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0.3745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0.6833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2.9343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1.0012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CRSR (Ours)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0.8192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0.5574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0.4015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0.7134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3.0687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1.0537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715000" y="77724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A0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0" y="1115568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15214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EA0"/>
                </a:solidFill>
              </a:rPr>
              <a:t>3.0687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0" y="115214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RSICD CIDEr</a:t>
            </a:r>
            <a:endParaRPr lang="en-US" sz="900" dirty="0"/>
          </a:p>
        </p:txBody>
      </p:sp>
      <p:sp>
        <p:nvSpPr>
          <p:cNvPr id="7" name="Text 9"/>
          <p:cNvSpPr/>
          <p:nvPr/>
        </p:nvSpPr>
        <p:spPr>
          <a:xfrm>
            <a:off x="6858000" y="135331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+4.6% vs CASK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15000" y="1792224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182880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EA0"/>
                </a:solidFill>
              </a:rPr>
              <a:t>1.0537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58000" y="18288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RSICD Sm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0" y="202996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+5.2% vs CASK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0" y="2468880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2505456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EA0"/>
                </a:solidFill>
              </a:rPr>
              <a:t>0.9060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58000" y="250545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UCM BLEU-1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270662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New SOTA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15000" y="3145536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06440" y="318211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EA0"/>
                </a:solidFill>
              </a:rPr>
              <a:t>0.8586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58000" y="318211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UCM ROUGE-L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0" y="338328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New SOTA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715000" y="3822192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806440" y="385876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EA0"/>
                </a:solidFill>
              </a:rPr>
              <a:t>0.4845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0" y="385876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Sydney SPICE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58000" y="405993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Highest SPICE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74320" y="3127248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</a:rPr>
              <a:t>UCM-Captions Dataset</a:t>
            </a:r>
            <a:endParaRPr lang="en-US" sz="1000" dirty="0"/>
          </a:p>
        </p:txBody>
      </p:sp>
      <p:graphicFrame>
        <p:nvGraphicFramePr>
          <p:cNvPr id="30" name="Table 1"/>
          <p:cNvGraphicFramePr>
            <a:graphicFrameLocks noGrp="1"/>
          </p:cNvGraphicFramePr>
          <p:nvPr/>
        </p:nvGraphicFramePr>
        <p:xfrm>
          <a:off x="274320" y="3401568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BLEU-1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BLEU-4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ROUGE-L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0.8900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0.7575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0.8578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3.8314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CRSR (Ours)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0.9060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0.7681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0.8586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3.8069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SAT = Show &amp; Tell  ·  JTTS = Joint-Training Two-Stage  ·  SCST = Self-Critical Sequence Training  ·  CASK = Consensus-Aware Semantic Knowledge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· ABLATION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Ablation Study — Contribution of Each Module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Each module is added incrementally on all three datasets to isolate its individual contribution: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060704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EA0"/>
                </a:solidFill>
              </a:rPr>
              <a:t>RSICD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74320" y="1316736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731520"/>
                <a:gridCol w="777240"/>
                <a:gridCol w="82296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Configuration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BLEU-1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BLEU-4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METEOR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ROUGE-L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Baseline (bs)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0.7823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0.5090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0.3899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0.7012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2.8694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0.9954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bs + Mapper (bs+m)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0.8038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0.5313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0.3890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0.6964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2.8975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1.0041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bs + Mapper + Queries (bs+mq)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0.8068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0.5352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0.3894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0.6985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2.9658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1.0197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bs + Semantic Refine (bs+sr)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0.7977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0.5288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0.3952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0.6956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2.9830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1.0243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bs + mq + sr (Full CRSR)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0.8192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0.5574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0.4015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0.7134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3.0687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1.0537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10128"/>
            <a:ext cx="202996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3310128"/>
            <a:ext cx="2029968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310128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3767328"/>
            <a:ext cx="18470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</a:rPr>
              <a:t>CIDEr 2.8694</a:t>
            </a:r>
            <a:endParaRPr lang="en-US" sz="1300" dirty="0"/>
          </a:p>
        </p:txBody>
      </p:sp>
      <p:sp>
        <p:nvSpPr>
          <p:cNvPr id="8" name="Text 10"/>
          <p:cNvSpPr/>
          <p:nvPr/>
        </p:nvSpPr>
        <p:spPr>
          <a:xfrm>
            <a:off x="365760" y="4133088"/>
            <a:ext cx="184708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CLIP encoder + Transformer decoder only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50592" y="3310128"/>
            <a:ext cx="202996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50592" y="3310128"/>
            <a:ext cx="2029968" cy="384048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50592" y="3310128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Transformer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Mapper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42032" y="3767328"/>
            <a:ext cx="18470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B8C"/>
                </a:solidFill>
              </a:rPr>
              <a:t>+Δ0.028 Sm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42032" y="4133088"/>
            <a:ext cx="184708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Captures visual relationships at k=10 resolution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3310128"/>
            <a:ext cx="202996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26864" y="3310128"/>
            <a:ext cx="2029968" cy="38404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6864" y="3310128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Learnable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Queries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18304" y="3767328"/>
            <a:ext cx="18470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EA0"/>
                </a:solidFill>
              </a:rPr>
              <a:t>+Δ0.016 Sm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18304" y="4133088"/>
            <a:ext cx="184708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Predicts words missed by retrieval (query len l=7)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803136" y="3310128"/>
            <a:ext cx="202996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03136" y="3310128"/>
            <a:ext cx="202996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03136" y="3310128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Semantic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Refinement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94576" y="3767328"/>
            <a:ext cx="18470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+Δ0.034 Sm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94576" y="4133088"/>
            <a:ext cx="184708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CLIP retrieval + masked cross-attention filter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240280" y="39776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EA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416552" y="39776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EA0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592824" y="39776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EA0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74320" y="507492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Semantic refinement shows the largest single contribution on UCM (+7.03% Sm) and Sydney (+7.61% Sm), confirming that noisy retrieval was the dominant bottleneck.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· QUALITATIVE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Qualitative Analysis — Generated Captions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758952"/>
            <a:ext cx="8595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Comparing Baseline (CLIP encoder–decoder) vs CRSR outputs across 6 image types: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4206240" cy="29260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515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Baseball Field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088136"/>
            <a:ext cx="1572768" cy="219456"/>
          </a:xfrm>
          <a:prstGeom prst="rect">
            <a:avLst/>
          </a:prstGeom>
          <a:solidFill>
            <a:srgbClr val="0D7EA0">
              <a:alpha val="80000"/>
            </a:srgbClr>
          </a:solidFill>
          <a:ln w="12700">
            <a:solidFill>
              <a:srgbClr val="0D7EA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08813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Object identification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3898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GT: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138988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 baseball field is surrounded by many green trees and buildings.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165506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Base: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165506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Many buildings and green trees are around a playground.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1920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EA0"/>
                </a:solidFill>
              </a:rPr>
              <a:t>CRSR: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19202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EA0"/>
                </a:solidFill>
              </a:rPr>
              <a:t>A baseball field is surrounded by many green trees and buildings.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86584"/>
            <a:ext cx="4206240" cy="29260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8658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Commercial Area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34640" y="2423160"/>
            <a:ext cx="1572768" cy="219456"/>
          </a:xfrm>
          <a:prstGeom prst="rect">
            <a:avLst/>
          </a:prstGeom>
          <a:solidFill>
            <a:srgbClr val="0D7EA0">
              <a:alpha val="80000"/>
            </a:srgbClr>
          </a:solidFill>
          <a:ln w="12700">
            <a:solidFill>
              <a:srgbClr val="0D7EA0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42316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Scene completeness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7472" y="27249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GT: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272491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Many buildings and some green trees are in a commercial area.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29900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Base: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299008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Many buildings are in a commercial area.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325526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EA0"/>
                </a:solidFill>
              </a:rPr>
              <a:t>CRSR: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325526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EA0"/>
                </a:solidFill>
              </a:rPr>
              <a:t>Many buildings and some green trees are in a commercial area.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721608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21608"/>
            <a:ext cx="4206240" cy="29260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72160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Freeways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758184"/>
            <a:ext cx="1572768" cy="219456"/>
          </a:xfrm>
          <a:prstGeom prst="rect">
            <a:avLst/>
          </a:prstGeom>
          <a:solidFill>
            <a:srgbClr val="0D7EA0">
              <a:alpha val="80000"/>
            </a:srgbClr>
          </a:solidFill>
          <a:ln w="12700">
            <a:solidFill>
              <a:srgbClr val="0D7EA0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375818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Spatial relationship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7472" y="405993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GT: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405993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Two straight freeways parallel forward in the desert.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7472" y="43251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Base: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" y="432511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Two straight freeways are in the desert.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45902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EA0"/>
                </a:solidFill>
              </a:rPr>
              <a:t>CRSR: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" y="459028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EA0"/>
                </a:solidFill>
              </a:rPr>
              <a:t>Two straight freeways in the desert with no car on them.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1051560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051560"/>
            <a:ext cx="4206240" cy="29260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0515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Residential Area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69480" y="1088136"/>
            <a:ext cx="1572768" cy="219456"/>
          </a:xfrm>
          <a:prstGeom prst="rect">
            <a:avLst/>
          </a:prstGeom>
          <a:solidFill>
            <a:srgbClr val="0D7EA0">
              <a:alpha val="80000"/>
            </a:srgbClr>
          </a:solidFill>
          <a:ln w="12700">
            <a:solidFill>
              <a:srgbClr val="0D7EA0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108813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Descriptive detail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82312" y="13898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GT: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57800" y="138988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Some houses with plants are arranged neatly in a dense residential area.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82312" y="165506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Base: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57800" y="165506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A medium residential area with houses.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82312" y="1920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EA0"/>
                </a:solidFill>
              </a:rPr>
              <a:t>CRSR: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257800" y="19202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EA0"/>
                </a:solidFill>
              </a:rPr>
              <a:t>Many houses with plants surrounded in the medium residential area.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2386584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2386584"/>
            <a:ext cx="4206240" cy="29260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238658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Storage Tanks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69480" y="2423160"/>
            <a:ext cx="1572768" cy="219456"/>
          </a:xfrm>
          <a:prstGeom prst="rect">
            <a:avLst/>
          </a:prstGeom>
          <a:solidFill>
            <a:srgbClr val="0D7EA0">
              <a:alpha val="80000"/>
            </a:srgbClr>
          </a:solidFill>
          <a:ln w="12700">
            <a:solidFill>
              <a:srgbClr val="0D7EA0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9480" y="242316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Object filtering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782312" y="27249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GT: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57800" y="272491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Two black storage tanks are on the ground with a road beside.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82312" y="29900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Base: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57800" y="299008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A storage tank is on the ground.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82312" y="325526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EA0"/>
                </a:solidFill>
              </a:rPr>
              <a:t>CRSR: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257800" y="325526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EA0"/>
                </a:solidFill>
              </a:rPr>
              <a:t>Two storage tanks are in the lawn and some plants beside.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09160" y="3721608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09160" y="3721608"/>
            <a:ext cx="4206240" cy="29260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82312" y="372160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Green Meadow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269480" y="3758184"/>
            <a:ext cx="1572768" cy="219456"/>
          </a:xfrm>
          <a:prstGeom prst="rect">
            <a:avLst/>
          </a:prstGeom>
          <a:solidFill>
            <a:srgbClr val="0D7EA0">
              <a:alpha val="80000"/>
            </a:srgbClr>
          </a:solidFill>
          <a:ln w="12700">
            <a:solidFill>
              <a:srgbClr val="0D7EA0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69480" y="375818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Semantic precision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782312" y="405993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GT: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257800" y="405993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Several green trees are near a large piece of green meadow.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82312" y="43251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Base: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257800" y="432511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It is a piece of green meadow.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82312" y="45902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EA0"/>
                </a:solidFill>
              </a:rPr>
              <a:t>CRSR: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257800" y="459028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EA0"/>
                </a:solidFill>
              </a:rPr>
              <a:t>Several green trees are in a piece of green meadow.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74320" y="5010912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GT = Ground Truth  ·  Base = Baseline output  ·  CRSR = Our method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 · DESIGN RATIONALE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51760" y="0"/>
            <a:ext cx="6217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Design Choices vs Alternatives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13816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CLIP retrieval instead of object detectors?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2860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09728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CRSR: CLIP is trained on massive image–text data → open-vocabulary semantics. Fine-tuned on RS data → domain-adapted. Not constrained by predefined labels → richer and more diverse semantic tokens.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228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9728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10912" y="109728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Alternative: Pre-trained detectors/classifiers are limited to fixed class labels. They miss unusual RS objects and cannot adapt to the captioning vocabulary during training.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74320" y="1618488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655064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masked cross-attention for semantic refinement?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938528"/>
            <a:ext cx="22860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38528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193852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CRSR: Image features vI directly guide which retrieved words are relevant via cross-attention. Random masking of conflicting words prevents contradictory tokens from corrupting generation.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709160" y="1938528"/>
            <a:ext cx="228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38528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1938528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Alternative: Simply feeding retrieved words without filtering introduces noise. Self-attention alone cannot judge relevance without visual grounding.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4320" y="2459736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496312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learnable queries in the Transformer Mapper?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779776"/>
            <a:ext cx="22860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79776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2779776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CRSR: Queries can predict semantic words not in the top-K retrieved sentences — recovering overlooked concepts. Hungarian matching ensures each query learns a distinct omission role.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709160" y="2779776"/>
            <a:ext cx="228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779776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779776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Alternative: Without queries, important scene concepts absent from retrieved sentences are permanently lost. Fixed projection only restructures; it cannot discover new semantics.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74320" y="3300984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3337560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a sigmoid fusion gate γ in the decoder?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21024"/>
            <a:ext cx="22860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21024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362102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CRSR: Per-token adaptive blending: the model can rely more on visual context for spatial words ('surrounded', 'beside') and more on semantic context for object names ('field', 'building').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709160" y="3621024"/>
            <a:ext cx="228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621024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3621024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Alternative: Naive concatenation + linear projection gives equal weight to all information at every timestep, wasting the richness of two complementary sources.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74320" y="4142232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480" y="4178808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project CLIP features to k=10 visual tokens?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462272"/>
            <a:ext cx="22860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462272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" y="4462272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CRSR: Empirically optimal on all three datasets. k=10 provides enough spatial resolution to cover object regions without overwhelming the decoder with redundant tokens.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709160" y="4462272"/>
            <a:ext cx="228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462272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10912" y="446227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</a:rPr>
              <a:t>Alternative: k=5: too coarse, loses detail. k=15 or 20: too many tokens — model attention becomes diffuse and CIDEr drops on all datasets.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7840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78408"/>
            <a:ext cx="384048" cy="118872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78408"/>
            <a:ext cx="38404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1024128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Retrieval over Classification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325880"/>
            <a:ext cx="360273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</a:rPr>
              <a:t>Using CLIP-based open-vocabulary retrieval instead of fixed-label detectors is the foundational insight. It unlocks semantics beyond predefined categories for any RS scene.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384048" cy="118872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04288"/>
            <a:ext cx="38404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2350008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Two-Stage Semantic Enhancement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651760"/>
            <a:ext cx="360273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</a:rPr>
              <a:t>Stage 1 (Semantic Refinement) cleans retrieved knowledge via masked cross-attention. Stage 2 (Transformer Mapper + queries) recovers missing knowledge. Neither alone is sufficient.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3016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30168"/>
            <a:ext cx="384048" cy="118872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30168"/>
            <a:ext cx="38404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" y="3675888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Adaptive Fusion 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" y="3977640"/>
            <a:ext cx="360273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</a:rPr>
              <a:t>The sigmoid gate γ in the decoder allows per-token balance between language context and visual/semantic context — a practical innovation for multi-source captioning.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97840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78408"/>
            <a:ext cx="38404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78408"/>
            <a:ext cx="38404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57216" y="1024128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State-of-the-Art on 3 Benchmarks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57216" y="1325880"/>
            <a:ext cx="360273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</a:rPr>
              <a:t>CRSR outperforms 17 methods on RSICD (all metrics), UCM-Captions (most metrics), and Sydney-Captions (SPICE). Strongest on RSICD CIDEr: 3.0687 (+4.6% vs CASK).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30428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31E34"/>
          </a:solidFill>
          <a:ln w="12700">
            <a:solidFill>
              <a:srgbClr val="031E3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304288"/>
            <a:ext cx="38404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304288"/>
            <a:ext cx="38404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57216" y="2350008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Limitations &amp; Future 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2651760"/>
            <a:ext cx="360273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</a:rPr>
              <a:t>Retrieval and captioning are trained separately — risk of semantic misalignment. Refinement still lets some contradictory tokens through. Future: joint end-to-end retrieval–captioning training.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Future work: joint end-to-end retrieval–captioning training and stronger RS-specific vision encoders.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Complete Abbreviation Glossary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046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RSIC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47088" y="8046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Remote Sensing Image Captioning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0835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CRSR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47088" y="108356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Cross-Modal Retrieval and Semantic Refinement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362456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62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CLIP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47088" y="13624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Contrastive Language–Image Pre-training (Radford et al.)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6413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CNN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47088" y="16413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Convolutional Neural Network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20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RNN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47088" y="19202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Recurrent Neural Network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19913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LSTM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47088" y="21991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Long Short-Term Memory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478024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4780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ViT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47088" y="247802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Vision Transformer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275691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MLP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47088" y="27569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Multi-Layer Perceptron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35808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0358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BN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47088" y="303580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Batch Normalization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33147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GAP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47088" y="33147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Global Average Pooling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593592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59359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TF-IDF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47088" y="35935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Term Frequency – Inverse Document Frequency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38724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Q / K / V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47088" y="38724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Query / Key / Value (attention projections)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151376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151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Nc =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47088" y="415137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Semantic refinement Transformer blocks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" y="44302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Nr =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47088" y="44302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Transformer Mapper blocks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709160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709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Nd =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47088" y="47091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Cross-modal decoder blocks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804672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8046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k =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81928" y="8046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Transformer Mapper projection length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82312" y="10835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81928" y="108356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Learnable query count (4 / 2 / 7 per dataset)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1362456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1362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Lw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81928" y="13624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Semantic refinement cross-entropy loss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82312" y="16413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LQ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81928" y="16413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Query prediction (Hungarian-matched) loss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1920240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82312" y="1920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Lc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81928" y="19202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Caption generation cross-entropy loss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82312" y="219913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Sm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81928" y="21991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Composite metric: mean(BLEU-4, METEOR, ROUGE-L, CIDEr, SPICE)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2478024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82312" y="24780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BLEU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81928" y="247802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Bilingual Evaluation Understudy (N-gram precision)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82312" y="275691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ROUGE-L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81928" y="27569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Longest Common Subsequence F-measure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9160" y="3035808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82312" y="30358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METEOR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81928" y="303580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Metric for Evaluation of Translation with Explicit ORdering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82312" y="33147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CIDEr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81928" y="33147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Consensus-based Image Description Evaluation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09160" y="3593592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82312" y="359359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SPICE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81928" y="35935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Semantic Propositional Image Caption Evaluation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82312" y="38724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Adam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281928" y="38724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Adaptive Moment Estimation optimizer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09160" y="4151376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82312" y="4151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JTTS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81928" y="415137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Joint-Training Two-Stage method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782312" y="44302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LAM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81928" y="44302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Label-Attention Mechanism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709160" y="4709160"/>
            <a:ext cx="42062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82312" y="4709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EA0"/>
                </a:solidFill>
              </a:rPr>
              <a:t>CASK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281928" y="47091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Consensus-Aware Semantic Knowledge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16408</Words>
  <Application>WPS Presentation</Application>
  <PresentationFormat>On-screen Show (16:9)</PresentationFormat>
  <Paragraphs>1058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CRSR: Cross-Modal Retrieval and Semantic Refinement</dc:title>
  <dc:creator>PptxGenJS</dc:creator>
  <dc:subject>PptxGenJS Presentation</dc:subject>
  <cp:lastModifiedBy>User</cp:lastModifiedBy>
  <cp:revision>2</cp:revision>
  <dcterms:created xsi:type="dcterms:W3CDTF">2026-03-30T20:46:00Z</dcterms:created>
  <dcterms:modified xsi:type="dcterms:W3CDTF">2026-03-30T22:23:41Z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6C41C5D6C4ED48FBADE8F95C87FB432C_12</vt:lpwstr>
  </property>
  <property fmtid="{D5CDD505-2E9C-101B-9397-08002B2CF9AE}" pid="3" name="KSOProductBuildVer">
    <vt:lpwstr>1036-12.2.0.23196</vt:lpwstr>
  </property>
</Properties>
</file>