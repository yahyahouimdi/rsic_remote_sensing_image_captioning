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Region-Aware Captioning Network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Aerial / Satellite Image  🛰️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" y="813816"/>
            <a:ext cx="2355494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813816"/>
            <a:ext cx="2355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Feature Extraction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Backbone: ResNet-101 + Swin Transformer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1353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ResNet-101: local CNN features (texture, edges, regions)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Transformer: global self-attention (long-range context)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(Region Proposal Network): detects candidate regions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Pyramid P2–P5: handles 10px vehicles → large buildings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38451" y="1883664"/>
            <a:ext cx="2194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2057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084832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084832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" y="2148840"/>
            <a:ext cx="2355494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2148840"/>
            <a:ext cx="2355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Adaptive Attention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" y="2414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× Channel Gated Fusion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2688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Attention: highlights important spatial locations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Attention: emphasizes semantically relevant channels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Fusion: λ·Spatial + (1-λ)·Channel,  λ ≈ 0.5 (learnable)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 → semantic mode / Low altitude → detail mode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8451" y="3218688"/>
            <a:ext cx="2194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3924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419856"/>
            <a:ext cx="4160520" cy="1298448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419856"/>
            <a:ext cx="64008" cy="1298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" y="3483864"/>
            <a:ext cx="2355494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3483864"/>
            <a:ext cx="2355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Caption Generation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GNN + Transformer Decoder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4023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word embeddings: 300-D, fine-tuned on RSICD corpus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Network: models region-to-region relationships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features: spatial distance + angle between regions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Decoder: autoregressive token-by-token generation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50 epochs cross-entropy  →  10 epochs RL (CIDEr opt.)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36008" y="80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Technical Specs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36008" y="107899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88.3M parameters  ·  224×224 input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6008" y="12801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Datasets: RSICD (10,921) + UCM (2,100)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36008" y="14813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Hardware: RTX 4090 24GB  ·  Batch: 32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36008" y="168249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Inference: 26 img/sec  ·  AdamW optimizer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1956816"/>
            <a:ext cx="4160520" cy="1243584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36008" y="2002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36008" y="22768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Hybrid CNN+Transformer: local + global features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36008" y="25237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Adaptive gated attention (spatial &amp; channel)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36008" y="2770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Domain-specific RS vocabulary embeddings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36008" y="30175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Two-phase training: Supervised → Reinforcement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3291840"/>
            <a:ext cx="4160520" cy="1426464"/>
          </a:xfrm>
          <a:prstGeom prst="rect">
            <a:avLst/>
          </a:prstGeom>
          <a:solidFill>
            <a:srgbClr val="0F2540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36008" y="3337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RSICD Results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36008" y="36393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BLEU-4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58968" y="36393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26480" y="36393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+12.9% vs X-VLM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36008" y="3895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58968" y="38953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38953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+3.7% vs X-VLM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36008" y="41513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58968" y="41513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26480" y="415137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vs X-VLM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36008" y="4407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58968" y="44074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0.304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2648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+39.4% vs FST-RSCC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32520" y="749808"/>
            <a:ext cx="347472" cy="3968496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 rot="5400000">
            <a:off x="8732520" y="749808"/>
            <a:ext cx="34747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MSR-CapNet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CRSR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Retrieval + Semantic Refinement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solidFill>
            <a:srgbClr val="2DC653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RS Image + Sentence Pool  📚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160520" cy="1170432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64008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" y="813816"/>
            <a:ext cx="3180283" cy="237744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813816"/>
            <a:ext cx="3180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Cross-Modal Retrieval (CLIP)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Image–Text Matching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135331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CLIP (ViT-B/32) for RS domain image-text matching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encoded → cosine similarity with sentence pool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top-K=3 most relevant sentences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strategy: keeps only semantic-relevant words from retrieved text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decomposition → Primary semantic vocabulary 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38451" y="1938528"/>
            <a:ext cx="21946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21122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139696"/>
            <a:ext cx="4160520" cy="1051560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139696"/>
            <a:ext cx="64008" cy="10515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" y="2203704"/>
            <a:ext cx="2505456" cy="237744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220370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Semantic Refinement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Masked Cross-Attention (Nc = 3 Transformer blocks)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2743200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contradictory / misleading words (e.g. 'plane' vs 'planes')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masking removes semantic-irrelevant tokens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refined semantic token set  V̄ₛ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8451" y="3209544"/>
            <a:ext cx="21946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383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C653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410712"/>
            <a:ext cx="4160520" cy="1307592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410712"/>
            <a:ext cx="64008" cy="13075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" y="3474720"/>
            <a:ext cx="3180283" cy="237744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3474720"/>
            <a:ext cx="3180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Transformer Mapper + Decoder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" y="37398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Mapper (Nr=6) + Cross-Modal Decoder (Nd=6)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4014216"/>
            <a:ext cx="393192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Mapper: projects visual features vᵢ → k=10 visual vectors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queries Q: predict words omitted by retrieval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matching aligns queries to missing vocabulary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inputs: Visual tokens Ṽᵢ + Query tokens Q̃ᵢ + Semantic tokens Ṽₛ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fusion: γzₜ + (1-γ)attₜ  — balances visual vs semantic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36008" y="80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Technical Specs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36008" y="107899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67.26M parameters (+15.24M vs baseline)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6008" y="12801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Datasets: RSICD, UCM, Sydney-Captions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36008" y="14813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CLIP ViT-B/32  ·  Tesla V100  ·  Batch: 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36008" y="168249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Training: 20 epochs  ·  Adam lr=4×10⁻⁵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1956816"/>
            <a:ext cx="4160520" cy="1243584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36008" y="2002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36008" y="22768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CLIP retrieval — no predefined label constraints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36008" y="25237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Masked attention filters semantic contradictions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36008" y="2770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Learnable queries predict missing information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36008" y="30175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Three-loss training: Lw + LQ + Lc (end-to-end)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3291840"/>
            <a:ext cx="4160520" cy="1426464"/>
          </a:xfrm>
          <a:prstGeom prst="rect">
            <a:avLst/>
          </a:prstGeom>
          <a:solidFill>
            <a:srgbClr val="0F2540"/>
          </a:solidFill>
          <a:ln w="12700">
            <a:solidFill>
              <a:srgbClr val="2DC653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36008" y="3337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Best Results (RSICD)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36008" y="36393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BLEU-4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58968" y="363931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55.74%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72200" y="36393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+6.7% vs CASK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36008" y="3895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58968" y="389534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38953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 vs JTTS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36008" y="41513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58968" y="415137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306.87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72200" y="41513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+4.6% vs CASK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36008" y="4407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SPICE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58968" y="440740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52.76%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72200" y="44074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 vs CASK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32520" y="749808"/>
            <a:ext cx="347472" cy="396849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 rot="5400000">
            <a:off x="8732520" y="749808"/>
            <a:ext cx="34747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4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MSR-CAPNet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Relational Context Network — Triple Context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solidFill>
            <a:srgbClr val="9D4EDD">
              <a:alpha val="7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RS Image  224×224  🛰️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160520" cy="1005840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64008" cy="100584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" y="813816"/>
            <a:ext cx="3180283" cy="237744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813816"/>
            <a:ext cx="3180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Multi-Scale Feature Extraction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Backbone + FPN Pyramid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1353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ResNet: extracts feature maps {C3, C4, C5} at different strides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FPN-like fusion: produces P3, P4, P5 (fine → coarse scale)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scale Pi represents objects at a different size range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38451" y="1773936"/>
            <a:ext cx="21946" cy="2011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947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4EDD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1975104"/>
            <a:ext cx="4160520" cy="1572768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1975104"/>
            <a:ext cx="64008" cy="15727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039112"/>
            <a:ext cx="2011680" cy="219456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0391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Triple Context Processing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" y="2304288"/>
            <a:ext cx="1243584" cy="1133856"/>
          </a:xfrm>
          <a:prstGeom prst="rect">
            <a:avLst/>
          </a:prstGeom>
          <a:solidFill>
            <a:srgbClr val="0D1E35"/>
          </a:solidFill>
          <a:ln w="12700">
            <a:solidFill>
              <a:srgbClr val="5A80E0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359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Intra-Scale 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" y="2779776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Self-attention within each scale Pi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29184" y="299923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Captures spatial dependencies at each resolution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29184" y="3218688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Formula: ISC(Pi) = softmax(QiKiᵀ)Vi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591056" y="2304288"/>
            <a:ext cx="1243584" cy="1133856"/>
          </a:xfrm>
          <a:prstGeom prst="rect">
            <a:avLst/>
          </a:prstGeom>
          <a:solidFill>
            <a:srgbClr val="0D1E35"/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36776" y="2359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Inter-Scale Context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36776" y="2779776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Cross-attention between scales {P3,P4,P5}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636776" y="299923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Scale interaction modeling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636776" y="3218688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Weighted: α₃·P3 + α₄·P4 + α₅·P5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898648" y="2304288"/>
            <a:ext cx="1243584" cy="1133856"/>
          </a:xfrm>
          <a:prstGeom prst="rect">
            <a:avLst/>
          </a:prstGeom>
          <a:solidFill>
            <a:srgbClr val="0D1E35"/>
          </a:solidFill>
          <a:ln w="12700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44368" y="2359152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Context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44368" y="2779776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Object-object relationships via GAT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2944368" y="299923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Edge features: spatial distance + angle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944368" y="3218688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Models scene-level spatial relations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238451" y="3566160"/>
            <a:ext cx="21946" cy="2011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12264" y="37398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4EDD"/>
                </a:solidFill>
              </a:rPr>
              <a:t>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4592" y="3767328"/>
            <a:ext cx="4160520" cy="950976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4592" y="3767328"/>
            <a:ext cx="64008" cy="95097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" y="3831336"/>
            <a:ext cx="2580437" cy="237744"/>
          </a:xfrm>
          <a:prstGeom prst="rect">
            <a:avLst/>
          </a:prstGeom>
          <a:solidFill>
            <a:srgbClr val="9D4EDD">
              <a:alpha val="80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3831336"/>
            <a:ext cx="25804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Context Fusion Decoder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Decoder with Context Injection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" y="4370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over fused ISC + IEC + RC features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injection: combines all 3 context streams at each layer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word generation (standard Transformer decode)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26280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36008" y="80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Technical Specs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36008" y="107899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Backbone: ResNet (ImageNet pre-trained)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36008" y="12801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Datasets: RSICD (10,921 images)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36008" y="14813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FPN scales: P3, P4, P5 (3-scale pyramid)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36008" y="168249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GAT edges encode distance + angle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26280" y="1956816"/>
            <a:ext cx="4160520" cy="1243584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36008" y="2002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636008" y="22768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Most comprehensive context: ISC + IEC + RC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36008" y="25237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Intra-scale: spatial dependencies per level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36008" y="2770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Inter-scale: cross-pyramid feature interaction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36008" y="30175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Relational: explicit object geometry via GAT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26280" y="3291840"/>
            <a:ext cx="4160520" cy="1426464"/>
          </a:xfrm>
          <a:prstGeom prst="rect">
            <a:avLst/>
          </a:prstGeom>
          <a:solidFill>
            <a:srgbClr val="0F2540"/>
          </a:solidFill>
          <a:ln w="12700">
            <a:solidFill>
              <a:srgbClr val="9D4ED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36008" y="3337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RSICD Results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636008" y="36393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BLEU-4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58968" y="36393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54.12%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09360" y="3639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53.10% baseline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36008" y="3895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58968" y="3895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~298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09360" y="38953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baselines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36008" y="41513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58968" y="41513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RSICD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309360" y="41513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54.12% BLEU-4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636008" y="4407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58968" y="4407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309360" y="44074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modeling 🏆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732520" y="749808"/>
            <a:ext cx="347472" cy="3968496"/>
          </a:xfrm>
          <a:prstGeom prst="rect">
            <a:avLst/>
          </a:prstGeom>
          <a:solidFill>
            <a:srgbClr val="9D4EDD">
              <a:alpha val="7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 rot="5400000">
            <a:off x="8732520" y="749808"/>
            <a:ext cx="34747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MSR-CAPNet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PCSFTr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Positional-Channel Semantic Fusion Transformer — Dual-Domain Attention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RS Image  224×224  🛰️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160520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" y="813816"/>
            <a:ext cx="2355494" cy="237744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813816"/>
            <a:ext cx="2355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Scene Pre-training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Scene 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135331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trained on scene labels (dense, sparse, residential…)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visual features F ∈ R^(C×H×W),  C=512, H=W=7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38451" y="1572768"/>
            <a:ext cx="2194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7465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1773936"/>
            <a:ext cx="4160520" cy="1737360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1773936"/>
            <a:ext cx="64008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837944"/>
            <a:ext cx="2194560" cy="219456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8379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Encoder: PCMSA Block  (Ne layers)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" y="2112264"/>
            <a:ext cx="1828800" cy="932688"/>
          </a:xfrm>
          <a:prstGeom prst="rect">
            <a:avLst/>
          </a:prstGeom>
          <a:solidFill>
            <a:srgbClr val="0A1E33"/>
          </a:solidFill>
          <a:ln w="1270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1579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B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PMSA — Position Domain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2423160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Fp ∈ R^(N×C),  N = H×W = 49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" y="2578608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 = Fp·Wq,  K = Fp·Wk,  V = Fp·Wv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2734056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Attn = softmax(QKᵀ/√dk)·V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2889504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hp multi-heads  →  P ∈ R^(N×C)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12848" y="2112264"/>
            <a:ext cx="1828800" cy="932688"/>
          </a:xfrm>
          <a:prstGeom prst="rect">
            <a:avLst/>
          </a:prstGeom>
          <a:solidFill>
            <a:srgbClr val="0A1E33"/>
          </a:solidFill>
          <a:ln w="12700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58568" y="21579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A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CMSA — Channel Domain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67712" y="2423160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Fs ∈ R^(C×N)  (transposed)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67712" y="2578608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 = K = V = Fs  (no projection)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67712" y="2734056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Channel-wise self-attention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67712" y="2889504"/>
            <a:ext cx="1719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hc multi-heads  →  Ch ∈ R^(C×N)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2608" y="3099816"/>
            <a:ext cx="3749040" cy="420624"/>
          </a:xfrm>
          <a:prstGeom prst="rect">
            <a:avLst/>
          </a:prstGeom>
          <a:solidFill>
            <a:srgbClr val="0F1E30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1455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Block: z = P+Ch → M(z) = σ(Local(z) ⊕ Global(z)) → Ff = M(z)⊗P + (1-M(z))⊗Ch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38451" y="3529584"/>
            <a:ext cx="2194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12264" y="3703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" y="3730752"/>
            <a:ext cx="4160520" cy="987552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64592" y="3730752"/>
            <a:ext cx="64008" cy="9875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" y="3794760"/>
            <a:ext cx="3105302" cy="237744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794760"/>
            <a:ext cx="31053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Decoder: SMaskMHA + CrossMHA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8328" y="4059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Mask + Cross-Modal Attention (Nd layers)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" y="43342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SMaskMHA: K,V = [GAP(Fe)ᵀ, Ew] — global image semantic injected into word sequence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CrossMHA: Q from decoder × K,V from encoder features → image-text alignment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attention prevents future word leakage → output word probabilities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36008" y="80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Technical Specs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36008" y="107899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ResNet + PCMSA encoder  ·  Ne &amp; Nd layers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36008" y="12801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Datasets: UCM, Sydney, RSICD, NWPU (31.5K)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36008" y="14813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RTX 2080 Ti  ·  Batch: 8  ·  lr: 3×10⁻⁵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36008" y="168249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Beam search: size 3  ·  20 epochs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26280" y="1956816"/>
            <a:ext cx="4160520" cy="1243584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36008" y="2002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36008" y="22768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Dual-domain: PMSA (spatial) + CMSA (channel)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36008" y="25237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FF Block: intelligent local+global fusion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36008" y="2770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Bottleneck C→C/r→C reduces parameters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36008" y="30175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Scene pre-training: ResNet scene semantics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26280" y="3291840"/>
            <a:ext cx="4160520" cy="1426464"/>
          </a:xfrm>
          <a:prstGeom prst="rect">
            <a:avLst/>
          </a:prstGeom>
          <a:solidFill>
            <a:srgbClr val="0F2540"/>
          </a:solidFill>
          <a:ln w="12700">
            <a:solidFill>
              <a:srgbClr val="F4A261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36008" y="3337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Best Results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636008" y="363931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UCM B4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04688" y="36393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78.42%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09360" y="3639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 vs Topic-guided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36008" y="389534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NWPU B4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504688" y="389534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69.01%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09360" y="38953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 vs BITA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36008" y="4151376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RSICD B4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04688" y="415137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54.42%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09360" y="41513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 vs Topic-guided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36008" y="440740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04688" y="440740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309360" y="44074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Ne=3, Nd=3 layers 🏆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732520" y="749808"/>
            <a:ext cx="347472" cy="396849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 rot="5400000">
            <a:off x="8732520" y="749808"/>
            <a:ext cx="34747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PCSFTr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TSFE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Feature Enhancement — AMFF → LFSE → FID Decoder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28016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RS Image  ·  Swin Transformer  🛰️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160520" cy="1389888"/>
          </a:xfrm>
          <a:prstGeom prst="rect">
            <a:avLst/>
          </a:prstGeom>
          <a:solidFill>
            <a:srgbClr val="0F2540"/>
          </a:solidFill>
          <a:ln w="12700">
            <a:solidFill>
              <a:srgbClr val="38BDF8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64008" cy="13898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" y="813816"/>
            <a:ext cx="4155034" cy="23774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813816"/>
            <a:ext cx="4155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AMFF (Adaptive Multi-Scale Feature Fusion)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Swin Transformer + SENet Weighting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13533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backbone → multi-scale maps {F1, F2, F3, F4}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F1 (too low-level), concatenate F2+F3+F4 along channel dim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SENet: adaptive channel attention weights θ per scale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fusion: Vlocal = w1·F4 + w2·Fsenet  (w1,w2 trainable)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Vglobal = GAP(Vlocal)  →  multi-scale scene semantics (300-D)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task: align Vglobal ↔ GloVe(sentence_avg)  via SmoothL1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38451" y="2157984"/>
            <a:ext cx="2194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2331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359152"/>
            <a:ext cx="4160520" cy="1389888"/>
          </a:xfrm>
          <a:prstGeom prst="rect">
            <a:avLst/>
          </a:prstGeom>
          <a:solidFill>
            <a:srgbClr val="0F2540"/>
          </a:solidFill>
          <a:ln w="12700">
            <a:solidFill>
              <a:srgbClr val="60A5FA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359152"/>
            <a:ext cx="64008" cy="13898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" y="2423160"/>
            <a:ext cx="4155034" cy="237744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2423160"/>
            <a:ext cx="4155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LFSE (Local Feature + Spatial Enhancement)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" y="26883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Squeeze Attention + Detail Recovery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296265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squeeze: q^(h) = (1/W)·avg(q)  →  shape (H,C)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squeeze: q^(v) = (1/H)·avg(q)  →  shape (W,C)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Va: softmax similarity on horizontal + vertical queries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O(H²W²) → O(HW·C)  — efficient for large maps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enhancement: Vu = BN(Dwconv[concat(q,k,v)])  3×3 depthwise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Refined: Vs = Va × BN(Conv[Vu])  — combine attention + detail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38451" y="3767328"/>
            <a:ext cx="2194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941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968496"/>
            <a:ext cx="4160520" cy="749808"/>
          </a:xfrm>
          <a:prstGeom prst="rect">
            <a:avLst/>
          </a:prstGeom>
          <a:solidFill>
            <a:srgbClr val="0F2540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968496"/>
            <a:ext cx="6400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" y="4032504"/>
            <a:ext cx="3555187" cy="23774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4032504"/>
            <a:ext cx="35551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FID (Feature Interaction Decoder)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Attention-Based LSTM + Global Feature Guidance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4572000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at = (V'localᵀ · W · ht-1)/√d  →  vt = softmax(at)·V'local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fusion: xt = concat[vt, MLP(Vglobal, st-1)]  —  guides each step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749808"/>
            <a:ext cx="4160520" cy="1115568"/>
          </a:xfrm>
          <a:prstGeom prst="rect">
            <a:avLst/>
          </a:prstGeom>
          <a:solidFill>
            <a:srgbClr val="0F2540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36008" y="804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Technical Specs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36008" y="107899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Backbone: Swin Transformer (ImageNet)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6008" y="12801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Datasets: RSICD, UCM, Sydney-Captions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36008" y="14813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RTX 3090  ·  LSTM 512D hidden / 300D out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36008" y="168249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GradNorm balances word + sentence losses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1956816"/>
            <a:ext cx="4160520" cy="1389888"/>
          </a:xfrm>
          <a:prstGeom prst="rect">
            <a:avLst/>
          </a:prstGeom>
          <a:solidFill>
            <a:srgbClr val="0F2540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36008" y="2002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Key Innovations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36008" y="230428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Two-stage: multi-scale → positional relations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36008" y="255117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Squeeze attention: O(H²W²) → O(HW·C)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36008" y="27980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Dual detail recovery: conv kernel + local attn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36008" y="30449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Vglobal ↔ GloVe fine-tuning bridges image/text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36008" y="32918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LSTM + Vglobal guides every decode step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3438144"/>
            <a:ext cx="4160520" cy="1280160"/>
          </a:xfrm>
          <a:prstGeom prst="rect">
            <a:avLst/>
          </a:prstGeom>
          <a:solidFill>
            <a:srgbClr val="0F2540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36008" y="34838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Best Results (RSICD)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36008" y="37947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BLEU-4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58968" y="37947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54.86%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09360" y="379476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RSICD 🏆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36008" y="403250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CIDEr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58968" y="403250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305.70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403250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 vs MGTN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36008" y="42702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ROUGE-L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58968" y="42702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70.20%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09360" y="427024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RSICD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36008" y="45079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Base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58968" y="45079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+15.7%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9360" y="450799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improvement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732520" y="749808"/>
            <a:ext cx="347472" cy="3968496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 rot="5400000">
            <a:off x="8732520" y="749808"/>
            <a:ext cx="347472" cy="3968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Pipelines - RSIC</dc:title>
  <dc:subject>PptxGenJS Presentation</dc:subject>
  <dc:creator>PptxGenJS</dc:creator>
  <cp:lastModifiedBy>PptxGenJS</cp:lastModifiedBy>
  <cp:revision>1</cp:revision>
  <dcterms:created xsi:type="dcterms:W3CDTF">2026-03-03T20:12:58Z</dcterms:created>
  <dcterms:modified xsi:type="dcterms:W3CDTF">2026-03-03T20:12:58Z</dcterms:modified>
</cp:coreProperties>
</file>