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CRSR</c:v>
                </c:pt>
              </c:strCache>
            </c:strRef>
          </c:tx>
          <c:spPr>
            <a:solidFill>
              <a:srgbClr val="52B7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BLEU-4</c:v>
                  </c:pt>
                  <c:pt idx="1">
                    <c:v>METEOR</c:v>
                  </c:pt>
                  <c:pt idx="2">
                    <c:v>CIDEr</c:v>
                  </c:pt>
                  <c:pt idx="3">
                    <c:v>SPICE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55.74</c:v>
                </c:pt>
                <c:pt idx="1">
                  <c:v>40.15</c:v>
                </c:pt>
                <c:pt idx="2">
                  <c:v>306.87</c:v>
                </c:pt>
                <c:pt idx="3">
                  <c:v>52.76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MSR-CapNet</c:v>
                </c:pt>
              </c:strCache>
            </c:strRef>
          </c:tx>
          <c:spPr>
            <a:solidFill>
              <a:srgbClr val="9D4ED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BLEU-4</c:v>
                  </c:pt>
                  <c:pt idx="1">
                    <c:v>METEOR</c:v>
                  </c:pt>
                  <c:pt idx="2">
                    <c:v>CIDEr</c:v>
                  </c:pt>
                  <c:pt idx="3">
                    <c:v>SPICE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44.7</c:v>
                </c:pt>
                <c:pt idx="1">
                  <c:v>31.2</c:v>
                </c:pt>
                <c:pt idx="2">
                  <c:v>120.1</c:v>
                </c:pt>
                <c:pt idx="3">
                  <c:v>30.4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PCSFTr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BLEU-4</c:v>
                  </c:pt>
                  <c:pt idx="1">
                    <c:v>METEOR</c:v>
                  </c:pt>
                  <c:pt idx="2">
                    <c:v>CIDEr</c:v>
                  </c:pt>
                  <c:pt idx="3">
                    <c:v>SPICE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54.42</c:v>
                </c:pt>
                <c:pt idx="1">
                  <c:v>37.51</c:v>
                </c:pt>
                <c:pt idx="2">
                  <c:v>292</c:v>
                </c:pt>
                <c:pt idx="3">
                  <c:v>46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TSFE</c:v>
                </c:pt>
              </c:strCache>
            </c:strRef>
          </c:tx>
          <c:spPr>
            <a:solidFill>
              <a:srgbClr val="48CAE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BLEU-4</c:v>
                  </c:pt>
                  <c:pt idx="1">
                    <c:v>METEOR</c:v>
                  </c:pt>
                  <c:pt idx="2">
                    <c:v>CIDEr</c:v>
                  </c:pt>
                  <c:pt idx="3">
                    <c:v>SPICE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54.86</c:v>
                </c:pt>
                <c:pt idx="1">
                  <c:v>37.93</c:v>
                </c:pt>
                <c:pt idx="2">
                  <c:v>298</c:v>
                </c:pt>
                <c:pt idx="3">
                  <c:v>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F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F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F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2236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14223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-1371600"/>
            <a:ext cx="5486400" cy="5486400"/>
          </a:xfrm>
          <a:prstGeom prst="ellipse">
            <a:avLst/>
          </a:prstGeom>
          <a:solidFill>
            <a:srgbClr val="1A2F47"/>
          </a:solidFill>
          <a:ln w="12700">
            <a:solidFill>
              <a:srgbClr val="1A2F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-914400"/>
            <a:ext cx="4114800" cy="4114800"/>
          </a:xfrm>
          <a:prstGeom prst="ellipse">
            <a:avLst/>
          </a:prstGeom>
          <a:solidFill>
            <a:srgbClr val="0077B6">
              <a:alpha val="15000"/>
            </a:srgbClr>
          </a:solidFill>
          <a:ln w="12700">
            <a:solidFill>
              <a:srgbClr val="0077B6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09360" y="82296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000000"/>
                </a:solidFill>
              </a:rPr>
              <a:t>🛰️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Remote Sensing Image Captioning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Comparison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 evaluation of state-of-the-art approaches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automated satellite &amp; aerial image description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00B4D8">
              <a:alpha val="7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5661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MSR-CapNet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356616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52B788">
              <a:alpha val="75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35661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356616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9D4EDD">
              <a:alpha val="75000"/>
            </a:srgbClr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35661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MSR-CAPNet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03720" y="356616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F4A261">
              <a:alpha val="75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3720" y="35661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PCSFTr &amp; TSFE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— Architecture Review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651760" cy="2606040"/>
          </a:xfrm>
          <a:prstGeom prst="rect">
            <a:avLst/>
          </a:prstGeom>
          <a:solidFill>
            <a:srgbClr val="142236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144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🔍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11480" y="1691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 Variation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210312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range from 10px (vehicles) to 200px+ (buildings). Single-scale models miss small targets.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868680"/>
            <a:ext cx="2651760" cy="2606040"/>
          </a:xfrm>
          <a:prstGeom prst="rect">
            <a:avLst/>
          </a:prstGeom>
          <a:solidFill>
            <a:srgbClr val="142236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9144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🌐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91840" y="1691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Scene Complexity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210312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urban areas with overlapping structures, similar-looking regions, and ambiguous content.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868680"/>
            <a:ext cx="2651760" cy="2606040"/>
          </a:xfrm>
          <a:prstGeom prst="rect">
            <a:avLst/>
          </a:prstGeom>
          <a:solidFill>
            <a:srgbClr val="142236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80760" y="9144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📖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172200" y="1691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 Vocabulary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72200" y="210312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sensing requires specialized terms. General NLP embeddings fail on aerial/satellite imagery.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703320"/>
            <a:ext cx="8503920" cy="1188720"/>
          </a:xfrm>
          <a:prstGeom prst="rect">
            <a:avLst/>
          </a:prstGeom>
          <a:solidFill>
            <a:srgbClr val="1A2F47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3749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 Architectures Compared: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37490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MSR-CapNet  ·  CRSR  ·  MSR-CAPNet  ·  PCSFTr  ·  TSFE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1605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Multi-scale CNN+Transformer  ·  CLIP Retrieval  ·  Triple Context  ·  Dual-Domain Attention  ·  Two-Stage Enhancement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274320" cy="5074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MSR-CapNet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Multi-Scale Region-Aware Captioning Network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4114800" cy="1143000"/>
          </a:xfrm>
          <a:prstGeom prst="rect">
            <a:avLst/>
          </a:prstGeom>
          <a:solidFill>
            <a:srgbClr val="142236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05840"/>
            <a:ext cx="822960" cy="2926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0584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280160" y="10332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Multi-Scale Feature Extraction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344168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ResNet-101 + Swin Transformer (hybrid backbone)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RPN → Region proposals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FPN (P2–P5) → handles 10px to large scenes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0" y="212140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" y="2286000"/>
            <a:ext cx="4114800" cy="1143000"/>
          </a:xfrm>
          <a:prstGeom prst="rect">
            <a:avLst/>
          </a:prstGeom>
          <a:solidFill>
            <a:srgbClr val="142236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286000"/>
            <a:ext cx="822960" cy="2926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28600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280160" y="231343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Adaptive Attention Mechanism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2624328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Attention → important locations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Attention → relevant features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Fusion λ≈0.5 (learnable balance)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86000" y="34015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11480" y="3566160"/>
            <a:ext cx="4114800" cy="1143000"/>
          </a:xfrm>
          <a:prstGeom prst="rect">
            <a:avLst/>
          </a:prstGeom>
          <a:solidFill>
            <a:srgbClr val="142236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3566160"/>
            <a:ext cx="822960" cy="2926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56616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280160" y="35935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Caption Generation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3904488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embeddings (300-D, RSICD trained)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Neural Network → region relations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Decoder → token-by-token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868680"/>
            <a:ext cx="4023360" cy="1965960"/>
          </a:xfrm>
          <a:prstGeom prst="rect">
            <a:avLst/>
          </a:prstGeom>
          <a:solidFill>
            <a:srgbClr val="142236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914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Key Specifications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12618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Parameters: 88.3M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46320" y="1554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Datasets: RSICD (10,921 img), UCM-Captions (2,100 img)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4632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Hardware: NVIDIA RTX 4090 (24GB)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46320" y="21396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Inference: 26 img/sec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46320" y="243230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Training: 50 epochs + 10 RL epochs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2926080"/>
            <a:ext cx="4023360" cy="1828800"/>
          </a:xfrm>
          <a:prstGeom prst="rect">
            <a:avLst/>
          </a:prstGeom>
          <a:solidFill>
            <a:srgbClr val="142236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46320" y="29718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🔑  Key Innovations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46320" y="33375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Hybrid CNN+Transformer backbone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36576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Adaptive spatial &amp; channel attention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39776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Domain-specific RS embeddings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0" y="42976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Two-phase training: Supervised + RL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274320" cy="50749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CRSR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Retrieval + Semantic Refinement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4114800" cy="1143000"/>
          </a:xfrm>
          <a:prstGeom prst="rect">
            <a:avLst/>
          </a:prstGeom>
          <a:solidFill>
            <a:srgbClr val="142236"/>
          </a:solidFill>
          <a:ln w="12700">
            <a:solidFill>
              <a:srgbClr val="52B788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05840"/>
            <a:ext cx="914400" cy="2926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0584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89888" y="103327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Cross-Modal Retrieval (CLIP)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344168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CLIP for image-text matching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top-K relevant sentences from pool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strategy → semantic-relevant words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0" y="212140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2B788"/>
                </a:solidFill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" y="2286000"/>
            <a:ext cx="4114800" cy="1143000"/>
          </a:xfrm>
          <a:prstGeom prst="rect">
            <a:avLst/>
          </a:prstGeom>
          <a:solidFill>
            <a:srgbClr val="142236"/>
          </a:solidFill>
          <a:ln w="12700">
            <a:solidFill>
              <a:srgbClr val="52B788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286000"/>
            <a:ext cx="914400" cy="2926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28600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389888" y="231343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Semantic Refinement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2624328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Cross-Attention (Nc=3 Transformer blocks)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contradictory info (e.g. 'plane' vs 'planes')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masking of irrelevant words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86000" y="34015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2B788"/>
                </a:solidFill>
              </a:rPr>
              <a:t>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11480" y="3566160"/>
            <a:ext cx="4114800" cy="1143000"/>
          </a:xfrm>
          <a:prstGeom prst="rect">
            <a:avLst/>
          </a:prstGeom>
          <a:solidFill>
            <a:srgbClr val="142236"/>
          </a:solidFill>
          <a:ln w="12700">
            <a:solidFill>
              <a:srgbClr val="52B788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3566160"/>
            <a:ext cx="914400" cy="2926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566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389888" y="359359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Transformer Mapper + Decoder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3904488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Mapper: projection → k=10 visual vectors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Learnable queries → predict omitted words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Decoder: visual + query + semantic fusion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868680"/>
            <a:ext cx="4023360" cy="1737360"/>
          </a:xfrm>
          <a:prstGeom prst="rect">
            <a:avLst/>
          </a:prstGeom>
          <a:solidFill>
            <a:srgbClr val="142236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914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🔑  Key Innovations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12801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CLIP retrieval (no pre-defined label constraints)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16002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Masked attention for semantic refinement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19202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Learnable queries predict missing semantic info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22402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Three-loss training: Lw + LQ + Lc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2743200"/>
            <a:ext cx="4023360" cy="1188720"/>
          </a:xfrm>
          <a:prstGeom prst="rect">
            <a:avLst/>
          </a:prstGeom>
          <a:solidFill>
            <a:srgbClr val="142236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46320" y="27889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🏆  Best Generalization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46320" y="3127248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UCM (79.44% B4) and Sydney (70.96% B4)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 METEOR scores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advantage on small datasets (&lt;1K)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4041648"/>
            <a:ext cx="4023360" cy="777240"/>
          </a:xfrm>
          <a:prstGeom prst="rect">
            <a:avLst/>
          </a:prstGeom>
          <a:solidFill>
            <a:srgbClr val="142236"/>
          </a:solidFill>
          <a:ln w="12700">
            <a:solidFill>
              <a:srgbClr val="E63946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46320" y="411480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Limitation:  Retrieval + GPT-2 = Slowest inference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MSR-CAPNet  ·  PCSFTr  ·  TSFE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additional architectures at a glance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4592" y="960120"/>
            <a:ext cx="2834640" cy="3931920"/>
          </a:xfrm>
          <a:prstGeom prst="rect">
            <a:avLst/>
          </a:prstGeom>
          <a:solidFill>
            <a:srgbClr val="142236"/>
          </a:solidFill>
          <a:ln w="12700">
            <a:solidFill>
              <a:srgbClr val="9D4E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4592" y="960120"/>
            <a:ext cx="2834640" cy="502920"/>
          </a:xfrm>
          <a:prstGeom prst="rect">
            <a:avLst/>
          </a:prstGeom>
          <a:solidFill>
            <a:srgbClr val="9D4EDD">
              <a:alpha val="80000"/>
            </a:srgbClr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" y="9784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MSR-CAPNet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37744" y="125272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Context Framework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57276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ISC – Intra-Scale Context (within each FPN level)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2048256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IEC – Inter-Scale Context (cross-level connections)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2523744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RC – Relational Context (GAT: distance + angle)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299923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GAT models spatial relations between regions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7744" y="4343400"/>
            <a:ext cx="2670048" cy="411480"/>
          </a:xfrm>
          <a:prstGeom prst="rect">
            <a:avLst/>
          </a:prstGeom>
          <a:solidFill>
            <a:srgbClr val="9D4EDD">
              <a:alpha val="70000"/>
            </a:srgbClr>
          </a:solidFill>
          <a:ln w="12700">
            <a:solidFill>
              <a:srgbClr val="9D4E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37744" y="4343400"/>
            <a:ext cx="26700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Innovation Leader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54680" y="960120"/>
            <a:ext cx="2834640" cy="3931920"/>
          </a:xfrm>
          <a:prstGeom prst="rect">
            <a:avLst/>
          </a:prstGeom>
          <a:solidFill>
            <a:srgbClr val="142236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960120"/>
            <a:ext cx="2834640" cy="502920"/>
          </a:xfrm>
          <a:prstGeom prst="rect">
            <a:avLst/>
          </a:prstGeom>
          <a:solidFill>
            <a:srgbClr val="F4A261">
              <a:alpha val="8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27832" y="9784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PCSFTr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27832" y="125272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Dual-Domain Attention (Position + Channel)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64408" y="157276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PMSA – Position-wise Multi-head Self-Attention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64408" y="2048256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CMSA – Channel-wise Multi-head Self-Attention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64408" y="2523744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FF Block – intelligent feature fusion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64408" y="299923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Lightweight: Ne=3, Nd=3 layers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27832" y="4343400"/>
            <a:ext cx="2670048" cy="411480"/>
          </a:xfrm>
          <a:prstGeom prst="rect">
            <a:avLst/>
          </a:prstGeom>
          <a:solidFill>
            <a:srgbClr val="F4A261">
              <a:alpha val="70000"/>
            </a:srgbClr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27832" y="4343400"/>
            <a:ext cx="26700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Efficiency King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44768" y="960120"/>
            <a:ext cx="2834640" cy="3931920"/>
          </a:xfrm>
          <a:prstGeom prst="rect">
            <a:avLst/>
          </a:prstGeom>
          <a:solidFill>
            <a:srgbClr val="142236"/>
          </a:solidFill>
          <a:ln w="12700">
            <a:solidFill>
              <a:srgbClr val="48CA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44768" y="960120"/>
            <a:ext cx="2834640" cy="502920"/>
          </a:xfrm>
          <a:prstGeom prst="rect">
            <a:avLst/>
          </a:prstGeom>
          <a:solidFill>
            <a:srgbClr val="48CAE4">
              <a:alpha val="80000"/>
            </a:srgbClr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9784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TSFE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17920" y="125272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Feature Enhancement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54496" y="157276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Stage 1: Multi-scale extraction {F2, F3, F4}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54496" y="2048256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SENet adaptive weighting per scale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54496" y="2523744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Local attention + squeeze-based attention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54496" y="299923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GloVe-aligned global features (Vglobal)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4343400"/>
            <a:ext cx="2670048" cy="411480"/>
          </a:xfrm>
          <a:prstGeom prst="rect">
            <a:avLst/>
          </a:prstGeom>
          <a:solidFill>
            <a:srgbClr val="48CAE4">
              <a:alpha val="70000"/>
            </a:srgbClr>
          </a:solidFill>
          <a:ln w="12700">
            <a:solidFill>
              <a:srgbClr val="48CA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217920" y="4343400"/>
            <a:ext cx="26700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Large Dataset Champ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Comparison — BLEU-4 by Dataset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1280160" cy="3840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77724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463040" y="777240"/>
            <a:ext cx="1097280" cy="3840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77724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CRSR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777240"/>
            <a:ext cx="1234440" cy="3840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77724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MSR-CapNet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94760" y="777240"/>
            <a:ext cx="1234440" cy="3840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4760" y="77724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MSR-CAPNet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0" y="777240"/>
            <a:ext cx="1097280" cy="3840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77724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PCSFTr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777240"/>
            <a:ext cx="1097280" cy="3840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77724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TSFE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23760" y="777240"/>
            <a:ext cx="1188720" cy="3840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7772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🏆 Winner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2880" y="1234440"/>
            <a:ext cx="1280160" cy="713232"/>
          </a:xfrm>
          <a:prstGeom prst="rect">
            <a:avLst/>
          </a:prstGeom>
          <a:solidFill>
            <a:srgbClr val="1A2F47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" y="1234440"/>
            <a:ext cx="1280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RSICD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(10,921 imgs)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463040" y="1234440"/>
            <a:ext cx="1097280" cy="713232"/>
          </a:xfrm>
          <a:prstGeom prst="rect">
            <a:avLst/>
          </a:prstGeom>
          <a:solidFill>
            <a:srgbClr val="1A2F47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63040" y="1234440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53.47%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0320" y="1234440"/>
            <a:ext cx="1234440" cy="713232"/>
          </a:xfrm>
          <a:prstGeom prst="rect">
            <a:avLst/>
          </a:prstGeom>
          <a:solidFill>
            <a:srgbClr val="1A2F47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0" y="1234440"/>
            <a:ext cx="1234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44.7%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794760" y="1234440"/>
            <a:ext cx="1234440" cy="713232"/>
          </a:xfrm>
          <a:prstGeom prst="rect">
            <a:avLst/>
          </a:prstGeom>
          <a:solidFill>
            <a:srgbClr val="1A2F47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94760" y="1234440"/>
            <a:ext cx="1234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54.12%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0" y="1234440"/>
            <a:ext cx="1097280" cy="713232"/>
          </a:xfrm>
          <a:prstGeom prst="rect">
            <a:avLst/>
          </a:prstGeom>
          <a:solidFill>
            <a:srgbClr val="1A2F47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1234440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54.42%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1234440"/>
            <a:ext cx="1097280" cy="71323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1234440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54.86% ⭐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223760" y="1234440"/>
            <a:ext cx="1188720" cy="713232"/>
          </a:xfrm>
          <a:prstGeom prst="rect">
            <a:avLst/>
          </a:prstGeom>
          <a:solidFill>
            <a:srgbClr val="48CAE4">
              <a:alpha val="70000"/>
            </a:srgbClr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23760" y="1234440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TSFE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82880" y="2039112"/>
            <a:ext cx="1280160" cy="713232"/>
          </a:xfrm>
          <a:prstGeom prst="rect">
            <a:avLst/>
          </a:prstGeom>
          <a:solidFill>
            <a:srgbClr val="1A2F47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" y="2039112"/>
            <a:ext cx="1280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(2,100 imgs)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463040" y="2039112"/>
            <a:ext cx="1097280" cy="71323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63040" y="2039112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79.44% ⭐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560320" y="2039112"/>
            <a:ext cx="1234440" cy="713232"/>
          </a:xfrm>
          <a:prstGeom prst="rect">
            <a:avLst/>
          </a:prstGeom>
          <a:solidFill>
            <a:srgbClr val="142236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60320" y="2039112"/>
            <a:ext cx="1234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77.86%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794760" y="2039112"/>
            <a:ext cx="1234440" cy="713232"/>
          </a:xfrm>
          <a:prstGeom prst="rect">
            <a:avLst/>
          </a:prstGeom>
          <a:solidFill>
            <a:srgbClr val="142236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94760" y="2039112"/>
            <a:ext cx="1234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029200" y="2039112"/>
            <a:ext cx="1097280" cy="713232"/>
          </a:xfrm>
          <a:prstGeom prst="rect">
            <a:avLst/>
          </a:prstGeom>
          <a:solidFill>
            <a:srgbClr val="142236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0" y="2039112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78.42%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26480" y="2039112"/>
            <a:ext cx="1097280" cy="713232"/>
          </a:xfrm>
          <a:prstGeom prst="rect">
            <a:avLst/>
          </a:prstGeom>
          <a:solidFill>
            <a:srgbClr val="142236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0" y="2039112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76.45%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223760" y="2039112"/>
            <a:ext cx="1188720" cy="713232"/>
          </a:xfrm>
          <a:prstGeom prst="rect">
            <a:avLst/>
          </a:prstGeom>
          <a:solidFill>
            <a:srgbClr val="52B788">
              <a:alpha val="7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23760" y="2039112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CRSR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82880" y="2843784"/>
            <a:ext cx="1280160" cy="713232"/>
          </a:xfrm>
          <a:prstGeom prst="rect">
            <a:avLst/>
          </a:prstGeom>
          <a:solidFill>
            <a:srgbClr val="1A2F47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2880" y="2843784"/>
            <a:ext cx="1280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Sydney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(613 imgs)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463040" y="2843784"/>
            <a:ext cx="1097280" cy="71323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463040" y="2843784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70.96% ⭐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560320" y="2843784"/>
            <a:ext cx="1234440" cy="713232"/>
          </a:xfrm>
          <a:prstGeom prst="rect">
            <a:avLst/>
          </a:prstGeom>
          <a:solidFill>
            <a:srgbClr val="1A2F47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60320" y="2843784"/>
            <a:ext cx="1234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794760" y="2843784"/>
            <a:ext cx="1234440" cy="713232"/>
          </a:xfrm>
          <a:prstGeom prst="rect">
            <a:avLst/>
          </a:prstGeom>
          <a:solidFill>
            <a:srgbClr val="1A2F47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794760" y="2843784"/>
            <a:ext cx="1234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029200" y="2843784"/>
            <a:ext cx="1097280" cy="713232"/>
          </a:xfrm>
          <a:prstGeom prst="rect">
            <a:avLst/>
          </a:prstGeom>
          <a:solidFill>
            <a:srgbClr val="1A2F47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0" y="2843784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58.52%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126480" y="2843784"/>
            <a:ext cx="1097280" cy="713232"/>
          </a:xfrm>
          <a:prstGeom prst="rect">
            <a:avLst/>
          </a:prstGeom>
          <a:solidFill>
            <a:srgbClr val="1A2F47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26480" y="2843784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62.90%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223760" y="2843784"/>
            <a:ext cx="1188720" cy="713232"/>
          </a:xfrm>
          <a:prstGeom prst="rect">
            <a:avLst/>
          </a:prstGeom>
          <a:solidFill>
            <a:srgbClr val="52B788">
              <a:alpha val="7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223760" y="2843784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CRSR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182880" y="3648456"/>
            <a:ext cx="1280160" cy="713232"/>
          </a:xfrm>
          <a:prstGeom prst="rect">
            <a:avLst/>
          </a:prstGeom>
          <a:solidFill>
            <a:srgbClr val="1A2F47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82880" y="3648456"/>
            <a:ext cx="1280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NWPU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(31,500 imgs)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1463040" y="3648456"/>
            <a:ext cx="1097280" cy="713232"/>
          </a:xfrm>
          <a:prstGeom prst="rect">
            <a:avLst/>
          </a:prstGeom>
          <a:solidFill>
            <a:srgbClr val="142236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463040" y="3648456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2560320" y="3648456"/>
            <a:ext cx="1234440" cy="713232"/>
          </a:xfrm>
          <a:prstGeom prst="rect">
            <a:avLst/>
          </a:prstGeom>
          <a:solidFill>
            <a:srgbClr val="142236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560320" y="3648456"/>
            <a:ext cx="1234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3794760" y="3648456"/>
            <a:ext cx="1234440" cy="713232"/>
          </a:xfrm>
          <a:prstGeom prst="rect">
            <a:avLst/>
          </a:prstGeom>
          <a:solidFill>
            <a:srgbClr val="142236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794760" y="3648456"/>
            <a:ext cx="1234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029200" y="3648456"/>
            <a:ext cx="1097280" cy="71323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029200" y="3648456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69.01% ⭐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6126480" y="3648456"/>
            <a:ext cx="1097280" cy="713232"/>
          </a:xfrm>
          <a:prstGeom prst="rect">
            <a:avLst/>
          </a:prstGeom>
          <a:solidFill>
            <a:srgbClr val="142236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126480" y="3648456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7223760" y="3648456"/>
            <a:ext cx="1188720" cy="713232"/>
          </a:xfrm>
          <a:prstGeom prst="rect">
            <a:avLst/>
          </a:prstGeom>
          <a:solidFill>
            <a:srgbClr val="F4A261">
              <a:alpha val="7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223760" y="3648456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PCSFTr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182880" y="484632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All values shown as BLEU-4 scores (higher is better)  ·  ⭐ = best in row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RSICD Benchmark — Detailed Metrics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85953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2062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CRSR metrics shown ×10 on BLEU-4/METEOR/SPICE for scale (raw CIDEr shown). Bars grouped by metric.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320040" y="4572000"/>
            <a:ext cx="1965960" cy="438912"/>
          </a:xfrm>
          <a:prstGeom prst="rect">
            <a:avLst/>
          </a:prstGeom>
          <a:solidFill>
            <a:srgbClr val="48CAE4">
              <a:alpha val="75000"/>
            </a:srgbClr>
          </a:solidFill>
          <a:ln w="12700">
            <a:solidFill>
              <a:srgbClr val="48CA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20040" y="4572000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BLEU-4: TSFE  54.86%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468880" y="4572000"/>
            <a:ext cx="1965960" cy="438912"/>
          </a:xfrm>
          <a:prstGeom prst="rect">
            <a:avLst/>
          </a:prstGeom>
          <a:solidFill>
            <a:srgbClr val="52B788">
              <a:alpha val="75000"/>
            </a:srgbClr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468880" y="4572000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METEOR: CRSR  40.15%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17720" y="4572000"/>
            <a:ext cx="1965960" cy="438912"/>
          </a:xfrm>
          <a:prstGeom prst="rect">
            <a:avLst/>
          </a:prstGeom>
          <a:solidFill>
            <a:srgbClr val="52B788">
              <a:alpha val="75000"/>
            </a:srgbClr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617720" y="4572000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CIDEr: CRSR  306.87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766560" y="4572000"/>
            <a:ext cx="1965960" cy="438912"/>
          </a:xfrm>
          <a:prstGeom prst="rect">
            <a:avLst/>
          </a:prstGeom>
          <a:solidFill>
            <a:srgbClr val="52B788">
              <a:alpha val="75000"/>
            </a:srgbClr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766560" y="4572000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SPICE: CRSR  52.76%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 Complexity &amp; Efficiency Comparison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749808"/>
            <a:ext cx="1828800" cy="3840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74980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Aspect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0" y="749808"/>
            <a:ext cx="1691640" cy="38404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749808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CRSR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03320" y="749808"/>
            <a:ext cx="1691640" cy="384048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3320" y="749808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MSR-CapNet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94960" y="749808"/>
            <a:ext cx="1691640" cy="3840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0" y="749808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PCSFTr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86600" y="749808"/>
            <a:ext cx="1691640" cy="384048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86600" y="749808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TSFE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" y="1207008"/>
            <a:ext cx="1828800" cy="548640"/>
          </a:xfrm>
          <a:prstGeom prst="rect">
            <a:avLst/>
          </a:prstGeom>
          <a:solidFill>
            <a:srgbClr val="1A2F47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120700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F0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Phases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011680" y="1207008"/>
            <a:ext cx="1691640" cy="548640"/>
          </a:xfrm>
          <a:prstGeom prst="rect">
            <a:avLst/>
          </a:prstGeom>
          <a:solidFill>
            <a:srgbClr val="1A2F47"/>
          </a:solidFill>
          <a:ln w="12700">
            <a:solidFill>
              <a:srgbClr val="52B788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57400" y="1207008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(end-to-end)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03320" y="1207008"/>
            <a:ext cx="1691640" cy="548640"/>
          </a:xfrm>
          <a:prstGeom prst="rect">
            <a:avLst/>
          </a:prstGeom>
          <a:solidFill>
            <a:srgbClr val="1A2F47"/>
          </a:solidFill>
          <a:ln w="12700">
            <a:solidFill>
              <a:srgbClr val="9D4EDD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1207008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(end-to-end)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94960" y="1207008"/>
            <a:ext cx="1691640" cy="548640"/>
          </a:xfrm>
          <a:prstGeom prst="rect">
            <a:avLst/>
          </a:prstGeom>
          <a:solidFill>
            <a:srgbClr val="1A2F47"/>
          </a:solidFill>
          <a:ln w="12700">
            <a:solidFill>
              <a:srgbClr val="F4A261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40680" y="1207008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(+scene pre-train)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086600" y="1207008"/>
            <a:ext cx="1691640" cy="548640"/>
          </a:xfrm>
          <a:prstGeom prst="rect">
            <a:avLst/>
          </a:prstGeom>
          <a:solidFill>
            <a:srgbClr val="1A2F47"/>
          </a:solidFill>
          <a:ln w="12700">
            <a:solidFill>
              <a:srgbClr val="48CAE4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0" y="1207008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(fine-tune + train)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82880" y="1819656"/>
            <a:ext cx="1828800" cy="548640"/>
          </a:xfrm>
          <a:prstGeom prst="rect">
            <a:avLst/>
          </a:prstGeom>
          <a:solidFill>
            <a:srgbClr val="1A2F47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1819656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F0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Encoder Modules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011680" y="1819656"/>
            <a:ext cx="1691640" cy="548640"/>
          </a:xfrm>
          <a:prstGeom prst="rect">
            <a:avLst/>
          </a:prstGeom>
          <a:solidFill>
            <a:srgbClr val="142236"/>
          </a:solidFill>
          <a:ln w="12700">
            <a:solidFill>
              <a:srgbClr val="52B788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57400" y="1819656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(CLIP)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703320" y="1819656"/>
            <a:ext cx="1691640" cy="548640"/>
          </a:xfrm>
          <a:prstGeom prst="rect">
            <a:avLst/>
          </a:prstGeom>
          <a:solidFill>
            <a:srgbClr val="142236"/>
          </a:solidFill>
          <a:ln w="12700">
            <a:solidFill>
              <a:srgbClr val="9D4EDD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49040" y="1819656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(ResNet+ISC+IEC+RC)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394960" y="1819656"/>
            <a:ext cx="1691640" cy="548640"/>
          </a:xfrm>
          <a:prstGeom prst="rect">
            <a:avLst/>
          </a:prstGeom>
          <a:solidFill>
            <a:srgbClr val="142236"/>
          </a:solidFill>
          <a:ln w="12700">
            <a:solidFill>
              <a:srgbClr val="F4A261">
                <a:alpha val="3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40680" y="1819656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(ResNet+PCMSA)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086600" y="1819656"/>
            <a:ext cx="1691640" cy="548640"/>
          </a:xfrm>
          <a:prstGeom prst="rect">
            <a:avLst/>
          </a:prstGeom>
          <a:solidFill>
            <a:srgbClr val="142236"/>
          </a:solidFill>
          <a:ln w="12700">
            <a:solidFill>
              <a:srgbClr val="48CAE4">
                <a:alpha val="3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0" y="1819656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(Swin+AMFF+LFSE)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82880" y="2432304"/>
            <a:ext cx="1828800" cy="548640"/>
          </a:xfrm>
          <a:prstGeom prst="rect">
            <a:avLst/>
          </a:prstGeom>
          <a:solidFill>
            <a:srgbClr val="1A2F47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2432304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F0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Decoder Layers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011680" y="2432304"/>
            <a:ext cx="1691640" cy="548640"/>
          </a:xfrm>
          <a:prstGeom prst="rect">
            <a:avLst/>
          </a:prstGeom>
          <a:solidFill>
            <a:srgbClr val="1A2F47"/>
          </a:solidFill>
          <a:ln w="12700">
            <a:solidFill>
              <a:srgbClr val="52B788">
                <a:alpha val="3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57400" y="2432304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(GPT-2)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703320" y="2432304"/>
            <a:ext cx="1691640" cy="548640"/>
          </a:xfrm>
          <a:prstGeom prst="rect">
            <a:avLst/>
          </a:prstGeom>
          <a:solidFill>
            <a:srgbClr val="1A2F47"/>
          </a:solidFill>
          <a:ln w="12700">
            <a:solidFill>
              <a:srgbClr val="9D4EDD">
                <a:alpha val="3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49040" y="2432304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(Transformer)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394960" y="2432304"/>
            <a:ext cx="1691640" cy="548640"/>
          </a:xfrm>
          <a:prstGeom prst="rect">
            <a:avLst/>
          </a:prstGeom>
          <a:solidFill>
            <a:srgbClr val="1A2F47"/>
          </a:solidFill>
          <a:ln w="12700">
            <a:solidFill>
              <a:srgbClr val="F4A261">
                <a:alpha val="3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40680" y="2432304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(Transformer)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086600" y="2432304"/>
            <a:ext cx="1691640" cy="548640"/>
          </a:xfrm>
          <a:prstGeom prst="rect">
            <a:avLst/>
          </a:prstGeom>
          <a:solidFill>
            <a:srgbClr val="1A2F47"/>
          </a:solidFill>
          <a:ln w="12700">
            <a:solidFill>
              <a:srgbClr val="48CAE4">
                <a:alpha val="3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32320" y="2432304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(LSTM)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82880" y="3044952"/>
            <a:ext cx="1828800" cy="548640"/>
          </a:xfrm>
          <a:prstGeom prst="rect">
            <a:avLst/>
          </a:prstGeom>
          <a:solidFill>
            <a:srgbClr val="1A2F47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8600" y="304495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F0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Loss Functions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011680" y="3044952"/>
            <a:ext cx="1691640" cy="548640"/>
          </a:xfrm>
          <a:prstGeom prst="rect">
            <a:avLst/>
          </a:prstGeom>
          <a:solidFill>
            <a:srgbClr val="142236"/>
          </a:solidFill>
          <a:ln w="12700">
            <a:solidFill>
              <a:srgbClr val="52B788">
                <a:alpha val="3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057400" y="3044952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(cross-entropy)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703320" y="3044952"/>
            <a:ext cx="1691640" cy="548640"/>
          </a:xfrm>
          <a:prstGeom prst="rect">
            <a:avLst/>
          </a:prstGeom>
          <a:solidFill>
            <a:srgbClr val="142236"/>
          </a:solidFill>
          <a:ln w="12700">
            <a:solidFill>
              <a:srgbClr val="9D4EDD">
                <a:alpha val="3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49040" y="3044952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Multi-task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394960" y="3044952"/>
            <a:ext cx="1691640" cy="548640"/>
          </a:xfrm>
          <a:prstGeom prst="rect">
            <a:avLst/>
          </a:prstGeom>
          <a:solidFill>
            <a:srgbClr val="142236"/>
          </a:solidFill>
          <a:ln w="12700">
            <a:solidFill>
              <a:srgbClr val="F4A261">
                <a:alpha val="3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40680" y="3044952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(cross-entropy)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086600" y="3044952"/>
            <a:ext cx="1691640" cy="548640"/>
          </a:xfrm>
          <a:prstGeom prst="rect">
            <a:avLst/>
          </a:prstGeom>
          <a:solidFill>
            <a:srgbClr val="142236"/>
          </a:solidFill>
          <a:ln w="12700">
            <a:solidFill>
              <a:srgbClr val="48CAE4">
                <a:alpha val="3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32320" y="3044952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(word + sentence)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82880" y="3657600"/>
            <a:ext cx="1828800" cy="548640"/>
          </a:xfrm>
          <a:prstGeom prst="rect">
            <a:avLst/>
          </a:prstGeom>
          <a:solidFill>
            <a:srgbClr val="1A2F47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8600" y="36576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F0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Time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2011680" y="3657600"/>
            <a:ext cx="1691640" cy="548640"/>
          </a:xfrm>
          <a:prstGeom prst="rect">
            <a:avLst/>
          </a:prstGeom>
          <a:solidFill>
            <a:srgbClr val="1A2F47"/>
          </a:solidFill>
          <a:ln w="12700">
            <a:solidFill>
              <a:srgbClr val="52B788">
                <a:alpha val="3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057400" y="36576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(retrieval)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703320" y="3657600"/>
            <a:ext cx="1691640" cy="548640"/>
          </a:xfrm>
          <a:prstGeom prst="rect">
            <a:avLst/>
          </a:prstGeom>
          <a:solidFill>
            <a:srgbClr val="1A2F47"/>
          </a:solidFill>
          <a:ln w="12700">
            <a:solidFill>
              <a:srgbClr val="9D4EDD">
                <a:alpha val="3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749040" y="36576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394960" y="3657600"/>
            <a:ext cx="1691640" cy="548640"/>
          </a:xfrm>
          <a:prstGeom prst="rect">
            <a:avLst/>
          </a:prstGeom>
          <a:solidFill>
            <a:srgbClr val="1A2F47"/>
          </a:solidFill>
          <a:ln w="12700">
            <a:solidFill>
              <a:srgbClr val="F4A261">
                <a:alpha val="3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40680" y="36576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✅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086600" y="3657600"/>
            <a:ext cx="1691640" cy="548640"/>
          </a:xfrm>
          <a:prstGeom prst="rect">
            <a:avLst/>
          </a:prstGeom>
          <a:solidFill>
            <a:srgbClr val="1A2F47"/>
          </a:solidFill>
          <a:ln w="12700">
            <a:solidFill>
              <a:srgbClr val="48CAE4">
                <a:alpha val="3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132320" y="36576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182880" y="4270248"/>
            <a:ext cx="1828800" cy="548640"/>
          </a:xfrm>
          <a:prstGeom prst="rect">
            <a:avLst/>
          </a:prstGeom>
          <a:solidFill>
            <a:srgbClr val="1A2F47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28600" y="427024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F0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Use Case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2011680" y="4270248"/>
            <a:ext cx="1691640" cy="548640"/>
          </a:xfrm>
          <a:prstGeom prst="rect">
            <a:avLst/>
          </a:prstGeom>
          <a:solidFill>
            <a:srgbClr val="142236"/>
          </a:solidFill>
          <a:ln w="12700">
            <a:solidFill>
              <a:srgbClr val="52B788">
                <a:alpha val="30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057400" y="4270248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datasets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703320" y="4270248"/>
            <a:ext cx="1691640" cy="548640"/>
          </a:xfrm>
          <a:prstGeom prst="rect">
            <a:avLst/>
          </a:prstGeom>
          <a:solidFill>
            <a:srgbClr val="142236"/>
          </a:solidFill>
          <a:ln w="12700">
            <a:solidFill>
              <a:srgbClr val="9D4EDD">
                <a:alpha val="30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749040" y="4270248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context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394960" y="4270248"/>
            <a:ext cx="1691640" cy="548640"/>
          </a:xfrm>
          <a:prstGeom prst="rect">
            <a:avLst/>
          </a:prstGeom>
          <a:solidFill>
            <a:srgbClr val="142236"/>
          </a:solidFill>
          <a:ln w="12700">
            <a:solidFill>
              <a:srgbClr val="F4A261">
                <a:alpha val="30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440680" y="4270248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medium data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7086600" y="4270248"/>
            <a:ext cx="1691640" cy="548640"/>
          </a:xfrm>
          <a:prstGeom prst="rect">
            <a:avLst/>
          </a:prstGeom>
          <a:solidFill>
            <a:srgbClr val="142236"/>
          </a:solidFill>
          <a:ln w="12700">
            <a:solidFill>
              <a:srgbClr val="48CAE4">
                <a:alpha val="30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132320" y="4270248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datasets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Rankings &amp; Key Takeaways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251960" cy="1993392"/>
          </a:xfrm>
          <a:prstGeom prst="rect">
            <a:avLst/>
          </a:prstGeom>
          <a:solidFill>
            <a:srgbClr val="142236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777240"/>
            <a:ext cx="4251960" cy="347472"/>
          </a:xfrm>
          <a:prstGeom prst="rect">
            <a:avLst/>
          </a:prstGeom>
          <a:solidFill>
            <a:srgbClr val="52B788">
              <a:alpha val="8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4069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Overall Performance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2608" y="123444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CRSR — wins UCM &amp; Sydney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" y="1709928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 TSFE — best on RSICD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" y="2185416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🥉 PCSFTr — strong on NWPU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777240"/>
            <a:ext cx="4251960" cy="1993392"/>
          </a:xfrm>
          <a:prstGeom prst="rect">
            <a:avLst/>
          </a:prstGeom>
          <a:solidFill>
            <a:srgbClr val="142236"/>
          </a:solidFill>
          <a:ln w="12700">
            <a:solidFill>
              <a:srgbClr val="9D4E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777240"/>
            <a:ext cx="4251960" cy="347472"/>
          </a:xfrm>
          <a:prstGeom prst="rect">
            <a:avLst/>
          </a:prstGeom>
          <a:solidFill>
            <a:srgbClr val="9D4EDD">
              <a:alpha val="80000"/>
            </a:srgbClr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804672"/>
            <a:ext cx="4069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Innovation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73168" y="123444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MSR-CAPNet — triple context ISC+IEC+RC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73168" y="1709928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 PCSFTr — dual-domain attention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73168" y="2185416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🥉 TSFE — systematic two-stage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" y="2926080"/>
            <a:ext cx="4251960" cy="1993392"/>
          </a:xfrm>
          <a:prstGeom prst="rect">
            <a:avLst/>
          </a:prstGeom>
          <a:solidFill>
            <a:srgbClr val="142236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82880" y="2926080"/>
            <a:ext cx="4251960" cy="347472"/>
          </a:xfrm>
          <a:prstGeom prst="rect">
            <a:avLst/>
          </a:prstGeom>
          <a:solidFill>
            <a:srgbClr val="F4A261">
              <a:alpha val="8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953512"/>
            <a:ext cx="4069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Efficiency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2608" y="338328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PCSFTr — Ne=3, Nd=3, single-stage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2608" y="3858768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 TSFE — squeeze-based O(HW·C)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92608" y="4334256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🥉 MSR-CAPNet — three context modules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926080"/>
            <a:ext cx="4251960" cy="1993392"/>
          </a:xfrm>
          <a:prstGeom prst="rect">
            <a:avLst/>
          </a:prstGeom>
          <a:solidFill>
            <a:srgbClr val="142236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926080"/>
            <a:ext cx="4251960" cy="347472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953512"/>
            <a:ext cx="4069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Multi-Scale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73168" y="338328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MSR-CapNet — FPN + inter-scale attention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73168" y="3858768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 TSFE — {F2,F3,F4} + SENet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73168" y="4334256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🥉 PCSFTr — ResNet final layer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Proposed Hybrid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0" y="2286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 all worlds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6217920" cy="868680"/>
          </a:xfrm>
          <a:prstGeom prst="rect">
            <a:avLst/>
          </a:prstGeom>
          <a:solidFill>
            <a:srgbClr val="142236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04672"/>
            <a:ext cx="777240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804672"/>
            <a:ext cx="777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" y="8595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Multi-Scale Foundation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78992" y="11430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MSR-CapNet + TSFE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78992" y="133502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FPN pyramid {P3,P4,P5}  +  SENet adaptive weighting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08960" y="1655064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B4D8"/>
                </a:solidFill>
              </a:rPr>
              <a:t>↓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8600" y="1810512"/>
            <a:ext cx="6217920" cy="868680"/>
          </a:xfrm>
          <a:prstGeom prst="rect">
            <a:avLst/>
          </a:prstGeom>
          <a:solidFill>
            <a:srgbClr val="142236"/>
          </a:solidFill>
          <a:ln w="12700">
            <a:solidFill>
              <a:srgbClr val="9D4E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1810512"/>
            <a:ext cx="777240" cy="868680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810512"/>
            <a:ext cx="777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8992" y="1865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Context-Aware Enhancement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78992" y="21488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MSR-CAPNet + PCSFTr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78992" y="234086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 + IEC + RC (GAT)  +  PMSA &amp; CMSA dual-domain attention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08960" y="2660904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B4D8"/>
                </a:solidFill>
              </a:rPr>
              <a:t>↓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28600" y="2816352"/>
            <a:ext cx="6217920" cy="868680"/>
          </a:xfrm>
          <a:prstGeom prst="rect">
            <a:avLst/>
          </a:prstGeom>
          <a:solidFill>
            <a:srgbClr val="142236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2816352"/>
            <a:ext cx="777240" cy="8686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2816352"/>
            <a:ext cx="777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8992" y="28712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Positional Refinement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78992" y="31546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TSFE + PCSFTr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78992" y="334670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Squeeze attention + local attention  +  FF fusion block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108960" y="3666744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B4D8"/>
                </a:solidFill>
              </a:rPr>
              <a:t>↓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28600" y="3822192"/>
            <a:ext cx="6217920" cy="868680"/>
          </a:xfrm>
          <a:prstGeom prst="rect">
            <a:avLst/>
          </a:prstGeom>
          <a:solidFill>
            <a:srgbClr val="142236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" y="3822192"/>
            <a:ext cx="777240" cy="8686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3822192"/>
            <a:ext cx="777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8992" y="38770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Multi-Strategy Fusion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78992" y="41605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CRSR + TSFE + MSR-CAPNet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078992" y="435254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templates  +  GloVe-aligned Vglobal  +  context injection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583680" y="804672"/>
            <a:ext cx="2331720" cy="4023360"/>
          </a:xfrm>
          <a:prstGeom prst="rect">
            <a:avLst/>
          </a:prstGeom>
          <a:solidFill>
            <a:srgbClr val="142236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675120" y="850392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Expected Gains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675120" y="129844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RSICD BLEU-4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75120" y="1545336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58–60%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6675120" y="2011680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+5–7% absolute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675120" y="230428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UCM BLEU-4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675120" y="2551176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82–84%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6675120" y="3017520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+4–5% absolute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675120" y="331012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CIDEr gain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675120" y="3557016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+50–100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6675120" y="4023360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datasets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914400"/>
            <a:ext cx="6400800" cy="6400800"/>
          </a:xfrm>
          <a:prstGeom prst="ellipse">
            <a:avLst/>
          </a:prstGeom>
          <a:solidFill>
            <a:srgbClr val="1A2F47">
              <a:alpha val="30000"/>
            </a:srgbClr>
          </a:solidFill>
          <a:ln w="12700">
            <a:solidFill>
              <a:srgbClr val="1A2F47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Verdict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64592" y="960120"/>
            <a:ext cx="1993392" cy="3246120"/>
          </a:xfrm>
          <a:prstGeom prst="rect">
            <a:avLst/>
          </a:prstGeom>
          <a:solidFill>
            <a:srgbClr val="142236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4592" y="960120"/>
            <a:ext cx="1993392" cy="411480"/>
          </a:xfrm>
          <a:prstGeom prst="rect">
            <a:avLst/>
          </a:prstGeom>
          <a:solidFill>
            <a:srgbClr val="52B788">
              <a:alpha val="8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" y="97840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Overall Winner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94944" y="14630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🏆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37744" y="2103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CRSR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56032" y="260604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dataset victories, best METEOR scores, strong generalization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40864" y="960120"/>
            <a:ext cx="1993392" cy="3246120"/>
          </a:xfrm>
          <a:prstGeom prst="rect">
            <a:avLst/>
          </a:prstGeom>
          <a:solidFill>
            <a:srgbClr val="142236"/>
          </a:solidFill>
          <a:ln w="12700">
            <a:solidFill>
              <a:srgbClr val="48CA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40864" y="960120"/>
            <a:ext cx="1993392" cy="411480"/>
          </a:xfrm>
          <a:prstGeom prst="rect">
            <a:avLst/>
          </a:prstGeom>
          <a:solidFill>
            <a:srgbClr val="48CAE4">
              <a:alpha val="80000"/>
            </a:srgbClr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14016" y="97840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Large Dataset Champion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71216" y="14630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🏆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414016" y="2103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TSFE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432304" y="260604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RSICD: 54.86% BLEU-4 — systematic two-stage pipeline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17136" y="960120"/>
            <a:ext cx="1993392" cy="3246120"/>
          </a:xfrm>
          <a:prstGeom prst="rect">
            <a:avLst/>
          </a:prstGeom>
          <a:solidFill>
            <a:srgbClr val="142236"/>
          </a:solidFill>
          <a:ln w="12700">
            <a:solidFill>
              <a:srgbClr val="9D4E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17136" y="960120"/>
            <a:ext cx="1993392" cy="411480"/>
          </a:xfrm>
          <a:prstGeom prst="rect">
            <a:avLst/>
          </a:prstGeom>
          <a:solidFill>
            <a:srgbClr val="9D4EDD">
              <a:alpha val="80000"/>
            </a:srgbClr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0288" y="97840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Innovation Leader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47488" y="14630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🏆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4590288" y="2103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D4E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MSR-CAPNet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608576" y="260604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Triple-context modeling ISC+IEC+RC — most comprehensive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93408" y="960120"/>
            <a:ext cx="1993392" cy="3246120"/>
          </a:xfrm>
          <a:prstGeom prst="rect">
            <a:avLst/>
          </a:prstGeom>
          <a:solidFill>
            <a:srgbClr val="142236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693408" y="960120"/>
            <a:ext cx="1993392" cy="411480"/>
          </a:xfrm>
          <a:prstGeom prst="rect">
            <a:avLst/>
          </a:prstGeom>
          <a:solidFill>
            <a:srgbClr val="F4A261">
              <a:alpha val="8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97840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Efficiency King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23760" y="14630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🏆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6766560" y="2103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PCSFTr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784848" y="260604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Ne=3, Nd=3 — ideal for real-time applications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343400"/>
            <a:ext cx="8412480" cy="594360"/>
          </a:xfrm>
          <a:prstGeom prst="rect">
            <a:avLst/>
          </a:prstGeom>
          <a:solidFill>
            <a:srgbClr val="0077B6">
              <a:alpha val="70000"/>
            </a:srgbClr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43708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Combination: MSR-CAPNet's context  +  TSFE's efficiency  +  PCSFTr's dual-domain  +  CRSR's retrieval 🚀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Remote Sensing Image Captioning - Architecture Comparison</dc:title>
  <dc:subject>PptxGenJS Presentation</dc:subject>
  <dc:creator>PptxGenJS</dc:creator>
  <cp:lastModifiedBy>PptxGenJS</cp:lastModifiedBy>
  <cp:revision>1</cp:revision>
  <dcterms:created xsi:type="dcterms:W3CDTF">2026-03-03T19:56:27Z</dcterms:created>
  <dcterms:modified xsi:type="dcterms:W3CDTF">2026-03-03T19:56:27Z</dcterms:modified>
</cp:coreProperties>
</file>