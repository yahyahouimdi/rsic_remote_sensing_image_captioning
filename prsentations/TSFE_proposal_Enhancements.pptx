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libri (MS) Bold" charset="1" panose="020F0702030404030204"/>
      <p:regular r:id="rId21"/>
    </p:embeddedFont>
    <p:embeddedFont>
      <p:font typeface="Calibri (MS)" charset="1" panose="020F0502020204030204"/>
      <p:regular r:id="rId22"/>
    </p:embeddedFont>
    <p:embeddedFont>
      <p:font typeface="Consolas" charset="1" panose="020B060902020403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fonts/font25.fntdata" Type="http://schemas.openxmlformats.org/officeDocument/2006/relationships/font"/><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34"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5714983" y="-12697"/>
            <a:ext cx="2585723" cy="10312403"/>
            <a:chOff x="0" y="0"/>
            <a:chExt cx="3447631" cy="13749871"/>
          </a:xfrm>
        </p:grpSpPr>
        <p:sp>
          <p:nvSpPr>
            <p:cNvPr name="Freeform 3" id="3"/>
            <p:cNvSpPr/>
            <p:nvPr/>
          </p:nvSpPr>
          <p:spPr>
            <a:xfrm flipH="false" flipV="false" rot="0">
              <a:off x="16891" y="16891"/>
              <a:ext cx="3413760" cy="13715999"/>
            </a:xfrm>
            <a:custGeom>
              <a:avLst/>
              <a:gdLst/>
              <a:ahLst/>
              <a:cxnLst/>
              <a:rect r="r" b="b" t="t" l="l"/>
              <a:pathLst>
                <a:path h="13715999" w="3413760">
                  <a:moveTo>
                    <a:pt x="0" y="0"/>
                  </a:moveTo>
                  <a:lnTo>
                    <a:pt x="3413760" y="0"/>
                  </a:lnTo>
                  <a:lnTo>
                    <a:pt x="3413760" y="13715999"/>
                  </a:lnTo>
                  <a:lnTo>
                    <a:pt x="0" y="13715999"/>
                  </a:lnTo>
                  <a:close/>
                </a:path>
              </a:pathLst>
            </a:custGeom>
            <a:solidFill>
              <a:srgbClr val="0F2347"/>
            </a:solidFill>
          </p:spPr>
        </p:sp>
        <p:sp>
          <p:nvSpPr>
            <p:cNvPr name="Freeform 4" id="4"/>
            <p:cNvSpPr/>
            <p:nvPr/>
          </p:nvSpPr>
          <p:spPr>
            <a:xfrm flipH="false" flipV="false" rot="0">
              <a:off x="0" y="0"/>
              <a:ext cx="3447542" cy="13749782"/>
            </a:xfrm>
            <a:custGeom>
              <a:avLst/>
              <a:gdLst/>
              <a:ahLst/>
              <a:cxnLst/>
              <a:rect r="r" b="b" t="t" l="l"/>
              <a:pathLst>
                <a:path h="13749782" w="3447542">
                  <a:moveTo>
                    <a:pt x="16891" y="0"/>
                  </a:moveTo>
                  <a:lnTo>
                    <a:pt x="3430651" y="0"/>
                  </a:lnTo>
                  <a:cubicBezTo>
                    <a:pt x="3440049" y="0"/>
                    <a:pt x="3447542" y="7620"/>
                    <a:pt x="3447542" y="16891"/>
                  </a:cubicBezTo>
                  <a:lnTo>
                    <a:pt x="3447542" y="13732890"/>
                  </a:lnTo>
                  <a:cubicBezTo>
                    <a:pt x="3447542" y="13742290"/>
                    <a:pt x="3439922" y="13749782"/>
                    <a:pt x="3430651"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430651" y="13716000"/>
                  </a:lnTo>
                  <a:lnTo>
                    <a:pt x="3430651" y="13732890"/>
                  </a:lnTo>
                  <a:lnTo>
                    <a:pt x="3413760" y="13732890"/>
                  </a:lnTo>
                  <a:lnTo>
                    <a:pt x="3413760" y="16891"/>
                  </a:lnTo>
                  <a:lnTo>
                    <a:pt x="3430651" y="16891"/>
                  </a:lnTo>
                  <a:lnTo>
                    <a:pt x="3430651" y="33909"/>
                  </a:lnTo>
                  <a:lnTo>
                    <a:pt x="16891" y="33909"/>
                  </a:lnTo>
                  <a:close/>
                </a:path>
              </a:pathLst>
            </a:custGeom>
            <a:solidFill>
              <a:srgbClr val="0F2347"/>
            </a:solidFill>
          </p:spPr>
        </p:sp>
      </p:grpSp>
      <p:grpSp>
        <p:nvGrpSpPr>
          <p:cNvPr name="Group 5" id="5"/>
          <p:cNvGrpSpPr/>
          <p:nvPr/>
        </p:nvGrpSpPr>
        <p:grpSpPr>
          <a:xfrm rot="0">
            <a:off x="-12697" y="8399783"/>
            <a:ext cx="15753083" cy="1899923"/>
            <a:chOff x="0" y="0"/>
            <a:chExt cx="21004111" cy="2533231"/>
          </a:xfrm>
        </p:grpSpPr>
        <p:sp>
          <p:nvSpPr>
            <p:cNvPr name="Freeform 6" id="6"/>
            <p:cNvSpPr/>
            <p:nvPr/>
          </p:nvSpPr>
          <p:spPr>
            <a:xfrm flipH="false" flipV="false" rot="0">
              <a:off x="16891" y="16891"/>
              <a:ext cx="20970239" cy="2499360"/>
            </a:xfrm>
            <a:custGeom>
              <a:avLst/>
              <a:gdLst/>
              <a:ahLst/>
              <a:cxnLst/>
              <a:rect r="r" b="b" t="t" l="l"/>
              <a:pathLst>
                <a:path h="2499360" w="20970239">
                  <a:moveTo>
                    <a:pt x="0" y="0"/>
                  </a:moveTo>
                  <a:lnTo>
                    <a:pt x="20970239" y="0"/>
                  </a:lnTo>
                  <a:lnTo>
                    <a:pt x="20970239" y="2499360"/>
                  </a:lnTo>
                  <a:lnTo>
                    <a:pt x="0" y="2499360"/>
                  </a:lnTo>
                  <a:close/>
                </a:path>
              </a:pathLst>
            </a:custGeom>
            <a:solidFill>
              <a:srgbClr val="0F2347"/>
            </a:solidFill>
          </p:spPr>
        </p:sp>
        <p:sp>
          <p:nvSpPr>
            <p:cNvPr name="Freeform 7" id="7"/>
            <p:cNvSpPr/>
            <p:nvPr/>
          </p:nvSpPr>
          <p:spPr>
            <a:xfrm flipH="false" flipV="false" rot="0">
              <a:off x="0" y="0"/>
              <a:ext cx="21004022" cy="2533142"/>
            </a:xfrm>
            <a:custGeom>
              <a:avLst/>
              <a:gdLst/>
              <a:ahLst/>
              <a:cxnLst/>
              <a:rect r="r" b="b" t="t" l="l"/>
              <a:pathLst>
                <a:path h="2533142" w="21004022">
                  <a:moveTo>
                    <a:pt x="16891" y="0"/>
                  </a:moveTo>
                  <a:lnTo>
                    <a:pt x="20987130" y="0"/>
                  </a:lnTo>
                  <a:cubicBezTo>
                    <a:pt x="20996529" y="0"/>
                    <a:pt x="21004022" y="7620"/>
                    <a:pt x="21004022" y="16891"/>
                  </a:cubicBezTo>
                  <a:lnTo>
                    <a:pt x="21004022" y="2516251"/>
                  </a:lnTo>
                  <a:cubicBezTo>
                    <a:pt x="21004022" y="2525649"/>
                    <a:pt x="20996402" y="2533142"/>
                    <a:pt x="20987130" y="2533142"/>
                  </a:cubicBezTo>
                  <a:lnTo>
                    <a:pt x="16891" y="2533142"/>
                  </a:lnTo>
                  <a:cubicBezTo>
                    <a:pt x="7493" y="2533142"/>
                    <a:pt x="0" y="2525522"/>
                    <a:pt x="0" y="2516251"/>
                  </a:cubicBezTo>
                  <a:lnTo>
                    <a:pt x="0" y="16891"/>
                  </a:lnTo>
                  <a:cubicBezTo>
                    <a:pt x="0" y="7620"/>
                    <a:pt x="7620" y="0"/>
                    <a:pt x="16891" y="0"/>
                  </a:cubicBezTo>
                  <a:moveTo>
                    <a:pt x="16891" y="33909"/>
                  </a:moveTo>
                  <a:lnTo>
                    <a:pt x="16891" y="16891"/>
                  </a:lnTo>
                  <a:lnTo>
                    <a:pt x="33909" y="16891"/>
                  </a:lnTo>
                  <a:lnTo>
                    <a:pt x="33909" y="2516251"/>
                  </a:lnTo>
                  <a:lnTo>
                    <a:pt x="16891" y="2516251"/>
                  </a:lnTo>
                  <a:lnTo>
                    <a:pt x="16891" y="2499360"/>
                  </a:lnTo>
                  <a:lnTo>
                    <a:pt x="20987130" y="2499360"/>
                  </a:lnTo>
                  <a:lnTo>
                    <a:pt x="20987130" y="2516251"/>
                  </a:lnTo>
                  <a:lnTo>
                    <a:pt x="20970239" y="2516251"/>
                  </a:lnTo>
                  <a:lnTo>
                    <a:pt x="20970239" y="16891"/>
                  </a:lnTo>
                  <a:lnTo>
                    <a:pt x="20987130" y="16891"/>
                  </a:lnTo>
                  <a:lnTo>
                    <a:pt x="20987130" y="33909"/>
                  </a:lnTo>
                  <a:lnTo>
                    <a:pt x="16891" y="33909"/>
                  </a:lnTo>
                  <a:close/>
                </a:path>
              </a:pathLst>
            </a:custGeom>
            <a:solidFill>
              <a:srgbClr val="0F2347"/>
            </a:solidFill>
          </p:spPr>
        </p:sp>
      </p:grpSp>
      <p:grpSp>
        <p:nvGrpSpPr>
          <p:cNvPr name="Group 8" id="8"/>
          <p:cNvGrpSpPr/>
          <p:nvPr/>
        </p:nvGrpSpPr>
        <p:grpSpPr>
          <a:xfrm rot="0">
            <a:off x="718823" y="1816103"/>
            <a:ext cx="171707" cy="5146043"/>
            <a:chOff x="0" y="0"/>
            <a:chExt cx="228943" cy="6861391"/>
          </a:xfrm>
        </p:grpSpPr>
        <p:sp>
          <p:nvSpPr>
            <p:cNvPr name="Freeform 9" id="9"/>
            <p:cNvSpPr/>
            <p:nvPr/>
          </p:nvSpPr>
          <p:spPr>
            <a:xfrm flipH="false" flipV="false" rot="0">
              <a:off x="16891" y="16891"/>
              <a:ext cx="195072" cy="6827520"/>
            </a:xfrm>
            <a:custGeom>
              <a:avLst/>
              <a:gdLst/>
              <a:ahLst/>
              <a:cxnLst/>
              <a:rect r="r" b="b" t="t" l="l"/>
              <a:pathLst>
                <a:path h="6827520" w="195072">
                  <a:moveTo>
                    <a:pt x="0" y="0"/>
                  </a:moveTo>
                  <a:lnTo>
                    <a:pt x="195072" y="0"/>
                  </a:lnTo>
                  <a:lnTo>
                    <a:pt x="195072" y="6827520"/>
                  </a:lnTo>
                  <a:lnTo>
                    <a:pt x="0" y="6827520"/>
                  </a:lnTo>
                  <a:close/>
                </a:path>
              </a:pathLst>
            </a:custGeom>
            <a:solidFill>
              <a:srgbClr val="0D9488"/>
            </a:solidFill>
          </p:spPr>
        </p:sp>
        <p:sp>
          <p:nvSpPr>
            <p:cNvPr name="Freeform 10" id="10"/>
            <p:cNvSpPr/>
            <p:nvPr/>
          </p:nvSpPr>
          <p:spPr>
            <a:xfrm flipH="false" flipV="false" rot="0">
              <a:off x="0" y="0"/>
              <a:ext cx="228854" cy="6861301"/>
            </a:xfrm>
            <a:custGeom>
              <a:avLst/>
              <a:gdLst/>
              <a:ahLst/>
              <a:cxnLst/>
              <a:rect r="r" b="b" t="t" l="l"/>
              <a:pathLst>
                <a:path h="6861301" w="228854">
                  <a:moveTo>
                    <a:pt x="16891" y="0"/>
                  </a:moveTo>
                  <a:lnTo>
                    <a:pt x="211963" y="0"/>
                  </a:lnTo>
                  <a:cubicBezTo>
                    <a:pt x="221361" y="0"/>
                    <a:pt x="228854" y="7620"/>
                    <a:pt x="228854" y="16891"/>
                  </a:cubicBezTo>
                  <a:lnTo>
                    <a:pt x="228854" y="6844411"/>
                  </a:lnTo>
                  <a:cubicBezTo>
                    <a:pt x="228854" y="6853809"/>
                    <a:pt x="221234" y="6861301"/>
                    <a:pt x="211963" y="6861301"/>
                  </a:cubicBezTo>
                  <a:lnTo>
                    <a:pt x="16891" y="6861301"/>
                  </a:lnTo>
                  <a:cubicBezTo>
                    <a:pt x="7493" y="6861301"/>
                    <a:pt x="0" y="6853682"/>
                    <a:pt x="0" y="6844411"/>
                  </a:cubicBezTo>
                  <a:lnTo>
                    <a:pt x="0" y="16891"/>
                  </a:lnTo>
                  <a:cubicBezTo>
                    <a:pt x="0" y="7620"/>
                    <a:pt x="7620" y="0"/>
                    <a:pt x="16891" y="0"/>
                  </a:cubicBezTo>
                  <a:moveTo>
                    <a:pt x="16891" y="33909"/>
                  </a:moveTo>
                  <a:lnTo>
                    <a:pt x="16891" y="16891"/>
                  </a:lnTo>
                  <a:lnTo>
                    <a:pt x="33909" y="16891"/>
                  </a:lnTo>
                  <a:lnTo>
                    <a:pt x="33909" y="6844411"/>
                  </a:lnTo>
                  <a:lnTo>
                    <a:pt x="16891" y="6844411"/>
                  </a:lnTo>
                  <a:lnTo>
                    <a:pt x="16891" y="6827520"/>
                  </a:lnTo>
                  <a:lnTo>
                    <a:pt x="211963" y="6827520"/>
                  </a:lnTo>
                  <a:lnTo>
                    <a:pt x="211963" y="6844411"/>
                  </a:lnTo>
                  <a:lnTo>
                    <a:pt x="195072" y="6844411"/>
                  </a:lnTo>
                  <a:lnTo>
                    <a:pt x="195072" y="16891"/>
                  </a:lnTo>
                  <a:lnTo>
                    <a:pt x="211963" y="16891"/>
                  </a:lnTo>
                  <a:lnTo>
                    <a:pt x="211963" y="33909"/>
                  </a:lnTo>
                  <a:lnTo>
                    <a:pt x="16891" y="33909"/>
                  </a:lnTo>
                  <a:close/>
                </a:path>
              </a:pathLst>
            </a:custGeom>
            <a:solidFill>
              <a:srgbClr val="0D9488"/>
            </a:solidFill>
          </p:spPr>
        </p:sp>
      </p:grpSp>
      <p:grpSp>
        <p:nvGrpSpPr>
          <p:cNvPr name="Group 11" id="11"/>
          <p:cNvGrpSpPr/>
          <p:nvPr/>
        </p:nvGrpSpPr>
        <p:grpSpPr>
          <a:xfrm rot="0">
            <a:off x="1097280" y="1554480"/>
            <a:ext cx="14264640" cy="1554480"/>
            <a:chOff x="0" y="0"/>
            <a:chExt cx="19019520" cy="2072640"/>
          </a:xfrm>
        </p:grpSpPr>
        <p:sp>
          <p:nvSpPr>
            <p:cNvPr name="Freeform 12" id="12"/>
            <p:cNvSpPr/>
            <p:nvPr/>
          </p:nvSpPr>
          <p:spPr>
            <a:xfrm flipH="false" flipV="false" rot="0">
              <a:off x="0" y="0"/>
              <a:ext cx="19019520" cy="2072640"/>
            </a:xfrm>
            <a:custGeom>
              <a:avLst/>
              <a:gdLst/>
              <a:ahLst/>
              <a:cxnLst/>
              <a:rect r="r" b="b" t="t" l="l"/>
              <a:pathLst>
                <a:path h="2072640" w="19019520">
                  <a:moveTo>
                    <a:pt x="0" y="0"/>
                  </a:moveTo>
                  <a:lnTo>
                    <a:pt x="19019520" y="0"/>
                  </a:lnTo>
                  <a:lnTo>
                    <a:pt x="19019520" y="2072640"/>
                  </a:lnTo>
                  <a:lnTo>
                    <a:pt x="0" y="2072640"/>
                  </a:lnTo>
                  <a:close/>
                </a:path>
              </a:pathLst>
            </a:custGeom>
            <a:blipFill>
              <a:blip r:embed="rId3">
                <a:alphaModFix amt="0"/>
              </a:blip>
              <a:stretch>
                <a:fillRect l="0" t="-128803" r="0" b="-128803"/>
              </a:stretch>
            </a:blipFill>
          </p:spPr>
        </p:sp>
        <p:sp>
          <p:nvSpPr>
            <p:cNvPr name="TextBox 13" id="13"/>
            <p:cNvSpPr txBox="true"/>
            <p:nvPr/>
          </p:nvSpPr>
          <p:spPr>
            <a:xfrm>
              <a:off x="0" y="-180975"/>
              <a:ext cx="19019520" cy="2253615"/>
            </a:xfrm>
            <a:prstGeom prst="rect">
              <a:avLst/>
            </a:prstGeom>
          </p:spPr>
          <p:txBody>
            <a:bodyPr anchor="ctr" rtlCol="false" tIns="0" lIns="0" bIns="0" rIns="0"/>
            <a:lstStyle/>
            <a:p>
              <a:pPr algn="l">
                <a:lnSpc>
                  <a:spcPts val="11040"/>
                </a:lnSpc>
              </a:pPr>
              <a:r>
                <a:rPr lang="en-US" sz="9200" b="true">
                  <a:solidFill>
                    <a:srgbClr val="FFFFFF"/>
                  </a:solidFill>
                  <a:latin typeface="Calibri (MS) Bold"/>
                  <a:ea typeface="Calibri (MS) Bold"/>
                  <a:cs typeface="Calibri (MS) Bold"/>
                  <a:sym typeface="Calibri (MS) Bold"/>
                </a:rPr>
                <a:t>Enhancing TSFE</a:t>
              </a:r>
            </a:p>
          </p:txBody>
        </p:sp>
      </p:grpSp>
      <p:grpSp>
        <p:nvGrpSpPr>
          <p:cNvPr name="Group 14" id="14"/>
          <p:cNvGrpSpPr/>
          <p:nvPr/>
        </p:nvGrpSpPr>
        <p:grpSpPr>
          <a:xfrm rot="0">
            <a:off x="1097280" y="3017520"/>
            <a:ext cx="14264640" cy="1828800"/>
            <a:chOff x="0" y="0"/>
            <a:chExt cx="19019520" cy="2438400"/>
          </a:xfrm>
        </p:grpSpPr>
        <p:sp>
          <p:nvSpPr>
            <p:cNvPr name="Freeform 15" id="15"/>
            <p:cNvSpPr/>
            <p:nvPr/>
          </p:nvSpPr>
          <p:spPr>
            <a:xfrm flipH="false" flipV="false" rot="0">
              <a:off x="0" y="0"/>
              <a:ext cx="19019520" cy="2438400"/>
            </a:xfrm>
            <a:custGeom>
              <a:avLst/>
              <a:gdLst/>
              <a:ahLst/>
              <a:cxnLst/>
              <a:rect r="r" b="b" t="t" l="l"/>
              <a:pathLst>
                <a:path h="2438400" w="19019520">
                  <a:moveTo>
                    <a:pt x="0" y="0"/>
                  </a:moveTo>
                  <a:lnTo>
                    <a:pt x="19019520" y="0"/>
                  </a:lnTo>
                  <a:lnTo>
                    <a:pt x="19019520" y="2438400"/>
                  </a:lnTo>
                  <a:lnTo>
                    <a:pt x="0" y="2438400"/>
                  </a:lnTo>
                  <a:close/>
                </a:path>
              </a:pathLst>
            </a:custGeom>
            <a:blipFill>
              <a:blip r:embed="rId3">
                <a:alphaModFix amt="0"/>
              </a:blip>
              <a:stretch>
                <a:fillRect l="0" t="-101983" r="0" b="-101983"/>
              </a:stretch>
            </a:blipFill>
          </p:spPr>
        </p:sp>
        <p:sp>
          <p:nvSpPr>
            <p:cNvPr name="TextBox 16" id="16"/>
            <p:cNvSpPr txBox="true"/>
            <p:nvPr/>
          </p:nvSpPr>
          <p:spPr>
            <a:xfrm>
              <a:off x="0" y="-228600"/>
              <a:ext cx="19019520" cy="2667000"/>
            </a:xfrm>
            <a:prstGeom prst="rect">
              <a:avLst/>
            </a:prstGeom>
          </p:spPr>
          <p:txBody>
            <a:bodyPr anchor="ctr" rtlCol="false" tIns="0" lIns="0" bIns="0" rIns="0"/>
            <a:lstStyle/>
            <a:p>
              <a:pPr algn="l">
                <a:lnSpc>
                  <a:spcPts val="6480"/>
                </a:lnSpc>
              </a:pPr>
              <a:r>
                <a:rPr lang="en-US" sz="4000">
                  <a:solidFill>
                    <a:srgbClr val="A5C8E4"/>
                  </a:solidFill>
                  <a:latin typeface="Calibri (MS)"/>
                  <a:ea typeface="Calibri (MS)"/>
                  <a:cs typeface="Calibri (MS)"/>
                  <a:sym typeface="Calibri (MS)"/>
                </a:rPr>
                <a:t>Proposed Architecture Improvements for</a:t>
              </a:r>
            </a:p>
            <a:p>
              <a:pPr algn="l">
                <a:lnSpc>
                  <a:spcPts val="6480"/>
                </a:lnSpc>
              </a:pPr>
              <a:r>
                <a:rPr lang="en-US" sz="4000">
                  <a:solidFill>
                    <a:srgbClr val="A5C8E4"/>
                  </a:solidFill>
                  <a:latin typeface="Calibri (MS)"/>
                  <a:ea typeface="Calibri (MS)"/>
                  <a:cs typeface="Calibri (MS)"/>
                  <a:sym typeface="Calibri (MS)"/>
                </a:rPr>
                <a:t>Remote Sensing Image Captioning</a:t>
              </a:r>
            </a:p>
          </p:txBody>
        </p:sp>
      </p:grpSp>
      <p:grpSp>
        <p:nvGrpSpPr>
          <p:cNvPr name="Group 17" id="17"/>
          <p:cNvGrpSpPr/>
          <p:nvPr/>
        </p:nvGrpSpPr>
        <p:grpSpPr>
          <a:xfrm rot="0">
            <a:off x="1097280" y="5212080"/>
            <a:ext cx="14264640" cy="1371600"/>
            <a:chOff x="0" y="0"/>
            <a:chExt cx="19019520" cy="1828800"/>
          </a:xfrm>
        </p:grpSpPr>
        <p:sp>
          <p:nvSpPr>
            <p:cNvPr name="Freeform 18" id="18"/>
            <p:cNvSpPr/>
            <p:nvPr/>
          </p:nvSpPr>
          <p:spPr>
            <a:xfrm flipH="false" flipV="false" rot="0">
              <a:off x="0" y="0"/>
              <a:ext cx="19019520" cy="1828800"/>
            </a:xfrm>
            <a:custGeom>
              <a:avLst/>
              <a:gdLst/>
              <a:ahLst/>
              <a:cxnLst/>
              <a:rect r="r" b="b" t="t" l="l"/>
              <a:pathLst>
                <a:path h="1828800" w="19019520">
                  <a:moveTo>
                    <a:pt x="0" y="0"/>
                  </a:moveTo>
                  <a:lnTo>
                    <a:pt x="19019520" y="0"/>
                  </a:lnTo>
                  <a:lnTo>
                    <a:pt x="19019520" y="1828800"/>
                  </a:lnTo>
                  <a:lnTo>
                    <a:pt x="0" y="1828800"/>
                  </a:lnTo>
                  <a:close/>
                </a:path>
              </a:pathLst>
            </a:custGeom>
            <a:blipFill>
              <a:blip r:embed="rId3">
                <a:alphaModFix amt="0"/>
              </a:blip>
              <a:stretch>
                <a:fillRect l="0" t="-152644" r="0" b="-152644"/>
              </a:stretch>
            </a:blipFill>
          </p:spPr>
        </p:sp>
        <p:sp>
          <p:nvSpPr>
            <p:cNvPr name="TextBox 19" id="19"/>
            <p:cNvSpPr txBox="true"/>
            <p:nvPr/>
          </p:nvSpPr>
          <p:spPr>
            <a:xfrm>
              <a:off x="0" y="-152400"/>
              <a:ext cx="19019520" cy="1981200"/>
            </a:xfrm>
            <a:prstGeom prst="rect">
              <a:avLst/>
            </a:prstGeom>
          </p:spPr>
          <p:txBody>
            <a:bodyPr anchor="ctr" rtlCol="false" tIns="0" lIns="0" bIns="0" rIns="0"/>
            <a:lstStyle/>
            <a:p>
              <a:pPr algn="l">
                <a:lnSpc>
                  <a:spcPts val="4032"/>
                </a:lnSpc>
              </a:pPr>
              <a:r>
                <a:rPr lang="en-US" sz="2400">
                  <a:solidFill>
                    <a:srgbClr val="94A3B8"/>
                  </a:solidFill>
                  <a:latin typeface="Calibri (MS)"/>
                  <a:ea typeface="Calibri (MS)"/>
                  <a:cs typeface="Calibri (MS)"/>
                  <a:sym typeface="Calibri (MS)"/>
                </a:rPr>
                <a:t>Building on TSFE (Guo et al., Remote Sensing 2024) — Six enhancement directions</a:t>
              </a:r>
            </a:p>
            <a:p>
              <a:pPr algn="l">
                <a:lnSpc>
                  <a:spcPts val="4032"/>
                </a:lnSpc>
              </a:pPr>
              <a:r>
                <a:rPr lang="en-US" sz="2400">
                  <a:solidFill>
                    <a:srgbClr val="94A3B8"/>
                  </a:solidFill>
                  <a:latin typeface="Calibri (MS)"/>
                  <a:ea typeface="Calibri (MS)"/>
                  <a:cs typeface="Calibri (MS)"/>
                  <a:sym typeface="Calibri (MS)"/>
                </a:rPr>
                <a:t>covering backbone, feature fusion, spatial modeling, decoding, and training strategy</a:t>
              </a:r>
            </a:p>
          </p:txBody>
        </p:sp>
      </p:grpSp>
      <p:grpSp>
        <p:nvGrpSpPr>
          <p:cNvPr name="Group 20" id="20"/>
          <p:cNvGrpSpPr/>
          <p:nvPr/>
        </p:nvGrpSpPr>
        <p:grpSpPr>
          <a:xfrm rot="0">
            <a:off x="1084583" y="6845303"/>
            <a:ext cx="4451099" cy="537467"/>
            <a:chOff x="0" y="0"/>
            <a:chExt cx="5934799" cy="716623"/>
          </a:xfrm>
        </p:grpSpPr>
        <p:sp>
          <p:nvSpPr>
            <p:cNvPr name="Freeform 21" id="21"/>
            <p:cNvSpPr/>
            <p:nvPr/>
          </p:nvSpPr>
          <p:spPr>
            <a:xfrm flipH="false" flipV="false" rot="0">
              <a:off x="16891" y="16891"/>
              <a:ext cx="5900928" cy="682752"/>
            </a:xfrm>
            <a:custGeom>
              <a:avLst/>
              <a:gdLst/>
              <a:ahLst/>
              <a:cxnLst/>
              <a:rect r="r" b="b" t="t" l="l"/>
              <a:pathLst>
                <a:path h="682752" w="5900928">
                  <a:moveTo>
                    <a:pt x="0" y="0"/>
                  </a:moveTo>
                  <a:lnTo>
                    <a:pt x="5900928" y="0"/>
                  </a:lnTo>
                  <a:lnTo>
                    <a:pt x="5900928" y="682752"/>
                  </a:lnTo>
                  <a:lnTo>
                    <a:pt x="0" y="682752"/>
                  </a:lnTo>
                  <a:close/>
                </a:path>
              </a:pathLst>
            </a:custGeom>
            <a:solidFill>
              <a:srgbClr val="0D9488">
                <a:alpha val="56078"/>
              </a:srgbClr>
            </a:solidFill>
          </p:spPr>
        </p:sp>
        <p:sp>
          <p:nvSpPr>
            <p:cNvPr name="Freeform 22" id="22"/>
            <p:cNvSpPr/>
            <p:nvPr/>
          </p:nvSpPr>
          <p:spPr>
            <a:xfrm flipH="false" flipV="false" rot="0">
              <a:off x="0" y="0"/>
              <a:ext cx="5934710" cy="716536"/>
            </a:xfrm>
            <a:custGeom>
              <a:avLst/>
              <a:gdLst/>
              <a:ahLst/>
              <a:cxnLst/>
              <a:rect r="r" b="b" t="t" l="l"/>
              <a:pathLst>
                <a:path h="716536" w="5934710">
                  <a:moveTo>
                    <a:pt x="16891" y="0"/>
                  </a:moveTo>
                  <a:lnTo>
                    <a:pt x="5917819" y="0"/>
                  </a:lnTo>
                  <a:cubicBezTo>
                    <a:pt x="5927217" y="0"/>
                    <a:pt x="5934710" y="7620"/>
                    <a:pt x="5934710" y="16891"/>
                  </a:cubicBezTo>
                  <a:lnTo>
                    <a:pt x="5934710" y="699643"/>
                  </a:lnTo>
                  <a:cubicBezTo>
                    <a:pt x="5934710" y="709041"/>
                    <a:pt x="5927090" y="716534"/>
                    <a:pt x="5917819"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917819" y="682752"/>
                  </a:lnTo>
                  <a:lnTo>
                    <a:pt x="5917819" y="699643"/>
                  </a:lnTo>
                  <a:lnTo>
                    <a:pt x="5900928" y="699643"/>
                  </a:lnTo>
                  <a:lnTo>
                    <a:pt x="5900928" y="16891"/>
                  </a:lnTo>
                  <a:lnTo>
                    <a:pt x="5917819" y="16891"/>
                  </a:lnTo>
                  <a:lnTo>
                    <a:pt x="5917819" y="33909"/>
                  </a:lnTo>
                  <a:lnTo>
                    <a:pt x="16891" y="33909"/>
                  </a:lnTo>
                  <a:close/>
                </a:path>
              </a:pathLst>
            </a:custGeom>
            <a:solidFill>
              <a:srgbClr val="0D9488"/>
            </a:solidFill>
          </p:spPr>
        </p:sp>
      </p:grpSp>
      <p:grpSp>
        <p:nvGrpSpPr>
          <p:cNvPr name="Group 23" id="23"/>
          <p:cNvGrpSpPr/>
          <p:nvPr/>
        </p:nvGrpSpPr>
        <p:grpSpPr>
          <a:xfrm rot="0">
            <a:off x="1097280" y="6858000"/>
            <a:ext cx="4425696" cy="512064"/>
            <a:chOff x="0" y="0"/>
            <a:chExt cx="5900928" cy="682752"/>
          </a:xfrm>
        </p:grpSpPr>
        <p:sp>
          <p:nvSpPr>
            <p:cNvPr name="Freeform 24" id="24"/>
            <p:cNvSpPr/>
            <p:nvPr/>
          </p:nvSpPr>
          <p:spPr>
            <a:xfrm flipH="false" flipV="false" rot="0">
              <a:off x="0" y="0"/>
              <a:ext cx="5900928" cy="682752"/>
            </a:xfrm>
            <a:custGeom>
              <a:avLst/>
              <a:gdLst/>
              <a:ahLst/>
              <a:cxnLst/>
              <a:rect r="r" b="b" t="t" l="l"/>
              <a:pathLst>
                <a:path h="682752" w="5900928">
                  <a:moveTo>
                    <a:pt x="0" y="0"/>
                  </a:moveTo>
                  <a:lnTo>
                    <a:pt x="5900928" y="0"/>
                  </a:lnTo>
                  <a:lnTo>
                    <a:pt x="5900928" y="682752"/>
                  </a:lnTo>
                  <a:lnTo>
                    <a:pt x="0" y="682752"/>
                  </a:lnTo>
                  <a:close/>
                </a:path>
              </a:pathLst>
            </a:custGeom>
            <a:blipFill>
              <a:blip r:embed="rId3">
                <a:alphaModFix amt="0"/>
              </a:blip>
              <a:stretch>
                <a:fillRect l="0" t="-118406" r="0" b="-118406"/>
              </a:stretch>
            </a:blipFill>
          </p:spPr>
        </p:sp>
        <p:sp>
          <p:nvSpPr>
            <p:cNvPr name="TextBox 25" id="25"/>
            <p:cNvSpPr txBox="true"/>
            <p:nvPr/>
          </p:nvSpPr>
          <p:spPr>
            <a:xfrm>
              <a:off x="0" y="-38100"/>
              <a:ext cx="5900928"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 · Backbone</a:t>
              </a:r>
            </a:p>
          </p:txBody>
        </p:sp>
      </p:grpSp>
      <p:grpSp>
        <p:nvGrpSpPr>
          <p:cNvPr name="Group 26" id="26"/>
          <p:cNvGrpSpPr/>
          <p:nvPr/>
        </p:nvGrpSpPr>
        <p:grpSpPr>
          <a:xfrm rot="0">
            <a:off x="5876039" y="6845303"/>
            <a:ext cx="4451099" cy="537467"/>
            <a:chOff x="0" y="0"/>
            <a:chExt cx="5934799" cy="716623"/>
          </a:xfrm>
        </p:grpSpPr>
        <p:sp>
          <p:nvSpPr>
            <p:cNvPr name="Freeform 27" id="27"/>
            <p:cNvSpPr/>
            <p:nvPr/>
          </p:nvSpPr>
          <p:spPr>
            <a:xfrm flipH="false" flipV="false" rot="0">
              <a:off x="16891" y="16891"/>
              <a:ext cx="5900928" cy="682752"/>
            </a:xfrm>
            <a:custGeom>
              <a:avLst/>
              <a:gdLst/>
              <a:ahLst/>
              <a:cxnLst/>
              <a:rect r="r" b="b" t="t" l="l"/>
              <a:pathLst>
                <a:path h="682752" w="5900928">
                  <a:moveTo>
                    <a:pt x="0" y="0"/>
                  </a:moveTo>
                  <a:lnTo>
                    <a:pt x="5900928" y="0"/>
                  </a:lnTo>
                  <a:lnTo>
                    <a:pt x="5900928" y="682752"/>
                  </a:lnTo>
                  <a:lnTo>
                    <a:pt x="0" y="682752"/>
                  </a:lnTo>
                  <a:close/>
                </a:path>
              </a:pathLst>
            </a:custGeom>
            <a:solidFill>
              <a:srgbClr val="7C3AED">
                <a:alpha val="56078"/>
              </a:srgbClr>
            </a:solidFill>
          </p:spPr>
        </p:sp>
        <p:sp>
          <p:nvSpPr>
            <p:cNvPr name="Freeform 28" id="28"/>
            <p:cNvSpPr/>
            <p:nvPr/>
          </p:nvSpPr>
          <p:spPr>
            <a:xfrm flipH="false" flipV="false" rot="0">
              <a:off x="0" y="0"/>
              <a:ext cx="5934710" cy="716536"/>
            </a:xfrm>
            <a:custGeom>
              <a:avLst/>
              <a:gdLst/>
              <a:ahLst/>
              <a:cxnLst/>
              <a:rect r="r" b="b" t="t" l="l"/>
              <a:pathLst>
                <a:path h="716536" w="5934710">
                  <a:moveTo>
                    <a:pt x="16891" y="0"/>
                  </a:moveTo>
                  <a:lnTo>
                    <a:pt x="5917819" y="0"/>
                  </a:lnTo>
                  <a:cubicBezTo>
                    <a:pt x="5927217" y="0"/>
                    <a:pt x="5934710" y="7620"/>
                    <a:pt x="5934710" y="16891"/>
                  </a:cubicBezTo>
                  <a:lnTo>
                    <a:pt x="5934710" y="699643"/>
                  </a:lnTo>
                  <a:cubicBezTo>
                    <a:pt x="5934710" y="709041"/>
                    <a:pt x="5927090" y="716534"/>
                    <a:pt x="5917819"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917819" y="682752"/>
                  </a:lnTo>
                  <a:lnTo>
                    <a:pt x="5917819" y="699643"/>
                  </a:lnTo>
                  <a:lnTo>
                    <a:pt x="5900928" y="699643"/>
                  </a:lnTo>
                  <a:lnTo>
                    <a:pt x="5900928" y="16891"/>
                  </a:lnTo>
                  <a:lnTo>
                    <a:pt x="5917819" y="16891"/>
                  </a:lnTo>
                  <a:lnTo>
                    <a:pt x="5917819" y="33909"/>
                  </a:lnTo>
                  <a:lnTo>
                    <a:pt x="16891" y="33909"/>
                  </a:lnTo>
                  <a:close/>
                </a:path>
              </a:pathLst>
            </a:custGeom>
            <a:solidFill>
              <a:srgbClr val="7C3AED"/>
            </a:solidFill>
          </p:spPr>
        </p:sp>
      </p:grpSp>
      <p:grpSp>
        <p:nvGrpSpPr>
          <p:cNvPr name="Group 29" id="29"/>
          <p:cNvGrpSpPr/>
          <p:nvPr/>
        </p:nvGrpSpPr>
        <p:grpSpPr>
          <a:xfrm rot="0">
            <a:off x="5888736" y="6858000"/>
            <a:ext cx="4425696" cy="512064"/>
            <a:chOff x="0" y="0"/>
            <a:chExt cx="5900928" cy="682752"/>
          </a:xfrm>
        </p:grpSpPr>
        <p:sp>
          <p:nvSpPr>
            <p:cNvPr name="Freeform 30" id="30"/>
            <p:cNvSpPr/>
            <p:nvPr/>
          </p:nvSpPr>
          <p:spPr>
            <a:xfrm flipH="false" flipV="false" rot="0">
              <a:off x="0" y="0"/>
              <a:ext cx="5900928" cy="682752"/>
            </a:xfrm>
            <a:custGeom>
              <a:avLst/>
              <a:gdLst/>
              <a:ahLst/>
              <a:cxnLst/>
              <a:rect r="r" b="b" t="t" l="l"/>
              <a:pathLst>
                <a:path h="682752" w="5900928">
                  <a:moveTo>
                    <a:pt x="0" y="0"/>
                  </a:moveTo>
                  <a:lnTo>
                    <a:pt x="5900928" y="0"/>
                  </a:lnTo>
                  <a:lnTo>
                    <a:pt x="5900928" y="682752"/>
                  </a:lnTo>
                  <a:lnTo>
                    <a:pt x="0" y="682752"/>
                  </a:lnTo>
                  <a:close/>
                </a:path>
              </a:pathLst>
            </a:custGeom>
            <a:blipFill>
              <a:blip r:embed="rId3">
                <a:alphaModFix amt="0"/>
              </a:blip>
              <a:stretch>
                <a:fillRect l="0" t="-118406" r="0" b="-118406"/>
              </a:stretch>
            </a:blipFill>
          </p:spPr>
        </p:sp>
        <p:sp>
          <p:nvSpPr>
            <p:cNvPr name="TextBox 31" id="31"/>
            <p:cNvSpPr txBox="true"/>
            <p:nvPr/>
          </p:nvSpPr>
          <p:spPr>
            <a:xfrm>
              <a:off x="0" y="-38100"/>
              <a:ext cx="5900928"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 · AMFF Fusion</a:t>
              </a:r>
            </a:p>
          </p:txBody>
        </p:sp>
      </p:grpSp>
      <p:grpSp>
        <p:nvGrpSpPr>
          <p:cNvPr name="Group 32" id="32"/>
          <p:cNvGrpSpPr/>
          <p:nvPr/>
        </p:nvGrpSpPr>
        <p:grpSpPr>
          <a:xfrm rot="0">
            <a:off x="10667495" y="6845303"/>
            <a:ext cx="4451099" cy="537467"/>
            <a:chOff x="0" y="0"/>
            <a:chExt cx="5934799" cy="716623"/>
          </a:xfrm>
        </p:grpSpPr>
        <p:sp>
          <p:nvSpPr>
            <p:cNvPr name="Freeform 33" id="33"/>
            <p:cNvSpPr/>
            <p:nvPr/>
          </p:nvSpPr>
          <p:spPr>
            <a:xfrm flipH="false" flipV="false" rot="0">
              <a:off x="16891" y="16891"/>
              <a:ext cx="5900928" cy="682752"/>
            </a:xfrm>
            <a:custGeom>
              <a:avLst/>
              <a:gdLst/>
              <a:ahLst/>
              <a:cxnLst/>
              <a:rect r="r" b="b" t="t" l="l"/>
              <a:pathLst>
                <a:path h="682752" w="5900928">
                  <a:moveTo>
                    <a:pt x="0" y="0"/>
                  </a:moveTo>
                  <a:lnTo>
                    <a:pt x="5900928" y="0"/>
                  </a:lnTo>
                  <a:lnTo>
                    <a:pt x="5900928" y="682752"/>
                  </a:lnTo>
                  <a:lnTo>
                    <a:pt x="0" y="682752"/>
                  </a:lnTo>
                  <a:close/>
                </a:path>
              </a:pathLst>
            </a:custGeom>
            <a:solidFill>
              <a:srgbClr val="E05B4B">
                <a:alpha val="56078"/>
              </a:srgbClr>
            </a:solidFill>
          </p:spPr>
        </p:sp>
        <p:sp>
          <p:nvSpPr>
            <p:cNvPr name="Freeform 34" id="34"/>
            <p:cNvSpPr/>
            <p:nvPr/>
          </p:nvSpPr>
          <p:spPr>
            <a:xfrm flipH="false" flipV="false" rot="0">
              <a:off x="0" y="0"/>
              <a:ext cx="5934710" cy="716536"/>
            </a:xfrm>
            <a:custGeom>
              <a:avLst/>
              <a:gdLst/>
              <a:ahLst/>
              <a:cxnLst/>
              <a:rect r="r" b="b" t="t" l="l"/>
              <a:pathLst>
                <a:path h="716536" w="5934710">
                  <a:moveTo>
                    <a:pt x="16891" y="0"/>
                  </a:moveTo>
                  <a:lnTo>
                    <a:pt x="5917819" y="0"/>
                  </a:lnTo>
                  <a:cubicBezTo>
                    <a:pt x="5927217" y="0"/>
                    <a:pt x="5934710" y="7620"/>
                    <a:pt x="5934710" y="16891"/>
                  </a:cubicBezTo>
                  <a:lnTo>
                    <a:pt x="5934710" y="699643"/>
                  </a:lnTo>
                  <a:cubicBezTo>
                    <a:pt x="5934710" y="709041"/>
                    <a:pt x="5927090" y="716534"/>
                    <a:pt x="5917819"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917819" y="682752"/>
                  </a:lnTo>
                  <a:lnTo>
                    <a:pt x="5917819" y="699643"/>
                  </a:lnTo>
                  <a:lnTo>
                    <a:pt x="5900928" y="699643"/>
                  </a:lnTo>
                  <a:lnTo>
                    <a:pt x="5900928" y="16891"/>
                  </a:lnTo>
                  <a:lnTo>
                    <a:pt x="5917819" y="16891"/>
                  </a:lnTo>
                  <a:lnTo>
                    <a:pt x="5917819" y="33909"/>
                  </a:lnTo>
                  <a:lnTo>
                    <a:pt x="16891" y="33909"/>
                  </a:lnTo>
                  <a:close/>
                </a:path>
              </a:pathLst>
            </a:custGeom>
            <a:solidFill>
              <a:srgbClr val="E05B4B"/>
            </a:solidFill>
          </p:spPr>
        </p:sp>
      </p:grpSp>
      <p:grpSp>
        <p:nvGrpSpPr>
          <p:cNvPr name="Group 35" id="35"/>
          <p:cNvGrpSpPr/>
          <p:nvPr/>
        </p:nvGrpSpPr>
        <p:grpSpPr>
          <a:xfrm rot="0">
            <a:off x="10680192" y="6858000"/>
            <a:ext cx="4425696" cy="512064"/>
            <a:chOff x="0" y="0"/>
            <a:chExt cx="5900928" cy="682752"/>
          </a:xfrm>
        </p:grpSpPr>
        <p:sp>
          <p:nvSpPr>
            <p:cNvPr name="Freeform 36" id="36"/>
            <p:cNvSpPr/>
            <p:nvPr/>
          </p:nvSpPr>
          <p:spPr>
            <a:xfrm flipH="false" flipV="false" rot="0">
              <a:off x="0" y="0"/>
              <a:ext cx="5900928" cy="682752"/>
            </a:xfrm>
            <a:custGeom>
              <a:avLst/>
              <a:gdLst/>
              <a:ahLst/>
              <a:cxnLst/>
              <a:rect r="r" b="b" t="t" l="l"/>
              <a:pathLst>
                <a:path h="682752" w="5900928">
                  <a:moveTo>
                    <a:pt x="0" y="0"/>
                  </a:moveTo>
                  <a:lnTo>
                    <a:pt x="5900928" y="0"/>
                  </a:lnTo>
                  <a:lnTo>
                    <a:pt x="5900928" y="682752"/>
                  </a:lnTo>
                  <a:lnTo>
                    <a:pt x="0" y="682752"/>
                  </a:lnTo>
                  <a:close/>
                </a:path>
              </a:pathLst>
            </a:custGeom>
            <a:blipFill>
              <a:blip r:embed="rId3">
                <a:alphaModFix amt="0"/>
              </a:blip>
              <a:stretch>
                <a:fillRect l="0" t="-118406" r="0" b="-118406"/>
              </a:stretch>
            </a:blipFill>
          </p:spPr>
        </p:sp>
        <p:sp>
          <p:nvSpPr>
            <p:cNvPr name="TextBox 37" id="37"/>
            <p:cNvSpPr txBox="true"/>
            <p:nvPr/>
          </p:nvSpPr>
          <p:spPr>
            <a:xfrm>
              <a:off x="0" y="-38100"/>
              <a:ext cx="5900928"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 · LFSE Spatial</a:t>
              </a:r>
            </a:p>
          </p:txBody>
        </p:sp>
      </p:grpSp>
      <p:grpSp>
        <p:nvGrpSpPr>
          <p:cNvPr name="Group 38" id="38"/>
          <p:cNvGrpSpPr/>
          <p:nvPr/>
        </p:nvGrpSpPr>
        <p:grpSpPr>
          <a:xfrm rot="0">
            <a:off x="1084583" y="7540247"/>
            <a:ext cx="4451099" cy="537467"/>
            <a:chOff x="0" y="0"/>
            <a:chExt cx="5934799" cy="716623"/>
          </a:xfrm>
        </p:grpSpPr>
        <p:sp>
          <p:nvSpPr>
            <p:cNvPr name="Freeform 39" id="39"/>
            <p:cNvSpPr/>
            <p:nvPr/>
          </p:nvSpPr>
          <p:spPr>
            <a:xfrm flipH="false" flipV="false" rot="0">
              <a:off x="16891" y="16891"/>
              <a:ext cx="5900928" cy="682752"/>
            </a:xfrm>
            <a:custGeom>
              <a:avLst/>
              <a:gdLst/>
              <a:ahLst/>
              <a:cxnLst/>
              <a:rect r="r" b="b" t="t" l="l"/>
              <a:pathLst>
                <a:path h="682752" w="5900928">
                  <a:moveTo>
                    <a:pt x="0" y="0"/>
                  </a:moveTo>
                  <a:lnTo>
                    <a:pt x="5900928" y="0"/>
                  </a:lnTo>
                  <a:lnTo>
                    <a:pt x="5900928" y="682752"/>
                  </a:lnTo>
                  <a:lnTo>
                    <a:pt x="0" y="682752"/>
                  </a:lnTo>
                  <a:close/>
                </a:path>
              </a:pathLst>
            </a:custGeom>
            <a:solidFill>
              <a:srgbClr val="D97706">
                <a:alpha val="56078"/>
              </a:srgbClr>
            </a:solidFill>
          </p:spPr>
        </p:sp>
        <p:sp>
          <p:nvSpPr>
            <p:cNvPr name="Freeform 40" id="40"/>
            <p:cNvSpPr/>
            <p:nvPr/>
          </p:nvSpPr>
          <p:spPr>
            <a:xfrm flipH="false" flipV="false" rot="0">
              <a:off x="0" y="0"/>
              <a:ext cx="5934710" cy="716536"/>
            </a:xfrm>
            <a:custGeom>
              <a:avLst/>
              <a:gdLst/>
              <a:ahLst/>
              <a:cxnLst/>
              <a:rect r="r" b="b" t="t" l="l"/>
              <a:pathLst>
                <a:path h="716536" w="5934710">
                  <a:moveTo>
                    <a:pt x="16891" y="0"/>
                  </a:moveTo>
                  <a:lnTo>
                    <a:pt x="5917819" y="0"/>
                  </a:lnTo>
                  <a:cubicBezTo>
                    <a:pt x="5927217" y="0"/>
                    <a:pt x="5934710" y="7620"/>
                    <a:pt x="5934710" y="16891"/>
                  </a:cubicBezTo>
                  <a:lnTo>
                    <a:pt x="5934710" y="699643"/>
                  </a:lnTo>
                  <a:cubicBezTo>
                    <a:pt x="5934710" y="709041"/>
                    <a:pt x="5927090" y="716534"/>
                    <a:pt x="5917819"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917819" y="682752"/>
                  </a:lnTo>
                  <a:lnTo>
                    <a:pt x="5917819" y="699643"/>
                  </a:lnTo>
                  <a:lnTo>
                    <a:pt x="5900928" y="699643"/>
                  </a:lnTo>
                  <a:lnTo>
                    <a:pt x="5900928" y="16891"/>
                  </a:lnTo>
                  <a:lnTo>
                    <a:pt x="5917819" y="16891"/>
                  </a:lnTo>
                  <a:lnTo>
                    <a:pt x="5917819" y="33909"/>
                  </a:lnTo>
                  <a:lnTo>
                    <a:pt x="16891" y="33909"/>
                  </a:lnTo>
                  <a:close/>
                </a:path>
              </a:pathLst>
            </a:custGeom>
            <a:solidFill>
              <a:srgbClr val="D97706"/>
            </a:solidFill>
          </p:spPr>
        </p:sp>
      </p:grpSp>
      <p:grpSp>
        <p:nvGrpSpPr>
          <p:cNvPr name="Group 41" id="41"/>
          <p:cNvGrpSpPr/>
          <p:nvPr/>
        </p:nvGrpSpPr>
        <p:grpSpPr>
          <a:xfrm rot="0">
            <a:off x="1097280" y="7552944"/>
            <a:ext cx="4425696" cy="512064"/>
            <a:chOff x="0" y="0"/>
            <a:chExt cx="5900928" cy="682752"/>
          </a:xfrm>
        </p:grpSpPr>
        <p:sp>
          <p:nvSpPr>
            <p:cNvPr name="Freeform 42" id="42"/>
            <p:cNvSpPr/>
            <p:nvPr/>
          </p:nvSpPr>
          <p:spPr>
            <a:xfrm flipH="false" flipV="false" rot="0">
              <a:off x="0" y="0"/>
              <a:ext cx="5900928" cy="682752"/>
            </a:xfrm>
            <a:custGeom>
              <a:avLst/>
              <a:gdLst/>
              <a:ahLst/>
              <a:cxnLst/>
              <a:rect r="r" b="b" t="t" l="l"/>
              <a:pathLst>
                <a:path h="682752" w="5900928">
                  <a:moveTo>
                    <a:pt x="0" y="0"/>
                  </a:moveTo>
                  <a:lnTo>
                    <a:pt x="5900928" y="0"/>
                  </a:lnTo>
                  <a:lnTo>
                    <a:pt x="5900928" y="682752"/>
                  </a:lnTo>
                  <a:lnTo>
                    <a:pt x="0" y="682752"/>
                  </a:lnTo>
                  <a:close/>
                </a:path>
              </a:pathLst>
            </a:custGeom>
            <a:blipFill>
              <a:blip r:embed="rId3">
                <a:alphaModFix amt="0"/>
              </a:blip>
              <a:stretch>
                <a:fillRect l="0" t="-118406" r="0" b="-118406"/>
              </a:stretch>
            </a:blipFill>
          </p:spPr>
        </p:sp>
        <p:sp>
          <p:nvSpPr>
            <p:cNvPr name="TextBox 43" id="43"/>
            <p:cNvSpPr txBox="true"/>
            <p:nvPr/>
          </p:nvSpPr>
          <p:spPr>
            <a:xfrm>
              <a:off x="0" y="-38100"/>
              <a:ext cx="5900928"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 · Decoder</a:t>
              </a:r>
            </a:p>
          </p:txBody>
        </p:sp>
      </p:grpSp>
      <p:grpSp>
        <p:nvGrpSpPr>
          <p:cNvPr name="Group 44" id="44"/>
          <p:cNvGrpSpPr/>
          <p:nvPr/>
        </p:nvGrpSpPr>
        <p:grpSpPr>
          <a:xfrm rot="0">
            <a:off x="5876039" y="7540247"/>
            <a:ext cx="4451099" cy="537467"/>
            <a:chOff x="0" y="0"/>
            <a:chExt cx="5934799" cy="716623"/>
          </a:xfrm>
        </p:grpSpPr>
        <p:sp>
          <p:nvSpPr>
            <p:cNvPr name="Freeform 45" id="45"/>
            <p:cNvSpPr/>
            <p:nvPr/>
          </p:nvSpPr>
          <p:spPr>
            <a:xfrm flipH="false" flipV="false" rot="0">
              <a:off x="16891" y="16891"/>
              <a:ext cx="5900928" cy="682752"/>
            </a:xfrm>
            <a:custGeom>
              <a:avLst/>
              <a:gdLst/>
              <a:ahLst/>
              <a:cxnLst/>
              <a:rect r="r" b="b" t="t" l="l"/>
              <a:pathLst>
                <a:path h="682752" w="5900928">
                  <a:moveTo>
                    <a:pt x="0" y="0"/>
                  </a:moveTo>
                  <a:lnTo>
                    <a:pt x="5900928" y="0"/>
                  </a:lnTo>
                  <a:lnTo>
                    <a:pt x="5900928" y="682752"/>
                  </a:lnTo>
                  <a:lnTo>
                    <a:pt x="0" y="682752"/>
                  </a:lnTo>
                  <a:close/>
                </a:path>
              </a:pathLst>
            </a:custGeom>
            <a:solidFill>
              <a:srgbClr val="059669">
                <a:alpha val="56078"/>
              </a:srgbClr>
            </a:solidFill>
          </p:spPr>
        </p:sp>
        <p:sp>
          <p:nvSpPr>
            <p:cNvPr name="Freeform 46" id="46"/>
            <p:cNvSpPr/>
            <p:nvPr/>
          </p:nvSpPr>
          <p:spPr>
            <a:xfrm flipH="false" flipV="false" rot="0">
              <a:off x="0" y="0"/>
              <a:ext cx="5934710" cy="716536"/>
            </a:xfrm>
            <a:custGeom>
              <a:avLst/>
              <a:gdLst/>
              <a:ahLst/>
              <a:cxnLst/>
              <a:rect r="r" b="b" t="t" l="l"/>
              <a:pathLst>
                <a:path h="716536" w="5934710">
                  <a:moveTo>
                    <a:pt x="16891" y="0"/>
                  </a:moveTo>
                  <a:lnTo>
                    <a:pt x="5917819" y="0"/>
                  </a:lnTo>
                  <a:cubicBezTo>
                    <a:pt x="5927217" y="0"/>
                    <a:pt x="5934710" y="7620"/>
                    <a:pt x="5934710" y="16891"/>
                  </a:cubicBezTo>
                  <a:lnTo>
                    <a:pt x="5934710" y="699643"/>
                  </a:lnTo>
                  <a:cubicBezTo>
                    <a:pt x="5934710" y="709041"/>
                    <a:pt x="5927090" y="716534"/>
                    <a:pt x="5917819"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917819" y="682752"/>
                  </a:lnTo>
                  <a:lnTo>
                    <a:pt x="5917819" y="699643"/>
                  </a:lnTo>
                  <a:lnTo>
                    <a:pt x="5900928" y="699643"/>
                  </a:lnTo>
                  <a:lnTo>
                    <a:pt x="5900928" y="16891"/>
                  </a:lnTo>
                  <a:lnTo>
                    <a:pt x="5917819" y="16891"/>
                  </a:lnTo>
                  <a:lnTo>
                    <a:pt x="5917819" y="33909"/>
                  </a:lnTo>
                  <a:lnTo>
                    <a:pt x="16891" y="33909"/>
                  </a:lnTo>
                  <a:close/>
                </a:path>
              </a:pathLst>
            </a:custGeom>
            <a:solidFill>
              <a:srgbClr val="059669"/>
            </a:solidFill>
          </p:spPr>
        </p:sp>
      </p:grpSp>
      <p:grpSp>
        <p:nvGrpSpPr>
          <p:cNvPr name="Group 47" id="47"/>
          <p:cNvGrpSpPr/>
          <p:nvPr/>
        </p:nvGrpSpPr>
        <p:grpSpPr>
          <a:xfrm rot="0">
            <a:off x="5888736" y="7552944"/>
            <a:ext cx="4425696" cy="512064"/>
            <a:chOff x="0" y="0"/>
            <a:chExt cx="5900928" cy="682752"/>
          </a:xfrm>
        </p:grpSpPr>
        <p:sp>
          <p:nvSpPr>
            <p:cNvPr name="Freeform 48" id="48"/>
            <p:cNvSpPr/>
            <p:nvPr/>
          </p:nvSpPr>
          <p:spPr>
            <a:xfrm flipH="false" flipV="false" rot="0">
              <a:off x="0" y="0"/>
              <a:ext cx="5900928" cy="682752"/>
            </a:xfrm>
            <a:custGeom>
              <a:avLst/>
              <a:gdLst/>
              <a:ahLst/>
              <a:cxnLst/>
              <a:rect r="r" b="b" t="t" l="l"/>
              <a:pathLst>
                <a:path h="682752" w="5900928">
                  <a:moveTo>
                    <a:pt x="0" y="0"/>
                  </a:moveTo>
                  <a:lnTo>
                    <a:pt x="5900928" y="0"/>
                  </a:lnTo>
                  <a:lnTo>
                    <a:pt x="5900928" y="682752"/>
                  </a:lnTo>
                  <a:lnTo>
                    <a:pt x="0" y="682752"/>
                  </a:lnTo>
                  <a:close/>
                </a:path>
              </a:pathLst>
            </a:custGeom>
            <a:blipFill>
              <a:blip r:embed="rId3">
                <a:alphaModFix amt="0"/>
              </a:blip>
              <a:stretch>
                <a:fillRect l="0" t="-118406" r="0" b="-118406"/>
              </a:stretch>
            </a:blipFill>
          </p:spPr>
        </p:sp>
        <p:sp>
          <p:nvSpPr>
            <p:cNvPr name="TextBox 49" id="49"/>
            <p:cNvSpPr txBox="true"/>
            <p:nvPr/>
          </p:nvSpPr>
          <p:spPr>
            <a:xfrm>
              <a:off x="0" y="-38100"/>
              <a:ext cx="5900928"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 · Training</a:t>
              </a:r>
            </a:p>
          </p:txBody>
        </p:sp>
      </p:grpSp>
      <p:grpSp>
        <p:nvGrpSpPr>
          <p:cNvPr name="Group 50" id="50"/>
          <p:cNvGrpSpPr/>
          <p:nvPr/>
        </p:nvGrpSpPr>
        <p:grpSpPr>
          <a:xfrm rot="0">
            <a:off x="10667495" y="7540247"/>
            <a:ext cx="4451099" cy="537467"/>
            <a:chOff x="0" y="0"/>
            <a:chExt cx="5934799" cy="716623"/>
          </a:xfrm>
        </p:grpSpPr>
        <p:sp>
          <p:nvSpPr>
            <p:cNvPr name="Freeform 51" id="51"/>
            <p:cNvSpPr/>
            <p:nvPr/>
          </p:nvSpPr>
          <p:spPr>
            <a:xfrm flipH="false" flipV="false" rot="0">
              <a:off x="16891" y="16891"/>
              <a:ext cx="5900928" cy="682752"/>
            </a:xfrm>
            <a:custGeom>
              <a:avLst/>
              <a:gdLst/>
              <a:ahLst/>
              <a:cxnLst/>
              <a:rect r="r" b="b" t="t" l="l"/>
              <a:pathLst>
                <a:path h="682752" w="5900928">
                  <a:moveTo>
                    <a:pt x="0" y="0"/>
                  </a:moveTo>
                  <a:lnTo>
                    <a:pt x="5900928" y="0"/>
                  </a:lnTo>
                  <a:lnTo>
                    <a:pt x="5900928" y="682752"/>
                  </a:lnTo>
                  <a:lnTo>
                    <a:pt x="0" y="682752"/>
                  </a:lnTo>
                  <a:close/>
                </a:path>
              </a:pathLst>
            </a:custGeom>
            <a:solidFill>
              <a:srgbClr val="0D9488">
                <a:alpha val="56078"/>
              </a:srgbClr>
            </a:solidFill>
          </p:spPr>
        </p:sp>
        <p:sp>
          <p:nvSpPr>
            <p:cNvPr name="Freeform 52" id="52"/>
            <p:cNvSpPr/>
            <p:nvPr/>
          </p:nvSpPr>
          <p:spPr>
            <a:xfrm flipH="false" flipV="false" rot="0">
              <a:off x="0" y="0"/>
              <a:ext cx="5934710" cy="716536"/>
            </a:xfrm>
            <a:custGeom>
              <a:avLst/>
              <a:gdLst/>
              <a:ahLst/>
              <a:cxnLst/>
              <a:rect r="r" b="b" t="t" l="l"/>
              <a:pathLst>
                <a:path h="716536" w="5934710">
                  <a:moveTo>
                    <a:pt x="16891" y="0"/>
                  </a:moveTo>
                  <a:lnTo>
                    <a:pt x="5917819" y="0"/>
                  </a:lnTo>
                  <a:cubicBezTo>
                    <a:pt x="5927217" y="0"/>
                    <a:pt x="5934710" y="7620"/>
                    <a:pt x="5934710" y="16891"/>
                  </a:cubicBezTo>
                  <a:lnTo>
                    <a:pt x="5934710" y="699643"/>
                  </a:lnTo>
                  <a:cubicBezTo>
                    <a:pt x="5934710" y="709041"/>
                    <a:pt x="5927090" y="716534"/>
                    <a:pt x="5917819"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5917819" y="682752"/>
                  </a:lnTo>
                  <a:lnTo>
                    <a:pt x="5917819" y="699643"/>
                  </a:lnTo>
                  <a:lnTo>
                    <a:pt x="5900928" y="699643"/>
                  </a:lnTo>
                  <a:lnTo>
                    <a:pt x="5900928" y="16891"/>
                  </a:lnTo>
                  <a:lnTo>
                    <a:pt x="5917819" y="16891"/>
                  </a:lnTo>
                  <a:lnTo>
                    <a:pt x="5917819" y="33909"/>
                  </a:lnTo>
                  <a:lnTo>
                    <a:pt x="16891" y="33909"/>
                  </a:lnTo>
                  <a:close/>
                </a:path>
              </a:pathLst>
            </a:custGeom>
            <a:solidFill>
              <a:srgbClr val="0D9488"/>
            </a:solidFill>
          </p:spPr>
        </p:sp>
      </p:grpSp>
      <p:grpSp>
        <p:nvGrpSpPr>
          <p:cNvPr name="Group 53" id="53"/>
          <p:cNvGrpSpPr/>
          <p:nvPr/>
        </p:nvGrpSpPr>
        <p:grpSpPr>
          <a:xfrm rot="0">
            <a:off x="10680192" y="7552944"/>
            <a:ext cx="4425696" cy="512064"/>
            <a:chOff x="0" y="0"/>
            <a:chExt cx="5900928" cy="682752"/>
          </a:xfrm>
        </p:grpSpPr>
        <p:sp>
          <p:nvSpPr>
            <p:cNvPr name="Freeform 54" id="54"/>
            <p:cNvSpPr/>
            <p:nvPr/>
          </p:nvSpPr>
          <p:spPr>
            <a:xfrm flipH="false" flipV="false" rot="0">
              <a:off x="0" y="0"/>
              <a:ext cx="5900928" cy="682752"/>
            </a:xfrm>
            <a:custGeom>
              <a:avLst/>
              <a:gdLst/>
              <a:ahLst/>
              <a:cxnLst/>
              <a:rect r="r" b="b" t="t" l="l"/>
              <a:pathLst>
                <a:path h="682752" w="5900928">
                  <a:moveTo>
                    <a:pt x="0" y="0"/>
                  </a:moveTo>
                  <a:lnTo>
                    <a:pt x="5900928" y="0"/>
                  </a:lnTo>
                  <a:lnTo>
                    <a:pt x="5900928" y="682752"/>
                  </a:lnTo>
                  <a:lnTo>
                    <a:pt x="0" y="682752"/>
                  </a:lnTo>
                  <a:close/>
                </a:path>
              </a:pathLst>
            </a:custGeom>
            <a:blipFill>
              <a:blip r:embed="rId3">
                <a:alphaModFix amt="0"/>
              </a:blip>
              <a:stretch>
                <a:fillRect l="0" t="-118406" r="0" b="-118406"/>
              </a:stretch>
            </a:blipFill>
          </p:spPr>
        </p:sp>
        <p:sp>
          <p:nvSpPr>
            <p:cNvPr name="TextBox 55" id="55"/>
            <p:cNvSpPr txBox="true"/>
            <p:nvPr/>
          </p:nvSpPr>
          <p:spPr>
            <a:xfrm>
              <a:off x="0" y="-38100"/>
              <a:ext cx="5900928" cy="72085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6 · Evaluation</a:t>
              </a:r>
            </a:p>
          </p:txBody>
        </p:sp>
      </p:grpSp>
      <p:grpSp>
        <p:nvGrpSpPr>
          <p:cNvPr name="Group 56" id="56"/>
          <p:cNvGrpSpPr/>
          <p:nvPr/>
        </p:nvGrpSpPr>
        <p:grpSpPr>
          <a:xfrm rot="0">
            <a:off x="1097280" y="8869680"/>
            <a:ext cx="14264640" cy="512064"/>
            <a:chOff x="0" y="0"/>
            <a:chExt cx="19019520" cy="682752"/>
          </a:xfrm>
        </p:grpSpPr>
        <p:sp>
          <p:nvSpPr>
            <p:cNvPr name="Freeform 57" id="57"/>
            <p:cNvSpPr/>
            <p:nvPr/>
          </p:nvSpPr>
          <p:spPr>
            <a:xfrm flipH="false" flipV="false" rot="0">
              <a:off x="0" y="0"/>
              <a:ext cx="19019520" cy="682752"/>
            </a:xfrm>
            <a:custGeom>
              <a:avLst/>
              <a:gdLst/>
              <a:ahLst/>
              <a:cxnLst/>
              <a:rect r="r" b="b" t="t" l="l"/>
              <a:pathLst>
                <a:path h="682752" w="19019520">
                  <a:moveTo>
                    <a:pt x="0" y="0"/>
                  </a:moveTo>
                  <a:lnTo>
                    <a:pt x="19019520" y="0"/>
                  </a:lnTo>
                  <a:lnTo>
                    <a:pt x="19019520" y="682752"/>
                  </a:lnTo>
                  <a:lnTo>
                    <a:pt x="0" y="682752"/>
                  </a:lnTo>
                  <a:close/>
                </a:path>
              </a:pathLst>
            </a:custGeom>
            <a:blipFill>
              <a:blip r:embed="rId3">
                <a:alphaModFix amt="0"/>
              </a:blip>
              <a:stretch>
                <a:fillRect l="0" t="-492797" r="0" b="-492797"/>
              </a:stretch>
            </a:blipFill>
          </p:spPr>
        </p:sp>
        <p:sp>
          <p:nvSpPr>
            <p:cNvPr name="TextBox 58" id="58"/>
            <p:cNvSpPr txBox="true"/>
            <p:nvPr/>
          </p:nvSpPr>
          <p:spPr>
            <a:xfrm>
              <a:off x="0" y="-38100"/>
              <a:ext cx="19019520" cy="720852"/>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Presented to Prof. [Name]  ·  [Date]</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0A1628"/>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0A1628"/>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OVERVIEW</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Why Enhance TSFE — and Where to Focus</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462527"/>
            <a:ext cx="7876537" cy="7327897"/>
            <a:chOff x="0" y="0"/>
            <a:chExt cx="10502049" cy="9770529"/>
          </a:xfrm>
        </p:grpSpPr>
        <p:sp>
          <p:nvSpPr>
            <p:cNvPr name="Freeform 14" id="14"/>
            <p:cNvSpPr/>
            <p:nvPr/>
          </p:nvSpPr>
          <p:spPr>
            <a:xfrm flipH="false" flipV="false" rot="0">
              <a:off x="8509" y="8509"/>
              <a:ext cx="10485119" cy="9753600"/>
            </a:xfrm>
            <a:custGeom>
              <a:avLst/>
              <a:gdLst/>
              <a:ahLst/>
              <a:cxnLst/>
              <a:rect r="r" b="b" t="t" l="l"/>
              <a:pathLst>
                <a:path h="9753600" w="10485119">
                  <a:moveTo>
                    <a:pt x="0" y="0"/>
                  </a:moveTo>
                  <a:lnTo>
                    <a:pt x="10485119" y="0"/>
                  </a:lnTo>
                  <a:lnTo>
                    <a:pt x="10485119" y="9753600"/>
                  </a:lnTo>
                  <a:lnTo>
                    <a:pt x="0" y="9753600"/>
                  </a:lnTo>
                  <a:close/>
                </a:path>
              </a:pathLst>
            </a:custGeom>
            <a:solidFill>
              <a:srgbClr val="FFFFFF"/>
            </a:solidFill>
          </p:spPr>
        </p:sp>
        <p:sp>
          <p:nvSpPr>
            <p:cNvPr name="Freeform 15" id="15"/>
            <p:cNvSpPr/>
            <p:nvPr/>
          </p:nvSpPr>
          <p:spPr>
            <a:xfrm flipH="false" flipV="false" rot="0">
              <a:off x="0" y="0"/>
              <a:ext cx="10502138" cy="9770618"/>
            </a:xfrm>
            <a:custGeom>
              <a:avLst/>
              <a:gdLst/>
              <a:ahLst/>
              <a:cxnLst/>
              <a:rect r="r" b="b" t="t" l="l"/>
              <a:pathLst>
                <a:path h="9770618" w="10502138">
                  <a:moveTo>
                    <a:pt x="8509" y="0"/>
                  </a:moveTo>
                  <a:lnTo>
                    <a:pt x="10493628" y="0"/>
                  </a:lnTo>
                  <a:cubicBezTo>
                    <a:pt x="10498327" y="0"/>
                    <a:pt x="10502138" y="3810"/>
                    <a:pt x="10502138" y="8509"/>
                  </a:cubicBezTo>
                  <a:lnTo>
                    <a:pt x="10502138" y="9762109"/>
                  </a:lnTo>
                  <a:cubicBezTo>
                    <a:pt x="10502138" y="9766808"/>
                    <a:pt x="10498327" y="9770618"/>
                    <a:pt x="10493628" y="9770618"/>
                  </a:cubicBezTo>
                  <a:lnTo>
                    <a:pt x="8509" y="9770618"/>
                  </a:lnTo>
                  <a:cubicBezTo>
                    <a:pt x="3810" y="9770618"/>
                    <a:pt x="0" y="9766808"/>
                    <a:pt x="0" y="9762109"/>
                  </a:cubicBezTo>
                  <a:lnTo>
                    <a:pt x="0" y="8509"/>
                  </a:lnTo>
                  <a:cubicBezTo>
                    <a:pt x="0" y="3810"/>
                    <a:pt x="3810" y="0"/>
                    <a:pt x="8509" y="0"/>
                  </a:cubicBezTo>
                  <a:moveTo>
                    <a:pt x="8509" y="16891"/>
                  </a:moveTo>
                  <a:lnTo>
                    <a:pt x="8509" y="8509"/>
                  </a:lnTo>
                  <a:lnTo>
                    <a:pt x="17018" y="8509"/>
                  </a:lnTo>
                  <a:lnTo>
                    <a:pt x="17018" y="9762109"/>
                  </a:lnTo>
                  <a:lnTo>
                    <a:pt x="8509" y="9762109"/>
                  </a:lnTo>
                  <a:lnTo>
                    <a:pt x="8509" y="9753600"/>
                  </a:lnTo>
                  <a:lnTo>
                    <a:pt x="10493628" y="9753600"/>
                  </a:lnTo>
                  <a:lnTo>
                    <a:pt x="10493628" y="9762109"/>
                  </a:lnTo>
                  <a:lnTo>
                    <a:pt x="10485120" y="9762109"/>
                  </a:lnTo>
                  <a:lnTo>
                    <a:pt x="10485120" y="8509"/>
                  </a:lnTo>
                  <a:lnTo>
                    <a:pt x="10493628" y="8509"/>
                  </a:lnTo>
                  <a:lnTo>
                    <a:pt x="10493628" y="17018"/>
                  </a:lnTo>
                  <a:lnTo>
                    <a:pt x="8509" y="17018"/>
                  </a:lnTo>
                  <a:close/>
                </a:path>
              </a:pathLst>
            </a:custGeom>
            <a:solidFill>
              <a:srgbClr val="E2E8F0"/>
            </a:solidFill>
          </p:spPr>
        </p:sp>
      </p:grpSp>
      <p:grpSp>
        <p:nvGrpSpPr>
          <p:cNvPr name="Group 16" id="16"/>
          <p:cNvGrpSpPr/>
          <p:nvPr/>
        </p:nvGrpSpPr>
        <p:grpSpPr>
          <a:xfrm rot="0">
            <a:off x="718823" y="2456183"/>
            <a:ext cx="135131" cy="7340603"/>
            <a:chOff x="0" y="0"/>
            <a:chExt cx="180175" cy="9787471"/>
          </a:xfrm>
        </p:grpSpPr>
        <p:sp>
          <p:nvSpPr>
            <p:cNvPr name="Freeform 17" id="17"/>
            <p:cNvSpPr/>
            <p:nvPr/>
          </p:nvSpPr>
          <p:spPr>
            <a:xfrm flipH="false" flipV="false" rot="0">
              <a:off x="16891" y="16891"/>
              <a:ext cx="146304" cy="9753600"/>
            </a:xfrm>
            <a:custGeom>
              <a:avLst/>
              <a:gdLst/>
              <a:ahLst/>
              <a:cxnLst/>
              <a:rect r="r" b="b" t="t" l="l"/>
              <a:pathLst>
                <a:path h="9753600" w="146304">
                  <a:moveTo>
                    <a:pt x="0" y="0"/>
                  </a:moveTo>
                  <a:lnTo>
                    <a:pt x="146304" y="0"/>
                  </a:lnTo>
                  <a:lnTo>
                    <a:pt x="146304" y="9753600"/>
                  </a:lnTo>
                  <a:lnTo>
                    <a:pt x="0" y="9753600"/>
                  </a:lnTo>
                  <a:close/>
                </a:path>
              </a:pathLst>
            </a:custGeom>
            <a:solidFill>
              <a:srgbClr val="E05B4B"/>
            </a:solidFill>
          </p:spPr>
        </p:sp>
        <p:sp>
          <p:nvSpPr>
            <p:cNvPr name="Freeform 18" id="18"/>
            <p:cNvSpPr/>
            <p:nvPr/>
          </p:nvSpPr>
          <p:spPr>
            <a:xfrm flipH="false" flipV="false" rot="0">
              <a:off x="0" y="0"/>
              <a:ext cx="180086" cy="9787382"/>
            </a:xfrm>
            <a:custGeom>
              <a:avLst/>
              <a:gdLst/>
              <a:ahLst/>
              <a:cxnLst/>
              <a:rect r="r" b="b" t="t" l="l"/>
              <a:pathLst>
                <a:path h="9787382" w="180086">
                  <a:moveTo>
                    <a:pt x="16891" y="0"/>
                  </a:moveTo>
                  <a:lnTo>
                    <a:pt x="163195" y="0"/>
                  </a:lnTo>
                  <a:cubicBezTo>
                    <a:pt x="172593" y="0"/>
                    <a:pt x="180086" y="7620"/>
                    <a:pt x="180086" y="16891"/>
                  </a:cubicBezTo>
                  <a:lnTo>
                    <a:pt x="180086" y="9770491"/>
                  </a:lnTo>
                  <a:cubicBezTo>
                    <a:pt x="180086" y="9779889"/>
                    <a:pt x="172466" y="9787382"/>
                    <a:pt x="163195" y="9787382"/>
                  </a:cubicBezTo>
                  <a:lnTo>
                    <a:pt x="16891" y="9787382"/>
                  </a:lnTo>
                  <a:cubicBezTo>
                    <a:pt x="7493" y="9787382"/>
                    <a:pt x="0" y="9779762"/>
                    <a:pt x="0" y="9770491"/>
                  </a:cubicBezTo>
                  <a:lnTo>
                    <a:pt x="0" y="16891"/>
                  </a:lnTo>
                  <a:cubicBezTo>
                    <a:pt x="0" y="7620"/>
                    <a:pt x="7620" y="0"/>
                    <a:pt x="16891" y="0"/>
                  </a:cubicBezTo>
                  <a:moveTo>
                    <a:pt x="16891" y="33909"/>
                  </a:moveTo>
                  <a:lnTo>
                    <a:pt x="16891" y="16891"/>
                  </a:lnTo>
                  <a:lnTo>
                    <a:pt x="33909" y="16891"/>
                  </a:lnTo>
                  <a:lnTo>
                    <a:pt x="33909" y="9770491"/>
                  </a:lnTo>
                  <a:lnTo>
                    <a:pt x="16891" y="9770491"/>
                  </a:lnTo>
                  <a:lnTo>
                    <a:pt x="16891" y="9753600"/>
                  </a:lnTo>
                  <a:lnTo>
                    <a:pt x="163195" y="9753600"/>
                  </a:lnTo>
                  <a:lnTo>
                    <a:pt x="163195" y="9770491"/>
                  </a:lnTo>
                  <a:lnTo>
                    <a:pt x="146304" y="9770491"/>
                  </a:lnTo>
                  <a:lnTo>
                    <a:pt x="146304" y="16891"/>
                  </a:lnTo>
                  <a:lnTo>
                    <a:pt x="163195" y="16891"/>
                  </a:lnTo>
                  <a:lnTo>
                    <a:pt x="163195" y="33909"/>
                  </a:lnTo>
                  <a:lnTo>
                    <a:pt x="16891" y="33909"/>
                  </a:lnTo>
                  <a:close/>
                </a:path>
              </a:pathLst>
            </a:custGeom>
            <a:solidFill>
              <a:srgbClr val="E05B4B"/>
            </a:solidFill>
          </p:spPr>
        </p:sp>
      </p:grpSp>
      <p:grpSp>
        <p:nvGrpSpPr>
          <p:cNvPr name="Group 19" id="19"/>
          <p:cNvGrpSpPr/>
          <p:nvPr/>
        </p:nvGrpSpPr>
        <p:grpSpPr>
          <a:xfrm rot="0">
            <a:off x="1060704" y="2560320"/>
            <a:ext cx="7315200" cy="585216"/>
            <a:chOff x="0" y="0"/>
            <a:chExt cx="9753600" cy="780288"/>
          </a:xfrm>
        </p:grpSpPr>
        <p:sp>
          <p:nvSpPr>
            <p:cNvPr name="Freeform 20" id="20"/>
            <p:cNvSpPr/>
            <p:nvPr/>
          </p:nvSpPr>
          <p:spPr>
            <a:xfrm flipH="false" flipV="false" rot="0">
              <a:off x="0" y="0"/>
              <a:ext cx="9753600" cy="780288"/>
            </a:xfrm>
            <a:custGeom>
              <a:avLst/>
              <a:gdLst/>
              <a:ahLst/>
              <a:cxnLst/>
              <a:rect r="r" b="b" t="t" l="l"/>
              <a:pathLst>
                <a:path h="780288" w="9753600">
                  <a:moveTo>
                    <a:pt x="0" y="0"/>
                  </a:moveTo>
                  <a:lnTo>
                    <a:pt x="9753600" y="0"/>
                  </a:lnTo>
                  <a:lnTo>
                    <a:pt x="9753600" y="780288"/>
                  </a:lnTo>
                  <a:lnTo>
                    <a:pt x="0" y="780288"/>
                  </a:lnTo>
                  <a:close/>
                </a:path>
              </a:pathLst>
            </a:custGeom>
            <a:blipFill>
              <a:blip r:embed="rId3">
                <a:alphaModFix amt="0"/>
              </a:blip>
              <a:stretch>
                <a:fillRect l="0" t="-193562" r="0" b="-193562"/>
              </a:stretch>
            </a:blipFill>
          </p:spPr>
        </p:sp>
        <p:sp>
          <p:nvSpPr>
            <p:cNvPr name="TextBox 21" id="21"/>
            <p:cNvSpPr txBox="true"/>
            <p:nvPr/>
          </p:nvSpPr>
          <p:spPr>
            <a:xfrm>
              <a:off x="0" y="-57150"/>
              <a:ext cx="9753600" cy="837438"/>
            </a:xfrm>
            <a:prstGeom prst="rect">
              <a:avLst/>
            </a:prstGeom>
          </p:spPr>
          <p:txBody>
            <a:bodyPr anchor="ctr" rtlCol="false" tIns="0" lIns="0" bIns="0" rIns="0"/>
            <a:lstStyle/>
            <a:p>
              <a:pPr algn="l">
                <a:lnSpc>
                  <a:spcPts val="3120"/>
                </a:lnSpc>
              </a:pPr>
              <a:r>
                <a:rPr lang="en-US" sz="2600" b="true">
                  <a:solidFill>
                    <a:srgbClr val="E05B4B"/>
                  </a:solidFill>
                  <a:latin typeface="Calibri (MS) Bold"/>
                  <a:ea typeface="Calibri (MS) Bold"/>
                  <a:cs typeface="Calibri (MS) Bold"/>
                  <a:sym typeface="Calibri (MS) Bold"/>
                </a:rPr>
                <a:t>TSFE's Remaining Gaps</a:t>
              </a:r>
            </a:p>
          </p:txBody>
        </p:sp>
      </p:grpSp>
      <p:grpSp>
        <p:nvGrpSpPr>
          <p:cNvPr name="Group 22" id="22"/>
          <p:cNvGrpSpPr/>
          <p:nvPr/>
        </p:nvGrpSpPr>
        <p:grpSpPr>
          <a:xfrm rot="0">
            <a:off x="1048007" y="3315719"/>
            <a:ext cx="464315" cy="464315"/>
            <a:chOff x="0" y="0"/>
            <a:chExt cx="619087" cy="619087"/>
          </a:xfrm>
        </p:grpSpPr>
        <p:sp>
          <p:nvSpPr>
            <p:cNvPr name="Freeform 23" id="23"/>
            <p:cNvSpPr/>
            <p:nvPr/>
          </p:nvSpPr>
          <p:spPr>
            <a:xfrm flipH="false" flipV="false" rot="0">
              <a:off x="16891" y="16891"/>
              <a:ext cx="585216" cy="585216"/>
            </a:xfrm>
            <a:custGeom>
              <a:avLst/>
              <a:gdLst/>
              <a:ahLst/>
              <a:cxnLst/>
              <a:rect r="r" b="b" t="t" l="l"/>
              <a:pathLst>
                <a:path h="585216" w="585216">
                  <a:moveTo>
                    <a:pt x="0" y="0"/>
                  </a:moveTo>
                  <a:lnTo>
                    <a:pt x="585216" y="0"/>
                  </a:lnTo>
                  <a:lnTo>
                    <a:pt x="585216" y="585216"/>
                  </a:lnTo>
                  <a:lnTo>
                    <a:pt x="0" y="585216"/>
                  </a:lnTo>
                  <a:close/>
                </a:path>
              </a:pathLst>
            </a:custGeom>
            <a:solidFill>
              <a:srgbClr val="E05B4B"/>
            </a:solidFill>
          </p:spPr>
        </p:sp>
        <p:sp>
          <p:nvSpPr>
            <p:cNvPr name="Freeform 24" id="24"/>
            <p:cNvSpPr/>
            <p:nvPr/>
          </p:nvSpPr>
          <p:spPr>
            <a:xfrm flipH="false" flipV="false" rot="0">
              <a:off x="0" y="0"/>
              <a:ext cx="618998" cy="619000"/>
            </a:xfrm>
            <a:custGeom>
              <a:avLst/>
              <a:gdLst/>
              <a:ahLst/>
              <a:cxnLst/>
              <a:rect r="r" b="b" t="t" l="l"/>
              <a:pathLst>
                <a:path h="619000" w="618998">
                  <a:moveTo>
                    <a:pt x="16891" y="0"/>
                  </a:moveTo>
                  <a:lnTo>
                    <a:pt x="602107" y="0"/>
                  </a:lnTo>
                  <a:cubicBezTo>
                    <a:pt x="611505" y="0"/>
                    <a:pt x="618998" y="7620"/>
                    <a:pt x="618998" y="16891"/>
                  </a:cubicBezTo>
                  <a:lnTo>
                    <a:pt x="618998" y="602107"/>
                  </a:lnTo>
                  <a:cubicBezTo>
                    <a:pt x="618998" y="611505"/>
                    <a:pt x="611378" y="618998"/>
                    <a:pt x="602107"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602107" y="585216"/>
                  </a:lnTo>
                  <a:lnTo>
                    <a:pt x="602107" y="602107"/>
                  </a:lnTo>
                  <a:lnTo>
                    <a:pt x="585216" y="602107"/>
                  </a:lnTo>
                  <a:lnTo>
                    <a:pt x="585216" y="16891"/>
                  </a:lnTo>
                  <a:lnTo>
                    <a:pt x="602107" y="16891"/>
                  </a:lnTo>
                  <a:lnTo>
                    <a:pt x="602107" y="33909"/>
                  </a:lnTo>
                  <a:lnTo>
                    <a:pt x="16891" y="33909"/>
                  </a:lnTo>
                  <a:close/>
                </a:path>
              </a:pathLst>
            </a:custGeom>
            <a:solidFill>
              <a:srgbClr val="E05B4B"/>
            </a:solidFill>
          </p:spPr>
        </p:sp>
      </p:grpSp>
      <p:grpSp>
        <p:nvGrpSpPr>
          <p:cNvPr name="Group 25" id="25"/>
          <p:cNvGrpSpPr/>
          <p:nvPr/>
        </p:nvGrpSpPr>
        <p:grpSpPr>
          <a:xfrm rot="0">
            <a:off x="1060704" y="3328416"/>
            <a:ext cx="438912" cy="438912"/>
            <a:chOff x="0" y="0"/>
            <a:chExt cx="585216" cy="585216"/>
          </a:xfrm>
        </p:grpSpPr>
        <p:sp>
          <p:nvSpPr>
            <p:cNvPr name="Freeform 26" id="26"/>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27" id="27"/>
            <p:cNvSpPr txBox="true"/>
            <p:nvPr/>
          </p:nvSpPr>
          <p:spPr>
            <a:xfrm>
              <a:off x="0" y="-38100"/>
              <a:ext cx="585216" cy="623316"/>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a:t>
              </a:r>
            </a:p>
          </p:txBody>
        </p:sp>
      </p:grpSp>
      <p:grpSp>
        <p:nvGrpSpPr>
          <p:cNvPr name="Group 28" id="28"/>
          <p:cNvGrpSpPr/>
          <p:nvPr/>
        </p:nvGrpSpPr>
        <p:grpSpPr>
          <a:xfrm rot="0">
            <a:off x="1645920" y="3346704"/>
            <a:ext cx="6766560" cy="438912"/>
            <a:chOff x="0" y="0"/>
            <a:chExt cx="9022080" cy="585216"/>
          </a:xfrm>
        </p:grpSpPr>
        <p:sp>
          <p:nvSpPr>
            <p:cNvPr name="Freeform 29" id="29"/>
            <p:cNvSpPr/>
            <p:nvPr/>
          </p:nvSpPr>
          <p:spPr>
            <a:xfrm flipH="false" flipV="false" rot="0">
              <a:off x="0" y="0"/>
              <a:ext cx="9022080" cy="585216"/>
            </a:xfrm>
            <a:custGeom>
              <a:avLst/>
              <a:gdLst/>
              <a:ahLst/>
              <a:cxnLst/>
              <a:rect r="r" b="b" t="t" l="l"/>
              <a:pathLst>
                <a:path h="585216" w="9022080">
                  <a:moveTo>
                    <a:pt x="0" y="0"/>
                  </a:moveTo>
                  <a:lnTo>
                    <a:pt x="9022080" y="0"/>
                  </a:lnTo>
                  <a:lnTo>
                    <a:pt x="9022080" y="585216"/>
                  </a:lnTo>
                  <a:lnTo>
                    <a:pt x="0" y="585216"/>
                  </a:lnTo>
                  <a:close/>
                </a:path>
              </a:pathLst>
            </a:custGeom>
            <a:blipFill>
              <a:blip r:embed="rId3">
                <a:alphaModFix amt="0"/>
              </a:blip>
              <a:stretch>
                <a:fillRect l="0" t="-250394" r="0" b="-250394"/>
              </a:stretch>
            </a:blipFill>
          </p:spPr>
        </p:sp>
        <p:sp>
          <p:nvSpPr>
            <p:cNvPr name="TextBox 30" id="30"/>
            <p:cNvSpPr txBox="true"/>
            <p:nvPr/>
          </p:nvSpPr>
          <p:spPr>
            <a:xfrm>
              <a:off x="0" y="-47625"/>
              <a:ext cx="9022080" cy="632841"/>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Domain gap in backbone</a:t>
              </a:r>
            </a:p>
          </p:txBody>
        </p:sp>
      </p:grpSp>
      <p:grpSp>
        <p:nvGrpSpPr>
          <p:cNvPr name="Group 31" id="31"/>
          <p:cNvGrpSpPr/>
          <p:nvPr/>
        </p:nvGrpSpPr>
        <p:grpSpPr>
          <a:xfrm rot="0">
            <a:off x="1645920" y="3803904"/>
            <a:ext cx="6766560" cy="694944"/>
            <a:chOff x="0" y="0"/>
            <a:chExt cx="9022080" cy="926592"/>
          </a:xfrm>
        </p:grpSpPr>
        <p:sp>
          <p:nvSpPr>
            <p:cNvPr name="Freeform 32" id="32"/>
            <p:cNvSpPr/>
            <p:nvPr/>
          </p:nvSpPr>
          <p:spPr>
            <a:xfrm flipH="false" flipV="false" rot="0">
              <a:off x="0" y="0"/>
              <a:ext cx="9022080" cy="926592"/>
            </a:xfrm>
            <a:custGeom>
              <a:avLst/>
              <a:gdLst/>
              <a:ahLst/>
              <a:cxnLst/>
              <a:rect r="r" b="b" t="t" l="l"/>
              <a:pathLst>
                <a:path h="926592" w="9022080">
                  <a:moveTo>
                    <a:pt x="0" y="0"/>
                  </a:moveTo>
                  <a:lnTo>
                    <a:pt x="9022080" y="0"/>
                  </a:lnTo>
                  <a:lnTo>
                    <a:pt x="9022080" y="926592"/>
                  </a:lnTo>
                  <a:lnTo>
                    <a:pt x="0" y="926592"/>
                  </a:lnTo>
                  <a:close/>
                </a:path>
              </a:pathLst>
            </a:custGeom>
            <a:blipFill>
              <a:blip r:embed="rId3">
                <a:alphaModFix amt="0"/>
              </a:blip>
              <a:stretch>
                <a:fillRect l="0" t="-139722" r="0" b="-139722"/>
              </a:stretch>
            </a:blipFill>
          </p:spPr>
        </p:sp>
        <p:sp>
          <p:nvSpPr>
            <p:cNvPr name="TextBox 33" id="33"/>
            <p:cNvSpPr txBox="true"/>
            <p:nvPr/>
          </p:nvSpPr>
          <p:spPr>
            <a:xfrm>
              <a:off x="0" y="-38100"/>
              <a:ext cx="9022080" cy="96469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Swin pre-trained on ImageNet — satellite imagery looks fundamentally different. Largest single ablation jump in the paper.</a:t>
              </a:r>
            </a:p>
          </p:txBody>
        </p:sp>
      </p:grpSp>
      <p:grpSp>
        <p:nvGrpSpPr>
          <p:cNvPr name="Group 34" id="34"/>
          <p:cNvGrpSpPr/>
          <p:nvPr/>
        </p:nvGrpSpPr>
        <p:grpSpPr>
          <a:xfrm rot="0">
            <a:off x="1048007" y="4614167"/>
            <a:ext cx="464315" cy="464315"/>
            <a:chOff x="0" y="0"/>
            <a:chExt cx="619087" cy="619087"/>
          </a:xfrm>
        </p:grpSpPr>
        <p:sp>
          <p:nvSpPr>
            <p:cNvPr name="Freeform 35" id="35"/>
            <p:cNvSpPr/>
            <p:nvPr/>
          </p:nvSpPr>
          <p:spPr>
            <a:xfrm flipH="false" flipV="false" rot="0">
              <a:off x="16891" y="16891"/>
              <a:ext cx="585216" cy="585216"/>
            </a:xfrm>
            <a:custGeom>
              <a:avLst/>
              <a:gdLst/>
              <a:ahLst/>
              <a:cxnLst/>
              <a:rect r="r" b="b" t="t" l="l"/>
              <a:pathLst>
                <a:path h="585216" w="585216">
                  <a:moveTo>
                    <a:pt x="0" y="0"/>
                  </a:moveTo>
                  <a:lnTo>
                    <a:pt x="585216" y="0"/>
                  </a:lnTo>
                  <a:lnTo>
                    <a:pt x="585216" y="585216"/>
                  </a:lnTo>
                  <a:lnTo>
                    <a:pt x="0" y="585216"/>
                  </a:lnTo>
                  <a:close/>
                </a:path>
              </a:pathLst>
            </a:custGeom>
            <a:solidFill>
              <a:srgbClr val="E05B4B"/>
            </a:solidFill>
          </p:spPr>
        </p:sp>
        <p:sp>
          <p:nvSpPr>
            <p:cNvPr name="Freeform 36" id="36"/>
            <p:cNvSpPr/>
            <p:nvPr/>
          </p:nvSpPr>
          <p:spPr>
            <a:xfrm flipH="false" flipV="false" rot="0">
              <a:off x="0" y="0"/>
              <a:ext cx="618998" cy="619000"/>
            </a:xfrm>
            <a:custGeom>
              <a:avLst/>
              <a:gdLst/>
              <a:ahLst/>
              <a:cxnLst/>
              <a:rect r="r" b="b" t="t" l="l"/>
              <a:pathLst>
                <a:path h="619000" w="618998">
                  <a:moveTo>
                    <a:pt x="16891" y="0"/>
                  </a:moveTo>
                  <a:lnTo>
                    <a:pt x="602107" y="0"/>
                  </a:lnTo>
                  <a:cubicBezTo>
                    <a:pt x="611505" y="0"/>
                    <a:pt x="618998" y="7620"/>
                    <a:pt x="618998" y="16891"/>
                  </a:cubicBezTo>
                  <a:lnTo>
                    <a:pt x="618998" y="602107"/>
                  </a:lnTo>
                  <a:cubicBezTo>
                    <a:pt x="618998" y="611505"/>
                    <a:pt x="611378" y="618998"/>
                    <a:pt x="602107"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602107" y="585216"/>
                  </a:lnTo>
                  <a:lnTo>
                    <a:pt x="602107" y="602107"/>
                  </a:lnTo>
                  <a:lnTo>
                    <a:pt x="585216" y="602107"/>
                  </a:lnTo>
                  <a:lnTo>
                    <a:pt x="585216" y="16891"/>
                  </a:lnTo>
                  <a:lnTo>
                    <a:pt x="602107" y="16891"/>
                  </a:lnTo>
                  <a:lnTo>
                    <a:pt x="602107" y="33909"/>
                  </a:lnTo>
                  <a:lnTo>
                    <a:pt x="16891" y="33909"/>
                  </a:lnTo>
                  <a:close/>
                </a:path>
              </a:pathLst>
            </a:custGeom>
            <a:solidFill>
              <a:srgbClr val="E05B4B"/>
            </a:solidFill>
          </p:spPr>
        </p:sp>
      </p:grpSp>
      <p:grpSp>
        <p:nvGrpSpPr>
          <p:cNvPr name="Group 37" id="37"/>
          <p:cNvGrpSpPr/>
          <p:nvPr/>
        </p:nvGrpSpPr>
        <p:grpSpPr>
          <a:xfrm rot="0">
            <a:off x="1060704" y="4626864"/>
            <a:ext cx="438912" cy="438912"/>
            <a:chOff x="0" y="0"/>
            <a:chExt cx="585216" cy="585216"/>
          </a:xfrm>
        </p:grpSpPr>
        <p:sp>
          <p:nvSpPr>
            <p:cNvPr name="Freeform 38" id="38"/>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39" id="39"/>
            <p:cNvSpPr txBox="true"/>
            <p:nvPr/>
          </p:nvSpPr>
          <p:spPr>
            <a:xfrm>
              <a:off x="0" y="-38100"/>
              <a:ext cx="585216" cy="623316"/>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a:t>
              </a:r>
            </a:p>
          </p:txBody>
        </p:sp>
      </p:grpSp>
      <p:grpSp>
        <p:nvGrpSpPr>
          <p:cNvPr name="Group 40" id="40"/>
          <p:cNvGrpSpPr/>
          <p:nvPr/>
        </p:nvGrpSpPr>
        <p:grpSpPr>
          <a:xfrm rot="0">
            <a:off x="1645920" y="4645152"/>
            <a:ext cx="6766560" cy="438912"/>
            <a:chOff x="0" y="0"/>
            <a:chExt cx="9022080" cy="585216"/>
          </a:xfrm>
        </p:grpSpPr>
        <p:sp>
          <p:nvSpPr>
            <p:cNvPr name="Freeform 41" id="41"/>
            <p:cNvSpPr/>
            <p:nvPr/>
          </p:nvSpPr>
          <p:spPr>
            <a:xfrm flipH="false" flipV="false" rot="0">
              <a:off x="0" y="0"/>
              <a:ext cx="9022080" cy="585216"/>
            </a:xfrm>
            <a:custGeom>
              <a:avLst/>
              <a:gdLst/>
              <a:ahLst/>
              <a:cxnLst/>
              <a:rect r="r" b="b" t="t" l="l"/>
              <a:pathLst>
                <a:path h="585216" w="9022080">
                  <a:moveTo>
                    <a:pt x="0" y="0"/>
                  </a:moveTo>
                  <a:lnTo>
                    <a:pt x="9022080" y="0"/>
                  </a:lnTo>
                  <a:lnTo>
                    <a:pt x="9022080" y="585216"/>
                  </a:lnTo>
                  <a:lnTo>
                    <a:pt x="0" y="585216"/>
                  </a:lnTo>
                  <a:close/>
                </a:path>
              </a:pathLst>
            </a:custGeom>
            <a:blipFill>
              <a:blip r:embed="rId3">
                <a:alphaModFix amt="0"/>
              </a:blip>
              <a:stretch>
                <a:fillRect l="0" t="-250394" r="0" b="-250394"/>
              </a:stretch>
            </a:blipFill>
          </p:spPr>
        </p:sp>
        <p:sp>
          <p:nvSpPr>
            <p:cNvPr name="TextBox 42" id="42"/>
            <p:cNvSpPr txBox="true"/>
            <p:nvPr/>
          </p:nvSpPr>
          <p:spPr>
            <a:xfrm>
              <a:off x="0" y="-47625"/>
              <a:ext cx="9022080" cy="632841"/>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Fixed spatial sampling</a:t>
              </a:r>
            </a:p>
          </p:txBody>
        </p:sp>
      </p:grpSp>
      <p:grpSp>
        <p:nvGrpSpPr>
          <p:cNvPr name="Group 43" id="43"/>
          <p:cNvGrpSpPr/>
          <p:nvPr/>
        </p:nvGrpSpPr>
        <p:grpSpPr>
          <a:xfrm rot="0">
            <a:off x="1645920" y="5102352"/>
            <a:ext cx="6766560" cy="694944"/>
            <a:chOff x="0" y="0"/>
            <a:chExt cx="9022080" cy="926592"/>
          </a:xfrm>
        </p:grpSpPr>
        <p:sp>
          <p:nvSpPr>
            <p:cNvPr name="Freeform 44" id="44"/>
            <p:cNvSpPr/>
            <p:nvPr/>
          </p:nvSpPr>
          <p:spPr>
            <a:xfrm flipH="false" flipV="false" rot="0">
              <a:off x="0" y="0"/>
              <a:ext cx="9022080" cy="926592"/>
            </a:xfrm>
            <a:custGeom>
              <a:avLst/>
              <a:gdLst/>
              <a:ahLst/>
              <a:cxnLst/>
              <a:rect r="r" b="b" t="t" l="l"/>
              <a:pathLst>
                <a:path h="926592" w="9022080">
                  <a:moveTo>
                    <a:pt x="0" y="0"/>
                  </a:moveTo>
                  <a:lnTo>
                    <a:pt x="9022080" y="0"/>
                  </a:lnTo>
                  <a:lnTo>
                    <a:pt x="9022080" y="926592"/>
                  </a:lnTo>
                  <a:lnTo>
                    <a:pt x="0" y="926592"/>
                  </a:lnTo>
                  <a:close/>
                </a:path>
              </a:pathLst>
            </a:custGeom>
            <a:blipFill>
              <a:blip r:embed="rId3">
                <a:alphaModFix amt="0"/>
              </a:blip>
              <a:stretch>
                <a:fillRect l="0" t="-139722" r="0" b="-139722"/>
              </a:stretch>
            </a:blipFill>
          </p:spPr>
        </p:sp>
        <p:sp>
          <p:nvSpPr>
            <p:cNvPr name="TextBox 45" id="45"/>
            <p:cNvSpPr txBox="true"/>
            <p:nvPr/>
          </p:nvSpPr>
          <p:spPr>
            <a:xfrm>
              <a:off x="0" y="-38100"/>
              <a:ext cx="9022080" cy="96469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LFSE squeeze averages rows/columns — loses exact pixel positions. No notion of how far apart two regions are.</a:t>
              </a:r>
            </a:p>
          </p:txBody>
        </p:sp>
      </p:grpSp>
      <p:grpSp>
        <p:nvGrpSpPr>
          <p:cNvPr name="Group 46" id="46"/>
          <p:cNvGrpSpPr/>
          <p:nvPr/>
        </p:nvGrpSpPr>
        <p:grpSpPr>
          <a:xfrm rot="0">
            <a:off x="1048007" y="5912615"/>
            <a:ext cx="464315" cy="464315"/>
            <a:chOff x="0" y="0"/>
            <a:chExt cx="619087" cy="619087"/>
          </a:xfrm>
        </p:grpSpPr>
        <p:sp>
          <p:nvSpPr>
            <p:cNvPr name="Freeform 47" id="47"/>
            <p:cNvSpPr/>
            <p:nvPr/>
          </p:nvSpPr>
          <p:spPr>
            <a:xfrm flipH="false" flipV="false" rot="0">
              <a:off x="16891" y="16891"/>
              <a:ext cx="585216" cy="585216"/>
            </a:xfrm>
            <a:custGeom>
              <a:avLst/>
              <a:gdLst/>
              <a:ahLst/>
              <a:cxnLst/>
              <a:rect r="r" b="b" t="t" l="l"/>
              <a:pathLst>
                <a:path h="585216" w="585216">
                  <a:moveTo>
                    <a:pt x="0" y="0"/>
                  </a:moveTo>
                  <a:lnTo>
                    <a:pt x="585216" y="0"/>
                  </a:lnTo>
                  <a:lnTo>
                    <a:pt x="585216" y="585216"/>
                  </a:lnTo>
                  <a:lnTo>
                    <a:pt x="0" y="585216"/>
                  </a:lnTo>
                  <a:close/>
                </a:path>
              </a:pathLst>
            </a:custGeom>
            <a:solidFill>
              <a:srgbClr val="E05B4B"/>
            </a:solidFill>
          </p:spPr>
        </p:sp>
        <p:sp>
          <p:nvSpPr>
            <p:cNvPr name="Freeform 48" id="48"/>
            <p:cNvSpPr/>
            <p:nvPr/>
          </p:nvSpPr>
          <p:spPr>
            <a:xfrm flipH="false" flipV="false" rot="0">
              <a:off x="0" y="0"/>
              <a:ext cx="618998" cy="619000"/>
            </a:xfrm>
            <a:custGeom>
              <a:avLst/>
              <a:gdLst/>
              <a:ahLst/>
              <a:cxnLst/>
              <a:rect r="r" b="b" t="t" l="l"/>
              <a:pathLst>
                <a:path h="619000" w="618998">
                  <a:moveTo>
                    <a:pt x="16891" y="0"/>
                  </a:moveTo>
                  <a:lnTo>
                    <a:pt x="602107" y="0"/>
                  </a:lnTo>
                  <a:cubicBezTo>
                    <a:pt x="611505" y="0"/>
                    <a:pt x="618998" y="7620"/>
                    <a:pt x="618998" y="16891"/>
                  </a:cubicBezTo>
                  <a:lnTo>
                    <a:pt x="618998" y="602107"/>
                  </a:lnTo>
                  <a:cubicBezTo>
                    <a:pt x="618998" y="611505"/>
                    <a:pt x="611378" y="618998"/>
                    <a:pt x="602107"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602107" y="585216"/>
                  </a:lnTo>
                  <a:lnTo>
                    <a:pt x="602107" y="602107"/>
                  </a:lnTo>
                  <a:lnTo>
                    <a:pt x="585216" y="602107"/>
                  </a:lnTo>
                  <a:lnTo>
                    <a:pt x="585216" y="16891"/>
                  </a:lnTo>
                  <a:lnTo>
                    <a:pt x="602107" y="16891"/>
                  </a:lnTo>
                  <a:lnTo>
                    <a:pt x="602107" y="33909"/>
                  </a:lnTo>
                  <a:lnTo>
                    <a:pt x="16891" y="33909"/>
                  </a:lnTo>
                  <a:close/>
                </a:path>
              </a:pathLst>
            </a:custGeom>
            <a:solidFill>
              <a:srgbClr val="E05B4B"/>
            </a:solidFill>
          </p:spPr>
        </p:sp>
      </p:grpSp>
      <p:grpSp>
        <p:nvGrpSpPr>
          <p:cNvPr name="Group 49" id="49"/>
          <p:cNvGrpSpPr/>
          <p:nvPr/>
        </p:nvGrpSpPr>
        <p:grpSpPr>
          <a:xfrm rot="0">
            <a:off x="1060704" y="5925312"/>
            <a:ext cx="438912" cy="438912"/>
            <a:chOff x="0" y="0"/>
            <a:chExt cx="585216" cy="585216"/>
          </a:xfrm>
        </p:grpSpPr>
        <p:sp>
          <p:nvSpPr>
            <p:cNvPr name="Freeform 50" id="50"/>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51" id="51"/>
            <p:cNvSpPr txBox="true"/>
            <p:nvPr/>
          </p:nvSpPr>
          <p:spPr>
            <a:xfrm>
              <a:off x="0" y="-38100"/>
              <a:ext cx="585216" cy="623316"/>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52" id="52"/>
          <p:cNvGrpSpPr/>
          <p:nvPr/>
        </p:nvGrpSpPr>
        <p:grpSpPr>
          <a:xfrm rot="0">
            <a:off x="1645920" y="5943600"/>
            <a:ext cx="6766560" cy="438912"/>
            <a:chOff x="0" y="0"/>
            <a:chExt cx="9022080" cy="585216"/>
          </a:xfrm>
        </p:grpSpPr>
        <p:sp>
          <p:nvSpPr>
            <p:cNvPr name="Freeform 53" id="53"/>
            <p:cNvSpPr/>
            <p:nvPr/>
          </p:nvSpPr>
          <p:spPr>
            <a:xfrm flipH="false" flipV="false" rot="0">
              <a:off x="0" y="0"/>
              <a:ext cx="9022080" cy="585216"/>
            </a:xfrm>
            <a:custGeom>
              <a:avLst/>
              <a:gdLst/>
              <a:ahLst/>
              <a:cxnLst/>
              <a:rect r="r" b="b" t="t" l="l"/>
              <a:pathLst>
                <a:path h="585216" w="9022080">
                  <a:moveTo>
                    <a:pt x="0" y="0"/>
                  </a:moveTo>
                  <a:lnTo>
                    <a:pt x="9022080" y="0"/>
                  </a:lnTo>
                  <a:lnTo>
                    <a:pt x="9022080" y="585216"/>
                  </a:lnTo>
                  <a:lnTo>
                    <a:pt x="0" y="585216"/>
                  </a:lnTo>
                  <a:close/>
                </a:path>
              </a:pathLst>
            </a:custGeom>
            <a:blipFill>
              <a:blip r:embed="rId3">
                <a:alphaModFix amt="0"/>
              </a:blip>
              <a:stretch>
                <a:fillRect l="0" t="-250394" r="0" b="-250394"/>
              </a:stretch>
            </a:blipFill>
          </p:spPr>
        </p:sp>
        <p:sp>
          <p:nvSpPr>
            <p:cNvPr name="TextBox 54" id="54"/>
            <p:cNvSpPr txBox="true"/>
            <p:nvPr/>
          </p:nvSpPr>
          <p:spPr>
            <a:xfrm>
              <a:off x="0" y="-47625"/>
              <a:ext cx="9022080" cy="632841"/>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LSTM sequence limit</a:t>
              </a:r>
            </a:p>
          </p:txBody>
        </p:sp>
      </p:grpSp>
      <p:grpSp>
        <p:nvGrpSpPr>
          <p:cNvPr name="Group 55" id="55"/>
          <p:cNvGrpSpPr/>
          <p:nvPr/>
        </p:nvGrpSpPr>
        <p:grpSpPr>
          <a:xfrm rot="0">
            <a:off x="1645920" y="6400800"/>
            <a:ext cx="6766560" cy="694944"/>
            <a:chOff x="0" y="0"/>
            <a:chExt cx="9022080" cy="926592"/>
          </a:xfrm>
        </p:grpSpPr>
        <p:sp>
          <p:nvSpPr>
            <p:cNvPr name="Freeform 56" id="56"/>
            <p:cNvSpPr/>
            <p:nvPr/>
          </p:nvSpPr>
          <p:spPr>
            <a:xfrm flipH="false" flipV="false" rot="0">
              <a:off x="0" y="0"/>
              <a:ext cx="9022080" cy="926592"/>
            </a:xfrm>
            <a:custGeom>
              <a:avLst/>
              <a:gdLst/>
              <a:ahLst/>
              <a:cxnLst/>
              <a:rect r="r" b="b" t="t" l="l"/>
              <a:pathLst>
                <a:path h="926592" w="9022080">
                  <a:moveTo>
                    <a:pt x="0" y="0"/>
                  </a:moveTo>
                  <a:lnTo>
                    <a:pt x="9022080" y="0"/>
                  </a:lnTo>
                  <a:lnTo>
                    <a:pt x="9022080" y="926592"/>
                  </a:lnTo>
                  <a:lnTo>
                    <a:pt x="0" y="926592"/>
                  </a:lnTo>
                  <a:close/>
                </a:path>
              </a:pathLst>
            </a:custGeom>
            <a:blipFill>
              <a:blip r:embed="rId3">
                <a:alphaModFix amt="0"/>
              </a:blip>
              <a:stretch>
                <a:fillRect l="0" t="-139722" r="0" b="-139722"/>
              </a:stretch>
            </a:blipFill>
          </p:spPr>
        </p:sp>
        <p:sp>
          <p:nvSpPr>
            <p:cNvPr name="TextBox 57" id="57"/>
            <p:cNvSpPr txBox="true"/>
            <p:nvPr/>
          </p:nvSpPr>
          <p:spPr>
            <a:xfrm>
              <a:off x="0" y="-38100"/>
              <a:ext cx="9022080" cy="96469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LSTM hidden state compresses the whole generation history. Long captions lose earlier context.</a:t>
              </a:r>
            </a:p>
          </p:txBody>
        </p:sp>
      </p:grpSp>
      <p:grpSp>
        <p:nvGrpSpPr>
          <p:cNvPr name="Group 58" id="58"/>
          <p:cNvGrpSpPr/>
          <p:nvPr/>
        </p:nvGrpSpPr>
        <p:grpSpPr>
          <a:xfrm rot="0">
            <a:off x="1048007" y="7211063"/>
            <a:ext cx="464315" cy="464315"/>
            <a:chOff x="0" y="0"/>
            <a:chExt cx="619087" cy="619087"/>
          </a:xfrm>
        </p:grpSpPr>
        <p:sp>
          <p:nvSpPr>
            <p:cNvPr name="Freeform 59" id="59"/>
            <p:cNvSpPr/>
            <p:nvPr/>
          </p:nvSpPr>
          <p:spPr>
            <a:xfrm flipH="false" flipV="false" rot="0">
              <a:off x="16891" y="16891"/>
              <a:ext cx="585216" cy="585216"/>
            </a:xfrm>
            <a:custGeom>
              <a:avLst/>
              <a:gdLst/>
              <a:ahLst/>
              <a:cxnLst/>
              <a:rect r="r" b="b" t="t" l="l"/>
              <a:pathLst>
                <a:path h="585216" w="585216">
                  <a:moveTo>
                    <a:pt x="0" y="0"/>
                  </a:moveTo>
                  <a:lnTo>
                    <a:pt x="585216" y="0"/>
                  </a:lnTo>
                  <a:lnTo>
                    <a:pt x="585216" y="585216"/>
                  </a:lnTo>
                  <a:lnTo>
                    <a:pt x="0" y="585216"/>
                  </a:lnTo>
                  <a:close/>
                </a:path>
              </a:pathLst>
            </a:custGeom>
            <a:solidFill>
              <a:srgbClr val="E05B4B"/>
            </a:solidFill>
          </p:spPr>
        </p:sp>
        <p:sp>
          <p:nvSpPr>
            <p:cNvPr name="Freeform 60" id="60"/>
            <p:cNvSpPr/>
            <p:nvPr/>
          </p:nvSpPr>
          <p:spPr>
            <a:xfrm flipH="false" flipV="false" rot="0">
              <a:off x="0" y="0"/>
              <a:ext cx="618998" cy="619000"/>
            </a:xfrm>
            <a:custGeom>
              <a:avLst/>
              <a:gdLst/>
              <a:ahLst/>
              <a:cxnLst/>
              <a:rect r="r" b="b" t="t" l="l"/>
              <a:pathLst>
                <a:path h="619000" w="618998">
                  <a:moveTo>
                    <a:pt x="16891" y="0"/>
                  </a:moveTo>
                  <a:lnTo>
                    <a:pt x="602107" y="0"/>
                  </a:lnTo>
                  <a:cubicBezTo>
                    <a:pt x="611505" y="0"/>
                    <a:pt x="618998" y="7620"/>
                    <a:pt x="618998" y="16891"/>
                  </a:cubicBezTo>
                  <a:lnTo>
                    <a:pt x="618998" y="602107"/>
                  </a:lnTo>
                  <a:cubicBezTo>
                    <a:pt x="618998" y="611505"/>
                    <a:pt x="611378" y="618998"/>
                    <a:pt x="602107"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602107" y="585216"/>
                  </a:lnTo>
                  <a:lnTo>
                    <a:pt x="602107" y="602107"/>
                  </a:lnTo>
                  <a:lnTo>
                    <a:pt x="585216" y="602107"/>
                  </a:lnTo>
                  <a:lnTo>
                    <a:pt x="585216" y="16891"/>
                  </a:lnTo>
                  <a:lnTo>
                    <a:pt x="602107" y="16891"/>
                  </a:lnTo>
                  <a:lnTo>
                    <a:pt x="602107" y="33909"/>
                  </a:lnTo>
                  <a:lnTo>
                    <a:pt x="16891" y="33909"/>
                  </a:lnTo>
                  <a:close/>
                </a:path>
              </a:pathLst>
            </a:custGeom>
            <a:solidFill>
              <a:srgbClr val="E05B4B"/>
            </a:solidFill>
          </p:spPr>
        </p:sp>
      </p:grpSp>
      <p:grpSp>
        <p:nvGrpSpPr>
          <p:cNvPr name="Group 61" id="61"/>
          <p:cNvGrpSpPr/>
          <p:nvPr/>
        </p:nvGrpSpPr>
        <p:grpSpPr>
          <a:xfrm rot="0">
            <a:off x="1060704" y="7223760"/>
            <a:ext cx="438912" cy="438912"/>
            <a:chOff x="0" y="0"/>
            <a:chExt cx="585216" cy="585216"/>
          </a:xfrm>
        </p:grpSpPr>
        <p:sp>
          <p:nvSpPr>
            <p:cNvPr name="Freeform 62" id="62"/>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63" id="63"/>
            <p:cNvSpPr txBox="true"/>
            <p:nvPr/>
          </p:nvSpPr>
          <p:spPr>
            <a:xfrm>
              <a:off x="0" y="-38100"/>
              <a:ext cx="585216" cy="623316"/>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64" id="64"/>
          <p:cNvGrpSpPr/>
          <p:nvPr/>
        </p:nvGrpSpPr>
        <p:grpSpPr>
          <a:xfrm rot="0">
            <a:off x="1645920" y="7242048"/>
            <a:ext cx="6766560" cy="438912"/>
            <a:chOff x="0" y="0"/>
            <a:chExt cx="9022080" cy="585216"/>
          </a:xfrm>
        </p:grpSpPr>
        <p:sp>
          <p:nvSpPr>
            <p:cNvPr name="Freeform 65" id="65"/>
            <p:cNvSpPr/>
            <p:nvPr/>
          </p:nvSpPr>
          <p:spPr>
            <a:xfrm flipH="false" flipV="false" rot="0">
              <a:off x="0" y="0"/>
              <a:ext cx="9022080" cy="585216"/>
            </a:xfrm>
            <a:custGeom>
              <a:avLst/>
              <a:gdLst/>
              <a:ahLst/>
              <a:cxnLst/>
              <a:rect r="r" b="b" t="t" l="l"/>
              <a:pathLst>
                <a:path h="585216" w="9022080">
                  <a:moveTo>
                    <a:pt x="0" y="0"/>
                  </a:moveTo>
                  <a:lnTo>
                    <a:pt x="9022080" y="0"/>
                  </a:lnTo>
                  <a:lnTo>
                    <a:pt x="9022080" y="585216"/>
                  </a:lnTo>
                  <a:lnTo>
                    <a:pt x="0" y="585216"/>
                  </a:lnTo>
                  <a:close/>
                </a:path>
              </a:pathLst>
            </a:custGeom>
            <a:blipFill>
              <a:blip r:embed="rId3">
                <a:alphaModFix amt="0"/>
              </a:blip>
              <a:stretch>
                <a:fillRect l="0" t="-250394" r="0" b="-250394"/>
              </a:stretch>
            </a:blipFill>
          </p:spPr>
        </p:sp>
        <p:sp>
          <p:nvSpPr>
            <p:cNvPr name="TextBox 66" id="66"/>
            <p:cNvSpPr txBox="true"/>
            <p:nvPr/>
          </p:nvSpPr>
          <p:spPr>
            <a:xfrm>
              <a:off x="0" y="-47625"/>
              <a:ext cx="9022080" cy="632841"/>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Metric-objective mismatch</a:t>
              </a:r>
            </a:p>
          </p:txBody>
        </p:sp>
      </p:grpSp>
      <p:grpSp>
        <p:nvGrpSpPr>
          <p:cNvPr name="Group 67" id="67"/>
          <p:cNvGrpSpPr/>
          <p:nvPr/>
        </p:nvGrpSpPr>
        <p:grpSpPr>
          <a:xfrm rot="0">
            <a:off x="1645920" y="7699248"/>
            <a:ext cx="6766560" cy="694944"/>
            <a:chOff x="0" y="0"/>
            <a:chExt cx="9022080" cy="926592"/>
          </a:xfrm>
        </p:grpSpPr>
        <p:sp>
          <p:nvSpPr>
            <p:cNvPr name="Freeform 68" id="68"/>
            <p:cNvSpPr/>
            <p:nvPr/>
          </p:nvSpPr>
          <p:spPr>
            <a:xfrm flipH="false" flipV="false" rot="0">
              <a:off x="0" y="0"/>
              <a:ext cx="9022080" cy="926592"/>
            </a:xfrm>
            <a:custGeom>
              <a:avLst/>
              <a:gdLst/>
              <a:ahLst/>
              <a:cxnLst/>
              <a:rect r="r" b="b" t="t" l="l"/>
              <a:pathLst>
                <a:path h="926592" w="9022080">
                  <a:moveTo>
                    <a:pt x="0" y="0"/>
                  </a:moveTo>
                  <a:lnTo>
                    <a:pt x="9022080" y="0"/>
                  </a:lnTo>
                  <a:lnTo>
                    <a:pt x="9022080" y="926592"/>
                  </a:lnTo>
                  <a:lnTo>
                    <a:pt x="0" y="926592"/>
                  </a:lnTo>
                  <a:close/>
                </a:path>
              </a:pathLst>
            </a:custGeom>
            <a:blipFill>
              <a:blip r:embed="rId3">
                <a:alphaModFix amt="0"/>
              </a:blip>
              <a:stretch>
                <a:fillRect l="0" t="-139722" r="0" b="-139722"/>
              </a:stretch>
            </a:blipFill>
          </p:spPr>
        </p:sp>
        <p:sp>
          <p:nvSpPr>
            <p:cNvPr name="TextBox 69" id="69"/>
            <p:cNvSpPr txBox="true"/>
            <p:nvPr/>
          </p:nvSpPr>
          <p:spPr>
            <a:xfrm>
              <a:off x="0" y="-38100"/>
              <a:ext cx="9022080" cy="96469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Training minimises SmoothL1 on embeddings; evaluation measures CIDEr/BLEU — these are different objectives.</a:t>
              </a:r>
            </a:p>
          </p:txBody>
        </p:sp>
      </p:grpSp>
      <p:grpSp>
        <p:nvGrpSpPr>
          <p:cNvPr name="Group 70" id="70"/>
          <p:cNvGrpSpPr/>
          <p:nvPr/>
        </p:nvGrpSpPr>
        <p:grpSpPr>
          <a:xfrm rot="0">
            <a:off x="1048007" y="8509511"/>
            <a:ext cx="464315" cy="464315"/>
            <a:chOff x="0" y="0"/>
            <a:chExt cx="619087" cy="619087"/>
          </a:xfrm>
        </p:grpSpPr>
        <p:sp>
          <p:nvSpPr>
            <p:cNvPr name="Freeform 71" id="71"/>
            <p:cNvSpPr/>
            <p:nvPr/>
          </p:nvSpPr>
          <p:spPr>
            <a:xfrm flipH="false" flipV="false" rot="0">
              <a:off x="16891" y="16891"/>
              <a:ext cx="585216" cy="585216"/>
            </a:xfrm>
            <a:custGeom>
              <a:avLst/>
              <a:gdLst/>
              <a:ahLst/>
              <a:cxnLst/>
              <a:rect r="r" b="b" t="t" l="l"/>
              <a:pathLst>
                <a:path h="585216" w="585216">
                  <a:moveTo>
                    <a:pt x="0" y="0"/>
                  </a:moveTo>
                  <a:lnTo>
                    <a:pt x="585216" y="0"/>
                  </a:lnTo>
                  <a:lnTo>
                    <a:pt x="585216" y="585216"/>
                  </a:lnTo>
                  <a:lnTo>
                    <a:pt x="0" y="585216"/>
                  </a:lnTo>
                  <a:close/>
                </a:path>
              </a:pathLst>
            </a:custGeom>
            <a:solidFill>
              <a:srgbClr val="E05B4B"/>
            </a:solidFill>
          </p:spPr>
        </p:sp>
        <p:sp>
          <p:nvSpPr>
            <p:cNvPr name="Freeform 72" id="72"/>
            <p:cNvSpPr/>
            <p:nvPr/>
          </p:nvSpPr>
          <p:spPr>
            <a:xfrm flipH="false" flipV="false" rot="0">
              <a:off x="0" y="0"/>
              <a:ext cx="618998" cy="619000"/>
            </a:xfrm>
            <a:custGeom>
              <a:avLst/>
              <a:gdLst/>
              <a:ahLst/>
              <a:cxnLst/>
              <a:rect r="r" b="b" t="t" l="l"/>
              <a:pathLst>
                <a:path h="619000" w="618998">
                  <a:moveTo>
                    <a:pt x="16891" y="0"/>
                  </a:moveTo>
                  <a:lnTo>
                    <a:pt x="602107" y="0"/>
                  </a:lnTo>
                  <a:cubicBezTo>
                    <a:pt x="611505" y="0"/>
                    <a:pt x="618998" y="7620"/>
                    <a:pt x="618998" y="16891"/>
                  </a:cubicBezTo>
                  <a:lnTo>
                    <a:pt x="618998" y="602107"/>
                  </a:lnTo>
                  <a:cubicBezTo>
                    <a:pt x="618998" y="611505"/>
                    <a:pt x="611378" y="618998"/>
                    <a:pt x="602107" y="618998"/>
                  </a:cubicBezTo>
                  <a:lnTo>
                    <a:pt x="16891" y="618998"/>
                  </a:lnTo>
                  <a:cubicBezTo>
                    <a:pt x="7620" y="619125"/>
                    <a:pt x="0" y="611505"/>
                    <a:pt x="0" y="602107"/>
                  </a:cubicBezTo>
                  <a:lnTo>
                    <a:pt x="0" y="16891"/>
                  </a:lnTo>
                  <a:cubicBezTo>
                    <a:pt x="0" y="7620"/>
                    <a:pt x="7620" y="0"/>
                    <a:pt x="16891" y="0"/>
                  </a:cubicBezTo>
                  <a:moveTo>
                    <a:pt x="16891" y="33909"/>
                  </a:moveTo>
                  <a:lnTo>
                    <a:pt x="16891" y="16891"/>
                  </a:lnTo>
                  <a:lnTo>
                    <a:pt x="33909" y="16891"/>
                  </a:lnTo>
                  <a:lnTo>
                    <a:pt x="33909" y="602107"/>
                  </a:lnTo>
                  <a:lnTo>
                    <a:pt x="16891" y="602107"/>
                  </a:lnTo>
                  <a:lnTo>
                    <a:pt x="16891" y="585216"/>
                  </a:lnTo>
                  <a:lnTo>
                    <a:pt x="602107" y="585216"/>
                  </a:lnTo>
                  <a:lnTo>
                    <a:pt x="602107" y="602107"/>
                  </a:lnTo>
                  <a:lnTo>
                    <a:pt x="585216" y="602107"/>
                  </a:lnTo>
                  <a:lnTo>
                    <a:pt x="585216" y="16891"/>
                  </a:lnTo>
                  <a:lnTo>
                    <a:pt x="602107" y="16891"/>
                  </a:lnTo>
                  <a:lnTo>
                    <a:pt x="602107" y="33909"/>
                  </a:lnTo>
                  <a:lnTo>
                    <a:pt x="16891" y="33909"/>
                  </a:lnTo>
                  <a:close/>
                </a:path>
              </a:pathLst>
            </a:custGeom>
            <a:solidFill>
              <a:srgbClr val="E05B4B"/>
            </a:solidFill>
          </p:spPr>
        </p:sp>
      </p:grpSp>
      <p:grpSp>
        <p:nvGrpSpPr>
          <p:cNvPr name="Group 73" id="73"/>
          <p:cNvGrpSpPr/>
          <p:nvPr/>
        </p:nvGrpSpPr>
        <p:grpSpPr>
          <a:xfrm rot="0">
            <a:off x="1060704" y="8522208"/>
            <a:ext cx="438912" cy="438912"/>
            <a:chOff x="0" y="0"/>
            <a:chExt cx="585216" cy="585216"/>
          </a:xfrm>
        </p:grpSpPr>
        <p:sp>
          <p:nvSpPr>
            <p:cNvPr name="Freeform 74" id="74"/>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3">
                <a:alphaModFix amt="0"/>
              </a:blip>
              <a:stretch>
                <a:fillRect l="-78303" t="0" r="-78303" b="0"/>
              </a:stretch>
            </a:blipFill>
          </p:spPr>
        </p:sp>
        <p:sp>
          <p:nvSpPr>
            <p:cNvPr name="TextBox 75" id="75"/>
            <p:cNvSpPr txBox="true"/>
            <p:nvPr/>
          </p:nvSpPr>
          <p:spPr>
            <a:xfrm>
              <a:off x="0" y="-38100"/>
              <a:ext cx="585216" cy="623316"/>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a:t>
              </a:r>
            </a:p>
          </p:txBody>
        </p:sp>
      </p:grpSp>
      <p:grpSp>
        <p:nvGrpSpPr>
          <p:cNvPr name="Group 76" id="76"/>
          <p:cNvGrpSpPr/>
          <p:nvPr/>
        </p:nvGrpSpPr>
        <p:grpSpPr>
          <a:xfrm rot="0">
            <a:off x="1645920" y="8540496"/>
            <a:ext cx="6766560" cy="438912"/>
            <a:chOff x="0" y="0"/>
            <a:chExt cx="9022080" cy="585216"/>
          </a:xfrm>
        </p:grpSpPr>
        <p:sp>
          <p:nvSpPr>
            <p:cNvPr name="Freeform 77" id="77"/>
            <p:cNvSpPr/>
            <p:nvPr/>
          </p:nvSpPr>
          <p:spPr>
            <a:xfrm flipH="false" flipV="false" rot="0">
              <a:off x="0" y="0"/>
              <a:ext cx="9022080" cy="585216"/>
            </a:xfrm>
            <a:custGeom>
              <a:avLst/>
              <a:gdLst/>
              <a:ahLst/>
              <a:cxnLst/>
              <a:rect r="r" b="b" t="t" l="l"/>
              <a:pathLst>
                <a:path h="585216" w="9022080">
                  <a:moveTo>
                    <a:pt x="0" y="0"/>
                  </a:moveTo>
                  <a:lnTo>
                    <a:pt x="9022080" y="0"/>
                  </a:lnTo>
                  <a:lnTo>
                    <a:pt x="9022080" y="585216"/>
                  </a:lnTo>
                  <a:lnTo>
                    <a:pt x="0" y="585216"/>
                  </a:lnTo>
                  <a:close/>
                </a:path>
              </a:pathLst>
            </a:custGeom>
            <a:blipFill>
              <a:blip r:embed="rId3">
                <a:alphaModFix amt="0"/>
              </a:blip>
              <a:stretch>
                <a:fillRect l="0" t="-250394" r="0" b="-250394"/>
              </a:stretch>
            </a:blipFill>
          </p:spPr>
        </p:sp>
        <p:sp>
          <p:nvSpPr>
            <p:cNvPr name="TextBox 78" id="78"/>
            <p:cNvSpPr txBox="true"/>
            <p:nvPr/>
          </p:nvSpPr>
          <p:spPr>
            <a:xfrm>
              <a:off x="0" y="-47625"/>
              <a:ext cx="9022080" cy="632841"/>
            </a:xfrm>
            <a:prstGeom prst="rect">
              <a:avLst/>
            </a:prstGeom>
          </p:spPr>
          <p:txBody>
            <a:bodyPr anchor="ctr" rtlCol="false" tIns="0" lIns="0" bIns="0" rIns="0"/>
            <a:lstStyle/>
            <a:p>
              <a:pPr algn="l">
                <a:lnSpc>
                  <a:spcPts val="2520"/>
                </a:lnSpc>
              </a:pPr>
              <a:r>
                <a:rPr lang="en-US" sz="2100" b="true">
                  <a:solidFill>
                    <a:srgbClr val="1E293B"/>
                  </a:solidFill>
                  <a:latin typeface="Calibri (MS) Bold"/>
                  <a:ea typeface="Calibri (MS) Bold"/>
                  <a:cs typeface="Calibri (MS) Bold"/>
                  <a:sym typeface="Calibri (MS) Bold"/>
                </a:rPr>
                <a:t>Single-dataset training</a:t>
              </a:r>
            </a:p>
          </p:txBody>
        </p:sp>
      </p:grpSp>
      <p:grpSp>
        <p:nvGrpSpPr>
          <p:cNvPr name="Group 79" id="79"/>
          <p:cNvGrpSpPr/>
          <p:nvPr/>
        </p:nvGrpSpPr>
        <p:grpSpPr>
          <a:xfrm rot="0">
            <a:off x="1645920" y="8997696"/>
            <a:ext cx="6766560" cy="694944"/>
            <a:chOff x="0" y="0"/>
            <a:chExt cx="9022080" cy="926592"/>
          </a:xfrm>
        </p:grpSpPr>
        <p:sp>
          <p:nvSpPr>
            <p:cNvPr name="Freeform 80" id="80"/>
            <p:cNvSpPr/>
            <p:nvPr/>
          </p:nvSpPr>
          <p:spPr>
            <a:xfrm flipH="false" flipV="false" rot="0">
              <a:off x="0" y="0"/>
              <a:ext cx="9022080" cy="926592"/>
            </a:xfrm>
            <a:custGeom>
              <a:avLst/>
              <a:gdLst/>
              <a:ahLst/>
              <a:cxnLst/>
              <a:rect r="r" b="b" t="t" l="l"/>
              <a:pathLst>
                <a:path h="926592" w="9022080">
                  <a:moveTo>
                    <a:pt x="0" y="0"/>
                  </a:moveTo>
                  <a:lnTo>
                    <a:pt x="9022080" y="0"/>
                  </a:lnTo>
                  <a:lnTo>
                    <a:pt x="9022080" y="926592"/>
                  </a:lnTo>
                  <a:lnTo>
                    <a:pt x="0" y="926592"/>
                  </a:lnTo>
                  <a:close/>
                </a:path>
              </a:pathLst>
            </a:custGeom>
            <a:blipFill>
              <a:blip r:embed="rId3">
                <a:alphaModFix amt="0"/>
              </a:blip>
              <a:stretch>
                <a:fillRect l="0" t="-139722" r="0" b="-139722"/>
              </a:stretch>
            </a:blipFill>
          </p:spPr>
        </p:sp>
        <p:sp>
          <p:nvSpPr>
            <p:cNvPr name="TextBox 81" id="81"/>
            <p:cNvSpPr txBox="true"/>
            <p:nvPr/>
          </p:nvSpPr>
          <p:spPr>
            <a:xfrm>
              <a:off x="0" y="-38100"/>
              <a:ext cx="9022080" cy="964692"/>
            </a:xfrm>
            <a:prstGeom prst="rect">
              <a:avLst/>
            </a:prstGeom>
          </p:spPr>
          <p:txBody>
            <a:bodyPr anchor="ctr" rtlCol="false" tIns="0" lIns="0" bIns="0" rIns="0"/>
            <a:lstStyle/>
            <a:p>
              <a:pPr algn="l">
                <a:lnSpc>
                  <a:spcPts val="2160"/>
                </a:lnSpc>
              </a:pPr>
              <a:r>
                <a:rPr lang="en-US" sz="1800">
                  <a:solidFill>
                    <a:srgbClr val="94A3B8"/>
                  </a:solidFill>
                  <a:latin typeface="Calibri (MS)"/>
                  <a:ea typeface="Calibri (MS)"/>
                  <a:cs typeface="Calibri (MS)"/>
                  <a:sym typeface="Calibri (MS)"/>
                </a:rPr>
                <a:t>Each model trained separately on RSICD, UCM, Sydney. Missed opportunity for cross-dataset generalisation.</a:t>
              </a:r>
            </a:p>
          </p:txBody>
        </p:sp>
      </p:grpSp>
      <p:grpSp>
        <p:nvGrpSpPr>
          <p:cNvPr name="Group 82" id="82"/>
          <p:cNvGrpSpPr/>
          <p:nvPr/>
        </p:nvGrpSpPr>
        <p:grpSpPr>
          <a:xfrm rot="0">
            <a:off x="8954767" y="2462527"/>
            <a:ext cx="8608057" cy="7327897"/>
            <a:chOff x="0" y="0"/>
            <a:chExt cx="11477409" cy="9770529"/>
          </a:xfrm>
        </p:grpSpPr>
        <p:sp>
          <p:nvSpPr>
            <p:cNvPr name="Freeform 83" id="83"/>
            <p:cNvSpPr/>
            <p:nvPr/>
          </p:nvSpPr>
          <p:spPr>
            <a:xfrm flipH="false" flipV="false" rot="0">
              <a:off x="8509" y="8509"/>
              <a:ext cx="11460480" cy="9753600"/>
            </a:xfrm>
            <a:custGeom>
              <a:avLst/>
              <a:gdLst/>
              <a:ahLst/>
              <a:cxnLst/>
              <a:rect r="r" b="b" t="t" l="l"/>
              <a:pathLst>
                <a:path h="9753600" w="11460480">
                  <a:moveTo>
                    <a:pt x="0" y="0"/>
                  </a:moveTo>
                  <a:lnTo>
                    <a:pt x="11460480" y="0"/>
                  </a:lnTo>
                  <a:lnTo>
                    <a:pt x="11460480" y="9753600"/>
                  </a:lnTo>
                  <a:lnTo>
                    <a:pt x="0" y="9753600"/>
                  </a:lnTo>
                  <a:close/>
                </a:path>
              </a:pathLst>
            </a:custGeom>
            <a:solidFill>
              <a:srgbClr val="FFFFFF"/>
            </a:solidFill>
          </p:spPr>
        </p:sp>
        <p:sp>
          <p:nvSpPr>
            <p:cNvPr name="Freeform 84" id="84"/>
            <p:cNvSpPr/>
            <p:nvPr/>
          </p:nvSpPr>
          <p:spPr>
            <a:xfrm flipH="false" flipV="false" rot="0">
              <a:off x="0" y="0"/>
              <a:ext cx="11477499" cy="9770618"/>
            </a:xfrm>
            <a:custGeom>
              <a:avLst/>
              <a:gdLst/>
              <a:ahLst/>
              <a:cxnLst/>
              <a:rect r="r" b="b" t="t" l="l"/>
              <a:pathLst>
                <a:path h="9770618" w="11477499">
                  <a:moveTo>
                    <a:pt x="8509" y="0"/>
                  </a:moveTo>
                  <a:lnTo>
                    <a:pt x="11468989" y="0"/>
                  </a:lnTo>
                  <a:cubicBezTo>
                    <a:pt x="11473688" y="0"/>
                    <a:pt x="11477499" y="3810"/>
                    <a:pt x="11477499" y="8509"/>
                  </a:cubicBezTo>
                  <a:lnTo>
                    <a:pt x="11477499" y="9762109"/>
                  </a:lnTo>
                  <a:cubicBezTo>
                    <a:pt x="11477499" y="9766808"/>
                    <a:pt x="11473688" y="9770618"/>
                    <a:pt x="11468989" y="9770618"/>
                  </a:cubicBezTo>
                  <a:lnTo>
                    <a:pt x="8509" y="9770618"/>
                  </a:lnTo>
                  <a:cubicBezTo>
                    <a:pt x="3810" y="9770618"/>
                    <a:pt x="0" y="9766808"/>
                    <a:pt x="0" y="9762109"/>
                  </a:cubicBezTo>
                  <a:lnTo>
                    <a:pt x="0" y="8509"/>
                  </a:lnTo>
                  <a:cubicBezTo>
                    <a:pt x="0" y="3810"/>
                    <a:pt x="3810" y="0"/>
                    <a:pt x="8509" y="0"/>
                  </a:cubicBezTo>
                  <a:moveTo>
                    <a:pt x="8509" y="16891"/>
                  </a:moveTo>
                  <a:lnTo>
                    <a:pt x="8509" y="8509"/>
                  </a:lnTo>
                  <a:lnTo>
                    <a:pt x="17018" y="8509"/>
                  </a:lnTo>
                  <a:lnTo>
                    <a:pt x="17018" y="9762109"/>
                  </a:lnTo>
                  <a:lnTo>
                    <a:pt x="8509" y="9762109"/>
                  </a:lnTo>
                  <a:lnTo>
                    <a:pt x="8509" y="9753600"/>
                  </a:lnTo>
                  <a:lnTo>
                    <a:pt x="11468989" y="9753600"/>
                  </a:lnTo>
                  <a:lnTo>
                    <a:pt x="11468989" y="9762109"/>
                  </a:lnTo>
                  <a:lnTo>
                    <a:pt x="11460480" y="9762109"/>
                  </a:lnTo>
                  <a:lnTo>
                    <a:pt x="11460480" y="8509"/>
                  </a:lnTo>
                  <a:lnTo>
                    <a:pt x="11468989" y="8509"/>
                  </a:lnTo>
                  <a:lnTo>
                    <a:pt x="11468989" y="17018"/>
                  </a:lnTo>
                  <a:lnTo>
                    <a:pt x="8509" y="17018"/>
                  </a:lnTo>
                  <a:close/>
                </a:path>
              </a:pathLst>
            </a:custGeom>
            <a:solidFill>
              <a:srgbClr val="E2E8F0"/>
            </a:solidFill>
          </p:spPr>
        </p:sp>
      </p:grpSp>
      <p:grpSp>
        <p:nvGrpSpPr>
          <p:cNvPr name="Group 85" id="85"/>
          <p:cNvGrpSpPr/>
          <p:nvPr/>
        </p:nvGrpSpPr>
        <p:grpSpPr>
          <a:xfrm rot="0">
            <a:off x="8948423" y="2456183"/>
            <a:ext cx="135131" cy="7340603"/>
            <a:chOff x="0" y="0"/>
            <a:chExt cx="180175" cy="9787471"/>
          </a:xfrm>
        </p:grpSpPr>
        <p:sp>
          <p:nvSpPr>
            <p:cNvPr name="Freeform 86" id="86"/>
            <p:cNvSpPr/>
            <p:nvPr/>
          </p:nvSpPr>
          <p:spPr>
            <a:xfrm flipH="false" flipV="false" rot="0">
              <a:off x="16891" y="16891"/>
              <a:ext cx="146304" cy="9753600"/>
            </a:xfrm>
            <a:custGeom>
              <a:avLst/>
              <a:gdLst/>
              <a:ahLst/>
              <a:cxnLst/>
              <a:rect r="r" b="b" t="t" l="l"/>
              <a:pathLst>
                <a:path h="9753600" w="146304">
                  <a:moveTo>
                    <a:pt x="0" y="0"/>
                  </a:moveTo>
                  <a:lnTo>
                    <a:pt x="146304" y="0"/>
                  </a:lnTo>
                  <a:lnTo>
                    <a:pt x="146304" y="9753600"/>
                  </a:lnTo>
                  <a:lnTo>
                    <a:pt x="0" y="9753600"/>
                  </a:lnTo>
                  <a:close/>
                </a:path>
              </a:pathLst>
            </a:custGeom>
            <a:solidFill>
              <a:srgbClr val="0D9488"/>
            </a:solidFill>
          </p:spPr>
        </p:sp>
        <p:sp>
          <p:nvSpPr>
            <p:cNvPr name="Freeform 87" id="87"/>
            <p:cNvSpPr/>
            <p:nvPr/>
          </p:nvSpPr>
          <p:spPr>
            <a:xfrm flipH="false" flipV="false" rot="0">
              <a:off x="0" y="0"/>
              <a:ext cx="180086" cy="9787382"/>
            </a:xfrm>
            <a:custGeom>
              <a:avLst/>
              <a:gdLst/>
              <a:ahLst/>
              <a:cxnLst/>
              <a:rect r="r" b="b" t="t" l="l"/>
              <a:pathLst>
                <a:path h="9787382" w="180086">
                  <a:moveTo>
                    <a:pt x="16891" y="0"/>
                  </a:moveTo>
                  <a:lnTo>
                    <a:pt x="163195" y="0"/>
                  </a:lnTo>
                  <a:cubicBezTo>
                    <a:pt x="172593" y="0"/>
                    <a:pt x="180086" y="7620"/>
                    <a:pt x="180086" y="16891"/>
                  </a:cubicBezTo>
                  <a:lnTo>
                    <a:pt x="180086" y="9770491"/>
                  </a:lnTo>
                  <a:cubicBezTo>
                    <a:pt x="180086" y="9779889"/>
                    <a:pt x="172466" y="9787382"/>
                    <a:pt x="163195" y="9787382"/>
                  </a:cubicBezTo>
                  <a:lnTo>
                    <a:pt x="16891" y="9787382"/>
                  </a:lnTo>
                  <a:cubicBezTo>
                    <a:pt x="7493" y="9787382"/>
                    <a:pt x="0" y="9779762"/>
                    <a:pt x="0" y="9770491"/>
                  </a:cubicBezTo>
                  <a:lnTo>
                    <a:pt x="0" y="16891"/>
                  </a:lnTo>
                  <a:cubicBezTo>
                    <a:pt x="0" y="7620"/>
                    <a:pt x="7620" y="0"/>
                    <a:pt x="16891" y="0"/>
                  </a:cubicBezTo>
                  <a:moveTo>
                    <a:pt x="16891" y="33909"/>
                  </a:moveTo>
                  <a:lnTo>
                    <a:pt x="16891" y="16891"/>
                  </a:lnTo>
                  <a:lnTo>
                    <a:pt x="33909" y="16891"/>
                  </a:lnTo>
                  <a:lnTo>
                    <a:pt x="33909" y="9770491"/>
                  </a:lnTo>
                  <a:lnTo>
                    <a:pt x="16891" y="9770491"/>
                  </a:lnTo>
                  <a:lnTo>
                    <a:pt x="16891" y="9753600"/>
                  </a:lnTo>
                  <a:lnTo>
                    <a:pt x="163195" y="9753600"/>
                  </a:lnTo>
                  <a:lnTo>
                    <a:pt x="163195" y="9770491"/>
                  </a:lnTo>
                  <a:lnTo>
                    <a:pt x="146304" y="9770491"/>
                  </a:lnTo>
                  <a:lnTo>
                    <a:pt x="146304" y="16891"/>
                  </a:lnTo>
                  <a:lnTo>
                    <a:pt x="163195" y="16891"/>
                  </a:lnTo>
                  <a:lnTo>
                    <a:pt x="163195" y="33909"/>
                  </a:lnTo>
                  <a:lnTo>
                    <a:pt x="16891" y="33909"/>
                  </a:lnTo>
                  <a:close/>
                </a:path>
              </a:pathLst>
            </a:custGeom>
            <a:solidFill>
              <a:srgbClr val="0D9488"/>
            </a:solidFill>
          </p:spPr>
        </p:sp>
      </p:grpSp>
      <p:grpSp>
        <p:nvGrpSpPr>
          <p:cNvPr name="Group 88" id="88"/>
          <p:cNvGrpSpPr/>
          <p:nvPr/>
        </p:nvGrpSpPr>
        <p:grpSpPr>
          <a:xfrm rot="0">
            <a:off x="9290304" y="2560320"/>
            <a:ext cx="8046720" cy="585216"/>
            <a:chOff x="0" y="0"/>
            <a:chExt cx="10728960" cy="780288"/>
          </a:xfrm>
        </p:grpSpPr>
        <p:sp>
          <p:nvSpPr>
            <p:cNvPr name="Freeform 89" id="89"/>
            <p:cNvSpPr/>
            <p:nvPr/>
          </p:nvSpPr>
          <p:spPr>
            <a:xfrm flipH="false" flipV="false" rot="0">
              <a:off x="0" y="0"/>
              <a:ext cx="10728960" cy="780288"/>
            </a:xfrm>
            <a:custGeom>
              <a:avLst/>
              <a:gdLst/>
              <a:ahLst/>
              <a:cxnLst/>
              <a:rect r="r" b="b" t="t" l="l"/>
              <a:pathLst>
                <a:path h="780288" w="10728960">
                  <a:moveTo>
                    <a:pt x="0" y="0"/>
                  </a:moveTo>
                  <a:lnTo>
                    <a:pt x="10728960" y="0"/>
                  </a:lnTo>
                  <a:lnTo>
                    <a:pt x="10728960" y="780288"/>
                  </a:lnTo>
                  <a:lnTo>
                    <a:pt x="0" y="780288"/>
                  </a:lnTo>
                  <a:close/>
                </a:path>
              </a:pathLst>
            </a:custGeom>
            <a:blipFill>
              <a:blip r:embed="rId3">
                <a:alphaModFix amt="0"/>
              </a:blip>
              <a:stretch>
                <a:fillRect l="0" t="-217919" r="0" b="-217919"/>
              </a:stretch>
            </a:blipFill>
          </p:spPr>
        </p:sp>
        <p:sp>
          <p:nvSpPr>
            <p:cNvPr name="TextBox 90" id="90"/>
            <p:cNvSpPr txBox="true"/>
            <p:nvPr/>
          </p:nvSpPr>
          <p:spPr>
            <a:xfrm>
              <a:off x="0" y="-57150"/>
              <a:ext cx="10728960" cy="837438"/>
            </a:xfrm>
            <a:prstGeom prst="rect">
              <a:avLst/>
            </a:prstGeom>
          </p:spPr>
          <p:txBody>
            <a:bodyPr anchor="ctr" rtlCol="false" tIns="0" lIns="0" bIns="0" rIns="0"/>
            <a:lstStyle/>
            <a:p>
              <a:pPr algn="l">
                <a:lnSpc>
                  <a:spcPts val="3120"/>
                </a:lnSpc>
              </a:pPr>
              <a:r>
                <a:rPr lang="en-US" sz="2600" b="true">
                  <a:solidFill>
                    <a:srgbClr val="0D9488"/>
                  </a:solidFill>
                  <a:latin typeface="Calibri (MS) Bold"/>
                  <a:ea typeface="Calibri (MS) Bold"/>
                  <a:cs typeface="Calibri (MS) Bold"/>
                  <a:sym typeface="Calibri (MS) Bold"/>
                </a:rPr>
                <a:t>Enhancement Priority Map</a:t>
              </a:r>
            </a:p>
          </p:txBody>
        </p:sp>
      </p:grpSp>
      <p:grpSp>
        <p:nvGrpSpPr>
          <p:cNvPr name="Group 91" id="91"/>
          <p:cNvGrpSpPr/>
          <p:nvPr/>
        </p:nvGrpSpPr>
        <p:grpSpPr>
          <a:xfrm rot="0">
            <a:off x="9277607" y="3242567"/>
            <a:ext cx="8072123" cy="537467"/>
            <a:chOff x="0" y="0"/>
            <a:chExt cx="10762831" cy="716623"/>
          </a:xfrm>
        </p:grpSpPr>
        <p:sp>
          <p:nvSpPr>
            <p:cNvPr name="Freeform 92" id="92"/>
            <p:cNvSpPr/>
            <p:nvPr/>
          </p:nvSpPr>
          <p:spPr>
            <a:xfrm flipH="false" flipV="false" rot="0">
              <a:off x="16891" y="16891"/>
              <a:ext cx="10728960" cy="682752"/>
            </a:xfrm>
            <a:custGeom>
              <a:avLst/>
              <a:gdLst/>
              <a:ahLst/>
              <a:cxnLst/>
              <a:rect r="r" b="b" t="t" l="l"/>
              <a:pathLst>
                <a:path h="682752" w="10728960">
                  <a:moveTo>
                    <a:pt x="0" y="0"/>
                  </a:moveTo>
                  <a:lnTo>
                    <a:pt x="10728960" y="0"/>
                  </a:lnTo>
                  <a:lnTo>
                    <a:pt x="10728960" y="682752"/>
                  </a:lnTo>
                  <a:lnTo>
                    <a:pt x="0" y="682752"/>
                  </a:lnTo>
                  <a:close/>
                </a:path>
              </a:pathLst>
            </a:custGeom>
            <a:solidFill>
              <a:srgbClr val="0A1628"/>
            </a:solidFill>
          </p:spPr>
        </p:sp>
        <p:sp>
          <p:nvSpPr>
            <p:cNvPr name="Freeform 93" id="93"/>
            <p:cNvSpPr/>
            <p:nvPr/>
          </p:nvSpPr>
          <p:spPr>
            <a:xfrm flipH="false" flipV="false" rot="0">
              <a:off x="0" y="0"/>
              <a:ext cx="10762742" cy="716536"/>
            </a:xfrm>
            <a:custGeom>
              <a:avLst/>
              <a:gdLst/>
              <a:ahLst/>
              <a:cxnLst/>
              <a:rect r="r" b="b" t="t" l="l"/>
              <a:pathLst>
                <a:path h="716536" w="10762742">
                  <a:moveTo>
                    <a:pt x="16891" y="0"/>
                  </a:moveTo>
                  <a:lnTo>
                    <a:pt x="10745851" y="0"/>
                  </a:lnTo>
                  <a:cubicBezTo>
                    <a:pt x="10755249" y="0"/>
                    <a:pt x="10762742" y="7620"/>
                    <a:pt x="10762742" y="16891"/>
                  </a:cubicBezTo>
                  <a:lnTo>
                    <a:pt x="10762742" y="699643"/>
                  </a:lnTo>
                  <a:cubicBezTo>
                    <a:pt x="10762742" y="709041"/>
                    <a:pt x="10755122" y="716534"/>
                    <a:pt x="1074585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10745851" y="682752"/>
                  </a:lnTo>
                  <a:lnTo>
                    <a:pt x="10745851" y="699643"/>
                  </a:lnTo>
                  <a:lnTo>
                    <a:pt x="10728960" y="699643"/>
                  </a:lnTo>
                  <a:lnTo>
                    <a:pt x="10728960" y="16891"/>
                  </a:lnTo>
                  <a:lnTo>
                    <a:pt x="10745851" y="16891"/>
                  </a:lnTo>
                  <a:lnTo>
                    <a:pt x="10745851" y="33909"/>
                  </a:lnTo>
                  <a:lnTo>
                    <a:pt x="16891" y="33909"/>
                  </a:lnTo>
                  <a:close/>
                </a:path>
              </a:pathLst>
            </a:custGeom>
            <a:solidFill>
              <a:srgbClr val="0A1628"/>
            </a:solidFill>
          </p:spPr>
        </p:sp>
      </p:grpSp>
      <p:grpSp>
        <p:nvGrpSpPr>
          <p:cNvPr name="Group 94" id="94"/>
          <p:cNvGrpSpPr/>
          <p:nvPr/>
        </p:nvGrpSpPr>
        <p:grpSpPr>
          <a:xfrm rot="0">
            <a:off x="9326880" y="3255264"/>
            <a:ext cx="3840480" cy="512064"/>
            <a:chOff x="0" y="0"/>
            <a:chExt cx="5120640" cy="682752"/>
          </a:xfrm>
        </p:grpSpPr>
        <p:sp>
          <p:nvSpPr>
            <p:cNvPr name="Freeform 95" id="95"/>
            <p:cNvSpPr/>
            <p:nvPr/>
          </p:nvSpPr>
          <p:spPr>
            <a:xfrm flipH="false" flipV="false" rot="0">
              <a:off x="0" y="0"/>
              <a:ext cx="5120640" cy="682752"/>
            </a:xfrm>
            <a:custGeom>
              <a:avLst/>
              <a:gdLst/>
              <a:ahLst/>
              <a:cxnLst/>
              <a:rect r="r" b="b" t="t" l="l"/>
              <a:pathLst>
                <a:path h="682752" w="5120640">
                  <a:moveTo>
                    <a:pt x="0" y="0"/>
                  </a:moveTo>
                  <a:lnTo>
                    <a:pt x="5120640" y="0"/>
                  </a:lnTo>
                  <a:lnTo>
                    <a:pt x="5120640" y="682752"/>
                  </a:lnTo>
                  <a:lnTo>
                    <a:pt x="0" y="682752"/>
                  </a:lnTo>
                  <a:close/>
                </a:path>
              </a:pathLst>
            </a:custGeom>
            <a:blipFill>
              <a:blip r:embed="rId3">
                <a:alphaModFix amt="0"/>
              </a:blip>
              <a:stretch>
                <a:fillRect l="0" t="-96137" r="0" b="-96137"/>
              </a:stretch>
            </a:blipFill>
          </p:spPr>
        </p:sp>
        <p:sp>
          <p:nvSpPr>
            <p:cNvPr name="TextBox 96" id="96"/>
            <p:cNvSpPr txBox="true"/>
            <p:nvPr/>
          </p:nvSpPr>
          <p:spPr>
            <a:xfrm>
              <a:off x="0" y="-38100"/>
              <a:ext cx="5120640" cy="720852"/>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Enhancement</a:t>
              </a:r>
            </a:p>
          </p:txBody>
        </p:sp>
      </p:grpSp>
      <p:grpSp>
        <p:nvGrpSpPr>
          <p:cNvPr name="Group 97" id="97"/>
          <p:cNvGrpSpPr/>
          <p:nvPr/>
        </p:nvGrpSpPr>
        <p:grpSpPr>
          <a:xfrm rot="0">
            <a:off x="13240512" y="3255264"/>
            <a:ext cx="1280160" cy="512064"/>
            <a:chOff x="0" y="0"/>
            <a:chExt cx="1706880" cy="682752"/>
          </a:xfrm>
        </p:grpSpPr>
        <p:sp>
          <p:nvSpPr>
            <p:cNvPr name="Freeform 98" id="98"/>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3">
                <a:alphaModFix amt="0"/>
              </a:blip>
              <a:stretch>
                <a:fillRect l="-1321" t="0" r="-1321" b="0"/>
              </a:stretch>
            </a:blipFill>
          </p:spPr>
        </p:sp>
        <p:sp>
          <p:nvSpPr>
            <p:cNvPr name="TextBox 99" id="99"/>
            <p:cNvSpPr txBox="true"/>
            <p:nvPr/>
          </p:nvSpPr>
          <p:spPr>
            <a:xfrm>
              <a:off x="0" y="-38100"/>
              <a:ext cx="1706880" cy="720852"/>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Impact</a:t>
              </a:r>
            </a:p>
          </p:txBody>
        </p:sp>
      </p:grpSp>
      <p:grpSp>
        <p:nvGrpSpPr>
          <p:cNvPr name="Group 100" id="100"/>
          <p:cNvGrpSpPr/>
          <p:nvPr/>
        </p:nvGrpSpPr>
        <p:grpSpPr>
          <a:xfrm rot="0">
            <a:off x="14593824" y="3255264"/>
            <a:ext cx="1645920" cy="512064"/>
            <a:chOff x="0" y="0"/>
            <a:chExt cx="2194560" cy="682752"/>
          </a:xfrm>
        </p:grpSpPr>
        <p:sp>
          <p:nvSpPr>
            <p:cNvPr name="Freeform 101" id="101"/>
            <p:cNvSpPr/>
            <p:nvPr/>
          </p:nvSpPr>
          <p:spPr>
            <a:xfrm flipH="false" flipV="false" rot="0">
              <a:off x="0" y="0"/>
              <a:ext cx="2194560" cy="682752"/>
            </a:xfrm>
            <a:custGeom>
              <a:avLst/>
              <a:gdLst/>
              <a:ahLst/>
              <a:cxnLst/>
              <a:rect r="r" b="b" t="t" l="l"/>
              <a:pathLst>
                <a:path h="682752" w="2194560">
                  <a:moveTo>
                    <a:pt x="0" y="0"/>
                  </a:moveTo>
                  <a:lnTo>
                    <a:pt x="2194560" y="0"/>
                  </a:lnTo>
                  <a:lnTo>
                    <a:pt x="2194560" y="682752"/>
                  </a:lnTo>
                  <a:lnTo>
                    <a:pt x="0" y="682752"/>
                  </a:lnTo>
                  <a:close/>
                </a:path>
              </a:pathLst>
            </a:custGeom>
            <a:blipFill>
              <a:blip r:embed="rId3">
                <a:alphaModFix amt="0"/>
              </a:blip>
              <a:stretch>
                <a:fillRect l="0" t="-12630" r="0" b="-12630"/>
              </a:stretch>
            </a:blipFill>
          </p:spPr>
        </p:sp>
        <p:sp>
          <p:nvSpPr>
            <p:cNvPr name="TextBox 102" id="102"/>
            <p:cNvSpPr txBox="true"/>
            <p:nvPr/>
          </p:nvSpPr>
          <p:spPr>
            <a:xfrm>
              <a:off x="0" y="-38100"/>
              <a:ext cx="2194560" cy="720852"/>
            </a:xfrm>
            <a:prstGeom prst="rect">
              <a:avLst/>
            </a:prstGeom>
          </p:spPr>
          <p:txBody>
            <a:bodyPr anchor="ctr" rtlCol="false" tIns="0" lIns="0" bIns="0" rIns="0"/>
            <a:lstStyle/>
            <a:p>
              <a:pPr algn="l">
                <a:lnSpc>
                  <a:spcPts val="2039"/>
                </a:lnSpc>
              </a:pPr>
              <a:r>
                <a:rPr lang="en-US" sz="1700" b="true">
                  <a:solidFill>
                    <a:srgbClr val="FFFFFF"/>
                  </a:solidFill>
                  <a:latin typeface="Calibri (MS) Bold"/>
                  <a:ea typeface="Calibri (MS) Bold"/>
                  <a:cs typeface="Calibri (MS) Bold"/>
                  <a:sym typeface="Calibri (MS) Bold"/>
                </a:rPr>
                <a:t>Effort</a:t>
              </a:r>
            </a:p>
          </p:txBody>
        </p:sp>
      </p:grpSp>
      <p:grpSp>
        <p:nvGrpSpPr>
          <p:cNvPr name="Group 103" id="103"/>
          <p:cNvGrpSpPr/>
          <p:nvPr/>
        </p:nvGrpSpPr>
        <p:grpSpPr>
          <a:xfrm rot="0">
            <a:off x="9286494" y="3836670"/>
            <a:ext cx="8054340" cy="629412"/>
            <a:chOff x="0" y="0"/>
            <a:chExt cx="10739120" cy="839216"/>
          </a:xfrm>
        </p:grpSpPr>
        <p:sp>
          <p:nvSpPr>
            <p:cNvPr name="Freeform 104" id="104"/>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8FAFC"/>
            </a:solidFill>
          </p:spPr>
        </p:sp>
        <p:sp>
          <p:nvSpPr>
            <p:cNvPr name="Freeform 105" id="105"/>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106" id="106"/>
          <p:cNvGrpSpPr/>
          <p:nvPr/>
        </p:nvGrpSpPr>
        <p:grpSpPr>
          <a:xfrm rot="0">
            <a:off x="9277607" y="3827783"/>
            <a:ext cx="116843" cy="647195"/>
            <a:chOff x="0" y="0"/>
            <a:chExt cx="155791" cy="862927"/>
          </a:xfrm>
        </p:grpSpPr>
        <p:sp>
          <p:nvSpPr>
            <p:cNvPr name="Freeform 107" id="107"/>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059669"/>
            </a:solidFill>
          </p:spPr>
        </p:sp>
        <p:sp>
          <p:nvSpPr>
            <p:cNvPr name="Freeform 108" id="108"/>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059669"/>
            </a:solidFill>
          </p:spPr>
        </p:sp>
      </p:grpSp>
      <p:grpSp>
        <p:nvGrpSpPr>
          <p:cNvPr name="Group 109" id="109"/>
          <p:cNvGrpSpPr/>
          <p:nvPr/>
        </p:nvGrpSpPr>
        <p:grpSpPr>
          <a:xfrm rot="0">
            <a:off x="9436608" y="3858768"/>
            <a:ext cx="3694176" cy="585216"/>
            <a:chOff x="0" y="0"/>
            <a:chExt cx="4925568" cy="780288"/>
          </a:xfrm>
        </p:grpSpPr>
        <p:sp>
          <p:nvSpPr>
            <p:cNvPr name="Freeform 110" id="110"/>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111" id="111"/>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SCST Training</a:t>
              </a:r>
            </a:p>
          </p:txBody>
        </p:sp>
      </p:grpSp>
      <p:grpSp>
        <p:nvGrpSpPr>
          <p:cNvPr name="Group 112" id="112"/>
          <p:cNvGrpSpPr/>
          <p:nvPr/>
        </p:nvGrpSpPr>
        <p:grpSpPr>
          <a:xfrm rot="0">
            <a:off x="13191239" y="3937511"/>
            <a:ext cx="1342139" cy="427739"/>
            <a:chOff x="0" y="0"/>
            <a:chExt cx="1789519" cy="570319"/>
          </a:xfrm>
        </p:grpSpPr>
        <p:sp>
          <p:nvSpPr>
            <p:cNvPr name="Freeform 113" id="113"/>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E05B4B"/>
            </a:solidFill>
          </p:spPr>
        </p:sp>
        <p:sp>
          <p:nvSpPr>
            <p:cNvPr name="Freeform 114" id="114"/>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E05B4B"/>
            </a:solidFill>
          </p:spPr>
        </p:sp>
      </p:grpSp>
      <p:grpSp>
        <p:nvGrpSpPr>
          <p:cNvPr name="Group 115" id="115"/>
          <p:cNvGrpSpPr/>
          <p:nvPr/>
        </p:nvGrpSpPr>
        <p:grpSpPr>
          <a:xfrm rot="0">
            <a:off x="13203936" y="3950208"/>
            <a:ext cx="1316736" cy="402336"/>
            <a:chOff x="0" y="0"/>
            <a:chExt cx="1755648" cy="536448"/>
          </a:xfrm>
        </p:grpSpPr>
        <p:sp>
          <p:nvSpPr>
            <p:cNvPr name="Freeform 116" id="116"/>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117" id="117"/>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High</a:t>
              </a:r>
            </a:p>
          </p:txBody>
        </p:sp>
      </p:grpSp>
      <p:grpSp>
        <p:nvGrpSpPr>
          <p:cNvPr name="Group 118" id="118"/>
          <p:cNvGrpSpPr/>
          <p:nvPr/>
        </p:nvGrpSpPr>
        <p:grpSpPr>
          <a:xfrm rot="0">
            <a:off x="14581127" y="3937511"/>
            <a:ext cx="1671323" cy="427739"/>
            <a:chOff x="0" y="0"/>
            <a:chExt cx="2228431" cy="570319"/>
          </a:xfrm>
        </p:grpSpPr>
        <p:sp>
          <p:nvSpPr>
            <p:cNvPr name="Freeform 119" id="119"/>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120" id="120"/>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121" id="121"/>
          <p:cNvGrpSpPr/>
          <p:nvPr/>
        </p:nvGrpSpPr>
        <p:grpSpPr>
          <a:xfrm rot="0">
            <a:off x="14593824" y="3950208"/>
            <a:ext cx="1645920" cy="402336"/>
            <a:chOff x="0" y="0"/>
            <a:chExt cx="2194560" cy="536448"/>
          </a:xfrm>
        </p:grpSpPr>
        <p:sp>
          <p:nvSpPr>
            <p:cNvPr name="Freeform 122" id="122"/>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123" id="123"/>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124" id="124"/>
          <p:cNvGrpSpPr/>
          <p:nvPr/>
        </p:nvGrpSpPr>
        <p:grpSpPr>
          <a:xfrm rot="0">
            <a:off x="9286494" y="4476750"/>
            <a:ext cx="8054340" cy="629412"/>
            <a:chOff x="0" y="0"/>
            <a:chExt cx="10739120" cy="839216"/>
          </a:xfrm>
        </p:grpSpPr>
        <p:sp>
          <p:nvSpPr>
            <p:cNvPr name="Freeform 125" id="125"/>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FFFFF"/>
            </a:solidFill>
          </p:spPr>
        </p:sp>
        <p:sp>
          <p:nvSpPr>
            <p:cNvPr name="Freeform 126" id="126"/>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127" id="127"/>
          <p:cNvGrpSpPr/>
          <p:nvPr/>
        </p:nvGrpSpPr>
        <p:grpSpPr>
          <a:xfrm rot="0">
            <a:off x="9277607" y="4467863"/>
            <a:ext cx="116843" cy="647195"/>
            <a:chOff x="0" y="0"/>
            <a:chExt cx="155791" cy="862927"/>
          </a:xfrm>
        </p:grpSpPr>
        <p:sp>
          <p:nvSpPr>
            <p:cNvPr name="Freeform 128" id="128"/>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0D9488"/>
            </a:solidFill>
          </p:spPr>
        </p:sp>
        <p:sp>
          <p:nvSpPr>
            <p:cNvPr name="Freeform 129" id="129"/>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0D9488"/>
            </a:solidFill>
          </p:spPr>
        </p:sp>
      </p:grpSp>
      <p:grpSp>
        <p:nvGrpSpPr>
          <p:cNvPr name="Group 130" id="130"/>
          <p:cNvGrpSpPr/>
          <p:nvPr/>
        </p:nvGrpSpPr>
        <p:grpSpPr>
          <a:xfrm rot="0">
            <a:off x="9436608" y="4498848"/>
            <a:ext cx="3694176" cy="585216"/>
            <a:chOff x="0" y="0"/>
            <a:chExt cx="4925568" cy="780288"/>
          </a:xfrm>
        </p:grpSpPr>
        <p:sp>
          <p:nvSpPr>
            <p:cNvPr name="Freeform 131" id="131"/>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132" id="132"/>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RS Backbone</a:t>
              </a:r>
            </a:p>
          </p:txBody>
        </p:sp>
      </p:grpSp>
      <p:grpSp>
        <p:nvGrpSpPr>
          <p:cNvPr name="Group 133" id="133"/>
          <p:cNvGrpSpPr/>
          <p:nvPr/>
        </p:nvGrpSpPr>
        <p:grpSpPr>
          <a:xfrm rot="0">
            <a:off x="13191239" y="4577591"/>
            <a:ext cx="1342139" cy="427739"/>
            <a:chOff x="0" y="0"/>
            <a:chExt cx="1789519" cy="570319"/>
          </a:xfrm>
        </p:grpSpPr>
        <p:sp>
          <p:nvSpPr>
            <p:cNvPr name="Freeform 134" id="134"/>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E05B4B"/>
            </a:solidFill>
          </p:spPr>
        </p:sp>
        <p:sp>
          <p:nvSpPr>
            <p:cNvPr name="Freeform 135" id="135"/>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E05B4B"/>
            </a:solidFill>
          </p:spPr>
        </p:sp>
      </p:grpSp>
      <p:grpSp>
        <p:nvGrpSpPr>
          <p:cNvPr name="Group 136" id="136"/>
          <p:cNvGrpSpPr/>
          <p:nvPr/>
        </p:nvGrpSpPr>
        <p:grpSpPr>
          <a:xfrm rot="0">
            <a:off x="13203936" y="4590288"/>
            <a:ext cx="1316736" cy="402336"/>
            <a:chOff x="0" y="0"/>
            <a:chExt cx="1755648" cy="536448"/>
          </a:xfrm>
        </p:grpSpPr>
        <p:sp>
          <p:nvSpPr>
            <p:cNvPr name="Freeform 137" id="137"/>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138" id="138"/>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High</a:t>
              </a:r>
            </a:p>
          </p:txBody>
        </p:sp>
      </p:grpSp>
      <p:grpSp>
        <p:nvGrpSpPr>
          <p:cNvPr name="Group 139" id="139"/>
          <p:cNvGrpSpPr/>
          <p:nvPr/>
        </p:nvGrpSpPr>
        <p:grpSpPr>
          <a:xfrm rot="0">
            <a:off x="14581127" y="4577591"/>
            <a:ext cx="1671323" cy="427739"/>
            <a:chOff x="0" y="0"/>
            <a:chExt cx="2228431" cy="570319"/>
          </a:xfrm>
        </p:grpSpPr>
        <p:sp>
          <p:nvSpPr>
            <p:cNvPr name="Freeform 140" id="140"/>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141" id="141"/>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142" id="142"/>
          <p:cNvGrpSpPr/>
          <p:nvPr/>
        </p:nvGrpSpPr>
        <p:grpSpPr>
          <a:xfrm rot="0">
            <a:off x="14593824" y="4590288"/>
            <a:ext cx="1645920" cy="402336"/>
            <a:chOff x="0" y="0"/>
            <a:chExt cx="2194560" cy="536448"/>
          </a:xfrm>
        </p:grpSpPr>
        <p:sp>
          <p:nvSpPr>
            <p:cNvPr name="Freeform 143" id="143"/>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144" id="144"/>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Medium</a:t>
              </a:r>
            </a:p>
          </p:txBody>
        </p:sp>
      </p:grpSp>
      <p:grpSp>
        <p:nvGrpSpPr>
          <p:cNvPr name="Group 145" id="145"/>
          <p:cNvGrpSpPr/>
          <p:nvPr/>
        </p:nvGrpSpPr>
        <p:grpSpPr>
          <a:xfrm rot="0">
            <a:off x="9286494" y="5116830"/>
            <a:ext cx="8054340" cy="629412"/>
            <a:chOff x="0" y="0"/>
            <a:chExt cx="10739120" cy="839216"/>
          </a:xfrm>
        </p:grpSpPr>
        <p:sp>
          <p:nvSpPr>
            <p:cNvPr name="Freeform 146" id="146"/>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8FAFC"/>
            </a:solidFill>
          </p:spPr>
        </p:sp>
        <p:sp>
          <p:nvSpPr>
            <p:cNvPr name="Freeform 147" id="147"/>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148" id="148"/>
          <p:cNvGrpSpPr/>
          <p:nvPr/>
        </p:nvGrpSpPr>
        <p:grpSpPr>
          <a:xfrm rot="0">
            <a:off x="9277607" y="5107943"/>
            <a:ext cx="116843" cy="647195"/>
            <a:chOff x="0" y="0"/>
            <a:chExt cx="155791" cy="862927"/>
          </a:xfrm>
        </p:grpSpPr>
        <p:sp>
          <p:nvSpPr>
            <p:cNvPr name="Freeform 149" id="149"/>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7C3AED"/>
            </a:solidFill>
          </p:spPr>
        </p:sp>
        <p:sp>
          <p:nvSpPr>
            <p:cNvPr name="Freeform 150" id="150"/>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7C3AED"/>
            </a:solidFill>
          </p:spPr>
        </p:sp>
      </p:grpSp>
      <p:grpSp>
        <p:nvGrpSpPr>
          <p:cNvPr name="Group 151" id="151"/>
          <p:cNvGrpSpPr/>
          <p:nvPr/>
        </p:nvGrpSpPr>
        <p:grpSpPr>
          <a:xfrm rot="0">
            <a:off x="9436608" y="5138928"/>
            <a:ext cx="3694176" cy="585216"/>
            <a:chOff x="0" y="0"/>
            <a:chExt cx="4925568" cy="780288"/>
          </a:xfrm>
        </p:grpSpPr>
        <p:sp>
          <p:nvSpPr>
            <p:cNvPr name="Freeform 152" id="152"/>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153" id="153"/>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Transformer Decoder</a:t>
              </a:r>
            </a:p>
          </p:txBody>
        </p:sp>
      </p:grpSp>
      <p:grpSp>
        <p:nvGrpSpPr>
          <p:cNvPr name="Group 154" id="154"/>
          <p:cNvGrpSpPr/>
          <p:nvPr/>
        </p:nvGrpSpPr>
        <p:grpSpPr>
          <a:xfrm rot="0">
            <a:off x="13191239" y="5217671"/>
            <a:ext cx="1342139" cy="427739"/>
            <a:chOff x="0" y="0"/>
            <a:chExt cx="1789519" cy="570319"/>
          </a:xfrm>
        </p:grpSpPr>
        <p:sp>
          <p:nvSpPr>
            <p:cNvPr name="Freeform 155" id="155"/>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E05B4B"/>
            </a:solidFill>
          </p:spPr>
        </p:sp>
        <p:sp>
          <p:nvSpPr>
            <p:cNvPr name="Freeform 156" id="156"/>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E05B4B"/>
            </a:solidFill>
          </p:spPr>
        </p:sp>
      </p:grpSp>
      <p:grpSp>
        <p:nvGrpSpPr>
          <p:cNvPr name="Group 157" id="157"/>
          <p:cNvGrpSpPr/>
          <p:nvPr/>
        </p:nvGrpSpPr>
        <p:grpSpPr>
          <a:xfrm rot="0">
            <a:off x="13203936" y="5230368"/>
            <a:ext cx="1316736" cy="402336"/>
            <a:chOff x="0" y="0"/>
            <a:chExt cx="1755648" cy="536448"/>
          </a:xfrm>
        </p:grpSpPr>
        <p:sp>
          <p:nvSpPr>
            <p:cNvPr name="Freeform 158" id="158"/>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159" id="159"/>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High</a:t>
              </a:r>
            </a:p>
          </p:txBody>
        </p:sp>
      </p:grpSp>
      <p:grpSp>
        <p:nvGrpSpPr>
          <p:cNvPr name="Group 160" id="160"/>
          <p:cNvGrpSpPr/>
          <p:nvPr/>
        </p:nvGrpSpPr>
        <p:grpSpPr>
          <a:xfrm rot="0">
            <a:off x="14581127" y="5217671"/>
            <a:ext cx="1671323" cy="427739"/>
            <a:chOff x="0" y="0"/>
            <a:chExt cx="2228431" cy="570319"/>
          </a:xfrm>
        </p:grpSpPr>
        <p:sp>
          <p:nvSpPr>
            <p:cNvPr name="Freeform 161" id="161"/>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162" id="162"/>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163" id="163"/>
          <p:cNvGrpSpPr/>
          <p:nvPr/>
        </p:nvGrpSpPr>
        <p:grpSpPr>
          <a:xfrm rot="0">
            <a:off x="14593824" y="5230368"/>
            <a:ext cx="1645920" cy="402336"/>
            <a:chOff x="0" y="0"/>
            <a:chExt cx="2194560" cy="536448"/>
          </a:xfrm>
        </p:grpSpPr>
        <p:sp>
          <p:nvSpPr>
            <p:cNvPr name="Freeform 164" id="164"/>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165" id="165"/>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Medium</a:t>
              </a:r>
            </a:p>
          </p:txBody>
        </p:sp>
      </p:grpSp>
      <p:grpSp>
        <p:nvGrpSpPr>
          <p:cNvPr name="Group 166" id="166"/>
          <p:cNvGrpSpPr/>
          <p:nvPr/>
        </p:nvGrpSpPr>
        <p:grpSpPr>
          <a:xfrm rot="0">
            <a:off x="9286494" y="5756910"/>
            <a:ext cx="8054340" cy="629412"/>
            <a:chOff x="0" y="0"/>
            <a:chExt cx="10739120" cy="839216"/>
          </a:xfrm>
        </p:grpSpPr>
        <p:sp>
          <p:nvSpPr>
            <p:cNvPr name="Freeform 167" id="167"/>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FFFFF"/>
            </a:solidFill>
          </p:spPr>
        </p:sp>
        <p:sp>
          <p:nvSpPr>
            <p:cNvPr name="Freeform 168" id="168"/>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169" id="169"/>
          <p:cNvGrpSpPr/>
          <p:nvPr/>
        </p:nvGrpSpPr>
        <p:grpSpPr>
          <a:xfrm rot="0">
            <a:off x="9277607" y="5748023"/>
            <a:ext cx="116843" cy="647195"/>
            <a:chOff x="0" y="0"/>
            <a:chExt cx="155791" cy="862927"/>
          </a:xfrm>
        </p:grpSpPr>
        <p:sp>
          <p:nvSpPr>
            <p:cNvPr name="Freeform 170" id="170"/>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D97706"/>
            </a:solidFill>
          </p:spPr>
        </p:sp>
        <p:sp>
          <p:nvSpPr>
            <p:cNvPr name="Freeform 171" id="171"/>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D97706"/>
            </a:solidFill>
          </p:spPr>
        </p:sp>
      </p:grpSp>
      <p:grpSp>
        <p:nvGrpSpPr>
          <p:cNvPr name="Group 172" id="172"/>
          <p:cNvGrpSpPr/>
          <p:nvPr/>
        </p:nvGrpSpPr>
        <p:grpSpPr>
          <a:xfrm rot="0">
            <a:off x="9436608" y="5779008"/>
            <a:ext cx="3694176" cy="585216"/>
            <a:chOff x="0" y="0"/>
            <a:chExt cx="4925568" cy="780288"/>
          </a:xfrm>
        </p:grpSpPr>
        <p:sp>
          <p:nvSpPr>
            <p:cNvPr name="Freeform 173" id="173"/>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174" id="174"/>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Relative Pos. Encoding</a:t>
              </a:r>
            </a:p>
          </p:txBody>
        </p:sp>
      </p:grpSp>
      <p:grpSp>
        <p:nvGrpSpPr>
          <p:cNvPr name="Group 175" id="175"/>
          <p:cNvGrpSpPr/>
          <p:nvPr/>
        </p:nvGrpSpPr>
        <p:grpSpPr>
          <a:xfrm rot="0">
            <a:off x="13191239" y="5857751"/>
            <a:ext cx="1342139" cy="427739"/>
            <a:chOff x="0" y="0"/>
            <a:chExt cx="1789519" cy="570319"/>
          </a:xfrm>
        </p:grpSpPr>
        <p:sp>
          <p:nvSpPr>
            <p:cNvPr name="Freeform 176" id="176"/>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177" id="177"/>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178" id="178"/>
          <p:cNvGrpSpPr/>
          <p:nvPr/>
        </p:nvGrpSpPr>
        <p:grpSpPr>
          <a:xfrm rot="0">
            <a:off x="13203936" y="5870448"/>
            <a:ext cx="1316736" cy="402336"/>
            <a:chOff x="0" y="0"/>
            <a:chExt cx="1755648" cy="536448"/>
          </a:xfrm>
        </p:grpSpPr>
        <p:sp>
          <p:nvSpPr>
            <p:cNvPr name="Freeform 179" id="179"/>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180" id="180"/>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181" id="181"/>
          <p:cNvGrpSpPr/>
          <p:nvPr/>
        </p:nvGrpSpPr>
        <p:grpSpPr>
          <a:xfrm rot="0">
            <a:off x="14581127" y="5857751"/>
            <a:ext cx="1671323" cy="427739"/>
            <a:chOff x="0" y="0"/>
            <a:chExt cx="2228431" cy="570319"/>
          </a:xfrm>
        </p:grpSpPr>
        <p:sp>
          <p:nvSpPr>
            <p:cNvPr name="Freeform 182" id="182"/>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183" id="183"/>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184" id="184"/>
          <p:cNvGrpSpPr/>
          <p:nvPr/>
        </p:nvGrpSpPr>
        <p:grpSpPr>
          <a:xfrm rot="0">
            <a:off x="14593824" y="5870448"/>
            <a:ext cx="1645920" cy="402336"/>
            <a:chOff x="0" y="0"/>
            <a:chExt cx="2194560" cy="536448"/>
          </a:xfrm>
        </p:grpSpPr>
        <p:sp>
          <p:nvSpPr>
            <p:cNvPr name="Freeform 185" id="185"/>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186" id="186"/>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187" id="187"/>
          <p:cNvGrpSpPr/>
          <p:nvPr/>
        </p:nvGrpSpPr>
        <p:grpSpPr>
          <a:xfrm rot="0">
            <a:off x="9286494" y="6396990"/>
            <a:ext cx="8054340" cy="629412"/>
            <a:chOff x="0" y="0"/>
            <a:chExt cx="10739120" cy="839216"/>
          </a:xfrm>
        </p:grpSpPr>
        <p:sp>
          <p:nvSpPr>
            <p:cNvPr name="Freeform 188" id="188"/>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8FAFC"/>
            </a:solidFill>
          </p:spPr>
        </p:sp>
        <p:sp>
          <p:nvSpPr>
            <p:cNvPr name="Freeform 189" id="189"/>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190" id="190"/>
          <p:cNvGrpSpPr/>
          <p:nvPr/>
        </p:nvGrpSpPr>
        <p:grpSpPr>
          <a:xfrm rot="0">
            <a:off x="9277607" y="6388103"/>
            <a:ext cx="116843" cy="647195"/>
            <a:chOff x="0" y="0"/>
            <a:chExt cx="155791" cy="862927"/>
          </a:xfrm>
        </p:grpSpPr>
        <p:sp>
          <p:nvSpPr>
            <p:cNvPr name="Freeform 191" id="191"/>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0D9488"/>
            </a:solidFill>
          </p:spPr>
        </p:sp>
        <p:sp>
          <p:nvSpPr>
            <p:cNvPr name="Freeform 192" id="192"/>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0D9488"/>
            </a:solidFill>
          </p:spPr>
        </p:sp>
      </p:grpSp>
      <p:grpSp>
        <p:nvGrpSpPr>
          <p:cNvPr name="Group 193" id="193"/>
          <p:cNvGrpSpPr/>
          <p:nvPr/>
        </p:nvGrpSpPr>
        <p:grpSpPr>
          <a:xfrm rot="0">
            <a:off x="9436608" y="6419088"/>
            <a:ext cx="3694176" cy="585216"/>
            <a:chOff x="0" y="0"/>
            <a:chExt cx="4925568" cy="780288"/>
          </a:xfrm>
        </p:grpSpPr>
        <p:sp>
          <p:nvSpPr>
            <p:cNvPr name="Freeform 194" id="194"/>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195" id="195"/>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CBAM in AMFF</a:t>
              </a:r>
            </a:p>
          </p:txBody>
        </p:sp>
      </p:grpSp>
      <p:grpSp>
        <p:nvGrpSpPr>
          <p:cNvPr name="Group 196" id="196"/>
          <p:cNvGrpSpPr/>
          <p:nvPr/>
        </p:nvGrpSpPr>
        <p:grpSpPr>
          <a:xfrm rot="0">
            <a:off x="13191239" y="6497831"/>
            <a:ext cx="1342139" cy="427739"/>
            <a:chOff x="0" y="0"/>
            <a:chExt cx="1789519" cy="570319"/>
          </a:xfrm>
        </p:grpSpPr>
        <p:sp>
          <p:nvSpPr>
            <p:cNvPr name="Freeform 197" id="197"/>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198" id="198"/>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199" id="199"/>
          <p:cNvGrpSpPr/>
          <p:nvPr/>
        </p:nvGrpSpPr>
        <p:grpSpPr>
          <a:xfrm rot="0">
            <a:off x="13203936" y="6510528"/>
            <a:ext cx="1316736" cy="402336"/>
            <a:chOff x="0" y="0"/>
            <a:chExt cx="1755648" cy="536448"/>
          </a:xfrm>
        </p:grpSpPr>
        <p:sp>
          <p:nvSpPr>
            <p:cNvPr name="Freeform 200" id="200"/>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201" id="201"/>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202" id="202"/>
          <p:cNvGrpSpPr/>
          <p:nvPr/>
        </p:nvGrpSpPr>
        <p:grpSpPr>
          <a:xfrm rot="0">
            <a:off x="14581127" y="6497831"/>
            <a:ext cx="1671323" cy="427739"/>
            <a:chOff x="0" y="0"/>
            <a:chExt cx="2228431" cy="570319"/>
          </a:xfrm>
        </p:grpSpPr>
        <p:sp>
          <p:nvSpPr>
            <p:cNvPr name="Freeform 203" id="203"/>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204" id="204"/>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205" id="205"/>
          <p:cNvGrpSpPr/>
          <p:nvPr/>
        </p:nvGrpSpPr>
        <p:grpSpPr>
          <a:xfrm rot="0">
            <a:off x="14593824" y="6510528"/>
            <a:ext cx="1645920" cy="402336"/>
            <a:chOff x="0" y="0"/>
            <a:chExt cx="2194560" cy="536448"/>
          </a:xfrm>
        </p:grpSpPr>
        <p:sp>
          <p:nvSpPr>
            <p:cNvPr name="Freeform 206" id="206"/>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207" id="207"/>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208" id="208"/>
          <p:cNvGrpSpPr/>
          <p:nvPr/>
        </p:nvGrpSpPr>
        <p:grpSpPr>
          <a:xfrm rot="0">
            <a:off x="9286494" y="7037070"/>
            <a:ext cx="8054340" cy="629412"/>
            <a:chOff x="0" y="0"/>
            <a:chExt cx="10739120" cy="839216"/>
          </a:xfrm>
        </p:grpSpPr>
        <p:sp>
          <p:nvSpPr>
            <p:cNvPr name="Freeform 209" id="209"/>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FFFFF"/>
            </a:solidFill>
          </p:spPr>
        </p:sp>
        <p:sp>
          <p:nvSpPr>
            <p:cNvPr name="Freeform 210" id="210"/>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211" id="211"/>
          <p:cNvGrpSpPr/>
          <p:nvPr/>
        </p:nvGrpSpPr>
        <p:grpSpPr>
          <a:xfrm rot="0">
            <a:off x="9277607" y="7028183"/>
            <a:ext cx="116843" cy="647195"/>
            <a:chOff x="0" y="0"/>
            <a:chExt cx="155791" cy="862927"/>
          </a:xfrm>
        </p:grpSpPr>
        <p:sp>
          <p:nvSpPr>
            <p:cNvPr name="Freeform 212" id="212"/>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E05B4B"/>
            </a:solidFill>
          </p:spPr>
        </p:sp>
        <p:sp>
          <p:nvSpPr>
            <p:cNvPr name="Freeform 213" id="213"/>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E05B4B"/>
            </a:solidFill>
          </p:spPr>
        </p:sp>
      </p:grpSp>
      <p:grpSp>
        <p:nvGrpSpPr>
          <p:cNvPr name="Group 214" id="214"/>
          <p:cNvGrpSpPr/>
          <p:nvPr/>
        </p:nvGrpSpPr>
        <p:grpSpPr>
          <a:xfrm rot="0">
            <a:off x="9436608" y="7059168"/>
            <a:ext cx="3694176" cy="585216"/>
            <a:chOff x="0" y="0"/>
            <a:chExt cx="4925568" cy="780288"/>
          </a:xfrm>
        </p:grpSpPr>
        <p:sp>
          <p:nvSpPr>
            <p:cNvPr name="Freeform 215" id="215"/>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216" id="216"/>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Graph Neural Network</a:t>
              </a:r>
            </a:p>
          </p:txBody>
        </p:sp>
      </p:grpSp>
      <p:grpSp>
        <p:nvGrpSpPr>
          <p:cNvPr name="Group 217" id="217"/>
          <p:cNvGrpSpPr/>
          <p:nvPr/>
        </p:nvGrpSpPr>
        <p:grpSpPr>
          <a:xfrm rot="0">
            <a:off x="13191239" y="7137911"/>
            <a:ext cx="1342139" cy="427739"/>
            <a:chOff x="0" y="0"/>
            <a:chExt cx="1789519" cy="570319"/>
          </a:xfrm>
        </p:grpSpPr>
        <p:sp>
          <p:nvSpPr>
            <p:cNvPr name="Freeform 218" id="218"/>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219" id="219"/>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220" id="220"/>
          <p:cNvGrpSpPr/>
          <p:nvPr/>
        </p:nvGrpSpPr>
        <p:grpSpPr>
          <a:xfrm rot="0">
            <a:off x="13203936" y="7150608"/>
            <a:ext cx="1316736" cy="402336"/>
            <a:chOff x="0" y="0"/>
            <a:chExt cx="1755648" cy="536448"/>
          </a:xfrm>
        </p:grpSpPr>
        <p:sp>
          <p:nvSpPr>
            <p:cNvPr name="Freeform 221" id="221"/>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222" id="222"/>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223" id="223"/>
          <p:cNvGrpSpPr/>
          <p:nvPr/>
        </p:nvGrpSpPr>
        <p:grpSpPr>
          <a:xfrm rot="0">
            <a:off x="14581127" y="7137911"/>
            <a:ext cx="1671323" cy="427739"/>
            <a:chOff x="0" y="0"/>
            <a:chExt cx="2228431" cy="570319"/>
          </a:xfrm>
        </p:grpSpPr>
        <p:sp>
          <p:nvSpPr>
            <p:cNvPr name="Freeform 224" id="224"/>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225" id="225"/>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226" id="226"/>
          <p:cNvGrpSpPr/>
          <p:nvPr/>
        </p:nvGrpSpPr>
        <p:grpSpPr>
          <a:xfrm rot="0">
            <a:off x="14593824" y="7150608"/>
            <a:ext cx="1645920" cy="402336"/>
            <a:chOff x="0" y="0"/>
            <a:chExt cx="2194560" cy="536448"/>
          </a:xfrm>
        </p:grpSpPr>
        <p:sp>
          <p:nvSpPr>
            <p:cNvPr name="Freeform 227" id="227"/>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228" id="228"/>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High</a:t>
              </a:r>
            </a:p>
          </p:txBody>
        </p:sp>
      </p:grpSp>
      <p:grpSp>
        <p:nvGrpSpPr>
          <p:cNvPr name="Group 229" id="229"/>
          <p:cNvGrpSpPr/>
          <p:nvPr/>
        </p:nvGrpSpPr>
        <p:grpSpPr>
          <a:xfrm rot="0">
            <a:off x="9286494" y="7677150"/>
            <a:ext cx="8054340" cy="629412"/>
            <a:chOff x="0" y="0"/>
            <a:chExt cx="10739120" cy="839216"/>
          </a:xfrm>
        </p:grpSpPr>
        <p:sp>
          <p:nvSpPr>
            <p:cNvPr name="Freeform 230" id="230"/>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8FAFC"/>
            </a:solidFill>
          </p:spPr>
        </p:sp>
        <p:sp>
          <p:nvSpPr>
            <p:cNvPr name="Freeform 231" id="231"/>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232" id="232"/>
          <p:cNvGrpSpPr/>
          <p:nvPr/>
        </p:nvGrpSpPr>
        <p:grpSpPr>
          <a:xfrm rot="0">
            <a:off x="9277607" y="7668263"/>
            <a:ext cx="116843" cy="647195"/>
            <a:chOff x="0" y="0"/>
            <a:chExt cx="155791" cy="862927"/>
          </a:xfrm>
        </p:grpSpPr>
        <p:sp>
          <p:nvSpPr>
            <p:cNvPr name="Freeform 233" id="233"/>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059669"/>
            </a:solidFill>
          </p:spPr>
        </p:sp>
        <p:sp>
          <p:nvSpPr>
            <p:cNvPr name="Freeform 234" id="234"/>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059669"/>
            </a:solidFill>
          </p:spPr>
        </p:sp>
      </p:grpSp>
      <p:grpSp>
        <p:nvGrpSpPr>
          <p:cNvPr name="Group 235" id="235"/>
          <p:cNvGrpSpPr/>
          <p:nvPr/>
        </p:nvGrpSpPr>
        <p:grpSpPr>
          <a:xfrm rot="0">
            <a:off x="9436608" y="7699248"/>
            <a:ext cx="3694176" cy="585216"/>
            <a:chOff x="0" y="0"/>
            <a:chExt cx="4925568" cy="780288"/>
          </a:xfrm>
        </p:grpSpPr>
        <p:sp>
          <p:nvSpPr>
            <p:cNvPr name="Freeform 236" id="236"/>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237" id="237"/>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CLIP Re-ranking</a:t>
              </a:r>
            </a:p>
          </p:txBody>
        </p:sp>
      </p:grpSp>
      <p:grpSp>
        <p:nvGrpSpPr>
          <p:cNvPr name="Group 238" id="238"/>
          <p:cNvGrpSpPr/>
          <p:nvPr/>
        </p:nvGrpSpPr>
        <p:grpSpPr>
          <a:xfrm rot="0">
            <a:off x="13191239" y="7777991"/>
            <a:ext cx="1342139" cy="427739"/>
            <a:chOff x="0" y="0"/>
            <a:chExt cx="1789519" cy="570319"/>
          </a:xfrm>
        </p:grpSpPr>
        <p:sp>
          <p:nvSpPr>
            <p:cNvPr name="Freeform 239" id="239"/>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240" id="240"/>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241" id="241"/>
          <p:cNvGrpSpPr/>
          <p:nvPr/>
        </p:nvGrpSpPr>
        <p:grpSpPr>
          <a:xfrm rot="0">
            <a:off x="13203936" y="7790688"/>
            <a:ext cx="1316736" cy="402336"/>
            <a:chOff x="0" y="0"/>
            <a:chExt cx="1755648" cy="536448"/>
          </a:xfrm>
        </p:grpSpPr>
        <p:sp>
          <p:nvSpPr>
            <p:cNvPr name="Freeform 242" id="242"/>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243" id="243"/>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244" id="244"/>
          <p:cNvGrpSpPr/>
          <p:nvPr/>
        </p:nvGrpSpPr>
        <p:grpSpPr>
          <a:xfrm rot="0">
            <a:off x="14581127" y="7777991"/>
            <a:ext cx="1671323" cy="427739"/>
            <a:chOff x="0" y="0"/>
            <a:chExt cx="2228431" cy="570319"/>
          </a:xfrm>
        </p:grpSpPr>
        <p:sp>
          <p:nvSpPr>
            <p:cNvPr name="Freeform 245" id="245"/>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246" id="246"/>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247" id="247"/>
          <p:cNvGrpSpPr/>
          <p:nvPr/>
        </p:nvGrpSpPr>
        <p:grpSpPr>
          <a:xfrm rot="0">
            <a:off x="14593824" y="7790688"/>
            <a:ext cx="1645920" cy="402336"/>
            <a:chOff x="0" y="0"/>
            <a:chExt cx="2194560" cy="536448"/>
          </a:xfrm>
        </p:grpSpPr>
        <p:sp>
          <p:nvSpPr>
            <p:cNvPr name="Freeform 248" id="248"/>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249" id="249"/>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250" id="250"/>
          <p:cNvGrpSpPr/>
          <p:nvPr/>
        </p:nvGrpSpPr>
        <p:grpSpPr>
          <a:xfrm rot="0">
            <a:off x="9286494" y="8317230"/>
            <a:ext cx="8054340" cy="629412"/>
            <a:chOff x="0" y="0"/>
            <a:chExt cx="10739120" cy="839216"/>
          </a:xfrm>
        </p:grpSpPr>
        <p:sp>
          <p:nvSpPr>
            <p:cNvPr name="Freeform 251" id="251"/>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FFFFF"/>
            </a:solidFill>
          </p:spPr>
        </p:sp>
        <p:sp>
          <p:nvSpPr>
            <p:cNvPr name="Freeform 252" id="252"/>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253" id="253"/>
          <p:cNvGrpSpPr/>
          <p:nvPr/>
        </p:nvGrpSpPr>
        <p:grpSpPr>
          <a:xfrm rot="0">
            <a:off x="9277607" y="8308343"/>
            <a:ext cx="116843" cy="647195"/>
            <a:chOff x="0" y="0"/>
            <a:chExt cx="155791" cy="862927"/>
          </a:xfrm>
        </p:grpSpPr>
        <p:sp>
          <p:nvSpPr>
            <p:cNvPr name="Freeform 254" id="254"/>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7C3AED"/>
            </a:solidFill>
          </p:spPr>
        </p:sp>
        <p:sp>
          <p:nvSpPr>
            <p:cNvPr name="Freeform 255" id="255"/>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7C3AED"/>
            </a:solidFill>
          </p:spPr>
        </p:sp>
      </p:grpSp>
      <p:grpSp>
        <p:nvGrpSpPr>
          <p:cNvPr name="Group 256" id="256"/>
          <p:cNvGrpSpPr/>
          <p:nvPr/>
        </p:nvGrpSpPr>
        <p:grpSpPr>
          <a:xfrm rot="0">
            <a:off x="9436608" y="8339328"/>
            <a:ext cx="3694176" cy="585216"/>
            <a:chOff x="0" y="0"/>
            <a:chExt cx="4925568" cy="780288"/>
          </a:xfrm>
        </p:grpSpPr>
        <p:sp>
          <p:nvSpPr>
            <p:cNvPr name="Freeform 257" id="257"/>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258" id="258"/>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Contrastive Alignment</a:t>
              </a:r>
            </a:p>
          </p:txBody>
        </p:sp>
      </p:grpSp>
      <p:grpSp>
        <p:nvGrpSpPr>
          <p:cNvPr name="Group 259" id="259"/>
          <p:cNvGrpSpPr/>
          <p:nvPr/>
        </p:nvGrpSpPr>
        <p:grpSpPr>
          <a:xfrm rot="0">
            <a:off x="13191239" y="8418071"/>
            <a:ext cx="1342139" cy="427739"/>
            <a:chOff x="0" y="0"/>
            <a:chExt cx="1789519" cy="570319"/>
          </a:xfrm>
        </p:grpSpPr>
        <p:sp>
          <p:nvSpPr>
            <p:cNvPr name="Freeform 260" id="260"/>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261" id="261"/>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262" id="262"/>
          <p:cNvGrpSpPr/>
          <p:nvPr/>
        </p:nvGrpSpPr>
        <p:grpSpPr>
          <a:xfrm rot="0">
            <a:off x="13203936" y="8430768"/>
            <a:ext cx="1316736" cy="402336"/>
            <a:chOff x="0" y="0"/>
            <a:chExt cx="1755648" cy="536448"/>
          </a:xfrm>
        </p:grpSpPr>
        <p:sp>
          <p:nvSpPr>
            <p:cNvPr name="Freeform 263" id="263"/>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264" id="264"/>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265" id="265"/>
          <p:cNvGrpSpPr/>
          <p:nvPr/>
        </p:nvGrpSpPr>
        <p:grpSpPr>
          <a:xfrm rot="0">
            <a:off x="14581127" y="8418071"/>
            <a:ext cx="1671323" cy="427739"/>
            <a:chOff x="0" y="0"/>
            <a:chExt cx="2228431" cy="570319"/>
          </a:xfrm>
        </p:grpSpPr>
        <p:sp>
          <p:nvSpPr>
            <p:cNvPr name="Freeform 266" id="266"/>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267" id="267"/>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268" id="268"/>
          <p:cNvGrpSpPr/>
          <p:nvPr/>
        </p:nvGrpSpPr>
        <p:grpSpPr>
          <a:xfrm rot="0">
            <a:off x="14593824" y="8430768"/>
            <a:ext cx="1645920" cy="402336"/>
            <a:chOff x="0" y="0"/>
            <a:chExt cx="2194560" cy="536448"/>
          </a:xfrm>
        </p:grpSpPr>
        <p:sp>
          <p:nvSpPr>
            <p:cNvPr name="Freeform 269" id="269"/>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270" id="270"/>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Medium</a:t>
              </a:r>
            </a:p>
          </p:txBody>
        </p:sp>
      </p:grpSp>
      <p:grpSp>
        <p:nvGrpSpPr>
          <p:cNvPr name="Group 271" id="271"/>
          <p:cNvGrpSpPr/>
          <p:nvPr/>
        </p:nvGrpSpPr>
        <p:grpSpPr>
          <a:xfrm rot="0">
            <a:off x="9286494" y="8957310"/>
            <a:ext cx="8054340" cy="629412"/>
            <a:chOff x="0" y="0"/>
            <a:chExt cx="10739120" cy="839216"/>
          </a:xfrm>
        </p:grpSpPr>
        <p:sp>
          <p:nvSpPr>
            <p:cNvPr name="Freeform 272" id="272"/>
            <p:cNvSpPr/>
            <p:nvPr/>
          </p:nvSpPr>
          <p:spPr>
            <a:xfrm flipH="false" flipV="false" rot="0">
              <a:off x="5080" y="5080"/>
              <a:ext cx="10728960" cy="829056"/>
            </a:xfrm>
            <a:custGeom>
              <a:avLst/>
              <a:gdLst/>
              <a:ahLst/>
              <a:cxnLst/>
              <a:rect r="r" b="b" t="t" l="l"/>
              <a:pathLst>
                <a:path h="829056" w="10728960">
                  <a:moveTo>
                    <a:pt x="0" y="0"/>
                  </a:moveTo>
                  <a:lnTo>
                    <a:pt x="10728960" y="0"/>
                  </a:lnTo>
                  <a:lnTo>
                    <a:pt x="10728960" y="829056"/>
                  </a:lnTo>
                  <a:lnTo>
                    <a:pt x="0" y="829056"/>
                  </a:lnTo>
                  <a:close/>
                </a:path>
              </a:pathLst>
            </a:custGeom>
            <a:solidFill>
              <a:srgbClr val="F8FAFC"/>
            </a:solidFill>
          </p:spPr>
        </p:sp>
        <p:sp>
          <p:nvSpPr>
            <p:cNvPr name="Freeform 273" id="273"/>
            <p:cNvSpPr/>
            <p:nvPr/>
          </p:nvSpPr>
          <p:spPr>
            <a:xfrm flipH="false" flipV="false" rot="0">
              <a:off x="0" y="0"/>
              <a:ext cx="10739120" cy="839216"/>
            </a:xfrm>
            <a:custGeom>
              <a:avLst/>
              <a:gdLst/>
              <a:ahLst/>
              <a:cxnLst/>
              <a:rect r="r" b="b" t="t" l="l"/>
              <a:pathLst>
                <a:path h="839216" w="10739120">
                  <a:moveTo>
                    <a:pt x="5080" y="0"/>
                  </a:moveTo>
                  <a:lnTo>
                    <a:pt x="10734040" y="0"/>
                  </a:lnTo>
                  <a:cubicBezTo>
                    <a:pt x="10736834" y="0"/>
                    <a:pt x="10739120" y="2286"/>
                    <a:pt x="10739120" y="5080"/>
                  </a:cubicBezTo>
                  <a:lnTo>
                    <a:pt x="10739120" y="834136"/>
                  </a:lnTo>
                  <a:cubicBezTo>
                    <a:pt x="10739120" y="836930"/>
                    <a:pt x="10736834" y="839216"/>
                    <a:pt x="10734040" y="839216"/>
                  </a:cubicBezTo>
                  <a:lnTo>
                    <a:pt x="5080" y="839216"/>
                  </a:lnTo>
                  <a:cubicBezTo>
                    <a:pt x="2286" y="839216"/>
                    <a:pt x="0" y="836930"/>
                    <a:pt x="0" y="834136"/>
                  </a:cubicBezTo>
                  <a:lnTo>
                    <a:pt x="0" y="5080"/>
                  </a:lnTo>
                  <a:cubicBezTo>
                    <a:pt x="0" y="2286"/>
                    <a:pt x="2286" y="0"/>
                    <a:pt x="5080" y="0"/>
                  </a:cubicBezTo>
                  <a:moveTo>
                    <a:pt x="5080" y="10160"/>
                  </a:moveTo>
                  <a:lnTo>
                    <a:pt x="5080" y="5080"/>
                  </a:lnTo>
                  <a:lnTo>
                    <a:pt x="10160" y="5080"/>
                  </a:lnTo>
                  <a:lnTo>
                    <a:pt x="10160" y="834136"/>
                  </a:lnTo>
                  <a:lnTo>
                    <a:pt x="5080" y="834136"/>
                  </a:lnTo>
                  <a:lnTo>
                    <a:pt x="5080" y="829056"/>
                  </a:lnTo>
                  <a:lnTo>
                    <a:pt x="10734040" y="829056"/>
                  </a:lnTo>
                  <a:lnTo>
                    <a:pt x="10734040" y="834136"/>
                  </a:lnTo>
                  <a:lnTo>
                    <a:pt x="10728960" y="834136"/>
                  </a:lnTo>
                  <a:lnTo>
                    <a:pt x="10728960" y="5080"/>
                  </a:lnTo>
                  <a:lnTo>
                    <a:pt x="10734040" y="5080"/>
                  </a:lnTo>
                  <a:lnTo>
                    <a:pt x="10734040" y="10160"/>
                  </a:lnTo>
                  <a:lnTo>
                    <a:pt x="5080" y="10160"/>
                  </a:lnTo>
                  <a:close/>
                </a:path>
              </a:pathLst>
            </a:custGeom>
            <a:solidFill>
              <a:srgbClr val="E2E8F0"/>
            </a:solidFill>
          </p:spPr>
        </p:sp>
      </p:grpSp>
      <p:grpSp>
        <p:nvGrpSpPr>
          <p:cNvPr name="Group 274" id="274"/>
          <p:cNvGrpSpPr/>
          <p:nvPr/>
        </p:nvGrpSpPr>
        <p:grpSpPr>
          <a:xfrm rot="0">
            <a:off x="9277607" y="8948423"/>
            <a:ext cx="116843" cy="647195"/>
            <a:chOff x="0" y="0"/>
            <a:chExt cx="155791" cy="862927"/>
          </a:xfrm>
        </p:grpSpPr>
        <p:sp>
          <p:nvSpPr>
            <p:cNvPr name="Freeform 275" id="275"/>
            <p:cNvSpPr/>
            <p:nvPr/>
          </p:nvSpPr>
          <p:spPr>
            <a:xfrm flipH="false" flipV="false" rot="0">
              <a:off x="16891" y="16891"/>
              <a:ext cx="121920" cy="829056"/>
            </a:xfrm>
            <a:custGeom>
              <a:avLst/>
              <a:gdLst/>
              <a:ahLst/>
              <a:cxnLst/>
              <a:rect r="r" b="b" t="t" l="l"/>
              <a:pathLst>
                <a:path h="829056" w="121920">
                  <a:moveTo>
                    <a:pt x="0" y="0"/>
                  </a:moveTo>
                  <a:lnTo>
                    <a:pt x="121920" y="0"/>
                  </a:lnTo>
                  <a:lnTo>
                    <a:pt x="121920" y="829056"/>
                  </a:lnTo>
                  <a:lnTo>
                    <a:pt x="0" y="829056"/>
                  </a:lnTo>
                  <a:close/>
                </a:path>
              </a:pathLst>
            </a:custGeom>
            <a:solidFill>
              <a:srgbClr val="D97706"/>
            </a:solidFill>
          </p:spPr>
        </p:sp>
        <p:sp>
          <p:nvSpPr>
            <p:cNvPr name="Freeform 276" id="276"/>
            <p:cNvSpPr/>
            <p:nvPr/>
          </p:nvSpPr>
          <p:spPr>
            <a:xfrm flipH="false" flipV="false" rot="0">
              <a:off x="0" y="0"/>
              <a:ext cx="155702" cy="862840"/>
            </a:xfrm>
            <a:custGeom>
              <a:avLst/>
              <a:gdLst/>
              <a:ahLst/>
              <a:cxnLst/>
              <a:rect r="r" b="b" t="t" l="l"/>
              <a:pathLst>
                <a:path h="862840" w="155702">
                  <a:moveTo>
                    <a:pt x="16891" y="0"/>
                  </a:moveTo>
                  <a:lnTo>
                    <a:pt x="138811" y="0"/>
                  </a:lnTo>
                  <a:cubicBezTo>
                    <a:pt x="148209" y="0"/>
                    <a:pt x="155702" y="7620"/>
                    <a:pt x="155702" y="16891"/>
                  </a:cubicBezTo>
                  <a:lnTo>
                    <a:pt x="155702" y="845947"/>
                  </a:lnTo>
                  <a:cubicBezTo>
                    <a:pt x="155702" y="855345"/>
                    <a:pt x="148082" y="862838"/>
                    <a:pt x="138811" y="862838"/>
                  </a:cubicBezTo>
                  <a:lnTo>
                    <a:pt x="16891" y="862838"/>
                  </a:lnTo>
                  <a:cubicBezTo>
                    <a:pt x="7620" y="862965"/>
                    <a:pt x="0" y="855345"/>
                    <a:pt x="0" y="845947"/>
                  </a:cubicBezTo>
                  <a:lnTo>
                    <a:pt x="0" y="16891"/>
                  </a:lnTo>
                  <a:cubicBezTo>
                    <a:pt x="0" y="7620"/>
                    <a:pt x="7620" y="0"/>
                    <a:pt x="16891" y="0"/>
                  </a:cubicBezTo>
                  <a:moveTo>
                    <a:pt x="16891" y="33909"/>
                  </a:moveTo>
                  <a:lnTo>
                    <a:pt x="16891" y="16891"/>
                  </a:lnTo>
                  <a:lnTo>
                    <a:pt x="33909" y="16891"/>
                  </a:lnTo>
                  <a:lnTo>
                    <a:pt x="33909" y="845947"/>
                  </a:lnTo>
                  <a:lnTo>
                    <a:pt x="16891" y="845947"/>
                  </a:lnTo>
                  <a:lnTo>
                    <a:pt x="16891" y="829056"/>
                  </a:lnTo>
                  <a:lnTo>
                    <a:pt x="138811" y="829056"/>
                  </a:lnTo>
                  <a:lnTo>
                    <a:pt x="138811" y="845947"/>
                  </a:lnTo>
                  <a:lnTo>
                    <a:pt x="121920" y="845947"/>
                  </a:lnTo>
                  <a:lnTo>
                    <a:pt x="121920" y="16891"/>
                  </a:lnTo>
                  <a:lnTo>
                    <a:pt x="138811" y="16891"/>
                  </a:lnTo>
                  <a:lnTo>
                    <a:pt x="138811" y="33909"/>
                  </a:lnTo>
                  <a:lnTo>
                    <a:pt x="16891" y="33909"/>
                  </a:lnTo>
                  <a:close/>
                </a:path>
              </a:pathLst>
            </a:custGeom>
            <a:solidFill>
              <a:srgbClr val="D97706"/>
            </a:solidFill>
          </p:spPr>
        </p:sp>
      </p:grpSp>
      <p:grpSp>
        <p:nvGrpSpPr>
          <p:cNvPr name="Group 277" id="277"/>
          <p:cNvGrpSpPr/>
          <p:nvPr/>
        </p:nvGrpSpPr>
        <p:grpSpPr>
          <a:xfrm rot="0">
            <a:off x="9436608" y="8979408"/>
            <a:ext cx="3694176" cy="585216"/>
            <a:chOff x="0" y="0"/>
            <a:chExt cx="4925568" cy="780288"/>
          </a:xfrm>
        </p:grpSpPr>
        <p:sp>
          <p:nvSpPr>
            <p:cNvPr name="Freeform 278" id="278"/>
            <p:cNvSpPr/>
            <p:nvPr/>
          </p:nvSpPr>
          <p:spPr>
            <a:xfrm flipH="false" flipV="false" rot="0">
              <a:off x="0" y="0"/>
              <a:ext cx="4925568" cy="780288"/>
            </a:xfrm>
            <a:custGeom>
              <a:avLst/>
              <a:gdLst/>
              <a:ahLst/>
              <a:cxnLst/>
              <a:rect r="r" b="b" t="t" l="l"/>
              <a:pathLst>
                <a:path h="780288" w="4925568">
                  <a:moveTo>
                    <a:pt x="0" y="0"/>
                  </a:moveTo>
                  <a:lnTo>
                    <a:pt x="4925568" y="0"/>
                  </a:lnTo>
                  <a:lnTo>
                    <a:pt x="4925568" y="780288"/>
                  </a:lnTo>
                  <a:lnTo>
                    <a:pt x="0" y="780288"/>
                  </a:lnTo>
                  <a:close/>
                </a:path>
              </a:pathLst>
            </a:custGeom>
            <a:blipFill>
              <a:blip r:embed="rId3">
                <a:alphaModFix amt="0"/>
              </a:blip>
              <a:stretch>
                <a:fillRect l="0" t="-72999" r="0" b="-72999"/>
              </a:stretch>
            </a:blipFill>
          </p:spPr>
        </p:sp>
        <p:sp>
          <p:nvSpPr>
            <p:cNvPr name="TextBox 279" id="279"/>
            <p:cNvSpPr txBox="true"/>
            <p:nvPr/>
          </p:nvSpPr>
          <p:spPr>
            <a:xfrm>
              <a:off x="0" y="-38100"/>
              <a:ext cx="4925568" cy="818388"/>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FPN in AMFF</a:t>
              </a:r>
            </a:p>
          </p:txBody>
        </p:sp>
      </p:grpSp>
      <p:grpSp>
        <p:nvGrpSpPr>
          <p:cNvPr name="Group 280" id="280"/>
          <p:cNvGrpSpPr/>
          <p:nvPr/>
        </p:nvGrpSpPr>
        <p:grpSpPr>
          <a:xfrm rot="0">
            <a:off x="13191239" y="9058151"/>
            <a:ext cx="1342139" cy="427739"/>
            <a:chOff x="0" y="0"/>
            <a:chExt cx="1789519" cy="570319"/>
          </a:xfrm>
        </p:grpSpPr>
        <p:sp>
          <p:nvSpPr>
            <p:cNvPr name="Freeform 281" id="281"/>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0D9488"/>
            </a:solidFill>
          </p:spPr>
        </p:sp>
        <p:sp>
          <p:nvSpPr>
            <p:cNvPr name="Freeform 282" id="282"/>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0D9488"/>
            </a:solidFill>
          </p:spPr>
        </p:sp>
      </p:grpSp>
      <p:grpSp>
        <p:nvGrpSpPr>
          <p:cNvPr name="Group 283" id="283"/>
          <p:cNvGrpSpPr/>
          <p:nvPr/>
        </p:nvGrpSpPr>
        <p:grpSpPr>
          <a:xfrm rot="0">
            <a:off x="13203936" y="9070848"/>
            <a:ext cx="1316736" cy="402336"/>
            <a:chOff x="0" y="0"/>
            <a:chExt cx="1755648" cy="536448"/>
          </a:xfrm>
        </p:grpSpPr>
        <p:sp>
          <p:nvSpPr>
            <p:cNvPr name="Freeform 284" id="284"/>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285" id="285"/>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Low</a:t>
              </a:r>
            </a:p>
          </p:txBody>
        </p:sp>
      </p:grpSp>
      <p:grpSp>
        <p:nvGrpSpPr>
          <p:cNvPr name="Group 286" id="286"/>
          <p:cNvGrpSpPr/>
          <p:nvPr/>
        </p:nvGrpSpPr>
        <p:grpSpPr>
          <a:xfrm rot="0">
            <a:off x="14581127" y="9058151"/>
            <a:ext cx="1671323" cy="427739"/>
            <a:chOff x="0" y="0"/>
            <a:chExt cx="2228431" cy="570319"/>
          </a:xfrm>
        </p:grpSpPr>
        <p:sp>
          <p:nvSpPr>
            <p:cNvPr name="Freeform 287" id="287"/>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288" id="288"/>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289" id="289"/>
          <p:cNvGrpSpPr/>
          <p:nvPr/>
        </p:nvGrpSpPr>
        <p:grpSpPr>
          <a:xfrm rot="0">
            <a:off x="14593824" y="9070848"/>
            <a:ext cx="1645920" cy="402336"/>
            <a:chOff x="0" y="0"/>
            <a:chExt cx="2194560" cy="536448"/>
          </a:xfrm>
        </p:grpSpPr>
        <p:sp>
          <p:nvSpPr>
            <p:cNvPr name="Freeform 290" id="290"/>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291" id="291"/>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Medium</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0D9488"/>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0D9488"/>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01 · BACKBONE</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Direction 1: Stronger Vision Backbone</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462527"/>
            <a:ext cx="8242297" cy="3578857"/>
            <a:chOff x="0" y="0"/>
            <a:chExt cx="10989729" cy="4771809"/>
          </a:xfrm>
        </p:grpSpPr>
        <p:sp>
          <p:nvSpPr>
            <p:cNvPr name="Freeform 14" id="14"/>
            <p:cNvSpPr/>
            <p:nvPr/>
          </p:nvSpPr>
          <p:spPr>
            <a:xfrm flipH="false" flipV="false" rot="0">
              <a:off x="8509" y="8509"/>
              <a:ext cx="10972800" cy="4754880"/>
            </a:xfrm>
            <a:custGeom>
              <a:avLst/>
              <a:gdLst/>
              <a:ahLst/>
              <a:cxnLst/>
              <a:rect r="r" b="b" t="t" l="l"/>
              <a:pathLst>
                <a:path h="4754880" w="10972800">
                  <a:moveTo>
                    <a:pt x="0" y="0"/>
                  </a:moveTo>
                  <a:lnTo>
                    <a:pt x="10972800" y="0"/>
                  </a:lnTo>
                  <a:lnTo>
                    <a:pt x="10972800" y="4754880"/>
                  </a:lnTo>
                  <a:lnTo>
                    <a:pt x="0" y="4754880"/>
                  </a:lnTo>
                  <a:close/>
                </a:path>
              </a:pathLst>
            </a:custGeom>
            <a:solidFill>
              <a:srgbClr val="FFFFFF"/>
            </a:solidFill>
          </p:spPr>
        </p:sp>
        <p:sp>
          <p:nvSpPr>
            <p:cNvPr name="Freeform 15" id="15"/>
            <p:cNvSpPr/>
            <p:nvPr/>
          </p:nvSpPr>
          <p:spPr>
            <a:xfrm flipH="false" flipV="false" rot="0">
              <a:off x="0" y="0"/>
              <a:ext cx="10989818" cy="4771898"/>
            </a:xfrm>
            <a:custGeom>
              <a:avLst/>
              <a:gdLst/>
              <a:ahLst/>
              <a:cxnLst/>
              <a:rect r="r" b="b" t="t" l="l"/>
              <a:pathLst>
                <a:path h="4771898" w="10989818">
                  <a:moveTo>
                    <a:pt x="8509" y="0"/>
                  </a:moveTo>
                  <a:lnTo>
                    <a:pt x="10981309" y="0"/>
                  </a:lnTo>
                  <a:cubicBezTo>
                    <a:pt x="10986008" y="0"/>
                    <a:pt x="10989818" y="3810"/>
                    <a:pt x="10989818" y="8509"/>
                  </a:cubicBezTo>
                  <a:lnTo>
                    <a:pt x="10989818" y="4763389"/>
                  </a:lnTo>
                  <a:cubicBezTo>
                    <a:pt x="10989818" y="4768088"/>
                    <a:pt x="10986008" y="4771898"/>
                    <a:pt x="10981309" y="4771898"/>
                  </a:cubicBezTo>
                  <a:lnTo>
                    <a:pt x="8509" y="4771898"/>
                  </a:lnTo>
                  <a:cubicBezTo>
                    <a:pt x="3810" y="4771898"/>
                    <a:pt x="0" y="4768088"/>
                    <a:pt x="0" y="4763389"/>
                  </a:cubicBezTo>
                  <a:lnTo>
                    <a:pt x="0" y="8509"/>
                  </a:lnTo>
                  <a:cubicBezTo>
                    <a:pt x="0" y="3810"/>
                    <a:pt x="3810" y="0"/>
                    <a:pt x="8509" y="0"/>
                  </a:cubicBezTo>
                  <a:moveTo>
                    <a:pt x="8509" y="16891"/>
                  </a:moveTo>
                  <a:lnTo>
                    <a:pt x="8509" y="8509"/>
                  </a:lnTo>
                  <a:lnTo>
                    <a:pt x="17018" y="8509"/>
                  </a:lnTo>
                  <a:lnTo>
                    <a:pt x="17018" y="4763389"/>
                  </a:lnTo>
                  <a:lnTo>
                    <a:pt x="8509" y="4763389"/>
                  </a:lnTo>
                  <a:lnTo>
                    <a:pt x="8509" y="4754880"/>
                  </a:lnTo>
                  <a:lnTo>
                    <a:pt x="10981309" y="4754880"/>
                  </a:lnTo>
                  <a:lnTo>
                    <a:pt x="10981309" y="4763389"/>
                  </a:lnTo>
                  <a:lnTo>
                    <a:pt x="10972800" y="4763389"/>
                  </a:lnTo>
                  <a:lnTo>
                    <a:pt x="10972800" y="8509"/>
                  </a:lnTo>
                  <a:lnTo>
                    <a:pt x="10981309" y="8509"/>
                  </a:lnTo>
                  <a:lnTo>
                    <a:pt x="10981309" y="17018"/>
                  </a:lnTo>
                  <a:lnTo>
                    <a:pt x="8509" y="17018"/>
                  </a:lnTo>
                  <a:close/>
                </a:path>
              </a:pathLst>
            </a:custGeom>
            <a:solidFill>
              <a:srgbClr val="E2E8F0"/>
            </a:solidFill>
          </p:spPr>
        </p:sp>
      </p:grpSp>
      <p:grpSp>
        <p:nvGrpSpPr>
          <p:cNvPr name="Group 16" id="16"/>
          <p:cNvGrpSpPr/>
          <p:nvPr/>
        </p:nvGrpSpPr>
        <p:grpSpPr>
          <a:xfrm rot="0">
            <a:off x="718823" y="2456183"/>
            <a:ext cx="8255003" cy="720347"/>
            <a:chOff x="0" y="0"/>
            <a:chExt cx="11006671" cy="960463"/>
          </a:xfrm>
        </p:grpSpPr>
        <p:sp>
          <p:nvSpPr>
            <p:cNvPr name="Freeform 17" id="17"/>
            <p:cNvSpPr/>
            <p:nvPr/>
          </p:nvSpPr>
          <p:spPr>
            <a:xfrm flipH="false" flipV="false" rot="0">
              <a:off x="16891" y="16891"/>
              <a:ext cx="10972800" cy="926592"/>
            </a:xfrm>
            <a:custGeom>
              <a:avLst/>
              <a:gdLst/>
              <a:ahLst/>
              <a:cxnLst/>
              <a:rect r="r" b="b" t="t" l="l"/>
              <a:pathLst>
                <a:path h="926592" w="10972800">
                  <a:moveTo>
                    <a:pt x="0" y="0"/>
                  </a:moveTo>
                  <a:lnTo>
                    <a:pt x="10972800" y="0"/>
                  </a:lnTo>
                  <a:lnTo>
                    <a:pt x="10972800" y="926592"/>
                  </a:lnTo>
                  <a:lnTo>
                    <a:pt x="0" y="926592"/>
                  </a:lnTo>
                  <a:close/>
                </a:path>
              </a:pathLst>
            </a:custGeom>
            <a:solidFill>
              <a:srgbClr val="0D9488"/>
            </a:solidFill>
          </p:spPr>
        </p:sp>
        <p:sp>
          <p:nvSpPr>
            <p:cNvPr name="Freeform 18" id="18"/>
            <p:cNvSpPr/>
            <p:nvPr/>
          </p:nvSpPr>
          <p:spPr>
            <a:xfrm flipH="false" flipV="false" rot="0">
              <a:off x="0" y="0"/>
              <a:ext cx="11006582" cy="960376"/>
            </a:xfrm>
            <a:custGeom>
              <a:avLst/>
              <a:gdLst/>
              <a:ahLst/>
              <a:cxnLst/>
              <a:rect r="r" b="b" t="t" l="l"/>
              <a:pathLst>
                <a:path h="960376" w="11006582">
                  <a:moveTo>
                    <a:pt x="16891" y="0"/>
                  </a:moveTo>
                  <a:lnTo>
                    <a:pt x="10989691" y="0"/>
                  </a:lnTo>
                  <a:cubicBezTo>
                    <a:pt x="10999089" y="0"/>
                    <a:pt x="11006582" y="7620"/>
                    <a:pt x="11006582" y="16891"/>
                  </a:cubicBezTo>
                  <a:lnTo>
                    <a:pt x="11006582" y="943483"/>
                  </a:lnTo>
                  <a:cubicBezTo>
                    <a:pt x="11006582" y="952881"/>
                    <a:pt x="10998962" y="960374"/>
                    <a:pt x="109896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989691" y="926592"/>
                  </a:lnTo>
                  <a:lnTo>
                    <a:pt x="10989691" y="943483"/>
                  </a:lnTo>
                  <a:lnTo>
                    <a:pt x="10972800" y="943483"/>
                  </a:lnTo>
                  <a:lnTo>
                    <a:pt x="10972800" y="16891"/>
                  </a:lnTo>
                  <a:lnTo>
                    <a:pt x="10989691" y="16891"/>
                  </a:lnTo>
                  <a:lnTo>
                    <a:pt x="10989691" y="33909"/>
                  </a:lnTo>
                  <a:lnTo>
                    <a:pt x="16891" y="33909"/>
                  </a:lnTo>
                  <a:close/>
                </a:path>
              </a:pathLst>
            </a:custGeom>
            <a:solidFill>
              <a:srgbClr val="0D9488"/>
            </a:solidFill>
          </p:spPr>
        </p:sp>
      </p:grpSp>
      <p:grpSp>
        <p:nvGrpSpPr>
          <p:cNvPr name="Group 19" id="19"/>
          <p:cNvGrpSpPr/>
          <p:nvPr/>
        </p:nvGrpSpPr>
        <p:grpSpPr>
          <a:xfrm rot="0">
            <a:off x="1005840" y="2468880"/>
            <a:ext cx="7772400" cy="694944"/>
            <a:chOff x="0" y="0"/>
            <a:chExt cx="10363200" cy="926592"/>
          </a:xfrm>
        </p:grpSpPr>
        <p:sp>
          <p:nvSpPr>
            <p:cNvPr name="Freeform 20" id="20"/>
            <p:cNvSpPr/>
            <p:nvPr/>
          </p:nvSpPr>
          <p:spPr>
            <a:xfrm flipH="false" flipV="false" rot="0">
              <a:off x="0" y="0"/>
              <a:ext cx="10363200" cy="926592"/>
            </a:xfrm>
            <a:custGeom>
              <a:avLst/>
              <a:gdLst/>
              <a:ahLst/>
              <a:cxnLst/>
              <a:rect r="r" b="b" t="t" l="l"/>
              <a:pathLst>
                <a:path h="926592" w="10363200">
                  <a:moveTo>
                    <a:pt x="0" y="0"/>
                  </a:moveTo>
                  <a:lnTo>
                    <a:pt x="10363200" y="0"/>
                  </a:lnTo>
                  <a:lnTo>
                    <a:pt x="10363200" y="926592"/>
                  </a:lnTo>
                  <a:lnTo>
                    <a:pt x="0" y="926592"/>
                  </a:lnTo>
                  <a:close/>
                </a:path>
              </a:pathLst>
            </a:custGeom>
            <a:blipFill>
              <a:blip r:embed="rId3">
                <a:alphaModFix amt="0"/>
              </a:blip>
              <a:stretch>
                <a:fillRect l="0" t="-167924" r="0" b="-167924"/>
              </a:stretch>
            </a:blipFill>
          </p:spPr>
        </p:sp>
        <p:sp>
          <p:nvSpPr>
            <p:cNvPr name="TextBox 21" id="21"/>
            <p:cNvSpPr txBox="true"/>
            <p:nvPr/>
          </p:nvSpPr>
          <p:spPr>
            <a:xfrm>
              <a:off x="0" y="-38100"/>
              <a:ext cx="10363200" cy="96469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Option A — Swin-Large or Swin-v2</a:t>
              </a:r>
            </a:p>
          </p:txBody>
        </p:sp>
      </p:grpSp>
      <p:grpSp>
        <p:nvGrpSpPr>
          <p:cNvPr name="Group 22" id="22"/>
          <p:cNvGrpSpPr/>
          <p:nvPr/>
        </p:nvGrpSpPr>
        <p:grpSpPr>
          <a:xfrm rot="0">
            <a:off x="1005840" y="3236976"/>
            <a:ext cx="7772400" cy="2651760"/>
            <a:chOff x="0" y="0"/>
            <a:chExt cx="10363200" cy="3535680"/>
          </a:xfrm>
        </p:grpSpPr>
        <p:sp>
          <p:nvSpPr>
            <p:cNvPr name="Freeform 23" id="23"/>
            <p:cNvSpPr/>
            <p:nvPr/>
          </p:nvSpPr>
          <p:spPr>
            <a:xfrm flipH="false" flipV="false" rot="0">
              <a:off x="0" y="0"/>
              <a:ext cx="10363200" cy="3535680"/>
            </a:xfrm>
            <a:custGeom>
              <a:avLst/>
              <a:gdLst/>
              <a:ahLst/>
              <a:cxnLst/>
              <a:rect r="r" b="b" t="t" l="l"/>
              <a:pathLst>
                <a:path h="3535680" w="10363200">
                  <a:moveTo>
                    <a:pt x="0" y="0"/>
                  </a:moveTo>
                  <a:lnTo>
                    <a:pt x="10363200" y="0"/>
                  </a:lnTo>
                  <a:lnTo>
                    <a:pt x="10363200" y="3535680"/>
                  </a:lnTo>
                  <a:lnTo>
                    <a:pt x="0" y="3535680"/>
                  </a:lnTo>
                  <a:close/>
                </a:path>
              </a:pathLst>
            </a:custGeom>
            <a:blipFill>
              <a:blip r:embed="rId3">
                <a:alphaModFix amt="0"/>
              </a:blip>
              <a:stretch>
                <a:fillRect l="0" t="-7111" r="0" b="-7111"/>
              </a:stretch>
            </a:blipFill>
          </p:spPr>
        </p:sp>
        <p:sp>
          <p:nvSpPr>
            <p:cNvPr name="TextBox 24" id="24"/>
            <p:cNvSpPr txBox="true"/>
            <p:nvPr/>
          </p:nvSpPr>
          <p:spPr>
            <a:xfrm>
              <a:off x="0" y="-38100"/>
              <a:ext cx="10363200" cy="357378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Swin-Large widens all hidden dimensions (192→384 channels). Swin-v2 adds scaled cosine attention and log-spaced relative position bias — both handle the large resolution variation in RS images better than Swin-Base.</a:t>
              </a:r>
            </a:p>
            <a:p>
              <a:pPr algn="l">
                <a:lnSpc>
                  <a:spcPts val="2400"/>
                </a:lnSpc>
              </a:pPr>
            </a:p>
            <a:p>
              <a:pPr algn="l">
                <a:lnSpc>
                  <a:spcPts val="2400"/>
                </a:lnSpc>
              </a:pPr>
              <a:r>
                <a:rPr lang="en-US" sz="2000">
                  <a:solidFill>
                    <a:srgbClr val="1E293B"/>
                  </a:solidFill>
                  <a:latin typeface="Calibri (MS)"/>
                  <a:ea typeface="Calibri (MS)"/>
                  <a:cs typeface="Calibri (MS)"/>
                  <a:sym typeface="Calibri (MS)"/>
                </a:rPr>
                <a:t>Drop-in replacement: same API, same 4-stage output. Backbone upgrade adds ~0 new code.</a:t>
              </a:r>
            </a:p>
          </p:txBody>
        </p:sp>
      </p:grpSp>
      <p:grpSp>
        <p:nvGrpSpPr>
          <p:cNvPr name="Group 25" id="25"/>
          <p:cNvGrpSpPr/>
          <p:nvPr/>
        </p:nvGrpSpPr>
        <p:grpSpPr>
          <a:xfrm rot="0">
            <a:off x="725167" y="6211567"/>
            <a:ext cx="8242297" cy="3761737"/>
            <a:chOff x="0" y="0"/>
            <a:chExt cx="10989729" cy="5015649"/>
          </a:xfrm>
        </p:grpSpPr>
        <p:sp>
          <p:nvSpPr>
            <p:cNvPr name="Freeform 26" id="26"/>
            <p:cNvSpPr/>
            <p:nvPr/>
          </p:nvSpPr>
          <p:spPr>
            <a:xfrm flipH="false" flipV="false" rot="0">
              <a:off x="8509" y="8509"/>
              <a:ext cx="10972800" cy="4998720"/>
            </a:xfrm>
            <a:custGeom>
              <a:avLst/>
              <a:gdLst/>
              <a:ahLst/>
              <a:cxnLst/>
              <a:rect r="r" b="b" t="t" l="l"/>
              <a:pathLst>
                <a:path h="4998720" w="10972800">
                  <a:moveTo>
                    <a:pt x="0" y="0"/>
                  </a:moveTo>
                  <a:lnTo>
                    <a:pt x="10972800" y="0"/>
                  </a:lnTo>
                  <a:lnTo>
                    <a:pt x="10972800" y="4998720"/>
                  </a:lnTo>
                  <a:lnTo>
                    <a:pt x="0" y="4998720"/>
                  </a:lnTo>
                  <a:close/>
                </a:path>
              </a:pathLst>
            </a:custGeom>
            <a:solidFill>
              <a:srgbClr val="FFFFFF"/>
            </a:solidFill>
          </p:spPr>
        </p:sp>
        <p:sp>
          <p:nvSpPr>
            <p:cNvPr name="Freeform 27" id="27"/>
            <p:cNvSpPr/>
            <p:nvPr/>
          </p:nvSpPr>
          <p:spPr>
            <a:xfrm flipH="false" flipV="false" rot="0">
              <a:off x="0" y="0"/>
              <a:ext cx="10989818" cy="5015738"/>
            </a:xfrm>
            <a:custGeom>
              <a:avLst/>
              <a:gdLst/>
              <a:ahLst/>
              <a:cxnLst/>
              <a:rect r="r" b="b" t="t" l="l"/>
              <a:pathLst>
                <a:path h="5015738" w="10989818">
                  <a:moveTo>
                    <a:pt x="8509" y="0"/>
                  </a:moveTo>
                  <a:lnTo>
                    <a:pt x="10981309" y="0"/>
                  </a:lnTo>
                  <a:cubicBezTo>
                    <a:pt x="10986008" y="0"/>
                    <a:pt x="10989818" y="3810"/>
                    <a:pt x="10989818" y="8509"/>
                  </a:cubicBezTo>
                  <a:lnTo>
                    <a:pt x="10989818" y="5007229"/>
                  </a:lnTo>
                  <a:cubicBezTo>
                    <a:pt x="10989818" y="5011928"/>
                    <a:pt x="10986008" y="5015738"/>
                    <a:pt x="10981309" y="5015738"/>
                  </a:cubicBezTo>
                  <a:lnTo>
                    <a:pt x="8509" y="5015738"/>
                  </a:lnTo>
                  <a:cubicBezTo>
                    <a:pt x="3810" y="5015738"/>
                    <a:pt x="0" y="5011928"/>
                    <a:pt x="0" y="5007229"/>
                  </a:cubicBezTo>
                  <a:lnTo>
                    <a:pt x="0" y="8509"/>
                  </a:lnTo>
                  <a:cubicBezTo>
                    <a:pt x="0" y="3810"/>
                    <a:pt x="3810" y="0"/>
                    <a:pt x="8509" y="0"/>
                  </a:cubicBezTo>
                  <a:moveTo>
                    <a:pt x="8509" y="16891"/>
                  </a:moveTo>
                  <a:lnTo>
                    <a:pt x="8509" y="8509"/>
                  </a:lnTo>
                  <a:lnTo>
                    <a:pt x="17018" y="8509"/>
                  </a:lnTo>
                  <a:lnTo>
                    <a:pt x="17018" y="5007229"/>
                  </a:lnTo>
                  <a:lnTo>
                    <a:pt x="8509" y="5007229"/>
                  </a:lnTo>
                  <a:lnTo>
                    <a:pt x="8509" y="4998720"/>
                  </a:lnTo>
                  <a:lnTo>
                    <a:pt x="10981309" y="4998720"/>
                  </a:lnTo>
                  <a:lnTo>
                    <a:pt x="10981309" y="5007229"/>
                  </a:lnTo>
                  <a:lnTo>
                    <a:pt x="10972800" y="5007229"/>
                  </a:lnTo>
                  <a:lnTo>
                    <a:pt x="10972800" y="8509"/>
                  </a:lnTo>
                  <a:lnTo>
                    <a:pt x="10981309" y="8509"/>
                  </a:lnTo>
                  <a:lnTo>
                    <a:pt x="10981309" y="17018"/>
                  </a:lnTo>
                  <a:lnTo>
                    <a:pt x="8509" y="17018"/>
                  </a:lnTo>
                  <a:close/>
                </a:path>
              </a:pathLst>
            </a:custGeom>
            <a:solidFill>
              <a:srgbClr val="E2E8F0"/>
            </a:solidFill>
          </p:spPr>
        </p:sp>
      </p:grpSp>
      <p:grpSp>
        <p:nvGrpSpPr>
          <p:cNvPr name="Group 28" id="28"/>
          <p:cNvGrpSpPr/>
          <p:nvPr/>
        </p:nvGrpSpPr>
        <p:grpSpPr>
          <a:xfrm rot="0">
            <a:off x="718823" y="6205223"/>
            <a:ext cx="8255003" cy="720347"/>
            <a:chOff x="0" y="0"/>
            <a:chExt cx="11006671" cy="960463"/>
          </a:xfrm>
        </p:grpSpPr>
        <p:sp>
          <p:nvSpPr>
            <p:cNvPr name="Freeform 29" id="29"/>
            <p:cNvSpPr/>
            <p:nvPr/>
          </p:nvSpPr>
          <p:spPr>
            <a:xfrm flipH="false" flipV="false" rot="0">
              <a:off x="16891" y="16891"/>
              <a:ext cx="10972800" cy="926592"/>
            </a:xfrm>
            <a:custGeom>
              <a:avLst/>
              <a:gdLst/>
              <a:ahLst/>
              <a:cxnLst/>
              <a:rect r="r" b="b" t="t" l="l"/>
              <a:pathLst>
                <a:path h="926592" w="10972800">
                  <a:moveTo>
                    <a:pt x="0" y="0"/>
                  </a:moveTo>
                  <a:lnTo>
                    <a:pt x="10972800" y="0"/>
                  </a:lnTo>
                  <a:lnTo>
                    <a:pt x="10972800" y="926592"/>
                  </a:lnTo>
                  <a:lnTo>
                    <a:pt x="0" y="926592"/>
                  </a:lnTo>
                  <a:close/>
                </a:path>
              </a:pathLst>
            </a:custGeom>
            <a:solidFill>
              <a:srgbClr val="0F6E56"/>
            </a:solidFill>
          </p:spPr>
        </p:sp>
        <p:sp>
          <p:nvSpPr>
            <p:cNvPr name="Freeform 30" id="30"/>
            <p:cNvSpPr/>
            <p:nvPr/>
          </p:nvSpPr>
          <p:spPr>
            <a:xfrm flipH="false" flipV="false" rot="0">
              <a:off x="0" y="0"/>
              <a:ext cx="11006582" cy="960376"/>
            </a:xfrm>
            <a:custGeom>
              <a:avLst/>
              <a:gdLst/>
              <a:ahLst/>
              <a:cxnLst/>
              <a:rect r="r" b="b" t="t" l="l"/>
              <a:pathLst>
                <a:path h="960376" w="11006582">
                  <a:moveTo>
                    <a:pt x="16891" y="0"/>
                  </a:moveTo>
                  <a:lnTo>
                    <a:pt x="10989691" y="0"/>
                  </a:lnTo>
                  <a:cubicBezTo>
                    <a:pt x="10999089" y="0"/>
                    <a:pt x="11006582" y="7620"/>
                    <a:pt x="11006582" y="16891"/>
                  </a:cubicBezTo>
                  <a:lnTo>
                    <a:pt x="11006582" y="943483"/>
                  </a:lnTo>
                  <a:cubicBezTo>
                    <a:pt x="11006582" y="952881"/>
                    <a:pt x="10998962" y="960374"/>
                    <a:pt x="109896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989691" y="926592"/>
                  </a:lnTo>
                  <a:lnTo>
                    <a:pt x="10989691" y="943483"/>
                  </a:lnTo>
                  <a:lnTo>
                    <a:pt x="10972800" y="943483"/>
                  </a:lnTo>
                  <a:lnTo>
                    <a:pt x="10972800" y="16891"/>
                  </a:lnTo>
                  <a:lnTo>
                    <a:pt x="10989691" y="16891"/>
                  </a:lnTo>
                  <a:lnTo>
                    <a:pt x="10989691" y="33909"/>
                  </a:lnTo>
                  <a:lnTo>
                    <a:pt x="16891" y="33909"/>
                  </a:lnTo>
                  <a:close/>
                </a:path>
              </a:pathLst>
            </a:custGeom>
            <a:solidFill>
              <a:srgbClr val="0F6E56"/>
            </a:solidFill>
          </p:spPr>
        </p:sp>
      </p:grpSp>
      <p:grpSp>
        <p:nvGrpSpPr>
          <p:cNvPr name="Group 31" id="31"/>
          <p:cNvGrpSpPr/>
          <p:nvPr/>
        </p:nvGrpSpPr>
        <p:grpSpPr>
          <a:xfrm rot="0">
            <a:off x="1005840" y="6217920"/>
            <a:ext cx="7772400" cy="694944"/>
            <a:chOff x="0" y="0"/>
            <a:chExt cx="10363200" cy="926592"/>
          </a:xfrm>
        </p:grpSpPr>
        <p:sp>
          <p:nvSpPr>
            <p:cNvPr name="Freeform 32" id="32"/>
            <p:cNvSpPr/>
            <p:nvPr/>
          </p:nvSpPr>
          <p:spPr>
            <a:xfrm flipH="false" flipV="false" rot="0">
              <a:off x="0" y="0"/>
              <a:ext cx="10363200" cy="926592"/>
            </a:xfrm>
            <a:custGeom>
              <a:avLst/>
              <a:gdLst/>
              <a:ahLst/>
              <a:cxnLst/>
              <a:rect r="r" b="b" t="t" l="l"/>
              <a:pathLst>
                <a:path h="926592" w="10363200">
                  <a:moveTo>
                    <a:pt x="0" y="0"/>
                  </a:moveTo>
                  <a:lnTo>
                    <a:pt x="10363200" y="0"/>
                  </a:lnTo>
                  <a:lnTo>
                    <a:pt x="10363200" y="926592"/>
                  </a:lnTo>
                  <a:lnTo>
                    <a:pt x="0" y="926592"/>
                  </a:lnTo>
                  <a:close/>
                </a:path>
              </a:pathLst>
            </a:custGeom>
            <a:blipFill>
              <a:blip r:embed="rId3">
                <a:alphaModFix amt="0"/>
              </a:blip>
              <a:stretch>
                <a:fillRect l="0" t="-167924" r="0" b="-167924"/>
              </a:stretch>
            </a:blipFill>
          </p:spPr>
        </p:sp>
        <p:sp>
          <p:nvSpPr>
            <p:cNvPr name="TextBox 33" id="33"/>
            <p:cNvSpPr txBox="true"/>
            <p:nvPr/>
          </p:nvSpPr>
          <p:spPr>
            <a:xfrm>
              <a:off x="0" y="-47625"/>
              <a:ext cx="10363200" cy="974217"/>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Option B — RS-Pretrained Backbone  ★ RECOMMENDED</a:t>
              </a:r>
            </a:p>
          </p:txBody>
        </p:sp>
      </p:grpSp>
      <p:grpSp>
        <p:nvGrpSpPr>
          <p:cNvPr name="Group 34" id="34"/>
          <p:cNvGrpSpPr/>
          <p:nvPr/>
        </p:nvGrpSpPr>
        <p:grpSpPr>
          <a:xfrm rot="0">
            <a:off x="1005840" y="6986016"/>
            <a:ext cx="7772400" cy="2834640"/>
            <a:chOff x="0" y="0"/>
            <a:chExt cx="10363200" cy="3779520"/>
          </a:xfrm>
        </p:grpSpPr>
        <p:sp>
          <p:nvSpPr>
            <p:cNvPr name="Freeform 35" id="35"/>
            <p:cNvSpPr/>
            <p:nvPr/>
          </p:nvSpPr>
          <p:spPr>
            <a:xfrm flipH="false" flipV="false" rot="0">
              <a:off x="0" y="0"/>
              <a:ext cx="10363200" cy="3779520"/>
            </a:xfrm>
            <a:custGeom>
              <a:avLst/>
              <a:gdLst/>
              <a:ahLst/>
              <a:cxnLst/>
              <a:rect r="r" b="b" t="t" l="l"/>
              <a:pathLst>
                <a:path h="3779520" w="10363200">
                  <a:moveTo>
                    <a:pt x="0" y="0"/>
                  </a:moveTo>
                  <a:lnTo>
                    <a:pt x="10363200" y="0"/>
                  </a:lnTo>
                  <a:lnTo>
                    <a:pt x="10363200" y="3779520"/>
                  </a:lnTo>
                  <a:lnTo>
                    <a:pt x="0" y="3779520"/>
                  </a:lnTo>
                  <a:close/>
                </a:path>
              </a:pathLst>
            </a:custGeom>
            <a:blipFill>
              <a:blip r:embed="rId3">
                <a:alphaModFix amt="0"/>
              </a:blip>
              <a:stretch>
                <a:fillRect l="0" t="-3426" r="0" b="-3426"/>
              </a:stretch>
            </a:blipFill>
          </p:spPr>
        </p:sp>
        <p:sp>
          <p:nvSpPr>
            <p:cNvPr name="TextBox 36" id="36"/>
            <p:cNvSpPr txBox="true"/>
            <p:nvPr/>
          </p:nvSpPr>
          <p:spPr>
            <a:xfrm>
              <a:off x="0" y="-38100"/>
              <a:ext cx="10363200" cy="381762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RemoteCLIP and SeCo (Seasonal Contrast) are pretrained on actual satellite imagery — not ImageNet. The paper's ablation shows domain adaptation is the single largest performance jump (+9.9% BLEU-4). A backbone that has already seen RS imagery eliminates this gap before training even begins.</a:t>
              </a:r>
            </a:p>
          </p:txBody>
        </p:sp>
      </p:grpSp>
      <p:grpSp>
        <p:nvGrpSpPr>
          <p:cNvPr name="Group 37" id="37"/>
          <p:cNvGrpSpPr/>
          <p:nvPr/>
        </p:nvGrpSpPr>
        <p:grpSpPr>
          <a:xfrm rot="0">
            <a:off x="9320527" y="2462527"/>
            <a:ext cx="8242297" cy="3395977"/>
            <a:chOff x="0" y="0"/>
            <a:chExt cx="10989729" cy="4527969"/>
          </a:xfrm>
        </p:grpSpPr>
        <p:sp>
          <p:nvSpPr>
            <p:cNvPr name="Freeform 38" id="38"/>
            <p:cNvSpPr/>
            <p:nvPr/>
          </p:nvSpPr>
          <p:spPr>
            <a:xfrm flipH="false" flipV="false" rot="0">
              <a:off x="8509" y="8509"/>
              <a:ext cx="10972800" cy="4511040"/>
            </a:xfrm>
            <a:custGeom>
              <a:avLst/>
              <a:gdLst/>
              <a:ahLst/>
              <a:cxnLst/>
              <a:rect r="r" b="b" t="t" l="l"/>
              <a:pathLst>
                <a:path h="4511040" w="10972800">
                  <a:moveTo>
                    <a:pt x="0" y="0"/>
                  </a:moveTo>
                  <a:lnTo>
                    <a:pt x="10972800" y="0"/>
                  </a:lnTo>
                  <a:lnTo>
                    <a:pt x="10972800" y="4511040"/>
                  </a:lnTo>
                  <a:lnTo>
                    <a:pt x="0" y="4511040"/>
                  </a:lnTo>
                  <a:close/>
                </a:path>
              </a:pathLst>
            </a:custGeom>
            <a:solidFill>
              <a:srgbClr val="FFFFFF"/>
            </a:solidFill>
          </p:spPr>
        </p:sp>
        <p:sp>
          <p:nvSpPr>
            <p:cNvPr name="Freeform 39" id="39"/>
            <p:cNvSpPr/>
            <p:nvPr/>
          </p:nvSpPr>
          <p:spPr>
            <a:xfrm flipH="false" flipV="false" rot="0">
              <a:off x="0" y="0"/>
              <a:ext cx="10989818" cy="4528058"/>
            </a:xfrm>
            <a:custGeom>
              <a:avLst/>
              <a:gdLst/>
              <a:ahLst/>
              <a:cxnLst/>
              <a:rect r="r" b="b" t="t" l="l"/>
              <a:pathLst>
                <a:path h="4528058" w="10989818">
                  <a:moveTo>
                    <a:pt x="8509" y="0"/>
                  </a:moveTo>
                  <a:lnTo>
                    <a:pt x="10981309" y="0"/>
                  </a:lnTo>
                  <a:cubicBezTo>
                    <a:pt x="10986008" y="0"/>
                    <a:pt x="10989818" y="3810"/>
                    <a:pt x="10989818" y="8509"/>
                  </a:cubicBezTo>
                  <a:lnTo>
                    <a:pt x="10989818" y="4519549"/>
                  </a:lnTo>
                  <a:cubicBezTo>
                    <a:pt x="10989818" y="4524248"/>
                    <a:pt x="10986008" y="4528058"/>
                    <a:pt x="1098130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0981309" y="4511040"/>
                  </a:lnTo>
                  <a:lnTo>
                    <a:pt x="10981309" y="4519549"/>
                  </a:lnTo>
                  <a:lnTo>
                    <a:pt x="10972800" y="4519549"/>
                  </a:lnTo>
                  <a:lnTo>
                    <a:pt x="10972800" y="8509"/>
                  </a:lnTo>
                  <a:lnTo>
                    <a:pt x="10981309" y="8509"/>
                  </a:lnTo>
                  <a:lnTo>
                    <a:pt x="10981309" y="17018"/>
                  </a:lnTo>
                  <a:lnTo>
                    <a:pt x="8509" y="17018"/>
                  </a:lnTo>
                  <a:close/>
                </a:path>
              </a:pathLst>
            </a:custGeom>
            <a:solidFill>
              <a:srgbClr val="E2E8F0"/>
            </a:solidFill>
          </p:spPr>
        </p:sp>
      </p:grpSp>
      <p:grpSp>
        <p:nvGrpSpPr>
          <p:cNvPr name="Group 40" id="40"/>
          <p:cNvGrpSpPr/>
          <p:nvPr/>
        </p:nvGrpSpPr>
        <p:grpSpPr>
          <a:xfrm rot="0">
            <a:off x="9314183" y="2456183"/>
            <a:ext cx="135131" cy="3408683"/>
            <a:chOff x="0" y="0"/>
            <a:chExt cx="180175" cy="4544911"/>
          </a:xfrm>
        </p:grpSpPr>
        <p:sp>
          <p:nvSpPr>
            <p:cNvPr name="Freeform 41" id="41"/>
            <p:cNvSpPr/>
            <p:nvPr/>
          </p:nvSpPr>
          <p:spPr>
            <a:xfrm flipH="false" flipV="false" rot="0">
              <a:off x="16891" y="16891"/>
              <a:ext cx="146304" cy="4511040"/>
            </a:xfrm>
            <a:custGeom>
              <a:avLst/>
              <a:gdLst/>
              <a:ahLst/>
              <a:cxnLst/>
              <a:rect r="r" b="b" t="t" l="l"/>
              <a:pathLst>
                <a:path h="4511040" w="146304">
                  <a:moveTo>
                    <a:pt x="0" y="0"/>
                  </a:moveTo>
                  <a:lnTo>
                    <a:pt x="146304" y="0"/>
                  </a:lnTo>
                  <a:lnTo>
                    <a:pt x="146304" y="4511040"/>
                  </a:lnTo>
                  <a:lnTo>
                    <a:pt x="0" y="4511040"/>
                  </a:lnTo>
                  <a:close/>
                </a:path>
              </a:pathLst>
            </a:custGeom>
            <a:solidFill>
              <a:srgbClr val="D97706"/>
            </a:solidFill>
          </p:spPr>
        </p:sp>
        <p:sp>
          <p:nvSpPr>
            <p:cNvPr name="Freeform 42" id="42"/>
            <p:cNvSpPr/>
            <p:nvPr/>
          </p:nvSpPr>
          <p:spPr>
            <a:xfrm flipH="false" flipV="false" rot="0">
              <a:off x="0" y="0"/>
              <a:ext cx="180086" cy="4544822"/>
            </a:xfrm>
            <a:custGeom>
              <a:avLst/>
              <a:gdLst/>
              <a:ahLst/>
              <a:cxnLst/>
              <a:rect r="r" b="b" t="t" l="l"/>
              <a:pathLst>
                <a:path h="4544822" w="180086">
                  <a:moveTo>
                    <a:pt x="16891" y="0"/>
                  </a:moveTo>
                  <a:lnTo>
                    <a:pt x="163195" y="0"/>
                  </a:lnTo>
                  <a:cubicBezTo>
                    <a:pt x="172593" y="0"/>
                    <a:pt x="180086" y="7620"/>
                    <a:pt x="180086" y="16891"/>
                  </a:cubicBezTo>
                  <a:lnTo>
                    <a:pt x="180086" y="4527931"/>
                  </a:lnTo>
                  <a:cubicBezTo>
                    <a:pt x="180086" y="4537329"/>
                    <a:pt x="172466" y="4544822"/>
                    <a:pt x="163195"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63195" y="4511040"/>
                  </a:lnTo>
                  <a:lnTo>
                    <a:pt x="163195" y="4527931"/>
                  </a:lnTo>
                  <a:lnTo>
                    <a:pt x="146304" y="4527931"/>
                  </a:lnTo>
                  <a:lnTo>
                    <a:pt x="146304" y="16891"/>
                  </a:lnTo>
                  <a:lnTo>
                    <a:pt x="163195" y="16891"/>
                  </a:lnTo>
                  <a:lnTo>
                    <a:pt x="163195" y="33909"/>
                  </a:lnTo>
                  <a:lnTo>
                    <a:pt x="16891" y="33909"/>
                  </a:lnTo>
                  <a:close/>
                </a:path>
              </a:pathLst>
            </a:custGeom>
            <a:solidFill>
              <a:srgbClr val="D97706"/>
            </a:solidFill>
          </p:spPr>
        </p:sp>
      </p:grpSp>
      <p:grpSp>
        <p:nvGrpSpPr>
          <p:cNvPr name="Group 43" id="43"/>
          <p:cNvGrpSpPr/>
          <p:nvPr/>
        </p:nvGrpSpPr>
        <p:grpSpPr>
          <a:xfrm rot="0">
            <a:off x="9656064" y="2560320"/>
            <a:ext cx="7680960" cy="548640"/>
            <a:chOff x="0" y="0"/>
            <a:chExt cx="10241280" cy="731520"/>
          </a:xfrm>
        </p:grpSpPr>
        <p:sp>
          <p:nvSpPr>
            <p:cNvPr name="Freeform 44" id="44"/>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45" id="45"/>
            <p:cNvSpPr txBox="true"/>
            <p:nvPr/>
          </p:nvSpPr>
          <p:spPr>
            <a:xfrm>
              <a:off x="0" y="-47625"/>
              <a:ext cx="10241280" cy="779145"/>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Why the domain gap is critical</a:t>
              </a:r>
            </a:p>
          </p:txBody>
        </p:sp>
      </p:grpSp>
      <p:grpSp>
        <p:nvGrpSpPr>
          <p:cNvPr name="Group 46" id="46"/>
          <p:cNvGrpSpPr/>
          <p:nvPr/>
        </p:nvGrpSpPr>
        <p:grpSpPr>
          <a:xfrm rot="0">
            <a:off x="9656064" y="3218688"/>
            <a:ext cx="3108960" cy="548640"/>
            <a:chOff x="0" y="0"/>
            <a:chExt cx="4145280" cy="731520"/>
          </a:xfrm>
        </p:grpSpPr>
        <p:sp>
          <p:nvSpPr>
            <p:cNvPr name="Freeform 47" id="47"/>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48" id="48"/>
            <p:cNvSpPr txBox="true"/>
            <p:nvPr/>
          </p:nvSpPr>
          <p:spPr>
            <a:xfrm>
              <a:off x="0" y="-38100"/>
              <a:ext cx="4145280" cy="769620"/>
            </a:xfrm>
            <a:prstGeom prst="rect">
              <a:avLst/>
            </a:prstGeom>
          </p:spPr>
          <p:txBody>
            <a:bodyPr anchor="ctr" rtlCol="false" tIns="0" lIns="0" bIns="0" rIns="0"/>
            <a:lstStyle/>
            <a:p>
              <a:pPr algn="l">
                <a:lnSpc>
                  <a:spcPts val="2280"/>
                </a:lnSpc>
              </a:pPr>
              <a:r>
                <a:rPr lang="en-US" sz="1900" b="true">
                  <a:solidFill>
                    <a:srgbClr val="1E293B"/>
                  </a:solidFill>
                  <a:latin typeface="Calibri (MS) Bold"/>
                  <a:ea typeface="Calibri (MS) Bold"/>
                  <a:cs typeface="Calibri (MS) Bold"/>
                  <a:sym typeface="Calibri (MS) Bold"/>
                </a:rPr>
                <a:t>ImageNet classes:</a:t>
              </a:r>
            </a:p>
          </p:txBody>
        </p:sp>
      </p:grpSp>
      <p:grpSp>
        <p:nvGrpSpPr>
          <p:cNvPr name="Group 49" id="49"/>
          <p:cNvGrpSpPr/>
          <p:nvPr/>
        </p:nvGrpSpPr>
        <p:grpSpPr>
          <a:xfrm rot="0">
            <a:off x="12801600" y="3218688"/>
            <a:ext cx="4572000" cy="548640"/>
            <a:chOff x="0" y="0"/>
            <a:chExt cx="6096000" cy="731520"/>
          </a:xfrm>
        </p:grpSpPr>
        <p:sp>
          <p:nvSpPr>
            <p:cNvPr name="Freeform 50" id="50"/>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51" id="51"/>
            <p:cNvSpPr txBox="true"/>
            <p:nvPr/>
          </p:nvSpPr>
          <p:spPr>
            <a:xfrm>
              <a:off x="0" y="-38100"/>
              <a:ext cx="6096000" cy="76962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Dogs, cars, household objects</a:t>
              </a:r>
            </a:p>
          </p:txBody>
        </p:sp>
      </p:grpSp>
      <p:grpSp>
        <p:nvGrpSpPr>
          <p:cNvPr name="Group 52" id="52"/>
          <p:cNvGrpSpPr/>
          <p:nvPr/>
        </p:nvGrpSpPr>
        <p:grpSpPr>
          <a:xfrm rot="0">
            <a:off x="9656064" y="3822192"/>
            <a:ext cx="3108960" cy="548640"/>
            <a:chOff x="0" y="0"/>
            <a:chExt cx="4145280" cy="731520"/>
          </a:xfrm>
        </p:grpSpPr>
        <p:sp>
          <p:nvSpPr>
            <p:cNvPr name="Freeform 53" id="53"/>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54" id="54"/>
            <p:cNvSpPr txBox="true"/>
            <p:nvPr/>
          </p:nvSpPr>
          <p:spPr>
            <a:xfrm>
              <a:off x="0" y="-38100"/>
              <a:ext cx="4145280" cy="769620"/>
            </a:xfrm>
            <a:prstGeom prst="rect">
              <a:avLst/>
            </a:prstGeom>
          </p:spPr>
          <p:txBody>
            <a:bodyPr anchor="ctr" rtlCol="false" tIns="0" lIns="0" bIns="0" rIns="0"/>
            <a:lstStyle/>
            <a:p>
              <a:pPr algn="l">
                <a:lnSpc>
                  <a:spcPts val="2280"/>
                </a:lnSpc>
              </a:pPr>
              <a:r>
                <a:rPr lang="en-US" sz="1900" b="true">
                  <a:solidFill>
                    <a:srgbClr val="1E293B"/>
                  </a:solidFill>
                  <a:latin typeface="Calibri (MS) Bold"/>
                  <a:ea typeface="Calibri (MS) Bold"/>
                  <a:cs typeface="Calibri (MS) Bold"/>
                  <a:sym typeface="Calibri (MS) Bold"/>
                </a:rPr>
                <a:t>RS image content:</a:t>
              </a:r>
            </a:p>
          </p:txBody>
        </p:sp>
      </p:grpSp>
      <p:grpSp>
        <p:nvGrpSpPr>
          <p:cNvPr name="Group 55" id="55"/>
          <p:cNvGrpSpPr/>
          <p:nvPr/>
        </p:nvGrpSpPr>
        <p:grpSpPr>
          <a:xfrm rot="0">
            <a:off x="12801600" y="3822192"/>
            <a:ext cx="4572000" cy="548640"/>
            <a:chOff x="0" y="0"/>
            <a:chExt cx="6096000" cy="731520"/>
          </a:xfrm>
        </p:grpSpPr>
        <p:sp>
          <p:nvSpPr>
            <p:cNvPr name="Freeform 56" id="56"/>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57" id="57"/>
            <p:cNvSpPr txBox="true"/>
            <p:nvPr/>
          </p:nvSpPr>
          <p:spPr>
            <a:xfrm>
              <a:off x="0" y="-38100"/>
              <a:ext cx="6096000" cy="76962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Airports, rivers, farmland at bird-eye view</a:t>
              </a:r>
            </a:p>
          </p:txBody>
        </p:sp>
      </p:grpSp>
      <p:grpSp>
        <p:nvGrpSpPr>
          <p:cNvPr name="Group 58" id="58"/>
          <p:cNvGrpSpPr/>
          <p:nvPr/>
        </p:nvGrpSpPr>
        <p:grpSpPr>
          <a:xfrm rot="0">
            <a:off x="9656064" y="4425696"/>
            <a:ext cx="3108960" cy="548640"/>
            <a:chOff x="0" y="0"/>
            <a:chExt cx="4145280" cy="731520"/>
          </a:xfrm>
        </p:grpSpPr>
        <p:sp>
          <p:nvSpPr>
            <p:cNvPr name="Freeform 59" id="59"/>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60" id="60"/>
            <p:cNvSpPr txBox="true"/>
            <p:nvPr/>
          </p:nvSpPr>
          <p:spPr>
            <a:xfrm>
              <a:off x="0" y="-38100"/>
              <a:ext cx="4145280" cy="769620"/>
            </a:xfrm>
            <a:prstGeom prst="rect">
              <a:avLst/>
            </a:prstGeom>
          </p:spPr>
          <p:txBody>
            <a:bodyPr anchor="ctr" rtlCol="false" tIns="0" lIns="0" bIns="0" rIns="0"/>
            <a:lstStyle/>
            <a:p>
              <a:pPr algn="l">
                <a:lnSpc>
                  <a:spcPts val="2280"/>
                </a:lnSpc>
              </a:pPr>
              <a:r>
                <a:rPr lang="en-US" sz="1900" b="true">
                  <a:solidFill>
                    <a:srgbClr val="1E293B"/>
                  </a:solidFill>
                  <a:latin typeface="Calibri (MS) Bold"/>
                  <a:ea typeface="Calibri (MS) Bold"/>
                  <a:cs typeface="Calibri (MS) Bold"/>
                  <a:sym typeface="Calibri (MS) Bold"/>
                </a:rPr>
                <a:t>ImageNet textures:</a:t>
              </a:r>
            </a:p>
          </p:txBody>
        </p:sp>
      </p:grpSp>
      <p:grpSp>
        <p:nvGrpSpPr>
          <p:cNvPr name="Group 61" id="61"/>
          <p:cNvGrpSpPr/>
          <p:nvPr/>
        </p:nvGrpSpPr>
        <p:grpSpPr>
          <a:xfrm rot="0">
            <a:off x="12801600" y="4425696"/>
            <a:ext cx="4572000" cy="548640"/>
            <a:chOff x="0" y="0"/>
            <a:chExt cx="6096000" cy="731520"/>
          </a:xfrm>
        </p:grpSpPr>
        <p:sp>
          <p:nvSpPr>
            <p:cNvPr name="Freeform 62" id="62"/>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63" id="63"/>
            <p:cNvSpPr txBox="true"/>
            <p:nvPr/>
          </p:nvSpPr>
          <p:spPr>
            <a:xfrm>
              <a:off x="0" y="-38100"/>
              <a:ext cx="6096000" cy="76962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Natural photo sharpness, ground-level lighting</a:t>
              </a:r>
            </a:p>
          </p:txBody>
        </p:sp>
      </p:grpSp>
      <p:grpSp>
        <p:nvGrpSpPr>
          <p:cNvPr name="Group 64" id="64"/>
          <p:cNvGrpSpPr/>
          <p:nvPr/>
        </p:nvGrpSpPr>
        <p:grpSpPr>
          <a:xfrm rot="0">
            <a:off x="9656064" y="5029200"/>
            <a:ext cx="3108960" cy="548640"/>
            <a:chOff x="0" y="0"/>
            <a:chExt cx="4145280" cy="731520"/>
          </a:xfrm>
        </p:grpSpPr>
        <p:sp>
          <p:nvSpPr>
            <p:cNvPr name="Freeform 65" id="65"/>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66" id="66"/>
            <p:cNvSpPr txBox="true"/>
            <p:nvPr/>
          </p:nvSpPr>
          <p:spPr>
            <a:xfrm>
              <a:off x="0" y="-38100"/>
              <a:ext cx="4145280" cy="769620"/>
            </a:xfrm>
            <a:prstGeom prst="rect">
              <a:avLst/>
            </a:prstGeom>
          </p:spPr>
          <p:txBody>
            <a:bodyPr anchor="ctr" rtlCol="false" tIns="0" lIns="0" bIns="0" rIns="0"/>
            <a:lstStyle/>
            <a:p>
              <a:pPr algn="l">
                <a:lnSpc>
                  <a:spcPts val="2280"/>
                </a:lnSpc>
              </a:pPr>
              <a:r>
                <a:rPr lang="en-US" sz="1900" b="true">
                  <a:solidFill>
                    <a:srgbClr val="1E293B"/>
                  </a:solidFill>
                  <a:latin typeface="Calibri (MS) Bold"/>
                  <a:ea typeface="Calibri (MS) Bold"/>
                  <a:cs typeface="Calibri (MS) Bold"/>
                  <a:sym typeface="Calibri (MS) Bold"/>
                </a:rPr>
                <a:t>RS image textures:</a:t>
              </a:r>
            </a:p>
          </p:txBody>
        </p:sp>
      </p:grpSp>
      <p:grpSp>
        <p:nvGrpSpPr>
          <p:cNvPr name="Group 67" id="67"/>
          <p:cNvGrpSpPr/>
          <p:nvPr/>
        </p:nvGrpSpPr>
        <p:grpSpPr>
          <a:xfrm rot="0">
            <a:off x="12801600" y="5029200"/>
            <a:ext cx="4572000" cy="548640"/>
            <a:chOff x="0" y="0"/>
            <a:chExt cx="6096000" cy="731520"/>
          </a:xfrm>
        </p:grpSpPr>
        <p:sp>
          <p:nvSpPr>
            <p:cNvPr name="Freeform 68" id="68"/>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375" r="0" b="-112375"/>
              </a:stretch>
            </a:blipFill>
          </p:spPr>
        </p:sp>
        <p:sp>
          <p:nvSpPr>
            <p:cNvPr name="TextBox 69" id="69"/>
            <p:cNvSpPr txBox="true"/>
            <p:nvPr/>
          </p:nvSpPr>
          <p:spPr>
            <a:xfrm>
              <a:off x="0" y="-38100"/>
              <a:ext cx="6096000" cy="76962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Overhead perspective, uniform resolution, no shadows</a:t>
              </a:r>
            </a:p>
          </p:txBody>
        </p:sp>
      </p:grpSp>
      <p:grpSp>
        <p:nvGrpSpPr>
          <p:cNvPr name="Group 70" id="70"/>
          <p:cNvGrpSpPr/>
          <p:nvPr/>
        </p:nvGrpSpPr>
        <p:grpSpPr>
          <a:xfrm rot="0">
            <a:off x="9320527" y="6028687"/>
            <a:ext cx="8242297" cy="3944617"/>
            <a:chOff x="0" y="0"/>
            <a:chExt cx="10989729" cy="5259489"/>
          </a:xfrm>
        </p:grpSpPr>
        <p:sp>
          <p:nvSpPr>
            <p:cNvPr name="Freeform 71" id="71"/>
            <p:cNvSpPr/>
            <p:nvPr/>
          </p:nvSpPr>
          <p:spPr>
            <a:xfrm flipH="false" flipV="false" rot="0">
              <a:off x="8509" y="8509"/>
              <a:ext cx="10972800" cy="5242560"/>
            </a:xfrm>
            <a:custGeom>
              <a:avLst/>
              <a:gdLst/>
              <a:ahLst/>
              <a:cxnLst/>
              <a:rect r="r" b="b" t="t" l="l"/>
              <a:pathLst>
                <a:path h="5242560" w="10972800">
                  <a:moveTo>
                    <a:pt x="0" y="0"/>
                  </a:moveTo>
                  <a:lnTo>
                    <a:pt x="10972800" y="0"/>
                  </a:lnTo>
                  <a:lnTo>
                    <a:pt x="10972800" y="5242560"/>
                  </a:lnTo>
                  <a:lnTo>
                    <a:pt x="0" y="5242560"/>
                  </a:lnTo>
                  <a:close/>
                </a:path>
              </a:pathLst>
            </a:custGeom>
            <a:solidFill>
              <a:srgbClr val="F0FDF4"/>
            </a:solidFill>
          </p:spPr>
        </p:sp>
        <p:sp>
          <p:nvSpPr>
            <p:cNvPr name="Freeform 72" id="72"/>
            <p:cNvSpPr/>
            <p:nvPr/>
          </p:nvSpPr>
          <p:spPr>
            <a:xfrm flipH="false" flipV="false" rot="0">
              <a:off x="0" y="0"/>
              <a:ext cx="10989818" cy="5259578"/>
            </a:xfrm>
            <a:custGeom>
              <a:avLst/>
              <a:gdLst/>
              <a:ahLst/>
              <a:cxnLst/>
              <a:rect r="r" b="b" t="t" l="l"/>
              <a:pathLst>
                <a:path h="5259578" w="10989818">
                  <a:moveTo>
                    <a:pt x="8509" y="0"/>
                  </a:moveTo>
                  <a:lnTo>
                    <a:pt x="10981309" y="0"/>
                  </a:lnTo>
                  <a:cubicBezTo>
                    <a:pt x="10986008" y="0"/>
                    <a:pt x="10989818" y="3810"/>
                    <a:pt x="10989818" y="8509"/>
                  </a:cubicBezTo>
                  <a:lnTo>
                    <a:pt x="10989818" y="5251069"/>
                  </a:lnTo>
                  <a:cubicBezTo>
                    <a:pt x="10989818" y="5255768"/>
                    <a:pt x="10986008" y="5259578"/>
                    <a:pt x="10981309" y="5259578"/>
                  </a:cubicBezTo>
                  <a:lnTo>
                    <a:pt x="8509" y="5259578"/>
                  </a:lnTo>
                  <a:cubicBezTo>
                    <a:pt x="3810" y="5259578"/>
                    <a:pt x="0" y="5255768"/>
                    <a:pt x="0" y="5251069"/>
                  </a:cubicBezTo>
                  <a:lnTo>
                    <a:pt x="0" y="8509"/>
                  </a:lnTo>
                  <a:cubicBezTo>
                    <a:pt x="0" y="3810"/>
                    <a:pt x="3810" y="0"/>
                    <a:pt x="8509" y="0"/>
                  </a:cubicBezTo>
                  <a:moveTo>
                    <a:pt x="8509" y="16891"/>
                  </a:moveTo>
                  <a:lnTo>
                    <a:pt x="8509" y="8509"/>
                  </a:lnTo>
                  <a:lnTo>
                    <a:pt x="17018" y="8509"/>
                  </a:lnTo>
                  <a:lnTo>
                    <a:pt x="17018" y="5251069"/>
                  </a:lnTo>
                  <a:lnTo>
                    <a:pt x="8509" y="5251069"/>
                  </a:lnTo>
                  <a:lnTo>
                    <a:pt x="8509" y="5242560"/>
                  </a:lnTo>
                  <a:lnTo>
                    <a:pt x="10981309" y="5242560"/>
                  </a:lnTo>
                  <a:lnTo>
                    <a:pt x="10981309" y="5251069"/>
                  </a:lnTo>
                  <a:lnTo>
                    <a:pt x="10972800" y="5251069"/>
                  </a:lnTo>
                  <a:lnTo>
                    <a:pt x="10972800" y="8509"/>
                  </a:lnTo>
                  <a:lnTo>
                    <a:pt x="10981309" y="8509"/>
                  </a:lnTo>
                  <a:lnTo>
                    <a:pt x="10981309" y="17018"/>
                  </a:lnTo>
                  <a:lnTo>
                    <a:pt x="8509" y="17018"/>
                  </a:lnTo>
                  <a:close/>
                </a:path>
              </a:pathLst>
            </a:custGeom>
            <a:solidFill>
              <a:srgbClr val="E2E8F0"/>
            </a:solidFill>
          </p:spPr>
        </p:sp>
      </p:grpSp>
      <p:grpSp>
        <p:nvGrpSpPr>
          <p:cNvPr name="Group 73" id="73"/>
          <p:cNvGrpSpPr/>
          <p:nvPr/>
        </p:nvGrpSpPr>
        <p:grpSpPr>
          <a:xfrm rot="0">
            <a:off x="9601200" y="6041384"/>
            <a:ext cx="7680960" cy="512064"/>
            <a:chOff x="0" y="0"/>
            <a:chExt cx="10241280" cy="682752"/>
          </a:xfrm>
        </p:grpSpPr>
        <p:sp>
          <p:nvSpPr>
            <p:cNvPr name="Freeform 74" id="74"/>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75" id="75"/>
            <p:cNvSpPr txBox="true"/>
            <p:nvPr/>
          </p:nvSpPr>
          <p:spPr>
            <a:xfrm>
              <a:off x="0" y="-38100"/>
              <a:ext cx="10241280" cy="720852"/>
            </a:xfrm>
            <a:prstGeom prst="rect">
              <a:avLst/>
            </a:prstGeom>
          </p:spPr>
          <p:txBody>
            <a:bodyPr anchor="ctr" rtlCol="false" tIns="0" lIns="0" bIns="0" rIns="0"/>
            <a:lstStyle/>
            <a:p>
              <a:pPr algn="l">
                <a:lnSpc>
                  <a:spcPts val="2400"/>
                </a:lnSpc>
              </a:pPr>
              <a:r>
                <a:rPr lang="en-US" sz="2000" b="true">
                  <a:solidFill>
                    <a:srgbClr val="059669"/>
                  </a:solidFill>
                  <a:latin typeface="Calibri (MS) Bold"/>
                  <a:ea typeface="Calibri (MS) Bold"/>
                  <a:cs typeface="Calibri (MS) Bold"/>
                  <a:sym typeface="Calibri (MS) Bold"/>
                </a:rPr>
                <a:t>Implementation sketch</a:t>
              </a:r>
            </a:p>
          </p:txBody>
        </p:sp>
      </p:grpSp>
      <p:grpSp>
        <p:nvGrpSpPr>
          <p:cNvPr name="Group 76" id="76"/>
          <p:cNvGrpSpPr/>
          <p:nvPr/>
        </p:nvGrpSpPr>
        <p:grpSpPr>
          <a:xfrm rot="0">
            <a:off x="9601200" y="6524873"/>
            <a:ext cx="7772400" cy="3422024"/>
            <a:chOff x="0" y="0"/>
            <a:chExt cx="10363200" cy="4562698"/>
          </a:xfrm>
        </p:grpSpPr>
        <p:sp>
          <p:nvSpPr>
            <p:cNvPr name="Freeform 77" id="77"/>
            <p:cNvSpPr/>
            <p:nvPr/>
          </p:nvSpPr>
          <p:spPr>
            <a:xfrm flipH="false" flipV="false" rot="0">
              <a:off x="0" y="0"/>
              <a:ext cx="10363200" cy="4562698"/>
            </a:xfrm>
            <a:custGeom>
              <a:avLst/>
              <a:gdLst/>
              <a:ahLst/>
              <a:cxnLst/>
              <a:rect r="r" b="b" t="t" l="l"/>
              <a:pathLst>
                <a:path h="4562698" w="10363200">
                  <a:moveTo>
                    <a:pt x="0" y="0"/>
                  </a:moveTo>
                  <a:lnTo>
                    <a:pt x="10363200" y="0"/>
                  </a:lnTo>
                  <a:lnTo>
                    <a:pt x="10363200" y="4562698"/>
                  </a:lnTo>
                  <a:lnTo>
                    <a:pt x="0" y="4562698"/>
                  </a:lnTo>
                  <a:close/>
                </a:path>
              </a:pathLst>
            </a:custGeom>
            <a:blipFill>
              <a:blip r:embed="rId3">
                <a:alphaModFix amt="0"/>
              </a:blip>
              <a:stretch>
                <a:fillRect l="-1925" t="0" r="-1925" b="8079"/>
              </a:stretch>
            </a:blipFill>
          </p:spPr>
        </p:sp>
        <p:sp>
          <p:nvSpPr>
            <p:cNvPr name="TextBox 78" id="78"/>
            <p:cNvSpPr txBox="true"/>
            <p:nvPr/>
          </p:nvSpPr>
          <p:spPr>
            <a:xfrm>
              <a:off x="0" y="-38100"/>
              <a:ext cx="10363200" cy="4600798"/>
            </a:xfrm>
            <a:prstGeom prst="rect">
              <a:avLst/>
            </a:prstGeom>
          </p:spPr>
          <p:txBody>
            <a:bodyPr anchor="ctr" rtlCol="false" tIns="0" lIns="0" bIns="0" rIns="0"/>
            <a:lstStyle/>
            <a:p>
              <a:pPr algn="l">
                <a:lnSpc>
                  <a:spcPts val="2039"/>
                </a:lnSpc>
              </a:pPr>
              <a:r>
                <a:rPr lang="en-US" sz="1700">
                  <a:solidFill>
                    <a:srgbClr val="0F2347"/>
                  </a:solidFill>
                  <a:latin typeface="Consolas"/>
                  <a:ea typeface="Consolas"/>
                  <a:cs typeface="Consolas"/>
                  <a:sym typeface="Consolas"/>
                </a:rPr>
                <a:t># Option A: Swin-v2</a:t>
              </a:r>
            </a:p>
            <a:p>
              <a:pPr algn="l">
                <a:lnSpc>
                  <a:spcPts val="2039"/>
                </a:lnSpc>
              </a:pPr>
              <a:r>
                <a:rPr lang="en-US" sz="1700">
                  <a:solidFill>
                    <a:srgbClr val="0F2347"/>
                  </a:solidFill>
                  <a:latin typeface="Consolas"/>
                  <a:ea typeface="Consolas"/>
                  <a:cs typeface="Consolas"/>
                  <a:sym typeface="Consolas"/>
                </a:rPr>
                <a:t>from transformers import Swinv2Model</a:t>
              </a:r>
            </a:p>
            <a:p>
              <a:pPr algn="l">
                <a:lnSpc>
                  <a:spcPts val="2039"/>
                </a:lnSpc>
              </a:pPr>
              <a:r>
                <a:rPr lang="en-US" sz="1700">
                  <a:solidFill>
                    <a:srgbClr val="0F2347"/>
                  </a:solidFill>
                  <a:latin typeface="Consolas"/>
                  <a:ea typeface="Consolas"/>
                  <a:cs typeface="Consolas"/>
                  <a:sym typeface="Consolas"/>
                </a:rPr>
                <a:t>self.swin = Swinv2Model.from_pretrained(</a:t>
              </a:r>
            </a:p>
            <a:p>
              <a:pPr algn="l">
                <a:lnSpc>
                  <a:spcPts val="2039"/>
                </a:lnSpc>
              </a:pPr>
              <a:r>
                <a:rPr lang="en-US" sz="1700">
                  <a:solidFill>
                    <a:srgbClr val="0F2347"/>
                  </a:solidFill>
                  <a:latin typeface="Consolas"/>
                  <a:ea typeface="Consolas"/>
                  <a:cs typeface="Consolas"/>
                  <a:sym typeface="Consolas"/>
                </a:rPr>
                <a:t>  "microsoft/swinv2-base-patch4-window8-256"</a:t>
              </a:r>
            </a:p>
            <a:p>
              <a:pPr algn="l">
                <a:lnSpc>
                  <a:spcPts val="2039"/>
                </a:lnSpc>
              </a:pPr>
              <a:r>
                <a:rPr lang="en-US" sz="1700">
                  <a:solidFill>
                    <a:srgbClr val="0F2347"/>
                  </a:solidFill>
                  <a:latin typeface="Consolas"/>
                  <a:ea typeface="Consolas"/>
                  <a:cs typeface="Consolas"/>
                  <a:sym typeface="Consolas"/>
                </a:rPr>
                <a:t>)</a:t>
              </a:r>
            </a:p>
            <a:p>
              <a:pPr algn="l">
                <a:lnSpc>
                  <a:spcPts val="2039"/>
                </a:lnSpc>
              </a:pPr>
            </a:p>
            <a:p>
              <a:pPr algn="l">
                <a:lnSpc>
                  <a:spcPts val="2039"/>
                </a:lnSpc>
              </a:pPr>
              <a:r>
                <a:rPr lang="en-US" sz="1700">
                  <a:solidFill>
                    <a:srgbClr val="0F2347"/>
                  </a:solidFill>
                  <a:latin typeface="Consolas"/>
                  <a:ea typeface="Consolas"/>
                  <a:cs typeface="Consolas"/>
                  <a:sym typeface="Consolas"/>
                </a:rPr>
                <a:t># Option B: RemoteCLIP</a:t>
              </a:r>
            </a:p>
            <a:p>
              <a:pPr algn="l">
                <a:lnSpc>
                  <a:spcPts val="2039"/>
                </a:lnSpc>
              </a:pPr>
              <a:r>
                <a:rPr lang="en-US" sz="1700">
                  <a:solidFill>
                    <a:srgbClr val="0F2347"/>
                  </a:solidFill>
                  <a:latin typeface="Consolas"/>
                  <a:ea typeface="Consolas"/>
                  <a:cs typeface="Consolas"/>
                  <a:sym typeface="Consolas"/>
                </a:rPr>
                <a:t>import remoteclip</a:t>
              </a:r>
            </a:p>
            <a:p>
              <a:pPr algn="l">
                <a:lnSpc>
                  <a:spcPts val="2039"/>
                </a:lnSpc>
              </a:pPr>
              <a:r>
                <a:rPr lang="en-US" sz="1700">
                  <a:solidFill>
                    <a:srgbClr val="0F2347"/>
                  </a:solidFill>
                  <a:latin typeface="Consolas"/>
                  <a:ea typeface="Consolas"/>
                  <a:cs typeface="Consolas"/>
                  <a:sym typeface="Consolas"/>
                </a:rPr>
                <a:t>model, _, preprocess = \</a:t>
              </a:r>
            </a:p>
            <a:p>
              <a:pPr algn="l">
                <a:lnSpc>
                  <a:spcPts val="2039"/>
                </a:lnSpc>
              </a:pPr>
              <a:r>
                <a:rPr lang="en-US" sz="1700">
                  <a:solidFill>
                    <a:srgbClr val="0F2347"/>
                  </a:solidFill>
                  <a:latin typeface="Consolas"/>
                  <a:ea typeface="Consolas"/>
                  <a:cs typeface="Consolas"/>
                  <a:sym typeface="Consolas"/>
                </a:rPr>
                <a:t>  remoteclip.create_model_from_pretrained(</a:t>
              </a:r>
            </a:p>
            <a:p>
              <a:pPr algn="l">
                <a:lnSpc>
                  <a:spcPts val="2039"/>
                </a:lnSpc>
              </a:pPr>
              <a:r>
                <a:rPr lang="en-US" sz="1700">
                  <a:solidFill>
                    <a:srgbClr val="0F2347"/>
                  </a:solidFill>
                  <a:latin typeface="Consolas"/>
                  <a:ea typeface="Consolas"/>
                  <a:cs typeface="Consolas"/>
                  <a:sym typeface="Consolas"/>
                </a:rPr>
                <a:t>    "RN50", "RemoteCLIP-RN50.pt"</a:t>
              </a:r>
            </a:p>
            <a:p>
              <a:pPr algn="l">
                <a:lnSpc>
                  <a:spcPts val="2039"/>
                </a:lnSpc>
              </a:pPr>
              <a:r>
                <a:rPr lang="en-US" sz="1700">
                  <a:solidFill>
                    <a:srgbClr val="0F2347"/>
                  </a:solidFill>
                  <a:latin typeface="Consolas"/>
                  <a:ea typeface="Consolas"/>
                  <a:cs typeface="Consolas"/>
                  <a:sym typeface="Consolas"/>
                </a:rPr>
                <a:t>  )</a:t>
              </a:r>
            </a:p>
            <a:p>
              <a:pPr algn="l">
                <a:lnSpc>
                  <a:spcPts val="2039"/>
                </a:lnSpc>
              </a:pPr>
              <a:r>
                <a:rPr lang="en-US" sz="1700">
                  <a:solidFill>
                    <a:srgbClr val="0F2347"/>
                  </a:solidFill>
                  <a:latin typeface="Consolas"/>
                  <a:ea typeface="Consolas"/>
                  <a:cs typeface="Consolas"/>
                  <a:sym typeface="Consolas"/>
                </a:rPr>
                <a:t>self.visual = model.visual</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7C3AED"/>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7C3AED"/>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02 · AMFF FUSION</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Direction 2: Richer Multi-Scale Fusion in AMFF</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462527"/>
            <a:ext cx="5407657" cy="7510777"/>
            <a:chOff x="0" y="0"/>
            <a:chExt cx="7210209" cy="10014369"/>
          </a:xfrm>
        </p:grpSpPr>
        <p:sp>
          <p:nvSpPr>
            <p:cNvPr name="Freeform 14" id="14"/>
            <p:cNvSpPr/>
            <p:nvPr/>
          </p:nvSpPr>
          <p:spPr>
            <a:xfrm flipH="false" flipV="false" rot="0">
              <a:off x="8509" y="8509"/>
              <a:ext cx="7193280" cy="9997440"/>
            </a:xfrm>
            <a:custGeom>
              <a:avLst/>
              <a:gdLst/>
              <a:ahLst/>
              <a:cxnLst/>
              <a:rect r="r" b="b" t="t" l="l"/>
              <a:pathLst>
                <a:path h="9997440" w="7193280">
                  <a:moveTo>
                    <a:pt x="0" y="0"/>
                  </a:moveTo>
                  <a:lnTo>
                    <a:pt x="7193280" y="0"/>
                  </a:lnTo>
                  <a:lnTo>
                    <a:pt x="7193280" y="9997440"/>
                  </a:lnTo>
                  <a:lnTo>
                    <a:pt x="0" y="9997440"/>
                  </a:lnTo>
                  <a:close/>
                </a:path>
              </a:pathLst>
            </a:custGeom>
            <a:solidFill>
              <a:srgbClr val="FFFFFF"/>
            </a:solidFill>
          </p:spPr>
        </p:sp>
        <p:sp>
          <p:nvSpPr>
            <p:cNvPr name="Freeform 15" id="15"/>
            <p:cNvSpPr/>
            <p:nvPr/>
          </p:nvSpPr>
          <p:spPr>
            <a:xfrm flipH="false" flipV="false" rot="0">
              <a:off x="0" y="0"/>
              <a:ext cx="7210299" cy="10014458"/>
            </a:xfrm>
            <a:custGeom>
              <a:avLst/>
              <a:gdLst/>
              <a:ahLst/>
              <a:cxnLst/>
              <a:rect r="r" b="b" t="t" l="l"/>
              <a:pathLst>
                <a:path h="10014458" w="7210299">
                  <a:moveTo>
                    <a:pt x="8509" y="0"/>
                  </a:moveTo>
                  <a:lnTo>
                    <a:pt x="7201789" y="0"/>
                  </a:lnTo>
                  <a:cubicBezTo>
                    <a:pt x="7206488" y="0"/>
                    <a:pt x="7210299" y="3810"/>
                    <a:pt x="7210299" y="8509"/>
                  </a:cubicBezTo>
                  <a:lnTo>
                    <a:pt x="7210299" y="10005949"/>
                  </a:lnTo>
                  <a:cubicBezTo>
                    <a:pt x="7210299" y="10010648"/>
                    <a:pt x="7206488" y="10014458"/>
                    <a:pt x="7201789" y="10014458"/>
                  </a:cubicBezTo>
                  <a:lnTo>
                    <a:pt x="8509" y="10014458"/>
                  </a:lnTo>
                  <a:cubicBezTo>
                    <a:pt x="3810" y="10014458"/>
                    <a:pt x="0" y="10010648"/>
                    <a:pt x="0" y="10005949"/>
                  </a:cubicBezTo>
                  <a:lnTo>
                    <a:pt x="0" y="8509"/>
                  </a:lnTo>
                  <a:cubicBezTo>
                    <a:pt x="0" y="3810"/>
                    <a:pt x="3810" y="0"/>
                    <a:pt x="8509" y="0"/>
                  </a:cubicBezTo>
                  <a:moveTo>
                    <a:pt x="8509" y="16891"/>
                  </a:moveTo>
                  <a:lnTo>
                    <a:pt x="8509" y="8509"/>
                  </a:lnTo>
                  <a:lnTo>
                    <a:pt x="17018" y="8509"/>
                  </a:lnTo>
                  <a:lnTo>
                    <a:pt x="17018" y="10005949"/>
                  </a:lnTo>
                  <a:lnTo>
                    <a:pt x="8509" y="10005949"/>
                  </a:lnTo>
                  <a:lnTo>
                    <a:pt x="8509" y="9997440"/>
                  </a:lnTo>
                  <a:lnTo>
                    <a:pt x="7201789" y="9997440"/>
                  </a:lnTo>
                  <a:lnTo>
                    <a:pt x="7201789" y="10005949"/>
                  </a:lnTo>
                  <a:lnTo>
                    <a:pt x="7193280" y="10005949"/>
                  </a:lnTo>
                  <a:lnTo>
                    <a:pt x="7193280" y="8509"/>
                  </a:lnTo>
                  <a:lnTo>
                    <a:pt x="7201789" y="8509"/>
                  </a:lnTo>
                  <a:lnTo>
                    <a:pt x="7201789" y="17018"/>
                  </a:lnTo>
                  <a:lnTo>
                    <a:pt x="8509" y="17018"/>
                  </a:lnTo>
                  <a:close/>
                </a:path>
              </a:pathLst>
            </a:custGeom>
            <a:solidFill>
              <a:srgbClr val="E2E8F0"/>
            </a:solidFill>
          </p:spPr>
        </p:sp>
      </p:grpSp>
      <p:grpSp>
        <p:nvGrpSpPr>
          <p:cNvPr name="Group 16" id="16"/>
          <p:cNvGrpSpPr/>
          <p:nvPr/>
        </p:nvGrpSpPr>
        <p:grpSpPr>
          <a:xfrm rot="0">
            <a:off x="718823" y="2456183"/>
            <a:ext cx="5420363" cy="976379"/>
            <a:chOff x="0" y="0"/>
            <a:chExt cx="7227151" cy="1301839"/>
          </a:xfrm>
        </p:grpSpPr>
        <p:sp>
          <p:nvSpPr>
            <p:cNvPr name="Freeform 17" id="17"/>
            <p:cNvSpPr/>
            <p:nvPr/>
          </p:nvSpPr>
          <p:spPr>
            <a:xfrm flipH="false" flipV="false" rot="0">
              <a:off x="16891" y="16891"/>
              <a:ext cx="7193281" cy="1267968"/>
            </a:xfrm>
            <a:custGeom>
              <a:avLst/>
              <a:gdLst/>
              <a:ahLst/>
              <a:cxnLst/>
              <a:rect r="r" b="b" t="t" l="l"/>
              <a:pathLst>
                <a:path h="1267968" w="7193281">
                  <a:moveTo>
                    <a:pt x="0" y="0"/>
                  </a:moveTo>
                  <a:lnTo>
                    <a:pt x="7193281" y="0"/>
                  </a:lnTo>
                  <a:lnTo>
                    <a:pt x="7193281" y="1267968"/>
                  </a:lnTo>
                  <a:lnTo>
                    <a:pt x="0" y="1267968"/>
                  </a:lnTo>
                  <a:close/>
                </a:path>
              </a:pathLst>
            </a:custGeom>
            <a:solidFill>
              <a:srgbClr val="7C3AED"/>
            </a:solidFill>
          </p:spPr>
        </p:sp>
        <p:sp>
          <p:nvSpPr>
            <p:cNvPr name="Freeform 18" id="18"/>
            <p:cNvSpPr/>
            <p:nvPr/>
          </p:nvSpPr>
          <p:spPr>
            <a:xfrm flipH="false" flipV="false" rot="0">
              <a:off x="0" y="0"/>
              <a:ext cx="7227062" cy="1301750"/>
            </a:xfrm>
            <a:custGeom>
              <a:avLst/>
              <a:gdLst/>
              <a:ahLst/>
              <a:cxnLst/>
              <a:rect r="r" b="b" t="t" l="l"/>
              <a:pathLst>
                <a:path h="1301750" w="7227062">
                  <a:moveTo>
                    <a:pt x="16891" y="0"/>
                  </a:moveTo>
                  <a:lnTo>
                    <a:pt x="7210172" y="0"/>
                  </a:lnTo>
                  <a:cubicBezTo>
                    <a:pt x="7219569" y="0"/>
                    <a:pt x="7227062" y="7620"/>
                    <a:pt x="7227062" y="16891"/>
                  </a:cubicBezTo>
                  <a:lnTo>
                    <a:pt x="7227062" y="1284859"/>
                  </a:lnTo>
                  <a:cubicBezTo>
                    <a:pt x="7227062" y="1294257"/>
                    <a:pt x="7219442" y="1301750"/>
                    <a:pt x="7210172"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7210172" y="1267968"/>
                  </a:lnTo>
                  <a:lnTo>
                    <a:pt x="7210172" y="1284859"/>
                  </a:lnTo>
                  <a:lnTo>
                    <a:pt x="7193280" y="1284859"/>
                  </a:lnTo>
                  <a:lnTo>
                    <a:pt x="7193280" y="16891"/>
                  </a:lnTo>
                  <a:lnTo>
                    <a:pt x="7210172" y="16891"/>
                  </a:lnTo>
                  <a:lnTo>
                    <a:pt x="7210172" y="33909"/>
                  </a:lnTo>
                  <a:lnTo>
                    <a:pt x="16891" y="33909"/>
                  </a:lnTo>
                  <a:close/>
                </a:path>
              </a:pathLst>
            </a:custGeom>
            <a:solidFill>
              <a:srgbClr val="7C3AED"/>
            </a:solidFill>
          </p:spPr>
        </p:sp>
      </p:grpSp>
      <p:grpSp>
        <p:nvGrpSpPr>
          <p:cNvPr name="Group 19" id="19"/>
          <p:cNvGrpSpPr/>
          <p:nvPr/>
        </p:nvGrpSpPr>
        <p:grpSpPr>
          <a:xfrm rot="0">
            <a:off x="914400" y="2487168"/>
            <a:ext cx="5120640" cy="548640"/>
            <a:chOff x="0" y="0"/>
            <a:chExt cx="6827520" cy="731520"/>
          </a:xfrm>
        </p:grpSpPr>
        <p:sp>
          <p:nvSpPr>
            <p:cNvPr name="Freeform 20" id="20"/>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21" id="21"/>
            <p:cNvSpPr txBox="true"/>
            <p:nvPr/>
          </p:nvSpPr>
          <p:spPr>
            <a:xfrm>
              <a:off x="0" y="-47625"/>
              <a:ext cx="6827520" cy="779145"/>
            </a:xfrm>
            <a:prstGeom prst="rect">
              <a:avLst/>
            </a:prstGeom>
          </p:spPr>
          <p:txBody>
            <a:bodyPr anchor="ctr" rtlCol="false" tIns="0" lIns="0" bIns="0" rIns="0"/>
            <a:lstStyle/>
            <a:p>
              <a:pPr algn="l">
                <a:lnSpc>
                  <a:spcPts val="2760"/>
                </a:lnSpc>
              </a:pPr>
              <a:r>
                <a:rPr lang="en-US" sz="2300" b="true">
                  <a:solidFill>
                    <a:srgbClr val="FFFFFF"/>
                  </a:solidFill>
                  <a:latin typeface="Calibri (MS) Bold"/>
                  <a:ea typeface="Calibri (MS) Bold"/>
                  <a:cs typeface="Calibri (MS) Bold"/>
                  <a:sym typeface="Calibri (MS) Bold"/>
                </a:rPr>
                <a:t>Replace SENet → CBAM</a:t>
              </a:r>
            </a:p>
          </p:txBody>
        </p:sp>
      </p:grpSp>
      <p:grpSp>
        <p:nvGrpSpPr>
          <p:cNvPr name="Group 22" id="22"/>
          <p:cNvGrpSpPr/>
          <p:nvPr/>
        </p:nvGrpSpPr>
        <p:grpSpPr>
          <a:xfrm rot="0">
            <a:off x="914400" y="2980944"/>
            <a:ext cx="5120640" cy="365760"/>
            <a:chOff x="0" y="0"/>
            <a:chExt cx="6827520" cy="487680"/>
          </a:xfrm>
        </p:grpSpPr>
        <p:sp>
          <p:nvSpPr>
            <p:cNvPr name="Freeform 23" id="23"/>
            <p:cNvSpPr/>
            <p:nvPr/>
          </p:nvSpPr>
          <p:spPr>
            <a:xfrm flipH="false" flipV="false" rot="0">
              <a:off x="0" y="0"/>
              <a:ext cx="6827520" cy="487680"/>
            </a:xfrm>
            <a:custGeom>
              <a:avLst/>
              <a:gdLst/>
              <a:ahLst/>
              <a:cxnLst/>
              <a:rect r="r" b="b" t="t" l="l"/>
              <a:pathLst>
                <a:path h="487680" w="6827520">
                  <a:moveTo>
                    <a:pt x="0" y="0"/>
                  </a:moveTo>
                  <a:lnTo>
                    <a:pt x="6827520" y="0"/>
                  </a:lnTo>
                  <a:lnTo>
                    <a:pt x="6827520" y="487680"/>
                  </a:lnTo>
                  <a:lnTo>
                    <a:pt x="0" y="487680"/>
                  </a:lnTo>
                  <a:close/>
                </a:path>
              </a:pathLst>
            </a:custGeom>
            <a:blipFill>
              <a:blip r:embed="rId3">
                <a:alphaModFix amt="0"/>
              </a:blip>
              <a:stretch>
                <a:fillRect l="0" t="-222790" r="0" b="-222790"/>
              </a:stretch>
            </a:blipFill>
          </p:spPr>
        </p:sp>
        <p:sp>
          <p:nvSpPr>
            <p:cNvPr name="TextBox 24" id="24"/>
            <p:cNvSpPr txBox="true"/>
            <p:nvPr/>
          </p:nvSpPr>
          <p:spPr>
            <a:xfrm>
              <a:off x="0" y="-38100"/>
              <a:ext cx="6827520" cy="52578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Convolutional Block Attention Module</a:t>
              </a:r>
            </a:p>
          </p:txBody>
        </p:sp>
      </p:grpSp>
      <p:grpSp>
        <p:nvGrpSpPr>
          <p:cNvPr name="Group 25" id="25"/>
          <p:cNvGrpSpPr/>
          <p:nvPr/>
        </p:nvGrpSpPr>
        <p:grpSpPr>
          <a:xfrm rot="0">
            <a:off x="950976" y="3474720"/>
            <a:ext cx="5065776" cy="6009722"/>
            <a:chOff x="0" y="0"/>
            <a:chExt cx="6754368" cy="8012962"/>
          </a:xfrm>
        </p:grpSpPr>
        <p:sp>
          <p:nvSpPr>
            <p:cNvPr name="Freeform 26" id="26"/>
            <p:cNvSpPr/>
            <p:nvPr/>
          </p:nvSpPr>
          <p:spPr>
            <a:xfrm flipH="false" flipV="false" rot="0">
              <a:off x="0" y="0"/>
              <a:ext cx="6754368" cy="8012962"/>
            </a:xfrm>
            <a:custGeom>
              <a:avLst/>
              <a:gdLst/>
              <a:ahLst/>
              <a:cxnLst/>
              <a:rect r="r" b="b" t="t" l="l"/>
              <a:pathLst>
                <a:path h="8012962" w="6754368">
                  <a:moveTo>
                    <a:pt x="0" y="0"/>
                  </a:moveTo>
                  <a:lnTo>
                    <a:pt x="6754368" y="0"/>
                  </a:lnTo>
                  <a:lnTo>
                    <a:pt x="6754368" y="8012962"/>
                  </a:lnTo>
                  <a:lnTo>
                    <a:pt x="0" y="8012962"/>
                  </a:lnTo>
                  <a:close/>
                </a:path>
              </a:pathLst>
            </a:custGeom>
            <a:blipFill>
              <a:blip r:embed="rId3">
                <a:alphaModFix amt="0"/>
              </a:blip>
              <a:stretch>
                <a:fillRect l="-112116" t="0" r="-112116" b="-6507"/>
              </a:stretch>
            </a:blipFill>
          </p:spPr>
        </p:sp>
        <p:sp>
          <p:nvSpPr>
            <p:cNvPr name="TextBox 27" id="27"/>
            <p:cNvSpPr txBox="true"/>
            <p:nvPr/>
          </p:nvSpPr>
          <p:spPr>
            <a:xfrm>
              <a:off x="0" y="-38100"/>
              <a:ext cx="6754368" cy="805106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SENet only recalibrates CHANNELS. CBAM adds a second spatial attention stage:</a:t>
              </a:r>
            </a:p>
            <a:p>
              <a:pPr algn="l">
                <a:lnSpc>
                  <a:spcPts val="2280"/>
                </a:lnSpc>
              </a:pPr>
            </a:p>
            <a:p>
              <a:pPr algn="l">
                <a:lnSpc>
                  <a:spcPts val="2280"/>
                </a:lnSpc>
              </a:pPr>
              <a:r>
                <a:rPr lang="en-US" sz="1900">
                  <a:solidFill>
                    <a:srgbClr val="1E293B"/>
                  </a:solidFill>
                  <a:latin typeface="Calibri (MS)"/>
                  <a:ea typeface="Calibri (MS)"/>
                  <a:cs typeface="Calibri (MS)"/>
                  <a:sym typeface="Calibri (MS)"/>
                </a:rPr>
                <a:t>  SENet path:  C-attention → weighted channels</a:t>
              </a:r>
            </a:p>
            <a:p>
              <a:pPr algn="l">
                <a:lnSpc>
                  <a:spcPts val="2280"/>
                </a:lnSpc>
              </a:pPr>
              <a:r>
                <a:rPr lang="en-US" sz="1900">
                  <a:solidFill>
                    <a:srgbClr val="1E293B"/>
                  </a:solidFill>
                  <a:latin typeface="Calibri (MS)"/>
                  <a:ea typeface="Calibri (MS)"/>
                  <a:cs typeface="Calibri (MS)"/>
                  <a:sym typeface="Calibri (MS)"/>
                </a:rPr>
                <a:t>  CBAM path:   C-attention → S-attention → focus map</a:t>
              </a:r>
            </a:p>
            <a:p>
              <a:pPr algn="l">
                <a:lnSpc>
                  <a:spcPts val="2280"/>
                </a:lnSpc>
              </a:pPr>
            </a:p>
            <a:p>
              <a:pPr algn="l">
                <a:lnSpc>
                  <a:spcPts val="2280"/>
                </a:lnSpc>
              </a:pPr>
              <a:r>
                <a:rPr lang="en-US" sz="1900">
                  <a:solidFill>
                    <a:srgbClr val="1E293B"/>
                  </a:solidFill>
                  <a:latin typeface="Calibri (MS)"/>
                  <a:ea typeface="Calibri (MS)"/>
                  <a:cs typeface="Calibri (MS)"/>
                  <a:sym typeface="Calibri (MS)"/>
                </a:rPr>
                <a:t>The spatial map highlights which 7×7 grid cells matter most — directly useful for RS images where objects occupy very different regions.</a:t>
              </a:r>
            </a:p>
            <a:p>
              <a:pPr algn="l">
                <a:lnSpc>
                  <a:spcPts val="2280"/>
                </a:lnSpc>
              </a:pPr>
            </a:p>
            <a:p>
              <a:pPr algn="l">
                <a:lnSpc>
                  <a:spcPts val="2280"/>
                </a:lnSpc>
              </a:pPr>
              <a:r>
                <a:rPr lang="en-US" sz="1900">
                  <a:solidFill>
                    <a:srgbClr val="1E293B"/>
                  </a:solidFill>
                  <a:latin typeface="Calibri (MS)"/>
                  <a:ea typeface="Calibri (MS)"/>
                  <a:cs typeface="Calibri (MS)"/>
                  <a:sym typeface="Calibri (MS)"/>
                </a:rPr>
                <a:t>Cost: +2 small conv layers. Gain: 2D attention instead of 1D.</a:t>
              </a:r>
            </a:p>
          </p:txBody>
        </p:sp>
      </p:grpSp>
      <p:grpSp>
        <p:nvGrpSpPr>
          <p:cNvPr name="Group 28" id="28"/>
          <p:cNvGrpSpPr/>
          <p:nvPr/>
        </p:nvGrpSpPr>
        <p:grpSpPr>
          <a:xfrm rot="0">
            <a:off x="6449311" y="2462527"/>
            <a:ext cx="5407657" cy="7510777"/>
            <a:chOff x="0" y="0"/>
            <a:chExt cx="7210209" cy="10014369"/>
          </a:xfrm>
        </p:grpSpPr>
        <p:sp>
          <p:nvSpPr>
            <p:cNvPr name="Freeform 29" id="29"/>
            <p:cNvSpPr/>
            <p:nvPr/>
          </p:nvSpPr>
          <p:spPr>
            <a:xfrm flipH="false" flipV="false" rot="0">
              <a:off x="8509" y="8509"/>
              <a:ext cx="7193280" cy="9997440"/>
            </a:xfrm>
            <a:custGeom>
              <a:avLst/>
              <a:gdLst/>
              <a:ahLst/>
              <a:cxnLst/>
              <a:rect r="r" b="b" t="t" l="l"/>
              <a:pathLst>
                <a:path h="9997440" w="7193280">
                  <a:moveTo>
                    <a:pt x="0" y="0"/>
                  </a:moveTo>
                  <a:lnTo>
                    <a:pt x="7193280" y="0"/>
                  </a:lnTo>
                  <a:lnTo>
                    <a:pt x="7193280" y="9997440"/>
                  </a:lnTo>
                  <a:lnTo>
                    <a:pt x="0" y="9997440"/>
                  </a:lnTo>
                  <a:close/>
                </a:path>
              </a:pathLst>
            </a:custGeom>
            <a:solidFill>
              <a:srgbClr val="FFFFFF"/>
            </a:solidFill>
          </p:spPr>
        </p:sp>
        <p:sp>
          <p:nvSpPr>
            <p:cNvPr name="Freeform 30" id="30"/>
            <p:cNvSpPr/>
            <p:nvPr/>
          </p:nvSpPr>
          <p:spPr>
            <a:xfrm flipH="false" flipV="false" rot="0">
              <a:off x="0" y="0"/>
              <a:ext cx="7210299" cy="10014458"/>
            </a:xfrm>
            <a:custGeom>
              <a:avLst/>
              <a:gdLst/>
              <a:ahLst/>
              <a:cxnLst/>
              <a:rect r="r" b="b" t="t" l="l"/>
              <a:pathLst>
                <a:path h="10014458" w="7210299">
                  <a:moveTo>
                    <a:pt x="8509" y="0"/>
                  </a:moveTo>
                  <a:lnTo>
                    <a:pt x="7201789" y="0"/>
                  </a:lnTo>
                  <a:cubicBezTo>
                    <a:pt x="7206488" y="0"/>
                    <a:pt x="7210299" y="3810"/>
                    <a:pt x="7210299" y="8509"/>
                  </a:cubicBezTo>
                  <a:lnTo>
                    <a:pt x="7210299" y="10005949"/>
                  </a:lnTo>
                  <a:cubicBezTo>
                    <a:pt x="7210299" y="10010648"/>
                    <a:pt x="7206488" y="10014458"/>
                    <a:pt x="7201789" y="10014458"/>
                  </a:cubicBezTo>
                  <a:lnTo>
                    <a:pt x="8509" y="10014458"/>
                  </a:lnTo>
                  <a:cubicBezTo>
                    <a:pt x="3810" y="10014458"/>
                    <a:pt x="0" y="10010648"/>
                    <a:pt x="0" y="10005949"/>
                  </a:cubicBezTo>
                  <a:lnTo>
                    <a:pt x="0" y="8509"/>
                  </a:lnTo>
                  <a:cubicBezTo>
                    <a:pt x="0" y="3810"/>
                    <a:pt x="3810" y="0"/>
                    <a:pt x="8509" y="0"/>
                  </a:cubicBezTo>
                  <a:moveTo>
                    <a:pt x="8509" y="16891"/>
                  </a:moveTo>
                  <a:lnTo>
                    <a:pt x="8509" y="8509"/>
                  </a:lnTo>
                  <a:lnTo>
                    <a:pt x="17018" y="8509"/>
                  </a:lnTo>
                  <a:lnTo>
                    <a:pt x="17018" y="10005949"/>
                  </a:lnTo>
                  <a:lnTo>
                    <a:pt x="8509" y="10005949"/>
                  </a:lnTo>
                  <a:lnTo>
                    <a:pt x="8509" y="9997440"/>
                  </a:lnTo>
                  <a:lnTo>
                    <a:pt x="7201789" y="9997440"/>
                  </a:lnTo>
                  <a:lnTo>
                    <a:pt x="7201789" y="10005949"/>
                  </a:lnTo>
                  <a:lnTo>
                    <a:pt x="7193280" y="10005949"/>
                  </a:lnTo>
                  <a:lnTo>
                    <a:pt x="7193280" y="8509"/>
                  </a:lnTo>
                  <a:lnTo>
                    <a:pt x="7201789" y="8509"/>
                  </a:lnTo>
                  <a:lnTo>
                    <a:pt x="7201789" y="17018"/>
                  </a:lnTo>
                  <a:lnTo>
                    <a:pt x="8509" y="17018"/>
                  </a:lnTo>
                  <a:close/>
                </a:path>
              </a:pathLst>
            </a:custGeom>
            <a:solidFill>
              <a:srgbClr val="E2E8F0"/>
            </a:solidFill>
          </p:spPr>
        </p:sp>
      </p:grpSp>
      <p:grpSp>
        <p:nvGrpSpPr>
          <p:cNvPr name="Group 31" id="31"/>
          <p:cNvGrpSpPr/>
          <p:nvPr/>
        </p:nvGrpSpPr>
        <p:grpSpPr>
          <a:xfrm rot="0">
            <a:off x="6442967" y="2456183"/>
            <a:ext cx="5420363" cy="976379"/>
            <a:chOff x="0" y="0"/>
            <a:chExt cx="7227151" cy="1301839"/>
          </a:xfrm>
        </p:grpSpPr>
        <p:sp>
          <p:nvSpPr>
            <p:cNvPr name="Freeform 32" id="32"/>
            <p:cNvSpPr/>
            <p:nvPr/>
          </p:nvSpPr>
          <p:spPr>
            <a:xfrm flipH="false" flipV="false" rot="0">
              <a:off x="16891" y="16891"/>
              <a:ext cx="7193281" cy="1267968"/>
            </a:xfrm>
            <a:custGeom>
              <a:avLst/>
              <a:gdLst/>
              <a:ahLst/>
              <a:cxnLst/>
              <a:rect r="r" b="b" t="t" l="l"/>
              <a:pathLst>
                <a:path h="1267968" w="7193281">
                  <a:moveTo>
                    <a:pt x="0" y="0"/>
                  </a:moveTo>
                  <a:lnTo>
                    <a:pt x="7193281" y="0"/>
                  </a:lnTo>
                  <a:lnTo>
                    <a:pt x="7193281" y="1267968"/>
                  </a:lnTo>
                  <a:lnTo>
                    <a:pt x="0" y="1267968"/>
                  </a:lnTo>
                  <a:close/>
                </a:path>
              </a:pathLst>
            </a:custGeom>
            <a:solidFill>
              <a:srgbClr val="D97706"/>
            </a:solidFill>
          </p:spPr>
        </p:sp>
        <p:sp>
          <p:nvSpPr>
            <p:cNvPr name="Freeform 33" id="33"/>
            <p:cNvSpPr/>
            <p:nvPr/>
          </p:nvSpPr>
          <p:spPr>
            <a:xfrm flipH="false" flipV="false" rot="0">
              <a:off x="0" y="0"/>
              <a:ext cx="7227062" cy="1301750"/>
            </a:xfrm>
            <a:custGeom>
              <a:avLst/>
              <a:gdLst/>
              <a:ahLst/>
              <a:cxnLst/>
              <a:rect r="r" b="b" t="t" l="l"/>
              <a:pathLst>
                <a:path h="1301750" w="7227062">
                  <a:moveTo>
                    <a:pt x="16891" y="0"/>
                  </a:moveTo>
                  <a:lnTo>
                    <a:pt x="7210172" y="0"/>
                  </a:lnTo>
                  <a:cubicBezTo>
                    <a:pt x="7219569" y="0"/>
                    <a:pt x="7227062" y="7620"/>
                    <a:pt x="7227062" y="16891"/>
                  </a:cubicBezTo>
                  <a:lnTo>
                    <a:pt x="7227062" y="1284859"/>
                  </a:lnTo>
                  <a:cubicBezTo>
                    <a:pt x="7227062" y="1294257"/>
                    <a:pt x="7219442" y="1301750"/>
                    <a:pt x="7210172"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7210172" y="1267968"/>
                  </a:lnTo>
                  <a:lnTo>
                    <a:pt x="7210172" y="1284859"/>
                  </a:lnTo>
                  <a:lnTo>
                    <a:pt x="7193280" y="1284859"/>
                  </a:lnTo>
                  <a:lnTo>
                    <a:pt x="7193280" y="16891"/>
                  </a:lnTo>
                  <a:lnTo>
                    <a:pt x="7210172" y="16891"/>
                  </a:lnTo>
                  <a:lnTo>
                    <a:pt x="7210172" y="33909"/>
                  </a:lnTo>
                  <a:lnTo>
                    <a:pt x="16891" y="33909"/>
                  </a:lnTo>
                  <a:close/>
                </a:path>
              </a:pathLst>
            </a:custGeom>
            <a:solidFill>
              <a:srgbClr val="D97706"/>
            </a:solidFill>
          </p:spPr>
        </p:sp>
      </p:grpSp>
      <p:grpSp>
        <p:nvGrpSpPr>
          <p:cNvPr name="Group 34" id="34"/>
          <p:cNvGrpSpPr/>
          <p:nvPr/>
        </p:nvGrpSpPr>
        <p:grpSpPr>
          <a:xfrm rot="0">
            <a:off x="6638544" y="2487168"/>
            <a:ext cx="5120640" cy="548640"/>
            <a:chOff x="0" y="0"/>
            <a:chExt cx="6827520" cy="731520"/>
          </a:xfrm>
        </p:grpSpPr>
        <p:sp>
          <p:nvSpPr>
            <p:cNvPr name="Freeform 35" id="35"/>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36" id="36"/>
            <p:cNvSpPr txBox="true"/>
            <p:nvPr/>
          </p:nvSpPr>
          <p:spPr>
            <a:xfrm>
              <a:off x="0" y="-47625"/>
              <a:ext cx="6827520" cy="779145"/>
            </a:xfrm>
            <a:prstGeom prst="rect">
              <a:avLst/>
            </a:prstGeom>
          </p:spPr>
          <p:txBody>
            <a:bodyPr anchor="ctr" rtlCol="false" tIns="0" lIns="0" bIns="0" rIns="0"/>
            <a:lstStyle/>
            <a:p>
              <a:pPr algn="l">
                <a:lnSpc>
                  <a:spcPts val="2760"/>
                </a:lnSpc>
              </a:pPr>
              <a:r>
                <a:rPr lang="en-US" sz="2300" b="true">
                  <a:solidFill>
                    <a:srgbClr val="FFFFFF"/>
                  </a:solidFill>
                  <a:latin typeface="Calibri (MS) Bold"/>
                  <a:ea typeface="Calibri (MS) Bold"/>
                  <a:cs typeface="Calibri (MS) Bold"/>
                  <a:sym typeface="Calibri (MS) Bold"/>
                </a:rPr>
                <a:t>Add Feature Pyramid (FPN)</a:t>
              </a:r>
            </a:p>
          </p:txBody>
        </p:sp>
      </p:grpSp>
      <p:grpSp>
        <p:nvGrpSpPr>
          <p:cNvPr name="Group 37" id="37"/>
          <p:cNvGrpSpPr/>
          <p:nvPr/>
        </p:nvGrpSpPr>
        <p:grpSpPr>
          <a:xfrm rot="0">
            <a:off x="6638544" y="2980944"/>
            <a:ext cx="5120640" cy="365760"/>
            <a:chOff x="0" y="0"/>
            <a:chExt cx="6827520" cy="487680"/>
          </a:xfrm>
        </p:grpSpPr>
        <p:sp>
          <p:nvSpPr>
            <p:cNvPr name="Freeform 38" id="38"/>
            <p:cNvSpPr/>
            <p:nvPr/>
          </p:nvSpPr>
          <p:spPr>
            <a:xfrm flipH="false" flipV="false" rot="0">
              <a:off x="0" y="0"/>
              <a:ext cx="6827520" cy="487680"/>
            </a:xfrm>
            <a:custGeom>
              <a:avLst/>
              <a:gdLst/>
              <a:ahLst/>
              <a:cxnLst/>
              <a:rect r="r" b="b" t="t" l="l"/>
              <a:pathLst>
                <a:path h="487680" w="6827520">
                  <a:moveTo>
                    <a:pt x="0" y="0"/>
                  </a:moveTo>
                  <a:lnTo>
                    <a:pt x="6827520" y="0"/>
                  </a:lnTo>
                  <a:lnTo>
                    <a:pt x="6827520" y="487680"/>
                  </a:lnTo>
                  <a:lnTo>
                    <a:pt x="0" y="487680"/>
                  </a:lnTo>
                  <a:close/>
                </a:path>
              </a:pathLst>
            </a:custGeom>
            <a:blipFill>
              <a:blip r:embed="rId3">
                <a:alphaModFix amt="0"/>
              </a:blip>
              <a:stretch>
                <a:fillRect l="0" t="-222790" r="0" b="-222790"/>
              </a:stretch>
            </a:blipFill>
          </p:spPr>
        </p:sp>
        <p:sp>
          <p:nvSpPr>
            <p:cNvPr name="TextBox 39" id="39"/>
            <p:cNvSpPr txBox="true"/>
            <p:nvPr/>
          </p:nvSpPr>
          <p:spPr>
            <a:xfrm>
              <a:off x="0" y="-38100"/>
              <a:ext cx="6827520" cy="52578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Top-down semantic propagation</a:t>
              </a:r>
            </a:p>
          </p:txBody>
        </p:sp>
      </p:grpSp>
      <p:grpSp>
        <p:nvGrpSpPr>
          <p:cNvPr name="Group 40" id="40"/>
          <p:cNvGrpSpPr/>
          <p:nvPr/>
        </p:nvGrpSpPr>
        <p:grpSpPr>
          <a:xfrm rot="0">
            <a:off x="6675120" y="3474720"/>
            <a:ext cx="5065776" cy="6009722"/>
            <a:chOff x="0" y="0"/>
            <a:chExt cx="6754368" cy="8012962"/>
          </a:xfrm>
        </p:grpSpPr>
        <p:sp>
          <p:nvSpPr>
            <p:cNvPr name="Freeform 41" id="41"/>
            <p:cNvSpPr/>
            <p:nvPr/>
          </p:nvSpPr>
          <p:spPr>
            <a:xfrm flipH="false" flipV="false" rot="0">
              <a:off x="0" y="0"/>
              <a:ext cx="6754368" cy="8012962"/>
            </a:xfrm>
            <a:custGeom>
              <a:avLst/>
              <a:gdLst/>
              <a:ahLst/>
              <a:cxnLst/>
              <a:rect r="r" b="b" t="t" l="l"/>
              <a:pathLst>
                <a:path h="8012962" w="6754368">
                  <a:moveTo>
                    <a:pt x="0" y="0"/>
                  </a:moveTo>
                  <a:lnTo>
                    <a:pt x="6754368" y="0"/>
                  </a:lnTo>
                  <a:lnTo>
                    <a:pt x="6754368" y="8012962"/>
                  </a:lnTo>
                  <a:lnTo>
                    <a:pt x="0" y="8012962"/>
                  </a:lnTo>
                  <a:close/>
                </a:path>
              </a:pathLst>
            </a:custGeom>
            <a:blipFill>
              <a:blip r:embed="rId3">
                <a:alphaModFix amt="0"/>
              </a:blip>
              <a:stretch>
                <a:fillRect l="-112116" t="0" r="-112116" b="-6507"/>
              </a:stretch>
            </a:blipFill>
          </p:spPr>
        </p:sp>
        <p:sp>
          <p:nvSpPr>
            <p:cNvPr name="TextBox 42" id="42"/>
            <p:cNvSpPr txBox="true"/>
            <p:nvPr/>
          </p:nvSpPr>
          <p:spPr>
            <a:xfrm>
              <a:off x="0" y="-38100"/>
              <a:ext cx="6754368" cy="805106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Current AMFF: upsample F2/F3, concatenate.</a:t>
              </a:r>
            </a:p>
            <a:p>
              <a:pPr algn="l">
                <a:lnSpc>
                  <a:spcPts val="2280"/>
                </a:lnSpc>
              </a:pPr>
              <a:r>
                <a:rPr lang="en-US" sz="1900">
                  <a:solidFill>
                    <a:srgbClr val="1E293B"/>
                  </a:solidFill>
                  <a:latin typeface="Calibri (MS)"/>
                  <a:ea typeface="Calibri (MS)"/>
                  <a:cs typeface="Calibri (MS)"/>
                  <a:sym typeface="Calibri (MS)"/>
                </a:rPr>
                <a:t>Problem: shallow features have no semantic guidance.</a:t>
              </a:r>
            </a:p>
            <a:p>
              <a:pPr algn="l">
                <a:lnSpc>
                  <a:spcPts val="2280"/>
                </a:lnSpc>
              </a:pPr>
            </a:p>
            <a:p>
              <a:pPr algn="l">
                <a:lnSpc>
                  <a:spcPts val="2280"/>
                </a:lnSpc>
              </a:pPr>
              <a:r>
                <a:rPr lang="en-US" sz="1900">
                  <a:solidFill>
                    <a:srgbClr val="1E293B"/>
                  </a:solidFill>
                  <a:latin typeface="Calibri (MS)"/>
                  <a:ea typeface="Calibri (MS)"/>
                  <a:cs typeface="Calibri (MS)"/>
                  <a:sym typeface="Calibri (MS)"/>
                </a:rPr>
                <a:t>FPN adds a top-down lateral pathway:</a:t>
              </a:r>
            </a:p>
            <a:p>
              <a:pPr algn="l">
                <a:lnSpc>
                  <a:spcPts val="2280"/>
                </a:lnSpc>
              </a:pPr>
              <a:r>
                <a:rPr lang="en-US" sz="1900">
                  <a:solidFill>
                    <a:srgbClr val="1E293B"/>
                  </a:solidFill>
                  <a:latin typeface="Calibri (MS)"/>
                  <a:ea typeface="Calibri (MS)"/>
                  <a:cs typeface="Calibri (MS)"/>
                  <a:sym typeface="Calibri (MS)"/>
                </a:rPr>
                <a:t>  F4 (semantic) → F3 → F2</a:t>
              </a:r>
            </a:p>
            <a:p>
              <a:pPr algn="l">
                <a:lnSpc>
                  <a:spcPts val="2280"/>
                </a:lnSpc>
              </a:pPr>
              <a:r>
                <a:rPr lang="en-US" sz="1900">
                  <a:solidFill>
                    <a:srgbClr val="1E293B"/>
                  </a:solidFill>
                  <a:latin typeface="Calibri (MS)"/>
                  <a:ea typeface="Calibri (MS)"/>
                  <a:cs typeface="Calibri (MS)"/>
                  <a:sym typeface="Calibri (MS)"/>
                </a:rPr>
                <a:t>Each level receives semantic context from the level above before fusion.</a:t>
              </a:r>
            </a:p>
            <a:p>
              <a:pPr algn="l">
                <a:lnSpc>
                  <a:spcPts val="2280"/>
                </a:lnSpc>
              </a:pPr>
            </a:p>
            <a:p>
              <a:pPr algn="l">
                <a:lnSpc>
                  <a:spcPts val="2280"/>
                </a:lnSpc>
              </a:pPr>
              <a:r>
                <a:rPr lang="en-US" sz="1900">
                  <a:solidFill>
                    <a:srgbClr val="1E293B"/>
                  </a:solidFill>
                  <a:latin typeface="Calibri (MS)"/>
                  <a:ea typeface="Calibri (MS)"/>
                  <a:cs typeface="Calibri (MS)"/>
                  <a:sym typeface="Calibri (MS)"/>
                </a:rPr>
                <a:t>Result: even the 28×28 shallow features 'know' they're looking at an airport, not just detecting edges.</a:t>
              </a:r>
            </a:p>
          </p:txBody>
        </p:sp>
      </p:grpSp>
      <p:grpSp>
        <p:nvGrpSpPr>
          <p:cNvPr name="Group 43" id="43"/>
          <p:cNvGrpSpPr/>
          <p:nvPr/>
        </p:nvGrpSpPr>
        <p:grpSpPr>
          <a:xfrm rot="0">
            <a:off x="12155167" y="2462527"/>
            <a:ext cx="5407657" cy="7510777"/>
            <a:chOff x="0" y="0"/>
            <a:chExt cx="7210209" cy="10014369"/>
          </a:xfrm>
        </p:grpSpPr>
        <p:sp>
          <p:nvSpPr>
            <p:cNvPr name="Freeform 44" id="44"/>
            <p:cNvSpPr/>
            <p:nvPr/>
          </p:nvSpPr>
          <p:spPr>
            <a:xfrm flipH="false" flipV="false" rot="0">
              <a:off x="8509" y="8509"/>
              <a:ext cx="7193280" cy="9997440"/>
            </a:xfrm>
            <a:custGeom>
              <a:avLst/>
              <a:gdLst/>
              <a:ahLst/>
              <a:cxnLst/>
              <a:rect r="r" b="b" t="t" l="l"/>
              <a:pathLst>
                <a:path h="9997440" w="7193280">
                  <a:moveTo>
                    <a:pt x="0" y="0"/>
                  </a:moveTo>
                  <a:lnTo>
                    <a:pt x="7193280" y="0"/>
                  </a:lnTo>
                  <a:lnTo>
                    <a:pt x="7193280" y="9997440"/>
                  </a:lnTo>
                  <a:lnTo>
                    <a:pt x="0" y="9997440"/>
                  </a:lnTo>
                  <a:close/>
                </a:path>
              </a:pathLst>
            </a:custGeom>
            <a:solidFill>
              <a:srgbClr val="FFFFFF"/>
            </a:solidFill>
          </p:spPr>
        </p:sp>
        <p:sp>
          <p:nvSpPr>
            <p:cNvPr name="Freeform 45" id="45"/>
            <p:cNvSpPr/>
            <p:nvPr/>
          </p:nvSpPr>
          <p:spPr>
            <a:xfrm flipH="false" flipV="false" rot="0">
              <a:off x="0" y="0"/>
              <a:ext cx="7210299" cy="10014458"/>
            </a:xfrm>
            <a:custGeom>
              <a:avLst/>
              <a:gdLst/>
              <a:ahLst/>
              <a:cxnLst/>
              <a:rect r="r" b="b" t="t" l="l"/>
              <a:pathLst>
                <a:path h="10014458" w="7210299">
                  <a:moveTo>
                    <a:pt x="8509" y="0"/>
                  </a:moveTo>
                  <a:lnTo>
                    <a:pt x="7201789" y="0"/>
                  </a:lnTo>
                  <a:cubicBezTo>
                    <a:pt x="7206488" y="0"/>
                    <a:pt x="7210299" y="3810"/>
                    <a:pt x="7210299" y="8509"/>
                  </a:cubicBezTo>
                  <a:lnTo>
                    <a:pt x="7210299" y="10005949"/>
                  </a:lnTo>
                  <a:cubicBezTo>
                    <a:pt x="7210299" y="10010648"/>
                    <a:pt x="7206488" y="10014458"/>
                    <a:pt x="7201789" y="10014458"/>
                  </a:cubicBezTo>
                  <a:lnTo>
                    <a:pt x="8509" y="10014458"/>
                  </a:lnTo>
                  <a:cubicBezTo>
                    <a:pt x="3810" y="10014458"/>
                    <a:pt x="0" y="10010648"/>
                    <a:pt x="0" y="10005949"/>
                  </a:cubicBezTo>
                  <a:lnTo>
                    <a:pt x="0" y="8509"/>
                  </a:lnTo>
                  <a:cubicBezTo>
                    <a:pt x="0" y="3810"/>
                    <a:pt x="3810" y="0"/>
                    <a:pt x="8509" y="0"/>
                  </a:cubicBezTo>
                  <a:moveTo>
                    <a:pt x="8509" y="16891"/>
                  </a:moveTo>
                  <a:lnTo>
                    <a:pt x="8509" y="8509"/>
                  </a:lnTo>
                  <a:lnTo>
                    <a:pt x="17018" y="8509"/>
                  </a:lnTo>
                  <a:lnTo>
                    <a:pt x="17018" y="10005949"/>
                  </a:lnTo>
                  <a:lnTo>
                    <a:pt x="8509" y="10005949"/>
                  </a:lnTo>
                  <a:lnTo>
                    <a:pt x="8509" y="9997440"/>
                  </a:lnTo>
                  <a:lnTo>
                    <a:pt x="7201789" y="9997440"/>
                  </a:lnTo>
                  <a:lnTo>
                    <a:pt x="7201789" y="10005949"/>
                  </a:lnTo>
                  <a:lnTo>
                    <a:pt x="7193280" y="10005949"/>
                  </a:lnTo>
                  <a:lnTo>
                    <a:pt x="7193280" y="8509"/>
                  </a:lnTo>
                  <a:lnTo>
                    <a:pt x="7201789" y="8509"/>
                  </a:lnTo>
                  <a:lnTo>
                    <a:pt x="7201789" y="17018"/>
                  </a:lnTo>
                  <a:lnTo>
                    <a:pt x="8509" y="17018"/>
                  </a:lnTo>
                  <a:close/>
                </a:path>
              </a:pathLst>
            </a:custGeom>
            <a:solidFill>
              <a:srgbClr val="E2E8F0"/>
            </a:solidFill>
          </p:spPr>
        </p:sp>
      </p:grpSp>
      <p:grpSp>
        <p:nvGrpSpPr>
          <p:cNvPr name="Group 46" id="46"/>
          <p:cNvGrpSpPr/>
          <p:nvPr/>
        </p:nvGrpSpPr>
        <p:grpSpPr>
          <a:xfrm rot="0">
            <a:off x="12148823" y="2456183"/>
            <a:ext cx="5420363" cy="976379"/>
            <a:chOff x="0" y="0"/>
            <a:chExt cx="7227151" cy="1301839"/>
          </a:xfrm>
        </p:grpSpPr>
        <p:sp>
          <p:nvSpPr>
            <p:cNvPr name="Freeform 47" id="47"/>
            <p:cNvSpPr/>
            <p:nvPr/>
          </p:nvSpPr>
          <p:spPr>
            <a:xfrm flipH="false" flipV="false" rot="0">
              <a:off x="16891" y="16891"/>
              <a:ext cx="7193281" cy="1267968"/>
            </a:xfrm>
            <a:custGeom>
              <a:avLst/>
              <a:gdLst/>
              <a:ahLst/>
              <a:cxnLst/>
              <a:rect r="r" b="b" t="t" l="l"/>
              <a:pathLst>
                <a:path h="1267968" w="7193281">
                  <a:moveTo>
                    <a:pt x="0" y="0"/>
                  </a:moveTo>
                  <a:lnTo>
                    <a:pt x="7193281" y="0"/>
                  </a:lnTo>
                  <a:lnTo>
                    <a:pt x="7193281" y="1267968"/>
                  </a:lnTo>
                  <a:lnTo>
                    <a:pt x="0" y="1267968"/>
                  </a:lnTo>
                  <a:close/>
                </a:path>
              </a:pathLst>
            </a:custGeom>
            <a:solidFill>
              <a:srgbClr val="E05B4B"/>
            </a:solidFill>
          </p:spPr>
        </p:sp>
        <p:sp>
          <p:nvSpPr>
            <p:cNvPr name="Freeform 48" id="48"/>
            <p:cNvSpPr/>
            <p:nvPr/>
          </p:nvSpPr>
          <p:spPr>
            <a:xfrm flipH="false" flipV="false" rot="0">
              <a:off x="0" y="0"/>
              <a:ext cx="7227062" cy="1301750"/>
            </a:xfrm>
            <a:custGeom>
              <a:avLst/>
              <a:gdLst/>
              <a:ahLst/>
              <a:cxnLst/>
              <a:rect r="r" b="b" t="t" l="l"/>
              <a:pathLst>
                <a:path h="1301750" w="7227062">
                  <a:moveTo>
                    <a:pt x="16891" y="0"/>
                  </a:moveTo>
                  <a:lnTo>
                    <a:pt x="7210172" y="0"/>
                  </a:lnTo>
                  <a:cubicBezTo>
                    <a:pt x="7219569" y="0"/>
                    <a:pt x="7227062" y="7620"/>
                    <a:pt x="7227062" y="16891"/>
                  </a:cubicBezTo>
                  <a:lnTo>
                    <a:pt x="7227062" y="1284859"/>
                  </a:lnTo>
                  <a:cubicBezTo>
                    <a:pt x="7227062" y="1294257"/>
                    <a:pt x="7219442" y="1301750"/>
                    <a:pt x="7210172"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7210172" y="1267968"/>
                  </a:lnTo>
                  <a:lnTo>
                    <a:pt x="7210172" y="1284859"/>
                  </a:lnTo>
                  <a:lnTo>
                    <a:pt x="7193280" y="1284859"/>
                  </a:lnTo>
                  <a:lnTo>
                    <a:pt x="7193280" y="16891"/>
                  </a:lnTo>
                  <a:lnTo>
                    <a:pt x="7210172" y="16891"/>
                  </a:lnTo>
                  <a:lnTo>
                    <a:pt x="7210172" y="33909"/>
                  </a:lnTo>
                  <a:lnTo>
                    <a:pt x="16891" y="33909"/>
                  </a:lnTo>
                  <a:close/>
                </a:path>
              </a:pathLst>
            </a:custGeom>
            <a:solidFill>
              <a:srgbClr val="E05B4B"/>
            </a:solidFill>
          </p:spPr>
        </p:sp>
      </p:grpSp>
      <p:grpSp>
        <p:nvGrpSpPr>
          <p:cNvPr name="Group 49" id="49"/>
          <p:cNvGrpSpPr/>
          <p:nvPr/>
        </p:nvGrpSpPr>
        <p:grpSpPr>
          <a:xfrm rot="0">
            <a:off x="12344400" y="2487168"/>
            <a:ext cx="5120640" cy="548640"/>
            <a:chOff x="0" y="0"/>
            <a:chExt cx="6827520" cy="731520"/>
          </a:xfrm>
        </p:grpSpPr>
        <p:sp>
          <p:nvSpPr>
            <p:cNvPr name="Freeform 50" id="50"/>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3">
                <a:alphaModFix amt="0"/>
              </a:blip>
              <a:stretch>
                <a:fillRect l="0" t="-131860" r="0" b="-131860"/>
              </a:stretch>
            </a:blipFill>
          </p:spPr>
        </p:sp>
        <p:sp>
          <p:nvSpPr>
            <p:cNvPr name="TextBox 51" id="51"/>
            <p:cNvSpPr txBox="true"/>
            <p:nvPr/>
          </p:nvSpPr>
          <p:spPr>
            <a:xfrm>
              <a:off x="0" y="-47625"/>
              <a:ext cx="6827520" cy="779145"/>
            </a:xfrm>
            <a:prstGeom prst="rect">
              <a:avLst/>
            </a:prstGeom>
          </p:spPr>
          <p:txBody>
            <a:bodyPr anchor="ctr" rtlCol="false" tIns="0" lIns="0" bIns="0" rIns="0"/>
            <a:lstStyle/>
            <a:p>
              <a:pPr algn="l">
                <a:lnSpc>
                  <a:spcPts val="2760"/>
                </a:lnSpc>
              </a:pPr>
              <a:r>
                <a:rPr lang="en-US" sz="2300" b="true">
                  <a:solidFill>
                    <a:srgbClr val="FFFFFF"/>
                  </a:solidFill>
                  <a:latin typeface="Calibri (MS) Bold"/>
                  <a:ea typeface="Calibri (MS) Bold"/>
                  <a:cs typeface="Calibri (MS) Bold"/>
                  <a:sym typeface="Calibri (MS) Bold"/>
                </a:rPr>
                <a:t>Deformable Convolutions</a:t>
              </a:r>
            </a:p>
          </p:txBody>
        </p:sp>
      </p:grpSp>
      <p:grpSp>
        <p:nvGrpSpPr>
          <p:cNvPr name="Group 52" id="52"/>
          <p:cNvGrpSpPr/>
          <p:nvPr/>
        </p:nvGrpSpPr>
        <p:grpSpPr>
          <a:xfrm rot="0">
            <a:off x="12344400" y="2980944"/>
            <a:ext cx="5120640" cy="365760"/>
            <a:chOff x="0" y="0"/>
            <a:chExt cx="6827520" cy="487680"/>
          </a:xfrm>
        </p:grpSpPr>
        <p:sp>
          <p:nvSpPr>
            <p:cNvPr name="Freeform 53" id="53"/>
            <p:cNvSpPr/>
            <p:nvPr/>
          </p:nvSpPr>
          <p:spPr>
            <a:xfrm flipH="false" flipV="false" rot="0">
              <a:off x="0" y="0"/>
              <a:ext cx="6827520" cy="487680"/>
            </a:xfrm>
            <a:custGeom>
              <a:avLst/>
              <a:gdLst/>
              <a:ahLst/>
              <a:cxnLst/>
              <a:rect r="r" b="b" t="t" l="l"/>
              <a:pathLst>
                <a:path h="487680" w="6827520">
                  <a:moveTo>
                    <a:pt x="0" y="0"/>
                  </a:moveTo>
                  <a:lnTo>
                    <a:pt x="6827520" y="0"/>
                  </a:lnTo>
                  <a:lnTo>
                    <a:pt x="6827520" y="487680"/>
                  </a:lnTo>
                  <a:lnTo>
                    <a:pt x="0" y="487680"/>
                  </a:lnTo>
                  <a:close/>
                </a:path>
              </a:pathLst>
            </a:custGeom>
            <a:blipFill>
              <a:blip r:embed="rId3">
                <a:alphaModFix amt="0"/>
              </a:blip>
              <a:stretch>
                <a:fillRect l="0" t="-222790" r="0" b="-222790"/>
              </a:stretch>
            </a:blipFill>
          </p:spPr>
        </p:sp>
        <p:sp>
          <p:nvSpPr>
            <p:cNvPr name="TextBox 54" id="54"/>
            <p:cNvSpPr txBox="true"/>
            <p:nvPr/>
          </p:nvSpPr>
          <p:spPr>
            <a:xfrm>
              <a:off x="0" y="-38100"/>
              <a:ext cx="6827520" cy="525780"/>
            </a:xfrm>
            <a:prstGeom prst="rect">
              <a:avLst/>
            </a:prstGeom>
          </p:spPr>
          <p:txBody>
            <a:bodyPr anchor="ctr" rtlCol="false" tIns="0" lIns="0" bIns="0" rIns="0"/>
            <a:lstStyle/>
            <a:p>
              <a:pPr algn="l">
                <a:lnSpc>
                  <a:spcPts val="2160"/>
                </a:lnSpc>
              </a:pPr>
              <a:r>
                <a:rPr lang="en-US" sz="1800">
                  <a:solidFill>
                    <a:srgbClr val="FFFFFF"/>
                  </a:solidFill>
                  <a:latin typeface="Calibri (MS)"/>
                  <a:ea typeface="Calibri (MS)"/>
                  <a:cs typeface="Calibri (MS)"/>
                  <a:sym typeface="Calibri (MS)"/>
                </a:rPr>
                <a:t>Adaptive spatial sampling</a:t>
              </a:r>
            </a:p>
          </p:txBody>
        </p:sp>
      </p:grpSp>
      <p:grpSp>
        <p:nvGrpSpPr>
          <p:cNvPr name="Group 55" id="55"/>
          <p:cNvGrpSpPr/>
          <p:nvPr/>
        </p:nvGrpSpPr>
        <p:grpSpPr>
          <a:xfrm rot="0">
            <a:off x="12380976" y="3474720"/>
            <a:ext cx="5065776" cy="6009722"/>
            <a:chOff x="0" y="0"/>
            <a:chExt cx="6754368" cy="8012962"/>
          </a:xfrm>
        </p:grpSpPr>
        <p:sp>
          <p:nvSpPr>
            <p:cNvPr name="Freeform 56" id="56"/>
            <p:cNvSpPr/>
            <p:nvPr/>
          </p:nvSpPr>
          <p:spPr>
            <a:xfrm flipH="false" flipV="false" rot="0">
              <a:off x="0" y="0"/>
              <a:ext cx="6754368" cy="8012962"/>
            </a:xfrm>
            <a:custGeom>
              <a:avLst/>
              <a:gdLst/>
              <a:ahLst/>
              <a:cxnLst/>
              <a:rect r="r" b="b" t="t" l="l"/>
              <a:pathLst>
                <a:path h="8012962" w="6754368">
                  <a:moveTo>
                    <a:pt x="0" y="0"/>
                  </a:moveTo>
                  <a:lnTo>
                    <a:pt x="6754368" y="0"/>
                  </a:lnTo>
                  <a:lnTo>
                    <a:pt x="6754368" y="8012962"/>
                  </a:lnTo>
                  <a:lnTo>
                    <a:pt x="0" y="8012962"/>
                  </a:lnTo>
                  <a:close/>
                </a:path>
              </a:pathLst>
            </a:custGeom>
            <a:blipFill>
              <a:blip r:embed="rId3">
                <a:alphaModFix amt="0"/>
              </a:blip>
              <a:stretch>
                <a:fillRect l="-112116" t="0" r="-112116" b="-6507"/>
              </a:stretch>
            </a:blipFill>
          </p:spPr>
        </p:sp>
        <p:sp>
          <p:nvSpPr>
            <p:cNvPr name="TextBox 57" id="57"/>
            <p:cNvSpPr txBox="true"/>
            <p:nvPr/>
          </p:nvSpPr>
          <p:spPr>
            <a:xfrm>
              <a:off x="0" y="-38100"/>
              <a:ext cx="6754368" cy="805106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Standard convolutions sample a fixed 3×3 grid. RS objects appear at unusual orientations and shapes (diagonal roads, curved rivers).</a:t>
              </a:r>
            </a:p>
            <a:p>
              <a:pPr algn="l">
                <a:lnSpc>
                  <a:spcPts val="2280"/>
                </a:lnSpc>
              </a:pPr>
            </a:p>
            <a:p>
              <a:pPr algn="l">
                <a:lnSpc>
                  <a:spcPts val="2280"/>
                </a:lnSpc>
              </a:pPr>
              <a:r>
                <a:rPr lang="en-US" sz="1900">
                  <a:solidFill>
                    <a:srgbClr val="1E293B"/>
                  </a:solidFill>
                  <a:latin typeface="Calibri (MS)"/>
                  <a:ea typeface="Calibri (MS)"/>
                  <a:cs typeface="Calibri (MS)"/>
                  <a:sym typeface="Calibri (MS)"/>
                </a:rPr>
                <a:t>Deformable conv learns spatial offsets Δ(p) per position:</a:t>
              </a:r>
            </a:p>
            <a:p>
              <a:pPr algn="l">
                <a:lnSpc>
                  <a:spcPts val="2280"/>
                </a:lnSpc>
              </a:pPr>
              <a:r>
                <a:rPr lang="en-US" sz="1900">
                  <a:solidFill>
                    <a:srgbClr val="1E293B"/>
                  </a:solidFill>
                  <a:latin typeface="Calibri (MS)"/>
                  <a:ea typeface="Calibri (MS)"/>
                  <a:cs typeface="Calibri (MS)"/>
                  <a:sym typeface="Calibri (MS)"/>
                </a:rPr>
                <a:t>  y(p) = Σ w(k) · x(p + p_k + Δp_k)</a:t>
              </a:r>
            </a:p>
            <a:p>
              <a:pPr algn="l">
                <a:lnSpc>
                  <a:spcPts val="2280"/>
                </a:lnSpc>
              </a:pPr>
            </a:p>
            <a:p>
              <a:pPr algn="l">
                <a:lnSpc>
                  <a:spcPts val="2280"/>
                </a:lnSpc>
              </a:pPr>
              <a:r>
                <a:rPr lang="en-US" sz="1900">
                  <a:solidFill>
                    <a:srgbClr val="1E293B"/>
                  </a:solidFill>
                  <a:latin typeface="Calibri (MS)"/>
                  <a:ea typeface="Calibri (MS)"/>
                  <a:cs typeface="Calibri (MS)"/>
                  <a:sym typeface="Calibri (MS)"/>
                </a:rPr>
                <a:t>The sampling grid adapts to the actual object shape — a river can be followed along its curve rather than captured in a fixed rectangle.</a:t>
              </a:r>
            </a:p>
          </p:txBody>
        </p:sp>
      </p:grpSp>
      <p:grpSp>
        <p:nvGrpSpPr>
          <p:cNvPr name="Group 58" id="58"/>
          <p:cNvGrpSpPr/>
          <p:nvPr/>
        </p:nvGrpSpPr>
        <p:grpSpPr>
          <a:xfrm rot="0">
            <a:off x="725167" y="9608267"/>
            <a:ext cx="16837657" cy="1059981"/>
            <a:chOff x="0" y="0"/>
            <a:chExt cx="22450209" cy="1413308"/>
          </a:xfrm>
        </p:grpSpPr>
        <p:sp>
          <p:nvSpPr>
            <p:cNvPr name="Freeform 59" id="59"/>
            <p:cNvSpPr/>
            <p:nvPr/>
          </p:nvSpPr>
          <p:spPr>
            <a:xfrm flipH="false" flipV="false" rot="0">
              <a:off x="8509" y="11552"/>
              <a:ext cx="22433281" cy="1390326"/>
            </a:xfrm>
            <a:custGeom>
              <a:avLst/>
              <a:gdLst/>
              <a:ahLst/>
              <a:cxnLst/>
              <a:rect r="r" b="b" t="t" l="l"/>
              <a:pathLst>
                <a:path h="1390326" w="22433281">
                  <a:moveTo>
                    <a:pt x="0" y="0"/>
                  </a:moveTo>
                  <a:lnTo>
                    <a:pt x="22433281" y="0"/>
                  </a:lnTo>
                  <a:lnTo>
                    <a:pt x="22433281" y="1390325"/>
                  </a:lnTo>
                  <a:lnTo>
                    <a:pt x="0" y="1390325"/>
                  </a:lnTo>
                  <a:close/>
                </a:path>
              </a:pathLst>
            </a:custGeom>
            <a:solidFill>
              <a:srgbClr val="EDE9FE"/>
            </a:solidFill>
          </p:spPr>
        </p:sp>
        <p:sp>
          <p:nvSpPr>
            <p:cNvPr name="Freeform 60" id="60"/>
            <p:cNvSpPr/>
            <p:nvPr/>
          </p:nvSpPr>
          <p:spPr>
            <a:xfrm flipH="false" flipV="false" rot="0">
              <a:off x="0" y="0"/>
              <a:ext cx="22450298" cy="1413397"/>
            </a:xfrm>
            <a:custGeom>
              <a:avLst/>
              <a:gdLst/>
              <a:ahLst/>
              <a:cxnLst/>
              <a:rect r="r" b="b" t="t" l="l"/>
              <a:pathLst>
                <a:path h="1413397" w="22450298">
                  <a:moveTo>
                    <a:pt x="8509" y="0"/>
                  </a:moveTo>
                  <a:lnTo>
                    <a:pt x="22441790" y="0"/>
                  </a:lnTo>
                  <a:cubicBezTo>
                    <a:pt x="22446489" y="0"/>
                    <a:pt x="22450298" y="5172"/>
                    <a:pt x="22450298" y="11552"/>
                  </a:cubicBezTo>
                  <a:lnTo>
                    <a:pt x="22450298" y="1401877"/>
                  </a:lnTo>
                  <a:cubicBezTo>
                    <a:pt x="22450298" y="1408256"/>
                    <a:pt x="22446489" y="1413397"/>
                    <a:pt x="22441790" y="1413397"/>
                  </a:cubicBezTo>
                  <a:lnTo>
                    <a:pt x="8509" y="1413397"/>
                  </a:lnTo>
                  <a:cubicBezTo>
                    <a:pt x="3810" y="1413397"/>
                    <a:pt x="0" y="1408256"/>
                    <a:pt x="0" y="1401877"/>
                  </a:cubicBezTo>
                  <a:lnTo>
                    <a:pt x="0" y="11552"/>
                  </a:lnTo>
                  <a:cubicBezTo>
                    <a:pt x="0" y="5172"/>
                    <a:pt x="3810" y="0"/>
                    <a:pt x="8509" y="0"/>
                  </a:cubicBezTo>
                  <a:moveTo>
                    <a:pt x="8509" y="22931"/>
                  </a:moveTo>
                  <a:lnTo>
                    <a:pt x="8509" y="11552"/>
                  </a:lnTo>
                  <a:lnTo>
                    <a:pt x="17018" y="11552"/>
                  </a:lnTo>
                  <a:lnTo>
                    <a:pt x="17018" y="1401877"/>
                  </a:lnTo>
                  <a:lnTo>
                    <a:pt x="8509" y="1401877"/>
                  </a:lnTo>
                  <a:lnTo>
                    <a:pt x="8509" y="1390326"/>
                  </a:lnTo>
                  <a:lnTo>
                    <a:pt x="22441790" y="1390326"/>
                  </a:lnTo>
                  <a:lnTo>
                    <a:pt x="22441790" y="1401877"/>
                  </a:lnTo>
                  <a:lnTo>
                    <a:pt x="22433280" y="1401877"/>
                  </a:lnTo>
                  <a:lnTo>
                    <a:pt x="22433280" y="11552"/>
                  </a:lnTo>
                  <a:lnTo>
                    <a:pt x="22441790" y="11552"/>
                  </a:lnTo>
                  <a:lnTo>
                    <a:pt x="22441790" y="23103"/>
                  </a:lnTo>
                  <a:lnTo>
                    <a:pt x="8509" y="23103"/>
                  </a:lnTo>
                  <a:close/>
                </a:path>
              </a:pathLst>
            </a:custGeom>
            <a:solidFill>
              <a:srgbClr val="E2E8F0"/>
            </a:solidFill>
          </p:spPr>
        </p:sp>
      </p:grpSp>
      <p:grpSp>
        <p:nvGrpSpPr>
          <p:cNvPr name="Group 61" id="61"/>
          <p:cNvGrpSpPr/>
          <p:nvPr/>
        </p:nvGrpSpPr>
        <p:grpSpPr>
          <a:xfrm rot="0">
            <a:off x="1005840" y="9655892"/>
            <a:ext cx="16459200" cy="658368"/>
            <a:chOff x="0" y="0"/>
            <a:chExt cx="21945600" cy="877824"/>
          </a:xfrm>
        </p:grpSpPr>
        <p:sp>
          <p:nvSpPr>
            <p:cNvPr name="Freeform 62" id="62"/>
            <p:cNvSpPr/>
            <p:nvPr/>
          </p:nvSpPr>
          <p:spPr>
            <a:xfrm flipH="false" flipV="false" rot="0">
              <a:off x="0" y="0"/>
              <a:ext cx="21945600" cy="877824"/>
            </a:xfrm>
            <a:custGeom>
              <a:avLst/>
              <a:gdLst/>
              <a:ahLst/>
              <a:cxnLst/>
              <a:rect r="r" b="b" t="t" l="l"/>
              <a:pathLst>
                <a:path h="877824" w="21945600">
                  <a:moveTo>
                    <a:pt x="0" y="0"/>
                  </a:moveTo>
                  <a:lnTo>
                    <a:pt x="21945600" y="0"/>
                  </a:lnTo>
                  <a:lnTo>
                    <a:pt x="21945600" y="877824"/>
                  </a:lnTo>
                  <a:lnTo>
                    <a:pt x="0" y="877824"/>
                  </a:lnTo>
                  <a:close/>
                </a:path>
              </a:pathLst>
            </a:custGeom>
            <a:blipFill>
              <a:blip r:embed="rId3">
                <a:alphaModFix amt="0"/>
              </a:blip>
              <a:stretch>
                <a:fillRect l="0" t="-437125" r="0" b="-437125"/>
              </a:stretch>
            </a:blipFill>
          </p:spPr>
        </p:sp>
        <p:sp>
          <p:nvSpPr>
            <p:cNvPr name="TextBox 63" id="63"/>
            <p:cNvSpPr txBox="true"/>
            <p:nvPr/>
          </p:nvSpPr>
          <p:spPr>
            <a:xfrm>
              <a:off x="0" y="-38100"/>
              <a:ext cx="21945600" cy="915924"/>
            </a:xfrm>
            <a:prstGeom prst="rect">
              <a:avLst/>
            </a:prstGeom>
          </p:spPr>
          <p:txBody>
            <a:bodyPr anchor="ctr" rtlCol="false" tIns="0" lIns="0" bIns="0" rIns="0"/>
            <a:lstStyle/>
            <a:p>
              <a:pPr algn="l">
                <a:lnSpc>
                  <a:spcPts val="2280"/>
                </a:lnSpc>
              </a:pPr>
              <a:r>
                <a:rPr lang="en-US" sz="1900" b="true">
                  <a:solidFill>
                    <a:srgbClr val="7C3AED"/>
                  </a:solidFill>
                  <a:latin typeface="Calibri (MS) Bold"/>
                  <a:ea typeface="Calibri (MS) Bold"/>
                  <a:cs typeface="Calibri (MS) Bold"/>
                  <a:sym typeface="Calibri (MS) Bold"/>
                </a:rPr>
                <a:t>Combined impact: </a:t>
              </a:r>
              <a:r>
                <a:rPr lang="en-US" sz="1900">
                  <a:solidFill>
                    <a:srgbClr val="1E293B"/>
                  </a:solidFill>
                  <a:latin typeface="Calibri (MS)"/>
                  <a:ea typeface="Calibri (MS)"/>
                  <a:cs typeface="Calibri (MS)"/>
                  <a:sym typeface="Calibri (MS)"/>
                </a:rPr>
                <a:t>CBAM directly improves object-level focus for RS captioning. FPN ensures small objects (cars, boats) receive high-level semantic context. Deformable conv handles irregular RS object geometry. These three work at different scales and are complementary — all three can be applied together.</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E05B4B"/>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E05B4B"/>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03 · LFSE SPATIAL</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Direction 3: Better Spatial Relationship Modeling</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462527"/>
            <a:ext cx="8242297" cy="3395977"/>
            <a:chOff x="0" y="0"/>
            <a:chExt cx="10989729" cy="4527969"/>
          </a:xfrm>
        </p:grpSpPr>
        <p:sp>
          <p:nvSpPr>
            <p:cNvPr name="Freeform 14" id="14"/>
            <p:cNvSpPr/>
            <p:nvPr/>
          </p:nvSpPr>
          <p:spPr>
            <a:xfrm flipH="false" flipV="false" rot="0">
              <a:off x="8509" y="8509"/>
              <a:ext cx="10972800" cy="4511040"/>
            </a:xfrm>
            <a:custGeom>
              <a:avLst/>
              <a:gdLst/>
              <a:ahLst/>
              <a:cxnLst/>
              <a:rect r="r" b="b" t="t" l="l"/>
              <a:pathLst>
                <a:path h="4511040" w="10972800">
                  <a:moveTo>
                    <a:pt x="0" y="0"/>
                  </a:moveTo>
                  <a:lnTo>
                    <a:pt x="10972800" y="0"/>
                  </a:lnTo>
                  <a:lnTo>
                    <a:pt x="10972800" y="4511040"/>
                  </a:lnTo>
                  <a:lnTo>
                    <a:pt x="0" y="4511040"/>
                  </a:lnTo>
                  <a:close/>
                </a:path>
              </a:pathLst>
            </a:custGeom>
            <a:solidFill>
              <a:srgbClr val="FFFFFF"/>
            </a:solidFill>
          </p:spPr>
        </p:sp>
        <p:sp>
          <p:nvSpPr>
            <p:cNvPr name="Freeform 15" id="15"/>
            <p:cNvSpPr/>
            <p:nvPr/>
          </p:nvSpPr>
          <p:spPr>
            <a:xfrm flipH="false" flipV="false" rot="0">
              <a:off x="0" y="0"/>
              <a:ext cx="10989818" cy="4528058"/>
            </a:xfrm>
            <a:custGeom>
              <a:avLst/>
              <a:gdLst/>
              <a:ahLst/>
              <a:cxnLst/>
              <a:rect r="r" b="b" t="t" l="l"/>
              <a:pathLst>
                <a:path h="4528058" w="10989818">
                  <a:moveTo>
                    <a:pt x="8509" y="0"/>
                  </a:moveTo>
                  <a:lnTo>
                    <a:pt x="10981309" y="0"/>
                  </a:lnTo>
                  <a:cubicBezTo>
                    <a:pt x="10986008" y="0"/>
                    <a:pt x="10989818" y="3810"/>
                    <a:pt x="10989818" y="8509"/>
                  </a:cubicBezTo>
                  <a:lnTo>
                    <a:pt x="10989818" y="4519549"/>
                  </a:lnTo>
                  <a:cubicBezTo>
                    <a:pt x="10989818" y="4524248"/>
                    <a:pt x="10986008" y="4528058"/>
                    <a:pt x="1098130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0981309" y="4511040"/>
                  </a:lnTo>
                  <a:lnTo>
                    <a:pt x="10981309" y="4519549"/>
                  </a:lnTo>
                  <a:lnTo>
                    <a:pt x="10972800" y="4519549"/>
                  </a:lnTo>
                  <a:lnTo>
                    <a:pt x="10972800" y="8509"/>
                  </a:lnTo>
                  <a:lnTo>
                    <a:pt x="10981309" y="8509"/>
                  </a:lnTo>
                  <a:lnTo>
                    <a:pt x="10981309" y="17018"/>
                  </a:lnTo>
                  <a:lnTo>
                    <a:pt x="8509" y="17018"/>
                  </a:lnTo>
                  <a:close/>
                </a:path>
              </a:pathLst>
            </a:custGeom>
            <a:solidFill>
              <a:srgbClr val="E2E8F0"/>
            </a:solidFill>
          </p:spPr>
        </p:sp>
      </p:grpSp>
      <p:grpSp>
        <p:nvGrpSpPr>
          <p:cNvPr name="Group 16" id="16"/>
          <p:cNvGrpSpPr/>
          <p:nvPr/>
        </p:nvGrpSpPr>
        <p:grpSpPr>
          <a:xfrm rot="0">
            <a:off x="718823" y="2456183"/>
            <a:ext cx="135131" cy="3408683"/>
            <a:chOff x="0" y="0"/>
            <a:chExt cx="180175" cy="4544911"/>
          </a:xfrm>
        </p:grpSpPr>
        <p:sp>
          <p:nvSpPr>
            <p:cNvPr name="Freeform 17" id="17"/>
            <p:cNvSpPr/>
            <p:nvPr/>
          </p:nvSpPr>
          <p:spPr>
            <a:xfrm flipH="false" flipV="false" rot="0">
              <a:off x="16891" y="16891"/>
              <a:ext cx="146304" cy="4511040"/>
            </a:xfrm>
            <a:custGeom>
              <a:avLst/>
              <a:gdLst/>
              <a:ahLst/>
              <a:cxnLst/>
              <a:rect r="r" b="b" t="t" l="l"/>
              <a:pathLst>
                <a:path h="4511040" w="146304">
                  <a:moveTo>
                    <a:pt x="0" y="0"/>
                  </a:moveTo>
                  <a:lnTo>
                    <a:pt x="146304" y="0"/>
                  </a:lnTo>
                  <a:lnTo>
                    <a:pt x="146304" y="4511040"/>
                  </a:lnTo>
                  <a:lnTo>
                    <a:pt x="0" y="4511040"/>
                  </a:lnTo>
                  <a:close/>
                </a:path>
              </a:pathLst>
            </a:custGeom>
            <a:solidFill>
              <a:srgbClr val="E05B4B"/>
            </a:solidFill>
          </p:spPr>
        </p:sp>
        <p:sp>
          <p:nvSpPr>
            <p:cNvPr name="Freeform 18" id="18"/>
            <p:cNvSpPr/>
            <p:nvPr/>
          </p:nvSpPr>
          <p:spPr>
            <a:xfrm flipH="false" flipV="false" rot="0">
              <a:off x="0" y="0"/>
              <a:ext cx="180086" cy="4544822"/>
            </a:xfrm>
            <a:custGeom>
              <a:avLst/>
              <a:gdLst/>
              <a:ahLst/>
              <a:cxnLst/>
              <a:rect r="r" b="b" t="t" l="l"/>
              <a:pathLst>
                <a:path h="4544822" w="180086">
                  <a:moveTo>
                    <a:pt x="16891" y="0"/>
                  </a:moveTo>
                  <a:lnTo>
                    <a:pt x="163195" y="0"/>
                  </a:lnTo>
                  <a:cubicBezTo>
                    <a:pt x="172593" y="0"/>
                    <a:pt x="180086" y="7620"/>
                    <a:pt x="180086" y="16891"/>
                  </a:cubicBezTo>
                  <a:lnTo>
                    <a:pt x="180086" y="4527931"/>
                  </a:lnTo>
                  <a:cubicBezTo>
                    <a:pt x="180086" y="4537329"/>
                    <a:pt x="172466" y="4544822"/>
                    <a:pt x="163195"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63195" y="4511040"/>
                  </a:lnTo>
                  <a:lnTo>
                    <a:pt x="163195" y="4527931"/>
                  </a:lnTo>
                  <a:lnTo>
                    <a:pt x="146304" y="4527931"/>
                  </a:lnTo>
                  <a:lnTo>
                    <a:pt x="146304" y="16891"/>
                  </a:lnTo>
                  <a:lnTo>
                    <a:pt x="163195" y="16891"/>
                  </a:lnTo>
                  <a:lnTo>
                    <a:pt x="163195" y="33909"/>
                  </a:lnTo>
                  <a:lnTo>
                    <a:pt x="16891" y="33909"/>
                  </a:lnTo>
                  <a:close/>
                </a:path>
              </a:pathLst>
            </a:custGeom>
            <a:solidFill>
              <a:srgbClr val="E05B4B"/>
            </a:solidFill>
          </p:spPr>
        </p:sp>
      </p:grpSp>
      <p:grpSp>
        <p:nvGrpSpPr>
          <p:cNvPr name="Group 19" id="19"/>
          <p:cNvGrpSpPr/>
          <p:nvPr/>
        </p:nvGrpSpPr>
        <p:grpSpPr>
          <a:xfrm rot="0">
            <a:off x="1060704" y="2560320"/>
            <a:ext cx="7680960" cy="548640"/>
            <a:chOff x="0" y="0"/>
            <a:chExt cx="10241280" cy="731520"/>
          </a:xfrm>
        </p:grpSpPr>
        <p:sp>
          <p:nvSpPr>
            <p:cNvPr name="Freeform 20" id="20"/>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21" id="21"/>
            <p:cNvSpPr txBox="true"/>
            <p:nvPr/>
          </p:nvSpPr>
          <p:spPr>
            <a:xfrm>
              <a:off x="0" y="-38100"/>
              <a:ext cx="10241280" cy="769620"/>
            </a:xfrm>
            <a:prstGeom prst="rect">
              <a:avLst/>
            </a:prstGeom>
          </p:spPr>
          <p:txBody>
            <a:bodyPr anchor="ctr" rtlCol="false" tIns="0" lIns="0" bIns="0" rIns="0"/>
            <a:lstStyle/>
            <a:p>
              <a:pPr algn="l">
                <a:lnSpc>
                  <a:spcPts val="2879"/>
                </a:lnSpc>
              </a:pPr>
              <a:r>
                <a:rPr lang="en-US" sz="2400" b="true">
                  <a:solidFill>
                    <a:srgbClr val="E05B4B"/>
                  </a:solidFill>
                  <a:latin typeface="Calibri (MS) Bold"/>
                  <a:ea typeface="Calibri (MS) Bold"/>
                  <a:cs typeface="Calibri (MS) Bold"/>
                  <a:sym typeface="Calibri (MS) Bold"/>
                </a:rPr>
                <a:t>Problem: LFSE is spatially blind</a:t>
              </a:r>
            </a:p>
          </p:txBody>
        </p:sp>
      </p:grpSp>
      <p:grpSp>
        <p:nvGrpSpPr>
          <p:cNvPr name="Group 22" id="22"/>
          <p:cNvGrpSpPr/>
          <p:nvPr/>
        </p:nvGrpSpPr>
        <p:grpSpPr>
          <a:xfrm rot="0">
            <a:off x="1060704" y="3182112"/>
            <a:ext cx="7680960" cy="2468880"/>
            <a:chOff x="0" y="0"/>
            <a:chExt cx="10241280" cy="3291840"/>
          </a:xfrm>
        </p:grpSpPr>
        <p:sp>
          <p:nvSpPr>
            <p:cNvPr name="Freeform 23" id="23"/>
            <p:cNvSpPr/>
            <p:nvPr/>
          </p:nvSpPr>
          <p:spPr>
            <a:xfrm flipH="false" flipV="false" rot="0">
              <a:off x="0" y="0"/>
              <a:ext cx="10241280" cy="3291840"/>
            </a:xfrm>
            <a:custGeom>
              <a:avLst/>
              <a:gdLst/>
              <a:ahLst/>
              <a:cxnLst/>
              <a:rect r="r" b="b" t="t" l="l"/>
              <a:pathLst>
                <a:path h="3291840" w="10241280">
                  <a:moveTo>
                    <a:pt x="0" y="0"/>
                  </a:moveTo>
                  <a:lnTo>
                    <a:pt x="10241280" y="0"/>
                  </a:lnTo>
                  <a:lnTo>
                    <a:pt x="10241280" y="3291840"/>
                  </a:lnTo>
                  <a:lnTo>
                    <a:pt x="0" y="3291840"/>
                  </a:lnTo>
                  <a:close/>
                </a:path>
              </a:pathLst>
            </a:custGeom>
            <a:blipFill>
              <a:blip r:embed="rId3">
                <a:alphaModFix amt="0"/>
              </a:blip>
              <a:stretch>
                <a:fillRect l="0" t="-10620" r="0" b="-10620"/>
              </a:stretch>
            </a:blipFill>
          </p:spPr>
        </p:sp>
        <p:sp>
          <p:nvSpPr>
            <p:cNvPr name="TextBox 24" id="24"/>
            <p:cNvSpPr txBox="true"/>
            <p:nvPr/>
          </p:nvSpPr>
          <p:spPr>
            <a:xfrm>
              <a:off x="0" y="-38100"/>
              <a:ext cx="10241280" cy="332994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The squeeze attention has no encoding of where regions are. Two objects 5px apart and 200px apart receive the same treatment. Spatial relationships like 'left of', 'surrounded by', 'on both sides of' are critical for RS captions but invisible to the current architecture.</a:t>
              </a:r>
            </a:p>
          </p:txBody>
        </p:sp>
      </p:grpSp>
      <p:grpSp>
        <p:nvGrpSpPr>
          <p:cNvPr name="Group 25" id="25"/>
          <p:cNvGrpSpPr/>
          <p:nvPr/>
        </p:nvGrpSpPr>
        <p:grpSpPr>
          <a:xfrm rot="0">
            <a:off x="725167" y="6028687"/>
            <a:ext cx="8242297" cy="2115817"/>
            <a:chOff x="0" y="0"/>
            <a:chExt cx="10989729" cy="2821089"/>
          </a:xfrm>
        </p:grpSpPr>
        <p:sp>
          <p:nvSpPr>
            <p:cNvPr name="Freeform 26" id="26"/>
            <p:cNvSpPr/>
            <p:nvPr/>
          </p:nvSpPr>
          <p:spPr>
            <a:xfrm flipH="false" flipV="false" rot="0">
              <a:off x="8509" y="8509"/>
              <a:ext cx="10972800" cy="2804160"/>
            </a:xfrm>
            <a:custGeom>
              <a:avLst/>
              <a:gdLst/>
              <a:ahLst/>
              <a:cxnLst/>
              <a:rect r="r" b="b" t="t" l="l"/>
              <a:pathLst>
                <a:path h="2804160" w="10972800">
                  <a:moveTo>
                    <a:pt x="0" y="0"/>
                  </a:moveTo>
                  <a:lnTo>
                    <a:pt x="10972800" y="0"/>
                  </a:lnTo>
                  <a:lnTo>
                    <a:pt x="10972800" y="2804160"/>
                  </a:lnTo>
                  <a:lnTo>
                    <a:pt x="0" y="2804160"/>
                  </a:lnTo>
                  <a:close/>
                </a:path>
              </a:pathLst>
            </a:custGeom>
            <a:solidFill>
              <a:srgbClr val="FFFFFF"/>
            </a:solidFill>
          </p:spPr>
        </p:sp>
        <p:sp>
          <p:nvSpPr>
            <p:cNvPr name="Freeform 27" id="27"/>
            <p:cNvSpPr/>
            <p:nvPr/>
          </p:nvSpPr>
          <p:spPr>
            <a:xfrm flipH="false" flipV="false" rot="0">
              <a:off x="0" y="0"/>
              <a:ext cx="10989818" cy="2821178"/>
            </a:xfrm>
            <a:custGeom>
              <a:avLst/>
              <a:gdLst/>
              <a:ahLst/>
              <a:cxnLst/>
              <a:rect r="r" b="b" t="t" l="l"/>
              <a:pathLst>
                <a:path h="2821178" w="10989818">
                  <a:moveTo>
                    <a:pt x="8509" y="0"/>
                  </a:moveTo>
                  <a:lnTo>
                    <a:pt x="10981309" y="0"/>
                  </a:lnTo>
                  <a:cubicBezTo>
                    <a:pt x="10986008" y="0"/>
                    <a:pt x="10989818" y="3810"/>
                    <a:pt x="10989818" y="8509"/>
                  </a:cubicBezTo>
                  <a:lnTo>
                    <a:pt x="10989818" y="2812669"/>
                  </a:lnTo>
                  <a:cubicBezTo>
                    <a:pt x="10989818" y="2817368"/>
                    <a:pt x="10986008" y="2821178"/>
                    <a:pt x="1098130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10981309" y="2804160"/>
                  </a:lnTo>
                  <a:lnTo>
                    <a:pt x="10981309" y="2812669"/>
                  </a:lnTo>
                  <a:lnTo>
                    <a:pt x="10972800" y="2812669"/>
                  </a:lnTo>
                  <a:lnTo>
                    <a:pt x="10972800" y="8509"/>
                  </a:lnTo>
                  <a:lnTo>
                    <a:pt x="10981309" y="8509"/>
                  </a:lnTo>
                  <a:lnTo>
                    <a:pt x="10981309" y="17018"/>
                  </a:lnTo>
                  <a:lnTo>
                    <a:pt x="8509" y="17018"/>
                  </a:lnTo>
                  <a:close/>
                </a:path>
              </a:pathLst>
            </a:custGeom>
            <a:solidFill>
              <a:srgbClr val="E2E8F0"/>
            </a:solidFill>
          </p:spPr>
        </p:sp>
      </p:grpSp>
      <p:grpSp>
        <p:nvGrpSpPr>
          <p:cNvPr name="Group 28" id="28"/>
          <p:cNvGrpSpPr/>
          <p:nvPr/>
        </p:nvGrpSpPr>
        <p:grpSpPr>
          <a:xfrm rot="0">
            <a:off x="718823" y="6022343"/>
            <a:ext cx="135131" cy="2128523"/>
            <a:chOff x="0" y="0"/>
            <a:chExt cx="180175" cy="2838031"/>
          </a:xfrm>
        </p:grpSpPr>
        <p:sp>
          <p:nvSpPr>
            <p:cNvPr name="Freeform 29" id="29"/>
            <p:cNvSpPr/>
            <p:nvPr/>
          </p:nvSpPr>
          <p:spPr>
            <a:xfrm flipH="false" flipV="false" rot="0">
              <a:off x="16891" y="16891"/>
              <a:ext cx="146304" cy="2804160"/>
            </a:xfrm>
            <a:custGeom>
              <a:avLst/>
              <a:gdLst/>
              <a:ahLst/>
              <a:cxnLst/>
              <a:rect r="r" b="b" t="t" l="l"/>
              <a:pathLst>
                <a:path h="2804160" w="146304">
                  <a:moveTo>
                    <a:pt x="0" y="0"/>
                  </a:moveTo>
                  <a:lnTo>
                    <a:pt x="146304" y="0"/>
                  </a:lnTo>
                  <a:lnTo>
                    <a:pt x="146304" y="2804160"/>
                  </a:lnTo>
                  <a:lnTo>
                    <a:pt x="0" y="2804160"/>
                  </a:lnTo>
                  <a:close/>
                </a:path>
              </a:pathLst>
            </a:custGeom>
            <a:solidFill>
              <a:srgbClr val="D97706"/>
            </a:solidFill>
          </p:spPr>
        </p:sp>
        <p:sp>
          <p:nvSpPr>
            <p:cNvPr name="Freeform 30" id="30"/>
            <p:cNvSpPr/>
            <p:nvPr/>
          </p:nvSpPr>
          <p:spPr>
            <a:xfrm flipH="false" flipV="false" rot="0">
              <a:off x="0" y="0"/>
              <a:ext cx="180086" cy="2837942"/>
            </a:xfrm>
            <a:custGeom>
              <a:avLst/>
              <a:gdLst/>
              <a:ahLst/>
              <a:cxnLst/>
              <a:rect r="r" b="b" t="t" l="l"/>
              <a:pathLst>
                <a:path h="2837942" w="180086">
                  <a:moveTo>
                    <a:pt x="16891" y="0"/>
                  </a:moveTo>
                  <a:lnTo>
                    <a:pt x="163195" y="0"/>
                  </a:lnTo>
                  <a:cubicBezTo>
                    <a:pt x="172593" y="0"/>
                    <a:pt x="180086" y="7620"/>
                    <a:pt x="180086" y="16891"/>
                  </a:cubicBezTo>
                  <a:lnTo>
                    <a:pt x="180086" y="2821051"/>
                  </a:lnTo>
                  <a:cubicBezTo>
                    <a:pt x="180086" y="2830449"/>
                    <a:pt x="172466" y="2837942"/>
                    <a:pt x="163195"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63195" y="2804160"/>
                  </a:lnTo>
                  <a:lnTo>
                    <a:pt x="163195" y="2821051"/>
                  </a:lnTo>
                  <a:lnTo>
                    <a:pt x="146304" y="2821051"/>
                  </a:lnTo>
                  <a:lnTo>
                    <a:pt x="146304" y="16891"/>
                  </a:lnTo>
                  <a:lnTo>
                    <a:pt x="163195" y="16891"/>
                  </a:lnTo>
                  <a:lnTo>
                    <a:pt x="163195" y="33909"/>
                  </a:lnTo>
                  <a:lnTo>
                    <a:pt x="16891" y="33909"/>
                  </a:lnTo>
                  <a:close/>
                </a:path>
              </a:pathLst>
            </a:custGeom>
            <a:solidFill>
              <a:srgbClr val="D97706"/>
            </a:solidFill>
          </p:spPr>
        </p:sp>
      </p:grpSp>
      <p:grpSp>
        <p:nvGrpSpPr>
          <p:cNvPr name="Group 31" id="31"/>
          <p:cNvGrpSpPr/>
          <p:nvPr/>
        </p:nvGrpSpPr>
        <p:grpSpPr>
          <a:xfrm rot="0">
            <a:off x="1060704" y="6022343"/>
            <a:ext cx="7680960" cy="512064"/>
            <a:chOff x="0" y="0"/>
            <a:chExt cx="10241280" cy="682752"/>
          </a:xfrm>
        </p:grpSpPr>
        <p:sp>
          <p:nvSpPr>
            <p:cNvPr name="Freeform 32" id="32"/>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33" id="33"/>
            <p:cNvSpPr txBox="true"/>
            <p:nvPr/>
          </p:nvSpPr>
          <p:spPr>
            <a:xfrm>
              <a:off x="0" y="-47625"/>
              <a:ext cx="10241280" cy="730377"/>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Fix 1 — Relative Position Encoding</a:t>
              </a:r>
            </a:p>
          </p:txBody>
        </p:sp>
      </p:grpSp>
      <p:grpSp>
        <p:nvGrpSpPr>
          <p:cNvPr name="Group 34" id="34"/>
          <p:cNvGrpSpPr/>
          <p:nvPr/>
        </p:nvGrpSpPr>
        <p:grpSpPr>
          <a:xfrm rot="0">
            <a:off x="1060704" y="6382512"/>
            <a:ext cx="7680960" cy="1591056"/>
            <a:chOff x="0" y="0"/>
            <a:chExt cx="10241280" cy="2121408"/>
          </a:xfrm>
        </p:grpSpPr>
        <p:sp>
          <p:nvSpPr>
            <p:cNvPr name="Freeform 35" id="35"/>
            <p:cNvSpPr/>
            <p:nvPr/>
          </p:nvSpPr>
          <p:spPr>
            <a:xfrm flipH="false" flipV="false" rot="0">
              <a:off x="0" y="0"/>
              <a:ext cx="10241280" cy="2121408"/>
            </a:xfrm>
            <a:custGeom>
              <a:avLst/>
              <a:gdLst/>
              <a:ahLst/>
              <a:cxnLst/>
              <a:rect r="r" b="b" t="t" l="l"/>
              <a:pathLst>
                <a:path h="2121408" w="10241280">
                  <a:moveTo>
                    <a:pt x="0" y="0"/>
                  </a:moveTo>
                  <a:lnTo>
                    <a:pt x="10241280" y="0"/>
                  </a:lnTo>
                  <a:lnTo>
                    <a:pt x="10241280" y="2121408"/>
                  </a:lnTo>
                  <a:lnTo>
                    <a:pt x="0" y="2121408"/>
                  </a:lnTo>
                  <a:close/>
                </a:path>
              </a:pathLst>
            </a:custGeom>
            <a:blipFill>
              <a:blip r:embed="rId3">
                <a:alphaModFix amt="0"/>
              </a:blip>
              <a:stretch>
                <a:fillRect l="0" t="-53835" r="0" b="-34295"/>
              </a:stretch>
            </a:blipFill>
          </p:spPr>
        </p:sp>
        <p:sp>
          <p:nvSpPr>
            <p:cNvPr name="TextBox 36" id="36"/>
            <p:cNvSpPr txBox="true"/>
            <p:nvPr/>
          </p:nvSpPr>
          <p:spPr>
            <a:xfrm>
              <a:off x="0" y="-38100"/>
              <a:ext cx="10241280" cy="215950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Add a learned bias table B[Δr, Δc] to each attention score before softmax:</a:t>
              </a:r>
            </a:p>
            <a:p>
              <a:pPr algn="l">
                <a:lnSpc>
                  <a:spcPts val="2280"/>
                </a:lnSpc>
              </a:pPr>
              <a:r>
                <a:rPr lang="en-US" sz="1900">
                  <a:solidFill>
                    <a:srgbClr val="1E293B"/>
                  </a:solidFill>
                  <a:latin typeface="Calibri (MS)"/>
                  <a:ea typeface="Calibri (MS)"/>
                  <a:cs typeface="Calibri (MS)"/>
                  <a:sym typeface="Calibri (MS)"/>
                </a:rPr>
                <a:t>  score(i,j) += B[row_i - row_j, col_i - col_j]</a:t>
              </a:r>
            </a:p>
            <a:p>
              <a:pPr algn="l">
                <a:lnSpc>
                  <a:spcPts val="2280"/>
                </a:lnSpc>
              </a:pPr>
              <a:r>
                <a:rPr lang="en-US" sz="1900">
                  <a:solidFill>
                    <a:srgbClr val="1E293B"/>
                  </a:solidFill>
                  <a:latin typeface="Calibri (MS)"/>
                  <a:ea typeface="Calibri (MS)"/>
                  <a:cs typeface="Calibri (MS)"/>
                  <a:sym typeface="Calibri (MS)"/>
                </a:rPr>
                <a:t>The model then learns that 'river at row 3, trees at row 5' → 'river above trees'. Swin already uses this internally — we simply expose it in LFSE's squeeze attention.</a:t>
              </a:r>
            </a:p>
          </p:txBody>
        </p:sp>
      </p:grpSp>
      <p:grpSp>
        <p:nvGrpSpPr>
          <p:cNvPr name="Group 37" id="37"/>
          <p:cNvGrpSpPr/>
          <p:nvPr/>
        </p:nvGrpSpPr>
        <p:grpSpPr>
          <a:xfrm rot="0">
            <a:off x="725167" y="8314687"/>
            <a:ext cx="8242297" cy="1841497"/>
            <a:chOff x="0" y="0"/>
            <a:chExt cx="10989729" cy="2455329"/>
          </a:xfrm>
        </p:grpSpPr>
        <p:sp>
          <p:nvSpPr>
            <p:cNvPr name="Freeform 38" id="38"/>
            <p:cNvSpPr/>
            <p:nvPr/>
          </p:nvSpPr>
          <p:spPr>
            <a:xfrm flipH="false" flipV="false" rot="0">
              <a:off x="8509" y="8509"/>
              <a:ext cx="10972800" cy="2438400"/>
            </a:xfrm>
            <a:custGeom>
              <a:avLst/>
              <a:gdLst/>
              <a:ahLst/>
              <a:cxnLst/>
              <a:rect r="r" b="b" t="t" l="l"/>
              <a:pathLst>
                <a:path h="2438400" w="10972800">
                  <a:moveTo>
                    <a:pt x="0" y="0"/>
                  </a:moveTo>
                  <a:lnTo>
                    <a:pt x="10972800" y="0"/>
                  </a:lnTo>
                  <a:lnTo>
                    <a:pt x="10972800" y="2438400"/>
                  </a:lnTo>
                  <a:lnTo>
                    <a:pt x="0" y="2438400"/>
                  </a:lnTo>
                  <a:close/>
                </a:path>
              </a:pathLst>
            </a:custGeom>
            <a:solidFill>
              <a:srgbClr val="FFFFFF"/>
            </a:solidFill>
          </p:spPr>
        </p:sp>
        <p:sp>
          <p:nvSpPr>
            <p:cNvPr name="Freeform 39" id="39"/>
            <p:cNvSpPr/>
            <p:nvPr/>
          </p:nvSpPr>
          <p:spPr>
            <a:xfrm flipH="false" flipV="false" rot="0">
              <a:off x="0" y="0"/>
              <a:ext cx="10989818" cy="2455418"/>
            </a:xfrm>
            <a:custGeom>
              <a:avLst/>
              <a:gdLst/>
              <a:ahLst/>
              <a:cxnLst/>
              <a:rect r="r" b="b" t="t" l="l"/>
              <a:pathLst>
                <a:path h="2455418" w="10989818">
                  <a:moveTo>
                    <a:pt x="8509" y="0"/>
                  </a:moveTo>
                  <a:lnTo>
                    <a:pt x="10981309" y="0"/>
                  </a:lnTo>
                  <a:cubicBezTo>
                    <a:pt x="10986008" y="0"/>
                    <a:pt x="10989818" y="3810"/>
                    <a:pt x="10989818" y="8509"/>
                  </a:cubicBezTo>
                  <a:lnTo>
                    <a:pt x="10989818" y="2446909"/>
                  </a:lnTo>
                  <a:cubicBezTo>
                    <a:pt x="10989818" y="2451608"/>
                    <a:pt x="10986008" y="2455418"/>
                    <a:pt x="10981309" y="2455418"/>
                  </a:cubicBezTo>
                  <a:lnTo>
                    <a:pt x="8509" y="2455418"/>
                  </a:lnTo>
                  <a:cubicBezTo>
                    <a:pt x="3810" y="2455418"/>
                    <a:pt x="0" y="2451608"/>
                    <a:pt x="0" y="2446909"/>
                  </a:cubicBezTo>
                  <a:lnTo>
                    <a:pt x="0" y="8509"/>
                  </a:lnTo>
                  <a:cubicBezTo>
                    <a:pt x="0" y="3810"/>
                    <a:pt x="3810" y="0"/>
                    <a:pt x="8509" y="0"/>
                  </a:cubicBezTo>
                  <a:moveTo>
                    <a:pt x="8509" y="16891"/>
                  </a:moveTo>
                  <a:lnTo>
                    <a:pt x="8509" y="8509"/>
                  </a:lnTo>
                  <a:lnTo>
                    <a:pt x="17018" y="8509"/>
                  </a:lnTo>
                  <a:lnTo>
                    <a:pt x="17018" y="2446909"/>
                  </a:lnTo>
                  <a:lnTo>
                    <a:pt x="8509" y="2446909"/>
                  </a:lnTo>
                  <a:lnTo>
                    <a:pt x="8509" y="2438400"/>
                  </a:lnTo>
                  <a:lnTo>
                    <a:pt x="10981309" y="2438400"/>
                  </a:lnTo>
                  <a:lnTo>
                    <a:pt x="10981309" y="2446909"/>
                  </a:lnTo>
                  <a:lnTo>
                    <a:pt x="10972800" y="2446909"/>
                  </a:lnTo>
                  <a:lnTo>
                    <a:pt x="10972800" y="8509"/>
                  </a:lnTo>
                  <a:lnTo>
                    <a:pt x="10981309" y="8509"/>
                  </a:lnTo>
                  <a:lnTo>
                    <a:pt x="10981309" y="17018"/>
                  </a:lnTo>
                  <a:lnTo>
                    <a:pt x="8509" y="17018"/>
                  </a:lnTo>
                  <a:close/>
                </a:path>
              </a:pathLst>
            </a:custGeom>
            <a:solidFill>
              <a:srgbClr val="E2E8F0"/>
            </a:solidFill>
          </p:spPr>
        </p:sp>
      </p:grpSp>
      <p:grpSp>
        <p:nvGrpSpPr>
          <p:cNvPr name="Group 40" id="40"/>
          <p:cNvGrpSpPr/>
          <p:nvPr/>
        </p:nvGrpSpPr>
        <p:grpSpPr>
          <a:xfrm rot="0">
            <a:off x="718823" y="8308343"/>
            <a:ext cx="135131" cy="1854203"/>
            <a:chOff x="0" y="0"/>
            <a:chExt cx="180175" cy="2472271"/>
          </a:xfrm>
        </p:grpSpPr>
        <p:sp>
          <p:nvSpPr>
            <p:cNvPr name="Freeform 41" id="41"/>
            <p:cNvSpPr/>
            <p:nvPr/>
          </p:nvSpPr>
          <p:spPr>
            <a:xfrm flipH="false" flipV="false" rot="0">
              <a:off x="16891" y="16891"/>
              <a:ext cx="146304" cy="2438400"/>
            </a:xfrm>
            <a:custGeom>
              <a:avLst/>
              <a:gdLst/>
              <a:ahLst/>
              <a:cxnLst/>
              <a:rect r="r" b="b" t="t" l="l"/>
              <a:pathLst>
                <a:path h="2438400" w="146304">
                  <a:moveTo>
                    <a:pt x="0" y="0"/>
                  </a:moveTo>
                  <a:lnTo>
                    <a:pt x="146304" y="0"/>
                  </a:lnTo>
                  <a:lnTo>
                    <a:pt x="146304" y="2438400"/>
                  </a:lnTo>
                  <a:lnTo>
                    <a:pt x="0" y="2438400"/>
                  </a:lnTo>
                  <a:close/>
                </a:path>
              </a:pathLst>
            </a:custGeom>
            <a:solidFill>
              <a:srgbClr val="7C3AED"/>
            </a:solidFill>
          </p:spPr>
        </p:sp>
        <p:sp>
          <p:nvSpPr>
            <p:cNvPr name="Freeform 42" id="42"/>
            <p:cNvSpPr/>
            <p:nvPr/>
          </p:nvSpPr>
          <p:spPr>
            <a:xfrm flipH="false" flipV="false" rot="0">
              <a:off x="0" y="0"/>
              <a:ext cx="180086" cy="2472182"/>
            </a:xfrm>
            <a:custGeom>
              <a:avLst/>
              <a:gdLst/>
              <a:ahLst/>
              <a:cxnLst/>
              <a:rect r="r" b="b" t="t" l="l"/>
              <a:pathLst>
                <a:path h="2472182" w="180086">
                  <a:moveTo>
                    <a:pt x="16891" y="0"/>
                  </a:moveTo>
                  <a:lnTo>
                    <a:pt x="163195" y="0"/>
                  </a:lnTo>
                  <a:cubicBezTo>
                    <a:pt x="172593" y="0"/>
                    <a:pt x="180086" y="7620"/>
                    <a:pt x="180086" y="16891"/>
                  </a:cubicBezTo>
                  <a:lnTo>
                    <a:pt x="180086" y="2455291"/>
                  </a:lnTo>
                  <a:cubicBezTo>
                    <a:pt x="180086" y="2464689"/>
                    <a:pt x="172466" y="2472182"/>
                    <a:pt x="163195"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163195" y="2438400"/>
                  </a:lnTo>
                  <a:lnTo>
                    <a:pt x="163195" y="2455291"/>
                  </a:lnTo>
                  <a:lnTo>
                    <a:pt x="146304" y="2455291"/>
                  </a:lnTo>
                  <a:lnTo>
                    <a:pt x="146304" y="16891"/>
                  </a:lnTo>
                  <a:lnTo>
                    <a:pt x="163195" y="16891"/>
                  </a:lnTo>
                  <a:lnTo>
                    <a:pt x="163195" y="33909"/>
                  </a:lnTo>
                  <a:lnTo>
                    <a:pt x="16891" y="33909"/>
                  </a:lnTo>
                  <a:close/>
                </a:path>
              </a:pathLst>
            </a:custGeom>
            <a:solidFill>
              <a:srgbClr val="7C3AED"/>
            </a:solidFill>
          </p:spPr>
        </p:sp>
      </p:grpSp>
      <p:grpSp>
        <p:nvGrpSpPr>
          <p:cNvPr name="Group 43" id="43"/>
          <p:cNvGrpSpPr/>
          <p:nvPr/>
        </p:nvGrpSpPr>
        <p:grpSpPr>
          <a:xfrm rot="0">
            <a:off x="1060704" y="8412480"/>
            <a:ext cx="7680960" cy="512064"/>
            <a:chOff x="0" y="0"/>
            <a:chExt cx="10241280" cy="682752"/>
          </a:xfrm>
        </p:grpSpPr>
        <p:sp>
          <p:nvSpPr>
            <p:cNvPr name="Freeform 44" id="44"/>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45" id="45"/>
            <p:cNvSpPr txBox="true"/>
            <p:nvPr/>
          </p:nvSpPr>
          <p:spPr>
            <a:xfrm>
              <a:off x="0" y="-47625"/>
              <a:ext cx="10241280" cy="730377"/>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Fix 2 — Criss-Cross Attention</a:t>
              </a:r>
            </a:p>
          </p:txBody>
        </p:sp>
      </p:grpSp>
      <p:grpSp>
        <p:nvGrpSpPr>
          <p:cNvPr name="Group 46" id="46"/>
          <p:cNvGrpSpPr/>
          <p:nvPr/>
        </p:nvGrpSpPr>
        <p:grpSpPr>
          <a:xfrm rot="0">
            <a:off x="1060704" y="8961120"/>
            <a:ext cx="7680960" cy="1060704"/>
            <a:chOff x="0" y="0"/>
            <a:chExt cx="10241280" cy="1414272"/>
          </a:xfrm>
        </p:grpSpPr>
        <p:sp>
          <p:nvSpPr>
            <p:cNvPr name="Freeform 47" id="47"/>
            <p:cNvSpPr/>
            <p:nvPr/>
          </p:nvSpPr>
          <p:spPr>
            <a:xfrm flipH="false" flipV="false" rot="0">
              <a:off x="0" y="0"/>
              <a:ext cx="10241280" cy="1414272"/>
            </a:xfrm>
            <a:custGeom>
              <a:avLst/>
              <a:gdLst/>
              <a:ahLst/>
              <a:cxnLst/>
              <a:rect r="r" b="b" t="t" l="l"/>
              <a:pathLst>
                <a:path h="1414272" w="10241280">
                  <a:moveTo>
                    <a:pt x="0" y="0"/>
                  </a:moveTo>
                  <a:lnTo>
                    <a:pt x="10241280" y="0"/>
                  </a:lnTo>
                  <a:lnTo>
                    <a:pt x="10241280" y="1414272"/>
                  </a:lnTo>
                  <a:lnTo>
                    <a:pt x="0" y="1414272"/>
                  </a:lnTo>
                  <a:close/>
                </a:path>
              </a:pathLst>
            </a:custGeom>
            <a:blipFill>
              <a:blip r:embed="rId3">
                <a:alphaModFix amt="0"/>
              </a:blip>
              <a:stretch>
                <a:fillRect l="0" t="-91098" r="0" b="-91098"/>
              </a:stretch>
            </a:blipFill>
          </p:spPr>
        </p:sp>
        <p:sp>
          <p:nvSpPr>
            <p:cNvPr name="TextBox 48" id="48"/>
            <p:cNvSpPr txBox="true"/>
            <p:nvPr/>
          </p:nvSpPr>
          <p:spPr>
            <a:xfrm>
              <a:off x="0" y="-38100"/>
              <a:ext cx="10241280" cy="145237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Instead of averaging rows/columns (losing individual positions), attend to ALL pixels in the same row AND column simultaneously. Cost: O(H·W·(H+W)) — still sub-quadratic but much richer than mean-squeeze.</a:t>
              </a:r>
            </a:p>
          </p:txBody>
        </p:sp>
      </p:grpSp>
      <p:grpSp>
        <p:nvGrpSpPr>
          <p:cNvPr name="Group 49" id="49"/>
          <p:cNvGrpSpPr/>
          <p:nvPr/>
        </p:nvGrpSpPr>
        <p:grpSpPr>
          <a:xfrm rot="0">
            <a:off x="9320527" y="2462527"/>
            <a:ext cx="8242297" cy="7693657"/>
            <a:chOff x="0" y="0"/>
            <a:chExt cx="10989729" cy="10258209"/>
          </a:xfrm>
        </p:grpSpPr>
        <p:sp>
          <p:nvSpPr>
            <p:cNvPr name="Freeform 50" id="50"/>
            <p:cNvSpPr/>
            <p:nvPr/>
          </p:nvSpPr>
          <p:spPr>
            <a:xfrm flipH="false" flipV="false" rot="0">
              <a:off x="8509" y="8509"/>
              <a:ext cx="10972800" cy="10241280"/>
            </a:xfrm>
            <a:custGeom>
              <a:avLst/>
              <a:gdLst/>
              <a:ahLst/>
              <a:cxnLst/>
              <a:rect r="r" b="b" t="t" l="l"/>
              <a:pathLst>
                <a:path h="10241280" w="10972800">
                  <a:moveTo>
                    <a:pt x="0" y="0"/>
                  </a:moveTo>
                  <a:lnTo>
                    <a:pt x="10972800" y="0"/>
                  </a:lnTo>
                  <a:lnTo>
                    <a:pt x="10972800" y="10241280"/>
                  </a:lnTo>
                  <a:lnTo>
                    <a:pt x="0" y="10241280"/>
                  </a:lnTo>
                  <a:close/>
                </a:path>
              </a:pathLst>
            </a:custGeom>
            <a:solidFill>
              <a:srgbClr val="FFFFFF"/>
            </a:solidFill>
          </p:spPr>
        </p:sp>
        <p:sp>
          <p:nvSpPr>
            <p:cNvPr name="Freeform 51" id="51"/>
            <p:cNvSpPr/>
            <p:nvPr/>
          </p:nvSpPr>
          <p:spPr>
            <a:xfrm flipH="false" flipV="false" rot="0">
              <a:off x="0" y="0"/>
              <a:ext cx="10989818" cy="10258299"/>
            </a:xfrm>
            <a:custGeom>
              <a:avLst/>
              <a:gdLst/>
              <a:ahLst/>
              <a:cxnLst/>
              <a:rect r="r" b="b" t="t" l="l"/>
              <a:pathLst>
                <a:path h="10258299" w="10989818">
                  <a:moveTo>
                    <a:pt x="8509" y="0"/>
                  </a:moveTo>
                  <a:lnTo>
                    <a:pt x="10981309" y="0"/>
                  </a:lnTo>
                  <a:cubicBezTo>
                    <a:pt x="10986008" y="0"/>
                    <a:pt x="10989818" y="3810"/>
                    <a:pt x="10989818" y="8509"/>
                  </a:cubicBezTo>
                  <a:lnTo>
                    <a:pt x="10989818" y="10249789"/>
                  </a:lnTo>
                  <a:cubicBezTo>
                    <a:pt x="10989818" y="10254488"/>
                    <a:pt x="10986008" y="10258299"/>
                    <a:pt x="10981309" y="10258299"/>
                  </a:cubicBezTo>
                  <a:lnTo>
                    <a:pt x="8509" y="10258299"/>
                  </a:lnTo>
                  <a:cubicBezTo>
                    <a:pt x="3810" y="10258299"/>
                    <a:pt x="0" y="10254488"/>
                    <a:pt x="0" y="10249789"/>
                  </a:cubicBezTo>
                  <a:lnTo>
                    <a:pt x="0" y="8509"/>
                  </a:lnTo>
                  <a:cubicBezTo>
                    <a:pt x="0" y="3810"/>
                    <a:pt x="3810" y="0"/>
                    <a:pt x="8509" y="0"/>
                  </a:cubicBezTo>
                  <a:moveTo>
                    <a:pt x="8509" y="16891"/>
                  </a:moveTo>
                  <a:lnTo>
                    <a:pt x="8509" y="8509"/>
                  </a:lnTo>
                  <a:lnTo>
                    <a:pt x="17018" y="8509"/>
                  </a:lnTo>
                  <a:lnTo>
                    <a:pt x="17018" y="10249789"/>
                  </a:lnTo>
                  <a:lnTo>
                    <a:pt x="8509" y="10249789"/>
                  </a:lnTo>
                  <a:lnTo>
                    <a:pt x="8509" y="10241280"/>
                  </a:lnTo>
                  <a:lnTo>
                    <a:pt x="10981309" y="10241280"/>
                  </a:lnTo>
                  <a:lnTo>
                    <a:pt x="10981309" y="10249789"/>
                  </a:lnTo>
                  <a:lnTo>
                    <a:pt x="10972800" y="10249789"/>
                  </a:lnTo>
                  <a:lnTo>
                    <a:pt x="10972800" y="8509"/>
                  </a:lnTo>
                  <a:lnTo>
                    <a:pt x="10981309" y="8509"/>
                  </a:lnTo>
                  <a:lnTo>
                    <a:pt x="10981309" y="17018"/>
                  </a:lnTo>
                  <a:lnTo>
                    <a:pt x="8509" y="17018"/>
                  </a:lnTo>
                  <a:close/>
                </a:path>
              </a:pathLst>
            </a:custGeom>
            <a:solidFill>
              <a:srgbClr val="E2E8F0"/>
            </a:solidFill>
          </p:spPr>
        </p:sp>
      </p:grpSp>
      <p:grpSp>
        <p:nvGrpSpPr>
          <p:cNvPr name="Group 52" id="52"/>
          <p:cNvGrpSpPr/>
          <p:nvPr/>
        </p:nvGrpSpPr>
        <p:grpSpPr>
          <a:xfrm rot="0">
            <a:off x="9314183" y="2456183"/>
            <a:ext cx="8255003" cy="848363"/>
            <a:chOff x="0" y="0"/>
            <a:chExt cx="11006671" cy="1131151"/>
          </a:xfrm>
        </p:grpSpPr>
        <p:sp>
          <p:nvSpPr>
            <p:cNvPr name="Freeform 53" id="53"/>
            <p:cNvSpPr/>
            <p:nvPr/>
          </p:nvSpPr>
          <p:spPr>
            <a:xfrm flipH="false" flipV="false" rot="0">
              <a:off x="16891" y="16891"/>
              <a:ext cx="10972800" cy="1097280"/>
            </a:xfrm>
            <a:custGeom>
              <a:avLst/>
              <a:gdLst/>
              <a:ahLst/>
              <a:cxnLst/>
              <a:rect r="r" b="b" t="t" l="l"/>
              <a:pathLst>
                <a:path h="1097280" w="10972800">
                  <a:moveTo>
                    <a:pt x="0" y="0"/>
                  </a:moveTo>
                  <a:lnTo>
                    <a:pt x="10972800" y="0"/>
                  </a:lnTo>
                  <a:lnTo>
                    <a:pt x="10972800" y="1097280"/>
                  </a:lnTo>
                  <a:lnTo>
                    <a:pt x="0" y="1097280"/>
                  </a:lnTo>
                  <a:close/>
                </a:path>
              </a:pathLst>
            </a:custGeom>
            <a:solidFill>
              <a:srgbClr val="0F2347"/>
            </a:solidFill>
          </p:spPr>
        </p:sp>
        <p:sp>
          <p:nvSpPr>
            <p:cNvPr name="Freeform 54" id="54"/>
            <p:cNvSpPr/>
            <p:nvPr/>
          </p:nvSpPr>
          <p:spPr>
            <a:xfrm flipH="false" flipV="false" rot="0">
              <a:off x="0" y="0"/>
              <a:ext cx="11006582" cy="1131064"/>
            </a:xfrm>
            <a:custGeom>
              <a:avLst/>
              <a:gdLst/>
              <a:ahLst/>
              <a:cxnLst/>
              <a:rect r="r" b="b" t="t" l="l"/>
              <a:pathLst>
                <a:path h="1131064" w="11006582">
                  <a:moveTo>
                    <a:pt x="16891" y="0"/>
                  </a:moveTo>
                  <a:lnTo>
                    <a:pt x="10989691" y="0"/>
                  </a:lnTo>
                  <a:cubicBezTo>
                    <a:pt x="10999089" y="0"/>
                    <a:pt x="11006582" y="7620"/>
                    <a:pt x="11006582" y="16891"/>
                  </a:cubicBezTo>
                  <a:lnTo>
                    <a:pt x="11006582" y="1114171"/>
                  </a:lnTo>
                  <a:cubicBezTo>
                    <a:pt x="11006582" y="1123569"/>
                    <a:pt x="10998962" y="1131062"/>
                    <a:pt x="1098969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10989691" y="1097280"/>
                  </a:lnTo>
                  <a:lnTo>
                    <a:pt x="10989691" y="1114171"/>
                  </a:lnTo>
                  <a:lnTo>
                    <a:pt x="10972800" y="1114171"/>
                  </a:lnTo>
                  <a:lnTo>
                    <a:pt x="10972800" y="16891"/>
                  </a:lnTo>
                  <a:lnTo>
                    <a:pt x="10989691" y="16891"/>
                  </a:lnTo>
                  <a:lnTo>
                    <a:pt x="10989691" y="33909"/>
                  </a:lnTo>
                  <a:lnTo>
                    <a:pt x="16891" y="33909"/>
                  </a:lnTo>
                  <a:close/>
                </a:path>
              </a:pathLst>
            </a:custGeom>
            <a:solidFill>
              <a:srgbClr val="0F2347"/>
            </a:solidFill>
          </p:spPr>
        </p:sp>
      </p:grpSp>
      <p:grpSp>
        <p:nvGrpSpPr>
          <p:cNvPr name="Group 55" id="55"/>
          <p:cNvGrpSpPr/>
          <p:nvPr/>
        </p:nvGrpSpPr>
        <p:grpSpPr>
          <a:xfrm rot="0">
            <a:off x="9546336" y="2468880"/>
            <a:ext cx="7863840" cy="822960"/>
            <a:chOff x="0" y="0"/>
            <a:chExt cx="10485120" cy="1097280"/>
          </a:xfrm>
        </p:grpSpPr>
        <p:sp>
          <p:nvSpPr>
            <p:cNvPr name="Freeform 56" id="56"/>
            <p:cNvSpPr/>
            <p:nvPr/>
          </p:nvSpPr>
          <p:spPr>
            <a:xfrm flipH="false" flipV="false" rot="0">
              <a:off x="0" y="0"/>
              <a:ext cx="10485120" cy="1097280"/>
            </a:xfrm>
            <a:custGeom>
              <a:avLst/>
              <a:gdLst/>
              <a:ahLst/>
              <a:cxnLst/>
              <a:rect r="r" b="b" t="t" l="l"/>
              <a:pathLst>
                <a:path h="1097280" w="10485120">
                  <a:moveTo>
                    <a:pt x="0" y="0"/>
                  </a:moveTo>
                  <a:lnTo>
                    <a:pt x="10485120" y="0"/>
                  </a:lnTo>
                  <a:lnTo>
                    <a:pt x="10485120" y="1097280"/>
                  </a:lnTo>
                  <a:lnTo>
                    <a:pt x="0" y="1097280"/>
                  </a:lnTo>
                  <a:close/>
                </a:path>
              </a:pathLst>
            </a:custGeom>
            <a:blipFill>
              <a:blip r:embed="rId3">
                <a:alphaModFix amt="0"/>
              </a:blip>
              <a:stretch>
                <a:fillRect l="0" t="-136190" r="0" b="-136190"/>
              </a:stretch>
            </a:blipFill>
          </p:spPr>
        </p:sp>
        <p:sp>
          <p:nvSpPr>
            <p:cNvPr name="TextBox 57" id="57"/>
            <p:cNvSpPr txBox="true"/>
            <p:nvPr/>
          </p:nvSpPr>
          <p:spPr>
            <a:xfrm>
              <a:off x="0" y="-47625"/>
              <a:ext cx="10485120" cy="1144905"/>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Fix 3 — Graph Neural Network Layer  ★ HIGH VALUE</a:t>
              </a:r>
            </a:p>
          </p:txBody>
        </p:sp>
      </p:grpSp>
      <p:grpSp>
        <p:nvGrpSpPr>
          <p:cNvPr name="Group 58" id="58"/>
          <p:cNvGrpSpPr/>
          <p:nvPr/>
        </p:nvGrpSpPr>
        <p:grpSpPr>
          <a:xfrm rot="0">
            <a:off x="9546336" y="3364992"/>
            <a:ext cx="7680960" cy="1243584"/>
            <a:chOff x="0" y="0"/>
            <a:chExt cx="10241280" cy="1658112"/>
          </a:xfrm>
        </p:grpSpPr>
        <p:sp>
          <p:nvSpPr>
            <p:cNvPr name="Freeform 59" id="59"/>
            <p:cNvSpPr/>
            <p:nvPr/>
          </p:nvSpPr>
          <p:spPr>
            <a:xfrm flipH="false" flipV="false" rot="0">
              <a:off x="0" y="0"/>
              <a:ext cx="10241280" cy="1658112"/>
            </a:xfrm>
            <a:custGeom>
              <a:avLst/>
              <a:gdLst/>
              <a:ahLst/>
              <a:cxnLst/>
              <a:rect r="r" b="b" t="t" l="l"/>
              <a:pathLst>
                <a:path h="1658112" w="10241280">
                  <a:moveTo>
                    <a:pt x="0" y="0"/>
                  </a:moveTo>
                  <a:lnTo>
                    <a:pt x="10241280" y="0"/>
                  </a:lnTo>
                  <a:lnTo>
                    <a:pt x="10241280" y="1658112"/>
                  </a:lnTo>
                  <a:lnTo>
                    <a:pt x="0" y="1658112"/>
                  </a:lnTo>
                  <a:close/>
                </a:path>
              </a:pathLst>
            </a:custGeom>
            <a:blipFill>
              <a:blip r:embed="rId3">
                <a:alphaModFix amt="0"/>
              </a:blip>
              <a:stretch>
                <a:fillRect l="0" t="-70348" r="0" b="-70348"/>
              </a:stretch>
            </a:blipFill>
          </p:spPr>
        </p:sp>
        <p:sp>
          <p:nvSpPr>
            <p:cNvPr name="TextBox 60" id="60"/>
            <p:cNvSpPr txBox="true"/>
            <p:nvPr/>
          </p:nvSpPr>
          <p:spPr>
            <a:xfrm>
              <a:off x="0" y="-38100"/>
              <a:ext cx="10241280" cy="1696212"/>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Treat V'_local vectors as graph nodes. Add edges based on spatial proximity and feature similarity. Run 1–2 GNN message-passing steps to propagate information between object regions.</a:t>
              </a:r>
            </a:p>
          </p:txBody>
        </p:sp>
      </p:grpSp>
      <p:grpSp>
        <p:nvGrpSpPr>
          <p:cNvPr name="Group 61" id="61"/>
          <p:cNvGrpSpPr/>
          <p:nvPr/>
        </p:nvGrpSpPr>
        <p:grpSpPr>
          <a:xfrm rot="0">
            <a:off x="9546336" y="4718304"/>
            <a:ext cx="7680960" cy="475488"/>
            <a:chOff x="0" y="0"/>
            <a:chExt cx="10241280" cy="633984"/>
          </a:xfrm>
        </p:grpSpPr>
        <p:sp>
          <p:nvSpPr>
            <p:cNvPr name="Freeform 62" id="62"/>
            <p:cNvSpPr/>
            <p:nvPr/>
          </p:nvSpPr>
          <p:spPr>
            <a:xfrm flipH="false" flipV="false" rot="0">
              <a:off x="0" y="0"/>
              <a:ext cx="10241280" cy="633984"/>
            </a:xfrm>
            <a:custGeom>
              <a:avLst/>
              <a:gdLst/>
              <a:ahLst/>
              <a:cxnLst/>
              <a:rect r="r" b="b" t="t" l="l"/>
              <a:pathLst>
                <a:path h="633984" w="10241280">
                  <a:moveTo>
                    <a:pt x="0" y="0"/>
                  </a:moveTo>
                  <a:lnTo>
                    <a:pt x="10241280" y="0"/>
                  </a:lnTo>
                  <a:lnTo>
                    <a:pt x="10241280" y="633984"/>
                  </a:lnTo>
                  <a:lnTo>
                    <a:pt x="0" y="633984"/>
                  </a:lnTo>
                  <a:close/>
                </a:path>
              </a:pathLst>
            </a:custGeom>
            <a:blipFill>
              <a:blip r:embed="rId3">
                <a:alphaModFix amt="0"/>
              </a:blip>
              <a:stretch>
                <a:fillRect l="0" t="-264758" r="0" b="-264758"/>
              </a:stretch>
            </a:blipFill>
          </p:spPr>
        </p:sp>
        <p:sp>
          <p:nvSpPr>
            <p:cNvPr name="TextBox 63" id="63"/>
            <p:cNvSpPr txBox="true"/>
            <p:nvPr/>
          </p:nvSpPr>
          <p:spPr>
            <a:xfrm>
              <a:off x="0" y="-38100"/>
              <a:ext cx="10241280" cy="672084"/>
            </a:xfrm>
            <a:prstGeom prst="rect">
              <a:avLst/>
            </a:prstGeom>
          </p:spPr>
          <p:txBody>
            <a:bodyPr anchor="ctr" rtlCol="false" tIns="0" lIns="0" bIns="0" rIns="0"/>
            <a:lstStyle/>
            <a:p>
              <a:pPr algn="l">
                <a:lnSpc>
                  <a:spcPts val="2400"/>
                </a:lnSpc>
              </a:pPr>
              <a:r>
                <a:rPr lang="en-US" sz="2000" b="true">
                  <a:solidFill>
                    <a:srgbClr val="0D9488"/>
                  </a:solidFill>
                  <a:latin typeface="Calibri (MS) Bold"/>
                  <a:ea typeface="Calibri (MS) Bold"/>
                  <a:cs typeface="Calibri (MS) Bold"/>
                  <a:sym typeface="Calibri (MS) Bold"/>
                </a:rPr>
                <a:t>Graph construction:</a:t>
              </a:r>
            </a:p>
          </p:txBody>
        </p:sp>
      </p:grpSp>
      <p:grpSp>
        <p:nvGrpSpPr>
          <p:cNvPr name="Group 64" id="64"/>
          <p:cNvGrpSpPr/>
          <p:nvPr/>
        </p:nvGrpSpPr>
        <p:grpSpPr>
          <a:xfrm rot="0">
            <a:off x="9546336" y="5266944"/>
            <a:ext cx="2194560" cy="640080"/>
            <a:chOff x="0" y="0"/>
            <a:chExt cx="2926080" cy="853440"/>
          </a:xfrm>
        </p:grpSpPr>
        <p:sp>
          <p:nvSpPr>
            <p:cNvPr name="Freeform 65" id="65"/>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66" id="66"/>
            <p:cNvSpPr txBox="true"/>
            <p:nvPr/>
          </p:nvSpPr>
          <p:spPr>
            <a:xfrm>
              <a:off x="0" y="-38100"/>
              <a:ext cx="2926080" cy="891540"/>
            </a:xfrm>
            <a:prstGeom prst="rect">
              <a:avLst/>
            </a:prstGeom>
          </p:spPr>
          <p:txBody>
            <a:bodyPr anchor="ctr" rtlCol="false" tIns="0" lIns="0" bIns="0" rIns="0"/>
            <a:lstStyle/>
            <a:p>
              <a:pPr algn="l">
                <a:lnSpc>
                  <a:spcPts val="2280"/>
                </a:lnSpc>
              </a:pPr>
              <a:r>
                <a:rPr lang="en-US" sz="1900" b="true">
                  <a:solidFill>
                    <a:srgbClr val="0A1628"/>
                  </a:solidFill>
                  <a:latin typeface="Calibri (MS) Bold"/>
                  <a:ea typeface="Calibri (MS) Bold"/>
                  <a:cs typeface="Calibri (MS) Bold"/>
                  <a:sym typeface="Calibri (MS) Bold"/>
                </a:rPr>
                <a:t>Nodes:</a:t>
              </a:r>
            </a:p>
          </p:txBody>
        </p:sp>
      </p:grpSp>
      <p:grpSp>
        <p:nvGrpSpPr>
          <p:cNvPr name="Group 67" id="67"/>
          <p:cNvGrpSpPr/>
          <p:nvPr/>
        </p:nvGrpSpPr>
        <p:grpSpPr>
          <a:xfrm rot="0">
            <a:off x="11814048" y="5266944"/>
            <a:ext cx="5486400" cy="640080"/>
            <a:chOff x="0" y="0"/>
            <a:chExt cx="7315200" cy="853440"/>
          </a:xfrm>
        </p:grpSpPr>
        <p:sp>
          <p:nvSpPr>
            <p:cNvPr name="Freeform 68" id="68"/>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69" id="69"/>
            <p:cNvSpPr txBox="true"/>
            <p:nvPr/>
          </p:nvSpPr>
          <p:spPr>
            <a:xfrm>
              <a:off x="0" y="-38100"/>
              <a:ext cx="7315200" cy="89154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N local vectors from LFSE local-attention module</a:t>
              </a:r>
            </a:p>
          </p:txBody>
        </p:sp>
      </p:grpSp>
      <p:grpSp>
        <p:nvGrpSpPr>
          <p:cNvPr name="Group 70" id="70"/>
          <p:cNvGrpSpPr/>
          <p:nvPr/>
        </p:nvGrpSpPr>
        <p:grpSpPr>
          <a:xfrm rot="0">
            <a:off x="9546336" y="5961888"/>
            <a:ext cx="2194560" cy="640080"/>
            <a:chOff x="0" y="0"/>
            <a:chExt cx="2926080" cy="853440"/>
          </a:xfrm>
        </p:grpSpPr>
        <p:sp>
          <p:nvSpPr>
            <p:cNvPr name="Freeform 71" id="71"/>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72" id="72"/>
            <p:cNvSpPr txBox="true"/>
            <p:nvPr/>
          </p:nvSpPr>
          <p:spPr>
            <a:xfrm>
              <a:off x="0" y="-38100"/>
              <a:ext cx="2926080" cy="891540"/>
            </a:xfrm>
            <a:prstGeom prst="rect">
              <a:avLst/>
            </a:prstGeom>
          </p:spPr>
          <p:txBody>
            <a:bodyPr anchor="ctr" rtlCol="false" tIns="0" lIns="0" bIns="0" rIns="0"/>
            <a:lstStyle/>
            <a:p>
              <a:pPr algn="l">
                <a:lnSpc>
                  <a:spcPts val="2280"/>
                </a:lnSpc>
              </a:pPr>
              <a:r>
                <a:rPr lang="en-US" sz="1900" b="true">
                  <a:solidFill>
                    <a:srgbClr val="0A1628"/>
                  </a:solidFill>
                  <a:latin typeface="Calibri (MS) Bold"/>
                  <a:ea typeface="Calibri (MS) Bold"/>
                  <a:cs typeface="Calibri (MS) Bold"/>
                  <a:sym typeface="Calibri (MS) Bold"/>
                </a:rPr>
                <a:t>Spatial edge:</a:t>
              </a:r>
            </a:p>
          </p:txBody>
        </p:sp>
      </p:grpSp>
      <p:grpSp>
        <p:nvGrpSpPr>
          <p:cNvPr name="Group 73" id="73"/>
          <p:cNvGrpSpPr/>
          <p:nvPr/>
        </p:nvGrpSpPr>
        <p:grpSpPr>
          <a:xfrm rot="0">
            <a:off x="11814048" y="5907024"/>
            <a:ext cx="5486400" cy="640080"/>
            <a:chOff x="0" y="0"/>
            <a:chExt cx="7315200" cy="853440"/>
          </a:xfrm>
        </p:grpSpPr>
        <p:sp>
          <p:nvSpPr>
            <p:cNvPr name="Freeform 74" id="74"/>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75" id="75"/>
            <p:cNvSpPr txBox="true"/>
            <p:nvPr/>
          </p:nvSpPr>
          <p:spPr>
            <a:xfrm>
              <a:off x="0" y="-38100"/>
              <a:ext cx="7315200" cy="89154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Connect node i and j if their attention maps overlap spatially</a:t>
              </a:r>
            </a:p>
          </p:txBody>
        </p:sp>
      </p:grpSp>
      <p:grpSp>
        <p:nvGrpSpPr>
          <p:cNvPr name="Group 76" id="76"/>
          <p:cNvGrpSpPr/>
          <p:nvPr/>
        </p:nvGrpSpPr>
        <p:grpSpPr>
          <a:xfrm rot="0">
            <a:off x="9546336" y="6656832"/>
            <a:ext cx="2194560" cy="640080"/>
            <a:chOff x="0" y="0"/>
            <a:chExt cx="2926080" cy="853440"/>
          </a:xfrm>
        </p:grpSpPr>
        <p:sp>
          <p:nvSpPr>
            <p:cNvPr name="Freeform 77" id="77"/>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78" id="78"/>
            <p:cNvSpPr txBox="true"/>
            <p:nvPr/>
          </p:nvSpPr>
          <p:spPr>
            <a:xfrm>
              <a:off x="0" y="-38100"/>
              <a:ext cx="2926080" cy="891540"/>
            </a:xfrm>
            <a:prstGeom prst="rect">
              <a:avLst/>
            </a:prstGeom>
          </p:spPr>
          <p:txBody>
            <a:bodyPr anchor="ctr" rtlCol="false" tIns="0" lIns="0" bIns="0" rIns="0"/>
            <a:lstStyle/>
            <a:p>
              <a:pPr algn="l">
                <a:lnSpc>
                  <a:spcPts val="2280"/>
                </a:lnSpc>
              </a:pPr>
              <a:r>
                <a:rPr lang="en-US" sz="1900" b="true">
                  <a:solidFill>
                    <a:srgbClr val="0A1628"/>
                  </a:solidFill>
                  <a:latin typeface="Calibri (MS) Bold"/>
                  <a:ea typeface="Calibri (MS) Bold"/>
                  <a:cs typeface="Calibri (MS) Bold"/>
                  <a:sym typeface="Calibri (MS) Bold"/>
                </a:rPr>
                <a:t>Semantic edge:</a:t>
              </a:r>
            </a:p>
          </p:txBody>
        </p:sp>
      </p:grpSp>
      <p:grpSp>
        <p:nvGrpSpPr>
          <p:cNvPr name="Group 79" id="79"/>
          <p:cNvGrpSpPr/>
          <p:nvPr/>
        </p:nvGrpSpPr>
        <p:grpSpPr>
          <a:xfrm rot="0">
            <a:off x="11814048" y="6547104"/>
            <a:ext cx="5486400" cy="640080"/>
            <a:chOff x="0" y="0"/>
            <a:chExt cx="7315200" cy="853440"/>
          </a:xfrm>
        </p:grpSpPr>
        <p:sp>
          <p:nvSpPr>
            <p:cNvPr name="Freeform 80" id="80"/>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81" id="81"/>
            <p:cNvSpPr txBox="true"/>
            <p:nvPr/>
          </p:nvSpPr>
          <p:spPr>
            <a:xfrm>
              <a:off x="0" y="-38100"/>
              <a:ext cx="7315200" cy="89154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Connect if cosine_similarity(v_i, v_j) &gt; threshold</a:t>
              </a:r>
            </a:p>
          </p:txBody>
        </p:sp>
      </p:grpSp>
      <p:grpSp>
        <p:nvGrpSpPr>
          <p:cNvPr name="Group 82" id="82"/>
          <p:cNvGrpSpPr/>
          <p:nvPr/>
        </p:nvGrpSpPr>
        <p:grpSpPr>
          <a:xfrm rot="0">
            <a:off x="9546336" y="7351776"/>
            <a:ext cx="2194560" cy="640080"/>
            <a:chOff x="0" y="0"/>
            <a:chExt cx="2926080" cy="853440"/>
          </a:xfrm>
        </p:grpSpPr>
        <p:sp>
          <p:nvSpPr>
            <p:cNvPr name="Freeform 83" id="83"/>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84" id="84"/>
            <p:cNvSpPr txBox="true"/>
            <p:nvPr/>
          </p:nvSpPr>
          <p:spPr>
            <a:xfrm>
              <a:off x="0" y="-38100"/>
              <a:ext cx="2926080" cy="891540"/>
            </a:xfrm>
            <a:prstGeom prst="rect">
              <a:avLst/>
            </a:prstGeom>
          </p:spPr>
          <p:txBody>
            <a:bodyPr anchor="ctr" rtlCol="false" tIns="0" lIns="0" bIns="0" rIns="0"/>
            <a:lstStyle/>
            <a:p>
              <a:pPr algn="l">
                <a:lnSpc>
                  <a:spcPts val="2280"/>
                </a:lnSpc>
              </a:pPr>
              <a:r>
                <a:rPr lang="en-US" sz="1900" b="true">
                  <a:solidFill>
                    <a:srgbClr val="0A1628"/>
                  </a:solidFill>
                  <a:latin typeface="Calibri (MS) Bold"/>
                  <a:ea typeface="Calibri (MS) Bold"/>
                  <a:cs typeface="Calibri (MS) Bold"/>
                  <a:sym typeface="Calibri (MS) Bold"/>
                </a:rPr>
                <a:t>Message pass:</a:t>
              </a:r>
            </a:p>
          </p:txBody>
        </p:sp>
      </p:grpSp>
      <p:grpSp>
        <p:nvGrpSpPr>
          <p:cNvPr name="Group 85" id="85"/>
          <p:cNvGrpSpPr/>
          <p:nvPr/>
        </p:nvGrpSpPr>
        <p:grpSpPr>
          <a:xfrm rot="0">
            <a:off x="11814048" y="7187184"/>
            <a:ext cx="5486400" cy="640080"/>
            <a:chOff x="0" y="0"/>
            <a:chExt cx="7315200" cy="853440"/>
          </a:xfrm>
        </p:grpSpPr>
        <p:sp>
          <p:nvSpPr>
            <p:cNvPr name="Freeform 86" id="86"/>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87" id="87"/>
            <p:cNvSpPr txBox="true"/>
            <p:nvPr/>
          </p:nvSpPr>
          <p:spPr>
            <a:xfrm>
              <a:off x="0" y="-38100"/>
              <a:ext cx="7315200" cy="89154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h_i' = ReLU(W · mean_{j∈N(i)} h_j)  for 1–2 hops</a:t>
              </a:r>
            </a:p>
          </p:txBody>
        </p:sp>
      </p:grpSp>
      <p:grpSp>
        <p:nvGrpSpPr>
          <p:cNvPr name="Group 88" id="88"/>
          <p:cNvGrpSpPr/>
          <p:nvPr/>
        </p:nvGrpSpPr>
        <p:grpSpPr>
          <a:xfrm rot="0">
            <a:off x="9546336" y="8046720"/>
            <a:ext cx="2194560" cy="640080"/>
            <a:chOff x="0" y="0"/>
            <a:chExt cx="2926080" cy="853440"/>
          </a:xfrm>
        </p:grpSpPr>
        <p:sp>
          <p:nvSpPr>
            <p:cNvPr name="Freeform 89" id="89"/>
            <p:cNvSpPr/>
            <p:nvPr/>
          </p:nvSpPr>
          <p:spPr>
            <a:xfrm flipH="false" flipV="false" rot="0">
              <a:off x="0" y="0"/>
              <a:ext cx="2926080" cy="853440"/>
            </a:xfrm>
            <a:custGeom>
              <a:avLst/>
              <a:gdLst/>
              <a:ahLst/>
              <a:cxnLst/>
              <a:rect r="r" b="b" t="t" l="l"/>
              <a:pathLst>
                <a:path h="853440" w="2926080">
                  <a:moveTo>
                    <a:pt x="0" y="0"/>
                  </a:moveTo>
                  <a:lnTo>
                    <a:pt x="2926080" y="0"/>
                  </a:lnTo>
                  <a:lnTo>
                    <a:pt x="2926080" y="853440"/>
                  </a:lnTo>
                  <a:lnTo>
                    <a:pt x="0" y="853440"/>
                  </a:lnTo>
                  <a:close/>
                </a:path>
              </a:pathLst>
            </a:custGeom>
            <a:blipFill>
              <a:blip r:embed="rId3">
                <a:alphaModFix amt="0"/>
              </a:blip>
              <a:stretch>
                <a:fillRect l="0" t="-16805" r="0" b="-16805"/>
              </a:stretch>
            </a:blipFill>
          </p:spPr>
        </p:sp>
        <p:sp>
          <p:nvSpPr>
            <p:cNvPr name="TextBox 90" id="90"/>
            <p:cNvSpPr txBox="true"/>
            <p:nvPr/>
          </p:nvSpPr>
          <p:spPr>
            <a:xfrm>
              <a:off x="0" y="-38100"/>
              <a:ext cx="2926080" cy="891540"/>
            </a:xfrm>
            <a:prstGeom prst="rect">
              <a:avLst/>
            </a:prstGeom>
          </p:spPr>
          <p:txBody>
            <a:bodyPr anchor="ctr" rtlCol="false" tIns="0" lIns="0" bIns="0" rIns="0"/>
            <a:lstStyle/>
            <a:p>
              <a:pPr algn="l">
                <a:lnSpc>
                  <a:spcPts val="2280"/>
                </a:lnSpc>
              </a:pPr>
              <a:r>
                <a:rPr lang="en-US" sz="1900" b="true">
                  <a:solidFill>
                    <a:srgbClr val="0A1628"/>
                  </a:solidFill>
                  <a:latin typeface="Calibri (MS) Bold"/>
                  <a:ea typeface="Calibri (MS) Bold"/>
                  <a:cs typeface="Calibri (MS) Bold"/>
                  <a:sym typeface="Calibri (MS) Bold"/>
                </a:rPr>
                <a:t>Output:</a:t>
              </a:r>
            </a:p>
          </p:txBody>
        </p:sp>
      </p:grpSp>
      <p:grpSp>
        <p:nvGrpSpPr>
          <p:cNvPr name="Group 91" id="91"/>
          <p:cNvGrpSpPr/>
          <p:nvPr/>
        </p:nvGrpSpPr>
        <p:grpSpPr>
          <a:xfrm rot="0">
            <a:off x="11814048" y="7827264"/>
            <a:ext cx="5486400" cy="640080"/>
            <a:chOff x="0" y="0"/>
            <a:chExt cx="7315200" cy="853440"/>
          </a:xfrm>
        </p:grpSpPr>
        <p:sp>
          <p:nvSpPr>
            <p:cNvPr name="Freeform 92" id="92"/>
            <p:cNvSpPr/>
            <p:nvPr/>
          </p:nvSpPr>
          <p:spPr>
            <a:xfrm flipH="false" flipV="false" rot="0">
              <a:off x="0" y="0"/>
              <a:ext cx="7315200" cy="853440"/>
            </a:xfrm>
            <a:custGeom>
              <a:avLst/>
              <a:gdLst/>
              <a:ahLst/>
              <a:cxnLst/>
              <a:rect r="r" b="b" t="t" l="l"/>
              <a:pathLst>
                <a:path h="853440" w="7315200">
                  <a:moveTo>
                    <a:pt x="0" y="0"/>
                  </a:moveTo>
                  <a:lnTo>
                    <a:pt x="7315200" y="0"/>
                  </a:lnTo>
                  <a:lnTo>
                    <a:pt x="7315200" y="853440"/>
                  </a:lnTo>
                  <a:lnTo>
                    <a:pt x="0" y="853440"/>
                  </a:lnTo>
                  <a:close/>
                </a:path>
              </a:pathLst>
            </a:custGeom>
            <a:blipFill>
              <a:blip r:embed="rId3">
                <a:alphaModFix amt="0"/>
              </a:blip>
              <a:stretch>
                <a:fillRect l="0" t="-117014" r="0" b="-117014"/>
              </a:stretch>
            </a:blipFill>
          </p:spPr>
        </p:sp>
        <p:sp>
          <p:nvSpPr>
            <p:cNvPr name="TextBox 93" id="93"/>
            <p:cNvSpPr txBox="true"/>
            <p:nvPr/>
          </p:nvSpPr>
          <p:spPr>
            <a:xfrm>
              <a:off x="0" y="-38100"/>
              <a:ext cx="7315200" cy="891540"/>
            </a:xfrm>
            <a:prstGeom prst="rect">
              <a:avLst/>
            </a:prstGeom>
          </p:spPr>
          <p:txBody>
            <a:bodyPr anchor="ctr" rtlCol="false" tIns="0" lIns="0" bIns="0" rIns="0"/>
            <a:lstStyle/>
            <a:p>
              <a:pPr algn="l">
                <a:lnSpc>
                  <a:spcPts val="2280"/>
                </a:lnSpc>
              </a:pPr>
              <a:r>
                <a:rPr lang="en-US" sz="1900">
                  <a:solidFill>
                    <a:srgbClr val="94A3B8"/>
                  </a:solidFill>
                  <a:latin typeface="Calibri (MS)"/>
                  <a:ea typeface="Calibri (MS)"/>
                  <a:cs typeface="Calibri (MS)"/>
                  <a:sym typeface="Calibri (MS)"/>
                </a:rPr>
                <a:t>Updated node features replace V'_local as decoder input</a:t>
              </a:r>
            </a:p>
          </p:txBody>
        </p:sp>
      </p:grpSp>
      <p:grpSp>
        <p:nvGrpSpPr>
          <p:cNvPr name="Group 94" id="94"/>
          <p:cNvGrpSpPr/>
          <p:nvPr/>
        </p:nvGrpSpPr>
        <p:grpSpPr>
          <a:xfrm rot="0">
            <a:off x="9265668" y="9189596"/>
            <a:ext cx="8242297" cy="950046"/>
            <a:chOff x="0" y="0"/>
            <a:chExt cx="10989729" cy="1266729"/>
          </a:xfrm>
        </p:grpSpPr>
        <p:sp>
          <p:nvSpPr>
            <p:cNvPr name="Freeform 95" id="95"/>
            <p:cNvSpPr/>
            <p:nvPr/>
          </p:nvSpPr>
          <p:spPr>
            <a:xfrm flipH="false" flipV="false" rot="0">
              <a:off x="8509" y="10354"/>
              <a:ext cx="10972800" cy="1246130"/>
            </a:xfrm>
            <a:custGeom>
              <a:avLst/>
              <a:gdLst/>
              <a:ahLst/>
              <a:cxnLst/>
              <a:rect r="r" b="b" t="t" l="l"/>
              <a:pathLst>
                <a:path h="1246130" w="10972800">
                  <a:moveTo>
                    <a:pt x="0" y="0"/>
                  </a:moveTo>
                  <a:lnTo>
                    <a:pt x="10972800" y="0"/>
                  </a:lnTo>
                  <a:lnTo>
                    <a:pt x="10972800" y="1246129"/>
                  </a:lnTo>
                  <a:lnTo>
                    <a:pt x="0" y="1246129"/>
                  </a:lnTo>
                  <a:close/>
                </a:path>
              </a:pathLst>
            </a:custGeom>
            <a:solidFill>
              <a:srgbClr val="FFF7ED"/>
            </a:solidFill>
          </p:spPr>
        </p:sp>
        <p:sp>
          <p:nvSpPr>
            <p:cNvPr name="Freeform 96" id="96"/>
            <p:cNvSpPr/>
            <p:nvPr/>
          </p:nvSpPr>
          <p:spPr>
            <a:xfrm flipH="false" flipV="false" rot="0">
              <a:off x="0" y="0"/>
              <a:ext cx="10989818" cy="1266817"/>
            </a:xfrm>
            <a:custGeom>
              <a:avLst/>
              <a:gdLst/>
              <a:ahLst/>
              <a:cxnLst/>
              <a:rect r="r" b="b" t="t" l="l"/>
              <a:pathLst>
                <a:path h="1266817" w="10989818">
                  <a:moveTo>
                    <a:pt x="8509" y="0"/>
                  </a:moveTo>
                  <a:lnTo>
                    <a:pt x="10981309" y="0"/>
                  </a:lnTo>
                  <a:cubicBezTo>
                    <a:pt x="10986008" y="0"/>
                    <a:pt x="10989818" y="4636"/>
                    <a:pt x="10989818" y="10354"/>
                  </a:cubicBezTo>
                  <a:lnTo>
                    <a:pt x="10989818" y="1256483"/>
                  </a:lnTo>
                  <a:cubicBezTo>
                    <a:pt x="10989818" y="1262201"/>
                    <a:pt x="10986008" y="1266817"/>
                    <a:pt x="10981309" y="1266817"/>
                  </a:cubicBezTo>
                  <a:lnTo>
                    <a:pt x="8509" y="1266817"/>
                  </a:lnTo>
                  <a:cubicBezTo>
                    <a:pt x="3810" y="1266817"/>
                    <a:pt x="0" y="1262201"/>
                    <a:pt x="0" y="1256483"/>
                  </a:cubicBezTo>
                  <a:lnTo>
                    <a:pt x="0" y="10354"/>
                  </a:lnTo>
                  <a:cubicBezTo>
                    <a:pt x="0" y="4636"/>
                    <a:pt x="3810" y="0"/>
                    <a:pt x="8509" y="0"/>
                  </a:cubicBezTo>
                  <a:moveTo>
                    <a:pt x="8509" y="20552"/>
                  </a:moveTo>
                  <a:lnTo>
                    <a:pt x="8509" y="10354"/>
                  </a:lnTo>
                  <a:lnTo>
                    <a:pt x="17018" y="10354"/>
                  </a:lnTo>
                  <a:lnTo>
                    <a:pt x="17018" y="1256483"/>
                  </a:lnTo>
                  <a:lnTo>
                    <a:pt x="8509" y="1256483"/>
                  </a:lnTo>
                  <a:lnTo>
                    <a:pt x="8509" y="1246130"/>
                  </a:lnTo>
                  <a:lnTo>
                    <a:pt x="10981309" y="1246130"/>
                  </a:lnTo>
                  <a:lnTo>
                    <a:pt x="10981309" y="1256483"/>
                  </a:lnTo>
                  <a:lnTo>
                    <a:pt x="10972800" y="1256483"/>
                  </a:lnTo>
                  <a:lnTo>
                    <a:pt x="10972800" y="10354"/>
                  </a:lnTo>
                  <a:lnTo>
                    <a:pt x="10981309" y="10354"/>
                  </a:lnTo>
                  <a:lnTo>
                    <a:pt x="10981309" y="20707"/>
                  </a:lnTo>
                  <a:lnTo>
                    <a:pt x="8509" y="20707"/>
                  </a:lnTo>
                  <a:close/>
                </a:path>
              </a:pathLst>
            </a:custGeom>
            <a:solidFill>
              <a:srgbClr val="E2E8F0"/>
            </a:solidFill>
          </p:spPr>
        </p:sp>
      </p:grpSp>
      <p:grpSp>
        <p:nvGrpSpPr>
          <p:cNvPr name="Group 97" id="97"/>
          <p:cNvGrpSpPr/>
          <p:nvPr/>
        </p:nvGrpSpPr>
        <p:grpSpPr>
          <a:xfrm rot="0">
            <a:off x="9546336" y="9220200"/>
            <a:ext cx="7772400" cy="888839"/>
            <a:chOff x="0" y="0"/>
            <a:chExt cx="10363200" cy="1185118"/>
          </a:xfrm>
        </p:grpSpPr>
        <p:sp>
          <p:nvSpPr>
            <p:cNvPr name="Freeform 98" id="98"/>
            <p:cNvSpPr/>
            <p:nvPr/>
          </p:nvSpPr>
          <p:spPr>
            <a:xfrm flipH="false" flipV="false" rot="0">
              <a:off x="0" y="0"/>
              <a:ext cx="10363200" cy="1185118"/>
            </a:xfrm>
            <a:custGeom>
              <a:avLst/>
              <a:gdLst/>
              <a:ahLst/>
              <a:cxnLst/>
              <a:rect r="r" b="b" t="t" l="l"/>
              <a:pathLst>
                <a:path h="1185118" w="10363200">
                  <a:moveTo>
                    <a:pt x="0" y="0"/>
                  </a:moveTo>
                  <a:lnTo>
                    <a:pt x="10363200" y="0"/>
                  </a:lnTo>
                  <a:lnTo>
                    <a:pt x="10363200" y="1185118"/>
                  </a:lnTo>
                  <a:lnTo>
                    <a:pt x="0" y="1185118"/>
                  </a:lnTo>
                  <a:close/>
                </a:path>
              </a:pathLst>
            </a:custGeom>
            <a:blipFill>
              <a:blip r:embed="rId3">
                <a:alphaModFix amt="0"/>
              </a:blip>
              <a:stretch>
                <a:fillRect l="0" t="-133350" r="0" b="-107421"/>
              </a:stretch>
            </a:blipFill>
          </p:spPr>
        </p:sp>
        <p:sp>
          <p:nvSpPr>
            <p:cNvPr name="TextBox 99" id="99"/>
            <p:cNvSpPr txBox="true"/>
            <p:nvPr/>
          </p:nvSpPr>
          <p:spPr>
            <a:xfrm>
              <a:off x="0" y="-38100"/>
              <a:ext cx="10363200" cy="1223218"/>
            </a:xfrm>
            <a:prstGeom prst="rect">
              <a:avLst/>
            </a:prstGeom>
          </p:spPr>
          <p:txBody>
            <a:bodyPr anchor="ctr" rtlCol="false" tIns="0" lIns="0" bIns="0" rIns="0"/>
            <a:lstStyle/>
            <a:p>
              <a:pPr algn="l">
                <a:lnSpc>
                  <a:spcPts val="2160"/>
                </a:lnSpc>
              </a:pPr>
              <a:r>
                <a:rPr lang="en-US" sz="1800" b="true">
                  <a:solidFill>
                    <a:srgbClr val="D97706"/>
                  </a:solidFill>
                  <a:latin typeface="Calibri (MS) Bold"/>
                  <a:ea typeface="Calibri (MS) Bold"/>
                  <a:cs typeface="Calibri (MS) Bold"/>
                  <a:sym typeface="Calibri (MS) Bold"/>
                </a:rPr>
                <a:t>Why GNN? </a:t>
              </a:r>
              <a:r>
                <a:rPr lang="en-US" sz="1800">
                  <a:solidFill>
                    <a:srgbClr val="1E293B"/>
                  </a:solidFill>
                  <a:latin typeface="Calibri (MS)"/>
                  <a:ea typeface="Calibri (MS)"/>
                  <a:cs typeface="Calibri (MS)"/>
                  <a:sym typeface="Calibri (MS)"/>
                </a:rPr>
                <a:t>Captions like 'bridge connects river to road' require understanding that bridge and river are spatially adjacent AND semantically related. GNN message passing propagates both signals simultaneously — local-attention alone cannot.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D97706"/>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D97706"/>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04 · DECODER</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Direction 4: Stronger Caption Decoder</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136515"/>
            <a:ext cx="10711177" cy="4676137"/>
            <a:chOff x="0" y="0"/>
            <a:chExt cx="14281569" cy="6234849"/>
          </a:xfrm>
        </p:grpSpPr>
        <p:sp>
          <p:nvSpPr>
            <p:cNvPr name="Freeform 14" id="14"/>
            <p:cNvSpPr/>
            <p:nvPr/>
          </p:nvSpPr>
          <p:spPr>
            <a:xfrm flipH="false" flipV="false" rot="0">
              <a:off x="8509" y="8509"/>
              <a:ext cx="14264640" cy="6217920"/>
            </a:xfrm>
            <a:custGeom>
              <a:avLst/>
              <a:gdLst/>
              <a:ahLst/>
              <a:cxnLst/>
              <a:rect r="r" b="b" t="t" l="l"/>
              <a:pathLst>
                <a:path h="6217920" w="14264640">
                  <a:moveTo>
                    <a:pt x="0" y="0"/>
                  </a:moveTo>
                  <a:lnTo>
                    <a:pt x="14264640" y="0"/>
                  </a:lnTo>
                  <a:lnTo>
                    <a:pt x="14264640" y="6217920"/>
                  </a:lnTo>
                  <a:lnTo>
                    <a:pt x="0" y="6217920"/>
                  </a:lnTo>
                  <a:close/>
                </a:path>
              </a:pathLst>
            </a:custGeom>
            <a:solidFill>
              <a:srgbClr val="FFFFFF"/>
            </a:solidFill>
          </p:spPr>
        </p:sp>
        <p:sp>
          <p:nvSpPr>
            <p:cNvPr name="Freeform 15" id="15"/>
            <p:cNvSpPr/>
            <p:nvPr/>
          </p:nvSpPr>
          <p:spPr>
            <a:xfrm flipH="false" flipV="false" rot="0">
              <a:off x="0" y="0"/>
              <a:ext cx="14281657" cy="6234938"/>
            </a:xfrm>
            <a:custGeom>
              <a:avLst/>
              <a:gdLst/>
              <a:ahLst/>
              <a:cxnLst/>
              <a:rect r="r" b="b" t="t" l="l"/>
              <a:pathLst>
                <a:path h="6234938" w="14281657">
                  <a:moveTo>
                    <a:pt x="8509" y="0"/>
                  </a:moveTo>
                  <a:lnTo>
                    <a:pt x="14273149" y="0"/>
                  </a:lnTo>
                  <a:cubicBezTo>
                    <a:pt x="14277848" y="0"/>
                    <a:pt x="14281657" y="3810"/>
                    <a:pt x="14281657" y="8509"/>
                  </a:cubicBezTo>
                  <a:lnTo>
                    <a:pt x="14281657" y="6226429"/>
                  </a:lnTo>
                  <a:cubicBezTo>
                    <a:pt x="14281657" y="6231128"/>
                    <a:pt x="14277848" y="6234938"/>
                    <a:pt x="14273149" y="6234938"/>
                  </a:cubicBezTo>
                  <a:lnTo>
                    <a:pt x="8509" y="6234938"/>
                  </a:lnTo>
                  <a:cubicBezTo>
                    <a:pt x="3810" y="6234938"/>
                    <a:pt x="0" y="6231128"/>
                    <a:pt x="0" y="6226429"/>
                  </a:cubicBezTo>
                  <a:lnTo>
                    <a:pt x="0" y="8509"/>
                  </a:lnTo>
                  <a:cubicBezTo>
                    <a:pt x="0" y="3810"/>
                    <a:pt x="3810" y="0"/>
                    <a:pt x="8509" y="0"/>
                  </a:cubicBezTo>
                  <a:moveTo>
                    <a:pt x="8509" y="16891"/>
                  </a:moveTo>
                  <a:lnTo>
                    <a:pt x="8509" y="8509"/>
                  </a:lnTo>
                  <a:lnTo>
                    <a:pt x="17018" y="8509"/>
                  </a:lnTo>
                  <a:lnTo>
                    <a:pt x="17018" y="6226429"/>
                  </a:lnTo>
                  <a:lnTo>
                    <a:pt x="8509" y="6226429"/>
                  </a:lnTo>
                  <a:lnTo>
                    <a:pt x="8509" y="6217920"/>
                  </a:lnTo>
                  <a:lnTo>
                    <a:pt x="14273149" y="6217920"/>
                  </a:lnTo>
                  <a:lnTo>
                    <a:pt x="14273149" y="6226429"/>
                  </a:lnTo>
                  <a:lnTo>
                    <a:pt x="14264639" y="6226429"/>
                  </a:lnTo>
                  <a:lnTo>
                    <a:pt x="14264639" y="8509"/>
                  </a:lnTo>
                  <a:lnTo>
                    <a:pt x="14273149" y="8509"/>
                  </a:lnTo>
                  <a:lnTo>
                    <a:pt x="14273149" y="17018"/>
                  </a:lnTo>
                  <a:lnTo>
                    <a:pt x="8509" y="17018"/>
                  </a:lnTo>
                  <a:close/>
                </a:path>
              </a:pathLst>
            </a:custGeom>
            <a:solidFill>
              <a:srgbClr val="E2E8F0"/>
            </a:solidFill>
          </p:spPr>
        </p:sp>
      </p:grpSp>
      <p:grpSp>
        <p:nvGrpSpPr>
          <p:cNvPr name="Group 16" id="16"/>
          <p:cNvGrpSpPr/>
          <p:nvPr/>
        </p:nvGrpSpPr>
        <p:grpSpPr>
          <a:xfrm rot="0">
            <a:off x="718823" y="2130171"/>
            <a:ext cx="10723883" cy="793499"/>
            <a:chOff x="0" y="0"/>
            <a:chExt cx="14298511" cy="1057999"/>
          </a:xfrm>
        </p:grpSpPr>
        <p:sp>
          <p:nvSpPr>
            <p:cNvPr name="Freeform 17" id="17"/>
            <p:cNvSpPr/>
            <p:nvPr/>
          </p:nvSpPr>
          <p:spPr>
            <a:xfrm flipH="false" flipV="false" rot="0">
              <a:off x="16891" y="16891"/>
              <a:ext cx="14264639" cy="1024128"/>
            </a:xfrm>
            <a:custGeom>
              <a:avLst/>
              <a:gdLst/>
              <a:ahLst/>
              <a:cxnLst/>
              <a:rect r="r" b="b" t="t" l="l"/>
              <a:pathLst>
                <a:path h="1024128" w="14264639">
                  <a:moveTo>
                    <a:pt x="0" y="0"/>
                  </a:moveTo>
                  <a:lnTo>
                    <a:pt x="14264639" y="0"/>
                  </a:lnTo>
                  <a:lnTo>
                    <a:pt x="14264639" y="1024128"/>
                  </a:lnTo>
                  <a:lnTo>
                    <a:pt x="0" y="1024128"/>
                  </a:lnTo>
                  <a:close/>
                </a:path>
              </a:pathLst>
            </a:custGeom>
            <a:solidFill>
              <a:srgbClr val="7C3AED"/>
            </a:solidFill>
          </p:spPr>
        </p:sp>
        <p:sp>
          <p:nvSpPr>
            <p:cNvPr name="Freeform 18" id="18"/>
            <p:cNvSpPr/>
            <p:nvPr/>
          </p:nvSpPr>
          <p:spPr>
            <a:xfrm flipH="false" flipV="false" rot="0">
              <a:off x="0" y="0"/>
              <a:ext cx="14298422" cy="1057912"/>
            </a:xfrm>
            <a:custGeom>
              <a:avLst/>
              <a:gdLst/>
              <a:ahLst/>
              <a:cxnLst/>
              <a:rect r="r" b="b" t="t" l="l"/>
              <a:pathLst>
                <a:path h="1057912" w="14298422">
                  <a:moveTo>
                    <a:pt x="16891" y="0"/>
                  </a:moveTo>
                  <a:lnTo>
                    <a:pt x="14281530" y="0"/>
                  </a:lnTo>
                  <a:cubicBezTo>
                    <a:pt x="14290929" y="0"/>
                    <a:pt x="14298422" y="7620"/>
                    <a:pt x="14298422" y="16891"/>
                  </a:cubicBezTo>
                  <a:lnTo>
                    <a:pt x="14298422" y="1041019"/>
                  </a:lnTo>
                  <a:cubicBezTo>
                    <a:pt x="14298422" y="1050417"/>
                    <a:pt x="14290802" y="1057910"/>
                    <a:pt x="14281530"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14281530" y="1024128"/>
                  </a:lnTo>
                  <a:lnTo>
                    <a:pt x="14281530" y="1041019"/>
                  </a:lnTo>
                  <a:lnTo>
                    <a:pt x="14264639" y="1041019"/>
                  </a:lnTo>
                  <a:lnTo>
                    <a:pt x="14264639" y="16891"/>
                  </a:lnTo>
                  <a:lnTo>
                    <a:pt x="14281530" y="16891"/>
                  </a:lnTo>
                  <a:lnTo>
                    <a:pt x="14281530" y="33909"/>
                  </a:lnTo>
                  <a:lnTo>
                    <a:pt x="16891" y="33909"/>
                  </a:lnTo>
                  <a:close/>
                </a:path>
              </a:pathLst>
            </a:custGeom>
            <a:solidFill>
              <a:srgbClr val="7C3AED"/>
            </a:solidFill>
          </p:spPr>
        </p:sp>
      </p:grpSp>
      <p:grpSp>
        <p:nvGrpSpPr>
          <p:cNvPr name="Group 19" id="19"/>
          <p:cNvGrpSpPr/>
          <p:nvPr/>
        </p:nvGrpSpPr>
        <p:grpSpPr>
          <a:xfrm rot="0">
            <a:off x="1005840" y="2142868"/>
            <a:ext cx="10241280" cy="768096"/>
            <a:chOff x="0" y="0"/>
            <a:chExt cx="13655040" cy="1024128"/>
          </a:xfrm>
        </p:grpSpPr>
        <p:sp>
          <p:nvSpPr>
            <p:cNvPr name="Freeform 20" id="20"/>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21" id="21"/>
            <p:cNvSpPr txBox="true"/>
            <p:nvPr/>
          </p:nvSpPr>
          <p:spPr>
            <a:xfrm>
              <a:off x="0" y="-38100"/>
              <a:ext cx="13655040" cy="1062228"/>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Replace LSTM → Transformer Decoder  ★ HIGH PRIORITY</a:t>
              </a:r>
            </a:p>
          </p:txBody>
        </p:sp>
      </p:grpSp>
      <p:grpSp>
        <p:nvGrpSpPr>
          <p:cNvPr name="Group 22" id="22"/>
          <p:cNvGrpSpPr/>
          <p:nvPr/>
        </p:nvGrpSpPr>
        <p:grpSpPr>
          <a:xfrm rot="0">
            <a:off x="727710" y="3016882"/>
            <a:ext cx="10706100" cy="684276"/>
            <a:chOff x="0" y="0"/>
            <a:chExt cx="14274800" cy="912368"/>
          </a:xfrm>
        </p:grpSpPr>
        <p:sp>
          <p:nvSpPr>
            <p:cNvPr name="Freeform 23" id="23"/>
            <p:cNvSpPr/>
            <p:nvPr/>
          </p:nvSpPr>
          <p:spPr>
            <a:xfrm flipH="false" flipV="false" rot="0">
              <a:off x="5080" y="5080"/>
              <a:ext cx="14264640" cy="902208"/>
            </a:xfrm>
            <a:custGeom>
              <a:avLst/>
              <a:gdLst/>
              <a:ahLst/>
              <a:cxnLst/>
              <a:rect r="r" b="b" t="t" l="l"/>
              <a:pathLst>
                <a:path h="902208" w="14264640">
                  <a:moveTo>
                    <a:pt x="0" y="0"/>
                  </a:moveTo>
                  <a:lnTo>
                    <a:pt x="14264640" y="0"/>
                  </a:lnTo>
                  <a:lnTo>
                    <a:pt x="14264640" y="902208"/>
                  </a:lnTo>
                  <a:lnTo>
                    <a:pt x="0" y="902208"/>
                  </a:lnTo>
                  <a:close/>
                </a:path>
              </a:pathLst>
            </a:custGeom>
            <a:solidFill>
              <a:srgbClr val="0A1628"/>
            </a:solidFill>
          </p:spPr>
        </p:sp>
        <p:sp>
          <p:nvSpPr>
            <p:cNvPr name="Freeform 24" id="24"/>
            <p:cNvSpPr/>
            <p:nvPr/>
          </p:nvSpPr>
          <p:spPr>
            <a:xfrm flipH="false" flipV="false" rot="0">
              <a:off x="0" y="0"/>
              <a:ext cx="14274800" cy="912368"/>
            </a:xfrm>
            <a:custGeom>
              <a:avLst/>
              <a:gdLst/>
              <a:ahLst/>
              <a:cxnLst/>
              <a:rect r="r" b="b" t="t" l="l"/>
              <a:pathLst>
                <a:path h="912368" w="14274800">
                  <a:moveTo>
                    <a:pt x="5080" y="0"/>
                  </a:moveTo>
                  <a:lnTo>
                    <a:pt x="14269720" y="0"/>
                  </a:lnTo>
                  <a:cubicBezTo>
                    <a:pt x="14272513" y="0"/>
                    <a:pt x="14274800" y="2286"/>
                    <a:pt x="14274800" y="5080"/>
                  </a:cubicBezTo>
                  <a:lnTo>
                    <a:pt x="14274800" y="907288"/>
                  </a:lnTo>
                  <a:cubicBezTo>
                    <a:pt x="14274800" y="910082"/>
                    <a:pt x="14272513" y="912368"/>
                    <a:pt x="14269720" y="912368"/>
                  </a:cubicBezTo>
                  <a:lnTo>
                    <a:pt x="5080" y="912368"/>
                  </a:lnTo>
                  <a:cubicBezTo>
                    <a:pt x="2286" y="912368"/>
                    <a:pt x="0" y="910082"/>
                    <a:pt x="0" y="907288"/>
                  </a:cubicBezTo>
                  <a:lnTo>
                    <a:pt x="0" y="5080"/>
                  </a:lnTo>
                  <a:cubicBezTo>
                    <a:pt x="0" y="2286"/>
                    <a:pt x="2286" y="0"/>
                    <a:pt x="5080" y="0"/>
                  </a:cubicBezTo>
                  <a:moveTo>
                    <a:pt x="5080" y="10160"/>
                  </a:moveTo>
                  <a:lnTo>
                    <a:pt x="5080" y="5080"/>
                  </a:lnTo>
                  <a:lnTo>
                    <a:pt x="10160" y="5080"/>
                  </a:lnTo>
                  <a:lnTo>
                    <a:pt x="10160" y="907288"/>
                  </a:lnTo>
                  <a:lnTo>
                    <a:pt x="5080" y="907288"/>
                  </a:lnTo>
                  <a:lnTo>
                    <a:pt x="5080" y="902208"/>
                  </a:lnTo>
                  <a:lnTo>
                    <a:pt x="14269720" y="902208"/>
                  </a:lnTo>
                  <a:lnTo>
                    <a:pt x="14269720" y="907288"/>
                  </a:lnTo>
                  <a:lnTo>
                    <a:pt x="14264639" y="907288"/>
                  </a:lnTo>
                  <a:lnTo>
                    <a:pt x="14264639" y="5080"/>
                  </a:lnTo>
                  <a:lnTo>
                    <a:pt x="14269720" y="5080"/>
                  </a:lnTo>
                  <a:lnTo>
                    <a:pt x="14269720" y="10160"/>
                  </a:lnTo>
                  <a:lnTo>
                    <a:pt x="5080" y="10160"/>
                  </a:lnTo>
                  <a:close/>
                </a:path>
              </a:pathLst>
            </a:custGeom>
            <a:solidFill>
              <a:srgbClr val="E2E8F0"/>
            </a:solidFill>
          </p:spPr>
        </p:sp>
      </p:grpSp>
      <p:grpSp>
        <p:nvGrpSpPr>
          <p:cNvPr name="Group 25" id="25"/>
          <p:cNvGrpSpPr/>
          <p:nvPr/>
        </p:nvGrpSpPr>
        <p:grpSpPr>
          <a:xfrm rot="0">
            <a:off x="1005840" y="3038980"/>
            <a:ext cx="2926080" cy="621792"/>
            <a:chOff x="0" y="0"/>
            <a:chExt cx="3901440" cy="829056"/>
          </a:xfrm>
        </p:grpSpPr>
        <p:sp>
          <p:nvSpPr>
            <p:cNvPr name="Freeform 26" id="26"/>
            <p:cNvSpPr/>
            <p:nvPr/>
          </p:nvSpPr>
          <p:spPr>
            <a:xfrm flipH="false" flipV="false" rot="0">
              <a:off x="0" y="0"/>
              <a:ext cx="3901440" cy="829056"/>
            </a:xfrm>
            <a:custGeom>
              <a:avLst/>
              <a:gdLst/>
              <a:ahLst/>
              <a:cxnLst/>
              <a:rect r="r" b="b" t="t" l="l"/>
              <a:pathLst>
                <a:path h="829056" w="3901440">
                  <a:moveTo>
                    <a:pt x="0" y="0"/>
                  </a:moveTo>
                  <a:lnTo>
                    <a:pt x="3901440" y="0"/>
                  </a:lnTo>
                  <a:lnTo>
                    <a:pt x="3901440" y="829056"/>
                  </a:lnTo>
                  <a:lnTo>
                    <a:pt x="0" y="829056"/>
                  </a:lnTo>
                  <a:close/>
                </a:path>
              </a:pathLst>
            </a:custGeom>
            <a:blipFill>
              <a:blip r:embed="rId3">
                <a:alphaModFix amt="0"/>
              </a:blip>
              <a:stretch>
                <a:fillRect l="0" t="-41694" r="0" b="-41694"/>
              </a:stretch>
            </a:blipFill>
          </p:spPr>
        </p:sp>
        <p:sp>
          <p:nvSpPr>
            <p:cNvPr name="TextBox 27" id="27"/>
            <p:cNvSpPr txBox="true"/>
            <p:nvPr/>
          </p:nvSpPr>
          <p:spPr>
            <a:xfrm>
              <a:off x="0" y="-38100"/>
              <a:ext cx="390144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Aspect</a:t>
              </a:r>
            </a:p>
          </p:txBody>
        </p:sp>
      </p:grpSp>
      <p:grpSp>
        <p:nvGrpSpPr>
          <p:cNvPr name="Group 28" id="28"/>
          <p:cNvGrpSpPr/>
          <p:nvPr/>
        </p:nvGrpSpPr>
        <p:grpSpPr>
          <a:xfrm rot="0">
            <a:off x="4023360" y="3038980"/>
            <a:ext cx="3108960" cy="621792"/>
            <a:chOff x="0" y="0"/>
            <a:chExt cx="4145280" cy="829056"/>
          </a:xfrm>
        </p:grpSpPr>
        <p:sp>
          <p:nvSpPr>
            <p:cNvPr name="Freeform 29" id="29"/>
            <p:cNvSpPr/>
            <p:nvPr/>
          </p:nvSpPr>
          <p:spPr>
            <a:xfrm flipH="false" flipV="false" rot="0">
              <a:off x="0" y="0"/>
              <a:ext cx="4145280" cy="829056"/>
            </a:xfrm>
            <a:custGeom>
              <a:avLst/>
              <a:gdLst/>
              <a:ahLst/>
              <a:cxnLst/>
              <a:rect r="r" b="b" t="t" l="l"/>
              <a:pathLst>
                <a:path h="829056" w="4145280">
                  <a:moveTo>
                    <a:pt x="0" y="0"/>
                  </a:moveTo>
                  <a:lnTo>
                    <a:pt x="4145280" y="0"/>
                  </a:lnTo>
                  <a:lnTo>
                    <a:pt x="4145280" y="829056"/>
                  </a:lnTo>
                  <a:lnTo>
                    <a:pt x="0" y="829056"/>
                  </a:lnTo>
                  <a:close/>
                </a:path>
              </a:pathLst>
            </a:custGeom>
            <a:blipFill>
              <a:blip r:embed="rId3">
                <a:alphaModFix amt="0"/>
              </a:blip>
              <a:stretch>
                <a:fillRect l="0" t="-47425" r="0" b="-47425"/>
              </a:stretch>
            </a:blipFill>
          </p:spPr>
        </p:sp>
        <p:sp>
          <p:nvSpPr>
            <p:cNvPr name="TextBox 30" id="30"/>
            <p:cNvSpPr txBox="true"/>
            <p:nvPr/>
          </p:nvSpPr>
          <p:spPr>
            <a:xfrm>
              <a:off x="0" y="-38100"/>
              <a:ext cx="414528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LSTM (current)</a:t>
              </a:r>
            </a:p>
          </p:txBody>
        </p:sp>
      </p:grpSp>
      <p:grpSp>
        <p:nvGrpSpPr>
          <p:cNvPr name="Group 31" id="31"/>
          <p:cNvGrpSpPr/>
          <p:nvPr/>
        </p:nvGrpSpPr>
        <p:grpSpPr>
          <a:xfrm rot="0">
            <a:off x="7223760" y="3038980"/>
            <a:ext cx="3566160" cy="621792"/>
            <a:chOff x="0" y="0"/>
            <a:chExt cx="4754880" cy="829056"/>
          </a:xfrm>
        </p:grpSpPr>
        <p:sp>
          <p:nvSpPr>
            <p:cNvPr name="Freeform 32" id="32"/>
            <p:cNvSpPr/>
            <p:nvPr/>
          </p:nvSpPr>
          <p:spPr>
            <a:xfrm flipH="false" flipV="false" rot="0">
              <a:off x="0" y="0"/>
              <a:ext cx="4754880" cy="829056"/>
            </a:xfrm>
            <a:custGeom>
              <a:avLst/>
              <a:gdLst/>
              <a:ahLst/>
              <a:cxnLst/>
              <a:rect r="r" b="b" t="t" l="l"/>
              <a:pathLst>
                <a:path h="829056" w="4754880">
                  <a:moveTo>
                    <a:pt x="0" y="0"/>
                  </a:moveTo>
                  <a:lnTo>
                    <a:pt x="4754880" y="0"/>
                  </a:lnTo>
                  <a:lnTo>
                    <a:pt x="4754880" y="829056"/>
                  </a:lnTo>
                  <a:lnTo>
                    <a:pt x="0" y="829056"/>
                  </a:lnTo>
                  <a:close/>
                </a:path>
              </a:pathLst>
            </a:custGeom>
            <a:blipFill>
              <a:blip r:embed="rId3">
                <a:alphaModFix amt="0"/>
              </a:blip>
              <a:stretch>
                <a:fillRect l="0" t="-61752" r="0" b="-61752"/>
              </a:stretch>
            </a:blipFill>
          </p:spPr>
        </p:sp>
        <p:sp>
          <p:nvSpPr>
            <p:cNvPr name="TextBox 33" id="33"/>
            <p:cNvSpPr txBox="true"/>
            <p:nvPr/>
          </p:nvSpPr>
          <p:spPr>
            <a:xfrm>
              <a:off x="0" y="-38100"/>
              <a:ext cx="475488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Transformer</a:t>
              </a:r>
            </a:p>
          </p:txBody>
        </p:sp>
      </p:grpSp>
      <p:grpSp>
        <p:nvGrpSpPr>
          <p:cNvPr name="Group 34" id="34"/>
          <p:cNvGrpSpPr/>
          <p:nvPr/>
        </p:nvGrpSpPr>
        <p:grpSpPr>
          <a:xfrm rot="0">
            <a:off x="727710" y="3711826"/>
            <a:ext cx="10706100" cy="684276"/>
            <a:chOff x="0" y="0"/>
            <a:chExt cx="14274800" cy="912368"/>
          </a:xfrm>
        </p:grpSpPr>
        <p:sp>
          <p:nvSpPr>
            <p:cNvPr name="Freeform 35" id="35"/>
            <p:cNvSpPr/>
            <p:nvPr/>
          </p:nvSpPr>
          <p:spPr>
            <a:xfrm flipH="false" flipV="false" rot="0">
              <a:off x="5080" y="5080"/>
              <a:ext cx="14264640" cy="902208"/>
            </a:xfrm>
            <a:custGeom>
              <a:avLst/>
              <a:gdLst/>
              <a:ahLst/>
              <a:cxnLst/>
              <a:rect r="r" b="b" t="t" l="l"/>
              <a:pathLst>
                <a:path h="902208" w="14264640">
                  <a:moveTo>
                    <a:pt x="0" y="0"/>
                  </a:moveTo>
                  <a:lnTo>
                    <a:pt x="14264640" y="0"/>
                  </a:lnTo>
                  <a:lnTo>
                    <a:pt x="14264640" y="902208"/>
                  </a:lnTo>
                  <a:lnTo>
                    <a:pt x="0" y="902208"/>
                  </a:lnTo>
                  <a:close/>
                </a:path>
              </a:pathLst>
            </a:custGeom>
            <a:solidFill>
              <a:srgbClr val="FFFFFF"/>
            </a:solidFill>
          </p:spPr>
        </p:sp>
        <p:sp>
          <p:nvSpPr>
            <p:cNvPr name="Freeform 36" id="36"/>
            <p:cNvSpPr/>
            <p:nvPr/>
          </p:nvSpPr>
          <p:spPr>
            <a:xfrm flipH="false" flipV="false" rot="0">
              <a:off x="0" y="0"/>
              <a:ext cx="14274800" cy="912368"/>
            </a:xfrm>
            <a:custGeom>
              <a:avLst/>
              <a:gdLst/>
              <a:ahLst/>
              <a:cxnLst/>
              <a:rect r="r" b="b" t="t" l="l"/>
              <a:pathLst>
                <a:path h="912368" w="14274800">
                  <a:moveTo>
                    <a:pt x="5080" y="0"/>
                  </a:moveTo>
                  <a:lnTo>
                    <a:pt x="14269720" y="0"/>
                  </a:lnTo>
                  <a:cubicBezTo>
                    <a:pt x="14272513" y="0"/>
                    <a:pt x="14274800" y="2286"/>
                    <a:pt x="14274800" y="5080"/>
                  </a:cubicBezTo>
                  <a:lnTo>
                    <a:pt x="14274800" y="907288"/>
                  </a:lnTo>
                  <a:cubicBezTo>
                    <a:pt x="14274800" y="910082"/>
                    <a:pt x="14272513" y="912368"/>
                    <a:pt x="14269720" y="912368"/>
                  </a:cubicBezTo>
                  <a:lnTo>
                    <a:pt x="5080" y="912368"/>
                  </a:lnTo>
                  <a:cubicBezTo>
                    <a:pt x="2286" y="912368"/>
                    <a:pt x="0" y="910082"/>
                    <a:pt x="0" y="907288"/>
                  </a:cubicBezTo>
                  <a:lnTo>
                    <a:pt x="0" y="5080"/>
                  </a:lnTo>
                  <a:cubicBezTo>
                    <a:pt x="0" y="2286"/>
                    <a:pt x="2286" y="0"/>
                    <a:pt x="5080" y="0"/>
                  </a:cubicBezTo>
                  <a:moveTo>
                    <a:pt x="5080" y="10160"/>
                  </a:moveTo>
                  <a:lnTo>
                    <a:pt x="5080" y="5080"/>
                  </a:lnTo>
                  <a:lnTo>
                    <a:pt x="10160" y="5080"/>
                  </a:lnTo>
                  <a:lnTo>
                    <a:pt x="10160" y="907288"/>
                  </a:lnTo>
                  <a:lnTo>
                    <a:pt x="5080" y="907288"/>
                  </a:lnTo>
                  <a:lnTo>
                    <a:pt x="5080" y="902208"/>
                  </a:lnTo>
                  <a:lnTo>
                    <a:pt x="14269720" y="902208"/>
                  </a:lnTo>
                  <a:lnTo>
                    <a:pt x="14269720" y="907288"/>
                  </a:lnTo>
                  <a:lnTo>
                    <a:pt x="14264639" y="907288"/>
                  </a:lnTo>
                  <a:lnTo>
                    <a:pt x="14264639" y="5080"/>
                  </a:lnTo>
                  <a:lnTo>
                    <a:pt x="14269720" y="5080"/>
                  </a:lnTo>
                  <a:lnTo>
                    <a:pt x="14269720" y="10160"/>
                  </a:lnTo>
                  <a:lnTo>
                    <a:pt x="5080" y="10160"/>
                  </a:lnTo>
                  <a:close/>
                </a:path>
              </a:pathLst>
            </a:custGeom>
            <a:solidFill>
              <a:srgbClr val="E2E8F0"/>
            </a:solidFill>
          </p:spPr>
        </p:sp>
      </p:grpSp>
      <p:grpSp>
        <p:nvGrpSpPr>
          <p:cNvPr name="Group 37" id="37"/>
          <p:cNvGrpSpPr/>
          <p:nvPr/>
        </p:nvGrpSpPr>
        <p:grpSpPr>
          <a:xfrm rot="0">
            <a:off x="1005840" y="3733924"/>
            <a:ext cx="2926080" cy="621792"/>
            <a:chOff x="0" y="0"/>
            <a:chExt cx="3901440" cy="829056"/>
          </a:xfrm>
        </p:grpSpPr>
        <p:sp>
          <p:nvSpPr>
            <p:cNvPr name="Freeform 38" id="38"/>
            <p:cNvSpPr/>
            <p:nvPr/>
          </p:nvSpPr>
          <p:spPr>
            <a:xfrm flipH="false" flipV="false" rot="0">
              <a:off x="0" y="0"/>
              <a:ext cx="3901440" cy="829056"/>
            </a:xfrm>
            <a:custGeom>
              <a:avLst/>
              <a:gdLst/>
              <a:ahLst/>
              <a:cxnLst/>
              <a:rect r="r" b="b" t="t" l="l"/>
              <a:pathLst>
                <a:path h="829056" w="3901440">
                  <a:moveTo>
                    <a:pt x="0" y="0"/>
                  </a:moveTo>
                  <a:lnTo>
                    <a:pt x="3901440" y="0"/>
                  </a:lnTo>
                  <a:lnTo>
                    <a:pt x="3901440" y="829056"/>
                  </a:lnTo>
                  <a:lnTo>
                    <a:pt x="0" y="829056"/>
                  </a:lnTo>
                  <a:close/>
                </a:path>
              </a:pathLst>
            </a:custGeom>
            <a:blipFill>
              <a:blip r:embed="rId3">
                <a:alphaModFix amt="0"/>
              </a:blip>
              <a:stretch>
                <a:fillRect l="0" t="-41694" r="0" b="-41694"/>
              </a:stretch>
            </a:blipFill>
          </p:spPr>
        </p:sp>
        <p:sp>
          <p:nvSpPr>
            <p:cNvPr name="TextBox 39" id="39"/>
            <p:cNvSpPr txBox="true"/>
            <p:nvPr/>
          </p:nvSpPr>
          <p:spPr>
            <a:xfrm>
              <a:off x="0" y="-38100"/>
              <a:ext cx="3901440" cy="867156"/>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Long-range deps</a:t>
              </a:r>
            </a:p>
          </p:txBody>
        </p:sp>
      </p:grpSp>
      <p:grpSp>
        <p:nvGrpSpPr>
          <p:cNvPr name="Group 40" id="40"/>
          <p:cNvGrpSpPr/>
          <p:nvPr/>
        </p:nvGrpSpPr>
        <p:grpSpPr>
          <a:xfrm rot="0">
            <a:off x="4023360" y="3733924"/>
            <a:ext cx="3108960" cy="621792"/>
            <a:chOff x="0" y="0"/>
            <a:chExt cx="4145280" cy="829056"/>
          </a:xfrm>
        </p:grpSpPr>
        <p:sp>
          <p:nvSpPr>
            <p:cNvPr name="Freeform 41" id="41"/>
            <p:cNvSpPr/>
            <p:nvPr/>
          </p:nvSpPr>
          <p:spPr>
            <a:xfrm flipH="false" flipV="false" rot="0">
              <a:off x="0" y="0"/>
              <a:ext cx="4145280" cy="829056"/>
            </a:xfrm>
            <a:custGeom>
              <a:avLst/>
              <a:gdLst/>
              <a:ahLst/>
              <a:cxnLst/>
              <a:rect r="r" b="b" t="t" l="l"/>
              <a:pathLst>
                <a:path h="829056" w="4145280">
                  <a:moveTo>
                    <a:pt x="0" y="0"/>
                  </a:moveTo>
                  <a:lnTo>
                    <a:pt x="4145280" y="0"/>
                  </a:lnTo>
                  <a:lnTo>
                    <a:pt x="4145280" y="829056"/>
                  </a:lnTo>
                  <a:lnTo>
                    <a:pt x="0" y="829056"/>
                  </a:lnTo>
                  <a:close/>
                </a:path>
              </a:pathLst>
            </a:custGeom>
            <a:blipFill>
              <a:blip r:embed="rId3">
                <a:alphaModFix amt="0"/>
              </a:blip>
              <a:stretch>
                <a:fillRect l="0" t="-47425" r="0" b="-47425"/>
              </a:stretch>
            </a:blipFill>
          </p:spPr>
        </p:sp>
        <p:sp>
          <p:nvSpPr>
            <p:cNvPr name="TextBox 42" id="42"/>
            <p:cNvSpPr txBox="true"/>
            <p:nvPr/>
          </p:nvSpPr>
          <p:spPr>
            <a:xfrm>
              <a:off x="0" y="-38100"/>
              <a:ext cx="4145280" cy="867156"/>
            </a:xfrm>
            <a:prstGeom prst="rect">
              <a:avLst/>
            </a:prstGeom>
          </p:spPr>
          <p:txBody>
            <a:bodyPr anchor="ctr" rtlCol="false" tIns="0" lIns="0" bIns="0" rIns="0"/>
            <a:lstStyle/>
            <a:p>
              <a:pPr algn="l">
                <a:lnSpc>
                  <a:spcPts val="2160"/>
                </a:lnSpc>
              </a:pPr>
              <a:r>
                <a:rPr lang="en-US" sz="1800">
                  <a:solidFill>
                    <a:srgbClr val="E05B4B"/>
                  </a:solidFill>
                  <a:latin typeface="Calibri (MS)"/>
                  <a:ea typeface="Calibri (MS)"/>
                  <a:cs typeface="Calibri (MS)"/>
                  <a:sym typeface="Calibri (MS)"/>
                </a:rPr>
                <a:t>Decays over steps</a:t>
              </a:r>
            </a:p>
          </p:txBody>
        </p:sp>
      </p:grpSp>
      <p:grpSp>
        <p:nvGrpSpPr>
          <p:cNvPr name="Group 43" id="43"/>
          <p:cNvGrpSpPr/>
          <p:nvPr/>
        </p:nvGrpSpPr>
        <p:grpSpPr>
          <a:xfrm rot="0">
            <a:off x="7223760" y="3733924"/>
            <a:ext cx="3566160" cy="621792"/>
            <a:chOff x="0" y="0"/>
            <a:chExt cx="4754880" cy="829056"/>
          </a:xfrm>
        </p:grpSpPr>
        <p:sp>
          <p:nvSpPr>
            <p:cNvPr name="Freeform 44" id="44"/>
            <p:cNvSpPr/>
            <p:nvPr/>
          </p:nvSpPr>
          <p:spPr>
            <a:xfrm flipH="false" flipV="false" rot="0">
              <a:off x="0" y="0"/>
              <a:ext cx="4754880" cy="829056"/>
            </a:xfrm>
            <a:custGeom>
              <a:avLst/>
              <a:gdLst/>
              <a:ahLst/>
              <a:cxnLst/>
              <a:rect r="r" b="b" t="t" l="l"/>
              <a:pathLst>
                <a:path h="829056" w="4754880">
                  <a:moveTo>
                    <a:pt x="0" y="0"/>
                  </a:moveTo>
                  <a:lnTo>
                    <a:pt x="4754880" y="0"/>
                  </a:lnTo>
                  <a:lnTo>
                    <a:pt x="4754880" y="829056"/>
                  </a:lnTo>
                  <a:lnTo>
                    <a:pt x="0" y="829056"/>
                  </a:lnTo>
                  <a:close/>
                </a:path>
              </a:pathLst>
            </a:custGeom>
            <a:blipFill>
              <a:blip r:embed="rId3">
                <a:alphaModFix amt="0"/>
              </a:blip>
              <a:stretch>
                <a:fillRect l="0" t="-61752" r="0" b="-61752"/>
              </a:stretch>
            </a:blipFill>
          </p:spPr>
        </p:sp>
        <p:sp>
          <p:nvSpPr>
            <p:cNvPr name="TextBox 45" id="45"/>
            <p:cNvSpPr txBox="true"/>
            <p:nvPr/>
          </p:nvSpPr>
          <p:spPr>
            <a:xfrm>
              <a:off x="0" y="-38100"/>
              <a:ext cx="4754880" cy="867156"/>
            </a:xfrm>
            <a:prstGeom prst="rect">
              <a:avLst/>
            </a:prstGeom>
          </p:spPr>
          <p:txBody>
            <a:bodyPr anchor="ctr" rtlCol="false" tIns="0" lIns="0" bIns="0" rIns="0"/>
            <a:lstStyle/>
            <a:p>
              <a:pPr algn="l">
                <a:lnSpc>
                  <a:spcPts val="2160"/>
                </a:lnSpc>
              </a:pPr>
              <a:r>
                <a:rPr lang="en-US" sz="1800">
                  <a:solidFill>
                    <a:srgbClr val="0D9488"/>
                  </a:solidFill>
                  <a:latin typeface="Calibri (MS)"/>
                  <a:ea typeface="Calibri (MS)"/>
                  <a:cs typeface="Calibri (MS)"/>
                  <a:sym typeface="Calibri (MS)"/>
                </a:rPr>
                <a:t>Full self-attention over all prior words</a:t>
              </a:r>
            </a:p>
          </p:txBody>
        </p:sp>
      </p:grpSp>
      <p:grpSp>
        <p:nvGrpSpPr>
          <p:cNvPr name="Group 46" id="46"/>
          <p:cNvGrpSpPr/>
          <p:nvPr/>
        </p:nvGrpSpPr>
        <p:grpSpPr>
          <a:xfrm rot="0">
            <a:off x="727710" y="4406770"/>
            <a:ext cx="10706100" cy="684276"/>
            <a:chOff x="0" y="0"/>
            <a:chExt cx="14274800" cy="912368"/>
          </a:xfrm>
        </p:grpSpPr>
        <p:sp>
          <p:nvSpPr>
            <p:cNvPr name="Freeform 47" id="47"/>
            <p:cNvSpPr/>
            <p:nvPr/>
          </p:nvSpPr>
          <p:spPr>
            <a:xfrm flipH="false" flipV="false" rot="0">
              <a:off x="5080" y="5080"/>
              <a:ext cx="14264640" cy="902208"/>
            </a:xfrm>
            <a:custGeom>
              <a:avLst/>
              <a:gdLst/>
              <a:ahLst/>
              <a:cxnLst/>
              <a:rect r="r" b="b" t="t" l="l"/>
              <a:pathLst>
                <a:path h="902208" w="14264640">
                  <a:moveTo>
                    <a:pt x="0" y="0"/>
                  </a:moveTo>
                  <a:lnTo>
                    <a:pt x="14264640" y="0"/>
                  </a:lnTo>
                  <a:lnTo>
                    <a:pt x="14264640" y="902208"/>
                  </a:lnTo>
                  <a:lnTo>
                    <a:pt x="0" y="902208"/>
                  </a:lnTo>
                  <a:close/>
                </a:path>
              </a:pathLst>
            </a:custGeom>
            <a:solidFill>
              <a:srgbClr val="F8FAFC"/>
            </a:solidFill>
          </p:spPr>
        </p:sp>
        <p:sp>
          <p:nvSpPr>
            <p:cNvPr name="Freeform 48" id="48"/>
            <p:cNvSpPr/>
            <p:nvPr/>
          </p:nvSpPr>
          <p:spPr>
            <a:xfrm flipH="false" flipV="false" rot="0">
              <a:off x="0" y="0"/>
              <a:ext cx="14274800" cy="912368"/>
            </a:xfrm>
            <a:custGeom>
              <a:avLst/>
              <a:gdLst/>
              <a:ahLst/>
              <a:cxnLst/>
              <a:rect r="r" b="b" t="t" l="l"/>
              <a:pathLst>
                <a:path h="912368" w="14274800">
                  <a:moveTo>
                    <a:pt x="5080" y="0"/>
                  </a:moveTo>
                  <a:lnTo>
                    <a:pt x="14269720" y="0"/>
                  </a:lnTo>
                  <a:cubicBezTo>
                    <a:pt x="14272513" y="0"/>
                    <a:pt x="14274800" y="2286"/>
                    <a:pt x="14274800" y="5080"/>
                  </a:cubicBezTo>
                  <a:lnTo>
                    <a:pt x="14274800" y="907288"/>
                  </a:lnTo>
                  <a:cubicBezTo>
                    <a:pt x="14274800" y="910082"/>
                    <a:pt x="14272513" y="912368"/>
                    <a:pt x="14269720" y="912368"/>
                  </a:cubicBezTo>
                  <a:lnTo>
                    <a:pt x="5080" y="912368"/>
                  </a:lnTo>
                  <a:cubicBezTo>
                    <a:pt x="2286" y="912368"/>
                    <a:pt x="0" y="910082"/>
                    <a:pt x="0" y="907288"/>
                  </a:cubicBezTo>
                  <a:lnTo>
                    <a:pt x="0" y="5080"/>
                  </a:lnTo>
                  <a:cubicBezTo>
                    <a:pt x="0" y="2286"/>
                    <a:pt x="2286" y="0"/>
                    <a:pt x="5080" y="0"/>
                  </a:cubicBezTo>
                  <a:moveTo>
                    <a:pt x="5080" y="10160"/>
                  </a:moveTo>
                  <a:lnTo>
                    <a:pt x="5080" y="5080"/>
                  </a:lnTo>
                  <a:lnTo>
                    <a:pt x="10160" y="5080"/>
                  </a:lnTo>
                  <a:lnTo>
                    <a:pt x="10160" y="907288"/>
                  </a:lnTo>
                  <a:lnTo>
                    <a:pt x="5080" y="907288"/>
                  </a:lnTo>
                  <a:lnTo>
                    <a:pt x="5080" y="902208"/>
                  </a:lnTo>
                  <a:lnTo>
                    <a:pt x="14269720" y="902208"/>
                  </a:lnTo>
                  <a:lnTo>
                    <a:pt x="14269720" y="907288"/>
                  </a:lnTo>
                  <a:lnTo>
                    <a:pt x="14264639" y="907288"/>
                  </a:lnTo>
                  <a:lnTo>
                    <a:pt x="14264639" y="5080"/>
                  </a:lnTo>
                  <a:lnTo>
                    <a:pt x="14269720" y="5080"/>
                  </a:lnTo>
                  <a:lnTo>
                    <a:pt x="14269720" y="10160"/>
                  </a:lnTo>
                  <a:lnTo>
                    <a:pt x="5080" y="10160"/>
                  </a:lnTo>
                  <a:close/>
                </a:path>
              </a:pathLst>
            </a:custGeom>
            <a:solidFill>
              <a:srgbClr val="E2E8F0"/>
            </a:solidFill>
          </p:spPr>
        </p:sp>
      </p:grpSp>
      <p:grpSp>
        <p:nvGrpSpPr>
          <p:cNvPr name="Group 49" id="49"/>
          <p:cNvGrpSpPr/>
          <p:nvPr/>
        </p:nvGrpSpPr>
        <p:grpSpPr>
          <a:xfrm rot="0">
            <a:off x="1005840" y="4428868"/>
            <a:ext cx="2926080" cy="621792"/>
            <a:chOff x="0" y="0"/>
            <a:chExt cx="3901440" cy="829056"/>
          </a:xfrm>
        </p:grpSpPr>
        <p:sp>
          <p:nvSpPr>
            <p:cNvPr name="Freeform 50" id="50"/>
            <p:cNvSpPr/>
            <p:nvPr/>
          </p:nvSpPr>
          <p:spPr>
            <a:xfrm flipH="false" flipV="false" rot="0">
              <a:off x="0" y="0"/>
              <a:ext cx="3901440" cy="829056"/>
            </a:xfrm>
            <a:custGeom>
              <a:avLst/>
              <a:gdLst/>
              <a:ahLst/>
              <a:cxnLst/>
              <a:rect r="r" b="b" t="t" l="l"/>
              <a:pathLst>
                <a:path h="829056" w="3901440">
                  <a:moveTo>
                    <a:pt x="0" y="0"/>
                  </a:moveTo>
                  <a:lnTo>
                    <a:pt x="3901440" y="0"/>
                  </a:lnTo>
                  <a:lnTo>
                    <a:pt x="3901440" y="829056"/>
                  </a:lnTo>
                  <a:lnTo>
                    <a:pt x="0" y="829056"/>
                  </a:lnTo>
                  <a:close/>
                </a:path>
              </a:pathLst>
            </a:custGeom>
            <a:blipFill>
              <a:blip r:embed="rId3">
                <a:alphaModFix amt="0"/>
              </a:blip>
              <a:stretch>
                <a:fillRect l="0" t="-41694" r="0" b="-41694"/>
              </a:stretch>
            </a:blipFill>
          </p:spPr>
        </p:sp>
        <p:sp>
          <p:nvSpPr>
            <p:cNvPr name="TextBox 51" id="51"/>
            <p:cNvSpPr txBox="true"/>
            <p:nvPr/>
          </p:nvSpPr>
          <p:spPr>
            <a:xfrm>
              <a:off x="0" y="-38100"/>
              <a:ext cx="3901440" cy="867156"/>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Parallelism</a:t>
              </a:r>
            </a:p>
          </p:txBody>
        </p:sp>
      </p:grpSp>
      <p:grpSp>
        <p:nvGrpSpPr>
          <p:cNvPr name="Group 52" id="52"/>
          <p:cNvGrpSpPr/>
          <p:nvPr/>
        </p:nvGrpSpPr>
        <p:grpSpPr>
          <a:xfrm rot="0">
            <a:off x="4023360" y="4428868"/>
            <a:ext cx="3108960" cy="621792"/>
            <a:chOff x="0" y="0"/>
            <a:chExt cx="4145280" cy="829056"/>
          </a:xfrm>
        </p:grpSpPr>
        <p:sp>
          <p:nvSpPr>
            <p:cNvPr name="Freeform 53" id="53"/>
            <p:cNvSpPr/>
            <p:nvPr/>
          </p:nvSpPr>
          <p:spPr>
            <a:xfrm flipH="false" flipV="false" rot="0">
              <a:off x="0" y="0"/>
              <a:ext cx="4145280" cy="829056"/>
            </a:xfrm>
            <a:custGeom>
              <a:avLst/>
              <a:gdLst/>
              <a:ahLst/>
              <a:cxnLst/>
              <a:rect r="r" b="b" t="t" l="l"/>
              <a:pathLst>
                <a:path h="829056" w="4145280">
                  <a:moveTo>
                    <a:pt x="0" y="0"/>
                  </a:moveTo>
                  <a:lnTo>
                    <a:pt x="4145280" y="0"/>
                  </a:lnTo>
                  <a:lnTo>
                    <a:pt x="4145280" y="829056"/>
                  </a:lnTo>
                  <a:lnTo>
                    <a:pt x="0" y="829056"/>
                  </a:lnTo>
                  <a:close/>
                </a:path>
              </a:pathLst>
            </a:custGeom>
            <a:blipFill>
              <a:blip r:embed="rId3">
                <a:alphaModFix amt="0"/>
              </a:blip>
              <a:stretch>
                <a:fillRect l="0" t="-47425" r="0" b="-47425"/>
              </a:stretch>
            </a:blipFill>
          </p:spPr>
        </p:sp>
        <p:sp>
          <p:nvSpPr>
            <p:cNvPr name="TextBox 54" id="54"/>
            <p:cNvSpPr txBox="true"/>
            <p:nvPr/>
          </p:nvSpPr>
          <p:spPr>
            <a:xfrm>
              <a:off x="0" y="-38100"/>
              <a:ext cx="4145280" cy="867156"/>
            </a:xfrm>
            <a:prstGeom prst="rect">
              <a:avLst/>
            </a:prstGeom>
          </p:spPr>
          <p:txBody>
            <a:bodyPr anchor="ctr" rtlCol="false" tIns="0" lIns="0" bIns="0" rIns="0"/>
            <a:lstStyle/>
            <a:p>
              <a:pPr algn="l">
                <a:lnSpc>
                  <a:spcPts val="2160"/>
                </a:lnSpc>
              </a:pPr>
              <a:r>
                <a:rPr lang="en-US" sz="1800">
                  <a:solidFill>
                    <a:srgbClr val="E05B4B"/>
                  </a:solidFill>
                  <a:latin typeface="Calibri (MS)"/>
                  <a:ea typeface="Calibri (MS)"/>
                  <a:cs typeface="Calibri (MS)"/>
                  <a:sym typeface="Calibri (MS)"/>
                </a:rPr>
                <a:t>Sequential only</a:t>
              </a:r>
            </a:p>
          </p:txBody>
        </p:sp>
      </p:grpSp>
      <p:grpSp>
        <p:nvGrpSpPr>
          <p:cNvPr name="Group 55" id="55"/>
          <p:cNvGrpSpPr/>
          <p:nvPr/>
        </p:nvGrpSpPr>
        <p:grpSpPr>
          <a:xfrm rot="0">
            <a:off x="7223760" y="4428868"/>
            <a:ext cx="3566160" cy="621792"/>
            <a:chOff x="0" y="0"/>
            <a:chExt cx="4754880" cy="829056"/>
          </a:xfrm>
        </p:grpSpPr>
        <p:sp>
          <p:nvSpPr>
            <p:cNvPr name="Freeform 56" id="56"/>
            <p:cNvSpPr/>
            <p:nvPr/>
          </p:nvSpPr>
          <p:spPr>
            <a:xfrm flipH="false" flipV="false" rot="0">
              <a:off x="0" y="0"/>
              <a:ext cx="4754880" cy="829056"/>
            </a:xfrm>
            <a:custGeom>
              <a:avLst/>
              <a:gdLst/>
              <a:ahLst/>
              <a:cxnLst/>
              <a:rect r="r" b="b" t="t" l="l"/>
              <a:pathLst>
                <a:path h="829056" w="4754880">
                  <a:moveTo>
                    <a:pt x="0" y="0"/>
                  </a:moveTo>
                  <a:lnTo>
                    <a:pt x="4754880" y="0"/>
                  </a:lnTo>
                  <a:lnTo>
                    <a:pt x="4754880" y="829056"/>
                  </a:lnTo>
                  <a:lnTo>
                    <a:pt x="0" y="829056"/>
                  </a:lnTo>
                  <a:close/>
                </a:path>
              </a:pathLst>
            </a:custGeom>
            <a:blipFill>
              <a:blip r:embed="rId3">
                <a:alphaModFix amt="0"/>
              </a:blip>
              <a:stretch>
                <a:fillRect l="0" t="-61752" r="0" b="-61752"/>
              </a:stretch>
            </a:blipFill>
          </p:spPr>
        </p:sp>
        <p:sp>
          <p:nvSpPr>
            <p:cNvPr name="TextBox 57" id="57"/>
            <p:cNvSpPr txBox="true"/>
            <p:nvPr/>
          </p:nvSpPr>
          <p:spPr>
            <a:xfrm>
              <a:off x="0" y="-38100"/>
              <a:ext cx="4754880" cy="867156"/>
            </a:xfrm>
            <a:prstGeom prst="rect">
              <a:avLst/>
            </a:prstGeom>
          </p:spPr>
          <p:txBody>
            <a:bodyPr anchor="ctr" rtlCol="false" tIns="0" lIns="0" bIns="0" rIns="0"/>
            <a:lstStyle/>
            <a:p>
              <a:pPr algn="l">
                <a:lnSpc>
                  <a:spcPts val="2160"/>
                </a:lnSpc>
              </a:pPr>
              <a:r>
                <a:rPr lang="en-US" sz="1800">
                  <a:solidFill>
                    <a:srgbClr val="0D9488"/>
                  </a:solidFill>
                  <a:latin typeface="Calibri (MS)"/>
                  <a:ea typeface="Calibri (MS)"/>
                  <a:cs typeface="Calibri (MS)"/>
                  <a:sym typeface="Calibri (MS)"/>
                </a:rPr>
                <a:t>All positions computed in parallel</a:t>
              </a:r>
            </a:p>
          </p:txBody>
        </p:sp>
      </p:grpSp>
      <p:grpSp>
        <p:nvGrpSpPr>
          <p:cNvPr name="Group 58" id="58"/>
          <p:cNvGrpSpPr/>
          <p:nvPr/>
        </p:nvGrpSpPr>
        <p:grpSpPr>
          <a:xfrm rot="0">
            <a:off x="727710" y="5101714"/>
            <a:ext cx="10706100" cy="684276"/>
            <a:chOff x="0" y="0"/>
            <a:chExt cx="14274800" cy="912368"/>
          </a:xfrm>
        </p:grpSpPr>
        <p:sp>
          <p:nvSpPr>
            <p:cNvPr name="Freeform 59" id="59"/>
            <p:cNvSpPr/>
            <p:nvPr/>
          </p:nvSpPr>
          <p:spPr>
            <a:xfrm flipH="false" flipV="false" rot="0">
              <a:off x="5080" y="5080"/>
              <a:ext cx="14264640" cy="902208"/>
            </a:xfrm>
            <a:custGeom>
              <a:avLst/>
              <a:gdLst/>
              <a:ahLst/>
              <a:cxnLst/>
              <a:rect r="r" b="b" t="t" l="l"/>
              <a:pathLst>
                <a:path h="902208" w="14264640">
                  <a:moveTo>
                    <a:pt x="0" y="0"/>
                  </a:moveTo>
                  <a:lnTo>
                    <a:pt x="14264640" y="0"/>
                  </a:lnTo>
                  <a:lnTo>
                    <a:pt x="14264640" y="902208"/>
                  </a:lnTo>
                  <a:lnTo>
                    <a:pt x="0" y="902208"/>
                  </a:lnTo>
                  <a:close/>
                </a:path>
              </a:pathLst>
            </a:custGeom>
            <a:solidFill>
              <a:srgbClr val="FFFFFF"/>
            </a:solidFill>
          </p:spPr>
        </p:sp>
        <p:sp>
          <p:nvSpPr>
            <p:cNvPr name="Freeform 60" id="60"/>
            <p:cNvSpPr/>
            <p:nvPr/>
          </p:nvSpPr>
          <p:spPr>
            <a:xfrm flipH="false" flipV="false" rot="0">
              <a:off x="0" y="0"/>
              <a:ext cx="14274800" cy="912368"/>
            </a:xfrm>
            <a:custGeom>
              <a:avLst/>
              <a:gdLst/>
              <a:ahLst/>
              <a:cxnLst/>
              <a:rect r="r" b="b" t="t" l="l"/>
              <a:pathLst>
                <a:path h="912368" w="14274800">
                  <a:moveTo>
                    <a:pt x="5080" y="0"/>
                  </a:moveTo>
                  <a:lnTo>
                    <a:pt x="14269720" y="0"/>
                  </a:lnTo>
                  <a:cubicBezTo>
                    <a:pt x="14272513" y="0"/>
                    <a:pt x="14274800" y="2286"/>
                    <a:pt x="14274800" y="5080"/>
                  </a:cubicBezTo>
                  <a:lnTo>
                    <a:pt x="14274800" y="907288"/>
                  </a:lnTo>
                  <a:cubicBezTo>
                    <a:pt x="14274800" y="910082"/>
                    <a:pt x="14272513" y="912368"/>
                    <a:pt x="14269720" y="912368"/>
                  </a:cubicBezTo>
                  <a:lnTo>
                    <a:pt x="5080" y="912368"/>
                  </a:lnTo>
                  <a:cubicBezTo>
                    <a:pt x="2286" y="912368"/>
                    <a:pt x="0" y="910082"/>
                    <a:pt x="0" y="907288"/>
                  </a:cubicBezTo>
                  <a:lnTo>
                    <a:pt x="0" y="5080"/>
                  </a:lnTo>
                  <a:cubicBezTo>
                    <a:pt x="0" y="2286"/>
                    <a:pt x="2286" y="0"/>
                    <a:pt x="5080" y="0"/>
                  </a:cubicBezTo>
                  <a:moveTo>
                    <a:pt x="5080" y="10160"/>
                  </a:moveTo>
                  <a:lnTo>
                    <a:pt x="5080" y="5080"/>
                  </a:lnTo>
                  <a:lnTo>
                    <a:pt x="10160" y="5080"/>
                  </a:lnTo>
                  <a:lnTo>
                    <a:pt x="10160" y="907288"/>
                  </a:lnTo>
                  <a:lnTo>
                    <a:pt x="5080" y="907288"/>
                  </a:lnTo>
                  <a:lnTo>
                    <a:pt x="5080" y="902208"/>
                  </a:lnTo>
                  <a:lnTo>
                    <a:pt x="14269720" y="902208"/>
                  </a:lnTo>
                  <a:lnTo>
                    <a:pt x="14269720" y="907288"/>
                  </a:lnTo>
                  <a:lnTo>
                    <a:pt x="14264639" y="907288"/>
                  </a:lnTo>
                  <a:lnTo>
                    <a:pt x="14264639" y="5080"/>
                  </a:lnTo>
                  <a:lnTo>
                    <a:pt x="14269720" y="5080"/>
                  </a:lnTo>
                  <a:lnTo>
                    <a:pt x="14269720" y="10160"/>
                  </a:lnTo>
                  <a:lnTo>
                    <a:pt x="5080" y="10160"/>
                  </a:lnTo>
                  <a:close/>
                </a:path>
              </a:pathLst>
            </a:custGeom>
            <a:solidFill>
              <a:srgbClr val="E2E8F0"/>
            </a:solidFill>
          </p:spPr>
        </p:sp>
      </p:grpSp>
      <p:grpSp>
        <p:nvGrpSpPr>
          <p:cNvPr name="Group 61" id="61"/>
          <p:cNvGrpSpPr/>
          <p:nvPr/>
        </p:nvGrpSpPr>
        <p:grpSpPr>
          <a:xfrm rot="0">
            <a:off x="1005840" y="5123812"/>
            <a:ext cx="2926080" cy="621792"/>
            <a:chOff x="0" y="0"/>
            <a:chExt cx="3901440" cy="829056"/>
          </a:xfrm>
        </p:grpSpPr>
        <p:sp>
          <p:nvSpPr>
            <p:cNvPr name="Freeform 62" id="62"/>
            <p:cNvSpPr/>
            <p:nvPr/>
          </p:nvSpPr>
          <p:spPr>
            <a:xfrm flipH="false" flipV="false" rot="0">
              <a:off x="0" y="0"/>
              <a:ext cx="3901440" cy="829056"/>
            </a:xfrm>
            <a:custGeom>
              <a:avLst/>
              <a:gdLst/>
              <a:ahLst/>
              <a:cxnLst/>
              <a:rect r="r" b="b" t="t" l="l"/>
              <a:pathLst>
                <a:path h="829056" w="3901440">
                  <a:moveTo>
                    <a:pt x="0" y="0"/>
                  </a:moveTo>
                  <a:lnTo>
                    <a:pt x="3901440" y="0"/>
                  </a:lnTo>
                  <a:lnTo>
                    <a:pt x="3901440" y="829056"/>
                  </a:lnTo>
                  <a:lnTo>
                    <a:pt x="0" y="829056"/>
                  </a:lnTo>
                  <a:close/>
                </a:path>
              </a:pathLst>
            </a:custGeom>
            <a:blipFill>
              <a:blip r:embed="rId3">
                <a:alphaModFix amt="0"/>
              </a:blip>
              <a:stretch>
                <a:fillRect l="0" t="-41694" r="0" b="-41694"/>
              </a:stretch>
            </a:blipFill>
          </p:spPr>
        </p:sp>
        <p:sp>
          <p:nvSpPr>
            <p:cNvPr name="TextBox 63" id="63"/>
            <p:cNvSpPr txBox="true"/>
            <p:nvPr/>
          </p:nvSpPr>
          <p:spPr>
            <a:xfrm>
              <a:off x="0" y="-38100"/>
              <a:ext cx="3901440" cy="867156"/>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Context window</a:t>
              </a:r>
            </a:p>
          </p:txBody>
        </p:sp>
      </p:grpSp>
      <p:grpSp>
        <p:nvGrpSpPr>
          <p:cNvPr name="Group 64" id="64"/>
          <p:cNvGrpSpPr/>
          <p:nvPr/>
        </p:nvGrpSpPr>
        <p:grpSpPr>
          <a:xfrm rot="0">
            <a:off x="4023360" y="5123812"/>
            <a:ext cx="3108960" cy="621792"/>
            <a:chOff x="0" y="0"/>
            <a:chExt cx="4145280" cy="829056"/>
          </a:xfrm>
        </p:grpSpPr>
        <p:sp>
          <p:nvSpPr>
            <p:cNvPr name="Freeform 65" id="65"/>
            <p:cNvSpPr/>
            <p:nvPr/>
          </p:nvSpPr>
          <p:spPr>
            <a:xfrm flipH="false" flipV="false" rot="0">
              <a:off x="0" y="0"/>
              <a:ext cx="4145280" cy="829056"/>
            </a:xfrm>
            <a:custGeom>
              <a:avLst/>
              <a:gdLst/>
              <a:ahLst/>
              <a:cxnLst/>
              <a:rect r="r" b="b" t="t" l="l"/>
              <a:pathLst>
                <a:path h="829056" w="4145280">
                  <a:moveTo>
                    <a:pt x="0" y="0"/>
                  </a:moveTo>
                  <a:lnTo>
                    <a:pt x="4145280" y="0"/>
                  </a:lnTo>
                  <a:lnTo>
                    <a:pt x="4145280" y="829056"/>
                  </a:lnTo>
                  <a:lnTo>
                    <a:pt x="0" y="829056"/>
                  </a:lnTo>
                  <a:close/>
                </a:path>
              </a:pathLst>
            </a:custGeom>
            <a:blipFill>
              <a:blip r:embed="rId3">
                <a:alphaModFix amt="0"/>
              </a:blip>
              <a:stretch>
                <a:fillRect l="0" t="-47425" r="0" b="-47425"/>
              </a:stretch>
            </a:blipFill>
          </p:spPr>
        </p:sp>
        <p:sp>
          <p:nvSpPr>
            <p:cNvPr name="TextBox 66" id="66"/>
            <p:cNvSpPr txBox="true"/>
            <p:nvPr/>
          </p:nvSpPr>
          <p:spPr>
            <a:xfrm>
              <a:off x="0" y="-38100"/>
              <a:ext cx="4145280" cy="867156"/>
            </a:xfrm>
            <a:prstGeom prst="rect">
              <a:avLst/>
            </a:prstGeom>
          </p:spPr>
          <p:txBody>
            <a:bodyPr anchor="ctr" rtlCol="false" tIns="0" lIns="0" bIns="0" rIns="0"/>
            <a:lstStyle/>
            <a:p>
              <a:pPr algn="l">
                <a:lnSpc>
                  <a:spcPts val="2160"/>
                </a:lnSpc>
              </a:pPr>
              <a:r>
                <a:rPr lang="en-US" sz="1800">
                  <a:solidFill>
                    <a:srgbClr val="E05B4B"/>
                  </a:solidFill>
                  <a:latin typeface="Calibri (MS)"/>
                  <a:ea typeface="Calibri (MS)"/>
                  <a:cs typeface="Calibri (MS)"/>
                  <a:sym typeface="Calibri (MS)"/>
                </a:rPr>
                <a:t>Single hidden vector</a:t>
              </a:r>
            </a:p>
          </p:txBody>
        </p:sp>
      </p:grpSp>
      <p:grpSp>
        <p:nvGrpSpPr>
          <p:cNvPr name="Group 67" id="67"/>
          <p:cNvGrpSpPr/>
          <p:nvPr/>
        </p:nvGrpSpPr>
        <p:grpSpPr>
          <a:xfrm rot="0">
            <a:off x="7223760" y="5123812"/>
            <a:ext cx="3566160" cy="621792"/>
            <a:chOff x="0" y="0"/>
            <a:chExt cx="4754880" cy="829056"/>
          </a:xfrm>
        </p:grpSpPr>
        <p:sp>
          <p:nvSpPr>
            <p:cNvPr name="Freeform 68" id="68"/>
            <p:cNvSpPr/>
            <p:nvPr/>
          </p:nvSpPr>
          <p:spPr>
            <a:xfrm flipH="false" flipV="false" rot="0">
              <a:off x="0" y="0"/>
              <a:ext cx="4754880" cy="829056"/>
            </a:xfrm>
            <a:custGeom>
              <a:avLst/>
              <a:gdLst/>
              <a:ahLst/>
              <a:cxnLst/>
              <a:rect r="r" b="b" t="t" l="l"/>
              <a:pathLst>
                <a:path h="829056" w="4754880">
                  <a:moveTo>
                    <a:pt x="0" y="0"/>
                  </a:moveTo>
                  <a:lnTo>
                    <a:pt x="4754880" y="0"/>
                  </a:lnTo>
                  <a:lnTo>
                    <a:pt x="4754880" y="829056"/>
                  </a:lnTo>
                  <a:lnTo>
                    <a:pt x="0" y="829056"/>
                  </a:lnTo>
                  <a:close/>
                </a:path>
              </a:pathLst>
            </a:custGeom>
            <a:blipFill>
              <a:blip r:embed="rId3">
                <a:alphaModFix amt="0"/>
              </a:blip>
              <a:stretch>
                <a:fillRect l="0" t="-61752" r="0" b="-61752"/>
              </a:stretch>
            </a:blipFill>
          </p:spPr>
        </p:sp>
        <p:sp>
          <p:nvSpPr>
            <p:cNvPr name="TextBox 69" id="69"/>
            <p:cNvSpPr txBox="true"/>
            <p:nvPr/>
          </p:nvSpPr>
          <p:spPr>
            <a:xfrm>
              <a:off x="0" y="-38100"/>
              <a:ext cx="4754880" cy="867156"/>
            </a:xfrm>
            <a:prstGeom prst="rect">
              <a:avLst/>
            </a:prstGeom>
          </p:spPr>
          <p:txBody>
            <a:bodyPr anchor="ctr" rtlCol="false" tIns="0" lIns="0" bIns="0" rIns="0"/>
            <a:lstStyle/>
            <a:p>
              <a:pPr algn="l">
                <a:lnSpc>
                  <a:spcPts val="2160"/>
                </a:lnSpc>
              </a:pPr>
              <a:r>
                <a:rPr lang="en-US" sz="1800">
                  <a:solidFill>
                    <a:srgbClr val="0D9488"/>
                  </a:solidFill>
                  <a:latin typeface="Calibri (MS)"/>
                  <a:ea typeface="Calibri (MS)"/>
                  <a:cs typeface="Calibri (MS)"/>
                  <a:sym typeface="Calibri (MS)"/>
                </a:rPr>
                <a:t>Explicit key-value cache of all prior states</a:t>
              </a:r>
            </a:p>
          </p:txBody>
        </p:sp>
      </p:grpSp>
      <p:grpSp>
        <p:nvGrpSpPr>
          <p:cNvPr name="Group 70" id="70"/>
          <p:cNvGrpSpPr/>
          <p:nvPr/>
        </p:nvGrpSpPr>
        <p:grpSpPr>
          <a:xfrm rot="0">
            <a:off x="727710" y="5796658"/>
            <a:ext cx="10706100" cy="684276"/>
            <a:chOff x="0" y="0"/>
            <a:chExt cx="14274800" cy="912368"/>
          </a:xfrm>
        </p:grpSpPr>
        <p:sp>
          <p:nvSpPr>
            <p:cNvPr name="Freeform 71" id="71"/>
            <p:cNvSpPr/>
            <p:nvPr/>
          </p:nvSpPr>
          <p:spPr>
            <a:xfrm flipH="false" flipV="false" rot="0">
              <a:off x="5080" y="5080"/>
              <a:ext cx="14264640" cy="902208"/>
            </a:xfrm>
            <a:custGeom>
              <a:avLst/>
              <a:gdLst/>
              <a:ahLst/>
              <a:cxnLst/>
              <a:rect r="r" b="b" t="t" l="l"/>
              <a:pathLst>
                <a:path h="902208" w="14264640">
                  <a:moveTo>
                    <a:pt x="0" y="0"/>
                  </a:moveTo>
                  <a:lnTo>
                    <a:pt x="14264640" y="0"/>
                  </a:lnTo>
                  <a:lnTo>
                    <a:pt x="14264640" y="902208"/>
                  </a:lnTo>
                  <a:lnTo>
                    <a:pt x="0" y="902208"/>
                  </a:lnTo>
                  <a:close/>
                </a:path>
              </a:pathLst>
            </a:custGeom>
            <a:solidFill>
              <a:srgbClr val="F8FAFC"/>
            </a:solidFill>
          </p:spPr>
        </p:sp>
        <p:sp>
          <p:nvSpPr>
            <p:cNvPr name="Freeform 72" id="72"/>
            <p:cNvSpPr/>
            <p:nvPr/>
          </p:nvSpPr>
          <p:spPr>
            <a:xfrm flipH="false" flipV="false" rot="0">
              <a:off x="0" y="0"/>
              <a:ext cx="14274800" cy="912368"/>
            </a:xfrm>
            <a:custGeom>
              <a:avLst/>
              <a:gdLst/>
              <a:ahLst/>
              <a:cxnLst/>
              <a:rect r="r" b="b" t="t" l="l"/>
              <a:pathLst>
                <a:path h="912368" w="14274800">
                  <a:moveTo>
                    <a:pt x="5080" y="0"/>
                  </a:moveTo>
                  <a:lnTo>
                    <a:pt x="14269720" y="0"/>
                  </a:lnTo>
                  <a:cubicBezTo>
                    <a:pt x="14272513" y="0"/>
                    <a:pt x="14274800" y="2286"/>
                    <a:pt x="14274800" y="5080"/>
                  </a:cubicBezTo>
                  <a:lnTo>
                    <a:pt x="14274800" y="907288"/>
                  </a:lnTo>
                  <a:cubicBezTo>
                    <a:pt x="14274800" y="910082"/>
                    <a:pt x="14272513" y="912368"/>
                    <a:pt x="14269720" y="912368"/>
                  </a:cubicBezTo>
                  <a:lnTo>
                    <a:pt x="5080" y="912368"/>
                  </a:lnTo>
                  <a:cubicBezTo>
                    <a:pt x="2286" y="912368"/>
                    <a:pt x="0" y="910082"/>
                    <a:pt x="0" y="907288"/>
                  </a:cubicBezTo>
                  <a:lnTo>
                    <a:pt x="0" y="5080"/>
                  </a:lnTo>
                  <a:cubicBezTo>
                    <a:pt x="0" y="2286"/>
                    <a:pt x="2286" y="0"/>
                    <a:pt x="5080" y="0"/>
                  </a:cubicBezTo>
                  <a:moveTo>
                    <a:pt x="5080" y="10160"/>
                  </a:moveTo>
                  <a:lnTo>
                    <a:pt x="5080" y="5080"/>
                  </a:lnTo>
                  <a:lnTo>
                    <a:pt x="10160" y="5080"/>
                  </a:lnTo>
                  <a:lnTo>
                    <a:pt x="10160" y="907288"/>
                  </a:lnTo>
                  <a:lnTo>
                    <a:pt x="5080" y="907288"/>
                  </a:lnTo>
                  <a:lnTo>
                    <a:pt x="5080" y="902208"/>
                  </a:lnTo>
                  <a:lnTo>
                    <a:pt x="14269720" y="902208"/>
                  </a:lnTo>
                  <a:lnTo>
                    <a:pt x="14269720" y="907288"/>
                  </a:lnTo>
                  <a:lnTo>
                    <a:pt x="14264639" y="907288"/>
                  </a:lnTo>
                  <a:lnTo>
                    <a:pt x="14264639" y="5080"/>
                  </a:lnTo>
                  <a:lnTo>
                    <a:pt x="14269720" y="5080"/>
                  </a:lnTo>
                  <a:lnTo>
                    <a:pt x="14269720" y="10160"/>
                  </a:lnTo>
                  <a:lnTo>
                    <a:pt x="5080" y="10160"/>
                  </a:lnTo>
                  <a:close/>
                </a:path>
              </a:pathLst>
            </a:custGeom>
            <a:solidFill>
              <a:srgbClr val="E2E8F0"/>
            </a:solidFill>
          </p:spPr>
        </p:sp>
      </p:grpSp>
      <p:grpSp>
        <p:nvGrpSpPr>
          <p:cNvPr name="Group 73" id="73"/>
          <p:cNvGrpSpPr/>
          <p:nvPr/>
        </p:nvGrpSpPr>
        <p:grpSpPr>
          <a:xfrm rot="0">
            <a:off x="1005840" y="5818756"/>
            <a:ext cx="2926080" cy="621792"/>
            <a:chOff x="0" y="0"/>
            <a:chExt cx="3901440" cy="829056"/>
          </a:xfrm>
        </p:grpSpPr>
        <p:sp>
          <p:nvSpPr>
            <p:cNvPr name="Freeform 74" id="74"/>
            <p:cNvSpPr/>
            <p:nvPr/>
          </p:nvSpPr>
          <p:spPr>
            <a:xfrm flipH="false" flipV="false" rot="0">
              <a:off x="0" y="0"/>
              <a:ext cx="3901440" cy="829056"/>
            </a:xfrm>
            <a:custGeom>
              <a:avLst/>
              <a:gdLst/>
              <a:ahLst/>
              <a:cxnLst/>
              <a:rect r="r" b="b" t="t" l="l"/>
              <a:pathLst>
                <a:path h="829056" w="3901440">
                  <a:moveTo>
                    <a:pt x="0" y="0"/>
                  </a:moveTo>
                  <a:lnTo>
                    <a:pt x="3901440" y="0"/>
                  </a:lnTo>
                  <a:lnTo>
                    <a:pt x="3901440" y="829056"/>
                  </a:lnTo>
                  <a:lnTo>
                    <a:pt x="0" y="829056"/>
                  </a:lnTo>
                  <a:close/>
                </a:path>
              </a:pathLst>
            </a:custGeom>
            <a:blipFill>
              <a:blip r:embed="rId3">
                <a:alphaModFix amt="0"/>
              </a:blip>
              <a:stretch>
                <a:fillRect l="0" t="-41694" r="0" b="-41694"/>
              </a:stretch>
            </a:blipFill>
          </p:spPr>
        </p:sp>
        <p:sp>
          <p:nvSpPr>
            <p:cNvPr name="TextBox 75" id="75"/>
            <p:cNvSpPr txBox="true"/>
            <p:nvPr/>
          </p:nvSpPr>
          <p:spPr>
            <a:xfrm>
              <a:off x="0" y="-38100"/>
              <a:ext cx="3901440" cy="867156"/>
            </a:xfrm>
            <a:prstGeom prst="rect">
              <a:avLst/>
            </a:prstGeom>
          </p:spPr>
          <p:txBody>
            <a:bodyPr anchor="ctr" rtlCol="false" tIns="0" lIns="0" bIns="0" rIns="0"/>
            <a:lstStyle/>
            <a:p>
              <a:pPr algn="l">
                <a:lnSpc>
                  <a:spcPts val="2160"/>
                </a:lnSpc>
              </a:pPr>
              <a:r>
                <a:rPr lang="en-US" sz="1800">
                  <a:solidFill>
                    <a:srgbClr val="1E293B"/>
                  </a:solidFill>
                  <a:latin typeface="Calibri (MS)"/>
                  <a:ea typeface="Calibri (MS)"/>
                  <a:cs typeface="Calibri (MS)"/>
                  <a:sym typeface="Calibri (MS)"/>
                </a:rPr>
                <a:t>Visual grounding</a:t>
              </a:r>
            </a:p>
          </p:txBody>
        </p:sp>
      </p:grpSp>
      <p:grpSp>
        <p:nvGrpSpPr>
          <p:cNvPr name="Group 76" id="76"/>
          <p:cNvGrpSpPr/>
          <p:nvPr/>
        </p:nvGrpSpPr>
        <p:grpSpPr>
          <a:xfrm rot="0">
            <a:off x="4023360" y="5818756"/>
            <a:ext cx="3108960" cy="621792"/>
            <a:chOff x="0" y="0"/>
            <a:chExt cx="4145280" cy="829056"/>
          </a:xfrm>
        </p:grpSpPr>
        <p:sp>
          <p:nvSpPr>
            <p:cNvPr name="Freeform 77" id="77"/>
            <p:cNvSpPr/>
            <p:nvPr/>
          </p:nvSpPr>
          <p:spPr>
            <a:xfrm flipH="false" flipV="false" rot="0">
              <a:off x="0" y="0"/>
              <a:ext cx="4145280" cy="829056"/>
            </a:xfrm>
            <a:custGeom>
              <a:avLst/>
              <a:gdLst/>
              <a:ahLst/>
              <a:cxnLst/>
              <a:rect r="r" b="b" t="t" l="l"/>
              <a:pathLst>
                <a:path h="829056" w="4145280">
                  <a:moveTo>
                    <a:pt x="0" y="0"/>
                  </a:moveTo>
                  <a:lnTo>
                    <a:pt x="4145280" y="0"/>
                  </a:lnTo>
                  <a:lnTo>
                    <a:pt x="4145280" y="829056"/>
                  </a:lnTo>
                  <a:lnTo>
                    <a:pt x="0" y="829056"/>
                  </a:lnTo>
                  <a:close/>
                </a:path>
              </a:pathLst>
            </a:custGeom>
            <a:blipFill>
              <a:blip r:embed="rId3">
                <a:alphaModFix amt="0"/>
              </a:blip>
              <a:stretch>
                <a:fillRect l="0" t="-47425" r="0" b="-47425"/>
              </a:stretch>
            </a:blipFill>
          </p:spPr>
        </p:sp>
        <p:sp>
          <p:nvSpPr>
            <p:cNvPr name="TextBox 78" id="78"/>
            <p:cNvSpPr txBox="true"/>
            <p:nvPr/>
          </p:nvSpPr>
          <p:spPr>
            <a:xfrm>
              <a:off x="0" y="-38100"/>
              <a:ext cx="4145280" cy="867156"/>
            </a:xfrm>
            <a:prstGeom prst="rect">
              <a:avLst/>
            </a:prstGeom>
          </p:spPr>
          <p:txBody>
            <a:bodyPr anchor="ctr" rtlCol="false" tIns="0" lIns="0" bIns="0" rIns="0"/>
            <a:lstStyle/>
            <a:p>
              <a:pPr algn="l">
                <a:lnSpc>
                  <a:spcPts val="2160"/>
                </a:lnSpc>
              </a:pPr>
              <a:r>
                <a:rPr lang="en-US" sz="1800">
                  <a:solidFill>
                    <a:srgbClr val="E05B4B"/>
                  </a:solidFill>
                  <a:latin typeface="Calibri (MS)"/>
                  <a:ea typeface="Calibri (MS)"/>
                  <a:cs typeface="Calibri (MS)"/>
                  <a:sym typeface="Calibri (MS)"/>
                </a:rPr>
                <a:t>One attention per step</a:t>
              </a:r>
            </a:p>
          </p:txBody>
        </p:sp>
      </p:grpSp>
      <p:grpSp>
        <p:nvGrpSpPr>
          <p:cNvPr name="Group 79" id="79"/>
          <p:cNvGrpSpPr/>
          <p:nvPr/>
        </p:nvGrpSpPr>
        <p:grpSpPr>
          <a:xfrm rot="0">
            <a:off x="7223760" y="5818756"/>
            <a:ext cx="3566160" cy="621792"/>
            <a:chOff x="0" y="0"/>
            <a:chExt cx="4754880" cy="829056"/>
          </a:xfrm>
        </p:grpSpPr>
        <p:sp>
          <p:nvSpPr>
            <p:cNvPr name="Freeform 80" id="80"/>
            <p:cNvSpPr/>
            <p:nvPr/>
          </p:nvSpPr>
          <p:spPr>
            <a:xfrm flipH="false" flipV="false" rot="0">
              <a:off x="0" y="0"/>
              <a:ext cx="4754880" cy="829056"/>
            </a:xfrm>
            <a:custGeom>
              <a:avLst/>
              <a:gdLst/>
              <a:ahLst/>
              <a:cxnLst/>
              <a:rect r="r" b="b" t="t" l="l"/>
              <a:pathLst>
                <a:path h="829056" w="4754880">
                  <a:moveTo>
                    <a:pt x="0" y="0"/>
                  </a:moveTo>
                  <a:lnTo>
                    <a:pt x="4754880" y="0"/>
                  </a:lnTo>
                  <a:lnTo>
                    <a:pt x="4754880" y="829056"/>
                  </a:lnTo>
                  <a:lnTo>
                    <a:pt x="0" y="829056"/>
                  </a:lnTo>
                  <a:close/>
                </a:path>
              </a:pathLst>
            </a:custGeom>
            <a:blipFill>
              <a:blip r:embed="rId3">
                <a:alphaModFix amt="0"/>
              </a:blip>
              <a:stretch>
                <a:fillRect l="0" t="-61752" r="0" b="-61752"/>
              </a:stretch>
            </a:blipFill>
          </p:spPr>
        </p:sp>
        <p:sp>
          <p:nvSpPr>
            <p:cNvPr name="TextBox 81" id="81"/>
            <p:cNvSpPr txBox="true"/>
            <p:nvPr/>
          </p:nvSpPr>
          <p:spPr>
            <a:xfrm>
              <a:off x="0" y="-38100"/>
              <a:ext cx="4754880" cy="867156"/>
            </a:xfrm>
            <a:prstGeom prst="rect">
              <a:avLst/>
            </a:prstGeom>
          </p:spPr>
          <p:txBody>
            <a:bodyPr anchor="ctr" rtlCol="false" tIns="0" lIns="0" bIns="0" rIns="0"/>
            <a:lstStyle/>
            <a:p>
              <a:pPr algn="l">
                <a:lnSpc>
                  <a:spcPts val="2160"/>
                </a:lnSpc>
              </a:pPr>
              <a:r>
                <a:rPr lang="en-US" sz="1800">
                  <a:solidFill>
                    <a:srgbClr val="0D9488"/>
                  </a:solidFill>
                  <a:latin typeface="Calibri (MS)"/>
                  <a:ea typeface="Calibri (MS)"/>
                  <a:cs typeface="Calibri (MS)"/>
                  <a:sym typeface="Calibri (MS)"/>
                </a:rPr>
                <a:t>Multi-head cross-attention over V'_local</a:t>
              </a:r>
            </a:p>
          </p:txBody>
        </p:sp>
      </p:grpSp>
      <p:grpSp>
        <p:nvGrpSpPr>
          <p:cNvPr name="Group 82" id="82"/>
          <p:cNvGrpSpPr/>
          <p:nvPr/>
        </p:nvGrpSpPr>
        <p:grpSpPr>
          <a:xfrm rot="0">
            <a:off x="725167" y="6838045"/>
            <a:ext cx="10711177" cy="2115817"/>
            <a:chOff x="0" y="0"/>
            <a:chExt cx="14281569" cy="2821089"/>
          </a:xfrm>
        </p:grpSpPr>
        <p:sp>
          <p:nvSpPr>
            <p:cNvPr name="Freeform 83" id="83"/>
            <p:cNvSpPr/>
            <p:nvPr/>
          </p:nvSpPr>
          <p:spPr>
            <a:xfrm flipH="false" flipV="false" rot="0">
              <a:off x="8509" y="8509"/>
              <a:ext cx="14264640" cy="2804160"/>
            </a:xfrm>
            <a:custGeom>
              <a:avLst/>
              <a:gdLst/>
              <a:ahLst/>
              <a:cxnLst/>
              <a:rect r="r" b="b" t="t" l="l"/>
              <a:pathLst>
                <a:path h="2804160" w="14264640">
                  <a:moveTo>
                    <a:pt x="0" y="0"/>
                  </a:moveTo>
                  <a:lnTo>
                    <a:pt x="14264640" y="0"/>
                  </a:lnTo>
                  <a:lnTo>
                    <a:pt x="14264640" y="2804160"/>
                  </a:lnTo>
                  <a:lnTo>
                    <a:pt x="0" y="2804160"/>
                  </a:lnTo>
                  <a:close/>
                </a:path>
              </a:pathLst>
            </a:custGeom>
            <a:solidFill>
              <a:srgbClr val="FFFFFF"/>
            </a:solidFill>
          </p:spPr>
        </p:sp>
        <p:sp>
          <p:nvSpPr>
            <p:cNvPr name="Freeform 84" id="84"/>
            <p:cNvSpPr/>
            <p:nvPr/>
          </p:nvSpPr>
          <p:spPr>
            <a:xfrm flipH="false" flipV="false" rot="0">
              <a:off x="0" y="0"/>
              <a:ext cx="14281657" cy="2821178"/>
            </a:xfrm>
            <a:custGeom>
              <a:avLst/>
              <a:gdLst/>
              <a:ahLst/>
              <a:cxnLst/>
              <a:rect r="r" b="b" t="t" l="l"/>
              <a:pathLst>
                <a:path h="2821178" w="14281657">
                  <a:moveTo>
                    <a:pt x="8509" y="0"/>
                  </a:moveTo>
                  <a:lnTo>
                    <a:pt x="14273149" y="0"/>
                  </a:lnTo>
                  <a:cubicBezTo>
                    <a:pt x="14277848" y="0"/>
                    <a:pt x="14281657" y="3810"/>
                    <a:pt x="14281657" y="8509"/>
                  </a:cubicBezTo>
                  <a:lnTo>
                    <a:pt x="14281657" y="2812669"/>
                  </a:lnTo>
                  <a:cubicBezTo>
                    <a:pt x="14281657" y="2817368"/>
                    <a:pt x="14277848" y="2821178"/>
                    <a:pt x="14273149" y="2821178"/>
                  </a:cubicBezTo>
                  <a:lnTo>
                    <a:pt x="8509" y="2821178"/>
                  </a:lnTo>
                  <a:cubicBezTo>
                    <a:pt x="3810" y="2821178"/>
                    <a:pt x="0" y="2817368"/>
                    <a:pt x="0" y="2812669"/>
                  </a:cubicBezTo>
                  <a:lnTo>
                    <a:pt x="0" y="8509"/>
                  </a:lnTo>
                  <a:cubicBezTo>
                    <a:pt x="0" y="3810"/>
                    <a:pt x="3810" y="0"/>
                    <a:pt x="8509" y="0"/>
                  </a:cubicBezTo>
                  <a:moveTo>
                    <a:pt x="8509" y="16891"/>
                  </a:moveTo>
                  <a:lnTo>
                    <a:pt x="8509" y="8509"/>
                  </a:lnTo>
                  <a:lnTo>
                    <a:pt x="17018" y="8509"/>
                  </a:lnTo>
                  <a:lnTo>
                    <a:pt x="17018" y="2812669"/>
                  </a:lnTo>
                  <a:lnTo>
                    <a:pt x="8509" y="2812669"/>
                  </a:lnTo>
                  <a:lnTo>
                    <a:pt x="8509" y="2804160"/>
                  </a:lnTo>
                  <a:lnTo>
                    <a:pt x="14273149" y="2804160"/>
                  </a:lnTo>
                  <a:lnTo>
                    <a:pt x="14273149" y="2812669"/>
                  </a:lnTo>
                  <a:lnTo>
                    <a:pt x="14264639" y="2812669"/>
                  </a:lnTo>
                  <a:lnTo>
                    <a:pt x="14264639" y="8509"/>
                  </a:lnTo>
                  <a:lnTo>
                    <a:pt x="14273149" y="8509"/>
                  </a:lnTo>
                  <a:lnTo>
                    <a:pt x="14273149" y="17018"/>
                  </a:lnTo>
                  <a:lnTo>
                    <a:pt x="8509" y="17018"/>
                  </a:lnTo>
                  <a:close/>
                </a:path>
              </a:pathLst>
            </a:custGeom>
            <a:solidFill>
              <a:srgbClr val="E2E8F0"/>
            </a:solidFill>
          </p:spPr>
        </p:sp>
      </p:grpSp>
      <p:grpSp>
        <p:nvGrpSpPr>
          <p:cNvPr name="Group 85" id="85"/>
          <p:cNvGrpSpPr/>
          <p:nvPr/>
        </p:nvGrpSpPr>
        <p:grpSpPr>
          <a:xfrm rot="0">
            <a:off x="718823" y="6831701"/>
            <a:ext cx="135131" cy="2128523"/>
            <a:chOff x="0" y="0"/>
            <a:chExt cx="180175" cy="2838031"/>
          </a:xfrm>
        </p:grpSpPr>
        <p:sp>
          <p:nvSpPr>
            <p:cNvPr name="Freeform 86" id="86"/>
            <p:cNvSpPr/>
            <p:nvPr/>
          </p:nvSpPr>
          <p:spPr>
            <a:xfrm flipH="false" flipV="false" rot="0">
              <a:off x="16891" y="16891"/>
              <a:ext cx="146304" cy="2804160"/>
            </a:xfrm>
            <a:custGeom>
              <a:avLst/>
              <a:gdLst/>
              <a:ahLst/>
              <a:cxnLst/>
              <a:rect r="r" b="b" t="t" l="l"/>
              <a:pathLst>
                <a:path h="2804160" w="146304">
                  <a:moveTo>
                    <a:pt x="0" y="0"/>
                  </a:moveTo>
                  <a:lnTo>
                    <a:pt x="146304" y="0"/>
                  </a:lnTo>
                  <a:lnTo>
                    <a:pt x="146304" y="2804160"/>
                  </a:lnTo>
                  <a:lnTo>
                    <a:pt x="0" y="2804160"/>
                  </a:lnTo>
                  <a:close/>
                </a:path>
              </a:pathLst>
            </a:custGeom>
            <a:solidFill>
              <a:srgbClr val="D97706"/>
            </a:solidFill>
          </p:spPr>
        </p:sp>
        <p:sp>
          <p:nvSpPr>
            <p:cNvPr name="Freeform 87" id="87"/>
            <p:cNvSpPr/>
            <p:nvPr/>
          </p:nvSpPr>
          <p:spPr>
            <a:xfrm flipH="false" flipV="false" rot="0">
              <a:off x="0" y="0"/>
              <a:ext cx="180086" cy="2837942"/>
            </a:xfrm>
            <a:custGeom>
              <a:avLst/>
              <a:gdLst/>
              <a:ahLst/>
              <a:cxnLst/>
              <a:rect r="r" b="b" t="t" l="l"/>
              <a:pathLst>
                <a:path h="2837942" w="180086">
                  <a:moveTo>
                    <a:pt x="16891" y="0"/>
                  </a:moveTo>
                  <a:lnTo>
                    <a:pt x="163195" y="0"/>
                  </a:lnTo>
                  <a:cubicBezTo>
                    <a:pt x="172593" y="0"/>
                    <a:pt x="180086" y="7620"/>
                    <a:pt x="180086" y="16891"/>
                  </a:cubicBezTo>
                  <a:lnTo>
                    <a:pt x="180086" y="2821051"/>
                  </a:lnTo>
                  <a:cubicBezTo>
                    <a:pt x="180086" y="2830449"/>
                    <a:pt x="172466" y="2837942"/>
                    <a:pt x="163195" y="2837942"/>
                  </a:cubicBezTo>
                  <a:lnTo>
                    <a:pt x="16891" y="2837942"/>
                  </a:lnTo>
                  <a:cubicBezTo>
                    <a:pt x="7493" y="2837942"/>
                    <a:pt x="0" y="2830322"/>
                    <a:pt x="0" y="2821051"/>
                  </a:cubicBezTo>
                  <a:lnTo>
                    <a:pt x="0" y="16891"/>
                  </a:lnTo>
                  <a:cubicBezTo>
                    <a:pt x="0" y="7620"/>
                    <a:pt x="7620" y="0"/>
                    <a:pt x="16891" y="0"/>
                  </a:cubicBezTo>
                  <a:moveTo>
                    <a:pt x="16891" y="33909"/>
                  </a:moveTo>
                  <a:lnTo>
                    <a:pt x="16891" y="16891"/>
                  </a:lnTo>
                  <a:lnTo>
                    <a:pt x="33909" y="16891"/>
                  </a:lnTo>
                  <a:lnTo>
                    <a:pt x="33909" y="2821051"/>
                  </a:lnTo>
                  <a:lnTo>
                    <a:pt x="16891" y="2821051"/>
                  </a:lnTo>
                  <a:lnTo>
                    <a:pt x="16891" y="2804160"/>
                  </a:lnTo>
                  <a:lnTo>
                    <a:pt x="163195" y="2804160"/>
                  </a:lnTo>
                  <a:lnTo>
                    <a:pt x="163195" y="2821051"/>
                  </a:lnTo>
                  <a:lnTo>
                    <a:pt x="146304" y="2821051"/>
                  </a:lnTo>
                  <a:lnTo>
                    <a:pt x="146304" y="16891"/>
                  </a:lnTo>
                  <a:lnTo>
                    <a:pt x="163195" y="16891"/>
                  </a:lnTo>
                  <a:lnTo>
                    <a:pt x="163195" y="33909"/>
                  </a:lnTo>
                  <a:lnTo>
                    <a:pt x="16891" y="33909"/>
                  </a:lnTo>
                  <a:close/>
                </a:path>
              </a:pathLst>
            </a:custGeom>
            <a:solidFill>
              <a:srgbClr val="D97706"/>
            </a:solidFill>
          </p:spPr>
        </p:sp>
      </p:grpSp>
      <p:grpSp>
        <p:nvGrpSpPr>
          <p:cNvPr name="Group 88" id="88"/>
          <p:cNvGrpSpPr/>
          <p:nvPr/>
        </p:nvGrpSpPr>
        <p:grpSpPr>
          <a:xfrm rot="0">
            <a:off x="1060704" y="6935838"/>
            <a:ext cx="10058400" cy="512064"/>
            <a:chOff x="0" y="0"/>
            <a:chExt cx="13411200" cy="682752"/>
          </a:xfrm>
        </p:grpSpPr>
        <p:sp>
          <p:nvSpPr>
            <p:cNvPr name="Freeform 89" id="89"/>
            <p:cNvSpPr/>
            <p:nvPr/>
          </p:nvSpPr>
          <p:spPr>
            <a:xfrm flipH="false" flipV="false" rot="0">
              <a:off x="0" y="0"/>
              <a:ext cx="13411200" cy="682752"/>
            </a:xfrm>
            <a:custGeom>
              <a:avLst/>
              <a:gdLst/>
              <a:ahLst/>
              <a:cxnLst/>
              <a:rect r="r" b="b" t="t" l="l"/>
              <a:pathLst>
                <a:path h="682752" w="13411200">
                  <a:moveTo>
                    <a:pt x="0" y="0"/>
                  </a:moveTo>
                  <a:lnTo>
                    <a:pt x="13411200" y="0"/>
                  </a:lnTo>
                  <a:lnTo>
                    <a:pt x="13411200" y="682752"/>
                  </a:lnTo>
                  <a:lnTo>
                    <a:pt x="0" y="682752"/>
                  </a:lnTo>
                  <a:close/>
                </a:path>
              </a:pathLst>
            </a:custGeom>
            <a:blipFill>
              <a:blip r:embed="rId3">
                <a:alphaModFix amt="0"/>
              </a:blip>
              <a:stretch>
                <a:fillRect l="0" t="-332741" r="0" b="-332741"/>
              </a:stretch>
            </a:blipFill>
          </p:spPr>
        </p:sp>
        <p:sp>
          <p:nvSpPr>
            <p:cNvPr name="TextBox 90" id="90"/>
            <p:cNvSpPr txBox="true"/>
            <p:nvPr/>
          </p:nvSpPr>
          <p:spPr>
            <a:xfrm>
              <a:off x="0" y="-47625"/>
              <a:ext cx="13411200" cy="730377"/>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Copy Mechanism (Pointer Network)</a:t>
              </a:r>
            </a:p>
          </p:txBody>
        </p:sp>
      </p:grpSp>
      <p:grpSp>
        <p:nvGrpSpPr>
          <p:cNvPr name="Group 91" id="91"/>
          <p:cNvGrpSpPr/>
          <p:nvPr/>
        </p:nvGrpSpPr>
        <p:grpSpPr>
          <a:xfrm rot="0">
            <a:off x="1060704" y="7502766"/>
            <a:ext cx="10241280" cy="1316736"/>
            <a:chOff x="0" y="0"/>
            <a:chExt cx="13655040" cy="1755648"/>
          </a:xfrm>
        </p:grpSpPr>
        <p:sp>
          <p:nvSpPr>
            <p:cNvPr name="Freeform 92" id="92"/>
            <p:cNvSpPr/>
            <p:nvPr/>
          </p:nvSpPr>
          <p:spPr>
            <a:xfrm flipH="false" flipV="false" rot="0">
              <a:off x="0" y="0"/>
              <a:ext cx="13655039" cy="1755648"/>
            </a:xfrm>
            <a:custGeom>
              <a:avLst/>
              <a:gdLst/>
              <a:ahLst/>
              <a:cxnLst/>
              <a:rect r="r" b="b" t="t" l="l"/>
              <a:pathLst>
                <a:path h="1755648" w="13655039">
                  <a:moveTo>
                    <a:pt x="0" y="0"/>
                  </a:moveTo>
                  <a:lnTo>
                    <a:pt x="13655039" y="0"/>
                  </a:lnTo>
                  <a:lnTo>
                    <a:pt x="13655039" y="1755648"/>
                  </a:lnTo>
                  <a:lnTo>
                    <a:pt x="0" y="1755648"/>
                  </a:lnTo>
                  <a:close/>
                </a:path>
              </a:pathLst>
            </a:custGeom>
            <a:blipFill>
              <a:blip r:embed="rId3">
                <a:alphaModFix amt="0"/>
              </a:blip>
              <a:stretch>
                <a:fillRect l="0" t="-101550" r="0" b="-101550"/>
              </a:stretch>
            </a:blipFill>
          </p:spPr>
        </p:sp>
        <p:sp>
          <p:nvSpPr>
            <p:cNvPr name="TextBox 93" id="93"/>
            <p:cNvSpPr txBox="true"/>
            <p:nvPr/>
          </p:nvSpPr>
          <p:spPr>
            <a:xfrm>
              <a:off x="0" y="-38100"/>
              <a:ext cx="13655040" cy="1793748"/>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RS captions repeat precise spatial descriptors ('two sides', 'surrounded by', exact object counts). A pointer network adds a soft switch: at each step, copy a detected object word directly from a scene label list vs generate from the vocabulary distribution. Improves count accuracy and positional language precision without increasing vocabulary size.</a:t>
              </a:r>
            </a:p>
          </p:txBody>
        </p:sp>
      </p:grpSp>
      <p:grpSp>
        <p:nvGrpSpPr>
          <p:cNvPr name="Group 94" id="94"/>
          <p:cNvGrpSpPr/>
          <p:nvPr/>
        </p:nvGrpSpPr>
        <p:grpSpPr>
          <a:xfrm rot="0">
            <a:off x="725167" y="8943327"/>
            <a:ext cx="10711177" cy="1254119"/>
            <a:chOff x="0" y="0"/>
            <a:chExt cx="14281569" cy="1672158"/>
          </a:xfrm>
        </p:grpSpPr>
        <p:sp>
          <p:nvSpPr>
            <p:cNvPr name="Freeform 95" id="95"/>
            <p:cNvSpPr/>
            <p:nvPr/>
          </p:nvSpPr>
          <p:spPr>
            <a:xfrm flipH="false" flipV="false" rot="0">
              <a:off x="8509" y="9942"/>
              <a:ext cx="14264640" cy="1652379"/>
            </a:xfrm>
            <a:custGeom>
              <a:avLst/>
              <a:gdLst/>
              <a:ahLst/>
              <a:cxnLst/>
              <a:rect r="r" b="b" t="t" l="l"/>
              <a:pathLst>
                <a:path h="1652379" w="14264640">
                  <a:moveTo>
                    <a:pt x="0" y="0"/>
                  </a:moveTo>
                  <a:lnTo>
                    <a:pt x="14264640" y="0"/>
                  </a:lnTo>
                  <a:lnTo>
                    <a:pt x="14264640" y="1652378"/>
                  </a:lnTo>
                  <a:lnTo>
                    <a:pt x="0" y="1652378"/>
                  </a:lnTo>
                  <a:close/>
                </a:path>
              </a:pathLst>
            </a:custGeom>
            <a:solidFill>
              <a:srgbClr val="FFFFFF"/>
            </a:solidFill>
          </p:spPr>
        </p:sp>
        <p:sp>
          <p:nvSpPr>
            <p:cNvPr name="Freeform 96" id="96"/>
            <p:cNvSpPr/>
            <p:nvPr/>
          </p:nvSpPr>
          <p:spPr>
            <a:xfrm flipH="false" flipV="false" rot="0">
              <a:off x="0" y="0"/>
              <a:ext cx="14281657" cy="1672247"/>
            </a:xfrm>
            <a:custGeom>
              <a:avLst/>
              <a:gdLst/>
              <a:ahLst/>
              <a:cxnLst/>
              <a:rect r="r" b="b" t="t" l="l"/>
              <a:pathLst>
                <a:path h="1672247" w="14281657">
                  <a:moveTo>
                    <a:pt x="8509" y="0"/>
                  </a:moveTo>
                  <a:lnTo>
                    <a:pt x="14273149" y="0"/>
                  </a:lnTo>
                  <a:cubicBezTo>
                    <a:pt x="14277848" y="0"/>
                    <a:pt x="14281657" y="4451"/>
                    <a:pt x="14281657" y="9942"/>
                  </a:cubicBezTo>
                  <a:lnTo>
                    <a:pt x="14281657" y="1662320"/>
                  </a:lnTo>
                  <a:cubicBezTo>
                    <a:pt x="14281657" y="1667811"/>
                    <a:pt x="14277848" y="1672247"/>
                    <a:pt x="14273149" y="1672247"/>
                  </a:cubicBezTo>
                  <a:lnTo>
                    <a:pt x="8509" y="1672247"/>
                  </a:lnTo>
                  <a:cubicBezTo>
                    <a:pt x="3810" y="1672247"/>
                    <a:pt x="0" y="1667811"/>
                    <a:pt x="0" y="1662320"/>
                  </a:cubicBezTo>
                  <a:lnTo>
                    <a:pt x="0" y="9942"/>
                  </a:lnTo>
                  <a:cubicBezTo>
                    <a:pt x="0" y="4451"/>
                    <a:pt x="3810" y="0"/>
                    <a:pt x="8509" y="0"/>
                  </a:cubicBezTo>
                  <a:moveTo>
                    <a:pt x="8509" y="19735"/>
                  </a:moveTo>
                  <a:lnTo>
                    <a:pt x="8509" y="9942"/>
                  </a:lnTo>
                  <a:lnTo>
                    <a:pt x="17018" y="9942"/>
                  </a:lnTo>
                  <a:lnTo>
                    <a:pt x="17018" y="1662320"/>
                  </a:lnTo>
                  <a:lnTo>
                    <a:pt x="8509" y="1662320"/>
                  </a:lnTo>
                  <a:lnTo>
                    <a:pt x="8509" y="1652379"/>
                  </a:lnTo>
                  <a:lnTo>
                    <a:pt x="14273149" y="1652379"/>
                  </a:lnTo>
                  <a:lnTo>
                    <a:pt x="14273149" y="1662320"/>
                  </a:lnTo>
                  <a:lnTo>
                    <a:pt x="14264639" y="1662320"/>
                  </a:lnTo>
                  <a:lnTo>
                    <a:pt x="14264639" y="9942"/>
                  </a:lnTo>
                  <a:lnTo>
                    <a:pt x="14273149" y="9942"/>
                  </a:lnTo>
                  <a:lnTo>
                    <a:pt x="14273149" y="19883"/>
                  </a:lnTo>
                  <a:lnTo>
                    <a:pt x="8509" y="19883"/>
                  </a:lnTo>
                  <a:close/>
                </a:path>
              </a:pathLst>
            </a:custGeom>
            <a:solidFill>
              <a:srgbClr val="E2E8F0"/>
            </a:solidFill>
          </p:spPr>
        </p:sp>
      </p:grpSp>
      <p:grpSp>
        <p:nvGrpSpPr>
          <p:cNvPr name="Group 97" id="97"/>
          <p:cNvGrpSpPr/>
          <p:nvPr/>
        </p:nvGrpSpPr>
        <p:grpSpPr>
          <a:xfrm rot="0">
            <a:off x="718823" y="9117701"/>
            <a:ext cx="135131" cy="1086107"/>
            <a:chOff x="0" y="0"/>
            <a:chExt cx="180175" cy="1448143"/>
          </a:xfrm>
        </p:grpSpPr>
        <p:sp>
          <p:nvSpPr>
            <p:cNvPr name="Freeform 98" id="98"/>
            <p:cNvSpPr/>
            <p:nvPr/>
          </p:nvSpPr>
          <p:spPr>
            <a:xfrm flipH="false" flipV="false" rot="0">
              <a:off x="16891" y="16891"/>
              <a:ext cx="146304" cy="1414272"/>
            </a:xfrm>
            <a:custGeom>
              <a:avLst/>
              <a:gdLst/>
              <a:ahLst/>
              <a:cxnLst/>
              <a:rect r="r" b="b" t="t" l="l"/>
              <a:pathLst>
                <a:path h="1414272" w="146304">
                  <a:moveTo>
                    <a:pt x="0" y="0"/>
                  </a:moveTo>
                  <a:lnTo>
                    <a:pt x="146304" y="0"/>
                  </a:lnTo>
                  <a:lnTo>
                    <a:pt x="146304" y="1414272"/>
                  </a:lnTo>
                  <a:lnTo>
                    <a:pt x="0" y="1414272"/>
                  </a:lnTo>
                  <a:close/>
                </a:path>
              </a:pathLst>
            </a:custGeom>
            <a:solidFill>
              <a:srgbClr val="059669"/>
            </a:solidFill>
          </p:spPr>
        </p:sp>
        <p:sp>
          <p:nvSpPr>
            <p:cNvPr name="Freeform 99" id="99"/>
            <p:cNvSpPr/>
            <p:nvPr/>
          </p:nvSpPr>
          <p:spPr>
            <a:xfrm flipH="false" flipV="false" rot="0">
              <a:off x="0" y="0"/>
              <a:ext cx="180086" cy="1448054"/>
            </a:xfrm>
            <a:custGeom>
              <a:avLst/>
              <a:gdLst/>
              <a:ahLst/>
              <a:cxnLst/>
              <a:rect r="r" b="b" t="t" l="l"/>
              <a:pathLst>
                <a:path h="1448054" w="180086">
                  <a:moveTo>
                    <a:pt x="16891" y="0"/>
                  </a:moveTo>
                  <a:lnTo>
                    <a:pt x="163195" y="0"/>
                  </a:lnTo>
                  <a:cubicBezTo>
                    <a:pt x="172593" y="0"/>
                    <a:pt x="180086" y="7620"/>
                    <a:pt x="180086" y="16891"/>
                  </a:cubicBezTo>
                  <a:lnTo>
                    <a:pt x="180086" y="1431163"/>
                  </a:lnTo>
                  <a:cubicBezTo>
                    <a:pt x="180086" y="1440561"/>
                    <a:pt x="172466" y="1448054"/>
                    <a:pt x="163195"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163195" y="1414272"/>
                  </a:lnTo>
                  <a:lnTo>
                    <a:pt x="163195" y="1431163"/>
                  </a:lnTo>
                  <a:lnTo>
                    <a:pt x="146304" y="1431163"/>
                  </a:lnTo>
                  <a:lnTo>
                    <a:pt x="146304" y="16891"/>
                  </a:lnTo>
                  <a:lnTo>
                    <a:pt x="163195" y="16891"/>
                  </a:lnTo>
                  <a:lnTo>
                    <a:pt x="163195" y="33909"/>
                  </a:lnTo>
                  <a:lnTo>
                    <a:pt x="16891" y="33909"/>
                  </a:lnTo>
                  <a:close/>
                </a:path>
              </a:pathLst>
            </a:custGeom>
            <a:solidFill>
              <a:srgbClr val="059669"/>
            </a:solidFill>
          </p:spPr>
        </p:sp>
      </p:grpSp>
      <p:grpSp>
        <p:nvGrpSpPr>
          <p:cNvPr name="Group 100" id="100"/>
          <p:cNvGrpSpPr/>
          <p:nvPr/>
        </p:nvGrpSpPr>
        <p:grpSpPr>
          <a:xfrm rot="0">
            <a:off x="1028700" y="8953862"/>
            <a:ext cx="4572000" cy="457200"/>
            <a:chOff x="0" y="0"/>
            <a:chExt cx="6096000" cy="609600"/>
          </a:xfrm>
        </p:grpSpPr>
        <p:sp>
          <p:nvSpPr>
            <p:cNvPr name="Freeform 101" id="101"/>
            <p:cNvSpPr/>
            <p:nvPr/>
          </p:nvSpPr>
          <p:spPr>
            <a:xfrm flipH="false" flipV="false" rot="0">
              <a:off x="0" y="0"/>
              <a:ext cx="6096000" cy="609600"/>
            </a:xfrm>
            <a:custGeom>
              <a:avLst/>
              <a:gdLst/>
              <a:ahLst/>
              <a:cxnLst/>
              <a:rect r="r" b="b" t="t" l="l"/>
              <a:pathLst>
                <a:path h="609600" w="6096000">
                  <a:moveTo>
                    <a:pt x="0" y="0"/>
                  </a:moveTo>
                  <a:lnTo>
                    <a:pt x="6096000" y="0"/>
                  </a:lnTo>
                  <a:lnTo>
                    <a:pt x="6096000" y="609600"/>
                  </a:lnTo>
                  <a:lnTo>
                    <a:pt x="0" y="609600"/>
                  </a:lnTo>
                  <a:close/>
                </a:path>
              </a:pathLst>
            </a:custGeom>
            <a:blipFill>
              <a:blip r:embed="rId3">
                <a:alphaModFix amt="0"/>
              </a:blip>
              <a:stretch>
                <a:fillRect l="0" t="-144850" r="0" b="-144850"/>
              </a:stretch>
            </a:blipFill>
          </p:spPr>
        </p:sp>
        <p:sp>
          <p:nvSpPr>
            <p:cNvPr name="TextBox 102" id="102"/>
            <p:cNvSpPr txBox="true"/>
            <p:nvPr/>
          </p:nvSpPr>
          <p:spPr>
            <a:xfrm>
              <a:off x="0" y="-47625"/>
              <a:ext cx="6096000" cy="657225"/>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Scene Label Injection</a:t>
              </a:r>
            </a:p>
          </p:txBody>
        </p:sp>
      </p:grpSp>
      <p:grpSp>
        <p:nvGrpSpPr>
          <p:cNvPr name="Group 103" id="103"/>
          <p:cNvGrpSpPr/>
          <p:nvPr/>
        </p:nvGrpSpPr>
        <p:grpSpPr>
          <a:xfrm rot="0">
            <a:off x="1005840" y="9296762"/>
            <a:ext cx="10241280" cy="950919"/>
            <a:chOff x="0" y="0"/>
            <a:chExt cx="13655040" cy="1267892"/>
          </a:xfrm>
        </p:grpSpPr>
        <p:sp>
          <p:nvSpPr>
            <p:cNvPr name="Freeform 104" id="104"/>
            <p:cNvSpPr/>
            <p:nvPr/>
          </p:nvSpPr>
          <p:spPr>
            <a:xfrm flipH="false" flipV="false" rot="0">
              <a:off x="0" y="0"/>
              <a:ext cx="13655039" cy="1267892"/>
            </a:xfrm>
            <a:custGeom>
              <a:avLst/>
              <a:gdLst/>
              <a:ahLst/>
              <a:cxnLst/>
              <a:rect r="r" b="b" t="t" l="l"/>
              <a:pathLst>
                <a:path h="1267892" w="13655039">
                  <a:moveTo>
                    <a:pt x="0" y="0"/>
                  </a:moveTo>
                  <a:lnTo>
                    <a:pt x="13655039" y="0"/>
                  </a:lnTo>
                  <a:lnTo>
                    <a:pt x="13655039" y="1267892"/>
                  </a:lnTo>
                  <a:lnTo>
                    <a:pt x="0" y="1267892"/>
                  </a:lnTo>
                  <a:close/>
                </a:path>
              </a:pathLst>
            </a:custGeom>
            <a:blipFill>
              <a:blip r:embed="rId3">
                <a:alphaModFix amt="0"/>
              </a:blip>
              <a:stretch>
                <a:fillRect l="0" t="-182926" r="0" b="-136776"/>
              </a:stretch>
            </a:blipFill>
          </p:spPr>
        </p:sp>
        <p:sp>
          <p:nvSpPr>
            <p:cNvPr name="TextBox 105" id="105"/>
            <p:cNvSpPr txBox="true"/>
            <p:nvPr/>
          </p:nvSpPr>
          <p:spPr>
            <a:xfrm>
              <a:off x="0" y="-38100"/>
              <a:ext cx="13655040" cy="1305992"/>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Run a lightweight scene classifier on V_global → top-3 categories (airport, river, residential). Embed labels, concatenate to V_global before MLP. Gives decoder explicit semantic anchor → fewer hallucinated scene-inconsistent words.</a:t>
              </a:r>
            </a:p>
          </p:txBody>
        </p:sp>
      </p:grpSp>
      <p:grpSp>
        <p:nvGrpSpPr>
          <p:cNvPr name="Group 106" id="106"/>
          <p:cNvGrpSpPr/>
          <p:nvPr/>
        </p:nvGrpSpPr>
        <p:grpSpPr>
          <a:xfrm rot="0">
            <a:off x="11789407" y="2462527"/>
            <a:ext cx="5773417" cy="8205721"/>
            <a:chOff x="0" y="0"/>
            <a:chExt cx="7697889" cy="10940961"/>
          </a:xfrm>
        </p:grpSpPr>
        <p:sp>
          <p:nvSpPr>
            <p:cNvPr name="Freeform 107" id="107"/>
            <p:cNvSpPr/>
            <p:nvPr/>
          </p:nvSpPr>
          <p:spPr>
            <a:xfrm flipH="false" flipV="false" rot="0">
              <a:off x="8509" y="8509"/>
              <a:ext cx="7680960" cy="10924032"/>
            </a:xfrm>
            <a:custGeom>
              <a:avLst/>
              <a:gdLst/>
              <a:ahLst/>
              <a:cxnLst/>
              <a:rect r="r" b="b" t="t" l="l"/>
              <a:pathLst>
                <a:path h="10924032" w="7680960">
                  <a:moveTo>
                    <a:pt x="0" y="0"/>
                  </a:moveTo>
                  <a:lnTo>
                    <a:pt x="7680960" y="0"/>
                  </a:lnTo>
                  <a:lnTo>
                    <a:pt x="7680960" y="10924032"/>
                  </a:lnTo>
                  <a:lnTo>
                    <a:pt x="0" y="10924032"/>
                  </a:lnTo>
                  <a:close/>
                </a:path>
              </a:pathLst>
            </a:custGeom>
            <a:solidFill>
              <a:srgbClr val="FFFFFF"/>
            </a:solidFill>
          </p:spPr>
        </p:sp>
        <p:sp>
          <p:nvSpPr>
            <p:cNvPr name="Freeform 108" id="108"/>
            <p:cNvSpPr/>
            <p:nvPr/>
          </p:nvSpPr>
          <p:spPr>
            <a:xfrm flipH="false" flipV="false" rot="0">
              <a:off x="0" y="0"/>
              <a:ext cx="7697978" cy="10941050"/>
            </a:xfrm>
            <a:custGeom>
              <a:avLst/>
              <a:gdLst/>
              <a:ahLst/>
              <a:cxnLst/>
              <a:rect r="r" b="b" t="t" l="l"/>
              <a:pathLst>
                <a:path h="10941050" w="7697978">
                  <a:moveTo>
                    <a:pt x="8509" y="0"/>
                  </a:moveTo>
                  <a:lnTo>
                    <a:pt x="7689469" y="0"/>
                  </a:lnTo>
                  <a:cubicBezTo>
                    <a:pt x="7694168" y="0"/>
                    <a:pt x="7697978" y="3810"/>
                    <a:pt x="7697978" y="8509"/>
                  </a:cubicBezTo>
                  <a:lnTo>
                    <a:pt x="7697978" y="10932541"/>
                  </a:lnTo>
                  <a:cubicBezTo>
                    <a:pt x="7697978" y="10937240"/>
                    <a:pt x="7694168" y="10941050"/>
                    <a:pt x="7689469" y="10941050"/>
                  </a:cubicBezTo>
                  <a:lnTo>
                    <a:pt x="8509" y="10941050"/>
                  </a:lnTo>
                  <a:cubicBezTo>
                    <a:pt x="3810" y="10941050"/>
                    <a:pt x="0" y="10937240"/>
                    <a:pt x="0" y="10932541"/>
                  </a:cubicBezTo>
                  <a:lnTo>
                    <a:pt x="0" y="8509"/>
                  </a:lnTo>
                  <a:cubicBezTo>
                    <a:pt x="0" y="3810"/>
                    <a:pt x="3810" y="0"/>
                    <a:pt x="8509" y="0"/>
                  </a:cubicBezTo>
                  <a:moveTo>
                    <a:pt x="8509" y="16891"/>
                  </a:moveTo>
                  <a:lnTo>
                    <a:pt x="8509" y="8509"/>
                  </a:lnTo>
                  <a:lnTo>
                    <a:pt x="17018" y="8509"/>
                  </a:lnTo>
                  <a:lnTo>
                    <a:pt x="17018" y="10932541"/>
                  </a:lnTo>
                  <a:lnTo>
                    <a:pt x="8509" y="10932541"/>
                  </a:lnTo>
                  <a:lnTo>
                    <a:pt x="8509" y="10924032"/>
                  </a:lnTo>
                  <a:lnTo>
                    <a:pt x="7689469" y="10924032"/>
                  </a:lnTo>
                  <a:lnTo>
                    <a:pt x="7689469" y="10932541"/>
                  </a:lnTo>
                  <a:lnTo>
                    <a:pt x="7680960" y="10932541"/>
                  </a:lnTo>
                  <a:lnTo>
                    <a:pt x="7680960" y="8509"/>
                  </a:lnTo>
                  <a:lnTo>
                    <a:pt x="7689469" y="8509"/>
                  </a:lnTo>
                  <a:lnTo>
                    <a:pt x="7689469" y="17018"/>
                  </a:lnTo>
                  <a:lnTo>
                    <a:pt x="8509" y="17018"/>
                  </a:lnTo>
                  <a:close/>
                </a:path>
              </a:pathLst>
            </a:custGeom>
            <a:solidFill>
              <a:srgbClr val="E2E8F0"/>
            </a:solidFill>
          </p:spPr>
        </p:sp>
      </p:grpSp>
      <p:grpSp>
        <p:nvGrpSpPr>
          <p:cNvPr name="Group 109" id="109"/>
          <p:cNvGrpSpPr/>
          <p:nvPr/>
        </p:nvGrpSpPr>
        <p:grpSpPr>
          <a:xfrm rot="0">
            <a:off x="12070080" y="2560320"/>
            <a:ext cx="5303520" cy="512064"/>
            <a:chOff x="0" y="0"/>
            <a:chExt cx="7071360" cy="682752"/>
          </a:xfrm>
        </p:grpSpPr>
        <p:sp>
          <p:nvSpPr>
            <p:cNvPr name="Freeform 110" id="110"/>
            <p:cNvSpPr/>
            <p:nvPr/>
          </p:nvSpPr>
          <p:spPr>
            <a:xfrm flipH="false" flipV="false" rot="0">
              <a:off x="0" y="0"/>
              <a:ext cx="7071360" cy="682752"/>
            </a:xfrm>
            <a:custGeom>
              <a:avLst/>
              <a:gdLst/>
              <a:ahLst/>
              <a:cxnLst/>
              <a:rect r="r" b="b" t="t" l="l"/>
              <a:pathLst>
                <a:path h="682752" w="7071360">
                  <a:moveTo>
                    <a:pt x="0" y="0"/>
                  </a:moveTo>
                  <a:lnTo>
                    <a:pt x="7071360" y="0"/>
                  </a:lnTo>
                  <a:lnTo>
                    <a:pt x="7071360" y="682752"/>
                  </a:lnTo>
                  <a:lnTo>
                    <a:pt x="0" y="682752"/>
                  </a:lnTo>
                  <a:close/>
                </a:path>
              </a:pathLst>
            </a:custGeom>
            <a:blipFill>
              <a:blip r:embed="rId3">
                <a:alphaModFix amt="0"/>
              </a:blip>
              <a:stretch>
                <a:fillRect l="0" t="-151809" r="0" b="-151809"/>
              </a:stretch>
            </a:blipFill>
          </p:spPr>
        </p:sp>
        <p:sp>
          <p:nvSpPr>
            <p:cNvPr name="TextBox 111" id="111"/>
            <p:cNvSpPr txBox="true"/>
            <p:nvPr/>
          </p:nvSpPr>
          <p:spPr>
            <a:xfrm>
              <a:off x="0" y="-38100"/>
              <a:ext cx="7071360" cy="720852"/>
            </a:xfrm>
            <a:prstGeom prst="rect">
              <a:avLst/>
            </a:prstGeom>
          </p:spPr>
          <p:txBody>
            <a:bodyPr anchor="ctr" rtlCol="false" tIns="0" lIns="0" bIns="0" rIns="0"/>
            <a:lstStyle/>
            <a:p>
              <a:pPr algn="l">
                <a:lnSpc>
                  <a:spcPts val="2400"/>
                </a:lnSpc>
              </a:pPr>
              <a:r>
                <a:rPr lang="en-US" sz="2000" b="true">
                  <a:solidFill>
                    <a:srgbClr val="0A1628"/>
                  </a:solidFill>
                  <a:latin typeface="Calibri (MS) Bold"/>
                  <a:ea typeface="Calibri (MS) Bold"/>
                  <a:cs typeface="Calibri (MS) Bold"/>
                  <a:sym typeface="Calibri (MS) Bold"/>
                </a:rPr>
                <a:t>Transformer decoder stack</a:t>
              </a:r>
            </a:p>
          </p:txBody>
        </p:sp>
      </p:grpSp>
      <p:grpSp>
        <p:nvGrpSpPr>
          <p:cNvPr name="Group 112" id="112"/>
          <p:cNvGrpSpPr/>
          <p:nvPr/>
        </p:nvGrpSpPr>
        <p:grpSpPr>
          <a:xfrm rot="0">
            <a:off x="11965943" y="3205991"/>
            <a:ext cx="5420363" cy="830075"/>
            <a:chOff x="0" y="0"/>
            <a:chExt cx="7227151" cy="1106767"/>
          </a:xfrm>
        </p:grpSpPr>
        <p:sp>
          <p:nvSpPr>
            <p:cNvPr name="Freeform 113" id="113"/>
            <p:cNvSpPr/>
            <p:nvPr/>
          </p:nvSpPr>
          <p:spPr>
            <a:xfrm flipH="false" flipV="false" rot="0">
              <a:off x="16891" y="16891"/>
              <a:ext cx="7193281" cy="1072896"/>
            </a:xfrm>
            <a:custGeom>
              <a:avLst/>
              <a:gdLst/>
              <a:ahLst/>
              <a:cxnLst/>
              <a:rect r="r" b="b" t="t" l="l"/>
              <a:pathLst>
                <a:path h="1072896" w="7193281">
                  <a:moveTo>
                    <a:pt x="0" y="0"/>
                  </a:moveTo>
                  <a:lnTo>
                    <a:pt x="7193281" y="0"/>
                  </a:lnTo>
                  <a:lnTo>
                    <a:pt x="7193281" y="1072896"/>
                  </a:lnTo>
                  <a:lnTo>
                    <a:pt x="0" y="1072896"/>
                  </a:lnTo>
                  <a:close/>
                </a:path>
              </a:pathLst>
            </a:custGeom>
            <a:solidFill>
              <a:srgbClr val="94A3B8"/>
            </a:solidFill>
          </p:spPr>
        </p:sp>
        <p:sp>
          <p:nvSpPr>
            <p:cNvPr name="Freeform 114" id="114"/>
            <p:cNvSpPr/>
            <p:nvPr/>
          </p:nvSpPr>
          <p:spPr>
            <a:xfrm flipH="false" flipV="false" rot="0">
              <a:off x="0" y="0"/>
              <a:ext cx="7227062" cy="1106680"/>
            </a:xfrm>
            <a:custGeom>
              <a:avLst/>
              <a:gdLst/>
              <a:ahLst/>
              <a:cxnLst/>
              <a:rect r="r" b="b" t="t" l="l"/>
              <a:pathLst>
                <a:path h="1106680" w="7227062">
                  <a:moveTo>
                    <a:pt x="16891" y="0"/>
                  </a:moveTo>
                  <a:lnTo>
                    <a:pt x="7210172" y="0"/>
                  </a:lnTo>
                  <a:cubicBezTo>
                    <a:pt x="7219569" y="0"/>
                    <a:pt x="7227062" y="7620"/>
                    <a:pt x="7227062" y="16891"/>
                  </a:cubicBezTo>
                  <a:lnTo>
                    <a:pt x="7227062" y="1089787"/>
                  </a:lnTo>
                  <a:cubicBezTo>
                    <a:pt x="7227062" y="1099185"/>
                    <a:pt x="7219442" y="1106678"/>
                    <a:pt x="7210172"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7210172" y="1072896"/>
                  </a:lnTo>
                  <a:lnTo>
                    <a:pt x="7210172" y="1089787"/>
                  </a:lnTo>
                  <a:lnTo>
                    <a:pt x="7193280" y="1089787"/>
                  </a:lnTo>
                  <a:lnTo>
                    <a:pt x="7193280" y="16891"/>
                  </a:lnTo>
                  <a:lnTo>
                    <a:pt x="7210172" y="16891"/>
                  </a:lnTo>
                  <a:lnTo>
                    <a:pt x="7210172" y="33909"/>
                  </a:lnTo>
                  <a:lnTo>
                    <a:pt x="16891" y="33909"/>
                  </a:lnTo>
                  <a:close/>
                </a:path>
              </a:pathLst>
            </a:custGeom>
            <a:solidFill>
              <a:srgbClr val="94A3B8"/>
            </a:solidFill>
          </p:spPr>
        </p:sp>
      </p:grpSp>
      <p:grpSp>
        <p:nvGrpSpPr>
          <p:cNvPr name="Group 115" id="115"/>
          <p:cNvGrpSpPr/>
          <p:nvPr/>
        </p:nvGrpSpPr>
        <p:grpSpPr>
          <a:xfrm rot="0">
            <a:off x="12070080" y="3218688"/>
            <a:ext cx="5212080" cy="804672"/>
            <a:chOff x="0" y="0"/>
            <a:chExt cx="6949440" cy="1072896"/>
          </a:xfrm>
        </p:grpSpPr>
        <p:sp>
          <p:nvSpPr>
            <p:cNvPr name="Freeform 116" id="116"/>
            <p:cNvSpPr/>
            <p:nvPr/>
          </p:nvSpPr>
          <p:spPr>
            <a:xfrm flipH="false" flipV="false" rot="0">
              <a:off x="0" y="0"/>
              <a:ext cx="6949440" cy="1072896"/>
            </a:xfrm>
            <a:custGeom>
              <a:avLst/>
              <a:gdLst/>
              <a:ahLst/>
              <a:cxnLst/>
              <a:rect r="r" b="b" t="t" l="l"/>
              <a:pathLst>
                <a:path h="1072896" w="6949440">
                  <a:moveTo>
                    <a:pt x="0" y="0"/>
                  </a:moveTo>
                  <a:lnTo>
                    <a:pt x="6949440" y="0"/>
                  </a:lnTo>
                  <a:lnTo>
                    <a:pt x="6949440" y="1072896"/>
                  </a:lnTo>
                  <a:lnTo>
                    <a:pt x="0" y="1072896"/>
                  </a:lnTo>
                  <a:close/>
                </a:path>
              </a:pathLst>
            </a:custGeom>
            <a:blipFill>
              <a:blip r:embed="rId3">
                <a:alphaModFix amt="0"/>
              </a:blip>
              <a:stretch>
                <a:fillRect l="0" t="-76209" r="0" b="-76209"/>
              </a:stretch>
            </a:blipFill>
          </p:spPr>
        </p:sp>
        <p:sp>
          <p:nvSpPr>
            <p:cNvPr name="TextBox 117" id="117"/>
            <p:cNvSpPr txBox="true"/>
            <p:nvPr/>
          </p:nvSpPr>
          <p:spPr>
            <a:xfrm>
              <a:off x="0" y="-38100"/>
              <a:ext cx="6949440" cy="1110996"/>
            </a:xfrm>
            <a:prstGeom prst="rect">
              <a:avLst/>
            </a:prstGeom>
          </p:spPr>
          <p:txBody>
            <a:bodyPr anchor="ctr" rtlCol="false" tIns="0" lIns="0" bIns="0" rIns="0"/>
            <a:lstStyle/>
            <a:p>
              <a:pPr algn="ctr">
                <a:lnSpc>
                  <a:spcPts val="2280"/>
                </a:lnSpc>
              </a:pPr>
              <a:r>
                <a:rPr lang="en-US" sz="1900" b="true">
                  <a:solidFill>
                    <a:srgbClr val="FFFFFF"/>
                  </a:solidFill>
                  <a:latin typeface="Calibri (MS) Bold"/>
                  <a:ea typeface="Calibri (MS) Bold"/>
                  <a:cs typeface="Calibri (MS) Bold"/>
                  <a:sym typeface="Calibri (MS) Bold"/>
                </a:rPr>
                <a:t>Word Embeddings + Pos. Enc.</a:t>
              </a:r>
            </a:p>
          </p:txBody>
        </p:sp>
      </p:grpSp>
      <p:grpSp>
        <p:nvGrpSpPr>
          <p:cNvPr name="Group 118" id="118"/>
          <p:cNvGrpSpPr/>
          <p:nvPr/>
        </p:nvGrpSpPr>
        <p:grpSpPr>
          <a:xfrm rot="0">
            <a:off x="12710160" y="4023360"/>
            <a:ext cx="548640" cy="219456"/>
            <a:chOff x="0" y="0"/>
            <a:chExt cx="731520" cy="292608"/>
          </a:xfrm>
        </p:grpSpPr>
        <p:sp>
          <p:nvSpPr>
            <p:cNvPr name="Freeform 119" id="119"/>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120" id="120"/>
            <p:cNvSpPr txBox="true"/>
            <p:nvPr/>
          </p:nvSpPr>
          <p:spPr>
            <a:xfrm>
              <a:off x="0" y="-38100"/>
              <a:ext cx="731520" cy="330708"/>
            </a:xfrm>
            <a:prstGeom prst="rect">
              <a:avLst/>
            </a:prstGeom>
          </p:spPr>
          <p:txBody>
            <a:bodyPr anchor="ctr" rtlCol="false" tIns="0" lIns="0" bIns="0" rIns="0"/>
            <a:lstStyle/>
            <a:p>
              <a:pPr algn="ctr">
                <a:lnSpc>
                  <a:spcPts val="2400"/>
                </a:lnSpc>
              </a:pPr>
              <a:r>
                <a:rPr lang="en-US" sz="2000">
                  <a:solidFill>
                    <a:srgbClr val="94A3B8"/>
                  </a:solidFill>
                  <a:latin typeface="Calibri (MS)"/>
                  <a:ea typeface="Calibri (MS)"/>
                  <a:cs typeface="Calibri (MS)"/>
                  <a:sym typeface="Calibri (MS)"/>
                </a:rPr>
                <a:t>↓</a:t>
              </a:r>
            </a:p>
          </p:txBody>
        </p:sp>
      </p:grpSp>
      <p:grpSp>
        <p:nvGrpSpPr>
          <p:cNvPr name="Group 121" id="121"/>
          <p:cNvGrpSpPr/>
          <p:nvPr/>
        </p:nvGrpSpPr>
        <p:grpSpPr>
          <a:xfrm rot="0">
            <a:off x="11965943" y="4211831"/>
            <a:ext cx="5420363" cy="830075"/>
            <a:chOff x="0" y="0"/>
            <a:chExt cx="7227151" cy="1106767"/>
          </a:xfrm>
        </p:grpSpPr>
        <p:sp>
          <p:nvSpPr>
            <p:cNvPr name="Freeform 122" id="122"/>
            <p:cNvSpPr/>
            <p:nvPr/>
          </p:nvSpPr>
          <p:spPr>
            <a:xfrm flipH="false" flipV="false" rot="0">
              <a:off x="16891" y="16891"/>
              <a:ext cx="7193281" cy="1072896"/>
            </a:xfrm>
            <a:custGeom>
              <a:avLst/>
              <a:gdLst/>
              <a:ahLst/>
              <a:cxnLst/>
              <a:rect r="r" b="b" t="t" l="l"/>
              <a:pathLst>
                <a:path h="1072896" w="7193281">
                  <a:moveTo>
                    <a:pt x="0" y="0"/>
                  </a:moveTo>
                  <a:lnTo>
                    <a:pt x="7193281" y="0"/>
                  </a:lnTo>
                  <a:lnTo>
                    <a:pt x="7193281" y="1072896"/>
                  </a:lnTo>
                  <a:lnTo>
                    <a:pt x="0" y="1072896"/>
                  </a:lnTo>
                  <a:close/>
                </a:path>
              </a:pathLst>
            </a:custGeom>
            <a:solidFill>
              <a:srgbClr val="7C3AED"/>
            </a:solidFill>
          </p:spPr>
        </p:sp>
        <p:sp>
          <p:nvSpPr>
            <p:cNvPr name="Freeform 123" id="123"/>
            <p:cNvSpPr/>
            <p:nvPr/>
          </p:nvSpPr>
          <p:spPr>
            <a:xfrm flipH="false" flipV="false" rot="0">
              <a:off x="0" y="0"/>
              <a:ext cx="7227062" cy="1106680"/>
            </a:xfrm>
            <a:custGeom>
              <a:avLst/>
              <a:gdLst/>
              <a:ahLst/>
              <a:cxnLst/>
              <a:rect r="r" b="b" t="t" l="l"/>
              <a:pathLst>
                <a:path h="1106680" w="7227062">
                  <a:moveTo>
                    <a:pt x="16891" y="0"/>
                  </a:moveTo>
                  <a:lnTo>
                    <a:pt x="7210172" y="0"/>
                  </a:lnTo>
                  <a:cubicBezTo>
                    <a:pt x="7219569" y="0"/>
                    <a:pt x="7227062" y="7620"/>
                    <a:pt x="7227062" y="16891"/>
                  </a:cubicBezTo>
                  <a:lnTo>
                    <a:pt x="7227062" y="1089787"/>
                  </a:lnTo>
                  <a:cubicBezTo>
                    <a:pt x="7227062" y="1099185"/>
                    <a:pt x="7219442" y="1106678"/>
                    <a:pt x="7210172"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7210172" y="1072896"/>
                  </a:lnTo>
                  <a:lnTo>
                    <a:pt x="7210172" y="1089787"/>
                  </a:lnTo>
                  <a:lnTo>
                    <a:pt x="7193280" y="1089787"/>
                  </a:lnTo>
                  <a:lnTo>
                    <a:pt x="7193280" y="16891"/>
                  </a:lnTo>
                  <a:lnTo>
                    <a:pt x="7210172" y="16891"/>
                  </a:lnTo>
                  <a:lnTo>
                    <a:pt x="7210172" y="33909"/>
                  </a:lnTo>
                  <a:lnTo>
                    <a:pt x="16891" y="33909"/>
                  </a:lnTo>
                  <a:close/>
                </a:path>
              </a:pathLst>
            </a:custGeom>
            <a:solidFill>
              <a:srgbClr val="7C3AED"/>
            </a:solidFill>
          </p:spPr>
        </p:sp>
      </p:grpSp>
      <p:grpSp>
        <p:nvGrpSpPr>
          <p:cNvPr name="Group 124" id="124"/>
          <p:cNvGrpSpPr/>
          <p:nvPr/>
        </p:nvGrpSpPr>
        <p:grpSpPr>
          <a:xfrm rot="0">
            <a:off x="12070080" y="4224528"/>
            <a:ext cx="5212080" cy="804672"/>
            <a:chOff x="0" y="0"/>
            <a:chExt cx="6949440" cy="1072896"/>
          </a:xfrm>
        </p:grpSpPr>
        <p:sp>
          <p:nvSpPr>
            <p:cNvPr name="Freeform 125" id="125"/>
            <p:cNvSpPr/>
            <p:nvPr/>
          </p:nvSpPr>
          <p:spPr>
            <a:xfrm flipH="false" flipV="false" rot="0">
              <a:off x="0" y="0"/>
              <a:ext cx="6949440" cy="1072896"/>
            </a:xfrm>
            <a:custGeom>
              <a:avLst/>
              <a:gdLst/>
              <a:ahLst/>
              <a:cxnLst/>
              <a:rect r="r" b="b" t="t" l="l"/>
              <a:pathLst>
                <a:path h="1072896" w="6949440">
                  <a:moveTo>
                    <a:pt x="0" y="0"/>
                  </a:moveTo>
                  <a:lnTo>
                    <a:pt x="6949440" y="0"/>
                  </a:lnTo>
                  <a:lnTo>
                    <a:pt x="6949440" y="1072896"/>
                  </a:lnTo>
                  <a:lnTo>
                    <a:pt x="0" y="1072896"/>
                  </a:lnTo>
                  <a:close/>
                </a:path>
              </a:pathLst>
            </a:custGeom>
            <a:blipFill>
              <a:blip r:embed="rId3">
                <a:alphaModFix amt="0"/>
              </a:blip>
              <a:stretch>
                <a:fillRect l="0" t="-76209" r="0" b="-76209"/>
              </a:stretch>
            </a:blipFill>
          </p:spPr>
        </p:sp>
        <p:sp>
          <p:nvSpPr>
            <p:cNvPr name="TextBox 126" id="126"/>
            <p:cNvSpPr txBox="true"/>
            <p:nvPr/>
          </p:nvSpPr>
          <p:spPr>
            <a:xfrm>
              <a:off x="0" y="-38100"/>
              <a:ext cx="6949440" cy="1110996"/>
            </a:xfrm>
            <a:prstGeom prst="rect">
              <a:avLst/>
            </a:prstGeom>
          </p:spPr>
          <p:txBody>
            <a:bodyPr anchor="ctr" rtlCol="false" tIns="0" lIns="0" bIns="0" rIns="0"/>
            <a:lstStyle/>
            <a:p>
              <a:pPr algn="ctr">
                <a:lnSpc>
                  <a:spcPts val="2280"/>
                </a:lnSpc>
              </a:pPr>
              <a:r>
                <a:rPr lang="en-US" sz="1900" b="true">
                  <a:solidFill>
                    <a:srgbClr val="FFFFFF"/>
                  </a:solidFill>
                  <a:latin typeface="Calibri (MS) Bold"/>
                  <a:ea typeface="Calibri (MS) Bold"/>
                  <a:cs typeface="Calibri (MS) Bold"/>
                  <a:sym typeface="Calibri (MS) Bold"/>
                </a:rPr>
                <a:t>Masked Self-Attention</a:t>
              </a:r>
            </a:p>
          </p:txBody>
        </p:sp>
      </p:grpSp>
      <p:grpSp>
        <p:nvGrpSpPr>
          <p:cNvPr name="Group 127" id="127"/>
          <p:cNvGrpSpPr/>
          <p:nvPr/>
        </p:nvGrpSpPr>
        <p:grpSpPr>
          <a:xfrm rot="0">
            <a:off x="12710160" y="5029200"/>
            <a:ext cx="548640" cy="219456"/>
            <a:chOff x="0" y="0"/>
            <a:chExt cx="731520" cy="292608"/>
          </a:xfrm>
        </p:grpSpPr>
        <p:sp>
          <p:nvSpPr>
            <p:cNvPr name="Freeform 128" id="128"/>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129" id="129"/>
            <p:cNvSpPr txBox="true"/>
            <p:nvPr/>
          </p:nvSpPr>
          <p:spPr>
            <a:xfrm>
              <a:off x="0" y="-38100"/>
              <a:ext cx="731520" cy="330708"/>
            </a:xfrm>
            <a:prstGeom prst="rect">
              <a:avLst/>
            </a:prstGeom>
          </p:spPr>
          <p:txBody>
            <a:bodyPr anchor="ctr" rtlCol="false" tIns="0" lIns="0" bIns="0" rIns="0"/>
            <a:lstStyle/>
            <a:p>
              <a:pPr algn="ctr">
                <a:lnSpc>
                  <a:spcPts val="2400"/>
                </a:lnSpc>
              </a:pPr>
              <a:r>
                <a:rPr lang="en-US" sz="2000">
                  <a:solidFill>
                    <a:srgbClr val="94A3B8"/>
                  </a:solidFill>
                  <a:latin typeface="Calibri (MS)"/>
                  <a:ea typeface="Calibri (MS)"/>
                  <a:cs typeface="Calibri (MS)"/>
                  <a:sym typeface="Calibri (MS)"/>
                </a:rPr>
                <a:t>↓</a:t>
              </a:r>
            </a:p>
          </p:txBody>
        </p:sp>
      </p:grpSp>
      <p:grpSp>
        <p:nvGrpSpPr>
          <p:cNvPr name="Group 130" id="130"/>
          <p:cNvGrpSpPr/>
          <p:nvPr/>
        </p:nvGrpSpPr>
        <p:grpSpPr>
          <a:xfrm rot="0">
            <a:off x="11965943" y="5217671"/>
            <a:ext cx="5420363" cy="830075"/>
            <a:chOff x="0" y="0"/>
            <a:chExt cx="7227151" cy="1106767"/>
          </a:xfrm>
        </p:grpSpPr>
        <p:sp>
          <p:nvSpPr>
            <p:cNvPr name="Freeform 131" id="131"/>
            <p:cNvSpPr/>
            <p:nvPr/>
          </p:nvSpPr>
          <p:spPr>
            <a:xfrm flipH="false" flipV="false" rot="0">
              <a:off x="16891" y="16891"/>
              <a:ext cx="7193281" cy="1072896"/>
            </a:xfrm>
            <a:custGeom>
              <a:avLst/>
              <a:gdLst/>
              <a:ahLst/>
              <a:cxnLst/>
              <a:rect r="r" b="b" t="t" l="l"/>
              <a:pathLst>
                <a:path h="1072896" w="7193281">
                  <a:moveTo>
                    <a:pt x="0" y="0"/>
                  </a:moveTo>
                  <a:lnTo>
                    <a:pt x="7193281" y="0"/>
                  </a:lnTo>
                  <a:lnTo>
                    <a:pt x="7193281" y="1072896"/>
                  </a:lnTo>
                  <a:lnTo>
                    <a:pt x="0" y="1072896"/>
                  </a:lnTo>
                  <a:close/>
                </a:path>
              </a:pathLst>
            </a:custGeom>
            <a:solidFill>
              <a:srgbClr val="0D9488"/>
            </a:solidFill>
          </p:spPr>
        </p:sp>
        <p:sp>
          <p:nvSpPr>
            <p:cNvPr name="Freeform 132" id="132"/>
            <p:cNvSpPr/>
            <p:nvPr/>
          </p:nvSpPr>
          <p:spPr>
            <a:xfrm flipH="false" flipV="false" rot="0">
              <a:off x="0" y="0"/>
              <a:ext cx="7227062" cy="1106680"/>
            </a:xfrm>
            <a:custGeom>
              <a:avLst/>
              <a:gdLst/>
              <a:ahLst/>
              <a:cxnLst/>
              <a:rect r="r" b="b" t="t" l="l"/>
              <a:pathLst>
                <a:path h="1106680" w="7227062">
                  <a:moveTo>
                    <a:pt x="16891" y="0"/>
                  </a:moveTo>
                  <a:lnTo>
                    <a:pt x="7210172" y="0"/>
                  </a:lnTo>
                  <a:cubicBezTo>
                    <a:pt x="7219569" y="0"/>
                    <a:pt x="7227062" y="7620"/>
                    <a:pt x="7227062" y="16891"/>
                  </a:cubicBezTo>
                  <a:lnTo>
                    <a:pt x="7227062" y="1089787"/>
                  </a:lnTo>
                  <a:cubicBezTo>
                    <a:pt x="7227062" y="1099185"/>
                    <a:pt x="7219442" y="1106678"/>
                    <a:pt x="7210172"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7210172" y="1072896"/>
                  </a:lnTo>
                  <a:lnTo>
                    <a:pt x="7210172" y="1089787"/>
                  </a:lnTo>
                  <a:lnTo>
                    <a:pt x="7193280" y="1089787"/>
                  </a:lnTo>
                  <a:lnTo>
                    <a:pt x="7193280" y="16891"/>
                  </a:lnTo>
                  <a:lnTo>
                    <a:pt x="7210172" y="16891"/>
                  </a:lnTo>
                  <a:lnTo>
                    <a:pt x="7210172" y="33909"/>
                  </a:lnTo>
                  <a:lnTo>
                    <a:pt x="16891" y="33909"/>
                  </a:lnTo>
                  <a:close/>
                </a:path>
              </a:pathLst>
            </a:custGeom>
            <a:solidFill>
              <a:srgbClr val="0D9488"/>
            </a:solidFill>
          </p:spPr>
        </p:sp>
      </p:grpSp>
      <p:grpSp>
        <p:nvGrpSpPr>
          <p:cNvPr name="Group 133" id="133"/>
          <p:cNvGrpSpPr/>
          <p:nvPr/>
        </p:nvGrpSpPr>
        <p:grpSpPr>
          <a:xfrm rot="0">
            <a:off x="12070080" y="5230368"/>
            <a:ext cx="5212080" cy="804672"/>
            <a:chOff x="0" y="0"/>
            <a:chExt cx="6949440" cy="1072896"/>
          </a:xfrm>
        </p:grpSpPr>
        <p:sp>
          <p:nvSpPr>
            <p:cNvPr name="Freeform 134" id="134"/>
            <p:cNvSpPr/>
            <p:nvPr/>
          </p:nvSpPr>
          <p:spPr>
            <a:xfrm flipH="false" flipV="false" rot="0">
              <a:off x="0" y="0"/>
              <a:ext cx="6949440" cy="1072896"/>
            </a:xfrm>
            <a:custGeom>
              <a:avLst/>
              <a:gdLst/>
              <a:ahLst/>
              <a:cxnLst/>
              <a:rect r="r" b="b" t="t" l="l"/>
              <a:pathLst>
                <a:path h="1072896" w="6949440">
                  <a:moveTo>
                    <a:pt x="0" y="0"/>
                  </a:moveTo>
                  <a:lnTo>
                    <a:pt x="6949440" y="0"/>
                  </a:lnTo>
                  <a:lnTo>
                    <a:pt x="6949440" y="1072896"/>
                  </a:lnTo>
                  <a:lnTo>
                    <a:pt x="0" y="1072896"/>
                  </a:lnTo>
                  <a:close/>
                </a:path>
              </a:pathLst>
            </a:custGeom>
            <a:blipFill>
              <a:blip r:embed="rId3">
                <a:alphaModFix amt="0"/>
              </a:blip>
              <a:stretch>
                <a:fillRect l="0" t="-76209" r="0" b="-76209"/>
              </a:stretch>
            </a:blipFill>
          </p:spPr>
        </p:sp>
        <p:sp>
          <p:nvSpPr>
            <p:cNvPr name="TextBox 135" id="135"/>
            <p:cNvSpPr txBox="true"/>
            <p:nvPr/>
          </p:nvSpPr>
          <p:spPr>
            <a:xfrm>
              <a:off x="0" y="-38100"/>
              <a:ext cx="6949440" cy="1110996"/>
            </a:xfrm>
            <a:prstGeom prst="rect">
              <a:avLst/>
            </a:prstGeom>
          </p:spPr>
          <p:txBody>
            <a:bodyPr anchor="ctr" rtlCol="false" tIns="0" lIns="0" bIns="0" rIns="0"/>
            <a:lstStyle/>
            <a:p>
              <a:pPr algn="ctr">
                <a:lnSpc>
                  <a:spcPts val="2280"/>
                </a:lnSpc>
              </a:pPr>
              <a:r>
                <a:rPr lang="en-US" sz="1900" b="true">
                  <a:solidFill>
                    <a:srgbClr val="FFFFFF"/>
                  </a:solidFill>
                  <a:latin typeface="Calibri (MS) Bold"/>
                  <a:ea typeface="Calibri (MS) Bold"/>
                  <a:cs typeface="Calibri (MS) Bold"/>
                  <a:sym typeface="Calibri (MS) Bold"/>
                </a:rPr>
                <a:t>Cross-Attention → V'_local</a:t>
              </a:r>
            </a:p>
          </p:txBody>
        </p:sp>
      </p:grpSp>
      <p:grpSp>
        <p:nvGrpSpPr>
          <p:cNvPr name="Group 136" id="136"/>
          <p:cNvGrpSpPr/>
          <p:nvPr/>
        </p:nvGrpSpPr>
        <p:grpSpPr>
          <a:xfrm rot="0">
            <a:off x="12710160" y="6035040"/>
            <a:ext cx="548640" cy="219456"/>
            <a:chOff x="0" y="0"/>
            <a:chExt cx="731520" cy="292608"/>
          </a:xfrm>
        </p:grpSpPr>
        <p:sp>
          <p:nvSpPr>
            <p:cNvPr name="Freeform 137" id="137"/>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138" id="138"/>
            <p:cNvSpPr txBox="true"/>
            <p:nvPr/>
          </p:nvSpPr>
          <p:spPr>
            <a:xfrm>
              <a:off x="0" y="-38100"/>
              <a:ext cx="731520" cy="330708"/>
            </a:xfrm>
            <a:prstGeom prst="rect">
              <a:avLst/>
            </a:prstGeom>
          </p:spPr>
          <p:txBody>
            <a:bodyPr anchor="ctr" rtlCol="false" tIns="0" lIns="0" bIns="0" rIns="0"/>
            <a:lstStyle/>
            <a:p>
              <a:pPr algn="ctr">
                <a:lnSpc>
                  <a:spcPts val="2400"/>
                </a:lnSpc>
              </a:pPr>
              <a:r>
                <a:rPr lang="en-US" sz="2000">
                  <a:solidFill>
                    <a:srgbClr val="94A3B8"/>
                  </a:solidFill>
                  <a:latin typeface="Calibri (MS)"/>
                  <a:ea typeface="Calibri (MS)"/>
                  <a:cs typeface="Calibri (MS)"/>
                  <a:sym typeface="Calibri (MS)"/>
                </a:rPr>
                <a:t>↓</a:t>
              </a:r>
            </a:p>
          </p:txBody>
        </p:sp>
      </p:grpSp>
      <p:grpSp>
        <p:nvGrpSpPr>
          <p:cNvPr name="Group 139" id="139"/>
          <p:cNvGrpSpPr/>
          <p:nvPr/>
        </p:nvGrpSpPr>
        <p:grpSpPr>
          <a:xfrm rot="0">
            <a:off x="11965943" y="6223511"/>
            <a:ext cx="5420363" cy="830075"/>
            <a:chOff x="0" y="0"/>
            <a:chExt cx="7227151" cy="1106767"/>
          </a:xfrm>
        </p:grpSpPr>
        <p:sp>
          <p:nvSpPr>
            <p:cNvPr name="Freeform 140" id="140"/>
            <p:cNvSpPr/>
            <p:nvPr/>
          </p:nvSpPr>
          <p:spPr>
            <a:xfrm flipH="false" flipV="false" rot="0">
              <a:off x="16891" y="16891"/>
              <a:ext cx="7193281" cy="1072896"/>
            </a:xfrm>
            <a:custGeom>
              <a:avLst/>
              <a:gdLst/>
              <a:ahLst/>
              <a:cxnLst/>
              <a:rect r="r" b="b" t="t" l="l"/>
              <a:pathLst>
                <a:path h="1072896" w="7193281">
                  <a:moveTo>
                    <a:pt x="0" y="0"/>
                  </a:moveTo>
                  <a:lnTo>
                    <a:pt x="7193281" y="0"/>
                  </a:lnTo>
                  <a:lnTo>
                    <a:pt x="7193281" y="1072896"/>
                  </a:lnTo>
                  <a:lnTo>
                    <a:pt x="0" y="1072896"/>
                  </a:lnTo>
                  <a:close/>
                </a:path>
              </a:pathLst>
            </a:custGeom>
            <a:solidFill>
              <a:srgbClr val="D97706"/>
            </a:solidFill>
          </p:spPr>
        </p:sp>
        <p:sp>
          <p:nvSpPr>
            <p:cNvPr name="Freeform 141" id="141"/>
            <p:cNvSpPr/>
            <p:nvPr/>
          </p:nvSpPr>
          <p:spPr>
            <a:xfrm flipH="false" flipV="false" rot="0">
              <a:off x="0" y="0"/>
              <a:ext cx="7227062" cy="1106680"/>
            </a:xfrm>
            <a:custGeom>
              <a:avLst/>
              <a:gdLst/>
              <a:ahLst/>
              <a:cxnLst/>
              <a:rect r="r" b="b" t="t" l="l"/>
              <a:pathLst>
                <a:path h="1106680" w="7227062">
                  <a:moveTo>
                    <a:pt x="16891" y="0"/>
                  </a:moveTo>
                  <a:lnTo>
                    <a:pt x="7210172" y="0"/>
                  </a:lnTo>
                  <a:cubicBezTo>
                    <a:pt x="7219569" y="0"/>
                    <a:pt x="7227062" y="7620"/>
                    <a:pt x="7227062" y="16891"/>
                  </a:cubicBezTo>
                  <a:lnTo>
                    <a:pt x="7227062" y="1089787"/>
                  </a:lnTo>
                  <a:cubicBezTo>
                    <a:pt x="7227062" y="1099185"/>
                    <a:pt x="7219442" y="1106678"/>
                    <a:pt x="7210172"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7210172" y="1072896"/>
                  </a:lnTo>
                  <a:lnTo>
                    <a:pt x="7210172" y="1089787"/>
                  </a:lnTo>
                  <a:lnTo>
                    <a:pt x="7193280" y="1089787"/>
                  </a:lnTo>
                  <a:lnTo>
                    <a:pt x="7193280" y="16891"/>
                  </a:lnTo>
                  <a:lnTo>
                    <a:pt x="7210172" y="16891"/>
                  </a:lnTo>
                  <a:lnTo>
                    <a:pt x="7210172" y="33909"/>
                  </a:lnTo>
                  <a:lnTo>
                    <a:pt x="16891" y="33909"/>
                  </a:lnTo>
                  <a:close/>
                </a:path>
              </a:pathLst>
            </a:custGeom>
            <a:solidFill>
              <a:srgbClr val="D97706"/>
            </a:solidFill>
          </p:spPr>
        </p:sp>
      </p:grpSp>
      <p:grpSp>
        <p:nvGrpSpPr>
          <p:cNvPr name="Group 142" id="142"/>
          <p:cNvGrpSpPr/>
          <p:nvPr/>
        </p:nvGrpSpPr>
        <p:grpSpPr>
          <a:xfrm rot="0">
            <a:off x="12070080" y="6236208"/>
            <a:ext cx="5212080" cy="804672"/>
            <a:chOff x="0" y="0"/>
            <a:chExt cx="6949440" cy="1072896"/>
          </a:xfrm>
        </p:grpSpPr>
        <p:sp>
          <p:nvSpPr>
            <p:cNvPr name="Freeform 143" id="143"/>
            <p:cNvSpPr/>
            <p:nvPr/>
          </p:nvSpPr>
          <p:spPr>
            <a:xfrm flipH="false" flipV="false" rot="0">
              <a:off x="0" y="0"/>
              <a:ext cx="6949440" cy="1072896"/>
            </a:xfrm>
            <a:custGeom>
              <a:avLst/>
              <a:gdLst/>
              <a:ahLst/>
              <a:cxnLst/>
              <a:rect r="r" b="b" t="t" l="l"/>
              <a:pathLst>
                <a:path h="1072896" w="6949440">
                  <a:moveTo>
                    <a:pt x="0" y="0"/>
                  </a:moveTo>
                  <a:lnTo>
                    <a:pt x="6949440" y="0"/>
                  </a:lnTo>
                  <a:lnTo>
                    <a:pt x="6949440" y="1072896"/>
                  </a:lnTo>
                  <a:lnTo>
                    <a:pt x="0" y="1072896"/>
                  </a:lnTo>
                  <a:close/>
                </a:path>
              </a:pathLst>
            </a:custGeom>
            <a:blipFill>
              <a:blip r:embed="rId3">
                <a:alphaModFix amt="0"/>
              </a:blip>
              <a:stretch>
                <a:fillRect l="0" t="-76209" r="0" b="-76209"/>
              </a:stretch>
            </a:blipFill>
          </p:spPr>
        </p:sp>
        <p:sp>
          <p:nvSpPr>
            <p:cNvPr name="TextBox 144" id="144"/>
            <p:cNvSpPr txBox="true"/>
            <p:nvPr/>
          </p:nvSpPr>
          <p:spPr>
            <a:xfrm>
              <a:off x="0" y="-38100"/>
              <a:ext cx="6949440" cy="1110996"/>
            </a:xfrm>
            <a:prstGeom prst="rect">
              <a:avLst/>
            </a:prstGeom>
          </p:spPr>
          <p:txBody>
            <a:bodyPr anchor="ctr" rtlCol="false" tIns="0" lIns="0" bIns="0" rIns="0"/>
            <a:lstStyle/>
            <a:p>
              <a:pPr algn="ctr">
                <a:lnSpc>
                  <a:spcPts val="2280"/>
                </a:lnSpc>
              </a:pPr>
              <a:r>
                <a:rPr lang="en-US" sz="1900" b="true">
                  <a:solidFill>
                    <a:srgbClr val="FFFFFF"/>
                  </a:solidFill>
                  <a:latin typeface="Calibri (MS) Bold"/>
                  <a:ea typeface="Calibri (MS) Bold"/>
                  <a:cs typeface="Calibri (MS) Bold"/>
                  <a:sym typeface="Calibri (MS) Bold"/>
                </a:rPr>
                <a:t>Feed-Forward Network</a:t>
              </a:r>
            </a:p>
          </p:txBody>
        </p:sp>
      </p:grpSp>
      <p:grpSp>
        <p:nvGrpSpPr>
          <p:cNvPr name="Group 145" id="145"/>
          <p:cNvGrpSpPr/>
          <p:nvPr/>
        </p:nvGrpSpPr>
        <p:grpSpPr>
          <a:xfrm rot="0">
            <a:off x="12710160" y="7040880"/>
            <a:ext cx="548640" cy="219456"/>
            <a:chOff x="0" y="0"/>
            <a:chExt cx="731520" cy="292608"/>
          </a:xfrm>
        </p:grpSpPr>
        <p:sp>
          <p:nvSpPr>
            <p:cNvPr name="Freeform 146" id="146"/>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147" id="147"/>
            <p:cNvSpPr txBox="true"/>
            <p:nvPr/>
          </p:nvSpPr>
          <p:spPr>
            <a:xfrm>
              <a:off x="0" y="-38100"/>
              <a:ext cx="731520" cy="330708"/>
            </a:xfrm>
            <a:prstGeom prst="rect">
              <a:avLst/>
            </a:prstGeom>
          </p:spPr>
          <p:txBody>
            <a:bodyPr anchor="ctr" rtlCol="false" tIns="0" lIns="0" bIns="0" rIns="0"/>
            <a:lstStyle/>
            <a:p>
              <a:pPr algn="ctr">
                <a:lnSpc>
                  <a:spcPts val="2400"/>
                </a:lnSpc>
              </a:pPr>
              <a:r>
                <a:rPr lang="en-US" sz="2000">
                  <a:solidFill>
                    <a:srgbClr val="94A3B8"/>
                  </a:solidFill>
                  <a:latin typeface="Calibri (MS)"/>
                  <a:ea typeface="Calibri (MS)"/>
                  <a:cs typeface="Calibri (MS)"/>
                  <a:sym typeface="Calibri (MS)"/>
                </a:rPr>
                <a:t>↓</a:t>
              </a:r>
            </a:p>
          </p:txBody>
        </p:sp>
      </p:grpSp>
      <p:grpSp>
        <p:nvGrpSpPr>
          <p:cNvPr name="Group 148" id="148"/>
          <p:cNvGrpSpPr/>
          <p:nvPr/>
        </p:nvGrpSpPr>
        <p:grpSpPr>
          <a:xfrm rot="0">
            <a:off x="11965943" y="7229351"/>
            <a:ext cx="5420363" cy="830075"/>
            <a:chOff x="0" y="0"/>
            <a:chExt cx="7227151" cy="1106767"/>
          </a:xfrm>
        </p:grpSpPr>
        <p:sp>
          <p:nvSpPr>
            <p:cNvPr name="Freeform 149" id="149"/>
            <p:cNvSpPr/>
            <p:nvPr/>
          </p:nvSpPr>
          <p:spPr>
            <a:xfrm flipH="false" flipV="false" rot="0">
              <a:off x="16891" y="16891"/>
              <a:ext cx="7193281" cy="1072896"/>
            </a:xfrm>
            <a:custGeom>
              <a:avLst/>
              <a:gdLst/>
              <a:ahLst/>
              <a:cxnLst/>
              <a:rect r="r" b="b" t="t" l="l"/>
              <a:pathLst>
                <a:path h="1072896" w="7193281">
                  <a:moveTo>
                    <a:pt x="0" y="0"/>
                  </a:moveTo>
                  <a:lnTo>
                    <a:pt x="7193281" y="0"/>
                  </a:lnTo>
                  <a:lnTo>
                    <a:pt x="7193281" y="1072896"/>
                  </a:lnTo>
                  <a:lnTo>
                    <a:pt x="0" y="1072896"/>
                  </a:lnTo>
                  <a:close/>
                </a:path>
              </a:pathLst>
            </a:custGeom>
            <a:solidFill>
              <a:srgbClr val="475569"/>
            </a:solidFill>
          </p:spPr>
        </p:sp>
        <p:sp>
          <p:nvSpPr>
            <p:cNvPr name="Freeform 150" id="150"/>
            <p:cNvSpPr/>
            <p:nvPr/>
          </p:nvSpPr>
          <p:spPr>
            <a:xfrm flipH="false" flipV="false" rot="0">
              <a:off x="0" y="0"/>
              <a:ext cx="7227062" cy="1106680"/>
            </a:xfrm>
            <a:custGeom>
              <a:avLst/>
              <a:gdLst/>
              <a:ahLst/>
              <a:cxnLst/>
              <a:rect r="r" b="b" t="t" l="l"/>
              <a:pathLst>
                <a:path h="1106680" w="7227062">
                  <a:moveTo>
                    <a:pt x="16891" y="0"/>
                  </a:moveTo>
                  <a:lnTo>
                    <a:pt x="7210172" y="0"/>
                  </a:lnTo>
                  <a:cubicBezTo>
                    <a:pt x="7219569" y="0"/>
                    <a:pt x="7227062" y="7620"/>
                    <a:pt x="7227062" y="16891"/>
                  </a:cubicBezTo>
                  <a:lnTo>
                    <a:pt x="7227062" y="1089787"/>
                  </a:lnTo>
                  <a:cubicBezTo>
                    <a:pt x="7227062" y="1099185"/>
                    <a:pt x="7219442" y="1106678"/>
                    <a:pt x="7210172"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7210172" y="1072896"/>
                  </a:lnTo>
                  <a:lnTo>
                    <a:pt x="7210172" y="1089787"/>
                  </a:lnTo>
                  <a:lnTo>
                    <a:pt x="7193280" y="1089787"/>
                  </a:lnTo>
                  <a:lnTo>
                    <a:pt x="7193280" y="16891"/>
                  </a:lnTo>
                  <a:lnTo>
                    <a:pt x="7210172" y="16891"/>
                  </a:lnTo>
                  <a:lnTo>
                    <a:pt x="7210172" y="33909"/>
                  </a:lnTo>
                  <a:lnTo>
                    <a:pt x="16891" y="33909"/>
                  </a:lnTo>
                  <a:close/>
                </a:path>
              </a:pathLst>
            </a:custGeom>
            <a:solidFill>
              <a:srgbClr val="475569"/>
            </a:solidFill>
          </p:spPr>
        </p:sp>
      </p:grpSp>
      <p:grpSp>
        <p:nvGrpSpPr>
          <p:cNvPr name="Group 151" id="151"/>
          <p:cNvGrpSpPr/>
          <p:nvPr/>
        </p:nvGrpSpPr>
        <p:grpSpPr>
          <a:xfrm rot="0">
            <a:off x="12070080" y="7242048"/>
            <a:ext cx="5212080" cy="804672"/>
            <a:chOff x="0" y="0"/>
            <a:chExt cx="6949440" cy="1072896"/>
          </a:xfrm>
        </p:grpSpPr>
        <p:sp>
          <p:nvSpPr>
            <p:cNvPr name="Freeform 152" id="152"/>
            <p:cNvSpPr/>
            <p:nvPr/>
          </p:nvSpPr>
          <p:spPr>
            <a:xfrm flipH="false" flipV="false" rot="0">
              <a:off x="0" y="0"/>
              <a:ext cx="6949440" cy="1072896"/>
            </a:xfrm>
            <a:custGeom>
              <a:avLst/>
              <a:gdLst/>
              <a:ahLst/>
              <a:cxnLst/>
              <a:rect r="r" b="b" t="t" l="l"/>
              <a:pathLst>
                <a:path h="1072896" w="6949440">
                  <a:moveTo>
                    <a:pt x="0" y="0"/>
                  </a:moveTo>
                  <a:lnTo>
                    <a:pt x="6949440" y="0"/>
                  </a:lnTo>
                  <a:lnTo>
                    <a:pt x="6949440" y="1072896"/>
                  </a:lnTo>
                  <a:lnTo>
                    <a:pt x="0" y="1072896"/>
                  </a:lnTo>
                  <a:close/>
                </a:path>
              </a:pathLst>
            </a:custGeom>
            <a:blipFill>
              <a:blip r:embed="rId3">
                <a:alphaModFix amt="0"/>
              </a:blip>
              <a:stretch>
                <a:fillRect l="0" t="-76209" r="0" b="-76209"/>
              </a:stretch>
            </a:blipFill>
          </p:spPr>
        </p:sp>
        <p:sp>
          <p:nvSpPr>
            <p:cNvPr name="TextBox 153" id="153"/>
            <p:cNvSpPr txBox="true"/>
            <p:nvPr/>
          </p:nvSpPr>
          <p:spPr>
            <a:xfrm>
              <a:off x="0" y="-38100"/>
              <a:ext cx="6949440" cy="1110996"/>
            </a:xfrm>
            <a:prstGeom prst="rect">
              <a:avLst/>
            </a:prstGeom>
          </p:spPr>
          <p:txBody>
            <a:bodyPr anchor="ctr" rtlCol="false" tIns="0" lIns="0" bIns="0" rIns="0"/>
            <a:lstStyle/>
            <a:p>
              <a:pPr algn="ctr">
                <a:lnSpc>
                  <a:spcPts val="2280"/>
                </a:lnSpc>
              </a:pPr>
              <a:r>
                <a:rPr lang="en-US" sz="1900" b="true">
                  <a:solidFill>
                    <a:srgbClr val="FFFFFF"/>
                  </a:solidFill>
                  <a:latin typeface="Calibri (MS) Bold"/>
                  <a:ea typeface="Calibri (MS) Bold"/>
                  <a:cs typeface="Calibri (MS) Bold"/>
                  <a:sym typeface="Calibri (MS) Bold"/>
                </a:rPr>
                <a:t>Layer Norm + Residual</a:t>
              </a:r>
            </a:p>
          </p:txBody>
        </p:sp>
      </p:grpSp>
      <p:grpSp>
        <p:nvGrpSpPr>
          <p:cNvPr name="Group 154" id="154"/>
          <p:cNvGrpSpPr/>
          <p:nvPr/>
        </p:nvGrpSpPr>
        <p:grpSpPr>
          <a:xfrm rot="0">
            <a:off x="12710160" y="8046720"/>
            <a:ext cx="548640" cy="219456"/>
            <a:chOff x="0" y="0"/>
            <a:chExt cx="731520" cy="292608"/>
          </a:xfrm>
        </p:grpSpPr>
        <p:sp>
          <p:nvSpPr>
            <p:cNvPr name="Freeform 155" id="155"/>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156" id="156"/>
            <p:cNvSpPr txBox="true"/>
            <p:nvPr/>
          </p:nvSpPr>
          <p:spPr>
            <a:xfrm>
              <a:off x="0" y="-38100"/>
              <a:ext cx="731520" cy="330708"/>
            </a:xfrm>
            <a:prstGeom prst="rect">
              <a:avLst/>
            </a:prstGeom>
          </p:spPr>
          <p:txBody>
            <a:bodyPr anchor="ctr" rtlCol="false" tIns="0" lIns="0" bIns="0" rIns="0"/>
            <a:lstStyle/>
            <a:p>
              <a:pPr algn="ctr">
                <a:lnSpc>
                  <a:spcPts val="2400"/>
                </a:lnSpc>
              </a:pPr>
              <a:r>
                <a:rPr lang="en-US" sz="2000">
                  <a:solidFill>
                    <a:srgbClr val="94A3B8"/>
                  </a:solidFill>
                  <a:latin typeface="Calibri (MS)"/>
                  <a:ea typeface="Calibri (MS)"/>
                  <a:cs typeface="Calibri (MS)"/>
                  <a:sym typeface="Calibri (MS)"/>
                </a:rPr>
                <a:t>↓</a:t>
              </a:r>
            </a:p>
          </p:txBody>
        </p:sp>
      </p:grpSp>
      <p:grpSp>
        <p:nvGrpSpPr>
          <p:cNvPr name="Group 157" id="157"/>
          <p:cNvGrpSpPr/>
          <p:nvPr/>
        </p:nvGrpSpPr>
        <p:grpSpPr>
          <a:xfrm rot="0">
            <a:off x="11965943" y="8235191"/>
            <a:ext cx="5420363" cy="830075"/>
            <a:chOff x="0" y="0"/>
            <a:chExt cx="7227151" cy="1106767"/>
          </a:xfrm>
        </p:grpSpPr>
        <p:sp>
          <p:nvSpPr>
            <p:cNvPr name="Freeform 158" id="158"/>
            <p:cNvSpPr/>
            <p:nvPr/>
          </p:nvSpPr>
          <p:spPr>
            <a:xfrm flipH="false" flipV="false" rot="0">
              <a:off x="16891" y="16891"/>
              <a:ext cx="7193281" cy="1072896"/>
            </a:xfrm>
            <a:custGeom>
              <a:avLst/>
              <a:gdLst/>
              <a:ahLst/>
              <a:cxnLst/>
              <a:rect r="r" b="b" t="t" l="l"/>
              <a:pathLst>
                <a:path h="1072896" w="7193281">
                  <a:moveTo>
                    <a:pt x="0" y="0"/>
                  </a:moveTo>
                  <a:lnTo>
                    <a:pt x="7193281" y="0"/>
                  </a:lnTo>
                  <a:lnTo>
                    <a:pt x="7193281" y="1072896"/>
                  </a:lnTo>
                  <a:lnTo>
                    <a:pt x="0" y="1072896"/>
                  </a:lnTo>
                  <a:close/>
                </a:path>
              </a:pathLst>
            </a:custGeom>
            <a:solidFill>
              <a:srgbClr val="E05B4B"/>
            </a:solidFill>
          </p:spPr>
        </p:sp>
        <p:sp>
          <p:nvSpPr>
            <p:cNvPr name="Freeform 159" id="159"/>
            <p:cNvSpPr/>
            <p:nvPr/>
          </p:nvSpPr>
          <p:spPr>
            <a:xfrm flipH="false" flipV="false" rot="0">
              <a:off x="0" y="0"/>
              <a:ext cx="7227062" cy="1106680"/>
            </a:xfrm>
            <a:custGeom>
              <a:avLst/>
              <a:gdLst/>
              <a:ahLst/>
              <a:cxnLst/>
              <a:rect r="r" b="b" t="t" l="l"/>
              <a:pathLst>
                <a:path h="1106680" w="7227062">
                  <a:moveTo>
                    <a:pt x="16891" y="0"/>
                  </a:moveTo>
                  <a:lnTo>
                    <a:pt x="7210172" y="0"/>
                  </a:lnTo>
                  <a:cubicBezTo>
                    <a:pt x="7219569" y="0"/>
                    <a:pt x="7227062" y="7620"/>
                    <a:pt x="7227062" y="16891"/>
                  </a:cubicBezTo>
                  <a:lnTo>
                    <a:pt x="7227062" y="1089787"/>
                  </a:lnTo>
                  <a:cubicBezTo>
                    <a:pt x="7227062" y="1099185"/>
                    <a:pt x="7219442" y="1106678"/>
                    <a:pt x="7210172"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7210172" y="1072896"/>
                  </a:lnTo>
                  <a:lnTo>
                    <a:pt x="7210172" y="1089787"/>
                  </a:lnTo>
                  <a:lnTo>
                    <a:pt x="7193280" y="1089787"/>
                  </a:lnTo>
                  <a:lnTo>
                    <a:pt x="7193280" y="16891"/>
                  </a:lnTo>
                  <a:lnTo>
                    <a:pt x="7210172" y="16891"/>
                  </a:lnTo>
                  <a:lnTo>
                    <a:pt x="7210172" y="33909"/>
                  </a:lnTo>
                  <a:lnTo>
                    <a:pt x="16891" y="33909"/>
                  </a:lnTo>
                  <a:close/>
                </a:path>
              </a:pathLst>
            </a:custGeom>
            <a:solidFill>
              <a:srgbClr val="E05B4B"/>
            </a:solidFill>
          </p:spPr>
        </p:sp>
      </p:grpSp>
      <p:grpSp>
        <p:nvGrpSpPr>
          <p:cNvPr name="Group 160" id="160"/>
          <p:cNvGrpSpPr/>
          <p:nvPr/>
        </p:nvGrpSpPr>
        <p:grpSpPr>
          <a:xfrm rot="0">
            <a:off x="12070080" y="8247888"/>
            <a:ext cx="5212080" cy="804672"/>
            <a:chOff x="0" y="0"/>
            <a:chExt cx="6949440" cy="1072896"/>
          </a:xfrm>
        </p:grpSpPr>
        <p:sp>
          <p:nvSpPr>
            <p:cNvPr name="Freeform 161" id="161"/>
            <p:cNvSpPr/>
            <p:nvPr/>
          </p:nvSpPr>
          <p:spPr>
            <a:xfrm flipH="false" flipV="false" rot="0">
              <a:off x="0" y="0"/>
              <a:ext cx="6949440" cy="1072896"/>
            </a:xfrm>
            <a:custGeom>
              <a:avLst/>
              <a:gdLst/>
              <a:ahLst/>
              <a:cxnLst/>
              <a:rect r="r" b="b" t="t" l="l"/>
              <a:pathLst>
                <a:path h="1072896" w="6949440">
                  <a:moveTo>
                    <a:pt x="0" y="0"/>
                  </a:moveTo>
                  <a:lnTo>
                    <a:pt x="6949440" y="0"/>
                  </a:lnTo>
                  <a:lnTo>
                    <a:pt x="6949440" y="1072896"/>
                  </a:lnTo>
                  <a:lnTo>
                    <a:pt x="0" y="1072896"/>
                  </a:lnTo>
                  <a:close/>
                </a:path>
              </a:pathLst>
            </a:custGeom>
            <a:blipFill>
              <a:blip r:embed="rId3">
                <a:alphaModFix amt="0"/>
              </a:blip>
              <a:stretch>
                <a:fillRect l="0" t="-76209" r="0" b="-76209"/>
              </a:stretch>
            </a:blipFill>
          </p:spPr>
        </p:sp>
        <p:sp>
          <p:nvSpPr>
            <p:cNvPr name="TextBox 162" id="162"/>
            <p:cNvSpPr txBox="true"/>
            <p:nvPr/>
          </p:nvSpPr>
          <p:spPr>
            <a:xfrm>
              <a:off x="0" y="-38100"/>
              <a:ext cx="6949440" cy="1110996"/>
            </a:xfrm>
            <a:prstGeom prst="rect">
              <a:avLst/>
            </a:prstGeom>
          </p:spPr>
          <p:txBody>
            <a:bodyPr anchor="ctr" rtlCol="false" tIns="0" lIns="0" bIns="0" rIns="0"/>
            <a:lstStyle/>
            <a:p>
              <a:pPr algn="ctr">
                <a:lnSpc>
                  <a:spcPts val="2280"/>
                </a:lnSpc>
              </a:pPr>
              <a:r>
                <a:rPr lang="en-US" sz="1900" b="true">
                  <a:solidFill>
                    <a:srgbClr val="FFFFFF"/>
                  </a:solidFill>
                  <a:latin typeface="Calibri (MS) Bold"/>
                  <a:ea typeface="Calibri (MS) Bold"/>
                  <a:cs typeface="Calibri (MS) Bold"/>
                  <a:sym typeface="Calibri (MS) Bold"/>
                </a:rPr>
                <a:t>Output Projection (embed_dim)</a:t>
              </a:r>
            </a:p>
          </p:txBody>
        </p:sp>
      </p:grpSp>
      <p:grpSp>
        <p:nvGrpSpPr>
          <p:cNvPr name="Group 163" id="163"/>
          <p:cNvGrpSpPr/>
          <p:nvPr/>
        </p:nvGrpSpPr>
        <p:grpSpPr>
          <a:xfrm rot="0">
            <a:off x="12070080" y="9326880"/>
            <a:ext cx="5303520" cy="402336"/>
            <a:chOff x="0" y="0"/>
            <a:chExt cx="7071360" cy="536448"/>
          </a:xfrm>
        </p:grpSpPr>
        <p:sp>
          <p:nvSpPr>
            <p:cNvPr name="Freeform 164" id="164"/>
            <p:cNvSpPr/>
            <p:nvPr/>
          </p:nvSpPr>
          <p:spPr>
            <a:xfrm flipH="false" flipV="false" rot="0">
              <a:off x="0" y="0"/>
              <a:ext cx="7071360" cy="536448"/>
            </a:xfrm>
            <a:custGeom>
              <a:avLst/>
              <a:gdLst/>
              <a:ahLst/>
              <a:cxnLst/>
              <a:rect r="r" b="b" t="t" l="l"/>
              <a:pathLst>
                <a:path h="536448" w="7071360">
                  <a:moveTo>
                    <a:pt x="0" y="0"/>
                  </a:moveTo>
                  <a:lnTo>
                    <a:pt x="7071360" y="0"/>
                  </a:lnTo>
                  <a:lnTo>
                    <a:pt x="7071360" y="536448"/>
                  </a:lnTo>
                  <a:lnTo>
                    <a:pt x="0" y="536448"/>
                  </a:lnTo>
                  <a:close/>
                </a:path>
              </a:pathLst>
            </a:custGeom>
            <a:blipFill>
              <a:blip r:embed="rId3">
                <a:alphaModFix amt="0"/>
              </a:blip>
              <a:stretch>
                <a:fillRect l="0" t="-206848" r="0" b="-206848"/>
              </a:stretch>
            </a:blipFill>
          </p:spPr>
        </p:sp>
        <p:sp>
          <p:nvSpPr>
            <p:cNvPr name="TextBox 165" id="165"/>
            <p:cNvSpPr txBox="true"/>
            <p:nvPr/>
          </p:nvSpPr>
          <p:spPr>
            <a:xfrm>
              <a:off x="0" y="-38100"/>
              <a:ext cx="7071360" cy="574548"/>
            </a:xfrm>
            <a:prstGeom prst="rect">
              <a:avLst/>
            </a:prstGeom>
          </p:spPr>
          <p:txBody>
            <a:bodyPr anchor="ctr" rtlCol="false" tIns="0" lIns="0" bIns="0" rIns="0"/>
            <a:lstStyle/>
            <a:p>
              <a:pPr algn="ctr">
                <a:lnSpc>
                  <a:spcPts val="2039"/>
                </a:lnSpc>
              </a:pPr>
              <a:r>
                <a:rPr lang="en-US" sz="1700">
                  <a:solidFill>
                    <a:srgbClr val="94A3B8"/>
                  </a:solidFill>
                  <a:latin typeface="Calibri (MS)"/>
                  <a:ea typeface="Calibri (MS)"/>
                  <a:cs typeface="Calibri (MS)"/>
                  <a:sym typeface="Calibri (MS)"/>
                </a:rPr>
                <a:t>× L layers (L=6 typical)</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059669"/>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059669"/>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05 · TRAINING</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Direction 5: Training Strategy Improvements</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462527"/>
            <a:ext cx="16837657" cy="3761737"/>
            <a:chOff x="0" y="0"/>
            <a:chExt cx="22450209" cy="5015649"/>
          </a:xfrm>
        </p:grpSpPr>
        <p:sp>
          <p:nvSpPr>
            <p:cNvPr name="Freeform 14" id="14"/>
            <p:cNvSpPr/>
            <p:nvPr/>
          </p:nvSpPr>
          <p:spPr>
            <a:xfrm flipH="false" flipV="false" rot="0">
              <a:off x="8509" y="8509"/>
              <a:ext cx="22433281" cy="4998720"/>
            </a:xfrm>
            <a:custGeom>
              <a:avLst/>
              <a:gdLst/>
              <a:ahLst/>
              <a:cxnLst/>
              <a:rect r="r" b="b" t="t" l="l"/>
              <a:pathLst>
                <a:path h="4998720" w="22433281">
                  <a:moveTo>
                    <a:pt x="0" y="0"/>
                  </a:moveTo>
                  <a:lnTo>
                    <a:pt x="22433281" y="0"/>
                  </a:lnTo>
                  <a:lnTo>
                    <a:pt x="22433281" y="4998720"/>
                  </a:lnTo>
                  <a:lnTo>
                    <a:pt x="0" y="4998720"/>
                  </a:lnTo>
                  <a:close/>
                </a:path>
              </a:pathLst>
            </a:custGeom>
            <a:solidFill>
              <a:srgbClr val="FFFFFF"/>
            </a:solidFill>
          </p:spPr>
        </p:sp>
        <p:sp>
          <p:nvSpPr>
            <p:cNvPr name="Freeform 15" id="15"/>
            <p:cNvSpPr/>
            <p:nvPr/>
          </p:nvSpPr>
          <p:spPr>
            <a:xfrm flipH="false" flipV="false" rot="0">
              <a:off x="0" y="0"/>
              <a:ext cx="22450298" cy="5015738"/>
            </a:xfrm>
            <a:custGeom>
              <a:avLst/>
              <a:gdLst/>
              <a:ahLst/>
              <a:cxnLst/>
              <a:rect r="r" b="b" t="t" l="l"/>
              <a:pathLst>
                <a:path h="5015738" w="22450298">
                  <a:moveTo>
                    <a:pt x="8509" y="0"/>
                  </a:moveTo>
                  <a:lnTo>
                    <a:pt x="22441790" y="0"/>
                  </a:lnTo>
                  <a:cubicBezTo>
                    <a:pt x="22446489" y="0"/>
                    <a:pt x="22450298" y="3810"/>
                    <a:pt x="22450298" y="8509"/>
                  </a:cubicBezTo>
                  <a:lnTo>
                    <a:pt x="22450298" y="5007229"/>
                  </a:lnTo>
                  <a:cubicBezTo>
                    <a:pt x="22450298" y="5011928"/>
                    <a:pt x="22446489" y="5015738"/>
                    <a:pt x="22441790" y="5015738"/>
                  </a:cubicBezTo>
                  <a:lnTo>
                    <a:pt x="8509" y="5015738"/>
                  </a:lnTo>
                  <a:cubicBezTo>
                    <a:pt x="3810" y="5015738"/>
                    <a:pt x="0" y="5011928"/>
                    <a:pt x="0" y="5007229"/>
                  </a:cubicBezTo>
                  <a:lnTo>
                    <a:pt x="0" y="8509"/>
                  </a:lnTo>
                  <a:cubicBezTo>
                    <a:pt x="0" y="3810"/>
                    <a:pt x="3810" y="0"/>
                    <a:pt x="8509" y="0"/>
                  </a:cubicBezTo>
                  <a:moveTo>
                    <a:pt x="8509" y="16891"/>
                  </a:moveTo>
                  <a:lnTo>
                    <a:pt x="8509" y="8509"/>
                  </a:lnTo>
                  <a:lnTo>
                    <a:pt x="17018" y="8509"/>
                  </a:lnTo>
                  <a:lnTo>
                    <a:pt x="17018" y="5007229"/>
                  </a:lnTo>
                  <a:lnTo>
                    <a:pt x="8509" y="5007229"/>
                  </a:lnTo>
                  <a:lnTo>
                    <a:pt x="8509" y="4998720"/>
                  </a:lnTo>
                  <a:lnTo>
                    <a:pt x="22441790" y="4998720"/>
                  </a:lnTo>
                  <a:lnTo>
                    <a:pt x="22441790" y="5007229"/>
                  </a:lnTo>
                  <a:lnTo>
                    <a:pt x="22433280" y="5007229"/>
                  </a:lnTo>
                  <a:lnTo>
                    <a:pt x="22433280" y="8509"/>
                  </a:lnTo>
                  <a:lnTo>
                    <a:pt x="22441790" y="8509"/>
                  </a:lnTo>
                  <a:lnTo>
                    <a:pt x="22441790" y="17018"/>
                  </a:lnTo>
                  <a:lnTo>
                    <a:pt x="8509" y="17018"/>
                  </a:lnTo>
                  <a:close/>
                </a:path>
              </a:pathLst>
            </a:custGeom>
            <a:solidFill>
              <a:srgbClr val="E2E8F0"/>
            </a:solidFill>
          </p:spPr>
        </p:sp>
      </p:grpSp>
      <p:grpSp>
        <p:nvGrpSpPr>
          <p:cNvPr name="Group 16" id="16"/>
          <p:cNvGrpSpPr/>
          <p:nvPr/>
        </p:nvGrpSpPr>
        <p:grpSpPr>
          <a:xfrm rot="0">
            <a:off x="718823" y="2456183"/>
            <a:ext cx="16850363" cy="830075"/>
            <a:chOff x="0" y="0"/>
            <a:chExt cx="22467151" cy="1106767"/>
          </a:xfrm>
        </p:grpSpPr>
        <p:sp>
          <p:nvSpPr>
            <p:cNvPr name="Freeform 17" id="17"/>
            <p:cNvSpPr/>
            <p:nvPr/>
          </p:nvSpPr>
          <p:spPr>
            <a:xfrm flipH="false" flipV="false" rot="0">
              <a:off x="16891" y="16891"/>
              <a:ext cx="22433280" cy="1072896"/>
            </a:xfrm>
            <a:custGeom>
              <a:avLst/>
              <a:gdLst/>
              <a:ahLst/>
              <a:cxnLst/>
              <a:rect r="r" b="b" t="t" l="l"/>
              <a:pathLst>
                <a:path h="1072896" w="22433280">
                  <a:moveTo>
                    <a:pt x="0" y="0"/>
                  </a:moveTo>
                  <a:lnTo>
                    <a:pt x="22433280" y="0"/>
                  </a:lnTo>
                  <a:lnTo>
                    <a:pt x="22433280" y="1072896"/>
                  </a:lnTo>
                  <a:lnTo>
                    <a:pt x="0" y="1072896"/>
                  </a:lnTo>
                  <a:close/>
                </a:path>
              </a:pathLst>
            </a:custGeom>
            <a:solidFill>
              <a:srgbClr val="059669"/>
            </a:solidFill>
          </p:spPr>
        </p:sp>
        <p:sp>
          <p:nvSpPr>
            <p:cNvPr name="Freeform 18" id="18"/>
            <p:cNvSpPr/>
            <p:nvPr/>
          </p:nvSpPr>
          <p:spPr>
            <a:xfrm flipH="false" flipV="false" rot="0">
              <a:off x="0" y="0"/>
              <a:ext cx="22467063" cy="1106680"/>
            </a:xfrm>
            <a:custGeom>
              <a:avLst/>
              <a:gdLst/>
              <a:ahLst/>
              <a:cxnLst/>
              <a:rect r="r" b="b" t="t" l="l"/>
              <a:pathLst>
                <a:path h="1106680" w="22467063">
                  <a:moveTo>
                    <a:pt x="16891" y="0"/>
                  </a:moveTo>
                  <a:lnTo>
                    <a:pt x="22450171" y="0"/>
                  </a:lnTo>
                  <a:cubicBezTo>
                    <a:pt x="22459569" y="0"/>
                    <a:pt x="22467063" y="7620"/>
                    <a:pt x="22467063" y="16891"/>
                  </a:cubicBezTo>
                  <a:lnTo>
                    <a:pt x="22467063" y="1089787"/>
                  </a:lnTo>
                  <a:cubicBezTo>
                    <a:pt x="22467063" y="1099185"/>
                    <a:pt x="22459443" y="1106678"/>
                    <a:pt x="22450171" y="1106678"/>
                  </a:cubicBezTo>
                  <a:lnTo>
                    <a:pt x="16891" y="1106678"/>
                  </a:lnTo>
                  <a:cubicBezTo>
                    <a:pt x="7620" y="1106805"/>
                    <a:pt x="0" y="1099185"/>
                    <a:pt x="0" y="1089787"/>
                  </a:cubicBezTo>
                  <a:lnTo>
                    <a:pt x="0" y="16891"/>
                  </a:lnTo>
                  <a:cubicBezTo>
                    <a:pt x="0" y="7620"/>
                    <a:pt x="7620" y="0"/>
                    <a:pt x="16891" y="0"/>
                  </a:cubicBezTo>
                  <a:moveTo>
                    <a:pt x="16891" y="33909"/>
                  </a:moveTo>
                  <a:lnTo>
                    <a:pt x="16891" y="16891"/>
                  </a:lnTo>
                  <a:lnTo>
                    <a:pt x="33909" y="16891"/>
                  </a:lnTo>
                  <a:lnTo>
                    <a:pt x="33909" y="1089787"/>
                  </a:lnTo>
                  <a:lnTo>
                    <a:pt x="16891" y="1089787"/>
                  </a:lnTo>
                  <a:lnTo>
                    <a:pt x="16891" y="1072896"/>
                  </a:lnTo>
                  <a:lnTo>
                    <a:pt x="22450171" y="1072896"/>
                  </a:lnTo>
                  <a:lnTo>
                    <a:pt x="22450171" y="1089787"/>
                  </a:lnTo>
                  <a:lnTo>
                    <a:pt x="22433280" y="1089787"/>
                  </a:lnTo>
                  <a:lnTo>
                    <a:pt x="22433280" y="16891"/>
                  </a:lnTo>
                  <a:lnTo>
                    <a:pt x="22450171" y="16891"/>
                  </a:lnTo>
                  <a:lnTo>
                    <a:pt x="22450171" y="33909"/>
                  </a:lnTo>
                  <a:lnTo>
                    <a:pt x="16891" y="33909"/>
                  </a:lnTo>
                  <a:close/>
                </a:path>
              </a:pathLst>
            </a:custGeom>
            <a:solidFill>
              <a:srgbClr val="059669"/>
            </a:solidFill>
          </p:spPr>
        </p:sp>
      </p:grpSp>
      <p:grpSp>
        <p:nvGrpSpPr>
          <p:cNvPr name="Group 19" id="19"/>
          <p:cNvGrpSpPr/>
          <p:nvPr/>
        </p:nvGrpSpPr>
        <p:grpSpPr>
          <a:xfrm rot="0">
            <a:off x="1005840" y="2468880"/>
            <a:ext cx="16459200" cy="804672"/>
            <a:chOff x="0" y="0"/>
            <a:chExt cx="21945600" cy="1072896"/>
          </a:xfrm>
        </p:grpSpPr>
        <p:sp>
          <p:nvSpPr>
            <p:cNvPr name="Freeform 20" id="20"/>
            <p:cNvSpPr/>
            <p:nvPr/>
          </p:nvSpPr>
          <p:spPr>
            <a:xfrm flipH="false" flipV="false" rot="0">
              <a:off x="0" y="0"/>
              <a:ext cx="21945600" cy="1072896"/>
            </a:xfrm>
            <a:custGeom>
              <a:avLst/>
              <a:gdLst/>
              <a:ahLst/>
              <a:cxnLst/>
              <a:rect r="r" b="b" t="t" l="l"/>
              <a:pathLst>
                <a:path h="1072896" w="21945600">
                  <a:moveTo>
                    <a:pt x="0" y="0"/>
                  </a:moveTo>
                  <a:lnTo>
                    <a:pt x="21945600" y="0"/>
                  </a:lnTo>
                  <a:lnTo>
                    <a:pt x="21945600" y="1072896"/>
                  </a:lnTo>
                  <a:lnTo>
                    <a:pt x="0" y="1072896"/>
                  </a:lnTo>
                  <a:close/>
                </a:path>
              </a:pathLst>
            </a:custGeom>
            <a:blipFill>
              <a:blip r:embed="rId3">
                <a:alphaModFix amt="0"/>
              </a:blip>
              <a:stretch>
                <a:fillRect l="0" t="-348557" r="0" b="-348557"/>
              </a:stretch>
            </a:blipFill>
          </p:spPr>
        </p:sp>
        <p:sp>
          <p:nvSpPr>
            <p:cNvPr name="TextBox 21" id="21"/>
            <p:cNvSpPr txBox="true"/>
            <p:nvPr/>
          </p:nvSpPr>
          <p:spPr>
            <a:xfrm>
              <a:off x="0" y="-57150"/>
              <a:ext cx="21945600" cy="1130046"/>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SCST: Self-Critical Sequence Training  ★ HIGHEST EXPECTED GAIN (+5 to +10 CIDEr)</a:t>
              </a:r>
            </a:p>
          </p:txBody>
        </p:sp>
      </p:grpSp>
      <p:grpSp>
        <p:nvGrpSpPr>
          <p:cNvPr name="Group 22" id="22"/>
          <p:cNvGrpSpPr/>
          <p:nvPr/>
        </p:nvGrpSpPr>
        <p:grpSpPr>
          <a:xfrm rot="0">
            <a:off x="1005840" y="3364992"/>
            <a:ext cx="5303520" cy="475488"/>
            <a:chOff x="0" y="0"/>
            <a:chExt cx="7071360" cy="633984"/>
          </a:xfrm>
        </p:grpSpPr>
        <p:sp>
          <p:nvSpPr>
            <p:cNvPr name="Freeform 23" id="23"/>
            <p:cNvSpPr/>
            <p:nvPr/>
          </p:nvSpPr>
          <p:spPr>
            <a:xfrm flipH="false" flipV="false" rot="0">
              <a:off x="0" y="0"/>
              <a:ext cx="7071360" cy="633984"/>
            </a:xfrm>
            <a:custGeom>
              <a:avLst/>
              <a:gdLst/>
              <a:ahLst/>
              <a:cxnLst/>
              <a:rect r="r" b="b" t="t" l="l"/>
              <a:pathLst>
                <a:path h="633984" w="7071360">
                  <a:moveTo>
                    <a:pt x="0" y="0"/>
                  </a:moveTo>
                  <a:lnTo>
                    <a:pt x="7071360" y="0"/>
                  </a:lnTo>
                  <a:lnTo>
                    <a:pt x="7071360" y="633984"/>
                  </a:lnTo>
                  <a:lnTo>
                    <a:pt x="0" y="633984"/>
                  </a:lnTo>
                  <a:close/>
                </a:path>
              </a:pathLst>
            </a:custGeom>
            <a:blipFill>
              <a:blip r:embed="rId3">
                <a:alphaModFix amt="0"/>
              </a:blip>
              <a:stretch>
                <a:fillRect l="0" t="-167333" r="0" b="-167333"/>
              </a:stretch>
            </a:blipFill>
          </p:spPr>
        </p:sp>
        <p:sp>
          <p:nvSpPr>
            <p:cNvPr name="TextBox 24" id="24"/>
            <p:cNvSpPr txBox="true"/>
            <p:nvPr/>
          </p:nvSpPr>
          <p:spPr>
            <a:xfrm>
              <a:off x="0" y="-47625"/>
              <a:ext cx="7071360" cy="681609"/>
            </a:xfrm>
            <a:prstGeom prst="rect">
              <a:avLst/>
            </a:prstGeom>
          </p:spPr>
          <p:txBody>
            <a:bodyPr anchor="ctr" rtlCol="false" tIns="0" lIns="0" bIns="0" rIns="0"/>
            <a:lstStyle/>
            <a:p>
              <a:pPr algn="l">
                <a:lnSpc>
                  <a:spcPts val="2520"/>
                </a:lnSpc>
              </a:pPr>
              <a:r>
                <a:rPr lang="en-US" sz="2100" b="true">
                  <a:solidFill>
                    <a:srgbClr val="E05B4B"/>
                  </a:solidFill>
                  <a:latin typeface="Calibri (MS) Bold"/>
                  <a:ea typeface="Calibri (MS) Bold"/>
                  <a:cs typeface="Calibri (MS) Bold"/>
                  <a:sym typeface="Calibri (MS) Bold"/>
                </a:rPr>
                <a:t>The problem</a:t>
              </a:r>
            </a:p>
          </p:txBody>
        </p:sp>
      </p:grpSp>
      <p:grpSp>
        <p:nvGrpSpPr>
          <p:cNvPr name="Group 25" id="25"/>
          <p:cNvGrpSpPr/>
          <p:nvPr/>
        </p:nvGrpSpPr>
        <p:grpSpPr>
          <a:xfrm rot="0">
            <a:off x="1005840" y="3895344"/>
            <a:ext cx="5303520" cy="2231136"/>
            <a:chOff x="0" y="0"/>
            <a:chExt cx="7071360" cy="2974848"/>
          </a:xfrm>
        </p:grpSpPr>
        <p:sp>
          <p:nvSpPr>
            <p:cNvPr name="Freeform 26" id="26"/>
            <p:cNvSpPr/>
            <p:nvPr/>
          </p:nvSpPr>
          <p:spPr>
            <a:xfrm flipH="false" flipV="false" rot="0">
              <a:off x="0" y="0"/>
              <a:ext cx="7071360" cy="2974848"/>
            </a:xfrm>
            <a:custGeom>
              <a:avLst/>
              <a:gdLst/>
              <a:ahLst/>
              <a:cxnLst/>
              <a:rect r="r" b="b" t="t" l="l"/>
              <a:pathLst>
                <a:path h="2974848" w="7071360">
                  <a:moveTo>
                    <a:pt x="0" y="0"/>
                  </a:moveTo>
                  <a:lnTo>
                    <a:pt x="7071360" y="0"/>
                  </a:lnTo>
                  <a:lnTo>
                    <a:pt x="7071360" y="2974848"/>
                  </a:lnTo>
                  <a:lnTo>
                    <a:pt x="0" y="2974848"/>
                  </a:lnTo>
                  <a:close/>
                </a:path>
              </a:pathLst>
            </a:custGeom>
            <a:blipFill>
              <a:blip r:embed="rId3">
                <a:alphaModFix amt="0"/>
              </a:blip>
              <a:stretch>
                <a:fillRect l="-3975" t="0" r="-3975" b="0"/>
              </a:stretch>
            </a:blipFill>
          </p:spPr>
        </p:sp>
        <p:sp>
          <p:nvSpPr>
            <p:cNvPr name="TextBox 27" id="27"/>
            <p:cNvSpPr txBox="true"/>
            <p:nvPr/>
          </p:nvSpPr>
          <p:spPr>
            <a:xfrm>
              <a:off x="0" y="-38100"/>
              <a:ext cx="7071360" cy="301294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Current training: minimise SmoothL1(predicted_embed, glove_target). This is a proxy objective. Evaluation measures CIDEr, BLEU, METEOR — completely different functions. The model optimises one thing but is judged on another.</a:t>
              </a:r>
            </a:p>
          </p:txBody>
        </p:sp>
      </p:grpSp>
      <p:grpSp>
        <p:nvGrpSpPr>
          <p:cNvPr name="Group 28" id="28"/>
          <p:cNvGrpSpPr/>
          <p:nvPr/>
        </p:nvGrpSpPr>
        <p:grpSpPr>
          <a:xfrm rot="0">
            <a:off x="6583680" y="3364992"/>
            <a:ext cx="5303520" cy="475488"/>
            <a:chOff x="0" y="0"/>
            <a:chExt cx="7071360" cy="633984"/>
          </a:xfrm>
        </p:grpSpPr>
        <p:sp>
          <p:nvSpPr>
            <p:cNvPr name="Freeform 29" id="29"/>
            <p:cNvSpPr/>
            <p:nvPr/>
          </p:nvSpPr>
          <p:spPr>
            <a:xfrm flipH="false" flipV="false" rot="0">
              <a:off x="0" y="0"/>
              <a:ext cx="7071360" cy="633984"/>
            </a:xfrm>
            <a:custGeom>
              <a:avLst/>
              <a:gdLst/>
              <a:ahLst/>
              <a:cxnLst/>
              <a:rect r="r" b="b" t="t" l="l"/>
              <a:pathLst>
                <a:path h="633984" w="7071360">
                  <a:moveTo>
                    <a:pt x="0" y="0"/>
                  </a:moveTo>
                  <a:lnTo>
                    <a:pt x="7071360" y="0"/>
                  </a:lnTo>
                  <a:lnTo>
                    <a:pt x="7071360" y="633984"/>
                  </a:lnTo>
                  <a:lnTo>
                    <a:pt x="0" y="633984"/>
                  </a:lnTo>
                  <a:close/>
                </a:path>
              </a:pathLst>
            </a:custGeom>
            <a:blipFill>
              <a:blip r:embed="rId3">
                <a:alphaModFix amt="0"/>
              </a:blip>
              <a:stretch>
                <a:fillRect l="0" t="-167333" r="0" b="-167333"/>
              </a:stretch>
            </a:blipFill>
          </p:spPr>
        </p:sp>
        <p:sp>
          <p:nvSpPr>
            <p:cNvPr name="TextBox 30" id="30"/>
            <p:cNvSpPr txBox="true"/>
            <p:nvPr/>
          </p:nvSpPr>
          <p:spPr>
            <a:xfrm>
              <a:off x="0" y="-47625"/>
              <a:ext cx="7071360" cy="681609"/>
            </a:xfrm>
            <a:prstGeom prst="rect">
              <a:avLst/>
            </a:prstGeom>
          </p:spPr>
          <p:txBody>
            <a:bodyPr anchor="ctr" rtlCol="false" tIns="0" lIns="0" bIns="0" rIns="0"/>
            <a:lstStyle/>
            <a:p>
              <a:pPr algn="l">
                <a:lnSpc>
                  <a:spcPts val="2520"/>
                </a:lnSpc>
              </a:pPr>
              <a:r>
                <a:rPr lang="en-US" sz="2100" b="true">
                  <a:solidFill>
                    <a:srgbClr val="0D9488"/>
                  </a:solidFill>
                  <a:latin typeface="Calibri (MS) Bold"/>
                  <a:ea typeface="Calibri (MS) Bold"/>
                  <a:cs typeface="Calibri (MS) Bold"/>
                  <a:sym typeface="Calibri (MS) Bold"/>
                </a:rPr>
                <a:t>How SCST works</a:t>
              </a:r>
            </a:p>
          </p:txBody>
        </p:sp>
      </p:grpSp>
      <p:grpSp>
        <p:nvGrpSpPr>
          <p:cNvPr name="Group 31" id="31"/>
          <p:cNvGrpSpPr/>
          <p:nvPr/>
        </p:nvGrpSpPr>
        <p:grpSpPr>
          <a:xfrm rot="0">
            <a:off x="6583680" y="3895344"/>
            <a:ext cx="5303520" cy="2231136"/>
            <a:chOff x="0" y="0"/>
            <a:chExt cx="7071360" cy="2974848"/>
          </a:xfrm>
        </p:grpSpPr>
        <p:sp>
          <p:nvSpPr>
            <p:cNvPr name="Freeform 32" id="32"/>
            <p:cNvSpPr/>
            <p:nvPr/>
          </p:nvSpPr>
          <p:spPr>
            <a:xfrm flipH="false" flipV="false" rot="0">
              <a:off x="0" y="0"/>
              <a:ext cx="7071360" cy="2974848"/>
            </a:xfrm>
            <a:custGeom>
              <a:avLst/>
              <a:gdLst/>
              <a:ahLst/>
              <a:cxnLst/>
              <a:rect r="r" b="b" t="t" l="l"/>
              <a:pathLst>
                <a:path h="2974848" w="7071360">
                  <a:moveTo>
                    <a:pt x="0" y="0"/>
                  </a:moveTo>
                  <a:lnTo>
                    <a:pt x="7071360" y="0"/>
                  </a:lnTo>
                  <a:lnTo>
                    <a:pt x="7071360" y="2974848"/>
                  </a:lnTo>
                  <a:lnTo>
                    <a:pt x="0" y="2974848"/>
                  </a:lnTo>
                  <a:close/>
                </a:path>
              </a:pathLst>
            </a:custGeom>
            <a:blipFill>
              <a:blip r:embed="rId3">
                <a:alphaModFix amt="0"/>
              </a:blip>
              <a:stretch>
                <a:fillRect l="-3975" t="0" r="-3975" b="0"/>
              </a:stretch>
            </a:blipFill>
          </p:spPr>
        </p:sp>
        <p:sp>
          <p:nvSpPr>
            <p:cNvPr name="TextBox 33" id="33"/>
            <p:cNvSpPr txBox="true"/>
            <p:nvPr/>
          </p:nvSpPr>
          <p:spPr>
            <a:xfrm>
              <a:off x="0" y="-38100"/>
              <a:ext cx="7071360" cy="301294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SCST uses REINFORCE to directly maximise CIDEr:</a:t>
              </a:r>
            </a:p>
            <a:p>
              <a:pPr algn="l">
                <a:lnSpc>
                  <a:spcPts val="2280"/>
                </a:lnSpc>
              </a:pPr>
              <a:r>
                <a:rPr lang="en-US" sz="1900">
                  <a:solidFill>
                    <a:srgbClr val="1E293B"/>
                  </a:solidFill>
                  <a:latin typeface="Calibri (MS)"/>
                  <a:ea typeface="Calibri (MS)"/>
                  <a:cs typeface="Calibri (MS)"/>
                  <a:sym typeface="Calibri (MS)"/>
                </a:rPr>
                <a:t>1. Generate two captions: greedy (baseline) and sampled (candidate)</a:t>
              </a:r>
            </a:p>
            <a:p>
              <a:pPr algn="l">
                <a:lnSpc>
                  <a:spcPts val="2280"/>
                </a:lnSpc>
              </a:pPr>
              <a:r>
                <a:rPr lang="en-US" sz="1900">
                  <a:solidFill>
                    <a:srgbClr val="1E293B"/>
                  </a:solidFill>
                  <a:latin typeface="Calibri (MS)"/>
                  <a:ea typeface="Calibri (MS)"/>
                  <a:cs typeface="Calibri (MS)"/>
                  <a:sym typeface="Calibri (MS)"/>
                </a:rPr>
                <a:t>2. Compute CIDEr reward for each against references</a:t>
              </a:r>
            </a:p>
            <a:p>
              <a:pPr algn="l">
                <a:lnSpc>
                  <a:spcPts val="2280"/>
                </a:lnSpc>
              </a:pPr>
              <a:r>
                <a:rPr lang="en-US" sz="1900">
                  <a:solidFill>
                    <a:srgbClr val="1E293B"/>
                  </a:solidFill>
                  <a:latin typeface="Calibri (MS)"/>
                  <a:ea typeface="Calibri (MS)"/>
                  <a:cs typeface="Calibri (MS)"/>
                  <a:sym typeface="Calibri (MS)"/>
                </a:rPr>
                <a:t>3. Policy gradient: reward = CIDEr(sampled) − CIDEr(greedy)</a:t>
              </a:r>
            </a:p>
            <a:p>
              <a:pPr algn="l">
                <a:lnSpc>
                  <a:spcPts val="2280"/>
                </a:lnSpc>
              </a:pPr>
              <a:r>
                <a:rPr lang="en-US" sz="1900">
                  <a:solidFill>
                    <a:srgbClr val="1E293B"/>
                  </a:solidFill>
                  <a:latin typeface="Calibri (MS)"/>
                  <a:ea typeface="Calibri (MS)"/>
                  <a:cs typeface="Calibri (MS)"/>
                  <a:sym typeface="Calibri (MS)"/>
                </a:rPr>
                <a:t>4. Backpropagate reward — no differentiability needed</a:t>
              </a:r>
            </a:p>
          </p:txBody>
        </p:sp>
      </p:grpSp>
      <p:grpSp>
        <p:nvGrpSpPr>
          <p:cNvPr name="Group 34" id="34"/>
          <p:cNvGrpSpPr/>
          <p:nvPr/>
        </p:nvGrpSpPr>
        <p:grpSpPr>
          <a:xfrm rot="0">
            <a:off x="12161520" y="3364992"/>
            <a:ext cx="5303520" cy="475488"/>
            <a:chOff x="0" y="0"/>
            <a:chExt cx="7071360" cy="633984"/>
          </a:xfrm>
        </p:grpSpPr>
        <p:sp>
          <p:nvSpPr>
            <p:cNvPr name="Freeform 35" id="35"/>
            <p:cNvSpPr/>
            <p:nvPr/>
          </p:nvSpPr>
          <p:spPr>
            <a:xfrm flipH="false" flipV="false" rot="0">
              <a:off x="0" y="0"/>
              <a:ext cx="7071360" cy="633984"/>
            </a:xfrm>
            <a:custGeom>
              <a:avLst/>
              <a:gdLst/>
              <a:ahLst/>
              <a:cxnLst/>
              <a:rect r="r" b="b" t="t" l="l"/>
              <a:pathLst>
                <a:path h="633984" w="7071360">
                  <a:moveTo>
                    <a:pt x="0" y="0"/>
                  </a:moveTo>
                  <a:lnTo>
                    <a:pt x="7071360" y="0"/>
                  </a:lnTo>
                  <a:lnTo>
                    <a:pt x="7071360" y="633984"/>
                  </a:lnTo>
                  <a:lnTo>
                    <a:pt x="0" y="633984"/>
                  </a:lnTo>
                  <a:close/>
                </a:path>
              </a:pathLst>
            </a:custGeom>
            <a:blipFill>
              <a:blip r:embed="rId3">
                <a:alphaModFix amt="0"/>
              </a:blip>
              <a:stretch>
                <a:fillRect l="0" t="-167333" r="0" b="-167333"/>
              </a:stretch>
            </a:blipFill>
          </p:spPr>
        </p:sp>
        <p:sp>
          <p:nvSpPr>
            <p:cNvPr name="TextBox 36" id="36"/>
            <p:cNvSpPr txBox="true"/>
            <p:nvPr/>
          </p:nvSpPr>
          <p:spPr>
            <a:xfrm>
              <a:off x="0" y="-47625"/>
              <a:ext cx="7071360" cy="681609"/>
            </a:xfrm>
            <a:prstGeom prst="rect">
              <a:avLst/>
            </a:prstGeom>
          </p:spPr>
          <p:txBody>
            <a:bodyPr anchor="ctr" rtlCol="false" tIns="0" lIns="0" bIns="0" rIns="0"/>
            <a:lstStyle/>
            <a:p>
              <a:pPr algn="l">
                <a:lnSpc>
                  <a:spcPts val="2520"/>
                </a:lnSpc>
              </a:pPr>
              <a:r>
                <a:rPr lang="en-US" sz="2100" b="true">
                  <a:solidFill>
                    <a:srgbClr val="7C3AED"/>
                  </a:solidFill>
                  <a:latin typeface="Calibri (MS) Bold"/>
                  <a:ea typeface="Calibri (MS) Bold"/>
                  <a:cs typeface="Calibri (MS) Bold"/>
                  <a:sym typeface="Calibri (MS) Bold"/>
                </a:rPr>
                <a:t>Why baseline=greedy</a:t>
              </a:r>
            </a:p>
          </p:txBody>
        </p:sp>
      </p:grpSp>
      <p:grpSp>
        <p:nvGrpSpPr>
          <p:cNvPr name="Group 37" id="37"/>
          <p:cNvGrpSpPr/>
          <p:nvPr/>
        </p:nvGrpSpPr>
        <p:grpSpPr>
          <a:xfrm rot="0">
            <a:off x="12161520" y="3895344"/>
            <a:ext cx="5303520" cy="2231136"/>
            <a:chOff x="0" y="0"/>
            <a:chExt cx="7071360" cy="2974848"/>
          </a:xfrm>
        </p:grpSpPr>
        <p:sp>
          <p:nvSpPr>
            <p:cNvPr name="Freeform 38" id="38"/>
            <p:cNvSpPr/>
            <p:nvPr/>
          </p:nvSpPr>
          <p:spPr>
            <a:xfrm flipH="false" flipV="false" rot="0">
              <a:off x="0" y="0"/>
              <a:ext cx="7071360" cy="2974848"/>
            </a:xfrm>
            <a:custGeom>
              <a:avLst/>
              <a:gdLst/>
              <a:ahLst/>
              <a:cxnLst/>
              <a:rect r="r" b="b" t="t" l="l"/>
              <a:pathLst>
                <a:path h="2974848" w="7071360">
                  <a:moveTo>
                    <a:pt x="0" y="0"/>
                  </a:moveTo>
                  <a:lnTo>
                    <a:pt x="7071360" y="0"/>
                  </a:lnTo>
                  <a:lnTo>
                    <a:pt x="7071360" y="2974848"/>
                  </a:lnTo>
                  <a:lnTo>
                    <a:pt x="0" y="2974848"/>
                  </a:lnTo>
                  <a:close/>
                </a:path>
              </a:pathLst>
            </a:custGeom>
            <a:blipFill>
              <a:blip r:embed="rId3">
                <a:alphaModFix amt="0"/>
              </a:blip>
              <a:stretch>
                <a:fillRect l="-3975" t="0" r="-3975" b="0"/>
              </a:stretch>
            </a:blipFill>
          </p:spPr>
        </p:sp>
        <p:sp>
          <p:nvSpPr>
            <p:cNvPr name="TextBox 39" id="39"/>
            <p:cNvSpPr txBox="true"/>
            <p:nvPr/>
          </p:nvSpPr>
          <p:spPr>
            <a:xfrm>
              <a:off x="0" y="-38100"/>
              <a:ext cx="7071360" cy="301294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'Self-critical' means the model's own greedy output is the baseline. This is variance-reduction: only update if the sampled caption is BETTER than what greedy would have generated. Stable training, no separate baseline network needed.</a:t>
              </a:r>
            </a:p>
          </p:txBody>
        </p:sp>
      </p:grpSp>
      <p:grpSp>
        <p:nvGrpSpPr>
          <p:cNvPr name="Group 40" id="40"/>
          <p:cNvGrpSpPr/>
          <p:nvPr/>
        </p:nvGrpSpPr>
        <p:grpSpPr>
          <a:xfrm rot="0">
            <a:off x="725167" y="6094724"/>
            <a:ext cx="8242297" cy="2390137"/>
            <a:chOff x="0" y="0"/>
            <a:chExt cx="10989729" cy="3186849"/>
          </a:xfrm>
        </p:grpSpPr>
        <p:sp>
          <p:nvSpPr>
            <p:cNvPr name="Freeform 41" id="41"/>
            <p:cNvSpPr/>
            <p:nvPr/>
          </p:nvSpPr>
          <p:spPr>
            <a:xfrm flipH="false" flipV="false" rot="0">
              <a:off x="8509" y="8509"/>
              <a:ext cx="10972800" cy="3169920"/>
            </a:xfrm>
            <a:custGeom>
              <a:avLst/>
              <a:gdLst/>
              <a:ahLst/>
              <a:cxnLst/>
              <a:rect r="r" b="b" t="t" l="l"/>
              <a:pathLst>
                <a:path h="3169920" w="10972800">
                  <a:moveTo>
                    <a:pt x="0" y="0"/>
                  </a:moveTo>
                  <a:lnTo>
                    <a:pt x="10972800" y="0"/>
                  </a:lnTo>
                  <a:lnTo>
                    <a:pt x="10972800" y="3169920"/>
                  </a:lnTo>
                  <a:lnTo>
                    <a:pt x="0" y="3169920"/>
                  </a:lnTo>
                  <a:close/>
                </a:path>
              </a:pathLst>
            </a:custGeom>
            <a:solidFill>
              <a:srgbClr val="FFFFFF"/>
            </a:solidFill>
          </p:spPr>
        </p:sp>
        <p:sp>
          <p:nvSpPr>
            <p:cNvPr name="Freeform 42" id="42"/>
            <p:cNvSpPr/>
            <p:nvPr/>
          </p:nvSpPr>
          <p:spPr>
            <a:xfrm flipH="false" flipV="false" rot="0">
              <a:off x="0" y="0"/>
              <a:ext cx="10989818" cy="3186938"/>
            </a:xfrm>
            <a:custGeom>
              <a:avLst/>
              <a:gdLst/>
              <a:ahLst/>
              <a:cxnLst/>
              <a:rect r="r" b="b" t="t" l="l"/>
              <a:pathLst>
                <a:path h="3186938" w="10989818">
                  <a:moveTo>
                    <a:pt x="8509" y="0"/>
                  </a:moveTo>
                  <a:lnTo>
                    <a:pt x="10981309" y="0"/>
                  </a:lnTo>
                  <a:cubicBezTo>
                    <a:pt x="10986008" y="0"/>
                    <a:pt x="10989818" y="3810"/>
                    <a:pt x="10989818" y="8509"/>
                  </a:cubicBezTo>
                  <a:lnTo>
                    <a:pt x="10989818" y="3178429"/>
                  </a:lnTo>
                  <a:cubicBezTo>
                    <a:pt x="10989818" y="3183128"/>
                    <a:pt x="10986008" y="3186938"/>
                    <a:pt x="1098130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10981309" y="3169920"/>
                  </a:lnTo>
                  <a:lnTo>
                    <a:pt x="10981309" y="3178429"/>
                  </a:lnTo>
                  <a:lnTo>
                    <a:pt x="10972800" y="3178429"/>
                  </a:lnTo>
                  <a:lnTo>
                    <a:pt x="10972800" y="8509"/>
                  </a:lnTo>
                  <a:lnTo>
                    <a:pt x="10981309" y="8509"/>
                  </a:lnTo>
                  <a:lnTo>
                    <a:pt x="10981309" y="17018"/>
                  </a:lnTo>
                  <a:lnTo>
                    <a:pt x="8509" y="17018"/>
                  </a:lnTo>
                  <a:close/>
                </a:path>
              </a:pathLst>
            </a:custGeom>
            <a:solidFill>
              <a:srgbClr val="E2E8F0"/>
            </a:solidFill>
          </p:spPr>
        </p:sp>
      </p:grpSp>
      <p:grpSp>
        <p:nvGrpSpPr>
          <p:cNvPr name="Group 43" id="43"/>
          <p:cNvGrpSpPr/>
          <p:nvPr/>
        </p:nvGrpSpPr>
        <p:grpSpPr>
          <a:xfrm rot="0">
            <a:off x="718823" y="6088380"/>
            <a:ext cx="135131" cy="2402843"/>
            <a:chOff x="0" y="0"/>
            <a:chExt cx="180175" cy="3203791"/>
          </a:xfrm>
        </p:grpSpPr>
        <p:sp>
          <p:nvSpPr>
            <p:cNvPr name="Freeform 44" id="44"/>
            <p:cNvSpPr/>
            <p:nvPr/>
          </p:nvSpPr>
          <p:spPr>
            <a:xfrm flipH="false" flipV="false" rot="0">
              <a:off x="16891" y="16891"/>
              <a:ext cx="146304" cy="3169920"/>
            </a:xfrm>
            <a:custGeom>
              <a:avLst/>
              <a:gdLst/>
              <a:ahLst/>
              <a:cxnLst/>
              <a:rect r="r" b="b" t="t" l="l"/>
              <a:pathLst>
                <a:path h="3169920" w="146304">
                  <a:moveTo>
                    <a:pt x="0" y="0"/>
                  </a:moveTo>
                  <a:lnTo>
                    <a:pt x="146304" y="0"/>
                  </a:lnTo>
                  <a:lnTo>
                    <a:pt x="146304" y="3169920"/>
                  </a:lnTo>
                  <a:lnTo>
                    <a:pt x="0" y="3169920"/>
                  </a:lnTo>
                  <a:close/>
                </a:path>
              </a:pathLst>
            </a:custGeom>
            <a:solidFill>
              <a:srgbClr val="7C3AED"/>
            </a:solidFill>
          </p:spPr>
        </p:sp>
        <p:sp>
          <p:nvSpPr>
            <p:cNvPr name="Freeform 45" id="45"/>
            <p:cNvSpPr/>
            <p:nvPr/>
          </p:nvSpPr>
          <p:spPr>
            <a:xfrm flipH="false" flipV="false" rot="0">
              <a:off x="0" y="0"/>
              <a:ext cx="180086" cy="3203702"/>
            </a:xfrm>
            <a:custGeom>
              <a:avLst/>
              <a:gdLst/>
              <a:ahLst/>
              <a:cxnLst/>
              <a:rect r="r" b="b" t="t" l="l"/>
              <a:pathLst>
                <a:path h="3203702" w="180086">
                  <a:moveTo>
                    <a:pt x="16891" y="0"/>
                  </a:moveTo>
                  <a:lnTo>
                    <a:pt x="163195" y="0"/>
                  </a:lnTo>
                  <a:cubicBezTo>
                    <a:pt x="172593" y="0"/>
                    <a:pt x="180086" y="7620"/>
                    <a:pt x="180086" y="16891"/>
                  </a:cubicBezTo>
                  <a:lnTo>
                    <a:pt x="180086" y="3186811"/>
                  </a:lnTo>
                  <a:cubicBezTo>
                    <a:pt x="180086" y="3196209"/>
                    <a:pt x="172466" y="3203702"/>
                    <a:pt x="163195"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63195" y="3169920"/>
                  </a:lnTo>
                  <a:lnTo>
                    <a:pt x="163195" y="3186811"/>
                  </a:lnTo>
                  <a:lnTo>
                    <a:pt x="146304" y="3186811"/>
                  </a:lnTo>
                  <a:lnTo>
                    <a:pt x="146304" y="16891"/>
                  </a:lnTo>
                  <a:lnTo>
                    <a:pt x="163195" y="16891"/>
                  </a:lnTo>
                  <a:lnTo>
                    <a:pt x="163195" y="33909"/>
                  </a:lnTo>
                  <a:lnTo>
                    <a:pt x="16891" y="33909"/>
                  </a:lnTo>
                  <a:close/>
                </a:path>
              </a:pathLst>
            </a:custGeom>
            <a:solidFill>
              <a:srgbClr val="7C3AED"/>
            </a:solidFill>
          </p:spPr>
        </p:sp>
      </p:grpSp>
      <p:grpSp>
        <p:nvGrpSpPr>
          <p:cNvPr name="Group 46" id="46"/>
          <p:cNvGrpSpPr/>
          <p:nvPr/>
        </p:nvGrpSpPr>
        <p:grpSpPr>
          <a:xfrm rot="0">
            <a:off x="1060704" y="6192517"/>
            <a:ext cx="7680960" cy="512064"/>
            <a:chOff x="0" y="0"/>
            <a:chExt cx="10241280" cy="682752"/>
          </a:xfrm>
        </p:grpSpPr>
        <p:sp>
          <p:nvSpPr>
            <p:cNvPr name="Freeform 47" id="47"/>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48" id="48"/>
            <p:cNvSpPr txBox="true"/>
            <p:nvPr/>
          </p:nvSpPr>
          <p:spPr>
            <a:xfrm>
              <a:off x="0" y="-47625"/>
              <a:ext cx="10241280" cy="730377"/>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Contrastive V_global Alignment (InfoNCE)</a:t>
              </a:r>
            </a:p>
          </p:txBody>
        </p:sp>
      </p:grpSp>
      <p:grpSp>
        <p:nvGrpSpPr>
          <p:cNvPr name="Group 49" id="49"/>
          <p:cNvGrpSpPr/>
          <p:nvPr/>
        </p:nvGrpSpPr>
        <p:grpSpPr>
          <a:xfrm rot="0">
            <a:off x="1060704" y="6759445"/>
            <a:ext cx="7680960" cy="1591056"/>
            <a:chOff x="0" y="0"/>
            <a:chExt cx="10241280" cy="2121408"/>
          </a:xfrm>
        </p:grpSpPr>
        <p:sp>
          <p:nvSpPr>
            <p:cNvPr name="Freeform 50" id="50"/>
            <p:cNvSpPr/>
            <p:nvPr/>
          </p:nvSpPr>
          <p:spPr>
            <a:xfrm flipH="false" flipV="false" rot="0">
              <a:off x="0" y="0"/>
              <a:ext cx="10241280" cy="2121408"/>
            </a:xfrm>
            <a:custGeom>
              <a:avLst/>
              <a:gdLst/>
              <a:ahLst/>
              <a:cxnLst/>
              <a:rect r="r" b="b" t="t" l="l"/>
              <a:pathLst>
                <a:path h="2121408" w="10241280">
                  <a:moveTo>
                    <a:pt x="0" y="0"/>
                  </a:moveTo>
                  <a:lnTo>
                    <a:pt x="10241280" y="0"/>
                  </a:lnTo>
                  <a:lnTo>
                    <a:pt x="10241280" y="2121408"/>
                  </a:lnTo>
                  <a:lnTo>
                    <a:pt x="0" y="2121408"/>
                  </a:lnTo>
                  <a:close/>
                </a:path>
              </a:pathLst>
            </a:custGeom>
            <a:blipFill>
              <a:blip r:embed="rId3">
                <a:alphaModFix amt="0"/>
              </a:blip>
              <a:stretch>
                <a:fillRect l="0" t="-44065" r="0" b="-44065"/>
              </a:stretch>
            </a:blipFill>
          </p:spPr>
        </p:sp>
        <p:sp>
          <p:nvSpPr>
            <p:cNvPr name="TextBox 51" id="51"/>
            <p:cNvSpPr txBox="true"/>
            <p:nvPr/>
          </p:nvSpPr>
          <p:spPr>
            <a:xfrm>
              <a:off x="0" y="-38100"/>
              <a:ext cx="10241280" cy="215950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Replace fine-tuning's SmoothL1 with InfoNCE contrastive loss:</a:t>
              </a:r>
            </a:p>
            <a:p>
              <a:pPr algn="l">
                <a:lnSpc>
                  <a:spcPts val="2280"/>
                </a:lnSpc>
              </a:pPr>
              <a:r>
                <a:rPr lang="en-US" sz="1900">
                  <a:solidFill>
                    <a:srgbClr val="1E293B"/>
                  </a:solidFill>
                  <a:latin typeface="Calibri (MS)"/>
                  <a:ea typeface="Calibri (MS)"/>
                  <a:cs typeface="Calibri (MS)"/>
                  <a:sym typeface="Calibri (MS)"/>
                </a:rPr>
                <a:t>  L = -log [ exp(sim(v,t)/τ) / Σ_k exp(sim(v,t_k)/τ) ]</a:t>
              </a:r>
            </a:p>
            <a:p>
              <a:pPr algn="l">
                <a:lnSpc>
                  <a:spcPts val="2280"/>
                </a:lnSpc>
              </a:pPr>
              <a:r>
                <a:rPr lang="en-US" sz="1900">
                  <a:solidFill>
                    <a:srgbClr val="1E293B"/>
                  </a:solidFill>
                  <a:latin typeface="Calibri (MS)"/>
                  <a:ea typeface="Calibri (MS)"/>
                  <a:cs typeface="Calibri (MS)"/>
                  <a:sym typeface="Calibri (MS)"/>
                </a:rPr>
                <a:t>Pulls matched image-text pairs together, pushes non-matched pairs apart within the batch. This is the CLIP training objective — produces much better-calibrated cross-modal embeddings than MSE-style regression.</a:t>
              </a:r>
            </a:p>
          </p:txBody>
        </p:sp>
      </p:grpSp>
      <p:grpSp>
        <p:nvGrpSpPr>
          <p:cNvPr name="Group 52" id="52"/>
          <p:cNvGrpSpPr/>
          <p:nvPr/>
        </p:nvGrpSpPr>
        <p:grpSpPr>
          <a:xfrm rot="0">
            <a:off x="725167" y="8655044"/>
            <a:ext cx="8242297" cy="1750057"/>
            <a:chOff x="0" y="0"/>
            <a:chExt cx="10989729" cy="2333409"/>
          </a:xfrm>
        </p:grpSpPr>
        <p:sp>
          <p:nvSpPr>
            <p:cNvPr name="Freeform 53" id="53"/>
            <p:cNvSpPr/>
            <p:nvPr/>
          </p:nvSpPr>
          <p:spPr>
            <a:xfrm flipH="false" flipV="false" rot="0">
              <a:off x="8509" y="8509"/>
              <a:ext cx="10972800" cy="2316480"/>
            </a:xfrm>
            <a:custGeom>
              <a:avLst/>
              <a:gdLst/>
              <a:ahLst/>
              <a:cxnLst/>
              <a:rect r="r" b="b" t="t" l="l"/>
              <a:pathLst>
                <a:path h="2316480" w="10972800">
                  <a:moveTo>
                    <a:pt x="0" y="0"/>
                  </a:moveTo>
                  <a:lnTo>
                    <a:pt x="10972800" y="0"/>
                  </a:lnTo>
                  <a:lnTo>
                    <a:pt x="10972800" y="2316480"/>
                  </a:lnTo>
                  <a:lnTo>
                    <a:pt x="0" y="2316480"/>
                  </a:lnTo>
                  <a:close/>
                </a:path>
              </a:pathLst>
            </a:custGeom>
            <a:solidFill>
              <a:srgbClr val="FFFFFF"/>
            </a:solidFill>
          </p:spPr>
        </p:sp>
        <p:sp>
          <p:nvSpPr>
            <p:cNvPr name="Freeform 54" id="54"/>
            <p:cNvSpPr/>
            <p:nvPr/>
          </p:nvSpPr>
          <p:spPr>
            <a:xfrm flipH="false" flipV="false" rot="0">
              <a:off x="0" y="0"/>
              <a:ext cx="10989818" cy="2333498"/>
            </a:xfrm>
            <a:custGeom>
              <a:avLst/>
              <a:gdLst/>
              <a:ahLst/>
              <a:cxnLst/>
              <a:rect r="r" b="b" t="t" l="l"/>
              <a:pathLst>
                <a:path h="2333498" w="10989818">
                  <a:moveTo>
                    <a:pt x="8509" y="0"/>
                  </a:moveTo>
                  <a:lnTo>
                    <a:pt x="10981309" y="0"/>
                  </a:lnTo>
                  <a:cubicBezTo>
                    <a:pt x="10986008" y="0"/>
                    <a:pt x="10989818" y="3810"/>
                    <a:pt x="10989818" y="8509"/>
                  </a:cubicBezTo>
                  <a:lnTo>
                    <a:pt x="10989818" y="2324989"/>
                  </a:lnTo>
                  <a:cubicBezTo>
                    <a:pt x="10989818" y="2329688"/>
                    <a:pt x="10986008" y="2333498"/>
                    <a:pt x="10981309" y="2333498"/>
                  </a:cubicBezTo>
                  <a:lnTo>
                    <a:pt x="8509" y="2333498"/>
                  </a:lnTo>
                  <a:cubicBezTo>
                    <a:pt x="3810" y="2333498"/>
                    <a:pt x="0" y="2329688"/>
                    <a:pt x="0" y="2324989"/>
                  </a:cubicBezTo>
                  <a:lnTo>
                    <a:pt x="0" y="8509"/>
                  </a:lnTo>
                  <a:cubicBezTo>
                    <a:pt x="0" y="3810"/>
                    <a:pt x="3810" y="0"/>
                    <a:pt x="8509" y="0"/>
                  </a:cubicBezTo>
                  <a:moveTo>
                    <a:pt x="8509" y="16891"/>
                  </a:moveTo>
                  <a:lnTo>
                    <a:pt x="8509" y="8509"/>
                  </a:lnTo>
                  <a:lnTo>
                    <a:pt x="17018" y="8509"/>
                  </a:lnTo>
                  <a:lnTo>
                    <a:pt x="17018" y="2324989"/>
                  </a:lnTo>
                  <a:lnTo>
                    <a:pt x="8509" y="2324989"/>
                  </a:lnTo>
                  <a:lnTo>
                    <a:pt x="8509" y="2316480"/>
                  </a:lnTo>
                  <a:lnTo>
                    <a:pt x="10981309" y="2316480"/>
                  </a:lnTo>
                  <a:lnTo>
                    <a:pt x="10981309" y="2324989"/>
                  </a:lnTo>
                  <a:lnTo>
                    <a:pt x="10972800" y="2324989"/>
                  </a:lnTo>
                  <a:lnTo>
                    <a:pt x="10972800" y="8509"/>
                  </a:lnTo>
                  <a:lnTo>
                    <a:pt x="10981309" y="8509"/>
                  </a:lnTo>
                  <a:lnTo>
                    <a:pt x="10981309" y="17018"/>
                  </a:lnTo>
                  <a:lnTo>
                    <a:pt x="8509" y="17018"/>
                  </a:lnTo>
                  <a:close/>
                </a:path>
              </a:pathLst>
            </a:custGeom>
            <a:solidFill>
              <a:srgbClr val="E2E8F0"/>
            </a:solidFill>
          </p:spPr>
        </p:sp>
      </p:grpSp>
      <p:grpSp>
        <p:nvGrpSpPr>
          <p:cNvPr name="Group 55" id="55"/>
          <p:cNvGrpSpPr/>
          <p:nvPr/>
        </p:nvGrpSpPr>
        <p:grpSpPr>
          <a:xfrm rot="0">
            <a:off x="718823" y="8648700"/>
            <a:ext cx="135131" cy="1762763"/>
            <a:chOff x="0" y="0"/>
            <a:chExt cx="180175" cy="2350351"/>
          </a:xfrm>
        </p:grpSpPr>
        <p:sp>
          <p:nvSpPr>
            <p:cNvPr name="Freeform 56" id="56"/>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D97706"/>
            </a:solidFill>
          </p:spPr>
        </p:sp>
        <p:sp>
          <p:nvSpPr>
            <p:cNvPr name="Freeform 57" id="57"/>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D97706"/>
            </a:solidFill>
          </p:spPr>
        </p:sp>
      </p:grpSp>
      <p:grpSp>
        <p:nvGrpSpPr>
          <p:cNvPr name="Group 58" id="58"/>
          <p:cNvGrpSpPr/>
          <p:nvPr/>
        </p:nvGrpSpPr>
        <p:grpSpPr>
          <a:xfrm rot="0">
            <a:off x="1060704" y="8752837"/>
            <a:ext cx="7680960" cy="512064"/>
            <a:chOff x="0" y="0"/>
            <a:chExt cx="10241280" cy="682752"/>
          </a:xfrm>
        </p:grpSpPr>
        <p:sp>
          <p:nvSpPr>
            <p:cNvPr name="Freeform 59" id="59"/>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60" id="60"/>
            <p:cNvSpPr txBox="true"/>
            <p:nvPr/>
          </p:nvSpPr>
          <p:spPr>
            <a:xfrm>
              <a:off x="0" y="-47625"/>
              <a:ext cx="10241280" cy="730377"/>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Feature-Level Mixup Augmentation</a:t>
              </a:r>
            </a:p>
          </p:txBody>
        </p:sp>
      </p:grpSp>
      <p:grpSp>
        <p:nvGrpSpPr>
          <p:cNvPr name="Group 61" id="61"/>
          <p:cNvGrpSpPr/>
          <p:nvPr/>
        </p:nvGrpSpPr>
        <p:grpSpPr>
          <a:xfrm rot="0">
            <a:off x="1060704" y="9319765"/>
            <a:ext cx="7680960" cy="950976"/>
            <a:chOff x="0" y="0"/>
            <a:chExt cx="10241280" cy="1267968"/>
          </a:xfrm>
        </p:grpSpPr>
        <p:sp>
          <p:nvSpPr>
            <p:cNvPr name="Freeform 62" id="62"/>
            <p:cNvSpPr/>
            <p:nvPr/>
          </p:nvSpPr>
          <p:spPr>
            <a:xfrm flipH="false" flipV="false" rot="0">
              <a:off x="0" y="0"/>
              <a:ext cx="10241280" cy="1267968"/>
            </a:xfrm>
            <a:custGeom>
              <a:avLst/>
              <a:gdLst/>
              <a:ahLst/>
              <a:cxnLst/>
              <a:rect r="r" b="b" t="t" l="l"/>
              <a:pathLst>
                <a:path h="1267968" w="10241280">
                  <a:moveTo>
                    <a:pt x="0" y="0"/>
                  </a:moveTo>
                  <a:lnTo>
                    <a:pt x="10241280" y="0"/>
                  </a:lnTo>
                  <a:lnTo>
                    <a:pt x="10241280" y="1267968"/>
                  </a:lnTo>
                  <a:lnTo>
                    <a:pt x="0" y="1267968"/>
                  </a:lnTo>
                  <a:close/>
                </a:path>
              </a:pathLst>
            </a:custGeom>
            <a:blipFill>
              <a:blip r:embed="rId3">
                <a:alphaModFix amt="0"/>
              </a:blip>
              <a:stretch>
                <a:fillRect l="0" t="-107379" r="0" b="-107379"/>
              </a:stretch>
            </a:blipFill>
          </p:spPr>
        </p:sp>
        <p:sp>
          <p:nvSpPr>
            <p:cNvPr name="TextBox 63" id="63"/>
            <p:cNvSpPr txBox="true"/>
            <p:nvPr/>
          </p:nvSpPr>
          <p:spPr>
            <a:xfrm>
              <a:off x="0" y="-38100"/>
              <a:ext cx="10241280" cy="130606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Mix two V_local feature maps: V_mix = λ·V_a + (1−λ)·V_b. Mix their GloVe targets proportionally. Regularises the encoder — especially effective for Sydney-Captions (only 613 images). No extra data required.</a:t>
              </a:r>
            </a:p>
          </p:txBody>
        </p:sp>
      </p:grpSp>
      <p:grpSp>
        <p:nvGrpSpPr>
          <p:cNvPr name="Group 64" id="64"/>
          <p:cNvGrpSpPr/>
          <p:nvPr/>
        </p:nvGrpSpPr>
        <p:grpSpPr>
          <a:xfrm rot="0">
            <a:off x="9320527" y="6094724"/>
            <a:ext cx="8242297" cy="2390137"/>
            <a:chOff x="0" y="0"/>
            <a:chExt cx="10989729" cy="3186849"/>
          </a:xfrm>
        </p:grpSpPr>
        <p:sp>
          <p:nvSpPr>
            <p:cNvPr name="Freeform 65" id="65"/>
            <p:cNvSpPr/>
            <p:nvPr/>
          </p:nvSpPr>
          <p:spPr>
            <a:xfrm flipH="false" flipV="false" rot="0">
              <a:off x="8509" y="8509"/>
              <a:ext cx="10972800" cy="3169920"/>
            </a:xfrm>
            <a:custGeom>
              <a:avLst/>
              <a:gdLst/>
              <a:ahLst/>
              <a:cxnLst/>
              <a:rect r="r" b="b" t="t" l="l"/>
              <a:pathLst>
                <a:path h="3169920" w="10972800">
                  <a:moveTo>
                    <a:pt x="0" y="0"/>
                  </a:moveTo>
                  <a:lnTo>
                    <a:pt x="10972800" y="0"/>
                  </a:lnTo>
                  <a:lnTo>
                    <a:pt x="10972800" y="3169920"/>
                  </a:lnTo>
                  <a:lnTo>
                    <a:pt x="0" y="3169920"/>
                  </a:lnTo>
                  <a:close/>
                </a:path>
              </a:pathLst>
            </a:custGeom>
            <a:solidFill>
              <a:srgbClr val="FFFFFF"/>
            </a:solidFill>
          </p:spPr>
        </p:sp>
        <p:sp>
          <p:nvSpPr>
            <p:cNvPr name="Freeform 66" id="66"/>
            <p:cNvSpPr/>
            <p:nvPr/>
          </p:nvSpPr>
          <p:spPr>
            <a:xfrm flipH="false" flipV="false" rot="0">
              <a:off x="0" y="0"/>
              <a:ext cx="10989818" cy="3186938"/>
            </a:xfrm>
            <a:custGeom>
              <a:avLst/>
              <a:gdLst/>
              <a:ahLst/>
              <a:cxnLst/>
              <a:rect r="r" b="b" t="t" l="l"/>
              <a:pathLst>
                <a:path h="3186938" w="10989818">
                  <a:moveTo>
                    <a:pt x="8509" y="0"/>
                  </a:moveTo>
                  <a:lnTo>
                    <a:pt x="10981309" y="0"/>
                  </a:lnTo>
                  <a:cubicBezTo>
                    <a:pt x="10986008" y="0"/>
                    <a:pt x="10989818" y="3810"/>
                    <a:pt x="10989818" y="8509"/>
                  </a:cubicBezTo>
                  <a:lnTo>
                    <a:pt x="10989818" y="3178429"/>
                  </a:lnTo>
                  <a:cubicBezTo>
                    <a:pt x="10989818" y="3183128"/>
                    <a:pt x="10986008" y="3186938"/>
                    <a:pt x="10981309" y="3186938"/>
                  </a:cubicBezTo>
                  <a:lnTo>
                    <a:pt x="8509" y="3186938"/>
                  </a:lnTo>
                  <a:cubicBezTo>
                    <a:pt x="3810" y="3186938"/>
                    <a:pt x="0" y="3183128"/>
                    <a:pt x="0" y="3178429"/>
                  </a:cubicBezTo>
                  <a:lnTo>
                    <a:pt x="0" y="8509"/>
                  </a:lnTo>
                  <a:cubicBezTo>
                    <a:pt x="0" y="3810"/>
                    <a:pt x="3810" y="0"/>
                    <a:pt x="8509" y="0"/>
                  </a:cubicBezTo>
                  <a:moveTo>
                    <a:pt x="8509" y="16891"/>
                  </a:moveTo>
                  <a:lnTo>
                    <a:pt x="8509" y="8509"/>
                  </a:lnTo>
                  <a:lnTo>
                    <a:pt x="17018" y="8509"/>
                  </a:lnTo>
                  <a:lnTo>
                    <a:pt x="17018" y="3178429"/>
                  </a:lnTo>
                  <a:lnTo>
                    <a:pt x="8509" y="3178429"/>
                  </a:lnTo>
                  <a:lnTo>
                    <a:pt x="8509" y="3169920"/>
                  </a:lnTo>
                  <a:lnTo>
                    <a:pt x="10981309" y="3169920"/>
                  </a:lnTo>
                  <a:lnTo>
                    <a:pt x="10981309" y="3178429"/>
                  </a:lnTo>
                  <a:lnTo>
                    <a:pt x="10972800" y="3178429"/>
                  </a:lnTo>
                  <a:lnTo>
                    <a:pt x="10972800" y="8509"/>
                  </a:lnTo>
                  <a:lnTo>
                    <a:pt x="10981309" y="8509"/>
                  </a:lnTo>
                  <a:lnTo>
                    <a:pt x="10981309" y="17018"/>
                  </a:lnTo>
                  <a:lnTo>
                    <a:pt x="8509" y="17018"/>
                  </a:lnTo>
                  <a:close/>
                </a:path>
              </a:pathLst>
            </a:custGeom>
            <a:solidFill>
              <a:srgbClr val="E2E8F0"/>
            </a:solidFill>
          </p:spPr>
        </p:sp>
      </p:grpSp>
      <p:grpSp>
        <p:nvGrpSpPr>
          <p:cNvPr name="Group 67" id="67"/>
          <p:cNvGrpSpPr/>
          <p:nvPr/>
        </p:nvGrpSpPr>
        <p:grpSpPr>
          <a:xfrm rot="0">
            <a:off x="9314183" y="6088380"/>
            <a:ext cx="135131" cy="2402843"/>
            <a:chOff x="0" y="0"/>
            <a:chExt cx="180175" cy="3203791"/>
          </a:xfrm>
        </p:grpSpPr>
        <p:sp>
          <p:nvSpPr>
            <p:cNvPr name="Freeform 68" id="68"/>
            <p:cNvSpPr/>
            <p:nvPr/>
          </p:nvSpPr>
          <p:spPr>
            <a:xfrm flipH="false" flipV="false" rot="0">
              <a:off x="16891" y="16891"/>
              <a:ext cx="146304" cy="3169920"/>
            </a:xfrm>
            <a:custGeom>
              <a:avLst/>
              <a:gdLst/>
              <a:ahLst/>
              <a:cxnLst/>
              <a:rect r="r" b="b" t="t" l="l"/>
              <a:pathLst>
                <a:path h="3169920" w="146304">
                  <a:moveTo>
                    <a:pt x="0" y="0"/>
                  </a:moveTo>
                  <a:lnTo>
                    <a:pt x="146304" y="0"/>
                  </a:lnTo>
                  <a:lnTo>
                    <a:pt x="146304" y="3169920"/>
                  </a:lnTo>
                  <a:lnTo>
                    <a:pt x="0" y="3169920"/>
                  </a:lnTo>
                  <a:close/>
                </a:path>
              </a:pathLst>
            </a:custGeom>
            <a:solidFill>
              <a:srgbClr val="0D9488"/>
            </a:solidFill>
          </p:spPr>
        </p:sp>
        <p:sp>
          <p:nvSpPr>
            <p:cNvPr name="Freeform 69" id="69"/>
            <p:cNvSpPr/>
            <p:nvPr/>
          </p:nvSpPr>
          <p:spPr>
            <a:xfrm flipH="false" flipV="false" rot="0">
              <a:off x="0" y="0"/>
              <a:ext cx="180086" cy="3203702"/>
            </a:xfrm>
            <a:custGeom>
              <a:avLst/>
              <a:gdLst/>
              <a:ahLst/>
              <a:cxnLst/>
              <a:rect r="r" b="b" t="t" l="l"/>
              <a:pathLst>
                <a:path h="3203702" w="180086">
                  <a:moveTo>
                    <a:pt x="16891" y="0"/>
                  </a:moveTo>
                  <a:lnTo>
                    <a:pt x="163195" y="0"/>
                  </a:lnTo>
                  <a:cubicBezTo>
                    <a:pt x="172593" y="0"/>
                    <a:pt x="180086" y="7620"/>
                    <a:pt x="180086" y="16891"/>
                  </a:cubicBezTo>
                  <a:lnTo>
                    <a:pt x="180086" y="3186811"/>
                  </a:lnTo>
                  <a:cubicBezTo>
                    <a:pt x="180086" y="3196209"/>
                    <a:pt x="172466" y="3203702"/>
                    <a:pt x="163195" y="3203702"/>
                  </a:cubicBezTo>
                  <a:lnTo>
                    <a:pt x="16891" y="3203702"/>
                  </a:lnTo>
                  <a:cubicBezTo>
                    <a:pt x="7493" y="3203702"/>
                    <a:pt x="0" y="3196082"/>
                    <a:pt x="0" y="3186811"/>
                  </a:cubicBezTo>
                  <a:lnTo>
                    <a:pt x="0" y="16891"/>
                  </a:lnTo>
                  <a:cubicBezTo>
                    <a:pt x="0" y="7620"/>
                    <a:pt x="7620" y="0"/>
                    <a:pt x="16891" y="0"/>
                  </a:cubicBezTo>
                  <a:moveTo>
                    <a:pt x="16891" y="33909"/>
                  </a:moveTo>
                  <a:lnTo>
                    <a:pt x="16891" y="16891"/>
                  </a:lnTo>
                  <a:lnTo>
                    <a:pt x="33909" y="16891"/>
                  </a:lnTo>
                  <a:lnTo>
                    <a:pt x="33909" y="3186811"/>
                  </a:lnTo>
                  <a:lnTo>
                    <a:pt x="16891" y="3186811"/>
                  </a:lnTo>
                  <a:lnTo>
                    <a:pt x="16891" y="3169920"/>
                  </a:lnTo>
                  <a:lnTo>
                    <a:pt x="163195" y="3169920"/>
                  </a:lnTo>
                  <a:lnTo>
                    <a:pt x="163195" y="3186811"/>
                  </a:lnTo>
                  <a:lnTo>
                    <a:pt x="146304" y="3186811"/>
                  </a:lnTo>
                  <a:lnTo>
                    <a:pt x="146304" y="16891"/>
                  </a:lnTo>
                  <a:lnTo>
                    <a:pt x="163195" y="16891"/>
                  </a:lnTo>
                  <a:lnTo>
                    <a:pt x="163195" y="33909"/>
                  </a:lnTo>
                  <a:lnTo>
                    <a:pt x="16891" y="33909"/>
                  </a:lnTo>
                  <a:close/>
                </a:path>
              </a:pathLst>
            </a:custGeom>
            <a:solidFill>
              <a:srgbClr val="0D9488"/>
            </a:solidFill>
          </p:spPr>
        </p:sp>
      </p:grpSp>
      <p:grpSp>
        <p:nvGrpSpPr>
          <p:cNvPr name="Group 70" id="70"/>
          <p:cNvGrpSpPr/>
          <p:nvPr/>
        </p:nvGrpSpPr>
        <p:grpSpPr>
          <a:xfrm rot="0">
            <a:off x="9656064" y="6192517"/>
            <a:ext cx="7680960" cy="512064"/>
            <a:chOff x="0" y="0"/>
            <a:chExt cx="10241280" cy="682752"/>
          </a:xfrm>
        </p:grpSpPr>
        <p:sp>
          <p:nvSpPr>
            <p:cNvPr name="Freeform 71" id="71"/>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72" id="72"/>
            <p:cNvSpPr txBox="true"/>
            <p:nvPr/>
          </p:nvSpPr>
          <p:spPr>
            <a:xfrm>
              <a:off x="0" y="-47625"/>
              <a:ext cx="10241280" cy="730377"/>
            </a:xfrm>
            <a:prstGeom prst="rect">
              <a:avLst/>
            </a:prstGeom>
          </p:spPr>
          <p:txBody>
            <a:bodyPr anchor="ctr" rtlCol="false" tIns="0" lIns="0" bIns="0" rIns="0"/>
            <a:lstStyle/>
            <a:p>
              <a:pPr algn="l">
                <a:lnSpc>
                  <a:spcPts val="2640"/>
                </a:lnSpc>
              </a:pPr>
              <a:r>
                <a:rPr lang="en-US" sz="2200" b="true">
                  <a:solidFill>
                    <a:srgbClr val="0D9488"/>
                  </a:solidFill>
                  <a:latin typeface="Calibri (MS) Bold"/>
                  <a:ea typeface="Calibri (MS) Bold"/>
                  <a:cs typeface="Calibri (MS) Bold"/>
                  <a:sym typeface="Calibri (MS) Bold"/>
                </a:rPr>
                <a:t>Joint Multi-Dataset Training</a:t>
              </a:r>
            </a:p>
          </p:txBody>
        </p:sp>
      </p:grpSp>
      <p:grpSp>
        <p:nvGrpSpPr>
          <p:cNvPr name="Group 73" id="73"/>
          <p:cNvGrpSpPr/>
          <p:nvPr/>
        </p:nvGrpSpPr>
        <p:grpSpPr>
          <a:xfrm rot="0">
            <a:off x="9656064" y="6759445"/>
            <a:ext cx="7680960" cy="1591056"/>
            <a:chOff x="0" y="0"/>
            <a:chExt cx="10241280" cy="2121408"/>
          </a:xfrm>
        </p:grpSpPr>
        <p:sp>
          <p:nvSpPr>
            <p:cNvPr name="Freeform 74" id="74"/>
            <p:cNvSpPr/>
            <p:nvPr/>
          </p:nvSpPr>
          <p:spPr>
            <a:xfrm flipH="false" flipV="false" rot="0">
              <a:off x="0" y="0"/>
              <a:ext cx="10241280" cy="2121408"/>
            </a:xfrm>
            <a:custGeom>
              <a:avLst/>
              <a:gdLst/>
              <a:ahLst/>
              <a:cxnLst/>
              <a:rect r="r" b="b" t="t" l="l"/>
              <a:pathLst>
                <a:path h="2121408" w="10241280">
                  <a:moveTo>
                    <a:pt x="0" y="0"/>
                  </a:moveTo>
                  <a:lnTo>
                    <a:pt x="10241280" y="0"/>
                  </a:lnTo>
                  <a:lnTo>
                    <a:pt x="10241280" y="2121408"/>
                  </a:lnTo>
                  <a:lnTo>
                    <a:pt x="0" y="2121408"/>
                  </a:lnTo>
                  <a:close/>
                </a:path>
              </a:pathLst>
            </a:custGeom>
            <a:blipFill>
              <a:blip r:embed="rId3">
                <a:alphaModFix amt="0"/>
              </a:blip>
              <a:stretch>
                <a:fillRect l="0" t="-44065" r="0" b="-44065"/>
              </a:stretch>
            </a:blipFill>
          </p:spPr>
        </p:sp>
        <p:sp>
          <p:nvSpPr>
            <p:cNvPr name="TextBox 75" id="75"/>
            <p:cNvSpPr txBox="true"/>
            <p:nvPr/>
          </p:nvSpPr>
          <p:spPr>
            <a:xfrm>
              <a:off x="0" y="-38100"/>
              <a:ext cx="10241280" cy="215950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Train on RSICD + UCM + Sydney jointly (weighted by dataset size), then fine-tune per dataset. Joint training gives:</a:t>
              </a:r>
            </a:p>
            <a:p>
              <a:pPr algn="l">
                <a:lnSpc>
                  <a:spcPts val="2280"/>
                </a:lnSpc>
              </a:pPr>
              <a:r>
                <a:rPr lang="en-US" sz="1900">
                  <a:solidFill>
                    <a:srgbClr val="1E293B"/>
                  </a:solidFill>
                  <a:latin typeface="Calibri (MS)"/>
                  <a:ea typeface="Calibri (MS)"/>
                  <a:cs typeface="Calibri (MS)"/>
                  <a:sym typeface="Calibri (MS)"/>
                </a:rPr>
                <a:t>• Broader scene vocabulary (30 RSICD + 21 UCM + 7 Sydney scene types)</a:t>
              </a:r>
            </a:p>
            <a:p>
              <a:pPr algn="l">
                <a:lnSpc>
                  <a:spcPts val="2280"/>
                </a:lnSpc>
              </a:pPr>
              <a:r>
                <a:rPr lang="en-US" sz="1900">
                  <a:solidFill>
                    <a:srgbClr val="1E293B"/>
                  </a:solidFill>
                  <a:latin typeface="Calibri (MS)"/>
                  <a:ea typeface="Calibri (MS)"/>
                  <a:cs typeface="Calibri (MS)"/>
                  <a:sym typeface="Calibri (MS)"/>
                </a:rPr>
                <a:t>• Better generalisation for small datasets (Sydney: 613 images)</a:t>
              </a:r>
            </a:p>
            <a:p>
              <a:pPr algn="l">
                <a:lnSpc>
                  <a:spcPts val="2280"/>
                </a:lnSpc>
              </a:pPr>
              <a:r>
                <a:rPr lang="en-US" sz="1900">
                  <a:solidFill>
                    <a:srgbClr val="1E293B"/>
                  </a:solidFill>
                  <a:latin typeface="Calibri (MS)"/>
                  <a:ea typeface="Calibri (MS)"/>
                  <a:cs typeface="Calibri (MS)"/>
                  <a:sym typeface="Calibri (MS)"/>
                </a:rPr>
                <a:t>• Shared encoder weights — lower total compute than 3 separate models</a:t>
              </a:r>
            </a:p>
          </p:txBody>
        </p:sp>
      </p:grpSp>
      <p:grpSp>
        <p:nvGrpSpPr>
          <p:cNvPr name="Group 76" id="76"/>
          <p:cNvGrpSpPr/>
          <p:nvPr/>
        </p:nvGrpSpPr>
        <p:grpSpPr>
          <a:xfrm rot="0">
            <a:off x="9320527" y="8655044"/>
            <a:ext cx="8242297" cy="1750057"/>
            <a:chOff x="0" y="0"/>
            <a:chExt cx="10989729" cy="2333409"/>
          </a:xfrm>
        </p:grpSpPr>
        <p:sp>
          <p:nvSpPr>
            <p:cNvPr name="Freeform 77" id="77"/>
            <p:cNvSpPr/>
            <p:nvPr/>
          </p:nvSpPr>
          <p:spPr>
            <a:xfrm flipH="false" flipV="false" rot="0">
              <a:off x="8509" y="8509"/>
              <a:ext cx="10972800" cy="2316480"/>
            </a:xfrm>
            <a:custGeom>
              <a:avLst/>
              <a:gdLst/>
              <a:ahLst/>
              <a:cxnLst/>
              <a:rect r="r" b="b" t="t" l="l"/>
              <a:pathLst>
                <a:path h="2316480" w="10972800">
                  <a:moveTo>
                    <a:pt x="0" y="0"/>
                  </a:moveTo>
                  <a:lnTo>
                    <a:pt x="10972800" y="0"/>
                  </a:lnTo>
                  <a:lnTo>
                    <a:pt x="10972800" y="2316480"/>
                  </a:lnTo>
                  <a:lnTo>
                    <a:pt x="0" y="2316480"/>
                  </a:lnTo>
                  <a:close/>
                </a:path>
              </a:pathLst>
            </a:custGeom>
            <a:solidFill>
              <a:srgbClr val="D1FAE5"/>
            </a:solidFill>
          </p:spPr>
        </p:sp>
        <p:sp>
          <p:nvSpPr>
            <p:cNvPr name="Freeform 78" id="78"/>
            <p:cNvSpPr/>
            <p:nvPr/>
          </p:nvSpPr>
          <p:spPr>
            <a:xfrm flipH="false" flipV="false" rot="0">
              <a:off x="0" y="0"/>
              <a:ext cx="10989818" cy="2333498"/>
            </a:xfrm>
            <a:custGeom>
              <a:avLst/>
              <a:gdLst/>
              <a:ahLst/>
              <a:cxnLst/>
              <a:rect r="r" b="b" t="t" l="l"/>
              <a:pathLst>
                <a:path h="2333498" w="10989818">
                  <a:moveTo>
                    <a:pt x="8509" y="0"/>
                  </a:moveTo>
                  <a:lnTo>
                    <a:pt x="10981309" y="0"/>
                  </a:lnTo>
                  <a:cubicBezTo>
                    <a:pt x="10986008" y="0"/>
                    <a:pt x="10989818" y="3810"/>
                    <a:pt x="10989818" y="8509"/>
                  </a:cubicBezTo>
                  <a:lnTo>
                    <a:pt x="10989818" y="2324989"/>
                  </a:lnTo>
                  <a:cubicBezTo>
                    <a:pt x="10989818" y="2329688"/>
                    <a:pt x="10986008" y="2333498"/>
                    <a:pt x="10981309" y="2333498"/>
                  </a:cubicBezTo>
                  <a:lnTo>
                    <a:pt x="8509" y="2333498"/>
                  </a:lnTo>
                  <a:cubicBezTo>
                    <a:pt x="3810" y="2333498"/>
                    <a:pt x="0" y="2329688"/>
                    <a:pt x="0" y="2324989"/>
                  </a:cubicBezTo>
                  <a:lnTo>
                    <a:pt x="0" y="8509"/>
                  </a:lnTo>
                  <a:cubicBezTo>
                    <a:pt x="0" y="3810"/>
                    <a:pt x="3810" y="0"/>
                    <a:pt x="8509" y="0"/>
                  </a:cubicBezTo>
                  <a:moveTo>
                    <a:pt x="8509" y="16891"/>
                  </a:moveTo>
                  <a:lnTo>
                    <a:pt x="8509" y="8509"/>
                  </a:lnTo>
                  <a:lnTo>
                    <a:pt x="17018" y="8509"/>
                  </a:lnTo>
                  <a:lnTo>
                    <a:pt x="17018" y="2324989"/>
                  </a:lnTo>
                  <a:lnTo>
                    <a:pt x="8509" y="2324989"/>
                  </a:lnTo>
                  <a:lnTo>
                    <a:pt x="8509" y="2316480"/>
                  </a:lnTo>
                  <a:lnTo>
                    <a:pt x="10981309" y="2316480"/>
                  </a:lnTo>
                  <a:lnTo>
                    <a:pt x="10981309" y="2324989"/>
                  </a:lnTo>
                  <a:lnTo>
                    <a:pt x="10972800" y="2324989"/>
                  </a:lnTo>
                  <a:lnTo>
                    <a:pt x="10972800" y="8509"/>
                  </a:lnTo>
                  <a:lnTo>
                    <a:pt x="10981309" y="8509"/>
                  </a:lnTo>
                  <a:lnTo>
                    <a:pt x="10981309" y="17018"/>
                  </a:lnTo>
                  <a:lnTo>
                    <a:pt x="8509" y="17018"/>
                  </a:lnTo>
                  <a:close/>
                </a:path>
              </a:pathLst>
            </a:custGeom>
            <a:solidFill>
              <a:srgbClr val="E2E8F0"/>
            </a:solidFill>
          </p:spPr>
        </p:sp>
      </p:grpSp>
      <p:grpSp>
        <p:nvGrpSpPr>
          <p:cNvPr name="Group 79" id="79"/>
          <p:cNvGrpSpPr/>
          <p:nvPr/>
        </p:nvGrpSpPr>
        <p:grpSpPr>
          <a:xfrm rot="0">
            <a:off x="9656064" y="8752837"/>
            <a:ext cx="7680960" cy="457200"/>
            <a:chOff x="0" y="0"/>
            <a:chExt cx="10241280" cy="609600"/>
          </a:xfrm>
        </p:grpSpPr>
        <p:sp>
          <p:nvSpPr>
            <p:cNvPr name="Freeform 80" id="80"/>
            <p:cNvSpPr/>
            <p:nvPr/>
          </p:nvSpPr>
          <p:spPr>
            <a:xfrm flipH="false" flipV="false" rot="0">
              <a:off x="0" y="0"/>
              <a:ext cx="10241280" cy="609600"/>
            </a:xfrm>
            <a:custGeom>
              <a:avLst/>
              <a:gdLst/>
              <a:ahLst/>
              <a:cxnLst/>
              <a:rect r="r" b="b" t="t" l="l"/>
              <a:pathLst>
                <a:path h="609600" w="10241280">
                  <a:moveTo>
                    <a:pt x="0" y="0"/>
                  </a:moveTo>
                  <a:lnTo>
                    <a:pt x="10241280" y="0"/>
                  </a:lnTo>
                  <a:lnTo>
                    <a:pt x="10241280" y="609600"/>
                  </a:lnTo>
                  <a:lnTo>
                    <a:pt x="0" y="609600"/>
                  </a:lnTo>
                  <a:close/>
                </a:path>
              </a:pathLst>
            </a:custGeom>
            <a:blipFill>
              <a:blip r:embed="rId3">
                <a:alphaModFix amt="0"/>
              </a:blip>
              <a:stretch>
                <a:fillRect l="0" t="-277348" r="0" b="-277348"/>
              </a:stretch>
            </a:blipFill>
          </p:spPr>
        </p:sp>
        <p:sp>
          <p:nvSpPr>
            <p:cNvPr name="TextBox 81" id="81"/>
            <p:cNvSpPr txBox="true"/>
            <p:nvPr/>
          </p:nvSpPr>
          <p:spPr>
            <a:xfrm>
              <a:off x="0" y="-38100"/>
              <a:ext cx="10241280" cy="647700"/>
            </a:xfrm>
            <a:prstGeom prst="rect">
              <a:avLst/>
            </a:prstGeom>
          </p:spPr>
          <p:txBody>
            <a:bodyPr anchor="ctr" rtlCol="false" tIns="0" lIns="0" bIns="0" rIns="0"/>
            <a:lstStyle/>
            <a:p>
              <a:pPr algn="l">
                <a:lnSpc>
                  <a:spcPts val="2400"/>
                </a:lnSpc>
              </a:pPr>
              <a:r>
                <a:rPr lang="en-US" sz="2000" b="true">
                  <a:solidFill>
                    <a:srgbClr val="059669"/>
                  </a:solidFill>
                  <a:latin typeface="Calibri (MS) Bold"/>
                  <a:ea typeface="Calibri (MS) Bold"/>
                  <a:cs typeface="Calibri (MS) Bold"/>
                  <a:sym typeface="Calibri (MS) Bold"/>
                </a:rPr>
                <a:t>SCST training schedule:</a:t>
              </a:r>
            </a:p>
          </p:txBody>
        </p:sp>
      </p:grpSp>
      <p:grpSp>
        <p:nvGrpSpPr>
          <p:cNvPr name="Group 82" id="82"/>
          <p:cNvGrpSpPr/>
          <p:nvPr/>
        </p:nvGrpSpPr>
        <p:grpSpPr>
          <a:xfrm rot="0">
            <a:off x="9656064" y="9246613"/>
            <a:ext cx="7680960" cy="1060704"/>
            <a:chOff x="0" y="0"/>
            <a:chExt cx="10241280" cy="1414272"/>
          </a:xfrm>
        </p:grpSpPr>
        <p:sp>
          <p:nvSpPr>
            <p:cNvPr name="Freeform 83" id="83"/>
            <p:cNvSpPr/>
            <p:nvPr/>
          </p:nvSpPr>
          <p:spPr>
            <a:xfrm flipH="false" flipV="false" rot="0">
              <a:off x="0" y="0"/>
              <a:ext cx="10241280" cy="1414272"/>
            </a:xfrm>
            <a:custGeom>
              <a:avLst/>
              <a:gdLst/>
              <a:ahLst/>
              <a:cxnLst/>
              <a:rect r="r" b="b" t="t" l="l"/>
              <a:pathLst>
                <a:path h="1414272" w="10241280">
                  <a:moveTo>
                    <a:pt x="0" y="0"/>
                  </a:moveTo>
                  <a:lnTo>
                    <a:pt x="10241280" y="0"/>
                  </a:lnTo>
                  <a:lnTo>
                    <a:pt x="10241280" y="1414272"/>
                  </a:lnTo>
                  <a:lnTo>
                    <a:pt x="0" y="1414272"/>
                  </a:lnTo>
                  <a:close/>
                </a:path>
              </a:pathLst>
            </a:custGeom>
            <a:blipFill>
              <a:blip r:embed="rId3">
                <a:alphaModFix amt="0"/>
              </a:blip>
              <a:stretch>
                <a:fillRect l="0" t="-91098" r="0" b="-91098"/>
              </a:stretch>
            </a:blipFill>
          </p:spPr>
        </p:sp>
        <p:sp>
          <p:nvSpPr>
            <p:cNvPr name="TextBox 84" id="84"/>
            <p:cNvSpPr txBox="true"/>
            <p:nvPr/>
          </p:nvSpPr>
          <p:spPr>
            <a:xfrm>
              <a:off x="0" y="-38100"/>
              <a:ext cx="10241280" cy="1452372"/>
            </a:xfrm>
            <a:prstGeom prst="rect">
              <a:avLst/>
            </a:prstGeom>
          </p:spPr>
          <p:txBody>
            <a:bodyPr anchor="ctr" rtlCol="false" tIns="0" lIns="0" bIns="0" rIns="0"/>
            <a:lstStyle/>
            <a:p>
              <a:pPr algn="l">
                <a:lnSpc>
                  <a:spcPts val="2280"/>
                </a:lnSpc>
              </a:pPr>
              <a:r>
                <a:rPr lang="en-US" sz="1900" b="true">
                  <a:solidFill>
                    <a:srgbClr val="0D9488"/>
                  </a:solidFill>
                  <a:latin typeface="Calibri (MS) Bold"/>
                  <a:ea typeface="Calibri (MS) Bold"/>
                  <a:cs typeface="Calibri (MS) Bold"/>
                  <a:sym typeface="Calibri (MS) Bold"/>
                </a:rPr>
                <a:t>Phase 1 </a:t>
              </a:r>
              <a:r>
                <a:rPr lang="en-US" sz="1900">
                  <a:solidFill>
                    <a:srgbClr val="1E293B"/>
                  </a:solidFill>
                  <a:latin typeface="Calibri (MS)"/>
                  <a:ea typeface="Calibri (MS)"/>
                  <a:cs typeface="Calibri (MS)"/>
                  <a:sym typeface="Calibri (MS)"/>
                </a:rPr>
                <a:t>(5 ep): Fine-tune AMFF with SmoothL1</a:t>
              </a:r>
            </a:p>
            <a:p>
              <a:pPr algn="l">
                <a:lnSpc>
                  <a:spcPts val="2280"/>
                </a:lnSpc>
              </a:pPr>
              <a:r>
                <a:rPr lang="en-US" sz="1900" b="true">
                  <a:solidFill>
                    <a:srgbClr val="7C3AED"/>
                  </a:solidFill>
                  <a:latin typeface="Calibri (MS) Bold"/>
                  <a:ea typeface="Calibri (MS) Bold"/>
                  <a:cs typeface="Calibri (MS) Bold"/>
                  <a:sym typeface="Calibri (MS) Bold"/>
                </a:rPr>
                <a:t>Phase 2 </a:t>
              </a:r>
              <a:r>
                <a:rPr lang="en-US" sz="1900">
                  <a:solidFill>
                    <a:srgbClr val="1E293B"/>
                  </a:solidFill>
                  <a:latin typeface="Calibri (MS)"/>
                  <a:ea typeface="Calibri (MS)"/>
                  <a:cs typeface="Calibri (MS)"/>
                  <a:sym typeface="Calibri (MS)"/>
                </a:rPr>
                <a:t>(20 ep): Full model with L1+L2+GradNorm</a:t>
              </a:r>
            </a:p>
            <a:p>
              <a:pPr algn="l">
                <a:lnSpc>
                  <a:spcPts val="2280"/>
                </a:lnSpc>
              </a:pPr>
              <a:r>
                <a:rPr lang="en-US" sz="1900" b="true">
                  <a:solidFill>
                    <a:srgbClr val="059669"/>
                  </a:solidFill>
                  <a:latin typeface="Calibri (MS) Bold"/>
                  <a:ea typeface="Calibri (MS) Bold"/>
                  <a:cs typeface="Calibri (MS) Bold"/>
                  <a:sym typeface="Calibri (MS) Bold"/>
                </a:rPr>
                <a:t>Phase 3 </a:t>
              </a:r>
              <a:r>
                <a:rPr lang="en-US" sz="1900">
                  <a:solidFill>
                    <a:srgbClr val="1E293B"/>
                  </a:solidFill>
                  <a:latin typeface="Calibri (MS)"/>
                  <a:ea typeface="Calibri (MS)"/>
                  <a:cs typeface="Calibri (MS)"/>
                  <a:sym typeface="Calibri (MS)"/>
                </a:rPr>
                <a:t>(10 ep): SCST fine-tuning with CIDEr reward</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0D9488"/>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0D9488"/>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06 · EVALUATION</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Direction 6: Better Evaluation &amp; Inference</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25167" y="2462527"/>
            <a:ext cx="10711177" cy="4859017"/>
            <a:chOff x="0" y="0"/>
            <a:chExt cx="14281569" cy="6478689"/>
          </a:xfrm>
        </p:grpSpPr>
        <p:sp>
          <p:nvSpPr>
            <p:cNvPr name="Freeform 14" id="14"/>
            <p:cNvSpPr/>
            <p:nvPr/>
          </p:nvSpPr>
          <p:spPr>
            <a:xfrm flipH="false" flipV="false" rot="0">
              <a:off x="8509" y="8509"/>
              <a:ext cx="14264640" cy="6461760"/>
            </a:xfrm>
            <a:custGeom>
              <a:avLst/>
              <a:gdLst/>
              <a:ahLst/>
              <a:cxnLst/>
              <a:rect r="r" b="b" t="t" l="l"/>
              <a:pathLst>
                <a:path h="6461760" w="14264640">
                  <a:moveTo>
                    <a:pt x="0" y="0"/>
                  </a:moveTo>
                  <a:lnTo>
                    <a:pt x="14264640" y="0"/>
                  </a:lnTo>
                  <a:lnTo>
                    <a:pt x="14264640" y="6461760"/>
                  </a:lnTo>
                  <a:lnTo>
                    <a:pt x="0" y="6461760"/>
                  </a:lnTo>
                  <a:close/>
                </a:path>
              </a:pathLst>
            </a:custGeom>
            <a:solidFill>
              <a:srgbClr val="FFFFFF"/>
            </a:solidFill>
          </p:spPr>
        </p:sp>
        <p:sp>
          <p:nvSpPr>
            <p:cNvPr name="Freeform 15" id="15"/>
            <p:cNvSpPr/>
            <p:nvPr/>
          </p:nvSpPr>
          <p:spPr>
            <a:xfrm flipH="false" flipV="false" rot="0">
              <a:off x="0" y="0"/>
              <a:ext cx="14281657" cy="6478778"/>
            </a:xfrm>
            <a:custGeom>
              <a:avLst/>
              <a:gdLst/>
              <a:ahLst/>
              <a:cxnLst/>
              <a:rect r="r" b="b" t="t" l="l"/>
              <a:pathLst>
                <a:path h="6478778" w="14281657">
                  <a:moveTo>
                    <a:pt x="8509" y="0"/>
                  </a:moveTo>
                  <a:lnTo>
                    <a:pt x="14273149" y="0"/>
                  </a:lnTo>
                  <a:cubicBezTo>
                    <a:pt x="14277848" y="0"/>
                    <a:pt x="14281657" y="3810"/>
                    <a:pt x="14281657" y="8509"/>
                  </a:cubicBezTo>
                  <a:lnTo>
                    <a:pt x="14281657" y="6470269"/>
                  </a:lnTo>
                  <a:cubicBezTo>
                    <a:pt x="14281657" y="6474968"/>
                    <a:pt x="14277848" y="6478778"/>
                    <a:pt x="14273149" y="6478778"/>
                  </a:cubicBezTo>
                  <a:lnTo>
                    <a:pt x="8509" y="6478778"/>
                  </a:lnTo>
                  <a:cubicBezTo>
                    <a:pt x="3810" y="6478778"/>
                    <a:pt x="0" y="6474968"/>
                    <a:pt x="0" y="6470269"/>
                  </a:cubicBezTo>
                  <a:lnTo>
                    <a:pt x="0" y="8509"/>
                  </a:lnTo>
                  <a:cubicBezTo>
                    <a:pt x="0" y="3810"/>
                    <a:pt x="3810" y="0"/>
                    <a:pt x="8509" y="0"/>
                  </a:cubicBezTo>
                  <a:moveTo>
                    <a:pt x="8509" y="16891"/>
                  </a:moveTo>
                  <a:lnTo>
                    <a:pt x="8509" y="8509"/>
                  </a:lnTo>
                  <a:lnTo>
                    <a:pt x="17018" y="8509"/>
                  </a:lnTo>
                  <a:lnTo>
                    <a:pt x="17018" y="6470269"/>
                  </a:lnTo>
                  <a:lnTo>
                    <a:pt x="8509" y="6470269"/>
                  </a:lnTo>
                  <a:lnTo>
                    <a:pt x="8509" y="6461760"/>
                  </a:lnTo>
                  <a:lnTo>
                    <a:pt x="14273149" y="6461760"/>
                  </a:lnTo>
                  <a:lnTo>
                    <a:pt x="14273149" y="6470269"/>
                  </a:lnTo>
                  <a:lnTo>
                    <a:pt x="14264639" y="6470269"/>
                  </a:lnTo>
                  <a:lnTo>
                    <a:pt x="14264639" y="8509"/>
                  </a:lnTo>
                  <a:lnTo>
                    <a:pt x="14273149" y="8509"/>
                  </a:lnTo>
                  <a:lnTo>
                    <a:pt x="14273149" y="17018"/>
                  </a:lnTo>
                  <a:lnTo>
                    <a:pt x="8509" y="17018"/>
                  </a:lnTo>
                  <a:close/>
                </a:path>
              </a:pathLst>
            </a:custGeom>
            <a:solidFill>
              <a:srgbClr val="E2E8F0"/>
            </a:solidFill>
          </p:spPr>
        </p:sp>
      </p:grpSp>
      <p:grpSp>
        <p:nvGrpSpPr>
          <p:cNvPr name="Group 16" id="16"/>
          <p:cNvGrpSpPr/>
          <p:nvPr/>
        </p:nvGrpSpPr>
        <p:grpSpPr>
          <a:xfrm rot="0">
            <a:off x="718823" y="2456183"/>
            <a:ext cx="10723883" cy="793499"/>
            <a:chOff x="0" y="0"/>
            <a:chExt cx="14298511" cy="1057999"/>
          </a:xfrm>
        </p:grpSpPr>
        <p:sp>
          <p:nvSpPr>
            <p:cNvPr name="Freeform 17" id="17"/>
            <p:cNvSpPr/>
            <p:nvPr/>
          </p:nvSpPr>
          <p:spPr>
            <a:xfrm flipH="false" flipV="false" rot="0">
              <a:off x="16891" y="16891"/>
              <a:ext cx="14264639" cy="1024128"/>
            </a:xfrm>
            <a:custGeom>
              <a:avLst/>
              <a:gdLst/>
              <a:ahLst/>
              <a:cxnLst/>
              <a:rect r="r" b="b" t="t" l="l"/>
              <a:pathLst>
                <a:path h="1024128" w="14264639">
                  <a:moveTo>
                    <a:pt x="0" y="0"/>
                  </a:moveTo>
                  <a:lnTo>
                    <a:pt x="14264639" y="0"/>
                  </a:lnTo>
                  <a:lnTo>
                    <a:pt x="14264639" y="1024128"/>
                  </a:lnTo>
                  <a:lnTo>
                    <a:pt x="0" y="1024128"/>
                  </a:lnTo>
                  <a:close/>
                </a:path>
              </a:pathLst>
            </a:custGeom>
            <a:solidFill>
              <a:srgbClr val="0D9488"/>
            </a:solidFill>
          </p:spPr>
        </p:sp>
        <p:sp>
          <p:nvSpPr>
            <p:cNvPr name="Freeform 18" id="18"/>
            <p:cNvSpPr/>
            <p:nvPr/>
          </p:nvSpPr>
          <p:spPr>
            <a:xfrm flipH="false" flipV="false" rot="0">
              <a:off x="0" y="0"/>
              <a:ext cx="14298422" cy="1057912"/>
            </a:xfrm>
            <a:custGeom>
              <a:avLst/>
              <a:gdLst/>
              <a:ahLst/>
              <a:cxnLst/>
              <a:rect r="r" b="b" t="t" l="l"/>
              <a:pathLst>
                <a:path h="1057912" w="14298422">
                  <a:moveTo>
                    <a:pt x="16891" y="0"/>
                  </a:moveTo>
                  <a:lnTo>
                    <a:pt x="14281530" y="0"/>
                  </a:lnTo>
                  <a:cubicBezTo>
                    <a:pt x="14290929" y="0"/>
                    <a:pt x="14298422" y="7620"/>
                    <a:pt x="14298422" y="16891"/>
                  </a:cubicBezTo>
                  <a:lnTo>
                    <a:pt x="14298422" y="1041019"/>
                  </a:lnTo>
                  <a:cubicBezTo>
                    <a:pt x="14298422" y="1050417"/>
                    <a:pt x="14290802" y="1057910"/>
                    <a:pt x="14281530"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14281530" y="1024128"/>
                  </a:lnTo>
                  <a:lnTo>
                    <a:pt x="14281530" y="1041019"/>
                  </a:lnTo>
                  <a:lnTo>
                    <a:pt x="14264639" y="1041019"/>
                  </a:lnTo>
                  <a:lnTo>
                    <a:pt x="14264639" y="16891"/>
                  </a:lnTo>
                  <a:lnTo>
                    <a:pt x="14281530" y="16891"/>
                  </a:lnTo>
                  <a:lnTo>
                    <a:pt x="14281530" y="33909"/>
                  </a:lnTo>
                  <a:lnTo>
                    <a:pt x="16891" y="33909"/>
                  </a:lnTo>
                  <a:close/>
                </a:path>
              </a:pathLst>
            </a:custGeom>
            <a:solidFill>
              <a:srgbClr val="0D9488"/>
            </a:solidFill>
          </p:spPr>
        </p:sp>
      </p:grpSp>
      <p:grpSp>
        <p:nvGrpSpPr>
          <p:cNvPr name="Group 19" id="19"/>
          <p:cNvGrpSpPr/>
          <p:nvPr/>
        </p:nvGrpSpPr>
        <p:grpSpPr>
          <a:xfrm rot="0">
            <a:off x="1005840" y="2468880"/>
            <a:ext cx="10332720" cy="768096"/>
            <a:chOff x="0" y="0"/>
            <a:chExt cx="13776960" cy="1024128"/>
          </a:xfrm>
        </p:grpSpPr>
        <p:sp>
          <p:nvSpPr>
            <p:cNvPr name="Freeform 20" id="20"/>
            <p:cNvSpPr/>
            <p:nvPr/>
          </p:nvSpPr>
          <p:spPr>
            <a:xfrm flipH="false" flipV="false" rot="0">
              <a:off x="0" y="0"/>
              <a:ext cx="13776961" cy="1024128"/>
            </a:xfrm>
            <a:custGeom>
              <a:avLst/>
              <a:gdLst/>
              <a:ahLst/>
              <a:cxnLst/>
              <a:rect r="r" b="b" t="t" l="l"/>
              <a:pathLst>
                <a:path h="1024128" w="13776961">
                  <a:moveTo>
                    <a:pt x="0" y="0"/>
                  </a:moveTo>
                  <a:lnTo>
                    <a:pt x="13776961" y="0"/>
                  </a:lnTo>
                  <a:lnTo>
                    <a:pt x="13776961" y="1024128"/>
                  </a:lnTo>
                  <a:lnTo>
                    <a:pt x="0" y="1024128"/>
                  </a:lnTo>
                  <a:close/>
                </a:path>
              </a:pathLst>
            </a:custGeom>
            <a:blipFill>
              <a:blip r:embed="rId3">
                <a:alphaModFix amt="0"/>
              </a:blip>
              <a:stretch>
                <a:fillRect l="0" t="-212120" r="0" b="-212120"/>
              </a:stretch>
            </a:blipFill>
          </p:spPr>
        </p:sp>
        <p:sp>
          <p:nvSpPr>
            <p:cNvPr name="TextBox 21" id="21"/>
            <p:cNvSpPr txBox="true"/>
            <p:nvPr/>
          </p:nvSpPr>
          <p:spPr>
            <a:xfrm>
              <a:off x="0" y="-38100"/>
              <a:ext cx="13776960" cy="1062228"/>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CLIP-Based Caption Re-Ranking (Zero-Shot Enhancement)</a:t>
              </a:r>
            </a:p>
          </p:txBody>
        </p:sp>
      </p:grpSp>
      <p:grpSp>
        <p:nvGrpSpPr>
          <p:cNvPr name="Group 22" id="22"/>
          <p:cNvGrpSpPr/>
          <p:nvPr/>
        </p:nvGrpSpPr>
        <p:grpSpPr>
          <a:xfrm rot="0">
            <a:off x="1005840" y="3328416"/>
            <a:ext cx="10241280" cy="3840480"/>
            <a:chOff x="0" y="0"/>
            <a:chExt cx="13655040" cy="5120640"/>
          </a:xfrm>
        </p:grpSpPr>
        <p:sp>
          <p:nvSpPr>
            <p:cNvPr name="Freeform 23" id="23"/>
            <p:cNvSpPr/>
            <p:nvPr/>
          </p:nvSpPr>
          <p:spPr>
            <a:xfrm flipH="false" flipV="false" rot="0">
              <a:off x="0" y="0"/>
              <a:ext cx="13655039" cy="5120640"/>
            </a:xfrm>
            <a:custGeom>
              <a:avLst/>
              <a:gdLst/>
              <a:ahLst/>
              <a:cxnLst/>
              <a:rect r="r" b="b" t="t" l="l"/>
              <a:pathLst>
                <a:path h="5120640" w="13655039">
                  <a:moveTo>
                    <a:pt x="0" y="0"/>
                  </a:moveTo>
                  <a:lnTo>
                    <a:pt x="13655039" y="0"/>
                  </a:lnTo>
                  <a:lnTo>
                    <a:pt x="13655039" y="5120640"/>
                  </a:lnTo>
                  <a:lnTo>
                    <a:pt x="0" y="5120640"/>
                  </a:lnTo>
                  <a:close/>
                </a:path>
              </a:pathLst>
            </a:custGeom>
            <a:blipFill>
              <a:blip r:embed="rId3">
                <a:alphaModFix amt="0"/>
              </a:blip>
              <a:stretch>
                <a:fillRect l="0" t="-1960" r="0" b="-1960"/>
              </a:stretch>
            </a:blipFill>
          </p:spPr>
        </p:sp>
        <p:sp>
          <p:nvSpPr>
            <p:cNvPr name="TextBox 24" id="24"/>
            <p:cNvSpPr txBox="true"/>
            <p:nvPr/>
          </p:nvSpPr>
          <p:spPr>
            <a:xfrm>
              <a:off x="0" y="-38100"/>
              <a:ext cx="13655040" cy="5158740"/>
            </a:xfrm>
            <a:prstGeom prst="rect">
              <a:avLst/>
            </a:prstGeom>
          </p:spPr>
          <p:txBody>
            <a:bodyPr anchor="ctr" rtlCol="false" tIns="0" lIns="0" bIns="0" rIns="0"/>
            <a:lstStyle/>
            <a:p>
              <a:pPr algn="l">
                <a:lnSpc>
                  <a:spcPts val="2400"/>
                </a:lnSpc>
              </a:pPr>
              <a:r>
                <a:rPr lang="en-US" sz="2000">
                  <a:solidFill>
                    <a:srgbClr val="1E293B"/>
                  </a:solidFill>
                  <a:latin typeface="Calibri (MS)"/>
                  <a:ea typeface="Calibri (MS)"/>
                  <a:cs typeface="Calibri (MS)"/>
                  <a:sym typeface="Calibri (MS)"/>
                </a:rPr>
                <a:t>Generate K=5 candidate captions using beam search. Score each against the image using a pretrained CLIP model (which was trained to align images and text in a shared embedding space). Return the highest-scoring candidate.</a:t>
              </a:r>
            </a:p>
            <a:p>
              <a:pPr algn="l">
                <a:lnSpc>
                  <a:spcPts val="2400"/>
                </a:lnSpc>
              </a:pPr>
            </a:p>
            <a:p>
              <a:pPr algn="l">
                <a:lnSpc>
                  <a:spcPts val="2400"/>
                </a:lnSpc>
              </a:pPr>
              <a:r>
                <a:rPr lang="en-US" sz="2000">
                  <a:solidFill>
                    <a:srgbClr val="1E293B"/>
                  </a:solidFill>
                  <a:latin typeface="Calibri (MS)"/>
                  <a:ea typeface="Calibri (MS)"/>
                  <a:cs typeface="Calibri (MS)"/>
                  <a:sym typeface="Calibri (MS)"/>
                </a:rPr>
                <a:t>Key advantages:</a:t>
              </a:r>
            </a:p>
            <a:p>
              <a:pPr algn="l">
                <a:lnSpc>
                  <a:spcPts val="2400"/>
                </a:lnSpc>
              </a:pPr>
              <a:r>
                <a:rPr lang="en-US" sz="2000">
                  <a:solidFill>
                    <a:srgbClr val="1E293B"/>
                  </a:solidFill>
                  <a:latin typeface="Calibri (MS)"/>
                  <a:ea typeface="Calibri (MS)"/>
                  <a:cs typeface="Calibri (MS)"/>
                  <a:sym typeface="Calibri (MS)"/>
                </a:rPr>
                <a:t>• No retraining — works with the existing TSFE model</a:t>
              </a:r>
            </a:p>
            <a:p>
              <a:pPr algn="l">
                <a:lnSpc>
                  <a:spcPts val="2400"/>
                </a:lnSpc>
              </a:pPr>
              <a:r>
                <a:rPr lang="en-US" sz="2000">
                  <a:solidFill>
                    <a:srgbClr val="1E293B"/>
                  </a:solidFill>
                  <a:latin typeface="Calibri (MS)"/>
                  <a:ea typeface="Calibri (MS)"/>
                  <a:cs typeface="Calibri (MS)"/>
                  <a:sym typeface="Calibri (MS)"/>
                </a:rPr>
                <a:t>• CLIP's cross-modal alignment is stronger than BLEU-based reranking</a:t>
              </a:r>
            </a:p>
            <a:p>
              <a:pPr algn="l">
                <a:lnSpc>
                  <a:spcPts val="2400"/>
                </a:lnSpc>
              </a:pPr>
              <a:r>
                <a:rPr lang="en-US" sz="2000">
                  <a:solidFill>
                    <a:srgbClr val="1E293B"/>
                  </a:solidFill>
                  <a:latin typeface="Calibri (MS)"/>
                  <a:ea typeface="Calibri (MS)"/>
                  <a:cs typeface="Calibri (MS)"/>
                  <a:sym typeface="Calibri (MS)"/>
                </a:rPr>
                <a:t>• Consistently adds 2–4 CIDEr points across RS captioning benchmarks</a:t>
              </a:r>
            </a:p>
            <a:p>
              <a:pPr algn="l">
                <a:lnSpc>
                  <a:spcPts val="2400"/>
                </a:lnSpc>
              </a:pPr>
              <a:r>
                <a:rPr lang="en-US" sz="2000">
                  <a:solidFill>
                    <a:srgbClr val="1E293B"/>
                  </a:solidFill>
                  <a:latin typeface="Calibri (MS)"/>
                  <a:ea typeface="Calibri (MS)"/>
                  <a:cs typeface="Calibri (MS)"/>
                  <a:sym typeface="Calibri (MS)"/>
                </a:rPr>
                <a:t>• Can use RemoteCLIP for domain-appropriate scoring</a:t>
              </a:r>
            </a:p>
          </p:txBody>
        </p:sp>
      </p:grpSp>
      <p:grpSp>
        <p:nvGrpSpPr>
          <p:cNvPr name="Group 25" id="25"/>
          <p:cNvGrpSpPr/>
          <p:nvPr/>
        </p:nvGrpSpPr>
        <p:grpSpPr>
          <a:xfrm rot="0">
            <a:off x="725167" y="7056115"/>
            <a:ext cx="10711177" cy="1475737"/>
            <a:chOff x="0" y="0"/>
            <a:chExt cx="14281569" cy="1967649"/>
          </a:xfrm>
        </p:grpSpPr>
        <p:sp>
          <p:nvSpPr>
            <p:cNvPr name="Freeform 26" id="26"/>
            <p:cNvSpPr/>
            <p:nvPr/>
          </p:nvSpPr>
          <p:spPr>
            <a:xfrm flipH="false" flipV="false" rot="0">
              <a:off x="8509" y="8509"/>
              <a:ext cx="14264640" cy="1950720"/>
            </a:xfrm>
            <a:custGeom>
              <a:avLst/>
              <a:gdLst/>
              <a:ahLst/>
              <a:cxnLst/>
              <a:rect r="r" b="b" t="t" l="l"/>
              <a:pathLst>
                <a:path h="1950720" w="14264640">
                  <a:moveTo>
                    <a:pt x="0" y="0"/>
                  </a:moveTo>
                  <a:lnTo>
                    <a:pt x="14264640" y="0"/>
                  </a:lnTo>
                  <a:lnTo>
                    <a:pt x="14264640" y="1950720"/>
                  </a:lnTo>
                  <a:lnTo>
                    <a:pt x="0" y="1950720"/>
                  </a:lnTo>
                  <a:close/>
                </a:path>
              </a:pathLst>
            </a:custGeom>
            <a:solidFill>
              <a:srgbClr val="FFFFFF"/>
            </a:solidFill>
          </p:spPr>
        </p:sp>
        <p:sp>
          <p:nvSpPr>
            <p:cNvPr name="Freeform 27" id="27"/>
            <p:cNvSpPr/>
            <p:nvPr/>
          </p:nvSpPr>
          <p:spPr>
            <a:xfrm flipH="false" flipV="false" rot="0">
              <a:off x="0" y="0"/>
              <a:ext cx="14281657" cy="1967738"/>
            </a:xfrm>
            <a:custGeom>
              <a:avLst/>
              <a:gdLst/>
              <a:ahLst/>
              <a:cxnLst/>
              <a:rect r="r" b="b" t="t" l="l"/>
              <a:pathLst>
                <a:path h="1967738" w="14281657">
                  <a:moveTo>
                    <a:pt x="8509" y="0"/>
                  </a:moveTo>
                  <a:lnTo>
                    <a:pt x="14273149" y="0"/>
                  </a:lnTo>
                  <a:cubicBezTo>
                    <a:pt x="14277848" y="0"/>
                    <a:pt x="14281657" y="3810"/>
                    <a:pt x="14281657" y="8509"/>
                  </a:cubicBezTo>
                  <a:lnTo>
                    <a:pt x="14281657" y="1959229"/>
                  </a:lnTo>
                  <a:cubicBezTo>
                    <a:pt x="14281657" y="1963928"/>
                    <a:pt x="14277848" y="1967738"/>
                    <a:pt x="14273149" y="1967738"/>
                  </a:cubicBezTo>
                  <a:lnTo>
                    <a:pt x="8509" y="1967738"/>
                  </a:lnTo>
                  <a:cubicBezTo>
                    <a:pt x="3810" y="1967738"/>
                    <a:pt x="0" y="1963928"/>
                    <a:pt x="0" y="1959229"/>
                  </a:cubicBezTo>
                  <a:lnTo>
                    <a:pt x="0" y="8509"/>
                  </a:lnTo>
                  <a:cubicBezTo>
                    <a:pt x="0" y="3810"/>
                    <a:pt x="3810" y="0"/>
                    <a:pt x="8509" y="0"/>
                  </a:cubicBezTo>
                  <a:moveTo>
                    <a:pt x="8509" y="16891"/>
                  </a:moveTo>
                  <a:lnTo>
                    <a:pt x="8509" y="8509"/>
                  </a:lnTo>
                  <a:lnTo>
                    <a:pt x="17018" y="8509"/>
                  </a:lnTo>
                  <a:lnTo>
                    <a:pt x="17018" y="1959229"/>
                  </a:lnTo>
                  <a:lnTo>
                    <a:pt x="8509" y="1959229"/>
                  </a:lnTo>
                  <a:lnTo>
                    <a:pt x="8509" y="1950720"/>
                  </a:lnTo>
                  <a:lnTo>
                    <a:pt x="14273149" y="1950720"/>
                  </a:lnTo>
                  <a:lnTo>
                    <a:pt x="14273149" y="1959229"/>
                  </a:lnTo>
                  <a:lnTo>
                    <a:pt x="14264639" y="1959229"/>
                  </a:lnTo>
                  <a:lnTo>
                    <a:pt x="14264639" y="8509"/>
                  </a:lnTo>
                  <a:lnTo>
                    <a:pt x="14273149" y="8509"/>
                  </a:lnTo>
                  <a:lnTo>
                    <a:pt x="14273149" y="17018"/>
                  </a:lnTo>
                  <a:lnTo>
                    <a:pt x="8509" y="17018"/>
                  </a:lnTo>
                  <a:close/>
                </a:path>
              </a:pathLst>
            </a:custGeom>
            <a:solidFill>
              <a:srgbClr val="E2E8F0"/>
            </a:solidFill>
          </p:spPr>
        </p:sp>
      </p:grpSp>
      <p:grpSp>
        <p:nvGrpSpPr>
          <p:cNvPr name="Group 28" id="28"/>
          <p:cNvGrpSpPr/>
          <p:nvPr/>
        </p:nvGrpSpPr>
        <p:grpSpPr>
          <a:xfrm rot="0">
            <a:off x="718823" y="7049772"/>
            <a:ext cx="135131" cy="1488443"/>
            <a:chOff x="0" y="0"/>
            <a:chExt cx="180175" cy="1984591"/>
          </a:xfrm>
        </p:grpSpPr>
        <p:sp>
          <p:nvSpPr>
            <p:cNvPr name="Freeform 29" id="29"/>
            <p:cNvSpPr/>
            <p:nvPr/>
          </p:nvSpPr>
          <p:spPr>
            <a:xfrm flipH="false" flipV="false" rot="0">
              <a:off x="16891" y="16891"/>
              <a:ext cx="146304" cy="1950720"/>
            </a:xfrm>
            <a:custGeom>
              <a:avLst/>
              <a:gdLst/>
              <a:ahLst/>
              <a:cxnLst/>
              <a:rect r="r" b="b" t="t" l="l"/>
              <a:pathLst>
                <a:path h="1950720" w="146304">
                  <a:moveTo>
                    <a:pt x="0" y="0"/>
                  </a:moveTo>
                  <a:lnTo>
                    <a:pt x="146304" y="0"/>
                  </a:lnTo>
                  <a:lnTo>
                    <a:pt x="146304" y="1950720"/>
                  </a:lnTo>
                  <a:lnTo>
                    <a:pt x="0" y="1950720"/>
                  </a:lnTo>
                  <a:close/>
                </a:path>
              </a:pathLst>
            </a:custGeom>
            <a:solidFill>
              <a:srgbClr val="7C3AED"/>
            </a:solidFill>
          </p:spPr>
        </p:sp>
        <p:sp>
          <p:nvSpPr>
            <p:cNvPr name="Freeform 30" id="30"/>
            <p:cNvSpPr/>
            <p:nvPr/>
          </p:nvSpPr>
          <p:spPr>
            <a:xfrm flipH="false" flipV="false" rot="0">
              <a:off x="0" y="0"/>
              <a:ext cx="180086" cy="1984502"/>
            </a:xfrm>
            <a:custGeom>
              <a:avLst/>
              <a:gdLst/>
              <a:ahLst/>
              <a:cxnLst/>
              <a:rect r="r" b="b" t="t" l="l"/>
              <a:pathLst>
                <a:path h="1984502" w="180086">
                  <a:moveTo>
                    <a:pt x="16891" y="0"/>
                  </a:moveTo>
                  <a:lnTo>
                    <a:pt x="163195" y="0"/>
                  </a:lnTo>
                  <a:cubicBezTo>
                    <a:pt x="172593" y="0"/>
                    <a:pt x="180086" y="7620"/>
                    <a:pt x="180086" y="16891"/>
                  </a:cubicBezTo>
                  <a:lnTo>
                    <a:pt x="180086" y="1967611"/>
                  </a:lnTo>
                  <a:cubicBezTo>
                    <a:pt x="180086" y="1977009"/>
                    <a:pt x="172466" y="1984502"/>
                    <a:pt x="163195"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163195" y="1950720"/>
                  </a:lnTo>
                  <a:lnTo>
                    <a:pt x="163195" y="1967611"/>
                  </a:lnTo>
                  <a:lnTo>
                    <a:pt x="146304" y="1967611"/>
                  </a:lnTo>
                  <a:lnTo>
                    <a:pt x="146304" y="16891"/>
                  </a:lnTo>
                  <a:lnTo>
                    <a:pt x="163195" y="16891"/>
                  </a:lnTo>
                  <a:lnTo>
                    <a:pt x="163195" y="33909"/>
                  </a:lnTo>
                  <a:lnTo>
                    <a:pt x="16891" y="33909"/>
                  </a:lnTo>
                  <a:close/>
                </a:path>
              </a:pathLst>
            </a:custGeom>
            <a:solidFill>
              <a:srgbClr val="7C3AED"/>
            </a:solidFill>
          </p:spPr>
        </p:sp>
      </p:grpSp>
      <p:grpSp>
        <p:nvGrpSpPr>
          <p:cNvPr name="Group 31" id="31"/>
          <p:cNvGrpSpPr/>
          <p:nvPr/>
        </p:nvGrpSpPr>
        <p:grpSpPr>
          <a:xfrm rot="0">
            <a:off x="1060704" y="7153908"/>
            <a:ext cx="10058400" cy="512064"/>
            <a:chOff x="0" y="0"/>
            <a:chExt cx="13411200" cy="682752"/>
          </a:xfrm>
        </p:grpSpPr>
        <p:sp>
          <p:nvSpPr>
            <p:cNvPr name="Freeform 32" id="32"/>
            <p:cNvSpPr/>
            <p:nvPr/>
          </p:nvSpPr>
          <p:spPr>
            <a:xfrm flipH="false" flipV="false" rot="0">
              <a:off x="0" y="0"/>
              <a:ext cx="13411200" cy="682752"/>
            </a:xfrm>
            <a:custGeom>
              <a:avLst/>
              <a:gdLst/>
              <a:ahLst/>
              <a:cxnLst/>
              <a:rect r="r" b="b" t="t" l="l"/>
              <a:pathLst>
                <a:path h="682752" w="13411200">
                  <a:moveTo>
                    <a:pt x="0" y="0"/>
                  </a:moveTo>
                  <a:lnTo>
                    <a:pt x="13411200" y="0"/>
                  </a:lnTo>
                  <a:lnTo>
                    <a:pt x="13411200" y="682752"/>
                  </a:lnTo>
                  <a:lnTo>
                    <a:pt x="0" y="682752"/>
                  </a:lnTo>
                  <a:close/>
                </a:path>
              </a:pathLst>
            </a:custGeom>
            <a:blipFill>
              <a:blip r:embed="rId3">
                <a:alphaModFix amt="0"/>
              </a:blip>
              <a:stretch>
                <a:fillRect l="0" t="-332741" r="0" b="-332741"/>
              </a:stretch>
            </a:blipFill>
          </p:spPr>
        </p:sp>
        <p:sp>
          <p:nvSpPr>
            <p:cNvPr name="TextBox 33" id="33"/>
            <p:cNvSpPr txBox="true"/>
            <p:nvPr/>
          </p:nvSpPr>
          <p:spPr>
            <a:xfrm>
              <a:off x="0" y="-47625"/>
              <a:ext cx="13411200" cy="730377"/>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Replace Greedy Decode → Beam Search</a:t>
              </a:r>
            </a:p>
          </p:txBody>
        </p:sp>
      </p:grpSp>
      <p:grpSp>
        <p:nvGrpSpPr>
          <p:cNvPr name="Group 34" id="34"/>
          <p:cNvGrpSpPr/>
          <p:nvPr/>
        </p:nvGrpSpPr>
        <p:grpSpPr>
          <a:xfrm rot="0">
            <a:off x="1060704" y="7720836"/>
            <a:ext cx="10241280" cy="676656"/>
            <a:chOff x="0" y="0"/>
            <a:chExt cx="13655040" cy="902208"/>
          </a:xfrm>
        </p:grpSpPr>
        <p:sp>
          <p:nvSpPr>
            <p:cNvPr name="Freeform 35" id="35"/>
            <p:cNvSpPr/>
            <p:nvPr/>
          </p:nvSpPr>
          <p:spPr>
            <a:xfrm flipH="false" flipV="false" rot="0">
              <a:off x="0" y="0"/>
              <a:ext cx="13655039" cy="902208"/>
            </a:xfrm>
            <a:custGeom>
              <a:avLst/>
              <a:gdLst/>
              <a:ahLst/>
              <a:cxnLst/>
              <a:rect r="r" b="b" t="t" l="l"/>
              <a:pathLst>
                <a:path h="902208" w="13655039">
                  <a:moveTo>
                    <a:pt x="0" y="0"/>
                  </a:moveTo>
                  <a:lnTo>
                    <a:pt x="13655039" y="0"/>
                  </a:lnTo>
                  <a:lnTo>
                    <a:pt x="13655039" y="902208"/>
                  </a:lnTo>
                  <a:lnTo>
                    <a:pt x="0" y="902208"/>
                  </a:lnTo>
                  <a:close/>
                </a:path>
              </a:pathLst>
            </a:custGeom>
            <a:blipFill>
              <a:blip r:embed="rId3">
                <a:alphaModFix amt="0"/>
              </a:blip>
              <a:stretch>
                <a:fillRect l="0" t="-244908" r="0" b="-244908"/>
              </a:stretch>
            </a:blipFill>
          </p:spPr>
        </p:sp>
        <p:sp>
          <p:nvSpPr>
            <p:cNvPr name="TextBox 36" id="36"/>
            <p:cNvSpPr txBox="true"/>
            <p:nvPr/>
          </p:nvSpPr>
          <p:spPr>
            <a:xfrm>
              <a:off x="0" y="-38100"/>
              <a:ext cx="13655040" cy="94030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Current: greedy (1 path). Beam search maintains top-B hypotheses at each step. B=5 substantially improves caption quality with minimal compute overhead. Required prerequisite for CLIP re-ranking.</a:t>
              </a:r>
            </a:p>
          </p:txBody>
        </p:sp>
      </p:grpSp>
      <p:grpSp>
        <p:nvGrpSpPr>
          <p:cNvPr name="Group 37" id="37"/>
          <p:cNvGrpSpPr/>
          <p:nvPr/>
        </p:nvGrpSpPr>
        <p:grpSpPr>
          <a:xfrm rot="0">
            <a:off x="725167" y="8702035"/>
            <a:ext cx="10711177" cy="1512313"/>
            <a:chOff x="0" y="0"/>
            <a:chExt cx="14281569" cy="2016417"/>
          </a:xfrm>
        </p:grpSpPr>
        <p:sp>
          <p:nvSpPr>
            <p:cNvPr name="Freeform 38" id="38"/>
            <p:cNvSpPr/>
            <p:nvPr/>
          </p:nvSpPr>
          <p:spPr>
            <a:xfrm flipH="false" flipV="false" rot="0">
              <a:off x="8509" y="8509"/>
              <a:ext cx="14264640" cy="1999488"/>
            </a:xfrm>
            <a:custGeom>
              <a:avLst/>
              <a:gdLst/>
              <a:ahLst/>
              <a:cxnLst/>
              <a:rect r="r" b="b" t="t" l="l"/>
              <a:pathLst>
                <a:path h="1999488" w="14264640">
                  <a:moveTo>
                    <a:pt x="0" y="0"/>
                  </a:moveTo>
                  <a:lnTo>
                    <a:pt x="14264640" y="0"/>
                  </a:lnTo>
                  <a:lnTo>
                    <a:pt x="14264640" y="1999488"/>
                  </a:lnTo>
                  <a:lnTo>
                    <a:pt x="0" y="1999488"/>
                  </a:lnTo>
                  <a:close/>
                </a:path>
              </a:pathLst>
            </a:custGeom>
            <a:solidFill>
              <a:srgbClr val="FFFFFF"/>
            </a:solidFill>
          </p:spPr>
        </p:sp>
        <p:sp>
          <p:nvSpPr>
            <p:cNvPr name="Freeform 39" id="39"/>
            <p:cNvSpPr/>
            <p:nvPr/>
          </p:nvSpPr>
          <p:spPr>
            <a:xfrm flipH="false" flipV="false" rot="0">
              <a:off x="0" y="0"/>
              <a:ext cx="14281657" cy="2016506"/>
            </a:xfrm>
            <a:custGeom>
              <a:avLst/>
              <a:gdLst/>
              <a:ahLst/>
              <a:cxnLst/>
              <a:rect r="r" b="b" t="t" l="l"/>
              <a:pathLst>
                <a:path h="2016506" w="14281657">
                  <a:moveTo>
                    <a:pt x="8509" y="0"/>
                  </a:moveTo>
                  <a:lnTo>
                    <a:pt x="14273149" y="0"/>
                  </a:lnTo>
                  <a:cubicBezTo>
                    <a:pt x="14277848" y="0"/>
                    <a:pt x="14281657" y="3810"/>
                    <a:pt x="14281657" y="8509"/>
                  </a:cubicBezTo>
                  <a:lnTo>
                    <a:pt x="14281657" y="2007997"/>
                  </a:lnTo>
                  <a:cubicBezTo>
                    <a:pt x="14281657" y="2012696"/>
                    <a:pt x="14277848" y="2016506"/>
                    <a:pt x="14273149" y="2016506"/>
                  </a:cubicBezTo>
                  <a:lnTo>
                    <a:pt x="8509" y="2016506"/>
                  </a:lnTo>
                  <a:cubicBezTo>
                    <a:pt x="3810" y="2016506"/>
                    <a:pt x="0" y="2012696"/>
                    <a:pt x="0" y="2007997"/>
                  </a:cubicBezTo>
                  <a:lnTo>
                    <a:pt x="0" y="8509"/>
                  </a:lnTo>
                  <a:cubicBezTo>
                    <a:pt x="0" y="3810"/>
                    <a:pt x="3810" y="0"/>
                    <a:pt x="8509" y="0"/>
                  </a:cubicBezTo>
                  <a:moveTo>
                    <a:pt x="8509" y="16891"/>
                  </a:moveTo>
                  <a:lnTo>
                    <a:pt x="8509" y="8509"/>
                  </a:lnTo>
                  <a:lnTo>
                    <a:pt x="17018" y="8509"/>
                  </a:lnTo>
                  <a:lnTo>
                    <a:pt x="17018" y="2007997"/>
                  </a:lnTo>
                  <a:lnTo>
                    <a:pt x="8509" y="2007997"/>
                  </a:lnTo>
                  <a:lnTo>
                    <a:pt x="8509" y="1999488"/>
                  </a:lnTo>
                  <a:lnTo>
                    <a:pt x="14273149" y="1999488"/>
                  </a:lnTo>
                  <a:lnTo>
                    <a:pt x="14273149" y="2007997"/>
                  </a:lnTo>
                  <a:lnTo>
                    <a:pt x="14264639" y="2007997"/>
                  </a:lnTo>
                  <a:lnTo>
                    <a:pt x="14264639" y="8509"/>
                  </a:lnTo>
                  <a:lnTo>
                    <a:pt x="14273149" y="8509"/>
                  </a:lnTo>
                  <a:lnTo>
                    <a:pt x="14273149" y="17018"/>
                  </a:lnTo>
                  <a:lnTo>
                    <a:pt x="8509" y="17018"/>
                  </a:lnTo>
                  <a:close/>
                </a:path>
              </a:pathLst>
            </a:custGeom>
            <a:solidFill>
              <a:srgbClr val="E2E8F0"/>
            </a:solidFill>
          </p:spPr>
        </p:sp>
      </p:grpSp>
      <p:grpSp>
        <p:nvGrpSpPr>
          <p:cNvPr name="Group 40" id="40"/>
          <p:cNvGrpSpPr/>
          <p:nvPr/>
        </p:nvGrpSpPr>
        <p:grpSpPr>
          <a:xfrm rot="0">
            <a:off x="718823" y="8695692"/>
            <a:ext cx="135131" cy="1525019"/>
            <a:chOff x="0" y="0"/>
            <a:chExt cx="180175" cy="2033359"/>
          </a:xfrm>
        </p:grpSpPr>
        <p:sp>
          <p:nvSpPr>
            <p:cNvPr name="Freeform 41" id="41"/>
            <p:cNvSpPr/>
            <p:nvPr/>
          </p:nvSpPr>
          <p:spPr>
            <a:xfrm flipH="false" flipV="false" rot="0">
              <a:off x="16891" y="16891"/>
              <a:ext cx="146304" cy="1999488"/>
            </a:xfrm>
            <a:custGeom>
              <a:avLst/>
              <a:gdLst/>
              <a:ahLst/>
              <a:cxnLst/>
              <a:rect r="r" b="b" t="t" l="l"/>
              <a:pathLst>
                <a:path h="1999488" w="146304">
                  <a:moveTo>
                    <a:pt x="0" y="0"/>
                  </a:moveTo>
                  <a:lnTo>
                    <a:pt x="146304" y="0"/>
                  </a:lnTo>
                  <a:lnTo>
                    <a:pt x="146304" y="1999488"/>
                  </a:lnTo>
                  <a:lnTo>
                    <a:pt x="0" y="1999488"/>
                  </a:lnTo>
                  <a:close/>
                </a:path>
              </a:pathLst>
            </a:custGeom>
            <a:solidFill>
              <a:srgbClr val="D97706"/>
            </a:solidFill>
          </p:spPr>
        </p:sp>
        <p:sp>
          <p:nvSpPr>
            <p:cNvPr name="Freeform 42" id="42"/>
            <p:cNvSpPr/>
            <p:nvPr/>
          </p:nvSpPr>
          <p:spPr>
            <a:xfrm flipH="false" flipV="false" rot="0">
              <a:off x="0" y="0"/>
              <a:ext cx="180086" cy="2033270"/>
            </a:xfrm>
            <a:custGeom>
              <a:avLst/>
              <a:gdLst/>
              <a:ahLst/>
              <a:cxnLst/>
              <a:rect r="r" b="b" t="t" l="l"/>
              <a:pathLst>
                <a:path h="2033270" w="180086">
                  <a:moveTo>
                    <a:pt x="16891" y="0"/>
                  </a:moveTo>
                  <a:lnTo>
                    <a:pt x="163195" y="0"/>
                  </a:lnTo>
                  <a:cubicBezTo>
                    <a:pt x="172593" y="0"/>
                    <a:pt x="180086" y="7620"/>
                    <a:pt x="180086" y="16891"/>
                  </a:cubicBezTo>
                  <a:lnTo>
                    <a:pt x="180086" y="2016379"/>
                  </a:lnTo>
                  <a:cubicBezTo>
                    <a:pt x="180086" y="2025777"/>
                    <a:pt x="172466" y="2033270"/>
                    <a:pt x="163195"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63195" y="1999488"/>
                  </a:lnTo>
                  <a:lnTo>
                    <a:pt x="163195" y="2016379"/>
                  </a:lnTo>
                  <a:lnTo>
                    <a:pt x="146304" y="2016379"/>
                  </a:lnTo>
                  <a:lnTo>
                    <a:pt x="146304" y="16891"/>
                  </a:lnTo>
                  <a:lnTo>
                    <a:pt x="163195" y="16891"/>
                  </a:lnTo>
                  <a:lnTo>
                    <a:pt x="163195" y="33909"/>
                  </a:lnTo>
                  <a:lnTo>
                    <a:pt x="16891" y="33909"/>
                  </a:lnTo>
                  <a:close/>
                </a:path>
              </a:pathLst>
            </a:custGeom>
            <a:solidFill>
              <a:srgbClr val="D97706"/>
            </a:solidFill>
          </p:spPr>
        </p:sp>
      </p:grpSp>
      <p:grpSp>
        <p:nvGrpSpPr>
          <p:cNvPr name="Group 43" id="43"/>
          <p:cNvGrpSpPr/>
          <p:nvPr/>
        </p:nvGrpSpPr>
        <p:grpSpPr>
          <a:xfrm rot="0">
            <a:off x="1060704" y="8799828"/>
            <a:ext cx="10058400" cy="512064"/>
            <a:chOff x="0" y="0"/>
            <a:chExt cx="13411200" cy="682752"/>
          </a:xfrm>
        </p:grpSpPr>
        <p:sp>
          <p:nvSpPr>
            <p:cNvPr name="Freeform 44" id="44"/>
            <p:cNvSpPr/>
            <p:nvPr/>
          </p:nvSpPr>
          <p:spPr>
            <a:xfrm flipH="false" flipV="false" rot="0">
              <a:off x="0" y="0"/>
              <a:ext cx="13411200" cy="682752"/>
            </a:xfrm>
            <a:custGeom>
              <a:avLst/>
              <a:gdLst/>
              <a:ahLst/>
              <a:cxnLst/>
              <a:rect r="r" b="b" t="t" l="l"/>
              <a:pathLst>
                <a:path h="682752" w="13411200">
                  <a:moveTo>
                    <a:pt x="0" y="0"/>
                  </a:moveTo>
                  <a:lnTo>
                    <a:pt x="13411200" y="0"/>
                  </a:lnTo>
                  <a:lnTo>
                    <a:pt x="13411200" y="682752"/>
                  </a:lnTo>
                  <a:lnTo>
                    <a:pt x="0" y="682752"/>
                  </a:lnTo>
                  <a:close/>
                </a:path>
              </a:pathLst>
            </a:custGeom>
            <a:blipFill>
              <a:blip r:embed="rId3">
                <a:alphaModFix amt="0"/>
              </a:blip>
              <a:stretch>
                <a:fillRect l="0" t="-332741" r="0" b="-332741"/>
              </a:stretch>
            </a:blipFill>
          </p:spPr>
        </p:sp>
        <p:sp>
          <p:nvSpPr>
            <p:cNvPr name="TextBox 45" id="45"/>
            <p:cNvSpPr txBox="true"/>
            <p:nvPr/>
          </p:nvSpPr>
          <p:spPr>
            <a:xfrm>
              <a:off x="0" y="-47625"/>
              <a:ext cx="13411200" cy="730377"/>
            </a:xfrm>
            <a:prstGeom prst="rect">
              <a:avLst/>
            </a:prstGeom>
          </p:spPr>
          <p:txBody>
            <a:bodyPr anchor="ctr" rtlCol="false" tIns="0" lIns="0" bIns="0" rIns="0"/>
            <a:lstStyle/>
            <a:p>
              <a:pPr algn="l">
                <a:lnSpc>
                  <a:spcPts val="2640"/>
                </a:lnSpc>
              </a:pPr>
              <a:r>
                <a:rPr lang="en-US" sz="2200" b="true">
                  <a:solidFill>
                    <a:srgbClr val="D97706"/>
                  </a:solidFill>
                  <a:latin typeface="Calibri (MS) Bold"/>
                  <a:ea typeface="Calibri (MS) Bold"/>
                  <a:cs typeface="Calibri (MS) Bold"/>
                  <a:sym typeface="Calibri (MS) Bold"/>
                </a:rPr>
                <a:t>Add Human Evaluation Protocol</a:t>
              </a:r>
            </a:p>
          </p:txBody>
        </p:sp>
      </p:grpSp>
      <p:grpSp>
        <p:nvGrpSpPr>
          <p:cNvPr name="Group 46" id="46"/>
          <p:cNvGrpSpPr/>
          <p:nvPr/>
        </p:nvGrpSpPr>
        <p:grpSpPr>
          <a:xfrm rot="0">
            <a:off x="1060704" y="9366756"/>
            <a:ext cx="10241280" cy="768096"/>
            <a:chOff x="0" y="0"/>
            <a:chExt cx="13655040" cy="1024128"/>
          </a:xfrm>
        </p:grpSpPr>
        <p:sp>
          <p:nvSpPr>
            <p:cNvPr name="Freeform 47" id="47"/>
            <p:cNvSpPr/>
            <p:nvPr/>
          </p:nvSpPr>
          <p:spPr>
            <a:xfrm flipH="false" flipV="false" rot="0">
              <a:off x="0" y="0"/>
              <a:ext cx="13655039" cy="1024128"/>
            </a:xfrm>
            <a:custGeom>
              <a:avLst/>
              <a:gdLst/>
              <a:ahLst/>
              <a:cxnLst/>
              <a:rect r="r" b="b" t="t" l="l"/>
              <a:pathLst>
                <a:path h="1024128" w="13655039">
                  <a:moveTo>
                    <a:pt x="0" y="0"/>
                  </a:moveTo>
                  <a:lnTo>
                    <a:pt x="13655039" y="0"/>
                  </a:lnTo>
                  <a:lnTo>
                    <a:pt x="13655039" y="1024128"/>
                  </a:lnTo>
                  <a:lnTo>
                    <a:pt x="0" y="1024128"/>
                  </a:lnTo>
                  <a:close/>
                </a:path>
              </a:pathLst>
            </a:custGeom>
            <a:blipFill>
              <a:blip r:embed="rId3">
                <a:alphaModFix amt="0"/>
              </a:blip>
              <a:stretch>
                <a:fillRect l="0" t="-209800" r="0" b="-209800"/>
              </a:stretch>
            </a:blipFill>
          </p:spPr>
        </p:sp>
        <p:sp>
          <p:nvSpPr>
            <p:cNvPr name="TextBox 48" id="48"/>
            <p:cNvSpPr txBox="true"/>
            <p:nvPr/>
          </p:nvSpPr>
          <p:spPr>
            <a:xfrm>
              <a:off x="0" y="-38100"/>
              <a:ext cx="13655040" cy="1062228"/>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BLEU and CIDEr correlate imperfectly with human judgement for RS captions. Add a blind human rating study (fluency 1–5, accuracy 1–5, completeness 1–5) on a 100-image subset. This directly validates that metric improvements translate to real caption quality.</a:t>
              </a:r>
            </a:p>
          </p:txBody>
        </p:sp>
      </p:grpSp>
      <p:grpSp>
        <p:nvGrpSpPr>
          <p:cNvPr name="Group 49" id="49"/>
          <p:cNvGrpSpPr/>
          <p:nvPr/>
        </p:nvGrpSpPr>
        <p:grpSpPr>
          <a:xfrm rot="0">
            <a:off x="11789407" y="2462527"/>
            <a:ext cx="5773417" cy="8187433"/>
            <a:chOff x="0" y="0"/>
            <a:chExt cx="7697889" cy="10916577"/>
          </a:xfrm>
        </p:grpSpPr>
        <p:sp>
          <p:nvSpPr>
            <p:cNvPr name="Freeform 50" id="50"/>
            <p:cNvSpPr/>
            <p:nvPr/>
          </p:nvSpPr>
          <p:spPr>
            <a:xfrm flipH="false" flipV="false" rot="0">
              <a:off x="8509" y="8509"/>
              <a:ext cx="7680960" cy="10899648"/>
            </a:xfrm>
            <a:custGeom>
              <a:avLst/>
              <a:gdLst/>
              <a:ahLst/>
              <a:cxnLst/>
              <a:rect r="r" b="b" t="t" l="l"/>
              <a:pathLst>
                <a:path h="10899648" w="7680960">
                  <a:moveTo>
                    <a:pt x="0" y="0"/>
                  </a:moveTo>
                  <a:lnTo>
                    <a:pt x="7680960" y="0"/>
                  </a:lnTo>
                  <a:lnTo>
                    <a:pt x="7680960" y="10899648"/>
                  </a:lnTo>
                  <a:lnTo>
                    <a:pt x="0" y="10899648"/>
                  </a:lnTo>
                  <a:close/>
                </a:path>
              </a:pathLst>
            </a:custGeom>
            <a:solidFill>
              <a:srgbClr val="FFFFFF"/>
            </a:solidFill>
          </p:spPr>
        </p:sp>
        <p:sp>
          <p:nvSpPr>
            <p:cNvPr name="Freeform 51" id="51"/>
            <p:cNvSpPr/>
            <p:nvPr/>
          </p:nvSpPr>
          <p:spPr>
            <a:xfrm flipH="false" flipV="false" rot="0">
              <a:off x="0" y="0"/>
              <a:ext cx="7697978" cy="10916665"/>
            </a:xfrm>
            <a:custGeom>
              <a:avLst/>
              <a:gdLst/>
              <a:ahLst/>
              <a:cxnLst/>
              <a:rect r="r" b="b" t="t" l="l"/>
              <a:pathLst>
                <a:path h="10916665" w="7697978">
                  <a:moveTo>
                    <a:pt x="8509" y="0"/>
                  </a:moveTo>
                  <a:lnTo>
                    <a:pt x="7689469" y="0"/>
                  </a:lnTo>
                  <a:cubicBezTo>
                    <a:pt x="7694168" y="0"/>
                    <a:pt x="7697978" y="3810"/>
                    <a:pt x="7697978" y="8509"/>
                  </a:cubicBezTo>
                  <a:lnTo>
                    <a:pt x="7697978" y="10908157"/>
                  </a:lnTo>
                  <a:cubicBezTo>
                    <a:pt x="7697978" y="10912856"/>
                    <a:pt x="7694168" y="10916665"/>
                    <a:pt x="7689469" y="10916665"/>
                  </a:cubicBezTo>
                  <a:lnTo>
                    <a:pt x="8509" y="10916665"/>
                  </a:lnTo>
                  <a:cubicBezTo>
                    <a:pt x="3810" y="10916665"/>
                    <a:pt x="0" y="10912856"/>
                    <a:pt x="0" y="10908157"/>
                  </a:cubicBezTo>
                  <a:lnTo>
                    <a:pt x="0" y="8509"/>
                  </a:lnTo>
                  <a:cubicBezTo>
                    <a:pt x="0" y="3810"/>
                    <a:pt x="3810" y="0"/>
                    <a:pt x="8509" y="0"/>
                  </a:cubicBezTo>
                  <a:moveTo>
                    <a:pt x="8509" y="16891"/>
                  </a:moveTo>
                  <a:lnTo>
                    <a:pt x="8509" y="8509"/>
                  </a:lnTo>
                  <a:lnTo>
                    <a:pt x="17018" y="8509"/>
                  </a:lnTo>
                  <a:lnTo>
                    <a:pt x="17018" y="10908157"/>
                  </a:lnTo>
                  <a:lnTo>
                    <a:pt x="8509" y="10908157"/>
                  </a:lnTo>
                  <a:lnTo>
                    <a:pt x="8509" y="10899648"/>
                  </a:lnTo>
                  <a:lnTo>
                    <a:pt x="7689469" y="10899648"/>
                  </a:lnTo>
                  <a:lnTo>
                    <a:pt x="7689469" y="10908157"/>
                  </a:lnTo>
                  <a:lnTo>
                    <a:pt x="7680960" y="10908157"/>
                  </a:lnTo>
                  <a:lnTo>
                    <a:pt x="7680960" y="8509"/>
                  </a:lnTo>
                  <a:lnTo>
                    <a:pt x="7689469" y="8509"/>
                  </a:lnTo>
                  <a:lnTo>
                    <a:pt x="7689469" y="17018"/>
                  </a:lnTo>
                  <a:lnTo>
                    <a:pt x="8509" y="17018"/>
                  </a:lnTo>
                  <a:close/>
                </a:path>
              </a:pathLst>
            </a:custGeom>
            <a:solidFill>
              <a:srgbClr val="E2E8F0"/>
            </a:solidFill>
          </p:spPr>
        </p:sp>
      </p:grpSp>
      <p:grpSp>
        <p:nvGrpSpPr>
          <p:cNvPr name="Group 52" id="52"/>
          <p:cNvGrpSpPr/>
          <p:nvPr/>
        </p:nvGrpSpPr>
        <p:grpSpPr>
          <a:xfrm rot="0">
            <a:off x="12070080" y="2560320"/>
            <a:ext cx="5303520" cy="512064"/>
            <a:chOff x="0" y="0"/>
            <a:chExt cx="7071360" cy="682752"/>
          </a:xfrm>
        </p:grpSpPr>
        <p:sp>
          <p:nvSpPr>
            <p:cNvPr name="Freeform 53" id="53"/>
            <p:cNvSpPr/>
            <p:nvPr/>
          </p:nvSpPr>
          <p:spPr>
            <a:xfrm flipH="false" flipV="false" rot="0">
              <a:off x="0" y="0"/>
              <a:ext cx="7071360" cy="682752"/>
            </a:xfrm>
            <a:custGeom>
              <a:avLst/>
              <a:gdLst/>
              <a:ahLst/>
              <a:cxnLst/>
              <a:rect r="r" b="b" t="t" l="l"/>
              <a:pathLst>
                <a:path h="682752" w="7071360">
                  <a:moveTo>
                    <a:pt x="0" y="0"/>
                  </a:moveTo>
                  <a:lnTo>
                    <a:pt x="7071360" y="0"/>
                  </a:lnTo>
                  <a:lnTo>
                    <a:pt x="7071360" y="682752"/>
                  </a:lnTo>
                  <a:lnTo>
                    <a:pt x="0" y="682752"/>
                  </a:lnTo>
                  <a:close/>
                </a:path>
              </a:pathLst>
            </a:custGeom>
            <a:blipFill>
              <a:blip r:embed="rId3">
                <a:alphaModFix amt="0"/>
              </a:blip>
              <a:stretch>
                <a:fillRect l="0" t="-151809" r="0" b="-151809"/>
              </a:stretch>
            </a:blipFill>
          </p:spPr>
        </p:sp>
        <p:sp>
          <p:nvSpPr>
            <p:cNvPr name="TextBox 54" id="54"/>
            <p:cNvSpPr txBox="true"/>
            <p:nvPr/>
          </p:nvSpPr>
          <p:spPr>
            <a:xfrm>
              <a:off x="0" y="-38100"/>
              <a:ext cx="7071360" cy="720852"/>
            </a:xfrm>
            <a:prstGeom prst="rect">
              <a:avLst/>
            </a:prstGeom>
          </p:spPr>
          <p:txBody>
            <a:bodyPr anchor="ctr" rtlCol="false" tIns="0" lIns="0" bIns="0" rIns="0"/>
            <a:lstStyle/>
            <a:p>
              <a:pPr algn="l">
                <a:lnSpc>
                  <a:spcPts val="2400"/>
                </a:lnSpc>
              </a:pPr>
              <a:r>
                <a:rPr lang="en-US" sz="2000" b="true">
                  <a:solidFill>
                    <a:srgbClr val="0A1628"/>
                  </a:solidFill>
                  <a:latin typeface="Calibri (MS) Bold"/>
                  <a:ea typeface="Calibri (MS) Bold"/>
                  <a:cs typeface="Calibri (MS) Bold"/>
                  <a:sym typeface="Calibri (MS) Bold"/>
                </a:rPr>
                <a:t>CLIP re-ranking flow</a:t>
              </a:r>
            </a:p>
          </p:txBody>
        </p:sp>
      </p:grpSp>
      <p:grpSp>
        <p:nvGrpSpPr>
          <p:cNvPr name="Group 55" id="55"/>
          <p:cNvGrpSpPr/>
          <p:nvPr/>
        </p:nvGrpSpPr>
        <p:grpSpPr>
          <a:xfrm rot="0">
            <a:off x="11965943" y="3205991"/>
            <a:ext cx="5420363" cy="720347"/>
            <a:chOff x="0" y="0"/>
            <a:chExt cx="7227151" cy="960463"/>
          </a:xfrm>
        </p:grpSpPr>
        <p:sp>
          <p:nvSpPr>
            <p:cNvPr name="Freeform 56" id="56"/>
            <p:cNvSpPr/>
            <p:nvPr/>
          </p:nvSpPr>
          <p:spPr>
            <a:xfrm flipH="false" flipV="false" rot="0">
              <a:off x="16891" y="16891"/>
              <a:ext cx="7193281" cy="926592"/>
            </a:xfrm>
            <a:custGeom>
              <a:avLst/>
              <a:gdLst/>
              <a:ahLst/>
              <a:cxnLst/>
              <a:rect r="r" b="b" t="t" l="l"/>
              <a:pathLst>
                <a:path h="926592" w="7193281">
                  <a:moveTo>
                    <a:pt x="0" y="0"/>
                  </a:moveTo>
                  <a:lnTo>
                    <a:pt x="7193281" y="0"/>
                  </a:lnTo>
                  <a:lnTo>
                    <a:pt x="7193281" y="926592"/>
                  </a:lnTo>
                  <a:lnTo>
                    <a:pt x="0" y="926592"/>
                  </a:lnTo>
                  <a:close/>
                </a:path>
              </a:pathLst>
            </a:custGeom>
            <a:solidFill>
              <a:srgbClr val="0A1628"/>
            </a:solidFill>
          </p:spPr>
        </p:sp>
        <p:sp>
          <p:nvSpPr>
            <p:cNvPr name="Freeform 57" id="57"/>
            <p:cNvSpPr/>
            <p:nvPr/>
          </p:nvSpPr>
          <p:spPr>
            <a:xfrm flipH="false" flipV="false" rot="0">
              <a:off x="0" y="0"/>
              <a:ext cx="7227062" cy="960376"/>
            </a:xfrm>
            <a:custGeom>
              <a:avLst/>
              <a:gdLst/>
              <a:ahLst/>
              <a:cxnLst/>
              <a:rect r="r" b="b" t="t" l="l"/>
              <a:pathLst>
                <a:path h="960376" w="7227062">
                  <a:moveTo>
                    <a:pt x="16891" y="0"/>
                  </a:moveTo>
                  <a:lnTo>
                    <a:pt x="7210172" y="0"/>
                  </a:lnTo>
                  <a:cubicBezTo>
                    <a:pt x="7219569" y="0"/>
                    <a:pt x="7227062" y="7620"/>
                    <a:pt x="7227062" y="16891"/>
                  </a:cubicBezTo>
                  <a:lnTo>
                    <a:pt x="7227062" y="943483"/>
                  </a:lnTo>
                  <a:cubicBezTo>
                    <a:pt x="7227062" y="952881"/>
                    <a:pt x="7219442" y="960374"/>
                    <a:pt x="7210172"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210172" y="926592"/>
                  </a:lnTo>
                  <a:lnTo>
                    <a:pt x="7210172" y="943483"/>
                  </a:lnTo>
                  <a:lnTo>
                    <a:pt x="7193280" y="943483"/>
                  </a:lnTo>
                  <a:lnTo>
                    <a:pt x="7193280" y="16891"/>
                  </a:lnTo>
                  <a:lnTo>
                    <a:pt x="7210172" y="16891"/>
                  </a:lnTo>
                  <a:lnTo>
                    <a:pt x="7210172" y="33909"/>
                  </a:lnTo>
                  <a:lnTo>
                    <a:pt x="16891" y="33909"/>
                  </a:lnTo>
                  <a:close/>
                </a:path>
              </a:pathLst>
            </a:custGeom>
            <a:solidFill>
              <a:srgbClr val="0A1628"/>
            </a:solidFill>
          </p:spPr>
        </p:sp>
      </p:grpSp>
      <p:grpSp>
        <p:nvGrpSpPr>
          <p:cNvPr name="Group 58" id="58"/>
          <p:cNvGrpSpPr/>
          <p:nvPr/>
        </p:nvGrpSpPr>
        <p:grpSpPr>
          <a:xfrm rot="0">
            <a:off x="12070080" y="3218688"/>
            <a:ext cx="5212080" cy="694944"/>
            <a:chOff x="0" y="0"/>
            <a:chExt cx="6949440" cy="926592"/>
          </a:xfrm>
        </p:grpSpPr>
        <p:sp>
          <p:nvSpPr>
            <p:cNvPr name="Freeform 59" id="59"/>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3">
                <a:alphaModFix amt="0"/>
              </a:blip>
              <a:stretch>
                <a:fillRect l="0" t="-96137" r="0" b="-96137"/>
              </a:stretch>
            </a:blipFill>
          </p:spPr>
        </p:sp>
        <p:sp>
          <p:nvSpPr>
            <p:cNvPr name="TextBox 60" id="60"/>
            <p:cNvSpPr txBox="true"/>
            <p:nvPr/>
          </p:nvSpPr>
          <p:spPr>
            <a:xfrm>
              <a:off x="0" y="-38100"/>
              <a:ext cx="6949440"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Image</a:t>
              </a:r>
            </a:p>
          </p:txBody>
        </p:sp>
      </p:grpSp>
      <p:grpSp>
        <p:nvGrpSpPr>
          <p:cNvPr name="Group 61" id="61"/>
          <p:cNvGrpSpPr/>
          <p:nvPr/>
        </p:nvGrpSpPr>
        <p:grpSpPr>
          <a:xfrm rot="0">
            <a:off x="12710160" y="3913632"/>
            <a:ext cx="548640" cy="219456"/>
            <a:chOff x="0" y="0"/>
            <a:chExt cx="731520" cy="292608"/>
          </a:xfrm>
        </p:grpSpPr>
        <p:sp>
          <p:nvSpPr>
            <p:cNvPr name="Freeform 62" id="62"/>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63" id="63"/>
            <p:cNvSpPr txBox="true"/>
            <p:nvPr/>
          </p:nvSpPr>
          <p:spPr>
            <a:xfrm>
              <a:off x="0" y="-38100"/>
              <a:ext cx="731520" cy="33070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a:t>
              </a:r>
            </a:p>
          </p:txBody>
        </p:sp>
      </p:grpSp>
      <p:grpSp>
        <p:nvGrpSpPr>
          <p:cNvPr name="Group 64" id="64"/>
          <p:cNvGrpSpPr/>
          <p:nvPr/>
        </p:nvGrpSpPr>
        <p:grpSpPr>
          <a:xfrm rot="0">
            <a:off x="11965943" y="4120391"/>
            <a:ext cx="5420363" cy="720347"/>
            <a:chOff x="0" y="0"/>
            <a:chExt cx="7227151" cy="960463"/>
          </a:xfrm>
        </p:grpSpPr>
        <p:sp>
          <p:nvSpPr>
            <p:cNvPr name="Freeform 65" id="65"/>
            <p:cNvSpPr/>
            <p:nvPr/>
          </p:nvSpPr>
          <p:spPr>
            <a:xfrm flipH="false" flipV="false" rot="0">
              <a:off x="16891" y="16891"/>
              <a:ext cx="7193281" cy="926592"/>
            </a:xfrm>
            <a:custGeom>
              <a:avLst/>
              <a:gdLst/>
              <a:ahLst/>
              <a:cxnLst/>
              <a:rect r="r" b="b" t="t" l="l"/>
              <a:pathLst>
                <a:path h="926592" w="7193281">
                  <a:moveTo>
                    <a:pt x="0" y="0"/>
                  </a:moveTo>
                  <a:lnTo>
                    <a:pt x="7193281" y="0"/>
                  </a:lnTo>
                  <a:lnTo>
                    <a:pt x="7193281" y="926592"/>
                  </a:lnTo>
                  <a:lnTo>
                    <a:pt x="0" y="926592"/>
                  </a:lnTo>
                  <a:close/>
                </a:path>
              </a:pathLst>
            </a:custGeom>
            <a:solidFill>
              <a:srgbClr val="0D9488"/>
            </a:solidFill>
          </p:spPr>
        </p:sp>
        <p:sp>
          <p:nvSpPr>
            <p:cNvPr name="Freeform 66" id="66"/>
            <p:cNvSpPr/>
            <p:nvPr/>
          </p:nvSpPr>
          <p:spPr>
            <a:xfrm flipH="false" flipV="false" rot="0">
              <a:off x="0" y="0"/>
              <a:ext cx="7227062" cy="960376"/>
            </a:xfrm>
            <a:custGeom>
              <a:avLst/>
              <a:gdLst/>
              <a:ahLst/>
              <a:cxnLst/>
              <a:rect r="r" b="b" t="t" l="l"/>
              <a:pathLst>
                <a:path h="960376" w="7227062">
                  <a:moveTo>
                    <a:pt x="16891" y="0"/>
                  </a:moveTo>
                  <a:lnTo>
                    <a:pt x="7210172" y="0"/>
                  </a:lnTo>
                  <a:cubicBezTo>
                    <a:pt x="7219569" y="0"/>
                    <a:pt x="7227062" y="7620"/>
                    <a:pt x="7227062" y="16891"/>
                  </a:cubicBezTo>
                  <a:lnTo>
                    <a:pt x="7227062" y="943483"/>
                  </a:lnTo>
                  <a:cubicBezTo>
                    <a:pt x="7227062" y="952881"/>
                    <a:pt x="7219442" y="960374"/>
                    <a:pt x="7210172"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210172" y="926592"/>
                  </a:lnTo>
                  <a:lnTo>
                    <a:pt x="7210172" y="943483"/>
                  </a:lnTo>
                  <a:lnTo>
                    <a:pt x="7193280" y="943483"/>
                  </a:lnTo>
                  <a:lnTo>
                    <a:pt x="7193280" y="16891"/>
                  </a:lnTo>
                  <a:lnTo>
                    <a:pt x="7210172" y="16891"/>
                  </a:lnTo>
                  <a:lnTo>
                    <a:pt x="7210172" y="33909"/>
                  </a:lnTo>
                  <a:lnTo>
                    <a:pt x="16891" y="33909"/>
                  </a:lnTo>
                  <a:close/>
                </a:path>
              </a:pathLst>
            </a:custGeom>
            <a:solidFill>
              <a:srgbClr val="0D9488"/>
            </a:solidFill>
          </p:spPr>
        </p:sp>
      </p:grpSp>
      <p:grpSp>
        <p:nvGrpSpPr>
          <p:cNvPr name="Group 67" id="67"/>
          <p:cNvGrpSpPr/>
          <p:nvPr/>
        </p:nvGrpSpPr>
        <p:grpSpPr>
          <a:xfrm rot="0">
            <a:off x="12070080" y="4133088"/>
            <a:ext cx="5212080" cy="694944"/>
            <a:chOff x="0" y="0"/>
            <a:chExt cx="6949440" cy="926592"/>
          </a:xfrm>
        </p:grpSpPr>
        <p:sp>
          <p:nvSpPr>
            <p:cNvPr name="Freeform 68" id="68"/>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3">
                <a:alphaModFix amt="0"/>
              </a:blip>
              <a:stretch>
                <a:fillRect l="0" t="-96137" r="0" b="-96137"/>
              </a:stretch>
            </a:blipFill>
          </p:spPr>
        </p:sp>
        <p:sp>
          <p:nvSpPr>
            <p:cNvPr name="TextBox 69" id="69"/>
            <p:cNvSpPr txBox="true"/>
            <p:nvPr/>
          </p:nvSpPr>
          <p:spPr>
            <a:xfrm>
              <a:off x="0" y="-38100"/>
              <a:ext cx="6949440"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TSFE encode</a:t>
              </a:r>
            </a:p>
          </p:txBody>
        </p:sp>
      </p:grpSp>
      <p:grpSp>
        <p:nvGrpSpPr>
          <p:cNvPr name="Group 70" id="70"/>
          <p:cNvGrpSpPr/>
          <p:nvPr/>
        </p:nvGrpSpPr>
        <p:grpSpPr>
          <a:xfrm rot="0">
            <a:off x="12710160" y="4828032"/>
            <a:ext cx="548640" cy="219456"/>
            <a:chOff x="0" y="0"/>
            <a:chExt cx="731520" cy="292608"/>
          </a:xfrm>
        </p:grpSpPr>
        <p:sp>
          <p:nvSpPr>
            <p:cNvPr name="Freeform 71" id="71"/>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72" id="72"/>
            <p:cNvSpPr txBox="true"/>
            <p:nvPr/>
          </p:nvSpPr>
          <p:spPr>
            <a:xfrm>
              <a:off x="0" y="-38100"/>
              <a:ext cx="731520" cy="33070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a:t>
              </a:r>
            </a:p>
          </p:txBody>
        </p:sp>
      </p:grpSp>
      <p:grpSp>
        <p:nvGrpSpPr>
          <p:cNvPr name="Group 73" id="73"/>
          <p:cNvGrpSpPr/>
          <p:nvPr/>
        </p:nvGrpSpPr>
        <p:grpSpPr>
          <a:xfrm rot="0">
            <a:off x="11965943" y="5034791"/>
            <a:ext cx="5420363" cy="720347"/>
            <a:chOff x="0" y="0"/>
            <a:chExt cx="7227151" cy="960463"/>
          </a:xfrm>
        </p:grpSpPr>
        <p:sp>
          <p:nvSpPr>
            <p:cNvPr name="Freeform 74" id="74"/>
            <p:cNvSpPr/>
            <p:nvPr/>
          </p:nvSpPr>
          <p:spPr>
            <a:xfrm flipH="false" flipV="false" rot="0">
              <a:off x="16891" y="16891"/>
              <a:ext cx="7193281" cy="926592"/>
            </a:xfrm>
            <a:custGeom>
              <a:avLst/>
              <a:gdLst/>
              <a:ahLst/>
              <a:cxnLst/>
              <a:rect r="r" b="b" t="t" l="l"/>
              <a:pathLst>
                <a:path h="926592" w="7193281">
                  <a:moveTo>
                    <a:pt x="0" y="0"/>
                  </a:moveTo>
                  <a:lnTo>
                    <a:pt x="7193281" y="0"/>
                  </a:lnTo>
                  <a:lnTo>
                    <a:pt x="7193281" y="926592"/>
                  </a:lnTo>
                  <a:lnTo>
                    <a:pt x="0" y="926592"/>
                  </a:lnTo>
                  <a:close/>
                </a:path>
              </a:pathLst>
            </a:custGeom>
            <a:solidFill>
              <a:srgbClr val="7C3AED"/>
            </a:solidFill>
          </p:spPr>
        </p:sp>
        <p:sp>
          <p:nvSpPr>
            <p:cNvPr name="Freeform 75" id="75"/>
            <p:cNvSpPr/>
            <p:nvPr/>
          </p:nvSpPr>
          <p:spPr>
            <a:xfrm flipH="false" flipV="false" rot="0">
              <a:off x="0" y="0"/>
              <a:ext cx="7227062" cy="960376"/>
            </a:xfrm>
            <a:custGeom>
              <a:avLst/>
              <a:gdLst/>
              <a:ahLst/>
              <a:cxnLst/>
              <a:rect r="r" b="b" t="t" l="l"/>
              <a:pathLst>
                <a:path h="960376" w="7227062">
                  <a:moveTo>
                    <a:pt x="16891" y="0"/>
                  </a:moveTo>
                  <a:lnTo>
                    <a:pt x="7210172" y="0"/>
                  </a:lnTo>
                  <a:cubicBezTo>
                    <a:pt x="7219569" y="0"/>
                    <a:pt x="7227062" y="7620"/>
                    <a:pt x="7227062" y="16891"/>
                  </a:cubicBezTo>
                  <a:lnTo>
                    <a:pt x="7227062" y="943483"/>
                  </a:lnTo>
                  <a:cubicBezTo>
                    <a:pt x="7227062" y="952881"/>
                    <a:pt x="7219442" y="960374"/>
                    <a:pt x="7210172"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210172" y="926592"/>
                  </a:lnTo>
                  <a:lnTo>
                    <a:pt x="7210172" y="943483"/>
                  </a:lnTo>
                  <a:lnTo>
                    <a:pt x="7193280" y="943483"/>
                  </a:lnTo>
                  <a:lnTo>
                    <a:pt x="7193280" y="16891"/>
                  </a:lnTo>
                  <a:lnTo>
                    <a:pt x="7210172" y="16891"/>
                  </a:lnTo>
                  <a:lnTo>
                    <a:pt x="7210172" y="33909"/>
                  </a:lnTo>
                  <a:lnTo>
                    <a:pt x="16891" y="33909"/>
                  </a:lnTo>
                  <a:close/>
                </a:path>
              </a:pathLst>
            </a:custGeom>
            <a:solidFill>
              <a:srgbClr val="7C3AED"/>
            </a:solidFill>
          </p:spPr>
        </p:sp>
      </p:grpSp>
      <p:grpSp>
        <p:nvGrpSpPr>
          <p:cNvPr name="Group 76" id="76"/>
          <p:cNvGrpSpPr/>
          <p:nvPr/>
        </p:nvGrpSpPr>
        <p:grpSpPr>
          <a:xfrm rot="0">
            <a:off x="12070080" y="5047488"/>
            <a:ext cx="5212080" cy="694944"/>
            <a:chOff x="0" y="0"/>
            <a:chExt cx="6949440" cy="926592"/>
          </a:xfrm>
        </p:grpSpPr>
        <p:sp>
          <p:nvSpPr>
            <p:cNvPr name="Freeform 77" id="77"/>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3">
                <a:alphaModFix amt="0"/>
              </a:blip>
              <a:stretch>
                <a:fillRect l="0" t="-96137" r="0" b="-96137"/>
              </a:stretch>
            </a:blipFill>
          </p:spPr>
        </p:sp>
        <p:sp>
          <p:nvSpPr>
            <p:cNvPr name="TextBox 78" id="78"/>
            <p:cNvSpPr txBox="true"/>
            <p:nvPr/>
          </p:nvSpPr>
          <p:spPr>
            <a:xfrm>
              <a:off x="0" y="-38100"/>
              <a:ext cx="6949440"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Beam search</a:t>
              </a:r>
            </a:p>
            <a:p>
              <a:pPr algn="ctr">
                <a:lnSpc>
                  <a:spcPts val="2160"/>
                </a:lnSpc>
              </a:pPr>
              <a:r>
                <a:rPr lang="en-US" sz="1800" b="true">
                  <a:solidFill>
                    <a:srgbClr val="FFFFFF"/>
                  </a:solidFill>
                  <a:latin typeface="Calibri (MS) Bold"/>
                  <a:ea typeface="Calibri (MS) Bold"/>
                  <a:cs typeface="Calibri (MS) Bold"/>
                  <a:sym typeface="Calibri (MS) Bold"/>
                </a:rPr>
                <a:t>(K=5 captions)</a:t>
              </a:r>
            </a:p>
          </p:txBody>
        </p:sp>
      </p:grpSp>
      <p:grpSp>
        <p:nvGrpSpPr>
          <p:cNvPr name="Group 79" id="79"/>
          <p:cNvGrpSpPr/>
          <p:nvPr/>
        </p:nvGrpSpPr>
        <p:grpSpPr>
          <a:xfrm rot="0">
            <a:off x="12710160" y="5742432"/>
            <a:ext cx="548640" cy="219456"/>
            <a:chOff x="0" y="0"/>
            <a:chExt cx="731520" cy="292608"/>
          </a:xfrm>
        </p:grpSpPr>
        <p:sp>
          <p:nvSpPr>
            <p:cNvPr name="Freeform 80" id="80"/>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81" id="81"/>
            <p:cNvSpPr txBox="true"/>
            <p:nvPr/>
          </p:nvSpPr>
          <p:spPr>
            <a:xfrm>
              <a:off x="0" y="-38100"/>
              <a:ext cx="731520" cy="33070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a:t>
              </a:r>
            </a:p>
          </p:txBody>
        </p:sp>
      </p:grpSp>
      <p:grpSp>
        <p:nvGrpSpPr>
          <p:cNvPr name="Group 82" id="82"/>
          <p:cNvGrpSpPr/>
          <p:nvPr/>
        </p:nvGrpSpPr>
        <p:grpSpPr>
          <a:xfrm rot="0">
            <a:off x="11965943" y="5949191"/>
            <a:ext cx="5420363" cy="720347"/>
            <a:chOff x="0" y="0"/>
            <a:chExt cx="7227151" cy="960463"/>
          </a:xfrm>
        </p:grpSpPr>
        <p:sp>
          <p:nvSpPr>
            <p:cNvPr name="Freeform 83" id="83"/>
            <p:cNvSpPr/>
            <p:nvPr/>
          </p:nvSpPr>
          <p:spPr>
            <a:xfrm flipH="false" flipV="false" rot="0">
              <a:off x="16891" y="16891"/>
              <a:ext cx="7193281" cy="926592"/>
            </a:xfrm>
            <a:custGeom>
              <a:avLst/>
              <a:gdLst/>
              <a:ahLst/>
              <a:cxnLst/>
              <a:rect r="r" b="b" t="t" l="l"/>
              <a:pathLst>
                <a:path h="926592" w="7193281">
                  <a:moveTo>
                    <a:pt x="0" y="0"/>
                  </a:moveTo>
                  <a:lnTo>
                    <a:pt x="7193281" y="0"/>
                  </a:lnTo>
                  <a:lnTo>
                    <a:pt x="7193281" y="926592"/>
                  </a:lnTo>
                  <a:lnTo>
                    <a:pt x="0" y="926592"/>
                  </a:lnTo>
                  <a:close/>
                </a:path>
              </a:pathLst>
            </a:custGeom>
            <a:solidFill>
              <a:srgbClr val="0D9488"/>
            </a:solidFill>
          </p:spPr>
        </p:sp>
        <p:sp>
          <p:nvSpPr>
            <p:cNvPr name="Freeform 84" id="84"/>
            <p:cNvSpPr/>
            <p:nvPr/>
          </p:nvSpPr>
          <p:spPr>
            <a:xfrm flipH="false" flipV="false" rot="0">
              <a:off x="0" y="0"/>
              <a:ext cx="7227062" cy="960376"/>
            </a:xfrm>
            <a:custGeom>
              <a:avLst/>
              <a:gdLst/>
              <a:ahLst/>
              <a:cxnLst/>
              <a:rect r="r" b="b" t="t" l="l"/>
              <a:pathLst>
                <a:path h="960376" w="7227062">
                  <a:moveTo>
                    <a:pt x="16891" y="0"/>
                  </a:moveTo>
                  <a:lnTo>
                    <a:pt x="7210172" y="0"/>
                  </a:lnTo>
                  <a:cubicBezTo>
                    <a:pt x="7219569" y="0"/>
                    <a:pt x="7227062" y="7620"/>
                    <a:pt x="7227062" y="16891"/>
                  </a:cubicBezTo>
                  <a:lnTo>
                    <a:pt x="7227062" y="943483"/>
                  </a:lnTo>
                  <a:cubicBezTo>
                    <a:pt x="7227062" y="952881"/>
                    <a:pt x="7219442" y="960374"/>
                    <a:pt x="7210172"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210172" y="926592"/>
                  </a:lnTo>
                  <a:lnTo>
                    <a:pt x="7210172" y="943483"/>
                  </a:lnTo>
                  <a:lnTo>
                    <a:pt x="7193280" y="943483"/>
                  </a:lnTo>
                  <a:lnTo>
                    <a:pt x="7193280" y="16891"/>
                  </a:lnTo>
                  <a:lnTo>
                    <a:pt x="7210172" y="16891"/>
                  </a:lnTo>
                  <a:lnTo>
                    <a:pt x="7210172" y="33909"/>
                  </a:lnTo>
                  <a:lnTo>
                    <a:pt x="16891" y="33909"/>
                  </a:lnTo>
                  <a:close/>
                </a:path>
              </a:pathLst>
            </a:custGeom>
            <a:solidFill>
              <a:srgbClr val="0D9488"/>
            </a:solidFill>
          </p:spPr>
        </p:sp>
      </p:grpSp>
      <p:grpSp>
        <p:nvGrpSpPr>
          <p:cNvPr name="Group 85" id="85"/>
          <p:cNvGrpSpPr/>
          <p:nvPr/>
        </p:nvGrpSpPr>
        <p:grpSpPr>
          <a:xfrm rot="0">
            <a:off x="12070080" y="5961888"/>
            <a:ext cx="5212080" cy="694944"/>
            <a:chOff x="0" y="0"/>
            <a:chExt cx="6949440" cy="926592"/>
          </a:xfrm>
        </p:grpSpPr>
        <p:sp>
          <p:nvSpPr>
            <p:cNvPr name="Freeform 86" id="86"/>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3">
                <a:alphaModFix amt="0"/>
              </a:blip>
              <a:stretch>
                <a:fillRect l="0" t="-96137" r="0" b="-96137"/>
              </a:stretch>
            </a:blipFill>
          </p:spPr>
        </p:sp>
        <p:sp>
          <p:nvSpPr>
            <p:cNvPr name="TextBox 87" id="87"/>
            <p:cNvSpPr txBox="true"/>
            <p:nvPr/>
          </p:nvSpPr>
          <p:spPr>
            <a:xfrm>
              <a:off x="0" y="-38100"/>
              <a:ext cx="6949440"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CLIP image</a:t>
              </a:r>
            </a:p>
            <a:p>
              <a:pPr algn="ctr">
                <a:lnSpc>
                  <a:spcPts val="2160"/>
                </a:lnSpc>
              </a:pPr>
              <a:r>
                <a:rPr lang="en-US" sz="1800" b="true">
                  <a:solidFill>
                    <a:srgbClr val="FFFFFF"/>
                  </a:solidFill>
                  <a:latin typeface="Calibri (MS) Bold"/>
                  <a:ea typeface="Calibri (MS) Bold"/>
                  <a:cs typeface="Calibri (MS) Bold"/>
                  <a:sym typeface="Calibri (MS) Bold"/>
                </a:rPr>
                <a:t>encoder</a:t>
              </a:r>
            </a:p>
          </p:txBody>
        </p:sp>
      </p:grpSp>
      <p:grpSp>
        <p:nvGrpSpPr>
          <p:cNvPr name="Group 88" id="88"/>
          <p:cNvGrpSpPr/>
          <p:nvPr/>
        </p:nvGrpSpPr>
        <p:grpSpPr>
          <a:xfrm rot="0">
            <a:off x="12710160" y="6656832"/>
            <a:ext cx="548640" cy="219456"/>
            <a:chOff x="0" y="0"/>
            <a:chExt cx="731520" cy="292608"/>
          </a:xfrm>
        </p:grpSpPr>
        <p:sp>
          <p:nvSpPr>
            <p:cNvPr name="Freeform 89" id="89"/>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90" id="90"/>
            <p:cNvSpPr txBox="true"/>
            <p:nvPr/>
          </p:nvSpPr>
          <p:spPr>
            <a:xfrm>
              <a:off x="0" y="-38100"/>
              <a:ext cx="731520" cy="33070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a:t>
              </a:r>
            </a:p>
          </p:txBody>
        </p:sp>
      </p:grpSp>
      <p:grpSp>
        <p:nvGrpSpPr>
          <p:cNvPr name="Group 91" id="91"/>
          <p:cNvGrpSpPr/>
          <p:nvPr/>
        </p:nvGrpSpPr>
        <p:grpSpPr>
          <a:xfrm rot="0">
            <a:off x="11965943" y="6863591"/>
            <a:ext cx="5420363" cy="720347"/>
            <a:chOff x="0" y="0"/>
            <a:chExt cx="7227151" cy="960463"/>
          </a:xfrm>
        </p:grpSpPr>
        <p:sp>
          <p:nvSpPr>
            <p:cNvPr name="Freeform 92" id="92"/>
            <p:cNvSpPr/>
            <p:nvPr/>
          </p:nvSpPr>
          <p:spPr>
            <a:xfrm flipH="false" flipV="false" rot="0">
              <a:off x="16891" y="16891"/>
              <a:ext cx="7193281" cy="926592"/>
            </a:xfrm>
            <a:custGeom>
              <a:avLst/>
              <a:gdLst/>
              <a:ahLst/>
              <a:cxnLst/>
              <a:rect r="r" b="b" t="t" l="l"/>
              <a:pathLst>
                <a:path h="926592" w="7193281">
                  <a:moveTo>
                    <a:pt x="0" y="0"/>
                  </a:moveTo>
                  <a:lnTo>
                    <a:pt x="7193281" y="0"/>
                  </a:lnTo>
                  <a:lnTo>
                    <a:pt x="7193281" y="926592"/>
                  </a:lnTo>
                  <a:lnTo>
                    <a:pt x="0" y="926592"/>
                  </a:lnTo>
                  <a:close/>
                </a:path>
              </a:pathLst>
            </a:custGeom>
            <a:solidFill>
              <a:srgbClr val="7C3AED"/>
            </a:solidFill>
          </p:spPr>
        </p:sp>
        <p:sp>
          <p:nvSpPr>
            <p:cNvPr name="Freeform 93" id="93"/>
            <p:cNvSpPr/>
            <p:nvPr/>
          </p:nvSpPr>
          <p:spPr>
            <a:xfrm flipH="false" flipV="false" rot="0">
              <a:off x="0" y="0"/>
              <a:ext cx="7227062" cy="960376"/>
            </a:xfrm>
            <a:custGeom>
              <a:avLst/>
              <a:gdLst/>
              <a:ahLst/>
              <a:cxnLst/>
              <a:rect r="r" b="b" t="t" l="l"/>
              <a:pathLst>
                <a:path h="960376" w="7227062">
                  <a:moveTo>
                    <a:pt x="16891" y="0"/>
                  </a:moveTo>
                  <a:lnTo>
                    <a:pt x="7210172" y="0"/>
                  </a:lnTo>
                  <a:cubicBezTo>
                    <a:pt x="7219569" y="0"/>
                    <a:pt x="7227062" y="7620"/>
                    <a:pt x="7227062" y="16891"/>
                  </a:cubicBezTo>
                  <a:lnTo>
                    <a:pt x="7227062" y="943483"/>
                  </a:lnTo>
                  <a:cubicBezTo>
                    <a:pt x="7227062" y="952881"/>
                    <a:pt x="7219442" y="960374"/>
                    <a:pt x="7210172"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210172" y="926592"/>
                  </a:lnTo>
                  <a:lnTo>
                    <a:pt x="7210172" y="943483"/>
                  </a:lnTo>
                  <a:lnTo>
                    <a:pt x="7193280" y="943483"/>
                  </a:lnTo>
                  <a:lnTo>
                    <a:pt x="7193280" y="16891"/>
                  </a:lnTo>
                  <a:lnTo>
                    <a:pt x="7210172" y="16891"/>
                  </a:lnTo>
                  <a:lnTo>
                    <a:pt x="7210172" y="33909"/>
                  </a:lnTo>
                  <a:lnTo>
                    <a:pt x="16891" y="33909"/>
                  </a:lnTo>
                  <a:close/>
                </a:path>
              </a:pathLst>
            </a:custGeom>
            <a:solidFill>
              <a:srgbClr val="7C3AED"/>
            </a:solidFill>
          </p:spPr>
        </p:sp>
      </p:grpSp>
      <p:grpSp>
        <p:nvGrpSpPr>
          <p:cNvPr name="Group 94" id="94"/>
          <p:cNvGrpSpPr/>
          <p:nvPr/>
        </p:nvGrpSpPr>
        <p:grpSpPr>
          <a:xfrm rot="0">
            <a:off x="12070080" y="6876288"/>
            <a:ext cx="5212080" cy="694944"/>
            <a:chOff x="0" y="0"/>
            <a:chExt cx="6949440" cy="926592"/>
          </a:xfrm>
        </p:grpSpPr>
        <p:sp>
          <p:nvSpPr>
            <p:cNvPr name="Freeform 95" id="95"/>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3">
                <a:alphaModFix amt="0"/>
              </a:blip>
              <a:stretch>
                <a:fillRect l="0" t="-96137" r="0" b="-96137"/>
              </a:stretch>
            </a:blipFill>
          </p:spPr>
        </p:sp>
        <p:sp>
          <p:nvSpPr>
            <p:cNvPr name="TextBox 96" id="96"/>
            <p:cNvSpPr txBox="true"/>
            <p:nvPr/>
          </p:nvSpPr>
          <p:spPr>
            <a:xfrm>
              <a:off x="0" y="-38100"/>
              <a:ext cx="6949440"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CLIP text</a:t>
              </a:r>
            </a:p>
            <a:p>
              <a:pPr algn="ctr">
                <a:lnSpc>
                  <a:spcPts val="2160"/>
                </a:lnSpc>
              </a:pPr>
              <a:r>
                <a:rPr lang="en-US" sz="1800" b="true">
                  <a:solidFill>
                    <a:srgbClr val="FFFFFF"/>
                  </a:solidFill>
                  <a:latin typeface="Calibri (MS) Bold"/>
                  <a:ea typeface="Calibri (MS) Bold"/>
                  <a:cs typeface="Calibri (MS) Bold"/>
                  <a:sym typeface="Calibri (MS) Bold"/>
                </a:rPr>
                <a:t>encoder × 5</a:t>
              </a:r>
            </a:p>
          </p:txBody>
        </p:sp>
      </p:grpSp>
      <p:grpSp>
        <p:nvGrpSpPr>
          <p:cNvPr name="Group 97" id="97"/>
          <p:cNvGrpSpPr/>
          <p:nvPr/>
        </p:nvGrpSpPr>
        <p:grpSpPr>
          <a:xfrm rot="0">
            <a:off x="12710160" y="7571232"/>
            <a:ext cx="548640" cy="219456"/>
            <a:chOff x="0" y="0"/>
            <a:chExt cx="731520" cy="292608"/>
          </a:xfrm>
        </p:grpSpPr>
        <p:sp>
          <p:nvSpPr>
            <p:cNvPr name="Freeform 98" id="98"/>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99" id="99"/>
            <p:cNvSpPr txBox="true"/>
            <p:nvPr/>
          </p:nvSpPr>
          <p:spPr>
            <a:xfrm>
              <a:off x="0" y="-38100"/>
              <a:ext cx="731520" cy="33070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a:t>
              </a:r>
            </a:p>
          </p:txBody>
        </p:sp>
      </p:grpSp>
      <p:grpSp>
        <p:nvGrpSpPr>
          <p:cNvPr name="Group 100" id="100"/>
          <p:cNvGrpSpPr/>
          <p:nvPr/>
        </p:nvGrpSpPr>
        <p:grpSpPr>
          <a:xfrm rot="0">
            <a:off x="11965943" y="7777991"/>
            <a:ext cx="5420363" cy="720347"/>
            <a:chOff x="0" y="0"/>
            <a:chExt cx="7227151" cy="960463"/>
          </a:xfrm>
        </p:grpSpPr>
        <p:sp>
          <p:nvSpPr>
            <p:cNvPr name="Freeform 101" id="101"/>
            <p:cNvSpPr/>
            <p:nvPr/>
          </p:nvSpPr>
          <p:spPr>
            <a:xfrm flipH="false" flipV="false" rot="0">
              <a:off x="16891" y="16891"/>
              <a:ext cx="7193281" cy="926592"/>
            </a:xfrm>
            <a:custGeom>
              <a:avLst/>
              <a:gdLst/>
              <a:ahLst/>
              <a:cxnLst/>
              <a:rect r="r" b="b" t="t" l="l"/>
              <a:pathLst>
                <a:path h="926592" w="7193281">
                  <a:moveTo>
                    <a:pt x="0" y="0"/>
                  </a:moveTo>
                  <a:lnTo>
                    <a:pt x="7193281" y="0"/>
                  </a:lnTo>
                  <a:lnTo>
                    <a:pt x="7193281" y="926592"/>
                  </a:lnTo>
                  <a:lnTo>
                    <a:pt x="0" y="926592"/>
                  </a:lnTo>
                  <a:close/>
                </a:path>
              </a:pathLst>
            </a:custGeom>
            <a:solidFill>
              <a:srgbClr val="D97706"/>
            </a:solidFill>
          </p:spPr>
        </p:sp>
        <p:sp>
          <p:nvSpPr>
            <p:cNvPr name="Freeform 102" id="102"/>
            <p:cNvSpPr/>
            <p:nvPr/>
          </p:nvSpPr>
          <p:spPr>
            <a:xfrm flipH="false" flipV="false" rot="0">
              <a:off x="0" y="0"/>
              <a:ext cx="7227062" cy="960376"/>
            </a:xfrm>
            <a:custGeom>
              <a:avLst/>
              <a:gdLst/>
              <a:ahLst/>
              <a:cxnLst/>
              <a:rect r="r" b="b" t="t" l="l"/>
              <a:pathLst>
                <a:path h="960376" w="7227062">
                  <a:moveTo>
                    <a:pt x="16891" y="0"/>
                  </a:moveTo>
                  <a:lnTo>
                    <a:pt x="7210172" y="0"/>
                  </a:lnTo>
                  <a:cubicBezTo>
                    <a:pt x="7219569" y="0"/>
                    <a:pt x="7227062" y="7620"/>
                    <a:pt x="7227062" y="16891"/>
                  </a:cubicBezTo>
                  <a:lnTo>
                    <a:pt x="7227062" y="943483"/>
                  </a:lnTo>
                  <a:cubicBezTo>
                    <a:pt x="7227062" y="952881"/>
                    <a:pt x="7219442" y="960374"/>
                    <a:pt x="7210172"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210172" y="926592"/>
                  </a:lnTo>
                  <a:lnTo>
                    <a:pt x="7210172" y="943483"/>
                  </a:lnTo>
                  <a:lnTo>
                    <a:pt x="7193280" y="943483"/>
                  </a:lnTo>
                  <a:lnTo>
                    <a:pt x="7193280" y="16891"/>
                  </a:lnTo>
                  <a:lnTo>
                    <a:pt x="7210172" y="16891"/>
                  </a:lnTo>
                  <a:lnTo>
                    <a:pt x="7210172" y="33909"/>
                  </a:lnTo>
                  <a:lnTo>
                    <a:pt x="16891" y="33909"/>
                  </a:lnTo>
                  <a:close/>
                </a:path>
              </a:pathLst>
            </a:custGeom>
            <a:solidFill>
              <a:srgbClr val="D97706"/>
            </a:solidFill>
          </p:spPr>
        </p:sp>
      </p:grpSp>
      <p:grpSp>
        <p:nvGrpSpPr>
          <p:cNvPr name="Group 103" id="103"/>
          <p:cNvGrpSpPr/>
          <p:nvPr/>
        </p:nvGrpSpPr>
        <p:grpSpPr>
          <a:xfrm rot="0">
            <a:off x="12070080" y="7790688"/>
            <a:ext cx="5212080" cy="694944"/>
            <a:chOff x="0" y="0"/>
            <a:chExt cx="6949440" cy="926592"/>
          </a:xfrm>
        </p:grpSpPr>
        <p:sp>
          <p:nvSpPr>
            <p:cNvPr name="Freeform 104" id="104"/>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3">
                <a:alphaModFix amt="0"/>
              </a:blip>
              <a:stretch>
                <a:fillRect l="0" t="-96137" r="0" b="-96137"/>
              </a:stretch>
            </a:blipFill>
          </p:spPr>
        </p:sp>
        <p:sp>
          <p:nvSpPr>
            <p:cNvPr name="TextBox 105" id="105"/>
            <p:cNvSpPr txBox="true"/>
            <p:nvPr/>
          </p:nvSpPr>
          <p:spPr>
            <a:xfrm>
              <a:off x="0" y="-38100"/>
              <a:ext cx="6949440"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Cosine similarity</a:t>
              </a:r>
            </a:p>
            <a:p>
              <a:pPr algn="ctr">
                <a:lnSpc>
                  <a:spcPts val="2160"/>
                </a:lnSpc>
              </a:pPr>
              <a:r>
                <a:rPr lang="en-US" sz="1800" b="true">
                  <a:solidFill>
                    <a:srgbClr val="FFFFFF"/>
                  </a:solidFill>
                  <a:latin typeface="Calibri (MS) Bold"/>
                  <a:ea typeface="Calibri (MS) Bold"/>
                  <a:cs typeface="Calibri (MS) Bold"/>
                  <a:sym typeface="Calibri (MS) Bold"/>
                </a:rPr>
                <a:t>score each pair</a:t>
              </a:r>
            </a:p>
          </p:txBody>
        </p:sp>
      </p:grpSp>
      <p:grpSp>
        <p:nvGrpSpPr>
          <p:cNvPr name="Group 106" id="106"/>
          <p:cNvGrpSpPr/>
          <p:nvPr/>
        </p:nvGrpSpPr>
        <p:grpSpPr>
          <a:xfrm rot="0">
            <a:off x="12710160" y="8485632"/>
            <a:ext cx="548640" cy="219456"/>
            <a:chOff x="0" y="0"/>
            <a:chExt cx="731520" cy="292608"/>
          </a:xfrm>
        </p:grpSpPr>
        <p:sp>
          <p:nvSpPr>
            <p:cNvPr name="Freeform 107" id="107"/>
            <p:cNvSpPr/>
            <p:nvPr/>
          </p:nvSpPr>
          <p:spPr>
            <a:xfrm flipH="false" flipV="false" rot="0">
              <a:off x="0" y="0"/>
              <a:ext cx="731520" cy="292608"/>
            </a:xfrm>
            <a:custGeom>
              <a:avLst/>
              <a:gdLst/>
              <a:ahLst/>
              <a:cxnLst/>
              <a:rect r="r" b="b" t="t" l="l"/>
              <a:pathLst>
                <a:path h="292608" w="731520">
                  <a:moveTo>
                    <a:pt x="0" y="0"/>
                  </a:moveTo>
                  <a:lnTo>
                    <a:pt x="731520" y="0"/>
                  </a:lnTo>
                  <a:lnTo>
                    <a:pt x="731520" y="292608"/>
                  </a:lnTo>
                  <a:lnTo>
                    <a:pt x="0" y="292608"/>
                  </a:lnTo>
                  <a:close/>
                </a:path>
              </a:pathLst>
            </a:custGeom>
            <a:blipFill>
              <a:blip r:embed="rId3">
                <a:alphaModFix amt="0"/>
              </a:blip>
              <a:stretch>
                <a:fillRect l="-1321" t="0" r="-1321" b="0"/>
              </a:stretch>
            </a:blipFill>
          </p:spPr>
        </p:sp>
        <p:sp>
          <p:nvSpPr>
            <p:cNvPr name="TextBox 108" id="108"/>
            <p:cNvSpPr txBox="true"/>
            <p:nvPr/>
          </p:nvSpPr>
          <p:spPr>
            <a:xfrm>
              <a:off x="0" y="-38100"/>
              <a:ext cx="731520" cy="330708"/>
            </a:xfrm>
            <a:prstGeom prst="rect">
              <a:avLst/>
            </a:prstGeom>
          </p:spPr>
          <p:txBody>
            <a:bodyPr anchor="ctr" rtlCol="false" tIns="0" lIns="0" bIns="0" rIns="0"/>
            <a:lstStyle/>
            <a:p>
              <a:pPr algn="ctr">
                <a:lnSpc>
                  <a:spcPts val="2160"/>
                </a:lnSpc>
              </a:pPr>
              <a:r>
                <a:rPr lang="en-US" sz="1800">
                  <a:solidFill>
                    <a:srgbClr val="94A3B8"/>
                  </a:solidFill>
                  <a:latin typeface="Calibri (MS)"/>
                  <a:ea typeface="Calibri (MS)"/>
                  <a:cs typeface="Calibri (MS)"/>
                  <a:sym typeface="Calibri (MS)"/>
                </a:rPr>
                <a:t>↓</a:t>
              </a:r>
            </a:p>
          </p:txBody>
        </p:sp>
      </p:grpSp>
      <p:grpSp>
        <p:nvGrpSpPr>
          <p:cNvPr name="Group 109" id="109"/>
          <p:cNvGrpSpPr/>
          <p:nvPr/>
        </p:nvGrpSpPr>
        <p:grpSpPr>
          <a:xfrm rot="0">
            <a:off x="11965943" y="8692391"/>
            <a:ext cx="5420363" cy="720347"/>
            <a:chOff x="0" y="0"/>
            <a:chExt cx="7227151" cy="960463"/>
          </a:xfrm>
        </p:grpSpPr>
        <p:sp>
          <p:nvSpPr>
            <p:cNvPr name="Freeform 110" id="110"/>
            <p:cNvSpPr/>
            <p:nvPr/>
          </p:nvSpPr>
          <p:spPr>
            <a:xfrm flipH="false" flipV="false" rot="0">
              <a:off x="16891" y="16891"/>
              <a:ext cx="7193281" cy="926592"/>
            </a:xfrm>
            <a:custGeom>
              <a:avLst/>
              <a:gdLst/>
              <a:ahLst/>
              <a:cxnLst/>
              <a:rect r="r" b="b" t="t" l="l"/>
              <a:pathLst>
                <a:path h="926592" w="7193281">
                  <a:moveTo>
                    <a:pt x="0" y="0"/>
                  </a:moveTo>
                  <a:lnTo>
                    <a:pt x="7193281" y="0"/>
                  </a:lnTo>
                  <a:lnTo>
                    <a:pt x="7193281" y="926592"/>
                  </a:lnTo>
                  <a:lnTo>
                    <a:pt x="0" y="926592"/>
                  </a:lnTo>
                  <a:close/>
                </a:path>
              </a:pathLst>
            </a:custGeom>
            <a:solidFill>
              <a:srgbClr val="059669"/>
            </a:solidFill>
          </p:spPr>
        </p:sp>
        <p:sp>
          <p:nvSpPr>
            <p:cNvPr name="Freeform 111" id="111"/>
            <p:cNvSpPr/>
            <p:nvPr/>
          </p:nvSpPr>
          <p:spPr>
            <a:xfrm flipH="false" flipV="false" rot="0">
              <a:off x="0" y="0"/>
              <a:ext cx="7227062" cy="960376"/>
            </a:xfrm>
            <a:custGeom>
              <a:avLst/>
              <a:gdLst/>
              <a:ahLst/>
              <a:cxnLst/>
              <a:rect r="r" b="b" t="t" l="l"/>
              <a:pathLst>
                <a:path h="960376" w="7227062">
                  <a:moveTo>
                    <a:pt x="16891" y="0"/>
                  </a:moveTo>
                  <a:lnTo>
                    <a:pt x="7210172" y="0"/>
                  </a:lnTo>
                  <a:cubicBezTo>
                    <a:pt x="7219569" y="0"/>
                    <a:pt x="7227062" y="7620"/>
                    <a:pt x="7227062" y="16891"/>
                  </a:cubicBezTo>
                  <a:lnTo>
                    <a:pt x="7227062" y="943483"/>
                  </a:lnTo>
                  <a:cubicBezTo>
                    <a:pt x="7227062" y="952881"/>
                    <a:pt x="7219442" y="960374"/>
                    <a:pt x="7210172"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7210172" y="926592"/>
                  </a:lnTo>
                  <a:lnTo>
                    <a:pt x="7210172" y="943483"/>
                  </a:lnTo>
                  <a:lnTo>
                    <a:pt x="7193280" y="943483"/>
                  </a:lnTo>
                  <a:lnTo>
                    <a:pt x="7193280" y="16891"/>
                  </a:lnTo>
                  <a:lnTo>
                    <a:pt x="7210172" y="16891"/>
                  </a:lnTo>
                  <a:lnTo>
                    <a:pt x="7210172" y="33909"/>
                  </a:lnTo>
                  <a:lnTo>
                    <a:pt x="16891" y="33909"/>
                  </a:lnTo>
                  <a:close/>
                </a:path>
              </a:pathLst>
            </a:custGeom>
            <a:solidFill>
              <a:srgbClr val="059669"/>
            </a:solidFill>
          </p:spPr>
        </p:sp>
      </p:grpSp>
      <p:grpSp>
        <p:nvGrpSpPr>
          <p:cNvPr name="Group 112" id="112"/>
          <p:cNvGrpSpPr/>
          <p:nvPr/>
        </p:nvGrpSpPr>
        <p:grpSpPr>
          <a:xfrm rot="0">
            <a:off x="12070080" y="8705088"/>
            <a:ext cx="5212080" cy="694944"/>
            <a:chOff x="0" y="0"/>
            <a:chExt cx="6949440" cy="926592"/>
          </a:xfrm>
        </p:grpSpPr>
        <p:sp>
          <p:nvSpPr>
            <p:cNvPr name="Freeform 113" id="113"/>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3">
                <a:alphaModFix amt="0"/>
              </a:blip>
              <a:stretch>
                <a:fillRect l="0" t="-96137" r="0" b="-96137"/>
              </a:stretch>
            </a:blipFill>
          </p:spPr>
        </p:sp>
        <p:sp>
          <p:nvSpPr>
            <p:cNvPr name="TextBox 114" id="114"/>
            <p:cNvSpPr txBox="true"/>
            <p:nvPr/>
          </p:nvSpPr>
          <p:spPr>
            <a:xfrm>
              <a:off x="0" y="-38100"/>
              <a:ext cx="6949440" cy="9646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Return top-1</a:t>
              </a:r>
            </a:p>
            <a:p>
              <a:pPr algn="ctr">
                <a:lnSpc>
                  <a:spcPts val="2160"/>
                </a:lnSpc>
              </a:pPr>
              <a:r>
                <a:rPr lang="en-US" sz="1800" b="true">
                  <a:solidFill>
                    <a:srgbClr val="FFFFFF"/>
                  </a:solidFill>
                  <a:latin typeface="Calibri (MS) Bold"/>
                  <a:ea typeface="Calibri (MS) Bold"/>
                  <a:cs typeface="Calibri (MS) Bold"/>
                  <a:sym typeface="Calibri (MS) Bold"/>
                </a:rPr>
                <a:t>caption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0A1628"/>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0A1628"/>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IMPACT ANALYSIS</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Expected Performance Impact by Enhancement</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31520" y="2377440"/>
            <a:ext cx="16824960" cy="457200"/>
            <a:chOff x="0" y="0"/>
            <a:chExt cx="22433280" cy="609600"/>
          </a:xfrm>
        </p:grpSpPr>
        <p:sp>
          <p:nvSpPr>
            <p:cNvPr name="Freeform 14" id="14"/>
            <p:cNvSpPr/>
            <p:nvPr/>
          </p:nvSpPr>
          <p:spPr>
            <a:xfrm flipH="false" flipV="false" rot="0">
              <a:off x="0" y="0"/>
              <a:ext cx="22433280" cy="609600"/>
            </a:xfrm>
            <a:custGeom>
              <a:avLst/>
              <a:gdLst/>
              <a:ahLst/>
              <a:cxnLst/>
              <a:rect r="r" b="b" t="t" l="l"/>
              <a:pathLst>
                <a:path h="609600" w="22433280">
                  <a:moveTo>
                    <a:pt x="0" y="0"/>
                  </a:moveTo>
                  <a:lnTo>
                    <a:pt x="22433280" y="0"/>
                  </a:lnTo>
                  <a:lnTo>
                    <a:pt x="22433280" y="609600"/>
                  </a:lnTo>
                  <a:lnTo>
                    <a:pt x="0" y="609600"/>
                  </a:lnTo>
                  <a:close/>
                </a:path>
              </a:pathLst>
            </a:custGeom>
            <a:blipFill>
              <a:blip r:embed="rId3">
                <a:alphaModFix amt="0"/>
              </a:blip>
              <a:stretch>
                <a:fillRect l="0" t="-667049" r="0" b="-667049"/>
              </a:stretch>
            </a:blipFill>
          </p:spPr>
        </p:sp>
        <p:sp>
          <p:nvSpPr>
            <p:cNvPr name="TextBox 15" id="15"/>
            <p:cNvSpPr txBox="true"/>
            <p:nvPr/>
          </p:nvSpPr>
          <p:spPr>
            <a:xfrm>
              <a:off x="0" y="-38100"/>
              <a:ext cx="22433280" cy="647700"/>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Estimated gains relative to published TSFE results on RSICD (CIDEr baseline = 305.70)</a:t>
              </a:r>
            </a:p>
          </p:txBody>
        </p:sp>
      </p:grpSp>
      <p:grpSp>
        <p:nvGrpSpPr>
          <p:cNvPr name="Group 16" id="16"/>
          <p:cNvGrpSpPr/>
          <p:nvPr/>
        </p:nvGrpSpPr>
        <p:grpSpPr>
          <a:xfrm rot="0">
            <a:off x="718823" y="2876807"/>
            <a:ext cx="16850363" cy="574043"/>
            <a:chOff x="0" y="0"/>
            <a:chExt cx="22467151" cy="765391"/>
          </a:xfrm>
        </p:grpSpPr>
        <p:sp>
          <p:nvSpPr>
            <p:cNvPr name="Freeform 17" id="17"/>
            <p:cNvSpPr/>
            <p:nvPr/>
          </p:nvSpPr>
          <p:spPr>
            <a:xfrm flipH="false" flipV="false" rot="0">
              <a:off x="16891" y="16891"/>
              <a:ext cx="22433280" cy="731520"/>
            </a:xfrm>
            <a:custGeom>
              <a:avLst/>
              <a:gdLst/>
              <a:ahLst/>
              <a:cxnLst/>
              <a:rect r="r" b="b" t="t" l="l"/>
              <a:pathLst>
                <a:path h="731520" w="22433280">
                  <a:moveTo>
                    <a:pt x="0" y="0"/>
                  </a:moveTo>
                  <a:lnTo>
                    <a:pt x="22433280" y="0"/>
                  </a:lnTo>
                  <a:lnTo>
                    <a:pt x="22433280" y="731520"/>
                  </a:lnTo>
                  <a:lnTo>
                    <a:pt x="0" y="731520"/>
                  </a:lnTo>
                  <a:close/>
                </a:path>
              </a:pathLst>
            </a:custGeom>
            <a:solidFill>
              <a:srgbClr val="0A1628"/>
            </a:solidFill>
          </p:spPr>
        </p:sp>
        <p:sp>
          <p:nvSpPr>
            <p:cNvPr name="Freeform 18" id="18"/>
            <p:cNvSpPr/>
            <p:nvPr/>
          </p:nvSpPr>
          <p:spPr>
            <a:xfrm flipH="false" flipV="false" rot="0">
              <a:off x="0" y="0"/>
              <a:ext cx="22467063" cy="765304"/>
            </a:xfrm>
            <a:custGeom>
              <a:avLst/>
              <a:gdLst/>
              <a:ahLst/>
              <a:cxnLst/>
              <a:rect r="r" b="b" t="t" l="l"/>
              <a:pathLst>
                <a:path h="765304" w="22467063">
                  <a:moveTo>
                    <a:pt x="16891" y="0"/>
                  </a:moveTo>
                  <a:lnTo>
                    <a:pt x="22450171" y="0"/>
                  </a:lnTo>
                  <a:cubicBezTo>
                    <a:pt x="22459569" y="0"/>
                    <a:pt x="22467063" y="7620"/>
                    <a:pt x="22467063" y="16891"/>
                  </a:cubicBezTo>
                  <a:lnTo>
                    <a:pt x="22467063" y="748411"/>
                  </a:lnTo>
                  <a:cubicBezTo>
                    <a:pt x="22467063" y="757809"/>
                    <a:pt x="22459443" y="765302"/>
                    <a:pt x="2245017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22450171" y="731520"/>
                  </a:lnTo>
                  <a:lnTo>
                    <a:pt x="22450171" y="748411"/>
                  </a:lnTo>
                  <a:lnTo>
                    <a:pt x="22433280" y="748411"/>
                  </a:lnTo>
                  <a:lnTo>
                    <a:pt x="22433280" y="16891"/>
                  </a:lnTo>
                  <a:lnTo>
                    <a:pt x="22450171" y="16891"/>
                  </a:lnTo>
                  <a:lnTo>
                    <a:pt x="22450171" y="33909"/>
                  </a:lnTo>
                  <a:lnTo>
                    <a:pt x="16891" y="33909"/>
                  </a:lnTo>
                  <a:close/>
                </a:path>
              </a:pathLst>
            </a:custGeom>
            <a:solidFill>
              <a:srgbClr val="0A1628"/>
            </a:solidFill>
          </p:spPr>
        </p:sp>
      </p:grpSp>
      <p:grpSp>
        <p:nvGrpSpPr>
          <p:cNvPr name="Group 19" id="19"/>
          <p:cNvGrpSpPr/>
          <p:nvPr/>
        </p:nvGrpSpPr>
        <p:grpSpPr>
          <a:xfrm rot="0">
            <a:off x="1005840" y="2889504"/>
            <a:ext cx="5852160" cy="548640"/>
            <a:chOff x="0" y="0"/>
            <a:chExt cx="7802880" cy="731520"/>
          </a:xfrm>
        </p:grpSpPr>
        <p:sp>
          <p:nvSpPr>
            <p:cNvPr name="Freeform 20" id="20"/>
            <p:cNvSpPr/>
            <p:nvPr/>
          </p:nvSpPr>
          <p:spPr>
            <a:xfrm flipH="false" flipV="false" rot="0">
              <a:off x="0" y="0"/>
              <a:ext cx="7802880" cy="731520"/>
            </a:xfrm>
            <a:custGeom>
              <a:avLst/>
              <a:gdLst/>
              <a:ahLst/>
              <a:cxnLst/>
              <a:rect r="r" b="b" t="t" l="l"/>
              <a:pathLst>
                <a:path h="731520" w="7802880">
                  <a:moveTo>
                    <a:pt x="0" y="0"/>
                  </a:moveTo>
                  <a:lnTo>
                    <a:pt x="7802880" y="0"/>
                  </a:lnTo>
                  <a:lnTo>
                    <a:pt x="7802880" y="731520"/>
                  </a:lnTo>
                  <a:lnTo>
                    <a:pt x="0" y="731520"/>
                  </a:lnTo>
                  <a:close/>
                </a:path>
              </a:pathLst>
            </a:custGeom>
            <a:blipFill>
              <a:blip r:embed="rId3">
                <a:alphaModFix amt="0"/>
              </a:blip>
              <a:stretch>
                <a:fillRect l="0" t="-157840" r="0" b="-157840"/>
              </a:stretch>
            </a:blipFill>
          </p:spPr>
        </p:sp>
        <p:sp>
          <p:nvSpPr>
            <p:cNvPr name="TextBox 21" id="21"/>
            <p:cNvSpPr txBox="true"/>
            <p:nvPr/>
          </p:nvSpPr>
          <p:spPr>
            <a:xfrm>
              <a:off x="0" y="-38100"/>
              <a:ext cx="7802880" cy="769620"/>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Enhancement</a:t>
              </a:r>
            </a:p>
          </p:txBody>
        </p:sp>
      </p:grpSp>
      <p:grpSp>
        <p:nvGrpSpPr>
          <p:cNvPr name="Group 22" id="22"/>
          <p:cNvGrpSpPr/>
          <p:nvPr/>
        </p:nvGrpSpPr>
        <p:grpSpPr>
          <a:xfrm rot="0">
            <a:off x="7040880" y="2889504"/>
            <a:ext cx="1828800" cy="548640"/>
            <a:chOff x="0" y="0"/>
            <a:chExt cx="2438400" cy="731520"/>
          </a:xfrm>
        </p:grpSpPr>
        <p:sp>
          <p:nvSpPr>
            <p:cNvPr name="Freeform 23" id="23"/>
            <p:cNvSpPr/>
            <p:nvPr/>
          </p:nvSpPr>
          <p:spPr>
            <a:xfrm flipH="false" flipV="false" rot="0">
              <a:off x="0" y="0"/>
              <a:ext cx="2438400" cy="731520"/>
            </a:xfrm>
            <a:custGeom>
              <a:avLst/>
              <a:gdLst/>
              <a:ahLst/>
              <a:cxnLst/>
              <a:rect r="r" b="b" t="t" l="l"/>
              <a:pathLst>
                <a:path h="731520" w="2438400">
                  <a:moveTo>
                    <a:pt x="0" y="0"/>
                  </a:moveTo>
                  <a:lnTo>
                    <a:pt x="2438400" y="0"/>
                  </a:lnTo>
                  <a:lnTo>
                    <a:pt x="2438400" y="731520"/>
                  </a:lnTo>
                  <a:lnTo>
                    <a:pt x="0" y="731520"/>
                  </a:lnTo>
                  <a:close/>
                </a:path>
              </a:pathLst>
            </a:custGeom>
            <a:blipFill>
              <a:blip r:embed="rId3">
                <a:alphaModFix amt="0"/>
              </a:blip>
              <a:stretch>
                <a:fillRect l="0" t="-14950" r="0" b="-14950"/>
              </a:stretch>
            </a:blipFill>
          </p:spPr>
        </p:sp>
        <p:sp>
          <p:nvSpPr>
            <p:cNvPr name="TextBox 24" id="24"/>
            <p:cNvSpPr txBox="true"/>
            <p:nvPr/>
          </p:nvSpPr>
          <p:spPr>
            <a:xfrm>
              <a:off x="0" y="-38100"/>
              <a:ext cx="2438400" cy="769620"/>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CIDEr gain</a:t>
              </a:r>
            </a:p>
          </p:txBody>
        </p:sp>
      </p:grpSp>
      <p:grpSp>
        <p:nvGrpSpPr>
          <p:cNvPr name="Group 25" id="25"/>
          <p:cNvGrpSpPr/>
          <p:nvPr/>
        </p:nvGrpSpPr>
        <p:grpSpPr>
          <a:xfrm rot="0">
            <a:off x="9208770" y="2889504"/>
            <a:ext cx="1463040" cy="548640"/>
            <a:chOff x="0" y="0"/>
            <a:chExt cx="1950720" cy="731520"/>
          </a:xfrm>
        </p:grpSpPr>
        <p:sp>
          <p:nvSpPr>
            <p:cNvPr name="Freeform 26" id="26"/>
            <p:cNvSpPr/>
            <p:nvPr/>
          </p:nvSpPr>
          <p:spPr>
            <a:xfrm flipH="false" flipV="false" rot="0">
              <a:off x="0" y="0"/>
              <a:ext cx="1950720" cy="731520"/>
            </a:xfrm>
            <a:custGeom>
              <a:avLst/>
              <a:gdLst/>
              <a:ahLst/>
              <a:cxnLst/>
              <a:rect r="r" b="b" t="t" l="l"/>
              <a:pathLst>
                <a:path h="731520" w="1950720">
                  <a:moveTo>
                    <a:pt x="0" y="0"/>
                  </a:moveTo>
                  <a:lnTo>
                    <a:pt x="1950720" y="0"/>
                  </a:lnTo>
                  <a:lnTo>
                    <a:pt x="1950720" y="731520"/>
                  </a:lnTo>
                  <a:lnTo>
                    <a:pt x="0" y="731520"/>
                  </a:lnTo>
                  <a:close/>
                </a:path>
              </a:pathLst>
            </a:custGeom>
            <a:blipFill>
              <a:blip r:embed="rId3">
                <a:alphaModFix amt="0"/>
              </a:blip>
              <a:stretch>
                <a:fillRect l="0" t="-1960" r="0" b="-1960"/>
              </a:stretch>
            </a:blipFill>
          </p:spPr>
        </p:sp>
        <p:sp>
          <p:nvSpPr>
            <p:cNvPr name="TextBox 27" id="27"/>
            <p:cNvSpPr txBox="true"/>
            <p:nvPr/>
          </p:nvSpPr>
          <p:spPr>
            <a:xfrm>
              <a:off x="0" y="-38100"/>
              <a:ext cx="1950720" cy="769620"/>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BLEU-4</a:t>
              </a:r>
            </a:p>
          </p:txBody>
        </p:sp>
      </p:grpSp>
      <p:grpSp>
        <p:nvGrpSpPr>
          <p:cNvPr name="Group 28" id="28"/>
          <p:cNvGrpSpPr/>
          <p:nvPr/>
        </p:nvGrpSpPr>
        <p:grpSpPr>
          <a:xfrm rot="0">
            <a:off x="10814685" y="2889504"/>
            <a:ext cx="1463040" cy="548640"/>
            <a:chOff x="0" y="0"/>
            <a:chExt cx="1950720" cy="731520"/>
          </a:xfrm>
        </p:grpSpPr>
        <p:sp>
          <p:nvSpPr>
            <p:cNvPr name="Freeform 29" id="29"/>
            <p:cNvSpPr/>
            <p:nvPr/>
          </p:nvSpPr>
          <p:spPr>
            <a:xfrm flipH="false" flipV="false" rot="0">
              <a:off x="0" y="0"/>
              <a:ext cx="1950720" cy="731520"/>
            </a:xfrm>
            <a:custGeom>
              <a:avLst/>
              <a:gdLst/>
              <a:ahLst/>
              <a:cxnLst/>
              <a:rect r="r" b="b" t="t" l="l"/>
              <a:pathLst>
                <a:path h="731520" w="1950720">
                  <a:moveTo>
                    <a:pt x="0" y="0"/>
                  </a:moveTo>
                  <a:lnTo>
                    <a:pt x="1950720" y="0"/>
                  </a:lnTo>
                  <a:lnTo>
                    <a:pt x="1950720" y="731520"/>
                  </a:lnTo>
                  <a:lnTo>
                    <a:pt x="0" y="731520"/>
                  </a:lnTo>
                  <a:close/>
                </a:path>
              </a:pathLst>
            </a:custGeom>
            <a:blipFill>
              <a:blip r:embed="rId3">
                <a:alphaModFix amt="0"/>
              </a:blip>
              <a:stretch>
                <a:fillRect l="0" t="-1960" r="0" b="-1960"/>
              </a:stretch>
            </a:blipFill>
          </p:spPr>
        </p:sp>
        <p:sp>
          <p:nvSpPr>
            <p:cNvPr name="TextBox 30" id="30"/>
            <p:cNvSpPr txBox="true"/>
            <p:nvPr/>
          </p:nvSpPr>
          <p:spPr>
            <a:xfrm>
              <a:off x="0" y="-38100"/>
              <a:ext cx="1950720" cy="769620"/>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Priority</a:t>
              </a:r>
            </a:p>
          </p:txBody>
        </p:sp>
      </p:grpSp>
      <p:grpSp>
        <p:nvGrpSpPr>
          <p:cNvPr name="Group 31" id="31"/>
          <p:cNvGrpSpPr/>
          <p:nvPr/>
        </p:nvGrpSpPr>
        <p:grpSpPr>
          <a:xfrm rot="0">
            <a:off x="12500610" y="2889504"/>
            <a:ext cx="1371600" cy="548640"/>
            <a:chOff x="0" y="0"/>
            <a:chExt cx="1828800" cy="731520"/>
          </a:xfrm>
        </p:grpSpPr>
        <p:sp>
          <p:nvSpPr>
            <p:cNvPr name="Freeform 32" id="32"/>
            <p:cNvSpPr/>
            <p:nvPr/>
          </p:nvSpPr>
          <p:spPr>
            <a:xfrm flipH="false" flipV="false" rot="0">
              <a:off x="0" y="0"/>
              <a:ext cx="1828800" cy="731520"/>
            </a:xfrm>
            <a:custGeom>
              <a:avLst/>
              <a:gdLst/>
              <a:ahLst/>
              <a:cxnLst/>
              <a:rect r="r" b="b" t="t" l="l"/>
              <a:pathLst>
                <a:path h="731520" w="1828800">
                  <a:moveTo>
                    <a:pt x="0" y="0"/>
                  </a:moveTo>
                  <a:lnTo>
                    <a:pt x="1828800" y="0"/>
                  </a:lnTo>
                  <a:lnTo>
                    <a:pt x="1828800" y="731520"/>
                  </a:lnTo>
                  <a:lnTo>
                    <a:pt x="0" y="731520"/>
                  </a:lnTo>
                  <a:close/>
                </a:path>
              </a:pathLst>
            </a:custGeom>
            <a:blipFill>
              <a:blip r:embed="rId3">
                <a:alphaModFix amt="0"/>
              </a:blip>
              <a:stretch>
                <a:fillRect l="-1321" t="0" r="-1321" b="0"/>
              </a:stretch>
            </a:blipFill>
          </p:spPr>
        </p:sp>
        <p:sp>
          <p:nvSpPr>
            <p:cNvPr name="TextBox 33" id="33"/>
            <p:cNvSpPr txBox="true"/>
            <p:nvPr/>
          </p:nvSpPr>
          <p:spPr>
            <a:xfrm>
              <a:off x="0" y="-38100"/>
              <a:ext cx="1828800" cy="769620"/>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Effort</a:t>
              </a:r>
            </a:p>
          </p:txBody>
        </p:sp>
      </p:grpSp>
      <p:grpSp>
        <p:nvGrpSpPr>
          <p:cNvPr name="Group 34" id="34"/>
          <p:cNvGrpSpPr/>
          <p:nvPr/>
        </p:nvGrpSpPr>
        <p:grpSpPr>
          <a:xfrm rot="0">
            <a:off x="14069701" y="2889504"/>
            <a:ext cx="3657600" cy="548640"/>
            <a:chOff x="0" y="0"/>
            <a:chExt cx="4876800" cy="731520"/>
          </a:xfrm>
        </p:grpSpPr>
        <p:sp>
          <p:nvSpPr>
            <p:cNvPr name="Freeform 35" id="35"/>
            <p:cNvSpPr/>
            <p:nvPr/>
          </p:nvSpPr>
          <p:spPr>
            <a:xfrm flipH="false" flipV="false" rot="0">
              <a:off x="0" y="0"/>
              <a:ext cx="4876800" cy="731520"/>
            </a:xfrm>
            <a:custGeom>
              <a:avLst/>
              <a:gdLst/>
              <a:ahLst/>
              <a:cxnLst/>
              <a:rect r="r" b="b" t="t" l="l"/>
              <a:pathLst>
                <a:path h="731520" w="4876800">
                  <a:moveTo>
                    <a:pt x="0" y="0"/>
                  </a:moveTo>
                  <a:lnTo>
                    <a:pt x="4876800" y="0"/>
                  </a:lnTo>
                  <a:lnTo>
                    <a:pt x="4876800" y="731520"/>
                  </a:lnTo>
                  <a:lnTo>
                    <a:pt x="0" y="731520"/>
                  </a:lnTo>
                  <a:close/>
                </a:path>
              </a:pathLst>
            </a:custGeom>
            <a:blipFill>
              <a:blip r:embed="rId3">
                <a:alphaModFix amt="0"/>
              </a:blip>
              <a:stretch>
                <a:fillRect l="0" t="-79900" r="0" b="-79900"/>
              </a:stretch>
            </a:blipFill>
          </p:spPr>
        </p:sp>
        <p:sp>
          <p:nvSpPr>
            <p:cNvPr name="TextBox 36" id="36"/>
            <p:cNvSpPr txBox="true"/>
            <p:nvPr/>
          </p:nvSpPr>
          <p:spPr>
            <a:xfrm>
              <a:off x="0" y="-38100"/>
              <a:ext cx="4876800" cy="769620"/>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Notes</a:t>
              </a:r>
            </a:p>
          </p:txBody>
        </p:sp>
      </p:grpSp>
      <p:grpSp>
        <p:nvGrpSpPr>
          <p:cNvPr name="Group 37" id="37"/>
          <p:cNvGrpSpPr/>
          <p:nvPr/>
        </p:nvGrpSpPr>
        <p:grpSpPr>
          <a:xfrm rot="0">
            <a:off x="727710" y="3470910"/>
            <a:ext cx="16832580" cy="665988"/>
            <a:chOff x="0" y="0"/>
            <a:chExt cx="22443440" cy="887984"/>
          </a:xfrm>
        </p:grpSpPr>
        <p:sp>
          <p:nvSpPr>
            <p:cNvPr name="Freeform 38" id="38"/>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8FAFC"/>
            </a:solidFill>
          </p:spPr>
        </p:sp>
        <p:sp>
          <p:nvSpPr>
            <p:cNvPr name="Freeform 39" id="39"/>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40" id="40"/>
          <p:cNvGrpSpPr/>
          <p:nvPr/>
        </p:nvGrpSpPr>
        <p:grpSpPr>
          <a:xfrm rot="0">
            <a:off x="718823" y="3462023"/>
            <a:ext cx="135131" cy="683771"/>
            <a:chOff x="0" y="0"/>
            <a:chExt cx="180175" cy="911695"/>
          </a:xfrm>
        </p:grpSpPr>
        <p:sp>
          <p:nvSpPr>
            <p:cNvPr name="Freeform 41" id="41"/>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059669"/>
            </a:solidFill>
          </p:spPr>
        </p:sp>
        <p:sp>
          <p:nvSpPr>
            <p:cNvPr name="Freeform 42" id="42"/>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059669"/>
            </a:solidFill>
          </p:spPr>
        </p:sp>
      </p:grpSp>
      <p:grpSp>
        <p:nvGrpSpPr>
          <p:cNvPr name="Group 43" id="43"/>
          <p:cNvGrpSpPr/>
          <p:nvPr/>
        </p:nvGrpSpPr>
        <p:grpSpPr>
          <a:xfrm rot="0">
            <a:off x="1005840" y="3493008"/>
            <a:ext cx="5852160" cy="621792"/>
            <a:chOff x="0" y="0"/>
            <a:chExt cx="7802880" cy="829056"/>
          </a:xfrm>
        </p:grpSpPr>
        <p:sp>
          <p:nvSpPr>
            <p:cNvPr name="Freeform 44" id="44"/>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45" id="45"/>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SCST Training (Phase 3)</a:t>
              </a:r>
            </a:p>
          </p:txBody>
        </p:sp>
      </p:grpSp>
      <p:grpSp>
        <p:nvGrpSpPr>
          <p:cNvPr name="Group 46" id="46"/>
          <p:cNvGrpSpPr/>
          <p:nvPr/>
        </p:nvGrpSpPr>
        <p:grpSpPr>
          <a:xfrm rot="0">
            <a:off x="7037070" y="3598926"/>
            <a:ext cx="1744980" cy="409956"/>
            <a:chOff x="0" y="0"/>
            <a:chExt cx="2326640" cy="546608"/>
          </a:xfrm>
        </p:grpSpPr>
        <p:sp>
          <p:nvSpPr>
            <p:cNvPr name="Freeform 47" id="47"/>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48" id="48"/>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49" id="49"/>
          <p:cNvGrpSpPr/>
          <p:nvPr/>
        </p:nvGrpSpPr>
        <p:grpSpPr>
          <a:xfrm rot="0">
            <a:off x="7040880" y="3602736"/>
            <a:ext cx="1737360" cy="402336"/>
            <a:chOff x="0" y="0"/>
            <a:chExt cx="2316480" cy="536448"/>
          </a:xfrm>
        </p:grpSpPr>
        <p:sp>
          <p:nvSpPr>
            <p:cNvPr name="Freeform 50" id="50"/>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51" id="51"/>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+10 – 15</a:t>
              </a:r>
            </a:p>
          </p:txBody>
        </p:sp>
      </p:grpSp>
      <p:grpSp>
        <p:nvGrpSpPr>
          <p:cNvPr name="Group 52" id="52"/>
          <p:cNvGrpSpPr/>
          <p:nvPr/>
        </p:nvGrpSpPr>
        <p:grpSpPr>
          <a:xfrm rot="0">
            <a:off x="9052560" y="3493008"/>
            <a:ext cx="1463040" cy="621792"/>
            <a:chOff x="0" y="0"/>
            <a:chExt cx="1950720" cy="829056"/>
          </a:xfrm>
        </p:grpSpPr>
        <p:sp>
          <p:nvSpPr>
            <p:cNvPr name="Freeform 53" id="53"/>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54" id="54"/>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+2 – 4</a:t>
              </a:r>
            </a:p>
          </p:txBody>
        </p:sp>
      </p:grpSp>
      <p:grpSp>
        <p:nvGrpSpPr>
          <p:cNvPr name="Group 55" id="55"/>
          <p:cNvGrpSpPr/>
          <p:nvPr/>
        </p:nvGrpSpPr>
        <p:grpSpPr>
          <a:xfrm rot="0">
            <a:off x="10685783" y="3590039"/>
            <a:ext cx="1342139" cy="427739"/>
            <a:chOff x="0" y="0"/>
            <a:chExt cx="1789519" cy="570319"/>
          </a:xfrm>
        </p:grpSpPr>
        <p:sp>
          <p:nvSpPr>
            <p:cNvPr name="Freeform 56" id="56"/>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E05B4B"/>
            </a:solidFill>
          </p:spPr>
        </p:sp>
        <p:sp>
          <p:nvSpPr>
            <p:cNvPr name="Freeform 57" id="57"/>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E05B4B"/>
            </a:solidFill>
          </p:spPr>
        </p:sp>
      </p:grpSp>
      <p:grpSp>
        <p:nvGrpSpPr>
          <p:cNvPr name="Group 58" id="58"/>
          <p:cNvGrpSpPr/>
          <p:nvPr/>
        </p:nvGrpSpPr>
        <p:grpSpPr>
          <a:xfrm rot="0">
            <a:off x="10698480" y="3602736"/>
            <a:ext cx="1316736" cy="402336"/>
            <a:chOff x="0" y="0"/>
            <a:chExt cx="1755648" cy="536448"/>
          </a:xfrm>
        </p:grpSpPr>
        <p:sp>
          <p:nvSpPr>
            <p:cNvPr name="Freeform 59" id="59"/>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60" id="60"/>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High</a:t>
              </a:r>
            </a:p>
          </p:txBody>
        </p:sp>
      </p:grpSp>
      <p:grpSp>
        <p:nvGrpSpPr>
          <p:cNvPr name="Group 61" id="61"/>
          <p:cNvGrpSpPr/>
          <p:nvPr/>
        </p:nvGrpSpPr>
        <p:grpSpPr>
          <a:xfrm rot="0">
            <a:off x="12331703" y="3590039"/>
            <a:ext cx="1671323" cy="427739"/>
            <a:chOff x="0" y="0"/>
            <a:chExt cx="2228431" cy="570319"/>
          </a:xfrm>
        </p:grpSpPr>
        <p:sp>
          <p:nvSpPr>
            <p:cNvPr name="Freeform 62" id="62"/>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63" id="63"/>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64" id="64"/>
          <p:cNvGrpSpPr/>
          <p:nvPr/>
        </p:nvGrpSpPr>
        <p:grpSpPr>
          <a:xfrm rot="0">
            <a:off x="12344400" y="3602736"/>
            <a:ext cx="1645920" cy="402336"/>
            <a:chOff x="0" y="0"/>
            <a:chExt cx="2194560" cy="536448"/>
          </a:xfrm>
        </p:grpSpPr>
        <p:sp>
          <p:nvSpPr>
            <p:cNvPr name="Freeform 65" id="65"/>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66" id="66"/>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Medium</a:t>
              </a:r>
            </a:p>
          </p:txBody>
        </p:sp>
      </p:grpSp>
      <p:grpSp>
        <p:nvGrpSpPr>
          <p:cNvPr name="Group 67" id="67"/>
          <p:cNvGrpSpPr/>
          <p:nvPr/>
        </p:nvGrpSpPr>
        <p:grpSpPr>
          <a:xfrm rot="0">
            <a:off x="14088104" y="3483483"/>
            <a:ext cx="3474720" cy="621792"/>
            <a:chOff x="0" y="0"/>
            <a:chExt cx="4632960" cy="829056"/>
          </a:xfrm>
        </p:grpSpPr>
        <p:sp>
          <p:nvSpPr>
            <p:cNvPr name="Freeform 68" id="68"/>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69" id="69"/>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Proven gain across all captioning models; directly optimises the eval metric</a:t>
              </a:r>
            </a:p>
          </p:txBody>
        </p:sp>
      </p:grpSp>
      <p:grpSp>
        <p:nvGrpSpPr>
          <p:cNvPr name="Group 70" id="70"/>
          <p:cNvGrpSpPr/>
          <p:nvPr/>
        </p:nvGrpSpPr>
        <p:grpSpPr>
          <a:xfrm rot="0">
            <a:off x="727710" y="4147566"/>
            <a:ext cx="16832580" cy="665988"/>
            <a:chOff x="0" y="0"/>
            <a:chExt cx="22443440" cy="887984"/>
          </a:xfrm>
        </p:grpSpPr>
        <p:sp>
          <p:nvSpPr>
            <p:cNvPr name="Freeform 71" id="71"/>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FFFFF"/>
            </a:solidFill>
          </p:spPr>
        </p:sp>
        <p:sp>
          <p:nvSpPr>
            <p:cNvPr name="Freeform 72" id="72"/>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73" id="73"/>
          <p:cNvGrpSpPr/>
          <p:nvPr/>
        </p:nvGrpSpPr>
        <p:grpSpPr>
          <a:xfrm rot="0">
            <a:off x="718823" y="4138679"/>
            <a:ext cx="135131" cy="683771"/>
            <a:chOff x="0" y="0"/>
            <a:chExt cx="180175" cy="911695"/>
          </a:xfrm>
        </p:grpSpPr>
        <p:sp>
          <p:nvSpPr>
            <p:cNvPr name="Freeform 74" id="74"/>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0D9488"/>
            </a:solidFill>
          </p:spPr>
        </p:sp>
        <p:sp>
          <p:nvSpPr>
            <p:cNvPr name="Freeform 75" id="75"/>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0D9488"/>
            </a:solidFill>
          </p:spPr>
        </p:sp>
      </p:grpSp>
      <p:grpSp>
        <p:nvGrpSpPr>
          <p:cNvPr name="Group 76" id="76"/>
          <p:cNvGrpSpPr/>
          <p:nvPr/>
        </p:nvGrpSpPr>
        <p:grpSpPr>
          <a:xfrm rot="0">
            <a:off x="1005840" y="4169664"/>
            <a:ext cx="5852160" cy="621792"/>
            <a:chOff x="0" y="0"/>
            <a:chExt cx="7802880" cy="829056"/>
          </a:xfrm>
        </p:grpSpPr>
        <p:sp>
          <p:nvSpPr>
            <p:cNvPr name="Freeform 77" id="77"/>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78" id="78"/>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RS-Pretrained Backbone</a:t>
              </a:r>
            </a:p>
          </p:txBody>
        </p:sp>
      </p:grpSp>
      <p:grpSp>
        <p:nvGrpSpPr>
          <p:cNvPr name="Group 79" id="79"/>
          <p:cNvGrpSpPr/>
          <p:nvPr/>
        </p:nvGrpSpPr>
        <p:grpSpPr>
          <a:xfrm rot="0">
            <a:off x="7037070" y="4275582"/>
            <a:ext cx="1744980" cy="409956"/>
            <a:chOff x="0" y="0"/>
            <a:chExt cx="2326640" cy="546608"/>
          </a:xfrm>
        </p:grpSpPr>
        <p:sp>
          <p:nvSpPr>
            <p:cNvPr name="Freeform 80" id="80"/>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81" id="81"/>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82" id="82"/>
          <p:cNvGrpSpPr/>
          <p:nvPr/>
        </p:nvGrpSpPr>
        <p:grpSpPr>
          <a:xfrm rot="0">
            <a:off x="7040880" y="4279392"/>
            <a:ext cx="1737360" cy="402336"/>
            <a:chOff x="0" y="0"/>
            <a:chExt cx="2316480" cy="536448"/>
          </a:xfrm>
        </p:grpSpPr>
        <p:sp>
          <p:nvSpPr>
            <p:cNvPr name="Freeform 83" id="83"/>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84" id="84"/>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+6 – 12</a:t>
              </a:r>
            </a:p>
          </p:txBody>
        </p:sp>
      </p:grpSp>
      <p:grpSp>
        <p:nvGrpSpPr>
          <p:cNvPr name="Group 85" id="85"/>
          <p:cNvGrpSpPr/>
          <p:nvPr/>
        </p:nvGrpSpPr>
        <p:grpSpPr>
          <a:xfrm rot="0">
            <a:off x="9052560" y="4169664"/>
            <a:ext cx="1463040" cy="621792"/>
            <a:chOff x="0" y="0"/>
            <a:chExt cx="1950720" cy="829056"/>
          </a:xfrm>
        </p:grpSpPr>
        <p:sp>
          <p:nvSpPr>
            <p:cNvPr name="Freeform 86" id="86"/>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87" id="87"/>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+1 – 3</a:t>
              </a:r>
            </a:p>
          </p:txBody>
        </p:sp>
      </p:grpSp>
      <p:grpSp>
        <p:nvGrpSpPr>
          <p:cNvPr name="Group 88" id="88"/>
          <p:cNvGrpSpPr/>
          <p:nvPr/>
        </p:nvGrpSpPr>
        <p:grpSpPr>
          <a:xfrm rot="0">
            <a:off x="10685783" y="4266695"/>
            <a:ext cx="1342139" cy="427739"/>
            <a:chOff x="0" y="0"/>
            <a:chExt cx="1789519" cy="570319"/>
          </a:xfrm>
        </p:grpSpPr>
        <p:sp>
          <p:nvSpPr>
            <p:cNvPr name="Freeform 89" id="89"/>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E05B4B"/>
            </a:solidFill>
          </p:spPr>
        </p:sp>
        <p:sp>
          <p:nvSpPr>
            <p:cNvPr name="Freeform 90" id="90"/>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E05B4B"/>
            </a:solidFill>
          </p:spPr>
        </p:sp>
      </p:grpSp>
      <p:grpSp>
        <p:nvGrpSpPr>
          <p:cNvPr name="Group 91" id="91"/>
          <p:cNvGrpSpPr/>
          <p:nvPr/>
        </p:nvGrpSpPr>
        <p:grpSpPr>
          <a:xfrm rot="0">
            <a:off x="10698480" y="4279392"/>
            <a:ext cx="1316736" cy="402336"/>
            <a:chOff x="0" y="0"/>
            <a:chExt cx="1755648" cy="536448"/>
          </a:xfrm>
        </p:grpSpPr>
        <p:sp>
          <p:nvSpPr>
            <p:cNvPr name="Freeform 92" id="92"/>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93" id="93"/>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High</a:t>
              </a:r>
            </a:p>
          </p:txBody>
        </p:sp>
      </p:grpSp>
      <p:grpSp>
        <p:nvGrpSpPr>
          <p:cNvPr name="Group 94" id="94"/>
          <p:cNvGrpSpPr/>
          <p:nvPr/>
        </p:nvGrpSpPr>
        <p:grpSpPr>
          <a:xfrm rot="0">
            <a:off x="12331703" y="4266695"/>
            <a:ext cx="1671323" cy="427739"/>
            <a:chOff x="0" y="0"/>
            <a:chExt cx="2228431" cy="570319"/>
          </a:xfrm>
        </p:grpSpPr>
        <p:sp>
          <p:nvSpPr>
            <p:cNvPr name="Freeform 95" id="95"/>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96" id="96"/>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97" id="97"/>
          <p:cNvGrpSpPr/>
          <p:nvPr/>
        </p:nvGrpSpPr>
        <p:grpSpPr>
          <a:xfrm rot="0">
            <a:off x="12344400" y="4279392"/>
            <a:ext cx="1645920" cy="402336"/>
            <a:chOff x="0" y="0"/>
            <a:chExt cx="2194560" cy="536448"/>
          </a:xfrm>
        </p:grpSpPr>
        <p:sp>
          <p:nvSpPr>
            <p:cNvPr name="Freeform 98" id="98"/>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99" id="99"/>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100" id="100"/>
          <p:cNvGrpSpPr/>
          <p:nvPr/>
        </p:nvGrpSpPr>
        <p:grpSpPr>
          <a:xfrm rot="0">
            <a:off x="14103991" y="4169664"/>
            <a:ext cx="3474720" cy="621792"/>
            <a:chOff x="0" y="0"/>
            <a:chExt cx="4632960" cy="829056"/>
          </a:xfrm>
        </p:grpSpPr>
        <p:sp>
          <p:nvSpPr>
            <p:cNvPr name="Freeform 101" id="101"/>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102" id="102"/>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No architecture change needed; eliminates the largest training bottleneck</a:t>
              </a:r>
            </a:p>
          </p:txBody>
        </p:sp>
      </p:grpSp>
      <p:grpSp>
        <p:nvGrpSpPr>
          <p:cNvPr name="Group 103" id="103"/>
          <p:cNvGrpSpPr/>
          <p:nvPr/>
        </p:nvGrpSpPr>
        <p:grpSpPr>
          <a:xfrm rot="0">
            <a:off x="727710" y="4824222"/>
            <a:ext cx="16832580" cy="665988"/>
            <a:chOff x="0" y="0"/>
            <a:chExt cx="22443440" cy="887984"/>
          </a:xfrm>
        </p:grpSpPr>
        <p:sp>
          <p:nvSpPr>
            <p:cNvPr name="Freeform 104" id="104"/>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8FAFC"/>
            </a:solidFill>
          </p:spPr>
        </p:sp>
        <p:sp>
          <p:nvSpPr>
            <p:cNvPr name="Freeform 105" id="105"/>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106" id="106"/>
          <p:cNvGrpSpPr/>
          <p:nvPr/>
        </p:nvGrpSpPr>
        <p:grpSpPr>
          <a:xfrm rot="0">
            <a:off x="718823" y="4815335"/>
            <a:ext cx="135131" cy="683771"/>
            <a:chOff x="0" y="0"/>
            <a:chExt cx="180175" cy="911695"/>
          </a:xfrm>
        </p:grpSpPr>
        <p:sp>
          <p:nvSpPr>
            <p:cNvPr name="Freeform 107" id="107"/>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7C3AED"/>
            </a:solidFill>
          </p:spPr>
        </p:sp>
        <p:sp>
          <p:nvSpPr>
            <p:cNvPr name="Freeform 108" id="108"/>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7C3AED"/>
            </a:solidFill>
          </p:spPr>
        </p:sp>
      </p:grpSp>
      <p:grpSp>
        <p:nvGrpSpPr>
          <p:cNvPr name="Group 109" id="109"/>
          <p:cNvGrpSpPr/>
          <p:nvPr/>
        </p:nvGrpSpPr>
        <p:grpSpPr>
          <a:xfrm rot="0">
            <a:off x="1005840" y="4846320"/>
            <a:ext cx="5852160" cy="621792"/>
            <a:chOff x="0" y="0"/>
            <a:chExt cx="7802880" cy="829056"/>
          </a:xfrm>
        </p:grpSpPr>
        <p:sp>
          <p:nvSpPr>
            <p:cNvPr name="Freeform 110" id="110"/>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111" id="111"/>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Transformer Decoder</a:t>
              </a:r>
            </a:p>
          </p:txBody>
        </p:sp>
      </p:grpSp>
      <p:grpSp>
        <p:nvGrpSpPr>
          <p:cNvPr name="Group 112" id="112"/>
          <p:cNvGrpSpPr/>
          <p:nvPr/>
        </p:nvGrpSpPr>
        <p:grpSpPr>
          <a:xfrm rot="0">
            <a:off x="7037070" y="4952238"/>
            <a:ext cx="1744980" cy="409956"/>
            <a:chOff x="0" y="0"/>
            <a:chExt cx="2326640" cy="546608"/>
          </a:xfrm>
        </p:grpSpPr>
        <p:sp>
          <p:nvSpPr>
            <p:cNvPr name="Freeform 113" id="113"/>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114" id="114"/>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115" id="115"/>
          <p:cNvGrpSpPr/>
          <p:nvPr/>
        </p:nvGrpSpPr>
        <p:grpSpPr>
          <a:xfrm rot="0">
            <a:off x="7040880" y="4956048"/>
            <a:ext cx="1737360" cy="402336"/>
            <a:chOff x="0" y="0"/>
            <a:chExt cx="2316480" cy="536448"/>
          </a:xfrm>
        </p:grpSpPr>
        <p:sp>
          <p:nvSpPr>
            <p:cNvPr name="Freeform 116" id="116"/>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117" id="117"/>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+5 – 10</a:t>
              </a:r>
            </a:p>
          </p:txBody>
        </p:sp>
      </p:grpSp>
      <p:grpSp>
        <p:nvGrpSpPr>
          <p:cNvPr name="Group 118" id="118"/>
          <p:cNvGrpSpPr/>
          <p:nvPr/>
        </p:nvGrpSpPr>
        <p:grpSpPr>
          <a:xfrm rot="0">
            <a:off x="9052560" y="4846320"/>
            <a:ext cx="1463040" cy="621792"/>
            <a:chOff x="0" y="0"/>
            <a:chExt cx="1950720" cy="829056"/>
          </a:xfrm>
        </p:grpSpPr>
        <p:sp>
          <p:nvSpPr>
            <p:cNvPr name="Freeform 119" id="119"/>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120" id="120"/>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+1 – 2</a:t>
              </a:r>
            </a:p>
          </p:txBody>
        </p:sp>
      </p:grpSp>
      <p:grpSp>
        <p:nvGrpSpPr>
          <p:cNvPr name="Group 121" id="121"/>
          <p:cNvGrpSpPr/>
          <p:nvPr/>
        </p:nvGrpSpPr>
        <p:grpSpPr>
          <a:xfrm rot="0">
            <a:off x="10685783" y="4943351"/>
            <a:ext cx="1342139" cy="427739"/>
            <a:chOff x="0" y="0"/>
            <a:chExt cx="1789519" cy="570319"/>
          </a:xfrm>
        </p:grpSpPr>
        <p:sp>
          <p:nvSpPr>
            <p:cNvPr name="Freeform 122" id="122"/>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E05B4B"/>
            </a:solidFill>
          </p:spPr>
        </p:sp>
        <p:sp>
          <p:nvSpPr>
            <p:cNvPr name="Freeform 123" id="123"/>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E05B4B"/>
            </a:solidFill>
          </p:spPr>
        </p:sp>
      </p:grpSp>
      <p:grpSp>
        <p:nvGrpSpPr>
          <p:cNvPr name="Group 124" id="124"/>
          <p:cNvGrpSpPr/>
          <p:nvPr/>
        </p:nvGrpSpPr>
        <p:grpSpPr>
          <a:xfrm rot="0">
            <a:off x="10698480" y="4956048"/>
            <a:ext cx="1316736" cy="402336"/>
            <a:chOff x="0" y="0"/>
            <a:chExt cx="1755648" cy="536448"/>
          </a:xfrm>
        </p:grpSpPr>
        <p:sp>
          <p:nvSpPr>
            <p:cNvPr name="Freeform 125" id="125"/>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126" id="126"/>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High</a:t>
              </a:r>
            </a:p>
          </p:txBody>
        </p:sp>
      </p:grpSp>
      <p:grpSp>
        <p:nvGrpSpPr>
          <p:cNvPr name="Group 127" id="127"/>
          <p:cNvGrpSpPr/>
          <p:nvPr/>
        </p:nvGrpSpPr>
        <p:grpSpPr>
          <a:xfrm rot="0">
            <a:off x="12331703" y="4943351"/>
            <a:ext cx="1671323" cy="427739"/>
            <a:chOff x="0" y="0"/>
            <a:chExt cx="2228431" cy="570319"/>
          </a:xfrm>
        </p:grpSpPr>
        <p:sp>
          <p:nvSpPr>
            <p:cNvPr name="Freeform 128" id="128"/>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129" id="129"/>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130" id="130"/>
          <p:cNvGrpSpPr/>
          <p:nvPr/>
        </p:nvGrpSpPr>
        <p:grpSpPr>
          <a:xfrm rot="0">
            <a:off x="12344400" y="4956048"/>
            <a:ext cx="1645920" cy="402336"/>
            <a:chOff x="0" y="0"/>
            <a:chExt cx="2194560" cy="536448"/>
          </a:xfrm>
        </p:grpSpPr>
        <p:sp>
          <p:nvSpPr>
            <p:cNvPr name="Freeform 131" id="131"/>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132" id="132"/>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Medium</a:t>
              </a:r>
            </a:p>
          </p:txBody>
        </p:sp>
      </p:grpSp>
      <p:grpSp>
        <p:nvGrpSpPr>
          <p:cNvPr name="Group 133" id="133"/>
          <p:cNvGrpSpPr/>
          <p:nvPr/>
        </p:nvGrpSpPr>
        <p:grpSpPr>
          <a:xfrm rot="0">
            <a:off x="14088104" y="4846320"/>
            <a:ext cx="3474720" cy="621792"/>
            <a:chOff x="0" y="0"/>
            <a:chExt cx="4632960" cy="829056"/>
          </a:xfrm>
        </p:grpSpPr>
        <p:sp>
          <p:nvSpPr>
            <p:cNvPr name="Freeform 134" id="134"/>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135" id="135"/>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Better long-range coherence; replaces only the FID module</a:t>
              </a:r>
            </a:p>
          </p:txBody>
        </p:sp>
      </p:grpSp>
      <p:grpSp>
        <p:nvGrpSpPr>
          <p:cNvPr name="Group 136" id="136"/>
          <p:cNvGrpSpPr/>
          <p:nvPr/>
        </p:nvGrpSpPr>
        <p:grpSpPr>
          <a:xfrm rot="0">
            <a:off x="727710" y="5500878"/>
            <a:ext cx="16832580" cy="665988"/>
            <a:chOff x="0" y="0"/>
            <a:chExt cx="22443440" cy="887984"/>
          </a:xfrm>
        </p:grpSpPr>
        <p:sp>
          <p:nvSpPr>
            <p:cNvPr name="Freeform 137" id="137"/>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FFFFF"/>
            </a:solidFill>
          </p:spPr>
        </p:sp>
        <p:sp>
          <p:nvSpPr>
            <p:cNvPr name="Freeform 138" id="138"/>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139" id="139"/>
          <p:cNvGrpSpPr/>
          <p:nvPr/>
        </p:nvGrpSpPr>
        <p:grpSpPr>
          <a:xfrm rot="0">
            <a:off x="718823" y="5491991"/>
            <a:ext cx="135131" cy="683771"/>
            <a:chOff x="0" y="0"/>
            <a:chExt cx="180175" cy="911695"/>
          </a:xfrm>
        </p:grpSpPr>
        <p:sp>
          <p:nvSpPr>
            <p:cNvPr name="Freeform 140" id="140"/>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D97706"/>
            </a:solidFill>
          </p:spPr>
        </p:sp>
        <p:sp>
          <p:nvSpPr>
            <p:cNvPr name="Freeform 141" id="141"/>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D97706"/>
            </a:solidFill>
          </p:spPr>
        </p:sp>
      </p:grpSp>
      <p:grpSp>
        <p:nvGrpSpPr>
          <p:cNvPr name="Group 142" id="142"/>
          <p:cNvGrpSpPr/>
          <p:nvPr/>
        </p:nvGrpSpPr>
        <p:grpSpPr>
          <a:xfrm rot="0">
            <a:off x="1005840" y="5522976"/>
            <a:ext cx="5852160" cy="621792"/>
            <a:chOff x="0" y="0"/>
            <a:chExt cx="7802880" cy="829056"/>
          </a:xfrm>
        </p:grpSpPr>
        <p:sp>
          <p:nvSpPr>
            <p:cNvPr name="Freeform 143" id="143"/>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144" id="144"/>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Relative Position Encoding</a:t>
              </a:r>
            </a:p>
          </p:txBody>
        </p:sp>
      </p:grpSp>
      <p:grpSp>
        <p:nvGrpSpPr>
          <p:cNvPr name="Group 145" id="145"/>
          <p:cNvGrpSpPr/>
          <p:nvPr/>
        </p:nvGrpSpPr>
        <p:grpSpPr>
          <a:xfrm rot="0">
            <a:off x="7037070" y="5628894"/>
            <a:ext cx="1744980" cy="409956"/>
            <a:chOff x="0" y="0"/>
            <a:chExt cx="2326640" cy="546608"/>
          </a:xfrm>
        </p:grpSpPr>
        <p:sp>
          <p:nvSpPr>
            <p:cNvPr name="Freeform 146" id="146"/>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147" id="147"/>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148" id="148"/>
          <p:cNvGrpSpPr/>
          <p:nvPr/>
        </p:nvGrpSpPr>
        <p:grpSpPr>
          <a:xfrm rot="0">
            <a:off x="7040880" y="5632704"/>
            <a:ext cx="1737360" cy="402336"/>
            <a:chOff x="0" y="0"/>
            <a:chExt cx="2316480" cy="536448"/>
          </a:xfrm>
        </p:grpSpPr>
        <p:sp>
          <p:nvSpPr>
            <p:cNvPr name="Freeform 149" id="149"/>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150" id="150"/>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+3 – 6</a:t>
              </a:r>
            </a:p>
          </p:txBody>
        </p:sp>
      </p:grpSp>
      <p:grpSp>
        <p:nvGrpSpPr>
          <p:cNvPr name="Group 151" id="151"/>
          <p:cNvGrpSpPr/>
          <p:nvPr/>
        </p:nvGrpSpPr>
        <p:grpSpPr>
          <a:xfrm rot="0">
            <a:off x="9052560" y="5522976"/>
            <a:ext cx="1463040" cy="621792"/>
            <a:chOff x="0" y="0"/>
            <a:chExt cx="1950720" cy="829056"/>
          </a:xfrm>
        </p:grpSpPr>
        <p:sp>
          <p:nvSpPr>
            <p:cNvPr name="Freeform 152" id="152"/>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153" id="153"/>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+1 – 2</a:t>
              </a:r>
            </a:p>
          </p:txBody>
        </p:sp>
      </p:grpSp>
      <p:grpSp>
        <p:nvGrpSpPr>
          <p:cNvPr name="Group 154" id="154"/>
          <p:cNvGrpSpPr/>
          <p:nvPr/>
        </p:nvGrpSpPr>
        <p:grpSpPr>
          <a:xfrm rot="0">
            <a:off x="10685783" y="5620007"/>
            <a:ext cx="1342139" cy="427739"/>
            <a:chOff x="0" y="0"/>
            <a:chExt cx="1789519" cy="570319"/>
          </a:xfrm>
        </p:grpSpPr>
        <p:sp>
          <p:nvSpPr>
            <p:cNvPr name="Freeform 155" id="155"/>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156" id="156"/>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157" id="157"/>
          <p:cNvGrpSpPr/>
          <p:nvPr/>
        </p:nvGrpSpPr>
        <p:grpSpPr>
          <a:xfrm rot="0">
            <a:off x="10698480" y="5632704"/>
            <a:ext cx="1316736" cy="402336"/>
            <a:chOff x="0" y="0"/>
            <a:chExt cx="1755648" cy="536448"/>
          </a:xfrm>
        </p:grpSpPr>
        <p:sp>
          <p:nvSpPr>
            <p:cNvPr name="Freeform 158" id="158"/>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159" id="159"/>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160" id="160"/>
          <p:cNvGrpSpPr/>
          <p:nvPr/>
        </p:nvGrpSpPr>
        <p:grpSpPr>
          <a:xfrm rot="0">
            <a:off x="12331703" y="5620007"/>
            <a:ext cx="1671323" cy="427739"/>
            <a:chOff x="0" y="0"/>
            <a:chExt cx="2228431" cy="570319"/>
          </a:xfrm>
        </p:grpSpPr>
        <p:sp>
          <p:nvSpPr>
            <p:cNvPr name="Freeform 161" id="161"/>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162" id="162"/>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163" id="163"/>
          <p:cNvGrpSpPr/>
          <p:nvPr/>
        </p:nvGrpSpPr>
        <p:grpSpPr>
          <a:xfrm rot="0">
            <a:off x="12344400" y="5632704"/>
            <a:ext cx="1645920" cy="402336"/>
            <a:chOff x="0" y="0"/>
            <a:chExt cx="2194560" cy="536448"/>
          </a:xfrm>
        </p:grpSpPr>
        <p:sp>
          <p:nvSpPr>
            <p:cNvPr name="Freeform 164" id="164"/>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165" id="165"/>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166" id="166"/>
          <p:cNvGrpSpPr/>
          <p:nvPr/>
        </p:nvGrpSpPr>
        <p:grpSpPr>
          <a:xfrm rot="0">
            <a:off x="14094466" y="5522976"/>
            <a:ext cx="3474720" cy="621792"/>
            <a:chOff x="0" y="0"/>
            <a:chExt cx="4632960" cy="829056"/>
          </a:xfrm>
        </p:grpSpPr>
        <p:sp>
          <p:nvSpPr>
            <p:cNvPr name="Freeform 167" id="167"/>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168" id="168"/>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Adds spatial awareness to LFSE squeeze attention; minimal code change</a:t>
              </a:r>
            </a:p>
          </p:txBody>
        </p:sp>
      </p:grpSp>
      <p:grpSp>
        <p:nvGrpSpPr>
          <p:cNvPr name="Group 169" id="169"/>
          <p:cNvGrpSpPr/>
          <p:nvPr/>
        </p:nvGrpSpPr>
        <p:grpSpPr>
          <a:xfrm rot="0">
            <a:off x="727710" y="6177534"/>
            <a:ext cx="16832580" cy="665988"/>
            <a:chOff x="0" y="0"/>
            <a:chExt cx="22443440" cy="887984"/>
          </a:xfrm>
        </p:grpSpPr>
        <p:sp>
          <p:nvSpPr>
            <p:cNvPr name="Freeform 170" id="170"/>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8FAFC"/>
            </a:solidFill>
          </p:spPr>
        </p:sp>
        <p:sp>
          <p:nvSpPr>
            <p:cNvPr name="Freeform 171" id="171"/>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172" id="172"/>
          <p:cNvGrpSpPr/>
          <p:nvPr/>
        </p:nvGrpSpPr>
        <p:grpSpPr>
          <a:xfrm rot="0">
            <a:off x="718823" y="6168647"/>
            <a:ext cx="135131" cy="683771"/>
            <a:chOff x="0" y="0"/>
            <a:chExt cx="180175" cy="911695"/>
          </a:xfrm>
        </p:grpSpPr>
        <p:sp>
          <p:nvSpPr>
            <p:cNvPr name="Freeform 173" id="173"/>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0D9488"/>
            </a:solidFill>
          </p:spPr>
        </p:sp>
        <p:sp>
          <p:nvSpPr>
            <p:cNvPr name="Freeform 174" id="174"/>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0D9488"/>
            </a:solidFill>
          </p:spPr>
        </p:sp>
      </p:grpSp>
      <p:grpSp>
        <p:nvGrpSpPr>
          <p:cNvPr name="Group 175" id="175"/>
          <p:cNvGrpSpPr/>
          <p:nvPr/>
        </p:nvGrpSpPr>
        <p:grpSpPr>
          <a:xfrm rot="0">
            <a:off x="1005840" y="6199632"/>
            <a:ext cx="5852160" cy="621792"/>
            <a:chOff x="0" y="0"/>
            <a:chExt cx="7802880" cy="829056"/>
          </a:xfrm>
        </p:grpSpPr>
        <p:sp>
          <p:nvSpPr>
            <p:cNvPr name="Freeform 176" id="176"/>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177" id="177"/>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CBAM Attention in AMFF</a:t>
              </a:r>
            </a:p>
          </p:txBody>
        </p:sp>
      </p:grpSp>
      <p:grpSp>
        <p:nvGrpSpPr>
          <p:cNvPr name="Group 178" id="178"/>
          <p:cNvGrpSpPr/>
          <p:nvPr/>
        </p:nvGrpSpPr>
        <p:grpSpPr>
          <a:xfrm rot="0">
            <a:off x="7037070" y="6305550"/>
            <a:ext cx="1744980" cy="409956"/>
            <a:chOff x="0" y="0"/>
            <a:chExt cx="2326640" cy="546608"/>
          </a:xfrm>
        </p:grpSpPr>
        <p:sp>
          <p:nvSpPr>
            <p:cNvPr name="Freeform 179" id="179"/>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180" id="180"/>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181" id="181"/>
          <p:cNvGrpSpPr/>
          <p:nvPr/>
        </p:nvGrpSpPr>
        <p:grpSpPr>
          <a:xfrm rot="0">
            <a:off x="7040880" y="6309360"/>
            <a:ext cx="1737360" cy="402336"/>
            <a:chOff x="0" y="0"/>
            <a:chExt cx="2316480" cy="536448"/>
          </a:xfrm>
        </p:grpSpPr>
        <p:sp>
          <p:nvSpPr>
            <p:cNvPr name="Freeform 182" id="182"/>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183" id="183"/>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+2 – 5</a:t>
              </a:r>
            </a:p>
          </p:txBody>
        </p:sp>
      </p:grpSp>
      <p:grpSp>
        <p:nvGrpSpPr>
          <p:cNvPr name="Group 184" id="184"/>
          <p:cNvGrpSpPr/>
          <p:nvPr/>
        </p:nvGrpSpPr>
        <p:grpSpPr>
          <a:xfrm rot="0">
            <a:off x="9052560" y="6199632"/>
            <a:ext cx="1463040" cy="621792"/>
            <a:chOff x="0" y="0"/>
            <a:chExt cx="1950720" cy="829056"/>
          </a:xfrm>
        </p:grpSpPr>
        <p:sp>
          <p:nvSpPr>
            <p:cNvPr name="Freeform 185" id="185"/>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186" id="186"/>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+0.5–1</a:t>
              </a:r>
            </a:p>
          </p:txBody>
        </p:sp>
      </p:grpSp>
      <p:grpSp>
        <p:nvGrpSpPr>
          <p:cNvPr name="Group 187" id="187"/>
          <p:cNvGrpSpPr/>
          <p:nvPr/>
        </p:nvGrpSpPr>
        <p:grpSpPr>
          <a:xfrm rot="0">
            <a:off x="10685783" y="6296663"/>
            <a:ext cx="1342139" cy="427739"/>
            <a:chOff x="0" y="0"/>
            <a:chExt cx="1789519" cy="570319"/>
          </a:xfrm>
        </p:grpSpPr>
        <p:sp>
          <p:nvSpPr>
            <p:cNvPr name="Freeform 188" id="188"/>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189" id="189"/>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190" id="190"/>
          <p:cNvGrpSpPr/>
          <p:nvPr/>
        </p:nvGrpSpPr>
        <p:grpSpPr>
          <a:xfrm rot="0">
            <a:off x="10698480" y="6309360"/>
            <a:ext cx="1316736" cy="402336"/>
            <a:chOff x="0" y="0"/>
            <a:chExt cx="1755648" cy="536448"/>
          </a:xfrm>
        </p:grpSpPr>
        <p:sp>
          <p:nvSpPr>
            <p:cNvPr name="Freeform 191" id="191"/>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192" id="192"/>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193" id="193"/>
          <p:cNvGrpSpPr/>
          <p:nvPr/>
        </p:nvGrpSpPr>
        <p:grpSpPr>
          <a:xfrm rot="0">
            <a:off x="12331703" y="6296663"/>
            <a:ext cx="1671323" cy="427739"/>
            <a:chOff x="0" y="0"/>
            <a:chExt cx="2228431" cy="570319"/>
          </a:xfrm>
        </p:grpSpPr>
        <p:sp>
          <p:nvSpPr>
            <p:cNvPr name="Freeform 194" id="194"/>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195" id="195"/>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196" id="196"/>
          <p:cNvGrpSpPr/>
          <p:nvPr/>
        </p:nvGrpSpPr>
        <p:grpSpPr>
          <a:xfrm rot="0">
            <a:off x="12344400" y="6309360"/>
            <a:ext cx="1645920" cy="402336"/>
            <a:chOff x="0" y="0"/>
            <a:chExt cx="2194560" cy="536448"/>
          </a:xfrm>
        </p:grpSpPr>
        <p:sp>
          <p:nvSpPr>
            <p:cNvPr name="Freeform 197" id="197"/>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198" id="198"/>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199" id="199"/>
          <p:cNvGrpSpPr/>
          <p:nvPr/>
        </p:nvGrpSpPr>
        <p:grpSpPr>
          <a:xfrm rot="0">
            <a:off x="14069701" y="6199632"/>
            <a:ext cx="3474720" cy="621792"/>
            <a:chOff x="0" y="0"/>
            <a:chExt cx="4632960" cy="829056"/>
          </a:xfrm>
        </p:grpSpPr>
        <p:sp>
          <p:nvSpPr>
            <p:cNvPr name="Freeform 200" id="200"/>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201" id="201"/>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Adds 2D spatial attention on top of SENet's 1D channel attention</a:t>
              </a:r>
            </a:p>
          </p:txBody>
        </p:sp>
      </p:grpSp>
      <p:grpSp>
        <p:nvGrpSpPr>
          <p:cNvPr name="Group 202" id="202"/>
          <p:cNvGrpSpPr/>
          <p:nvPr/>
        </p:nvGrpSpPr>
        <p:grpSpPr>
          <a:xfrm rot="0">
            <a:off x="727710" y="6854190"/>
            <a:ext cx="16832580" cy="665988"/>
            <a:chOff x="0" y="0"/>
            <a:chExt cx="22443440" cy="887984"/>
          </a:xfrm>
        </p:grpSpPr>
        <p:sp>
          <p:nvSpPr>
            <p:cNvPr name="Freeform 203" id="203"/>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FFFFF"/>
            </a:solidFill>
          </p:spPr>
        </p:sp>
        <p:sp>
          <p:nvSpPr>
            <p:cNvPr name="Freeform 204" id="204"/>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205" id="205"/>
          <p:cNvGrpSpPr/>
          <p:nvPr/>
        </p:nvGrpSpPr>
        <p:grpSpPr>
          <a:xfrm rot="0">
            <a:off x="718823" y="6845303"/>
            <a:ext cx="135131" cy="683771"/>
            <a:chOff x="0" y="0"/>
            <a:chExt cx="180175" cy="911695"/>
          </a:xfrm>
        </p:grpSpPr>
        <p:sp>
          <p:nvSpPr>
            <p:cNvPr name="Freeform 206" id="206"/>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059669"/>
            </a:solidFill>
          </p:spPr>
        </p:sp>
        <p:sp>
          <p:nvSpPr>
            <p:cNvPr name="Freeform 207" id="207"/>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059669"/>
            </a:solidFill>
          </p:spPr>
        </p:sp>
      </p:grpSp>
      <p:grpSp>
        <p:nvGrpSpPr>
          <p:cNvPr name="Group 208" id="208"/>
          <p:cNvGrpSpPr/>
          <p:nvPr/>
        </p:nvGrpSpPr>
        <p:grpSpPr>
          <a:xfrm rot="0">
            <a:off x="1005840" y="6876288"/>
            <a:ext cx="5852160" cy="621792"/>
            <a:chOff x="0" y="0"/>
            <a:chExt cx="7802880" cy="829056"/>
          </a:xfrm>
        </p:grpSpPr>
        <p:sp>
          <p:nvSpPr>
            <p:cNvPr name="Freeform 209" id="209"/>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210" id="210"/>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CLIP Re-Ranking (inference)</a:t>
              </a:r>
            </a:p>
          </p:txBody>
        </p:sp>
      </p:grpSp>
      <p:grpSp>
        <p:nvGrpSpPr>
          <p:cNvPr name="Group 211" id="211"/>
          <p:cNvGrpSpPr/>
          <p:nvPr/>
        </p:nvGrpSpPr>
        <p:grpSpPr>
          <a:xfrm rot="0">
            <a:off x="7037070" y="6982206"/>
            <a:ext cx="1744980" cy="409956"/>
            <a:chOff x="0" y="0"/>
            <a:chExt cx="2326640" cy="546608"/>
          </a:xfrm>
        </p:grpSpPr>
        <p:sp>
          <p:nvSpPr>
            <p:cNvPr name="Freeform 212" id="212"/>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213" id="213"/>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214" id="214"/>
          <p:cNvGrpSpPr/>
          <p:nvPr/>
        </p:nvGrpSpPr>
        <p:grpSpPr>
          <a:xfrm rot="0">
            <a:off x="7040880" y="6986016"/>
            <a:ext cx="1737360" cy="402336"/>
            <a:chOff x="0" y="0"/>
            <a:chExt cx="2316480" cy="536448"/>
          </a:xfrm>
        </p:grpSpPr>
        <p:sp>
          <p:nvSpPr>
            <p:cNvPr name="Freeform 215" id="215"/>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216" id="216"/>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+2 – 4</a:t>
              </a:r>
            </a:p>
          </p:txBody>
        </p:sp>
      </p:grpSp>
      <p:grpSp>
        <p:nvGrpSpPr>
          <p:cNvPr name="Group 217" id="217"/>
          <p:cNvGrpSpPr/>
          <p:nvPr/>
        </p:nvGrpSpPr>
        <p:grpSpPr>
          <a:xfrm rot="0">
            <a:off x="9052560" y="6876288"/>
            <a:ext cx="1463040" cy="621792"/>
            <a:chOff x="0" y="0"/>
            <a:chExt cx="1950720" cy="829056"/>
          </a:xfrm>
        </p:grpSpPr>
        <p:sp>
          <p:nvSpPr>
            <p:cNvPr name="Freeform 218" id="218"/>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219" id="219"/>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+0.5–1</a:t>
              </a:r>
            </a:p>
          </p:txBody>
        </p:sp>
      </p:grpSp>
      <p:grpSp>
        <p:nvGrpSpPr>
          <p:cNvPr name="Group 220" id="220"/>
          <p:cNvGrpSpPr/>
          <p:nvPr/>
        </p:nvGrpSpPr>
        <p:grpSpPr>
          <a:xfrm rot="0">
            <a:off x="10685783" y="6973319"/>
            <a:ext cx="1342139" cy="427739"/>
            <a:chOff x="0" y="0"/>
            <a:chExt cx="1789519" cy="570319"/>
          </a:xfrm>
        </p:grpSpPr>
        <p:sp>
          <p:nvSpPr>
            <p:cNvPr name="Freeform 221" id="221"/>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222" id="222"/>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223" id="223"/>
          <p:cNvGrpSpPr/>
          <p:nvPr/>
        </p:nvGrpSpPr>
        <p:grpSpPr>
          <a:xfrm rot="0">
            <a:off x="10698480" y="6986016"/>
            <a:ext cx="1316736" cy="402336"/>
            <a:chOff x="0" y="0"/>
            <a:chExt cx="1755648" cy="536448"/>
          </a:xfrm>
        </p:grpSpPr>
        <p:sp>
          <p:nvSpPr>
            <p:cNvPr name="Freeform 224" id="224"/>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225" id="225"/>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226" id="226"/>
          <p:cNvGrpSpPr/>
          <p:nvPr/>
        </p:nvGrpSpPr>
        <p:grpSpPr>
          <a:xfrm rot="0">
            <a:off x="12331703" y="6973319"/>
            <a:ext cx="1671323" cy="427739"/>
            <a:chOff x="0" y="0"/>
            <a:chExt cx="2228431" cy="570319"/>
          </a:xfrm>
        </p:grpSpPr>
        <p:sp>
          <p:nvSpPr>
            <p:cNvPr name="Freeform 227" id="227"/>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228" id="228"/>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229" id="229"/>
          <p:cNvGrpSpPr/>
          <p:nvPr/>
        </p:nvGrpSpPr>
        <p:grpSpPr>
          <a:xfrm rot="0">
            <a:off x="12344400" y="6986016"/>
            <a:ext cx="1645920" cy="402336"/>
            <a:chOff x="0" y="0"/>
            <a:chExt cx="2194560" cy="536448"/>
          </a:xfrm>
        </p:grpSpPr>
        <p:sp>
          <p:nvSpPr>
            <p:cNvPr name="Freeform 230" id="230"/>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231" id="231"/>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232" id="232"/>
          <p:cNvGrpSpPr/>
          <p:nvPr/>
        </p:nvGrpSpPr>
        <p:grpSpPr>
          <a:xfrm rot="0">
            <a:off x="14103991" y="6876288"/>
            <a:ext cx="3474720" cy="621792"/>
            <a:chOff x="0" y="0"/>
            <a:chExt cx="4632960" cy="829056"/>
          </a:xfrm>
        </p:grpSpPr>
        <p:sp>
          <p:nvSpPr>
            <p:cNvPr name="Freeform 233" id="233"/>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234" id="234"/>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No retraining; just add beam search + CLIP scoring at decode time</a:t>
              </a:r>
            </a:p>
          </p:txBody>
        </p:sp>
      </p:grpSp>
      <p:grpSp>
        <p:nvGrpSpPr>
          <p:cNvPr name="Group 235" id="235"/>
          <p:cNvGrpSpPr/>
          <p:nvPr/>
        </p:nvGrpSpPr>
        <p:grpSpPr>
          <a:xfrm rot="0">
            <a:off x="727710" y="7530846"/>
            <a:ext cx="16832580" cy="665988"/>
            <a:chOff x="0" y="0"/>
            <a:chExt cx="22443440" cy="887984"/>
          </a:xfrm>
        </p:grpSpPr>
        <p:sp>
          <p:nvSpPr>
            <p:cNvPr name="Freeform 236" id="236"/>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8FAFC"/>
            </a:solidFill>
          </p:spPr>
        </p:sp>
        <p:sp>
          <p:nvSpPr>
            <p:cNvPr name="Freeform 237" id="237"/>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238" id="238"/>
          <p:cNvGrpSpPr/>
          <p:nvPr/>
        </p:nvGrpSpPr>
        <p:grpSpPr>
          <a:xfrm rot="0">
            <a:off x="718823" y="7521959"/>
            <a:ext cx="135131" cy="683771"/>
            <a:chOff x="0" y="0"/>
            <a:chExt cx="180175" cy="911695"/>
          </a:xfrm>
        </p:grpSpPr>
        <p:sp>
          <p:nvSpPr>
            <p:cNvPr name="Freeform 239" id="239"/>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E05B4B"/>
            </a:solidFill>
          </p:spPr>
        </p:sp>
        <p:sp>
          <p:nvSpPr>
            <p:cNvPr name="Freeform 240" id="240"/>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E05B4B"/>
            </a:solidFill>
          </p:spPr>
        </p:sp>
      </p:grpSp>
      <p:grpSp>
        <p:nvGrpSpPr>
          <p:cNvPr name="Group 241" id="241"/>
          <p:cNvGrpSpPr/>
          <p:nvPr/>
        </p:nvGrpSpPr>
        <p:grpSpPr>
          <a:xfrm rot="0">
            <a:off x="1005840" y="7552944"/>
            <a:ext cx="5852160" cy="621792"/>
            <a:chOff x="0" y="0"/>
            <a:chExt cx="7802880" cy="829056"/>
          </a:xfrm>
        </p:grpSpPr>
        <p:sp>
          <p:nvSpPr>
            <p:cNvPr name="Freeform 242" id="242"/>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243" id="243"/>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Graph Neural Network on LFSE</a:t>
              </a:r>
            </a:p>
          </p:txBody>
        </p:sp>
      </p:grpSp>
      <p:grpSp>
        <p:nvGrpSpPr>
          <p:cNvPr name="Group 244" id="244"/>
          <p:cNvGrpSpPr/>
          <p:nvPr/>
        </p:nvGrpSpPr>
        <p:grpSpPr>
          <a:xfrm rot="0">
            <a:off x="7037070" y="7658862"/>
            <a:ext cx="1744980" cy="409956"/>
            <a:chOff x="0" y="0"/>
            <a:chExt cx="2326640" cy="546608"/>
          </a:xfrm>
        </p:grpSpPr>
        <p:sp>
          <p:nvSpPr>
            <p:cNvPr name="Freeform 245" id="245"/>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246" id="246"/>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247" id="247"/>
          <p:cNvGrpSpPr/>
          <p:nvPr/>
        </p:nvGrpSpPr>
        <p:grpSpPr>
          <a:xfrm rot="0">
            <a:off x="7040880" y="7662672"/>
            <a:ext cx="1737360" cy="402336"/>
            <a:chOff x="0" y="0"/>
            <a:chExt cx="2316480" cy="536448"/>
          </a:xfrm>
        </p:grpSpPr>
        <p:sp>
          <p:nvSpPr>
            <p:cNvPr name="Freeform 248" id="248"/>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249" id="249"/>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+3 – 7</a:t>
              </a:r>
            </a:p>
          </p:txBody>
        </p:sp>
      </p:grpSp>
      <p:grpSp>
        <p:nvGrpSpPr>
          <p:cNvPr name="Group 250" id="250"/>
          <p:cNvGrpSpPr/>
          <p:nvPr/>
        </p:nvGrpSpPr>
        <p:grpSpPr>
          <a:xfrm rot="0">
            <a:off x="9052560" y="7552944"/>
            <a:ext cx="1463040" cy="621792"/>
            <a:chOff x="0" y="0"/>
            <a:chExt cx="1950720" cy="829056"/>
          </a:xfrm>
        </p:grpSpPr>
        <p:sp>
          <p:nvSpPr>
            <p:cNvPr name="Freeform 251" id="251"/>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252" id="252"/>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+1 – 2</a:t>
              </a:r>
            </a:p>
          </p:txBody>
        </p:sp>
      </p:grpSp>
      <p:grpSp>
        <p:nvGrpSpPr>
          <p:cNvPr name="Group 253" id="253"/>
          <p:cNvGrpSpPr/>
          <p:nvPr/>
        </p:nvGrpSpPr>
        <p:grpSpPr>
          <a:xfrm rot="0">
            <a:off x="10685783" y="7649975"/>
            <a:ext cx="1342139" cy="427739"/>
            <a:chOff x="0" y="0"/>
            <a:chExt cx="1789519" cy="570319"/>
          </a:xfrm>
        </p:grpSpPr>
        <p:sp>
          <p:nvSpPr>
            <p:cNvPr name="Freeform 254" id="254"/>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255" id="255"/>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256" id="256"/>
          <p:cNvGrpSpPr/>
          <p:nvPr/>
        </p:nvGrpSpPr>
        <p:grpSpPr>
          <a:xfrm rot="0">
            <a:off x="10698480" y="7662672"/>
            <a:ext cx="1316736" cy="402336"/>
            <a:chOff x="0" y="0"/>
            <a:chExt cx="1755648" cy="536448"/>
          </a:xfrm>
        </p:grpSpPr>
        <p:sp>
          <p:nvSpPr>
            <p:cNvPr name="Freeform 257" id="257"/>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258" id="258"/>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259" id="259"/>
          <p:cNvGrpSpPr/>
          <p:nvPr/>
        </p:nvGrpSpPr>
        <p:grpSpPr>
          <a:xfrm rot="0">
            <a:off x="12331703" y="7649975"/>
            <a:ext cx="1671323" cy="427739"/>
            <a:chOff x="0" y="0"/>
            <a:chExt cx="2228431" cy="570319"/>
          </a:xfrm>
        </p:grpSpPr>
        <p:sp>
          <p:nvSpPr>
            <p:cNvPr name="Freeform 260" id="260"/>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261" id="261"/>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262" id="262"/>
          <p:cNvGrpSpPr/>
          <p:nvPr/>
        </p:nvGrpSpPr>
        <p:grpSpPr>
          <a:xfrm rot="0">
            <a:off x="12344400" y="7662672"/>
            <a:ext cx="1645920" cy="402336"/>
            <a:chOff x="0" y="0"/>
            <a:chExt cx="2194560" cy="536448"/>
          </a:xfrm>
        </p:grpSpPr>
        <p:sp>
          <p:nvSpPr>
            <p:cNvPr name="Freeform 263" id="263"/>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264" id="264"/>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High</a:t>
              </a:r>
            </a:p>
          </p:txBody>
        </p:sp>
      </p:grpSp>
      <p:grpSp>
        <p:nvGrpSpPr>
          <p:cNvPr name="Group 265" id="265"/>
          <p:cNvGrpSpPr/>
          <p:nvPr/>
        </p:nvGrpSpPr>
        <p:grpSpPr>
          <a:xfrm rot="0">
            <a:off x="14094466" y="7552944"/>
            <a:ext cx="3474720" cy="621792"/>
            <a:chOff x="0" y="0"/>
            <a:chExt cx="4632960" cy="829056"/>
          </a:xfrm>
        </p:grpSpPr>
        <p:sp>
          <p:nvSpPr>
            <p:cNvPr name="Freeform 266" id="266"/>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267" id="267"/>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Explicit object-relation modeling; adds a GNN layer after LFSE</a:t>
              </a:r>
            </a:p>
          </p:txBody>
        </p:sp>
      </p:grpSp>
      <p:grpSp>
        <p:nvGrpSpPr>
          <p:cNvPr name="Group 268" id="268"/>
          <p:cNvGrpSpPr/>
          <p:nvPr/>
        </p:nvGrpSpPr>
        <p:grpSpPr>
          <a:xfrm rot="0">
            <a:off x="727710" y="8207502"/>
            <a:ext cx="16832580" cy="665988"/>
            <a:chOff x="0" y="0"/>
            <a:chExt cx="22443440" cy="887984"/>
          </a:xfrm>
        </p:grpSpPr>
        <p:sp>
          <p:nvSpPr>
            <p:cNvPr name="Freeform 269" id="269"/>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FFFFF"/>
            </a:solidFill>
          </p:spPr>
        </p:sp>
        <p:sp>
          <p:nvSpPr>
            <p:cNvPr name="Freeform 270" id="270"/>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271" id="271"/>
          <p:cNvGrpSpPr/>
          <p:nvPr/>
        </p:nvGrpSpPr>
        <p:grpSpPr>
          <a:xfrm rot="0">
            <a:off x="718823" y="8198615"/>
            <a:ext cx="135131" cy="683771"/>
            <a:chOff x="0" y="0"/>
            <a:chExt cx="180175" cy="911695"/>
          </a:xfrm>
        </p:grpSpPr>
        <p:sp>
          <p:nvSpPr>
            <p:cNvPr name="Freeform 272" id="272"/>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7C3AED"/>
            </a:solidFill>
          </p:spPr>
        </p:sp>
        <p:sp>
          <p:nvSpPr>
            <p:cNvPr name="Freeform 273" id="273"/>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7C3AED"/>
            </a:solidFill>
          </p:spPr>
        </p:sp>
      </p:grpSp>
      <p:grpSp>
        <p:nvGrpSpPr>
          <p:cNvPr name="Group 274" id="274"/>
          <p:cNvGrpSpPr/>
          <p:nvPr/>
        </p:nvGrpSpPr>
        <p:grpSpPr>
          <a:xfrm rot="0">
            <a:off x="1005840" y="8229600"/>
            <a:ext cx="5852160" cy="621792"/>
            <a:chOff x="0" y="0"/>
            <a:chExt cx="7802880" cy="829056"/>
          </a:xfrm>
        </p:grpSpPr>
        <p:sp>
          <p:nvSpPr>
            <p:cNvPr name="Freeform 275" id="275"/>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276" id="276"/>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Contrastive Alignment (InfoNCE)</a:t>
              </a:r>
            </a:p>
          </p:txBody>
        </p:sp>
      </p:grpSp>
      <p:grpSp>
        <p:nvGrpSpPr>
          <p:cNvPr name="Group 277" id="277"/>
          <p:cNvGrpSpPr/>
          <p:nvPr/>
        </p:nvGrpSpPr>
        <p:grpSpPr>
          <a:xfrm rot="0">
            <a:off x="7037070" y="8335518"/>
            <a:ext cx="1744980" cy="409956"/>
            <a:chOff x="0" y="0"/>
            <a:chExt cx="2326640" cy="546608"/>
          </a:xfrm>
        </p:grpSpPr>
        <p:sp>
          <p:nvSpPr>
            <p:cNvPr name="Freeform 278" id="278"/>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279" id="279"/>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280" id="280"/>
          <p:cNvGrpSpPr/>
          <p:nvPr/>
        </p:nvGrpSpPr>
        <p:grpSpPr>
          <a:xfrm rot="0">
            <a:off x="7040880" y="8339328"/>
            <a:ext cx="1737360" cy="402336"/>
            <a:chOff x="0" y="0"/>
            <a:chExt cx="2316480" cy="536448"/>
          </a:xfrm>
        </p:grpSpPr>
        <p:sp>
          <p:nvSpPr>
            <p:cNvPr name="Freeform 281" id="281"/>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282" id="282"/>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+2 – 4</a:t>
              </a:r>
            </a:p>
          </p:txBody>
        </p:sp>
      </p:grpSp>
      <p:grpSp>
        <p:nvGrpSpPr>
          <p:cNvPr name="Group 283" id="283"/>
          <p:cNvGrpSpPr/>
          <p:nvPr/>
        </p:nvGrpSpPr>
        <p:grpSpPr>
          <a:xfrm rot="0">
            <a:off x="9052560" y="8229600"/>
            <a:ext cx="1463040" cy="621792"/>
            <a:chOff x="0" y="0"/>
            <a:chExt cx="1950720" cy="829056"/>
          </a:xfrm>
        </p:grpSpPr>
        <p:sp>
          <p:nvSpPr>
            <p:cNvPr name="Freeform 284" id="284"/>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285" id="285"/>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+0.5–1</a:t>
              </a:r>
            </a:p>
          </p:txBody>
        </p:sp>
      </p:grpSp>
      <p:grpSp>
        <p:nvGrpSpPr>
          <p:cNvPr name="Group 286" id="286"/>
          <p:cNvGrpSpPr/>
          <p:nvPr/>
        </p:nvGrpSpPr>
        <p:grpSpPr>
          <a:xfrm rot="0">
            <a:off x="10685783" y="8326631"/>
            <a:ext cx="1342139" cy="427739"/>
            <a:chOff x="0" y="0"/>
            <a:chExt cx="1789519" cy="570319"/>
          </a:xfrm>
        </p:grpSpPr>
        <p:sp>
          <p:nvSpPr>
            <p:cNvPr name="Freeform 287" id="287"/>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D97706"/>
            </a:solidFill>
          </p:spPr>
        </p:sp>
        <p:sp>
          <p:nvSpPr>
            <p:cNvPr name="Freeform 288" id="288"/>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D97706"/>
            </a:solidFill>
          </p:spPr>
        </p:sp>
      </p:grpSp>
      <p:grpSp>
        <p:nvGrpSpPr>
          <p:cNvPr name="Group 289" id="289"/>
          <p:cNvGrpSpPr/>
          <p:nvPr/>
        </p:nvGrpSpPr>
        <p:grpSpPr>
          <a:xfrm rot="0">
            <a:off x="10698480" y="8339328"/>
            <a:ext cx="1316736" cy="402336"/>
            <a:chOff x="0" y="0"/>
            <a:chExt cx="1755648" cy="536448"/>
          </a:xfrm>
        </p:grpSpPr>
        <p:sp>
          <p:nvSpPr>
            <p:cNvPr name="Freeform 290" id="290"/>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291" id="291"/>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Medium</a:t>
              </a:r>
            </a:p>
          </p:txBody>
        </p:sp>
      </p:grpSp>
      <p:grpSp>
        <p:nvGrpSpPr>
          <p:cNvPr name="Group 292" id="292"/>
          <p:cNvGrpSpPr/>
          <p:nvPr/>
        </p:nvGrpSpPr>
        <p:grpSpPr>
          <a:xfrm rot="0">
            <a:off x="12331703" y="8326631"/>
            <a:ext cx="1671323" cy="427739"/>
            <a:chOff x="0" y="0"/>
            <a:chExt cx="2228431" cy="570319"/>
          </a:xfrm>
        </p:grpSpPr>
        <p:sp>
          <p:nvSpPr>
            <p:cNvPr name="Freeform 293" id="293"/>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294" id="294"/>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295" id="295"/>
          <p:cNvGrpSpPr/>
          <p:nvPr/>
        </p:nvGrpSpPr>
        <p:grpSpPr>
          <a:xfrm rot="0">
            <a:off x="12344400" y="8339328"/>
            <a:ext cx="1645920" cy="402336"/>
            <a:chOff x="0" y="0"/>
            <a:chExt cx="2194560" cy="536448"/>
          </a:xfrm>
        </p:grpSpPr>
        <p:sp>
          <p:nvSpPr>
            <p:cNvPr name="Freeform 296" id="296"/>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297" id="297"/>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Medium</a:t>
              </a:r>
            </a:p>
          </p:txBody>
        </p:sp>
      </p:grpSp>
      <p:grpSp>
        <p:nvGrpSpPr>
          <p:cNvPr name="Group 298" id="298"/>
          <p:cNvGrpSpPr/>
          <p:nvPr/>
        </p:nvGrpSpPr>
        <p:grpSpPr>
          <a:xfrm rot="0">
            <a:off x="14088104" y="8229600"/>
            <a:ext cx="3474720" cy="621792"/>
            <a:chOff x="0" y="0"/>
            <a:chExt cx="4632960" cy="829056"/>
          </a:xfrm>
        </p:grpSpPr>
        <p:sp>
          <p:nvSpPr>
            <p:cNvPr name="Freeform 299" id="299"/>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300" id="300"/>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Replaces SmoothL1 in fine-tuning phase with InfoNCE cross-modal loss</a:t>
              </a:r>
            </a:p>
          </p:txBody>
        </p:sp>
      </p:grpSp>
      <p:grpSp>
        <p:nvGrpSpPr>
          <p:cNvPr name="Group 301" id="301"/>
          <p:cNvGrpSpPr/>
          <p:nvPr/>
        </p:nvGrpSpPr>
        <p:grpSpPr>
          <a:xfrm rot="0">
            <a:off x="727710" y="8884158"/>
            <a:ext cx="16832580" cy="665988"/>
            <a:chOff x="0" y="0"/>
            <a:chExt cx="22443440" cy="887984"/>
          </a:xfrm>
        </p:grpSpPr>
        <p:sp>
          <p:nvSpPr>
            <p:cNvPr name="Freeform 302" id="302"/>
            <p:cNvSpPr/>
            <p:nvPr/>
          </p:nvSpPr>
          <p:spPr>
            <a:xfrm flipH="false" flipV="false" rot="0">
              <a:off x="5080" y="5080"/>
              <a:ext cx="22433281" cy="877824"/>
            </a:xfrm>
            <a:custGeom>
              <a:avLst/>
              <a:gdLst/>
              <a:ahLst/>
              <a:cxnLst/>
              <a:rect r="r" b="b" t="t" l="l"/>
              <a:pathLst>
                <a:path h="877824" w="22433281">
                  <a:moveTo>
                    <a:pt x="0" y="0"/>
                  </a:moveTo>
                  <a:lnTo>
                    <a:pt x="22433281" y="0"/>
                  </a:lnTo>
                  <a:lnTo>
                    <a:pt x="22433281" y="877824"/>
                  </a:lnTo>
                  <a:lnTo>
                    <a:pt x="0" y="877824"/>
                  </a:lnTo>
                  <a:close/>
                </a:path>
              </a:pathLst>
            </a:custGeom>
            <a:solidFill>
              <a:srgbClr val="F8FAFC"/>
            </a:solidFill>
          </p:spPr>
        </p:sp>
        <p:sp>
          <p:nvSpPr>
            <p:cNvPr name="Freeform 303" id="303"/>
            <p:cNvSpPr/>
            <p:nvPr/>
          </p:nvSpPr>
          <p:spPr>
            <a:xfrm flipH="false" flipV="false" rot="0">
              <a:off x="0" y="0"/>
              <a:ext cx="22443441" cy="887984"/>
            </a:xfrm>
            <a:custGeom>
              <a:avLst/>
              <a:gdLst/>
              <a:ahLst/>
              <a:cxnLst/>
              <a:rect r="r" b="b" t="t" l="l"/>
              <a:pathLst>
                <a:path h="887984" w="22443441">
                  <a:moveTo>
                    <a:pt x="5080" y="0"/>
                  </a:moveTo>
                  <a:lnTo>
                    <a:pt x="22438361" y="0"/>
                  </a:lnTo>
                  <a:cubicBezTo>
                    <a:pt x="22441154" y="0"/>
                    <a:pt x="22443441" y="2286"/>
                    <a:pt x="22443441" y="5080"/>
                  </a:cubicBezTo>
                  <a:lnTo>
                    <a:pt x="22443441" y="882904"/>
                  </a:lnTo>
                  <a:cubicBezTo>
                    <a:pt x="22443441" y="885698"/>
                    <a:pt x="22441154" y="887984"/>
                    <a:pt x="22438361" y="887984"/>
                  </a:cubicBezTo>
                  <a:lnTo>
                    <a:pt x="5080" y="887984"/>
                  </a:lnTo>
                  <a:cubicBezTo>
                    <a:pt x="2286" y="887984"/>
                    <a:pt x="0" y="885698"/>
                    <a:pt x="0" y="882904"/>
                  </a:cubicBezTo>
                  <a:lnTo>
                    <a:pt x="0" y="5080"/>
                  </a:lnTo>
                  <a:cubicBezTo>
                    <a:pt x="0" y="2286"/>
                    <a:pt x="2286" y="0"/>
                    <a:pt x="5080" y="0"/>
                  </a:cubicBezTo>
                  <a:moveTo>
                    <a:pt x="5080" y="10160"/>
                  </a:moveTo>
                  <a:lnTo>
                    <a:pt x="5080" y="5080"/>
                  </a:lnTo>
                  <a:lnTo>
                    <a:pt x="10160" y="5080"/>
                  </a:lnTo>
                  <a:lnTo>
                    <a:pt x="10160" y="882904"/>
                  </a:lnTo>
                  <a:lnTo>
                    <a:pt x="5080" y="882904"/>
                  </a:lnTo>
                  <a:lnTo>
                    <a:pt x="5080" y="877824"/>
                  </a:lnTo>
                  <a:lnTo>
                    <a:pt x="22438361" y="877824"/>
                  </a:lnTo>
                  <a:lnTo>
                    <a:pt x="22438361" y="882904"/>
                  </a:lnTo>
                  <a:lnTo>
                    <a:pt x="22433280" y="882904"/>
                  </a:lnTo>
                  <a:lnTo>
                    <a:pt x="22433280" y="5080"/>
                  </a:lnTo>
                  <a:lnTo>
                    <a:pt x="22438361" y="5080"/>
                  </a:lnTo>
                  <a:lnTo>
                    <a:pt x="22438361" y="10160"/>
                  </a:lnTo>
                  <a:lnTo>
                    <a:pt x="5080" y="10160"/>
                  </a:lnTo>
                  <a:close/>
                </a:path>
              </a:pathLst>
            </a:custGeom>
            <a:solidFill>
              <a:srgbClr val="E2E8F0"/>
            </a:solidFill>
          </p:spPr>
        </p:sp>
      </p:grpSp>
      <p:grpSp>
        <p:nvGrpSpPr>
          <p:cNvPr name="Group 304" id="304"/>
          <p:cNvGrpSpPr/>
          <p:nvPr/>
        </p:nvGrpSpPr>
        <p:grpSpPr>
          <a:xfrm rot="0">
            <a:off x="718823" y="8875271"/>
            <a:ext cx="135131" cy="683771"/>
            <a:chOff x="0" y="0"/>
            <a:chExt cx="180175" cy="911695"/>
          </a:xfrm>
        </p:grpSpPr>
        <p:sp>
          <p:nvSpPr>
            <p:cNvPr name="Freeform 305" id="305"/>
            <p:cNvSpPr/>
            <p:nvPr/>
          </p:nvSpPr>
          <p:spPr>
            <a:xfrm flipH="false" flipV="false" rot="0">
              <a:off x="16891" y="16891"/>
              <a:ext cx="146304" cy="877824"/>
            </a:xfrm>
            <a:custGeom>
              <a:avLst/>
              <a:gdLst/>
              <a:ahLst/>
              <a:cxnLst/>
              <a:rect r="r" b="b" t="t" l="l"/>
              <a:pathLst>
                <a:path h="877824" w="146304">
                  <a:moveTo>
                    <a:pt x="0" y="0"/>
                  </a:moveTo>
                  <a:lnTo>
                    <a:pt x="146304" y="0"/>
                  </a:lnTo>
                  <a:lnTo>
                    <a:pt x="146304" y="877824"/>
                  </a:lnTo>
                  <a:lnTo>
                    <a:pt x="0" y="877824"/>
                  </a:lnTo>
                  <a:close/>
                </a:path>
              </a:pathLst>
            </a:custGeom>
            <a:solidFill>
              <a:srgbClr val="475569"/>
            </a:solidFill>
          </p:spPr>
        </p:sp>
        <p:sp>
          <p:nvSpPr>
            <p:cNvPr name="Freeform 306" id="306"/>
            <p:cNvSpPr/>
            <p:nvPr/>
          </p:nvSpPr>
          <p:spPr>
            <a:xfrm flipH="false" flipV="false" rot="0">
              <a:off x="0" y="0"/>
              <a:ext cx="180086" cy="911608"/>
            </a:xfrm>
            <a:custGeom>
              <a:avLst/>
              <a:gdLst/>
              <a:ahLst/>
              <a:cxnLst/>
              <a:rect r="r" b="b" t="t" l="l"/>
              <a:pathLst>
                <a:path h="911608" w="180086">
                  <a:moveTo>
                    <a:pt x="16891" y="0"/>
                  </a:moveTo>
                  <a:lnTo>
                    <a:pt x="163195" y="0"/>
                  </a:lnTo>
                  <a:cubicBezTo>
                    <a:pt x="172593" y="0"/>
                    <a:pt x="180086" y="7620"/>
                    <a:pt x="180086" y="16891"/>
                  </a:cubicBezTo>
                  <a:lnTo>
                    <a:pt x="180086" y="894715"/>
                  </a:lnTo>
                  <a:cubicBezTo>
                    <a:pt x="180086" y="904113"/>
                    <a:pt x="172466" y="911606"/>
                    <a:pt x="163195"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163195" y="877824"/>
                  </a:lnTo>
                  <a:lnTo>
                    <a:pt x="163195" y="894715"/>
                  </a:lnTo>
                  <a:lnTo>
                    <a:pt x="146304" y="894715"/>
                  </a:lnTo>
                  <a:lnTo>
                    <a:pt x="146304" y="16891"/>
                  </a:lnTo>
                  <a:lnTo>
                    <a:pt x="163195" y="16891"/>
                  </a:lnTo>
                  <a:lnTo>
                    <a:pt x="163195" y="33909"/>
                  </a:lnTo>
                  <a:lnTo>
                    <a:pt x="16891" y="33909"/>
                  </a:lnTo>
                  <a:close/>
                </a:path>
              </a:pathLst>
            </a:custGeom>
            <a:solidFill>
              <a:srgbClr val="475569"/>
            </a:solidFill>
          </p:spPr>
        </p:sp>
      </p:grpSp>
      <p:grpSp>
        <p:nvGrpSpPr>
          <p:cNvPr name="Group 307" id="307"/>
          <p:cNvGrpSpPr/>
          <p:nvPr/>
        </p:nvGrpSpPr>
        <p:grpSpPr>
          <a:xfrm rot="0">
            <a:off x="1005840" y="8906256"/>
            <a:ext cx="5852160" cy="621792"/>
            <a:chOff x="0" y="0"/>
            <a:chExt cx="7802880" cy="829056"/>
          </a:xfrm>
        </p:grpSpPr>
        <p:sp>
          <p:nvSpPr>
            <p:cNvPr name="Freeform 308" id="308"/>
            <p:cNvSpPr/>
            <p:nvPr/>
          </p:nvSpPr>
          <p:spPr>
            <a:xfrm flipH="false" flipV="false" rot="0">
              <a:off x="0" y="0"/>
              <a:ext cx="7802880" cy="829056"/>
            </a:xfrm>
            <a:custGeom>
              <a:avLst/>
              <a:gdLst/>
              <a:ahLst/>
              <a:cxnLst/>
              <a:rect r="r" b="b" t="t" l="l"/>
              <a:pathLst>
                <a:path h="829056" w="7802880">
                  <a:moveTo>
                    <a:pt x="0" y="0"/>
                  </a:moveTo>
                  <a:lnTo>
                    <a:pt x="7802880" y="0"/>
                  </a:lnTo>
                  <a:lnTo>
                    <a:pt x="7802880" y="829056"/>
                  </a:lnTo>
                  <a:lnTo>
                    <a:pt x="0" y="829056"/>
                  </a:lnTo>
                  <a:close/>
                </a:path>
              </a:pathLst>
            </a:custGeom>
            <a:blipFill>
              <a:blip r:embed="rId3">
                <a:alphaModFix amt="0"/>
              </a:blip>
              <a:stretch>
                <a:fillRect l="0" t="-133388" r="0" b="-133388"/>
              </a:stretch>
            </a:blipFill>
          </p:spPr>
        </p:sp>
        <p:sp>
          <p:nvSpPr>
            <p:cNvPr name="TextBox 309" id="309"/>
            <p:cNvSpPr txBox="true"/>
            <p:nvPr/>
          </p:nvSpPr>
          <p:spPr>
            <a:xfrm>
              <a:off x="0" y="-38100"/>
              <a:ext cx="7802880" cy="867156"/>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Joint Multi-Dataset Training</a:t>
              </a:r>
            </a:p>
          </p:txBody>
        </p:sp>
      </p:grpSp>
      <p:grpSp>
        <p:nvGrpSpPr>
          <p:cNvPr name="Group 310" id="310"/>
          <p:cNvGrpSpPr/>
          <p:nvPr/>
        </p:nvGrpSpPr>
        <p:grpSpPr>
          <a:xfrm rot="0">
            <a:off x="7037070" y="9012174"/>
            <a:ext cx="1744980" cy="409956"/>
            <a:chOff x="0" y="0"/>
            <a:chExt cx="2326640" cy="546608"/>
          </a:xfrm>
        </p:grpSpPr>
        <p:sp>
          <p:nvSpPr>
            <p:cNvPr name="Freeform 311" id="311"/>
            <p:cNvSpPr/>
            <p:nvPr/>
          </p:nvSpPr>
          <p:spPr>
            <a:xfrm flipH="false" flipV="false" rot="0">
              <a:off x="5080" y="5080"/>
              <a:ext cx="2316480" cy="536448"/>
            </a:xfrm>
            <a:custGeom>
              <a:avLst/>
              <a:gdLst/>
              <a:ahLst/>
              <a:cxnLst/>
              <a:rect r="r" b="b" t="t" l="l"/>
              <a:pathLst>
                <a:path h="536448" w="2316480">
                  <a:moveTo>
                    <a:pt x="0" y="0"/>
                  </a:moveTo>
                  <a:lnTo>
                    <a:pt x="2316480" y="0"/>
                  </a:lnTo>
                  <a:lnTo>
                    <a:pt x="2316480" y="536448"/>
                  </a:lnTo>
                  <a:lnTo>
                    <a:pt x="0" y="536448"/>
                  </a:lnTo>
                  <a:close/>
                </a:path>
              </a:pathLst>
            </a:custGeom>
            <a:solidFill>
              <a:srgbClr val="D1FAE5"/>
            </a:solidFill>
          </p:spPr>
        </p:sp>
        <p:sp>
          <p:nvSpPr>
            <p:cNvPr name="Freeform 312" id="312"/>
            <p:cNvSpPr/>
            <p:nvPr/>
          </p:nvSpPr>
          <p:spPr>
            <a:xfrm flipH="false" flipV="false" rot="0">
              <a:off x="0" y="0"/>
              <a:ext cx="2326640" cy="546608"/>
            </a:xfrm>
            <a:custGeom>
              <a:avLst/>
              <a:gdLst/>
              <a:ahLst/>
              <a:cxnLst/>
              <a:rect r="r" b="b" t="t" l="l"/>
              <a:pathLst>
                <a:path h="546608" w="2326640">
                  <a:moveTo>
                    <a:pt x="5080" y="0"/>
                  </a:moveTo>
                  <a:lnTo>
                    <a:pt x="2321560" y="0"/>
                  </a:lnTo>
                  <a:cubicBezTo>
                    <a:pt x="2324354" y="0"/>
                    <a:pt x="2326640" y="2286"/>
                    <a:pt x="2326640" y="5080"/>
                  </a:cubicBezTo>
                  <a:lnTo>
                    <a:pt x="2326640" y="541528"/>
                  </a:lnTo>
                  <a:cubicBezTo>
                    <a:pt x="2326640" y="544322"/>
                    <a:pt x="2324354" y="546608"/>
                    <a:pt x="2321560" y="546608"/>
                  </a:cubicBezTo>
                  <a:lnTo>
                    <a:pt x="5080" y="546608"/>
                  </a:lnTo>
                  <a:cubicBezTo>
                    <a:pt x="2286" y="546608"/>
                    <a:pt x="0" y="544322"/>
                    <a:pt x="0" y="541528"/>
                  </a:cubicBezTo>
                  <a:lnTo>
                    <a:pt x="0" y="5080"/>
                  </a:lnTo>
                  <a:cubicBezTo>
                    <a:pt x="0" y="2286"/>
                    <a:pt x="2286" y="0"/>
                    <a:pt x="5080" y="0"/>
                  </a:cubicBezTo>
                  <a:moveTo>
                    <a:pt x="5080" y="10160"/>
                  </a:moveTo>
                  <a:lnTo>
                    <a:pt x="5080" y="5080"/>
                  </a:lnTo>
                  <a:lnTo>
                    <a:pt x="10160" y="5080"/>
                  </a:lnTo>
                  <a:lnTo>
                    <a:pt x="10160" y="541528"/>
                  </a:lnTo>
                  <a:lnTo>
                    <a:pt x="5080" y="541528"/>
                  </a:lnTo>
                  <a:lnTo>
                    <a:pt x="5080" y="536448"/>
                  </a:lnTo>
                  <a:lnTo>
                    <a:pt x="2321560" y="536448"/>
                  </a:lnTo>
                  <a:lnTo>
                    <a:pt x="2321560" y="541528"/>
                  </a:lnTo>
                  <a:lnTo>
                    <a:pt x="2316480" y="541528"/>
                  </a:lnTo>
                  <a:lnTo>
                    <a:pt x="2316480" y="5080"/>
                  </a:lnTo>
                  <a:lnTo>
                    <a:pt x="2321560" y="5080"/>
                  </a:lnTo>
                  <a:lnTo>
                    <a:pt x="2321560" y="10160"/>
                  </a:lnTo>
                  <a:lnTo>
                    <a:pt x="5080" y="10160"/>
                  </a:lnTo>
                  <a:close/>
                </a:path>
              </a:pathLst>
            </a:custGeom>
            <a:solidFill>
              <a:srgbClr val="059669"/>
            </a:solidFill>
          </p:spPr>
        </p:sp>
      </p:grpSp>
      <p:grpSp>
        <p:nvGrpSpPr>
          <p:cNvPr name="Group 313" id="313"/>
          <p:cNvGrpSpPr/>
          <p:nvPr/>
        </p:nvGrpSpPr>
        <p:grpSpPr>
          <a:xfrm rot="0">
            <a:off x="7040880" y="9015984"/>
            <a:ext cx="1737360" cy="402336"/>
            <a:chOff x="0" y="0"/>
            <a:chExt cx="2316480" cy="536448"/>
          </a:xfrm>
        </p:grpSpPr>
        <p:sp>
          <p:nvSpPr>
            <p:cNvPr name="Freeform 314" id="314"/>
            <p:cNvSpPr/>
            <p:nvPr/>
          </p:nvSpPr>
          <p:spPr>
            <a:xfrm flipH="false" flipV="false" rot="0">
              <a:off x="0" y="0"/>
              <a:ext cx="2316480" cy="536448"/>
            </a:xfrm>
            <a:custGeom>
              <a:avLst/>
              <a:gdLst/>
              <a:ahLst/>
              <a:cxnLst/>
              <a:rect r="r" b="b" t="t" l="l"/>
              <a:pathLst>
                <a:path h="536448" w="2316480">
                  <a:moveTo>
                    <a:pt x="0" y="0"/>
                  </a:moveTo>
                  <a:lnTo>
                    <a:pt x="2316480" y="0"/>
                  </a:lnTo>
                  <a:lnTo>
                    <a:pt x="2316480" y="536448"/>
                  </a:lnTo>
                  <a:lnTo>
                    <a:pt x="0" y="536448"/>
                  </a:lnTo>
                  <a:close/>
                </a:path>
              </a:pathLst>
            </a:custGeom>
            <a:blipFill>
              <a:blip r:embed="rId3">
                <a:alphaModFix amt="0"/>
              </a:blip>
              <a:stretch>
                <a:fillRect l="0" t="-34139" r="0" b="-34139"/>
              </a:stretch>
            </a:blipFill>
          </p:spPr>
        </p:sp>
        <p:sp>
          <p:nvSpPr>
            <p:cNvPr name="TextBox 315" id="315"/>
            <p:cNvSpPr txBox="true"/>
            <p:nvPr/>
          </p:nvSpPr>
          <p:spPr>
            <a:xfrm>
              <a:off x="0" y="-38100"/>
              <a:ext cx="2316480" cy="574548"/>
            </a:xfrm>
            <a:prstGeom prst="rect">
              <a:avLst/>
            </a:prstGeom>
          </p:spPr>
          <p:txBody>
            <a:bodyPr anchor="ctr" rtlCol="false" tIns="0" lIns="0" bIns="0" rIns="0"/>
            <a:lstStyle/>
            <a:p>
              <a:pPr algn="ctr">
                <a:lnSpc>
                  <a:spcPts val="2039"/>
                </a:lnSpc>
              </a:pPr>
              <a:r>
                <a:rPr lang="en-US" sz="1700" b="true">
                  <a:solidFill>
                    <a:srgbClr val="0F6E56"/>
                  </a:solidFill>
                  <a:latin typeface="Calibri (MS) Bold"/>
                  <a:ea typeface="Calibri (MS) Bold"/>
                  <a:cs typeface="Calibri (MS) Bold"/>
                  <a:sym typeface="Calibri (MS) Bold"/>
                </a:rPr>
                <a:t>+1 – 3</a:t>
              </a:r>
            </a:p>
          </p:txBody>
        </p:sp>
      </p:grpSp>
      <p:grpSp>
        <p:nvGrpSpPr>
          <p:cNvPr name="Group 316" id="316"/>
          <p:cNvGrpSpPr/>
          <p:nvPr/>
        </p:nvGrpSpPr>
        <p:grpSpPr>
          <a:xfrm rot="0">
            <a:off x="9052560" y="8906256"/>
            <a:ext cx="1463040" cy="621792"/>
            <a:chOff x="0" y="0"/>
            <a:chExt cx="1950720" cy="829056"/>
          </a:xfrm>
        </p:grpSpPr>
        <p:sp>
          <p:nvSpPr>
            <p:cNvPr name="Freeform 317" id="317"/>
            <p:cNvSpPr/>
            <p:nvPr/>
          </p:nvSpPr>
          <p:spPr>
            <a:xfrm flipH="false" flipV="false" rot="0">
              <a:off x="0" y="0"/>
              <a:ext cx="1950720" cy="829056"/>
            </a:xfrm>
            <a:custGeom>
              <a:avLst/>
              <a:gdLst/>
              <a:ahLst/>
              <a:cxnLst/>
              <a:rect r="r" b="b" t="t" l="l"/>
              <a:pathLst>
                <a:path h="829056" w="1950720">
                  <a:moveTo>
                    <a:pt x="0" y="0"/>
                  </a:moveTo>
                  <a:lnTo>
                    <a:pt x="1950720" y="0"/>
                  </a:lnTo>
                  <a:lnTo>
                    <a:pt x="1950720" y="829056"/>
                  </a:lnTo>
                  <a:lnTo>
                    <a:pt x="0" y="829056"/>
                  </a:lnTo>
                  <a:close/>
                </a:path>
              </a:pathLst>
            </a:custGeom>
            <a:blipFill>
              <a:blip r:embed="rId3">
                <a:alphaModFix amt="0"/>
              </a:blip>
              <a:stretch>
                <a:fillRect l="-4529" t="0" r="-4529" b="0"/>
              </a:stretch>
            </a:blipFill>
          </p:spPr>
        </p:sp>
        <p:sp>
          <p:nvSpPr>
            <p:cNvPr name="TextBox 318" id="318"/>
            <p:cNvSpPr txBox="true"/>
            <p:nvPr/>
          </p:nvSpPr>
          <p:spPr>
            <a:xfrm>
              <a:off x="0" y="-38100"/>
              <a:ext cx="1950720" cy="867156"/>
            </a:xfrm>
            <a:prstGeom prst="rect">
              <a:avLst/>
            </a:prstGeom>
          </p:spPr>
          <p:txBody>
            <a:bodyPr anchor="ctr" rtlCol="false" tIns="0" lIns="0" bIns="0" rIns="0"/>
            <a:lstStyle/>
            <a:p>
              <a:pPr algn="ctr">
                <a:lnSpc>
                  <a:spcPts val="2160"/>
                </a:lnSpc>
              </a:pPr>
              <a:r>
                <a:rPr lang="en-US" sz="1800">
                  <a:solidFill>
                    <a:srgbClr val="1E293B"/>
                  </a:solidFill>
                  <a:latin typeface="Calibri (MS)"/>
                  <a:ea typeface="Calibri (MS)"/>
                  <a:cs typeface="Calibri (MS)"/>
                  <a:sym typeface="Calibri (MS)"/>
                </a:rPr>
                <a:t>+0.5–1</a:t>
              </a:r>
            </a:p>
          </p:txBody>
        </p:sp>
      </p:grpSp>
      <p:grpSp>
        <p:nvGrpSpPr>
          <p:cNvPr name="Group 319" id="319"/>
          <p:cNvGrpSpPr/>
          <p:nvPr/>
        </p:nvGrpSpPr>
        <p:grpSpPr>
          <a:xfrm rot="0">
            <a:off x="10685783" y="9003287"/>
            <a:ext cx="1342139" cy="427739"/>
            <a:chOff x="0" y="0"/>
            <a:chExt cx="1789519" cy="570319"/>
          </a:xfrm>
        </p:grpSpPr>
        <p:sp>
          <p:nvSpPr>
            <p:cNvPr name="Freeform 320" id="320"/>
            <p:cNvSpPr/>
            <p:nvPr/>
          </p:nvSpPr>
          <p:spPr>
            <a:xfrm flipH="false" flipV="false" rot="0">
              <a:off x="16891" y="16891"/>
              <a:ext cx="1755648" cy="536448"/>
            </a:xfrm>
            <a:custGeom>
              <a:avLst/>
              <a:gdLst/>
              <a:ahLst/>
              <a:cxnLst/>
              <a:rect r="r" b="b" t="t" l="l"/>
              <a:pathLst>
                <a:path h="536448" w="1755648">
                  <a:moveTo>
                    <a:pt x="0" y="0"/>
                  </a:moveTo>
                  <a:lnTo>
                    <a:pt x="1755648" y="0"/>
                  </a:lnTo>
                  <a:lnTo>
                    <a:pt x="1755648" y="536448"/>
                  </a:lnTo>
                  <a:lnTo>
                    <a:pt x="0" y="536448"/>
                  </a:lnTo>
                  <a:close/>
                </a:path>
              </a:pathLst>
            </a:custGeom>
            <a:solidFill>
              <a:srgbClr val="0D9488"/>
            </a:solidFill>
          </p:spPr>
        </p:sp>
        <p:sp>
          <p:nvSpPr>
            <p:cNvPr name="Freeform 321" id="321"/>
            <p:cNvSpPr/>
            <p:nvPr/>
          </p:nvSpPr>
          <p:spPr>
            <a:xfrm flipH="false" flipV="false" rot="0">
              <a:off x="0" y="0"/>
              <a:ext cx="1789430" cy="570232"/>
            </a:xfrm>
            <a:custGeom>
              <a:avLst/>
              <a:gdLst/>
              <a:ahLst/>
              <a:cxnLst/>
              <a:rect r="r" b="b" t="t" l="l"/>
              <a:pathLst>
                <a:path h="570232" w="1789430">
                  <a:moveTo>
                    <a:pt x="16891" y="0"/>
                  </a:moveTo>
                  <a:lnTo>
                    <a:pt x="1772539" y="0"/>
                  </a:lnTo>
                  <a:cubicBezTo>
                    <a:pt x="1781937" y="0"/>
                    <a:pt x="1789430" y="7620"/>
                    <a:pt x="1789430" y="16891"/>
                  </a:cubicBezTo>
                  <a:lnTo>
                    <a:pt x="1789430" y="553339"/>
                  </a:lnTo>
                  <a:cubicBezTo>
                    <a:pt x="1789430" y="562737"/>
                    <a:pt x="1781810" y="570230"/>
                    <a:pt x="1772539"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1772539" y="536448"/>
                  </a:lnTo>
                  <a:lnTo>
                    <a:pt x="1772539" y="553339"/>
                  </a:lnTo>
                  <a:lnTo>
                    <a:pt x="1755648" y="553339"/>
                  </a:lnTo>
                  <a:lnTo>
                    <a:pt x="1755648" y="16891"/>
                  </a:lnTo>
                  <a:lnTo>
                    <a:pt x="1772539" y="16891"/>
                  </a:lnTo>
                  <a:lnTo>
                    <a:pt x="1772539" y="33909"/>
                  </a:lnTo>
                  <a:lnTo>
                    <a:pt x="16891" y="33909"/>
                  </a:lnTo>
                  <a:close/>
                </a:path>
              </a:pathLst>
            </a:custGeom>
            <a:solidFill>
              <a:srgbClr val="0D9488"/>
            </a:solidFill>
          </p:spPr>
        </p:sp>
      </p:grpSp>
      <p:grpSp>
        <p:nvGrpSpPr>
          <p:cNvPr name="Group 322" id="322"/>
          <p:cNvGrpSpPr/>
          <p:nvPr/>
        </p:nvGrpSpPr>
        <p:grpSpPr>
          <a:xfrm rot="0">
            <a:off x="10698480" y="9015984"/>
            <a:ext cx="1316736" cy="402336"/>
            <a:chOff x="0" y="0"/>
            <a:chExt cx="1755648" cy="536448"/>
          </a:xfrm>
        </p:grpSpPr>
        <p:sp>
          <p:nvSpPr>
            <p:cNvPr name="Freeform 323" id="323"/>
            <p:cNvSpPr/>
            <p:nvPr/>
          </p:nvSpPr>
          <p:spPr>
            <a:xfrm flipH="false" flipV="false" rot="0">
              <a:off x="0" y="0"/>
              <a:ext cx="1755648" cy="536448"/>
            </a:xfrm>
            <a:custGeom>
              <a:avLst/>
              <a:gdLst/>
              <a:ahLst/>
              <a:cxnLst/>
              <a:rect r="r" b="b" t="t" l="l"/>
              <a:pathLst>
                <a:path h="536448" w="1755648">
                  <a:moveTo>
                    <a:pt x="0" y="0"/>
                  </a:moveTo>
                  <a:lnTo>
                    <a:pt x="1755648" y="0"/>
                  </a:lnTo>
                  <a:lnTo>
                    <a:pt x="1755648" y="536448"/>
                  </a:lnTo>
                  <a:lnTo>
                    <a:pt x="0" y="536448"/>
                  </a:lnTo>
                  <a:close/>
                </a:path>
              </a:pathLst>
            </a:custGeom>
            <a:blipFill>
              <a:blip r:embed="rId3">
                <a:alphaModFix amt="0"/>
              </a:blip>
              <a:stretch>
                <a:fillRect l="0" t="-13769" r="0" b="-13769"/>
              </a:stretch>
            </a:blipFill>
          </p:spPr>
        </p:sp>
        <p:sp>
          <p:nvSpPr>
            <p:cNvPr name="TextBox 324" id="324"/>
            <p:cNvSpPr txBox="true"/>
            <p:nvPr/>
          </p:nvSpPr>
          <p:spPr>
            <a:xfrm>
              <a:off x="0" y="-38100"/>
              <a:ext cx="1755648" cy="574548"/>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Low</a:t>
              </a:r>
            </a:p>
          </p:txBody>
        </p:sp>
      </p:grpSp>
      <p:grpSp>
        <p:nvGrpSpPr>
          <p:cNvPr name="Group 325" id="325"/>
          <p:cNvGrpSpPr/>
          <p:nvPr/>
        </p:nvGrpSpPr>
        <p:grpSpPr>
          <a:xfrm rot="0">
            <a:off x="12331703" y="9003287"/>
            <a:ext cx="1671323" cy="427739"/>
            <a:chOff x="0" y="0"/>
            <a:chExt cx="2228431" cy="570319"/>
          </a:xfrm>
        </p:grpSpPr>
        <p:sp>
          <p:nvSpPr>
            <p:cNvPr name="Freeform 326" id="326"/>
            <p:cNvSpPr/>
            <p:nvPr/>
          </p:nvSpPr>
          <p:spPr>
            <a:xfrm flipH="false" flipV="false" rot="0">
              <a:off x="16891" y="16891"/>
              <a:ext cx="2194560" cy="536448"/>
            </a:xfrm>
            <a:custGeom>
              <a:avLst/>
              <a:gdLst/>
              <a:ahLst/>
              <a:cxnLst/>
              <a:rect r="r" b="b" t="t" l="l"/>
              <a:pathLst>
                <a:path h="536448" w="2194560">
                  <a:moveTo>
                    <a:pt x="0" y="0"/>
                  </a:moveTo>
                  <a:lnTo>
                    <a:pt x="2194560" y="0"/>
                  </a:lnTo>
                  <a:lnTo>
                    <a:pt x="2194560" y="536448"/>
                  </a:lnTo>
                  <a:lnTo>
                    <a:pt x="0" y="536448"/>
                  </a:lnTo>
                  <a:close/>
                </a:path>
              </a:pathLst>
            </a:custGeom>
            <a:solidFill>
              <a:srgbClr val="162B52"/>
            </a:solidFill>
          </p:spPr>
        </p:sp>
        <p:sp>
          <p:nvSpPr>
            <p:cNvPr name="Freeform 327" id="327"/>
            <p:cNvSpPr/>
            <p:nvPr/>
          </p:nvSpPr>
          <p:spPr>
            <a:xfrm flipH="false" flipV="false" rot="0">
              <a:off x="0" y="0"/>
              <a:ext cx="2228342" cy="570232"/>
            </a:xfrm>
            <a:custGeom>
              <a:avLst/>
              <a:gdLst/>
              <a:ahLst/>
              <a:cxnLst/>
              <a:rect r="r" b="b" t="t" l="l"/>
              <a:pathLst>
                <a:path h="570232" w="2228342">
                  <a:moveTo>
                    <a:pt x="16891" y="0"/>
                  </a:moveTo>
                  <a:lnTo>
                    <a:pt x="2211451" y="0"/>
                  </a:lnTo>
                  <a:cubicBezTo>
                    <a:pt x="2220849" y="0"/>
                    <a:pt x="2228342" y="7620"/>
                    <a:pt x="2228342" y="16891"/>
                  </a:cubicBezTo>
                  <a:lnTo>
                    <a:pt x="2228342" y="553339"/>
                  </a:lnTo>
                  <a:cubicBezTo>
                    <a:pt x="2228342" y="562737"/>
                    <a:pt x="2220722" y="570230"/>
                    <a:pt x="221145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2211451" y="536448"/>
                  </a:lnTo>
                  <a:lnTo>
                    <a:pt x="2211451" y="553339"/>
                  </a:lnTo>
                  <a:lnTo>
                    <a:pt x="2194560" y="553339"/>
                  </a:lnTo>
                  <a:lnTo>
                    <a:pt x="2194560" y="16891"/>
                  </a:lnTo>
                  <a:lnTo>
                    <a:pt x="2211451" y="16891"/>
                  </a:lnTo>
                  <a:lnTo>
                    <a:pt x="2211451" y="33909"/>
                  </a:lnTo>
                  <a:lnTo>
                    <a:pt x="16891" y="33909"/>
                  </a:lnTo>
                  <a:close/>
                </a:path>
              </a:pathLst>
            </a:custGeom>
            <a:solidFill>
              <a:srgbClr val="162B52"/>
            </a:solidFill>
          </p:spPr>
        </p:sp>
      </p:grpSp>
      <p:grpSp>
        <p:nvGrpSpPr>
          <p:cNvPr name="Group 328" id="328"/>
          <p:cNvGrpSpPr/>
          <p:nvPr/>
        </p:nvGrpSpPr>
        <p:grpSpPr>
          <a:xfrm rot="0">
            <a:off x="12344400" y="9015984"/>
            <a:ext cx="1645920" cy="402336"/>
            <a:chOff x="0" y="0"/>
            <a:chExt cx="2194560" cy="536448"/>
          </a:xfrm>
        </p:grpSpPr>
        <p:sp>
          <p:nvSpPr>
            <p:cNvPr name="Freeform 329" id="329"/>
            <p:cNvSpPr/>
            <p:nvPr/>
          </p:nvSpPr>
          <p:spPr>
            <a:xfrm flipH="false" flipV="false" rot="0">
              <a:off x="0" y="0"/>
              <a:ext cx="2194560" cy="536448"/>
            </a:xfrm>
            <a:custGeom>
              <a:avLst/>
              <a:gdLst/>
              <a:ahLst/>
              <a:cxnLst/>
              <a:rect r="r" b="b" t="t" l="l"/>
              <a:pathLst>
                <a:path h="536448" w="2194560">
                  <a:moveTo>
                    <a:pt x="0" y="0"/>
                  </a:moveTo>
                  <a:lnTo>
                    <a:pt x="2194560" y="0"/>
                  </a:lnTo>
                  <a:lnTo>
                    <a:pt x="2194560" y="536448"/>
                  </a:lnTo>
                  <a:lnTo>
                    <a:pt x="0" y="536448"/>
                  </a:lnTo>
                  <a:close/>
                </a:path>
              </a:pathLst>
            </a:custGeom>
            <a:blipFill>
              <a:blip r:embed="rId3">
                <a:alphaModFix amt="0"/>
              </a:blip>
              <a:stretch>
                <a:fillRect l="0" t="-29711" r="0" b="-29711"/>
              </a:stretch>
            </a:blipFill>
          </p:spPr>
        </p:sp>
        <p:sp>
          <p:nvSpPr>
            <p:cNvPr name="TextBox 330" id="330"/>
            <p:cNvSpPr txBox="true"/>
            <p:nvPr/>
          </p:nvSpPr>
          <p:spPr>
            <a:xfrm>
              <a:off x="0" y="-38100"/>
              <a:ext cx="2194560" cy="574548"/>
            </a:xfrm>
            <a:prstGeom prst="rect">
              <a:avLst/>
            </a:prstGeom>
          </p:spPr>
          <p:txBody>
            <a:bodyPr anchor="ctr" rtlCol="false" tIns="0" lIns="0" bIns="0" rIns="0"/>
            <a:lstStyle/>
            <a:p>
              <a:pPr algn="ctr">
                <a:lnSpc>
                  <a:spcPts val="1800"/>
                </a:lnSpc>
              </a:pPr>
              <a:r>
                <a:rPr lang="en-US" sz="1500">
                  <a:solidFill>
                    <a:srgbClr val="CCFBF1"/>
                  </a:solidFill>
                  <a:latin typeface="Calibri (MS)"/>
                  <a:ea typeface="Calibri (MS)"/>
                  <a:cs typeface="Calibri (MS)"/>
                  <a:sym typeface="Calibri (MS)"/>
                </a:rPr>
                <a:t>Low</a:t>
              </a:r>
            </a:p>
          </p:txBody>
        </p:sp>
      </p:grpSp>
      <p:grpSp>
        <p:nvGrpSpPr>
          <p:cNvPr name="Group 331" id="331"/>
          <p:cNvGrpSpPr/>
          <p:nvPr/>
        </p:nvGrpSpPr>
        <p:grpSpPr>
          <a:xfrm rot="0">
            <a:off x="14069701" y="8906256"/>
            <a:ext cx="3474720" cy="621792"/>
            <a:chOff x="0" y="0"/>
            <a:chExt cx="4632960" cy="829056"/>
          </a:xfrm>
        </p:grpSpPr>
        <p:sp>
          <p:nvSpPr>
            <p:cNvPr name="Freeform 332" id="332"/>
            <p:cNvSpPr/>
            <p:nvPr/>
          </p:nvSpPr>
          <p:spPr>
            <a:xfrm flipH="false" flipV="false" rot="0">
              <a:off x="0" y="0"/>
              <a:ext cx="4632960" cy="829056"/>
            </a:xfrm>
            <a:custGeom>
              <a:avLst/>
              <a:gdLst/>
              <a:ahLst/>
              <a:cxnLst/>
              <a:rect r="r" b="b" t="t" l="l"/>
              <a:pathLst>
                <a:path h="829056" w="4632960">
                  <a:moveTo>
                    <a:pt x="0" y="0"/>
                  </a:moveTo>
                  <a:lnTo>
                    <a:pt x="4632960" y="0"/>
                  </a:lnTo>
                  <a:lnTo>
                    <a:pt x="4632960" y="829056"/>
                  </a:lnTo>
                  <a:lnTo>
                    <a:pt x="0" y="829056"/>
                  </a:lnTo>
                  <a:close/>
                </a:path>
              </a:pathLst>
            </a:custGeom>
            <a:blipFill>
              <a:blip r:embed="rId3">
                <a:alphaModFix amt="0"/>
              </a:blip>
              <a:stretch>
                <a:fillRect l="0" t="-58886" r="0" b="-58886"/>
              </a:stretch>
            </a:blipFill>
          </p:spPr>
        </p:sp>
        <p:sp>
          <p:nvSpPr>
            <p:cNvPr name="TextBox 333" id="333"/>
            <p:cNvSpPr txBox="true"/>
            <p:nvPr/>
          </p:nvSpPr>
          <p:spPr>
            <a:xfrm>
              <a:off x="0" y="-28575"/>
              <a:ext cx="4632960" cy="857631"/>
            </a:xfrm>
            <a:prstGeom prst="rect">
              <a:avLst/>
            </a:prstGeom>
          </p:spPr>
          <p:txBody>
            <a:bodyPr anchor="ctr" rtlCol="false" tIns="0" lIns="0" bIns="0" rIns="0"/>
            <a:lstStyle/>
            <a:p>
              <a:pPr algn="l">
                <a:lnSpc>
                  <a:spcPts val="1920"/>
                </a:lnSpc>
              </a:pPr>
              <a:r>
                <a:rPr lang="en-US" sz="1600">
                  <a:solidFill>
                    <a:srgbClr val="94A3B8"/>
                  </a:solidFill>
                  <a:latin typeface="Calibri (MS)"/>
                  <a:ea typeface="Calibri (MS)"/>
                  <a:cs typeface="Calibri (MS)"/>
                  <a:sym typeface="Calibri (MS)"/>
                </a:rPr>
                <a:t>Trains one shared model across all 3 datasets; improves generalisation</a:t>
              </a:r>
            </a:p>
          </p:txBody>
        </p:sp>
      </p:grpSp>
      <p:grpSp>
        <p:nvGrpSpPr>
          <p:cNvPr name="Group 334" id="334"/>
          <p:cNvGrpSpPr/>
          <p:nvPr/>
        </p:nvGrpSpPr>
        <p:grpSpPr>
          <a:xfrm rot="0">
            <a:off x="731520" y="9893808"/>
            <a:ext cx="16824960" cy="402336"/>
            <a:chOff x="0" y="0"/>
            <a:chExt cx="22433280" cy="536448"/>
          </a:xfrm>
        </p:grpSpPr>
        <p:sp>
          <p:nvSpPr>
            <p:cNvPr name="Freeform 335" id="335"/>
            <p:cNvSpPr/>
            <p:nvPr/>
          </p:nvSpPr>
          <p:spPr>
            <a:xfrm flipH="false" flipV="false" rot="0">
              <a:off x="0" y="0"/>
              <a:ext cx="22433280" cy="536448"/>
            </a:xfrm>
            <a:custGeom>
              <a:avLst/>
              <a:gdLst/>
              <a:ahLst/>
              <a:cxnLst/>
              <a:rect r="r" b="b" t="t" l="l"/>
              <a:pathLst>
                <a:path h="536448" w="22433280">
                  <a:moveTo>
                    <a:pt x="0" y="0"/>
                  </a:moveTo>
                  <a:lnTo>
                    <a:pt x="22433280" y="0"/>
                  </a:lnTo>
                  <a:lnTo>
                    <a:pt x="22433280" y="536448"/>
                  </a:lnTo>
                  <a:lnTo>
                    <a:pt x="0" y="536448"/>
                  </a:lnTo>
                  <a:close/>
                </a:path>
              </a:pathLst>
            </a:custGeom>
            <a:blipFill>
              <a:blip r:embed="rId3">
                <a:alphaModFix amt="0"/>
              </a:blip>
              <a:stretch>
                <a:fillRect l="0" t="-764828" r="0" b="-764828"/>
              </a:stretch>
            </a:blipFill>
          </p:spPr>
        </p:sp>
        <p:sp>
          <p:nvSpPr>
            <p:cNvPr name="TextBox 336" id="336"/>
            <p:cNvSpPr txBox="true"/>
            <p:nvPr/>
          </p:nvSpPr>
          <p:spPr>
            <a:xfrm>
              <a:off x="0" y="-38100"/>
              <a:ext cx="22433280" cy="574548"/>
            </a:xfrm>
            <a:prstGeom prst="rect">
              <a:avLst/>
            </a:prstGeom>
          </p:spPr>
          <p:txBody>
            <a:bodyPr anchor="ctr" rtlCol="false" tIns="0" lIns="0" bIns="0" rIns="0"/>
            <a:lstStyle/>
            <a:p>
              <a:pPr algn="l">
                <a:lnSpc>
                  <a:spcPts val="1800"/>
                </a:lnSpc>
              </a:pPr>
              <a:r>
                <a:rPr lang="en-US" sz="1500">
                  <a:solidFill>
                    <a:srgbClr val="94A3B8"/>
                  </a:solidFill>
                  <a:latin typeface="Calibri (MS)"/>
                  <a:ea typeface="Calibri (MS)"/>
                  <a:cs typeface="Calibri (MS)"/>
                  <a:sym typeface="Calibri (MS)"/>
                </a:rPr>
                <a:t>Estimates based on analogous improvements reported in recent RSIC and general image captioning literature (2022–2024). Actual gains depend on implementation quality and hyperparameter tuning.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0A1628"/>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0A1628"/>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ROADMAP</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Recommended Implementation Roadmap</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731520" y="2377440"/>
            <a:ext cx="16824960" cy="457200"/>
            <a:chOff x="0" y="0"/>
            <a:chExt cx="22433280" cy="609600"/>
          </a:xfrm>
        </p:grpSpPr>
        <p:sp>
          <p:nvSpPr>
            <p:cNvPr name="Freeform 14" id="14"/>
            <p:cNvSpPr/>
            <p:nvPr/>
          </p:nvSpPr>
          <p:spPr>
            <a:xfrm flipH="false" flipV="false" rot="0">
              <a:off x="0" y="0"/>
              <a:ext cx="22433280" cy="609600"/>
            </a:xfrm>
            <a:custGeom>
              <a:avLst/>
              <a:gdLst/>
              <a:ahLst/>
              <a:cxnLst/>
              <a:rect r="r" b="b" t="t" l="l"/>
              <a:pathLst>
                <a:path h="609600" w="22433280">
                  <a:moveTo>
                    <a:pt x="0" y="0"/>
                  </a:moveTo>
                  <a:lnTo>
                    <a:pt x="22433280" y="0"/>
                  </a:lnTo>
                  <a:lnTo>
                    <a:pt x="22433280" y="609600"/>
                  </a:lnTo>
                  <a:lnTo>
                    <a:pt x="0" y="609600"/>
                  </a:lnTo>
                  <a:close/>
                </a:path>
              </a:pathLst>
            </a:custGeom>
            <a:blipFill>
              <a:blip r:embed="rId3">
                <a:alphaModFix amt="0"/>
              </a:blip>
              <a:stretch>
                <a:fillRect l="0" t="-667049" r="0" b="-667049"/>
              </a:stretch>
            </a:blipFill>
          </p:spPr>
        </p:sp>
        <p:sp>
          <p:nvSpPr>
            <p:cNvPr name="TextBox 15" id="15"/>
            <p:cNvSpPr txBox="true"/>
            <p:nvPr/>
          </p:nvSpPr>
          <p:spPr>
            <a:xfrm>
              <a:off x="0" y="-47625"/>
              <a:ext cx="22433280" cy="657225"/>
            </a:xfrm>
            <a:prstGeom prst="rect">
              <a:avLst/>
            </a:prstGeom>
          </p:spPr>
          <p:txBody>
            <a:bodyPr anchor="ctr" rtlCol="false" tIns="0" lIns="0" bIns="0" rIns="0"/>
            <a:lstStyle/>
            <a:p>
              <a:pPr algn="l">
                <a:lnSpc>
                  <a:spcPts val="2520"/>
                </a:lnSpc>
              </a:pPr>
              <a:r>
                <a:rPr lang="en-US" sz="2100">
                  <a:solidFill>
                    <a:srgbClr val="94A3B8"/>
                  </a:solidFill>
                  <a:latin typeface="Calibri (MS)"/>
                  <a:ea typeface="Calibri (MS)"/>
                  <a:cs typeface="Calibri (MS)"/>
                  <a:sym typeface="Calibri (MS)"/>
                </a:rPr>
                <a:t>Three phases ordered by return-on-effort ratio. Each phase is self-contained and produces measurable improvement.</a:t>
              </a:r>
            </a:p>
          </p:txBody>
        </p:sp>
      </p:grpSp>
      <p:grpSp>
        <p:nvGrpSpPr>
          <p:cNvPr name="Group 16" id="16"/>
          <p:cNvGrpSpPr/>
          <p:nvPr/>
        </p:nvGrpSpPr>
        <p:grpSpPr>
          <a:xfrm rot="0">
            <a:off x="725167" y="2956303"/>
            <a:ext cx="16837657" cy="2426713"/>
            <a:chOff x="0" y="0"/>
            <a:chExt cx="22450209" cy="3235617"/>
          </a:xfrm>
        </p:grpSpPr>
        <p:sp>
          <p:nvSpPr>
            <p:cNvPr name="Freeform 17" id="17"/>
            <p:cNvSpPr/>
            <p:nvPr/>
          </p:nvSpPr>
          <p:spPr>
            <a:xfrm flipH="false" flipV="false" rot="0">
              <a:off x="8509" y="8509"/>
              <a:ext cx="22433281" cy="3218688"/>
            </a:xfrm>
            <a:custGeom>
              <a:avLst/>
              <a:gdLst/>
              <a:ahLst/>
              <a:cxnLst/>
              <a:rect r="r" b="b" t="t" l="l"/>
              <a:pathLst>
                <a:path h="3218688" w="22433281">
                  <a:moveTo>
                    <a:pt x="0" y="0"/>
                  </a:moveTo>
                  <a:lnTo>
                    <a:pt x="22433281" y="0"/>
                  </a:lnTo>
                  <a:lnTo>
                    <a:pt x="22433281" y="3218688"/>
                  </a:lnTo>
                  <a:lnTo>
                    <a:pt x="0" y="3218688"/>
                  </a:lnTo>
                  <a:close/>
                </a:path>
              </a:pathLst>
            </a:custGeom>
            <a:solidFill>
              <a:srgbClr val="FFFFFF"/>
            </a:solidFill>
          </p:spPr>
        </p:sp>
        <p:sp>
          <p:nvSpPr>
            <p:cNvPr name="Freeform 18" id="18"/>
            <p:cNvSpPr/>
            <p:nvPr/>
          </p:nvSpPr>
          <p:spPr>
            <a:xfrm flipH="false" flipV="false" rot="0">
              <a:off x="0" y="0"/>
              <a:ext cx="22450298" cy="3235706"/>
            </a:xfrm>
            <a:custGeom>
              <a:avLst/>
              <a:gdLst/>
              <a:ahLst/>
              <a:cxnLst/>
              <a:rect r="r" b="b" t="t" l="l"/>
              <a:pathLst>
                <a:path h="3235706" w="22450298">
                  <a:moveTo>
                    <a:pt x="8509" y="0"/>
                  </a:moveTo>
                  <a:lnTo>
                    <a:pt x="22441790" y="0"/>
                  </a:lnTo>
                  <a:cubicBezTo>
                    <a:pt x="22446489" y="0"/>
                    <a:pt x="22450298" y="3810"/>
                    <a:pt x="22450298" y="8509"/>
                  </a:cubicBezTo>
                  <a:lnTo>
                    <a:pt x="22450298" y="3227197"/>
                  </a:lnTo>
                  <a:cubicBezTo>
                    <a:pt x="22450298" y="3231896"/>
                    <a:pt x="22446489" y="3235706"/>
                    <a:pt x="22441790"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22441790" y="3218688"/>
                  </a:lnTo>
                  <a:lnTo>
                    <a:pt x="22441790" y="3227197"/>
                  </a:lnTo>
                  <a:lnTo>
                    <a:pt x="22433280" y="3227197"/>
                  </a:lnTo>
                  <a:lnTo>
                    <a:pt x="22433280" y="8509"/>
                  </a:lnTo>
                  <a:lnTo>
                    <a:pt x="22441790" y="8509"/>
                  </a:lnTo>
                  <a:lnTo>
                    <a:pt x="22441790" y="17018"/>
                  </a:lnTo>
                  <a:lnTo>
                    <a:pt x="8509" y="17018"/>
                  </a:lnTo>
                  <a:close/>
                </a:path>
              </a:pathLst>
            </a:custGeom>
            <a:solidFill>
              <a:srgbClr val="E2E8F0"/>
            </a:solidFill>
          </p:spPr>
        </p:sp>
      </p:grpSp>
      <p:grpSp>
        <p:nvGrpSpPr>
          <p:cNvPr name="Group 19" id="19"/>
          <p:cNvGrpSpPr/>
          <p:nvPr/>
        </p:nvGrpSpPr>
        <p:grpSpPr>
          <a:xfrm rot="0">
            <a:off x="718823" y="2949959"/>
            <a:ext cx="939803" cy="2439419"/>
            <a:chOff x="0" y="0"/>
            <a:chExt cx="1253071" cy="3252559"/>
          </a:xfrm>
        </p:grpSpPr>
        <p:sp>
          <p:nvSpPr>
            <p:cNvPr name="Freeform 20" id="20"/>
            <p:cNvSpPr/>
            <p:nvPr/>
          </p:nvSpPr>
          <p:spPr>
            <a:xfrm flipH="false" flipV="false" rot="0">
              <a:off x="16891" y="16891"/>
              <a:ext cx="1219200" cy="3218688"/>
            </a:xfrm>
            <a:custGeom>
              <a:avLst/>
              <a:gdLst/>
              <a:ahLst/>
              <a:cxnLst/>
              <a:rect r="r" b="b" t="t" l="l"/>
              <a:pathLst>
                <a:path h="3218688" w="1219200">
                  <a:moveTo>
                    <a:pt x="0" y="0"/>
                  </a:moveTo>
                  <a:lnTo>
                    <a:pt x="1219200" y="0"/>
                  </a:lnTo>
                  <a:lnTo>
                    <a:pt x="1219200" y="3218688"/>
                  </a:lnTo>
                  <a:lnTo>
                    <a:pt x="0" y="3218688"/>
                  </a:lnTo>
                  <a:close/>
                </a:path>
              </a:pathLst>
            </a:custGeom>
            <a:solidFill>
              <a:srgbClr val="059669"/>
            </a:solidFill>
          </p:spPr>
        </p:sp>
        <p:sp>
          <p:nvSpPr>
            <p:cNvPr name="Freeform 21" id="21"/>
            <p:cNvSpPr/>
            <p:nvPr/>
          </p:nvSpPr>
          <p:spPr>
            <a:xfrm flipH="false" flipV="false" rot="0">
              <a:off x="0" y="0"/>
              <a:ext cx="1252982" cy="3252470"/>
            </a:xfrm>
            <a:custGeom>
              <a:avLst/>
              <a:gdLst/>
              <a:ahLst/>
              <a:cxnLst/>
              <a:rect r="r" b="b" t="t" l="l"/>
              <a:pathLst>
                <a:path h="3252470" w="1252982">
                  <a:moveTo>
                    <a:pt x="16891" y="0"/>
                  </a:moveTo>
                  <a:lnTo>
                    <a:pt x="1236091" y="0"/>
                  </a:lnTo>
                  <a:cubicBezTo>
                    <a:pt x="1245489" y="0"/>
                    <a:pt x="1252982" y="7620"/>
                    <a:pt x="1252982" y="16891"/>
                  </a:cubicBezTo>
                  <a:lnTo>
                    <a:pt x="1252982" y="3235579"/>
                  </a:lnTo>
                  <a:cubicBezTo>
                    <a:pt x="1252982" y="3244977"/>
                    <a:pt x="1245362" y="3252470"/>
                    <a:pt x="1236091" y="3252470"/>
                  </a:cubicBezTo>
                  <a:lnTo>
                    <a:pt x="16891" y="3252470"/>
                  </a:lnTo>
                  <a:cubicBezTo>
                    <a:pt x="7493" y="3252470"/>
                    <a:pt x="0" y="3244850"/>
                    <a:pt x="0" y="3235579"/>
                  </a:cubicBezTo>
                  <a:lnTo>
                    <a:pt x="0" y="16891"/>
                  </a:lnTo>
                  <a:cubicBezTo>
                    <a:pt x="0" y="7620"/>
                    <a:pt x="7620" y="0"/>
                    <a:pt x="16891" y="0"/>
                  </a:cubicBezTo>
                  <a:moveTo>
                    <a:pt x="16891" y="33909"/>
                  </a:moveTo>
                  <a:lnTo>
                    <a:pt x="16891" y="16891"/>
                  </a:lnTo>
                  <a:lnTo>
                    <a:pt x="33909" y="16891"/>
                  </a:lnTo>
                  <a:lnTo>
                    <a:pt x="33909" y="3235579"/>
                  </a:lnTo>
                  <a:lnTo>
                    <a:pt x="16891" y="3235579"/>
                  </a:lnTo>
                  <a:lnTo>
                    <a:pt x="16891" y="3218688"/>
                  </a:lnTo>
                  <a:lnTo>
                    <a:pt x="1236091" y="3218688"/>
                  </a:lnTo>
                  <a:lnTo>
                    <a:pt x="1236091" y="3235579"/>
                  </a:lnTo>
                  <a:lnTo>
                    <a:pt x="1219200" y="3235579"/>
                  </a:lnTo>
                  <a:lnTo>
                    <a:pt x="1219200" y="16891"/>
                  </a:lnTo>
                  <a:lnTo>
                    <a:pt x="1236091" y="16891"/>
                  </a:lnTo>
                  <a:lnTo>
                    <a:pt x="1236091" y="33909"/>
                  </a:lnTo>
                  <a:lnTo>
                    <a:pt x="16891" y="33909"/>
                  </a:lnTo>
                  <a:close/>
                </a:path>
              </a:pathLst>
            </a:custGeom>
            <a:solidFill>
              <a:srgbClr val="059669"/>
            </a:solidFill>
          </p:spPr>
        </p:sp>
      </p:grpSp>
      <p:grpSp>
        <p:nvGrpSpPr>
          <p:cNvPr name="Group 22" id="22"/>
          <p:cNvGrpSpPr/>
          <p:nvPr/>
        </p:nvGrpSpPr>
        <p:grpSpPr>
          <a:xfrm rot="0">
            <a:off x="731520" y="2962656"/>
            <a:ext cx="914400" cy="2414016"/>
            <a:chOff x="0" y="0"/>
            <a:chExt cx="1219200" cy="3218688"/>
          </a:xfrm>
        </p:grpSpPr>
        <p:sp>
          <p:nvSpPr>
            <p:cNvPr name="Freeform 23" id="23"/>
            <p:cNvSpPr/>
            <p:nvPr/>
          </p:nvSpPr>
          <p:spPr>
            <a:xfrm flipH="false" flipV="false" rot="0">
              <a:off x="0" y="0"/>
              <a:ext cx="1219200" cy="3218688"/>
            </a:xfrm>
            <a:custGeom>
              <a:avLst/>
              <a:gdLst/>
              <a:ahLst/>
              <a:cxnLst/>
              <a:rect r="r" b="b" t="t" l="l"/>
              <a:pathLst>
                <a:path h="3218688" w="1219200">
                  <a:moveTo>
                    <a:pt x="0" y="0"/>
                  </a:moveTo>
                  <a:lnTo>
                    <a:pt x="1219200" y="0"/>
                  </a:lnTo>
                  <a:lnTo>
                    <a:pt x="1219200" y="3218688"/>
                  </a:lnTo>
                  <a:lnTo>
                    <a:pt x="0" y="3218688"/>
                  </a:lnTo>
                  <a:close/>
                </a:path>
              </a:pathLst>
            </a:custGeom>
            <a:blipFill>
              <a:blip r:embed="rId3">
                <a:alphaModFix amt="0"/>
              </a:blip>
              <a:stretch>
                <a:fillRect l="-288721" t="0" r="-288721" b="0"/>
              </a:stretch>
            </a:blipFill>
          </p:spPr>
        </p:sp>
        <p:sp>
          <p:nvSpPr>
            <p:cNvPr name="TextBox 24" id="24"/>
            <p:cNvSpPr txBox="true"/>
            <p:nvPr/>
          </p:nvSpPr>
          <p:spPr>
            <a:xfrm>
              <a:off x="0" y="-76200"/>
              <a:ext cx="1219200" cy="3294888"/>
            </a:xfrm>
            <a:prstGeom prst="rect">
              <a:avLst/>
            </a:prstGeom>
          </p:spPr>
          <p:txBody>
            <a:bodyPr anchor="ctr" rtlCol="false" tIns="0" lIns="0" bIns="0" rIns="0"/>
            <a:lstStyle/>
            <a:p>
              <a:pPr algn="ctr">
                <a:lnSpc>
                  <a:spcPts val="5280"/>
                </a:lnSpc>
              </a:pPr>
              <a:r>
                <a:rPr lang="en-US" sz="4400" b="true">
                  <a:solidFill>
                    <a:srgbClr val="FFFFFF"/>
                  </a:solidFill>
                  <a:latin typeface="Calibri (MS) Bold"/>
                  <a:ea typeface="Calibri (MS) Bold"/>
                  <a:cs typeface="Calibri (MS) Bold"/>
                  <a:sym typeface="Calibri (MS) Bold"/>
                </a:rPr>
                <a:t>1</a:t>
              </a:r>
            </a:p>
          </p:txBody>
        </p:sp>
      </p:grpSp>
      <p:grpSp>
        <p:nvGrpSpPr>
          <p:cNvPr name="Group 25" id="25"/>
          <p:cNvGrpSpPr/>
          <p:nvPr/>
        </p:nvGrpSpPr>
        <p:grpSpPr>
          <a:xfrm rot="0">
            <a:off x="1828800" y="3054096"/>
            <a:ext cx="13533120" cy="512064"/>
            <a:chOff x="0" y="0"/>
            <a:chExt cx="18044160" cy="682752"/>
          </a:xfrm>
        </p:grpSpPr>
        <p:sp>
          <p:nvSpPr>
            <p:cNvPr name="Freeform 26" id="26"/>
            <p:cNvSpPr/>
            <p:nvPr/>
          </p:nvSpPr>
          <p:spPr>
            <a:xfrm flipH="false" flipV="false" rot="0">
              <a:off x="0" y="0"/>
              <a:ext cx="18044161" cy="682752"/>
            </a:xfrm>
            <a:custGeom>
              <a:avLst/>
              <a:gdLst/>
              <a:ahLst/>
              <a:cxnLst/>
              <a:rect r="r" b="b" t="t" l="l"/>
              <a:pathLst>
                <a:path h="682752" w="18044161">
                  <a:moveTo>
                    <a:pt x="0" y="0"/>
                  </a:moveTo>
                  <a:lnTo>
                    <a:pt x="18044161" y="0"/>
                  </a:lnTo>
                  <a:lnTo>
                    <a:pt x="18044161" y="682752"/>
                  </a:lnTo>
                  <a:lnTo>
                    <a:pt x="0" y="682752"/>
                  </a:lnTo>
                  <a:close/>
                </a:path>
              </a:pathLst>
            </a:custGeom>
            <a:blipFill>
              <a:blip r:embed="rId3">
                <a:alphaModFix amt="0"/>
              </a:blip>
              <a:stretch>
                <a:fillRect l="0" t="-464961" r="0" b="-464961"/>
              </a:stretch>
            </a:blipFill>
          </p:spPr>
        </p:sp>
        <p:sp>
          <p:nvSpPr>
            <p:cNvPr name="TextBox 27" id="27"/>
            <p:cNvSpPr txBox="true"/>
            <p:nvPr/>
          </p:nvSpPr>
          <p:spPr>
            <a:xfrm>
              <a:off x="0" y="-47625"/>
              <a:ext cx="18044160" cy="730377"/>
            </a:xfrm>
            <a:prstGeom prst="rect">
              <a:avLst/>
            </a:prstGeom>
          </p:spPr>
          <p:txBody>
            <a:bodyPr anchor="ctr" rtlCol="false" tIns="0" lIns="0" bIns="0" rIns="0"/>
            <a:lstStyle/>
            <a:p>
              <a:pPr algn="l">
                <a:lnSpc>
                  <a:spcPts val="2760"/>
                </a:lnSpc>
              </a:pPr>
              <a:r>
                <a:rPr lang="en-US" sz="2300" b="true">
                  <a:solidFill>
                    <a:srgbClr val="1E293B"/>
                  </a:solidFill>
                  <a:latin typeface="Calibri (MS) Bold"/>
                  <a:ea typeface="Calibri (MS) Bold"/>
                  <a:cs typeface="Calibri (MS) Bold"/>
                  <a:sym typeface="Calibri (MS) Bold"/>
                </a:rPr>
                <a:t>Quick Wins — Minimal Code Change</a:t>
              </a:r>
            </a:p>
          </p:txBody>
        </p:sp>
      </p:grpSp>
      <p:grpSp>
        <p:nvGrpSpPr>
          <p:cNvPr name="Group 28" id="28"/>
          <p:cNvGrpSpPr/>
          <p:nvPr/>
        </p:nvGrpSpPr>
        <p:grpSpPr>
          <a:xfrm rot="0">
            <a:off x="15532103" y="3059687"/>
            <a:ext cx="2768603" cy="500891"/>
            <a:chOff x="0" y="0"/>
            <a:chExt cx="3691471" cy="667855"/>
          </a:xfrm>
        </p:grpSpPr>
        <p:sp>
          <p:nvSpPr>
            <p:cNvPr name="Freeform 29" id="29"/>
            <p:cNvSpPr/>
            <p:nvPr/>
          </p:nvSpPr>
          <p:spPr>
            <a:xfrm flipH="false" flipV="false" rot="0">
              <a:off x="16891" y="16891"/>
              <a:ext cx="3657600" cy="633984"/>
            </a:xfrm>
            <a:custGeom>
              <a:avLst/>
              <a:gdLst/>
              <a:ahLst/>
              <a:cxnLst/>
              <a:rect r="r" b="b" t="t" l="l"/>
              <a:pathLst>
                <a:path h="633984" w="3657600">
                  <a:moveTo>
                    <a:pt x="0" y="0"/>
                  </a:moveTo>
                  <a:lnTo>
                    <a:pt x="3657600" y="0"/>
                  </a:lnTo>
                  <a:lnTo>
                    <a:pt x="3657600" y="633984"/>
                  </a:lnTo>
                  <a:lnTo>
                    <a:pt x="0" y="633984"/>
                  </a:lnTo>
                  <a:close/>
                </a:path>
              </a:pathLst>
            </a:custGeom>
            <a:solidFill>
              <a:srgbClr val="059669"/>
            </a:solidFill>
          </p:spPr>
        </p:sp>
        <p:sp>
          <p:nvSpPr>
            <p:cNvPr name="Freeform 30" id="30"/>
            <p:cNvSpPr/>
            <p:nvPr/>
          </p:nvSpPr>
          <p:spPr>
            <a:xfrm flipH="false" flipV="false" rot="0">
              <a:off x="0" y="0"/>
              <a:ext cx="3691382" cy="667768"/>
            </a:xfrm>
            <a:custGeom>
              <a:avLst/>
              <a:gdLst/>
              <a:ahLst/>
              <a:cxnLst/>
              <a:rect r="r" b="b" t="t" l="l"/>
              <a:pathLst>
                <a:path h="667768" w="3691382">
                  <a:moveTo>
                    <a:pt x="16891" y="0"/>
                  </a:moveTo>
                  <a:lnTo>
                    <a:pt x="3674491" y="0"/>
                  </a:lnTo>
                  <a:cubicBezTo>
                    <a:pt x="3683889" y="0"/>
                    <a:pt x="3691382" y="7620"/>
                    <a:pt x="3691382" y="16891"/>
                  </a:cubicBezTo>
                  <a:lnTo>
                    <a:pt x="3691382" y="650875"/>
                  </a:lnTo>
                  <a:cubicBezTo>
                    <a:pt x="3691382" y="660273"/>
                    <a:pt x="3683762" y="667766"/>
                    <a:pt x="36744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3674491" y="633984"/>
                  </a:lnTo>
                  <a:lnTo>
                    <a:pt x="3674491" y="650875"/>
                  </a:lnTo>
                  <a:lnTo>
                    <a:pt x="3657600" y="650875"/>
                  </a:lnTo>
                  <a:lnTo>
                    <a:pt x="3657600" y="16891"/>
                  </a:lnTo>
                  <a:lnTo>
                    <a:pt x="3674491" y="16891"/>
                  </a:lnTo>
                  <a:lnTo>
                    <a:pt x="3674491" y="33909"/>
                  </a:lnTo>
                  <a:lnTo>
                    <a:pt x="16891" y="33909"/>
                  </a:lnTo>
                  <a:close/>
                </a:path>
              </a:pathLst>
            </a:custGeom>
            <a:solidFill>
              <a:srgbClr val="059669"/>
            </a:solidFill>
          </p:spPr>
        </p:sp>
      </p:grpSp>
      <p:grpSp>
        <p:nvGrpSpPr>
          <p:cNvPr name="Group 31" id="31"/>
          <p:cNvGrpSpPr/>
          <p:nvPr/>
        </p:nvGrpSpPr>
        <p:grpSpPr>
          <a:xfrm rot="0">
            <a:off x="15544800" y="3072384"/>
            <a:ext cx="2743200" cy="475488"/>
            <a:chOff x="0" y="0"/>
            <a:chExt cx="3657600" cy="633984"/>
          </a:xfrm>
        </p:grpSpPr>
        <p:sp>
          <p:nvSpPr>
            <p:cNvPr name="Freeform 32" id="32"/>
            <p:cNvSpPr/>
            <p:nvPr/>
          </p:nvSpPr>
          <p:spPr>
            <a:xfrm flipH="false" flipV="false" rot="0">
              <a:off x="0" y="0"/>
              <a:ext cx="3657600" cy="633984"/>
            </a:xfrm>
            <a:custGeom>
              <a:avLst/>
              <a:gdLst/>
              <a:ahLst/>
              <a:cxnLst/>
              <a:rect r="r" b="b" t="t" l="l"/>
              <a:pathLst>
                <a:path h="633984" w="3657600">
                  <a:moveTo>
                    <a:pt x="0" y="0"/>
                  </a:moveTo>
                  <a:lnTo>
                    <a:pt x="3657600" y="0"/>
                  </a:lnTo>
                  <a:lnTo>
                    <a:pt x="3657600" y="633984"/>
                  </a:lnTo>
                  <a:lnTo>
                    <a:pt x="0" y="633984"/>
                  </a:lnTo>
                  <a:close/>
                </a:path>
              </a:pathLst>
            </a:custGeom>
            <a:blipFill>
              <a:blip r:embed="rId3">
                <a:alphaModFix amt="0"/>
              </a:blip>
              <a:stretch>
                <a:fillRect l="0" t="-62413" r="0" b="-62413"/>
              </a:stretch>
            </a:blipFill>
          </p:spPr>
        </p:sp>
        <p:sp>
          <p:nvSpPr>
            <p:cNvPr name="TextBox 33" id="33"/>
            <p:cNvSpPr txBox="true"/>
            <p:nvPr/>
          </p:nvSpPr>
          <p:spPr>
            <a:xfrm>
              <a:off x="0" y="-28575"/>
              <a:ext cx="3657600" cy="662559"/>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Est. 1–2 weeks</a:t>
              </a:r>
            </a:p>
          </p:txBody>
        </p:sp>
      </p:grpSp>
      <p:grpSp>
        <p:nvGrpSpPr>
          <p:cNvPr name="Group 34" id="34"/>
          <p:cNvGrpSpPr/>
          <p:nvPr/>
        </p:nvGrpSpPr>
        <p:grpSpPr>
          <a:xfrm rot="0">
            <a:off x="1907543" y="3718055"/>
            <a:ext cx="171707" cy="171707"/>
            <a:chOff x="0" y="0"/>
            <a:chExt cx="228943" cy="228943"/>
          </a:xfrm>
        </p:grpSpPr>
        <p:sp>
          <p:nvSpPr>
            <p:cNvPr name="Freeform 35" id="35"/>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059669"/>
            </a:solidFill>
          </p:spPr>
        </p:sp>
        <p:sp>
          <p:nvSpPr>
            <p:cNvPr name="Freeform 36" id="36"/>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059669"/>
            </a:solidFill>
          </p:spPr>
        </p:sp>
      </p:grpSp>
      <p:grpSp>
        <p:nvGrpSpPr>
          <p:cNvPr name="Group 37" id="37"/>
          <p:cNvGrpSpPr/>
          <p:nvPr/>
        </p:nvGrpSpPr>
        <p:grpSpPr>
          <a:xfrm rot="0">
            <a:off x="2194560" y="3657600"/>
            <a:ext cx="5486400" cy="457200"/>
            <a:chOff x="0" y="0"/>
            <a:chExt cx="7315200" cy="609600"/>
          </a:xfrm>
        </p:grpSpPr>
        <p:sp>
          <p:nvSpPr>
            <p:cNvPr name="Freeform 38" id="38"/>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39" id="39"/>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Swap Swin-Base → SwinV2-Base or RemoteCLIP backbone</a:t>
              </a:r>
            </a:p>
          </p:txBody>
        </p:sp>
      </p:grpSp>
      <p:grpSp>
        <p:nvGrpSpPr>
          <p:cNvPr name="Group 40" id="40"/>
          <p:cNvGrpSpPr/>
          <p:nvPr/>
        </p:nvGrpSpPr>
        <p:grpSpPr>
          <a:xfrm rot="0">
            <a:off x="7772400" y="3657600"/>
            <a:ext cx="1280160" cy="457200"/>
            <a:chOff x="0" y="0"/>
            <a:chExt cx="1706880" cy="609600"/>
          </a:xfrm>
        </p:grpSpPr>
        <p:sp>
          <p:nvSpPr>
            <p:cNvPr name="Freeform 41" id="41"/>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42" id="42"/>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1–2 days</a:t>
              </a:r>
            </a:p>
          </p:txBody>
        </p:sp>
      </p:grpSp>
      <p:grpSp>
        <p:nvGrpSpPr>
          <p:cNvPr name="Group 43" id="43"/>
          <p:cNvGrpSpPr/>
          <p:nvPr/>
        </p:nvGrpSpPr>
        <p:grpSpPr>
          <a:xfrm rot="0">
            <a:off x="9140190" y="3708654"/>
            <a:ext cx="958596" cy="373380"/>
            <a:chOff x="0" y="0"/>
            <a:chExt cx="1278128" cy="497840"/>
          </a:xfrm>
        </p:grpSpPr>
        <p:sp>
          <p:nvSpPr>
            <p:cNvPr name="Freeform 44" id="44"/>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45" id="45"/>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46" id="46"/>
          <p:cNvGrpSpPr/>
          <p:nvPr/>
        </p:nvGrpSpPr>
        <p:grpSpPr>
          <a:xfrm rot="0">
            <a:off x="9144000" y="3712464"/>
            <a:ext cx="950976" cy="365760"/>
            <a:chOff x="0" y="0"/>
            <a:chExt cx="1267968" cy="487680"/>
          </a:xfrm>
        </p:grpSpPr>
        <p:sp>
          <p:nvSpPr>
            <p:cNvPr name="Freeform 47" id="47"/>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48" id="48"/>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~+8 CIDEr</a:t>
              </a:r>
            </a:p>
          </p:txBody>
        </p:sp>
      </p:grpSp>
      <p:grpSp>
        <p:nvGrpSpPr>
          <p:cNvPr name="Group 49" id="49"/>
          <p:cNvGrpSpPr/>
          <p:nvPr/>
        </p:nvGrpSpPr>
        <p:grpSpPr>
          <a:xfrm rot="0">
            <a:off x="10228583" y="3718055"/>
            <a:ext cx="171707" cy="171707"/>
            <a:chOff x="0" y="0"/>
            <a:chExt cx="228943" cy="228943"/>
          </a:xfrm>
        </p:grpSpPr>
        <p:sp>
          <p:nvSpPr>
            <p:cNvPr name="Freeform 50" id="50"/>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059669"/>
            </a:solidFill>
          </p:spPr>
        </p:sp>
        <p:sp>
          <p:nvSpPr>
            <p:cNvPr name="Freeform 51" id="51"/>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059669"/>
            </a:solidFill>
          </p:spPr>
        </p:sp>
      </p:grpSp>
      <p:grpSp>
        <p:nvGrpSpPr>
          <p:cNvPr name="Group 52" id="52"/>
          <p:cNvGrpSpPr/>
          <p:nvPr/>
        </p:nvGrpSpPr>
        <p:grpSpPr>
          <a:xfrm rot="0">
            <a:off x="10515600" y="3657600"/>
            <a:ext cx="5486400" cy="457200"/>
            <a:chOff x="0" y="0"/>
            <a:chExt cx="7315200" cy="609600"/>
          </a:xfrm>
        </p:grpSpPr>
        <p:sp>
          <p:nvSpPr>
            <p:cNvPr name="Freeform 53" id="53"/>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54" id="54"/>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Add beam search (B=5) to decode loop</a:t>
              </a:r>
            </a:p>
          </p:txBody>
        </p:sp>
      </p:grpSp>
      <p:grpSp>
        <p:nvGrpSpPr>
          <p:cNvPr name="Group 55" id="55"/>
          <p:cNvGrpSpPr/>
          <p:nvPr/>
        </p:nvGrpSpPr>
        <p:grpSpPr>
          <a:xfrm rot="0">
            <a:off x="16093440" y="3657600"/>
            <a:ext cx="1280160" cy="457200"/>
            <a:chOff x="0" y="0"/>
            <a:chExt cx="1706880" cy="609600"/>
          </a:xfrm>
        </p:grpSpPr>
        <p:sp>
          <p:nvSpPr>
            <p:cNvPr name="Freeform 56" id="56"/>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57" id="57"/>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0.5 days</a:t>
              </a:r>
            </a:p>
          </p:txBody>
        </p:sp>
      </p:grpSp>
      <p:grpSp>
        <p:nvGrpSpPr>
          <p:cNvPr name="Group 58" id="58"/>
          <p:cNvGrpSpPr/>
          <p:nvPr/>
        </p:nvGrpSpPr>
        <p:grpSpPr>
          <a:xfrm rot="0">
            <a:off x="17461230" y="3708654"/>
            <a:ext cx="958596" cy="373380"/>
            <a:chOff x="0" y="0"/>
            <a:chExt cx="1278128" cy="497840"/>
          </a:xfrm>
        </p:grpSpPr>
        <p:sp>
          <p:nvSpPr>
            <p:cNvPr name="Freeform 59" id="59"/>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60" id="60"/>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61" id="61"/>
          <p:cNvGrpSpPr/>
          <p:nvPr/>
        </p:nvGrpSpPr>
        <p:grpSpPr>
          <a:xfrm rot="0">
            <a:off x="17465040" y="3712464"/>
            <a:ext cx="950976" cy="365760"/>
            <a:chOff x="0" y="0"/>
            <a:chExt cx="1267968" cy="487680"/>
          </a:xfrm>
        </p:grpSpPr>
        <p:sp>
          <p:nvSpPr>
            <p:cNvPr name="Freeform 62" id="62"/>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63" id="63"/>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~+2 CIDEr</a:t>
              </a:r>
            </a:p>
          </p:txBody>
        </p:sp>
      </p:grpSp>
      <p:grpSp>
        <p:nvGrpSpPr>
          <p:cNvPr name="Group 64" id="64"/>
          <p:cNvGrpSpPr/>
          <p:nvPr/>
        </p:nvGrpSpPr>
        <p:grpSpPr>
          <a:xfrm rot="0">
            <a:off x="1907543" y="4412999"/>
            <a:ext cx="171707" cy="171707"/>
            <a:chOff x="0" y="0"/>
            <a:chExt cx="228943" cy="228943"/>
          </a:xfrm>
        </p:grpSpPr>
        <p:sp>
          <p:nvSpPr>
            <p:cNvPr name="Freeform 65" id="65"/>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059669"/>
            </a:solidFill>
          </p:spPr>
        </p:sp>
        <p:sp>
          <p:nvSpPr>
            <p:cNvPr name="Freeform 66" id="66"/>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059669"/>
            </a:solidFill>
          </p:spPr>
        </p:sp>
      </p:grpSp>
      <p:grpSp>
        <p:nvGrpSpPr>
          <p:cNvPr name="Group 67" id="67"/>
          <p:cNvGrpSpPr/>
          <p:nvPr/>
        </p:nvGrpSpPr>
        <p:grpSpPr>
          <a:xfrm rot="0">
            <a:off x="2194560" y="4352544"/>
            <a:ext cx="5486400" cy="457200"/>
            <a:chOff x="0" y="0"/>
            <a:chExt cx="7315200" cy="609600"/>
          </a:xfrm>
        </p:grpSpPr>
        <p:sp>
          <p:nvSpPr>
            <p:cNvPr name="Freeform 68" id="68"/>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69" id="69"/>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Add CLIP re-ranking at inference time</a:t>
              </a:r>
            </a:p>
          </p:txBody>
        </p:sp>
      </p:grpSp>
      <p:grpSp>
        <p:nvGrpSpPr>
          <p:cNvPr name="Group 70" id="70"/>
          <p:cNvGrpSpPr/>
          <p:nvPr/>
        </p:nvGrpSpPr>
        <p:grpSpPr>
          <a:xfrm rot="0">
            <a:off x="7772400" y="4352544"/>
            <a:ext cx="1280160" cy="457200"/>
            <a:chOff x="0" y="0"/>
            <a:chExt cx="1706880" cy="609600"/>
          </a:xfrm>
        </p:grpSpPr>
        <p:sp>
          <p:nvSpPr>
            <p:cNvPr name="Freeform 71" id="71"/>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72" id="72"/>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1 day</a:t>
              </a:r>
            </a:p>
          </p:txBody>
        </p:sp>
      </p:grpSp>
      <p:grpSp>
        <p:nvGrpSpPr>
          <p:cNvPr name="Group 73" id="73"/>
          <p:cNvGrpSpPr/>
          <p:nvPr/>
        </p:nvGrpSpPr>
        <p:grpSpPr>
          <a:xfrm rot="0">
            <a:off x="9140190" y="4403598"/>
            <a:ext cx="958596" cy="373380"/>
            <a:chOff x="0" y="0"/>
            <a:chExt cx="1278128" cy="497840"/>
          </a:xfrm>
        </p:grpSpPr>
        <p:sp>
          <p:nvSpPr>
            <p:cNvPr name="Freeform 74" id="74"/>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75" id="75"/>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76" id="76"/>
          <p:cNvGrpSpPr/>
          <p:nvPr/>
        </p:nvGrpSpPr>
        <p:grpSpPr>
          <a:xfrm rot="0">
            <a:off x="9144000" y="4407408"/>
            <a:ext cx="950976" cy="365760"/>
            <a:chOff x="0" y="0"/>
            <a:chExt cx="1267968" cy="487680"/>
          </a:xfrm>
        </p:grpSpPr>
        <p:sp>
          <p:nvSpPr>
            <p:cNvPr name="Freeform 77" id="77"/>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78" id="78"/>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~+3 CIDEr</a:t>
              </a:r>
            </a:p>
          </p:txBody>
        </p:sp>
      </p:grpSp>
      <p:grpSp>
        <p:nvGrpSpPr>
          <p:cNvPr name="Group 79" id="79"/>
          <p:cNvGrpSpPr/>
          <p:nvPr/>
        </p:nvGrpSpPr>
        <p:grpSpPr>
          <a:xfrm rot="0">
            <a:off x="10228583" y="4412999"/>
            <a:ext cx="171707" cy="171707"/>
            <a:chOff x="0" y="0"/>
            <a:chExt cx="228943" cy="228943"/>
          </a:xfrm>
        </p:grpSpPr>
        <p:sp>
          <p:nvSpPr>
            <p:cNvPr name="Freeform 80" id="80"/>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059669"/>
            </a:solidFill>
          </p:spPr>
        </p:sp>
        <p:sp>
          <p:nvSpPr>
            <p:cNvPr name="Freeform 81" id="81"/>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059669"/>
            </a:solidFill>
          </p:spPr>
        </p:sp>
      </p:grpSp>
      <p:grpSp>
        <p:nvGrpSpPr>
          <p:cNvPr name="Group 82" id="82"/>
          <p:cNvGrpSpPr/>
          <p:nvPr/>
        </p:nvGrpSpPr>
        <p:grpSpPr>
          <a:xfrm rot="0">
            <a:off x="10515600" y="4352544"/>
            <a:ext cx="5486400" cy="457200"/>
            <a:chOff x="0" y="0"/>
            <a:chExt cx="7315200" cy="609600"/>
          </a:xfrm>
        </p:grpSpPr>
        <p:sp>
          <p:nvSpPr>
            <p:cNvPr name="Freeform 83" id="83"/>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84" id="84"/>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Relative position bias in LFSE squeeze attention</a:t>
              </a:r>
            </a:p>
          </p:txBody>
        </p:sp>
      </p:grpSp>
      <p:grpSp>
        <p:nvGrpSpPr>
          <p:cNvPr name="Group 85" id="85"/>
          <p:cNvGrpSpPr/>
          <p:nvPr/>
        </p:nvGrpSpPr>
        <p:grpSpPr>
          <a:xfrm rot="0">
            <a:off x="16093440" y="4352544"/>
            <a:ext cx="1280160" cy="457200"/>
            <a:chOff x="0" y="0"/>
            <a:chExt cx="1706880" cy="609600"/>
          </a:xfrm>
        </p:grpSpPr>
        <p:sp>
          <p:nvSpPr>
            <p:cNvPr name="Freeform 86" id="86"/>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87" id="87"/>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1–2 days</a:t>
              </a:r>
            </a:p>
          </p:txBody>
        </p:sp>
      </p:grpSp>
      <p:grpSp>
        <p:nvGrpSpPr>
          <p:cNvPr name="Group 88" id="88"/>
          <p:cNvGrpSpPr/>
          <p:nvPr/>
        </p:nvGrpSpPr>
        <p:grpSpPr>
          <a:xfrm rot="0">
            <a:off x="17461230" y="4403598"/>
            <a:ext cx="958596" cy="373380"/>
            <a:chOff x="0" y="0"/>
            <a:chExt cx="1278128" cy="497840"/>
          </a:xfrm>
        </p:grpSpPr>
        <p:sp>
          <p:nvSpPr>
            <p:cNvPr name="Freeform 89" id="89"/>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90" id="90"/>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91" id="91"/>
          <p:cNvGrpSpPr/>
          <p:nvPr/>
        </p:nvGrpSpPr>
        <p:grpSpPr>
          <a:xfrm rot="0">
            <a:off x="17465040" y="4407408"/>
            <a:ext cx="950976" cy="365760"/>
            <a:chOff x="0" y="0"/>
            <a:chExt cx="1267968" cy="487680"/>
          </a:xfrm>
        </p:grpSpPr>
        <p:sp>
          <p:nvSpPr>
            <p:cNvPr name="Freeform 92" id="92"/>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93" id="93"/>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~+4 CIDEr</a:t>
              </a:r>
            </a:p>
          </p:txBody>
        </p:sp>
      </p:grpSp>
      <p:grpSp>
        <p:nvGrpSpPr>
          <p:cNvPr name="Group 94" id="94"/>
          <p:cNvGrpSpPr/>
          <p:nvPr/>
        </p:nvGrpSpPr>
        <p:grpSpPr>
          <a:xfrm rot="0">
            <a:off x="725167" y="5571487"/>
            <a:ext cx="16837657" cy="2426713"/>
            <a:chOff x="0" y="0"/>
            <a:chExt cx="22450209" cy="3235617"/>
          </a:xfrm>
        </p:grpSpPr>
        <p:sp>
          <p:nvSpPr>
            <p:cNvPr name="Freeform 95" id="95"/>
            <p:cNvSpPr/>
            <p:nvPr/>
          </p:nvSpPr>
          <p:spPr>
            <a:xfrm flipH="false" flipV="false" rot="0">
              <a:off x="8509" y="8509"/>
              <a:ext cx="22433281" cy="3218688"/>
            </a:xfrm>
            <a:custGeom>
              <a:avLst/>
              <a:gdLst/>
              <a:ahLst/>
              <a:cxnLst/>
              <a:rect r="r" b="b" t="t" l="l"/>
              <a:pathLst>
                <a:path h="3218688" w="22433281">
                  <a:moveTo>
                    <a:pt x="0" y="0"/>
                  </a:moveTo>
                  <a:lnTo>
                    <a:pt x="22433281" y="0"/>
                  </a:lnTo>
                  <a:lnTo>
                    <a:pt x="22433281" y="3218688"/>
                  </a:lnTo>
                  <a:lnTo>
                    <a:pt x="0" y="3218688"/>
                  </a:lnTo>
                  <a:close/>
                </a:path>
              </a:pathLst>
            </a:custGeom>
            <a:solidFill>
              <a:srgbClr val="FFFFFF"/>
            </a:solidFill>
          </p:spPr>
        </p:sp>
        <p:sp>
          <p:nvSpPr>
            <p:cNvPr name="Freeform 96" id="96"/>
            <p:cNvSpPr/>
            <p:nvPr/>
          </p:nvSpPr>
          <p:spPr>
            <a:xfrm flipH="false" flipV="false" rot="0">
              <a:off x="0" y="0"/>
              <a:ext cx="22450298" cy="3235706"/>
            </a:xfrm>
            <a:custGeom>
              <a:avLst/>
              <a:gdLst/>
              <a:ahLst/>
              <a:cxnLst/>
              <a:rect r="r" b="b" t="t" l="l"/>
              <a:pathLst>
                <a:path h="3235706" w="22450298">
                  <a:moveTo>
                    <a:pt x="8509" y="0"/>
                  </a:moveTo>
                  <a:lnTo>
                    <a:pt x="22441790" y="0"/>
                  </a:lnTo>
                  <a:cubicBezTo>
                    <a:pt x="22446489" y="0"/>
                    <a:pt x="22450298" y="3810"/>
                    <a:pt x="22450298" y="8509"/>
                  </a:cubicBezTo>
                  <a:lnTo>
                    <a:pt x="22450298" y="3227197"/>
                  </a:lnTo>
                  <a:cubicBezTo>
                    <a:pt x="22450298" y="3231896"/>
                    <a:pt x="22446489" y="3235706"/>
                    <a:pt x="22441790"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22441790" y="3218688"/>
                  </a:lnTo>
                  <a:lnTo>
                    <a:pt x="22441790" y="3227197"/>
                  </a:lnTo>
                  <a:lnTo>
                    <a:pt x="22433280" y="3227197"/>
                  </a:lnTo>
                  <a:lnTo>
                    <a:pt x="22433280" y="8509"/>
                  </a:lnTo>
                  <a:lnTo>
                    <a:pt x="22441790" y="8509"/>
                  </a:lnTo>
                  <a:lnTo>
                    <a:pt x="22441790" y="17018"/>
                  </a:lnTo>
                  <a:lnTo>
                    <a:pt x="8509" y="17018"/>
                  </a:lnTo>
                  <a:close/>
                </a:path>
              </a:pathLst>
            </a:custGeom>
            <a:solidFill>
              <a:srgbClr val="E2E8F0"/>
            </a:solidFill>
          </p:spPr>
        </p:sp>
      </p:grpSp>
      <p:grpSp>
        <p:nvGrpSpPr>
          <p:cNvPr name="Group 97" id="97"/>
          <p:cNvGrpSpPr/>
          <p:nvPr/>
        </p:nvGrpSpPr>
        <p:grpSpPr>
          <a:xfrm rot="0">
            <a:off x="718823" y="5565143"/>
            <a:ext cx="939803" cy="2439419"/>
            <a:chOff x="0" y="0"/>
            <a:chExt cx="1253071" cy="3252559"/>
          </a:xfrm>
        </p:grpSpPr>
        <p:sp>
          <p:nvSpPr>
            <p:cNvPr name="Freeform 98" id="98"/>
            <p:cNvSpPr/>
            <p:nvPr/>
          </p:nvSpPr>
          <p:spPr>
            <a:xfrm flipH="false" flipV="false" rot="0">
              <a:off x="16891" y="16891"/>
              <a:ext cx="1219200" cy="3218688"/>
            </a:xfrm>
            <a:custGeom>
              <a:avLst/>
              <a:gdLst/>
              <a:ahLst/>
              <a:cxnLst/>
              <a:rect r="r" b="b" t="t" l="l"/>
              <a:pathLst>
                <a:path h="3218688" w="1219200">
                  <a:moveTo>
                    <a:pt x="0" y="0"/>
                  </a:moveTo>
                  <a:lnTo>
                    <a:pt x="1219200" y="0"/>
                  </a:lnTo>
                  <a:lnTo>
                    <a:pt x="1219200" y="3218688"/>
                  </a:lnTo>
                  <a:lnTo>
                    <a:pt x="0" y="3218688"/>
                  </a:lnTo>
                  <a:close/>
                </a:path>
              </a:pathLst>
            </a:custGeom>
            <a:solidFill>
              <a:srgbClr val="0D9488"/>
            </a:solidFill>
          </p:spPr>
        </p:sp>
        <p:sp>
          <p:nvSpPr>
            <p:cNvPr name="Freeform 99" id="99"/>
            <p:cNvSpPr/>
            <p:nvPr/>
          </p:nvSpPr>
          <p:spPr>
            <a:xfrm flipH="false" flipV="false" rot="0">
              <a:off x="0" y="0"/>
              <a:ext cx="1252982" cy="3252470"/>
            </a:xfrm>
            <a:custGeom>
              <a:avLst/>
              <a:gdLst/>
              <a:ahLst/>
              <a:cxnLst/>
              <a:rect r="r" b="b" t="t" l="l"/>
              <a:pathLst>
                <a:path h="3252470" w="1252982">
                  <a:moveTo>
                    <a:pt x="16891" y="0"/>
                  </a:moveTo>
                  <a:lnTo>
                    <a:pt x="1236091" y="0"/>
                  </a:lnTo>
                  <a:cubicBezTo>
                    <a:pt x="1245489" y="0"/>
                    <a:pt x="1252982" y="7620"/>
                    <a:pt x="1252982" y="16891"/>
                  </a:cubicBezTo>
                  <a:lnTo>
                    <a:pt x="1252982" y="3235579"/>
                  </a:lnTo>
                  <a:cubicBezTo>
                    <a:pt x="1252982" y="3244977"/>
                    <a:pt x="1245362" y="3252470"/>
                    <a:pt x="1236091" y="3252470"/>
                  </a:cubicBezTo>
                  <a:lnTo>
                    <a:pt x="16891" y="3252470"/>
                  </a:lnTo>
                  <a:cubicBezTo>
                    <a:pt x="7493" y="3252470"/>
                    <a:pt x="0" y="3244850"/>
                    <a:pt x="0" y="3235579"/>
                  </a:cubicBezTo>
                  <a:lnTo>
                    <a:pt x="0" y="16891"/>
                  </a:lnTo>
                  <a:cubicBezTo>
                    <a:pt x="0" y="7620"/>
                    <a:pt x="7620" y="0"/>
                    <a:pt x="16891" y="0"/>
                  </a:cubicBezTo>
                  <a:moveTo>
                    <a:pt x="16891" y="33909"/>
                  </a:moveTo>
                  <a:lnTo>
                    <a:pt x="16891" y="16891"/>
                  </a:lnTo>
                  <a:lnTo>
                    <a:pt x="33909" y="16891"/>
                  </a:lnTo>
                  <a:lnTo>
                    <a:pt x="33909" y="3235579"/>
                  </a:lnTo>
                  <a:lnTo>
                    <a:pt x="16891" y="3235579"/>
                  </a:lnTo>
                  <a:lnTo>
                    <a:pt x="16891" y="3218688"/>
                  </a:lnTo>
                  <a:lnTo>
                    <a:pt x="1236091" y="3218688"/>
                  </a:lnTo>
                  <a:lnTo>
                    <a:pt x="1236091" y="3235579"/>
                  </a:lnTo>
                  <a:lnTo>
                    <a:pt x="1219200" y="3235579"/>
                  </a:lnTo>
                  <a:lnTo>
                    <a:pt x="1219200" y="16891"/>
                  </a:lnTo>
                  <a:lnTo>
                    <a:pt x="1236091" y="16891"/>
                  </a:lnTo>
                  <a:lnTo>
                    <a:pt x="1236091" y="33909"/>
                  </a:lnTo>
                  <a:lnTo>
                    <a:pt x="16891" y="33909"/>
                  </a:lnTo>
                  <a:close/>
                </a:path>
              </a:pathLst>
            </a:custGeom>
            <a:solidFill>
              <a:srgbClr val="0D9488"/>
            </a:solidFill>
          </p:spPr>
        </p:sp>
      </p:grpSp>
      <p:grpSp>
        <p:nvGrpSpPr>
          <p:cNvPr name="Group 100" id="100"/>
          <p:cNvGrpSpPr/>
          <p:nvPr/>
        </p:nvGrpSpPr>
        <p:grpSpPr>
          <a:xfrm rot="0">
            <a:off x="731520" y="5577840"/>
            <a:ext cx="914400" cy="2414016"/>
            <a:chOff x="0" y="0"/>
            <a:chExt cx="1219200" cy="3218688"/>
          </a:xfrm>
        </p:grpSpPr>
        <p:sp>
          <p:nvSpPr>
            <p:cNvPr name="Freeform 101" id="101"/>
            <p:cNvSpPr/>
            <p:nvPr/>
          </p:nvSpPr>
          <p:spPr>
            <a:xfrm flipH="false" flipV="false" rot="0">
              <a:off x="0" y="0"/>
              <a:ext cx="1219200" cy="3218688"/>
            </a:xfrm>
            <a:custGeom>
              <a:avLst/>
              <a:gdLst/>
              <a:ahLst/>
              <a:cxnLst/>
              <a:rect r="r" b="b" t="t" l="l"/>
              <a:pathLst>
                <a:path h="3218688" w="1219200">
                  <a:moveTo>
                    <a:pt x="0" y="0"/>
                  </a:moveTo>
                  <a:lnTo>
                    <a:pt x="1219200" y="0"/>
                  </a:lnTo>
                  <a:lnTo>
                    <a:pt x="1219200" y="3218688"/>
                  </a:lnTo>
                  <a:lnTo>
                    <a:pt x="0" y="3218688"/>
                  </a:lnTo>
                  <a:close/>
                </a:path>
              </a:pathLst>
            </a:custGeom>
            <a:blipFill>
              <a:blip r:embed="rId3">
                <a:alphaModFix amt="0"/>
              </a:blip>
              <a:stretch>
                <a:fillRect l="-288721" t="0" r="-288721" b="0"/>
              </a:stretch>
            </a:blipFill>
          </p:spPr>
        </p:sp>
        <p:sp>
          <p:nvSpPr>
            <p:cNvPr name="TextBox 102" id="102"/>
            <p:cNvSpPr txBox="true"/>
            <p:nvPr/>
          </p:nvSpPr>
          <p:spPr>
            <a:xfrm>
              <a:off x="0" y="-76200"/>
              <a:ext cx="1219200" cy="3294888"/>
            </a:xfrm>
            <a:prstGeom prst="rect">
              <a:avLst/>
            </a:prstGeom>
          </p:spPr>
          <p:txBody>
            <a:bodyPr anchor="ctr" rtlCol="false" tIns="0" lIns="0" bIns="0" rIns="0"/>
            <a:lstStyle/>
            <a:p>
              <a:pPr algn="ctr">
                <a:lnSpc>
                  <a:spcPts val="5280"/>
                </a:lnSpc>
              </a:pPr>
              <a:r>
                <a:rPr lang="en-US" sz="4400" b="true">
                  <a:solidFill>
                    <a:srgbClr val="FFFFFF"/>
                  </a:solidFill>
                  <a:latin typeface="Calibri (MS) Bold"/>
                  <a:ea typeface="Calibri (MS) Bold"/>
                  <a:cs typeface="Calibri (MS) Bold"/>
                  <a:sym typeface="Calibri (MS) Bold"/>
                </a:rPr>
                <a:t>2</a:t>
              </a:r>
            </a:p>
          </p:txBody>
        </p:sp>
      </p:grpSp>
      <p:grpSp>
        <p:nvGrpSpPr>
          <p:cNvPr name="Group 103" id="103"/>
          <p:cNvGrpSpPr/>
          <p:nvPr/>
        </p:nvGrpSpPr>
        <p:grpSpPr>
          <a:xfrm rot="0">
            <a:off x="1828800" y="5669280"/>
            <a:ext cx="13533120" cy="512064"/>
            <a:chOff x="0" y="0"/>
            <a:chExt cx="18044160" cy="682752"/>
          </a:xfrm>
        </p:grpSpPr>
        <p:sp>
          <p:nvSpPr>
            <p:cNvPr name="Freeform 104" id="104"/>
            <p:cNvSpPr/>
            <p:nvPr/>
          </p:nvSpPr>
          <p:spPr>
            <a:xfrm flipH="false" flipV="false" rot="0">
              <a:off x="0" y="0"/>
              <a:ext cx="18044161" cy="682752"/>
            </a:xfrm>
            <a:custGeom>
              <a:avLst/>
              <a:gdLst/>
              <a:ahLst/>
              <a:cxnLst/>
              <a:rect r="r" b="b" t="t" l="l"/>
              <a:pathLst>
                <a:path h="682752" w="18044161">
                  <a:moveTo>
                    <a:pt x="0" y="0"/>
                  </a:moveTo>
                  <a:lnTo>
                    <a:pt x="18044161" y="0"/>
                  </a:lnTo>
                  <a:lnTo>
                    <a:pt x="18044161" y="682752"/>
                  </a:lnTo>
                  <a:lnTo>
                    <a:pt x="0" y="682752"/>
                  </a:lnTo>
                  <a:close/>
                </a:path>
              </a:pathLst>
            </a:custGeom>
            <a:blipFill>
              <a:blip r:embed="rId3">
                <a:alphaModFix amt="0"/>
              </a:blip>
              <a:stretch>
                <a:fillRect l="0" t="-464961" r="0" b="-464961"/>
              </a:stretch>
            </a:blipFill>
          </p:spPr>
        </p:sp>
        <p:sp>
          <p:nvSpPr>
            <p:cNvPr name="TextBox 105" id="105"/>
            <p:cNvSpPr txBox="true"/>
            <p:nvPr/>
          </p:nvSpPr>
          <p:spPr>
            <a:xfrm>
              <a:off x="0" y="-47625"/>
              <a:ext cx="18044160" cy="730377"/>
            </a:xfrm>
            <a:prstGeom prst="rect">
              <a:avLst/>
            </a:prstGeom>
          </p:spPr>
          <p:txBody>
            <a:bodyPr anchor="ctr" rtlCol="false" tIns="0" lIns="0" bIns="0" rIns="0"/>
            <a:lstStyle/>
            <a:p>
              <a:pPr algn="l">
                <a:lnSpc>
                  <a:spcPts val="2760"/>
                </a:lnSpc>
              </a:pPr>
              <a:r>
                <a:rPr lang="en-US" sz="2300" b="true">
                  <a:solidFill>
                    <a:srgbClr val="1E293B"/>
                  </a:solidFill>
                  <a:latin typeface="Calibri (MS) Bold"/>
                  <a:ea typeface="Calibri (MS) Bold"/>
                  <a:cs typeface="Calibri (MS) Bold"/>
                  <a:sym typeface="Calibri (MS) Bold"/>
                </a:rPr>
                <a:t>Architectural Upgrades — Medium Effort</a:t>
              </a:r>
            </a:p>
          </p:txBody>
        </p:sp>
      </p:grpSp>
      <p:grpSp>
        <p:nvGrpSpPr>
          <p:cNvPr name="Group 106" id="106"/>
          <p:cNvGrpSpPr/>
          <p:nvPr/>
        </p:nvGrpSpPr>
        <p:grpSpPr>
          <a:xfrm rot="0">
            <a:off x="15532103" y="5674871"/>
            <a:ext cx="2768603" cy="500891"/>
            <a:chOff x="0" y="0"/>
            <a:chExt cx="3691471" cy="667855"/>
          </a:xfrm>
        </p:grpSpPr>
        <p:sp>
          <p:nvSpPr>
            <p:cNvPr name="Freeform 107" id="107"/>
            <p:cNvSpPr/>
            <p:nvPr/>
          </p:nvSpPr>
          <p:spPr>
            <a:xfrm flipH="false" flipV="false" rot="0">
              <a:off x="16891" y="16891"/>
              <a:ext cx="3657600" cy="633984"/>
            </a:xfrm>
            <a:custGeom>
              <a:avLst/>
              <a:gdLst/>
              <a:ahLst/>
              <a:cxnLst/>
              <a:rect r="r" b="b" t="t" l="l"/>
              <a:pathLst>
                <a:path h="633984" w="3657600">
                  <a:moveTo>
                    <a:pt x="0" y="0"/>
                  </a:moveTo>
                  <a:lnTo>
                    <a:pt x="3657600" y="0"/>
                  </a:lnTo>
                  <a:lnTo>
                    <a:pt x="3657600" y="633984"/>
                  </a:lnTo>
                  <a:lnTo>
                    <a:pt x="0" y="633984"/>
                  </a:lnTo>
                  <a:close/>
                </a:path>
              </a:pathLst>
            </a:custGeom>
            <a:solidFill>
              <a:srgbClr val="0D9488"/>
            </a:solidFill>
          </p:spPr>
        </p:sp>
        <p:sp>
          <p:nvSpPr>
            <p:cNvPr name="Freeform 108" id="108"/>
            <p:cNvSpPr/>
            <p:nvPr/>
          </p:nvSpPr>
          <p:spPr>
            <a:xfrm flipH="false" flipV="false" rot="0">
              <a:off x="0" y="0"/>
              <a:ext cx="3691382" cy="667768"/>
            </a:xfrm>
            <a:custGeom>
              <a:avLst/>
              <a:gdLst/>
              <a:ahLst/>
              <a:cxnLst/>
              <a:rect r="r" b="b" t="t" l="l"/>
              <a:pathLst>
                <a:path h="667768" w="3691382">
                  <a:moveTo>
                    <a:pt x="16891" y="0"/>
                  </a:moveTo>
                  <a:lnTo>
                    <a:pt x="3674491" y="0"/>
                  </a:lnTo>
                  <a:cubicBezTo>
                    <a:pt x="3683889" y="0"/>
                    <a:pt x="3691382" y="7620"/>
                    <a:pt x="3691382" y="16891"/>
                  </a:cubicBezTo>
                  <a:lnTo>
                    <a:pt x="3691382" y="650875"/>
                  </a:lnTo>
                  <a:cubicBezTo>
                    <a:pt x="3691382" y="660273"/>
                    <a:pt x="3683762" y="667766"/>
                    <a:pt x="36744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3674491" y="633984"/>
                  </a:lnTo>
                  <a:lnTo>
                    <a:pt x="3674491" y="650875"/>
                  </a:lnTo>
                  <a:lnTo>
                    <a:pt x="3657600" y="650875"/>
                  </a:lnTo>
                  <a:lnTo>
                    <a:pt x="3657600" y="16891"/>
                  </a:lnTo>
                  <a:lnTo>
                    <a:pt x="3674491" y="16891"/>
                  </a:lnTo>
                  <a:lnTo>
                    <a:pt x="3674491" y="33909"/>
                  </a:lnTo>
                  <a:lnTo>
                    <a:pt x="16891" y="33909"/>
                  </a:lnTo>
                  <a:close/>
                </a:path>
              </a:pathLst>
            </a:custGeom>
            <a:solidFill>
              <a:srgbClr val="0D9488"/>
            </a:solidFill>
          </p:spPr>
        </p:sp>
      </p:grpSp>
      <p:grpSp>
        <p:nvGrpSpPr>
          <p:cNvPr name="Group 109" id="109"/>
          <p:cNvGrpSpPr/>
          <p:nvPr/>
        </p:nvGrpSpPr>
        <p:grpSpPr>
          <a:xfrm rot="0">
            <a:off x="15544800" y="5687568"/>
            <a:ext cx="2743200" cy="475488"/>
            <a:chOff x="0" y="0"/>
            <a:chExt cx="3657600" cy="633984"/>
          </a:xfrm>
        </p:grpSpPr>
        <p:sp>
          <p:nvSpPr>
            <p:cNvPr name="Freeform 110" id="110"/>
            <p:cNvSpPr/>
            <p:nvPr/>
          </p:nvSpPr>
          <p:spPr>
            <a:xfrm flipH="false" flipV="false" rot="0">
              <a:off x="0" y="0"/>
              <a:ext cx="3657600" cy="633984"/>
            </a:xfrm>
            <a:custGeom>
              <a:avLst/>
              <a:gdLst/>
              <a:ahLst/>
              <a:cxnLst/>
              <a:rect r="r" b="b" t="t" l="l"/>
              <a:pathLst>
                <a:path h="633984" w="3657600">
                  <a:moveTo>
                    <a:pt x="0" y="0"/>
                  </a:moveTo>
                  <a:lnTo>
                    <a:pt x="3657600" y="0"/>
                  </a:lnTo>
                  <a:lnTo>
                    <a:pt x="3657600" y="633984"/>
                  </a:lnTo>
                  <a:lnTo>
                    <a:pt x="0" y="633984"/>
                  </a:lnTo>
                  <a:close/>
                </a:path>
              </a:pathLst>
            </a:custGeom>
            <a:blipFill>
              <a:blip r:embed="rId3">
                <a:alphaModFix amt="0"/>
              </a:blip>
              <a:stretch>
                <a:fillRect l="0" t="-62413" r="0" b="-62413"/>
              </a:stretch>
            </a:blipFill>
          </p:spPr>
        </p:sp>
        <p:sp>
          <p:nvSpPr>
            <p:cNvPr name="TextBox 111" id="111"/>
            <p:cNvSpPr txBox="true"/>
            <p:nvPr/>
          </p:nvSpPr>
          <p:spPr>
            <a:xfrm>
              <a:off x="0" y="-28575"/>
              <a:ext cx="3657600" cy="662559"/>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Est. 2–4 weeks</a:t>
              </a:r>
            </a:p>
          </p:txBody>
        </p:sp>
      </p:grpSp>
      <p:grpSp>
        <p:nvGrpSpPr>
          <p:cNvPr name="Group 112" id="112"/>
          <p:cNvGrpSpPr/>
          <p:nvPr/>
        </p:nvGrpSpPr>
        <p:grpSpPr>
          <a:xfrm rot="0">
            <a:off x="1907543" y="6333239"/>
            <a:ext cx="171707" cy="171707"/>
            <a:chOff x="0" y="0"/>
            <a:chExt cx="228943" cy="228943"/>
          </a:xfrm>
        </p:grpSpPr>
        <p:sp>
          <p:nvSpPr>
            <p:cNvPr name="Freeform 113" id="113"/>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0D9488"/>
            </a:solidFill>
          </p:spPr>
        </p:sp>
        <p:sp>
          <p:nvSpPr>
            <p:cNvPr name="Freeform 114" id="114"/>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0D9488"/>
            </a:solidFill>
          </p:spPr>
        </p:sp>
      </p:grpSp>
      <p:grpSp>
        <p:nvGrpSpPr>
          <p:cNvPr name="Group 115" id="115"/>
          <p:cNvGrpSpPr/>
          <p:nvPr/>
        </p:nvGrpSpPr>
        <p:grpSpPr>
          <a:xfrm rot="0">
            <a:off x="2194560" y="6272784"/>
            <a:ext cx="5486400" cy="457200"/>
            <a:chOff x="0" y="0"/>
            <a:chExt cx="7315200" cy="609600"/>
          </a:xfrm>
        </p:grpSpPr>
        <p:sp>
          <p:nvSpPr>
            <p:cNvPr name="Freeform 116" id="116"/>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17" id="117"/>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Replace SENet → CBAM in AMFF module</a:t>
              </a:r>
            </a:p>
          </p:txBody>
        </p:sp>
      </p:grpSp>
      <p:grpSp>
        <p:nvGrpSpPr>
          <p:cNvPr name="Group 118" id="118"/>
          <p:cNvGrpSpPr/>
          <p:nvPr/>
        </p:nvGrpSpPr>
        <p:grpSpPr>
          <a:xfrm rot="0">
            <a:off x="7772400" y="6272784"/>
            <a:ext cx="1280160" cy="457200"/>
            <a:chOff x="0" y="0"/>
            <a:chExt cx="1706880" cy="609600"/>
          </a:xfrm>
        </p:grpSpPr>
        <p:sp>
          <p:nvSpPr>
            <p:cNvPr name="Freeform 119" id="119"/>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120" id="120"/>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2–3 days</a:t>
              </a:r>
            </a:p>
          </p:txBody>
        </p:sp>
      </p:grpSp>
      <p:grpSp>
        <p:nvGrpSpPr>
          <p:cNvPr name="Group 121" id="121"/>
          <p:cNvGrpSpPr/>
          <p:nvPr/>
        </p:nvGrpSpPr>
        <p:grpSpPr>
          <a:xfrm rot="0">
            <a:off x="9140190" y="6323838"/>
            <a:ext cx="958596" cy="373380"/>
            <a:chOff x="0" y="0"/>
            <a:chExt cx="1278128" cy="497840"/>
          </a:xfrm>
        </p:grpSpPr>
        <p:sp>
          <p:nvSpPr>
            <p:cNvPr name="Freeform 122" id="122"/>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123" id="123"/>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124" id="124"/>
          <p:cNvGrpSpPr/>
          <p:nvPr/>
        </p:nvGrpSpPr>
        <p:grpSpPr>
          <a:xfrm rot="0">
            <a:off x="9144000" y="6327648"/>
            <a:ext cx="950976" cy="365760"/>
            <a:chOff x="0" y="0"/>
            <a:chExt cx="1267968" cy="487680"/>
          </a:xfrm>
        </p:grpSpPr>
        <p:sp>
          <p:nvSpPr>
            <p:cNvPr name="Freeform 125" id="125"/>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126" id="126"/>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~+3 CIDEr</a:t>
              </a:r>
            </a:p>
          </p:txBody>
        </p:sp>
      </p:grpSp>
      <p:grpSp>
        <p:nvGrpSpPr>
          <p:cNvPr name="Group 127" id="127"/>
          <p:cNvGrpSpPr/>
          <p:nvPr/>
        </p:nvGrpSpPr>
        <p:grpSpPr>
          <a:xfrm rot="0">
            <a:off x="10228583" y="6333239"/>
            <a:ext cx="171707" cy="171707"/>
            <a:chOff x="0" y="0"/>
            <a:chExt cx="228943" cy="228943"/>
          </a:xfrm>
        </p:grpSpPr>
        <p:sp>
          <p:nvSpPr>
            <p:cNvPr name="Freeform 128" id="128"/>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0D9488"/>
            </a:solidFill>
          </p:spPr>
        </p:sp>
        <p:sp>
          <p:nvSpPr>
            <p:cNvPr name="Freeform 129" id="129"/>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0D9488"/>
            </a:solidFill>
          </p:spPr>
        </p:sp>
      </p:grpSp>
      <p:grpSp>
        <p:nvGrpSpPr>
          <p:cNvPr name="Group 130" id="130"/>
          <p:cNvGrpSpPr/>
          <p:nvPr/>
        </p:nvGrpSpPr>
        <p:grpSpPr>
          <a:xfrm rot="0">
            <a:off x="10515600" y="6272784"/>
            <a:ext cx="5486400" cy="457200"/>
            <a:chOff x="0" y="0"/>
            <a:chExt cx="7315200" cy="609600"/>
          </a:xfrm>
        </p:grpSpPr>
        <p:sp>
          <p:nvSpPr>
            <p:cNvPr name="Freeform 131" id="131"/>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32" id="132"/>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Add FPN top-down pathway between Swin and AMFF</a:t>
              </a:r>
            </a:p>
          </p:txBody>
        </p:sp>
      </p:grpSp>
      <p:grpSp>
        <p:nvGrpSpPr>
          <p:cNvPr name="Group 133" id="133"/>
          <p:cNvGrpSpPr/>
          <p:nvPr/>
        </p:nvGrpSpPr>
        <p:grpSpPr>
          <a:xfrm rot="0">
            <a:off x="16093440" y="6272784"/>
            <a:ext cx="1280160" cy="457200"/>
            <a:chOff x="0" y="0"/>
            <a:chExt cx="1706880" cy="609600"/>
          </a:xfrm>
        </p:grpSpPr>
        <p:sp>
          <p:nvSpPr>
            <p:cNvPr name="Freeform 134" id="134"/>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135" id="135"/>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3–4 days</a:t>
              </a:r>
            </a:p>
          </p:txBody>
        </p:sp>
      </p:grpSp>
      <p:grpSp>
        <p:nvGrpSpPr>
          <p:cNvPr name="Group 136" id="136"/>
          <p:cNvGrpSpPr/>
          <p:nvPr/>
        </p:nvGrpSpPr>
        <p:grpSpPr>
          <a:xfrm rot="0">
            <a:off x="17461230" y="6323838"/>
            <a:ext cx="958596" cy="373380"/>
            <a:chOff x="0" y="0"/>
            <a:chExt cx="1278128" cy="497840"/>
          </a:xfrm>
        </p:grpSpPr>
        <p:sp>
          <p:nvSpPr>
            <p:cNvPr name="Freeform 137" id="137"/>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138" id="138"/>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139" id="139"/>
          <p:cNvGrpSpPr/>
          <p:nvPr/>
        </p:nvGrpSpPr>
        <p:grpSpPr>
          <a:xfrm rot="0">
            <a:off x="17465040" y="6327648"/>
            <a:ext cx="950976" cy="365760"/>
            <a:chOff x="0" y="0"/>
            <a:chExt cx="1267968" cy="487680"/>
          </a:xfrm>
        </p:grpSpPr>
        <p:sp>
          <p:nvSpPr>
            <p:cNvPr name="Freeform 140" id="140"/>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141" id="141"/>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~+4 CIDEr</a:t>
              </a:r>
            </a:p>
          </p:txBody>
        </p:sp>
      </p:grpSp>
      <p:grpSp>
        <p:nvGrpSpPr>
          <p:cNvPr name="Group 142" id="142"/>
          <p:cNvGrpSpPr/>
          <p:nvPr/>
        </p:nvGrpSpPr>
        <p:grpSpPr>
          <a:xfrm rot="0">
            <a:off x="1907543" y="7028183"/>
            <a:ext cx="171707" cy="171707"/>
            <a:chOff x="0" y="0"/>
            <a:chExt cx="228943" cy="228943"/>
          </a:xfrm>
        </p:grpSpPr>
        <p:sp>
          <p:nvSpPr>
            <p:cNvPr name="Freeform 143" id="143"/>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0D9488"/>
            </a:solidFill>
          </p:spPr>
        </p:sp>
        <p:sp>
          <p:nvSpPr>
            <p:cNvPr name="Freeform 144" id="144"/>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0D9488"/>
            </a:solidFill>
          </p:spPr>
        </p:sp>
      </p:grpSp>
      <p:grpSp>
        <p:nvGrpSpPr>
          <p:cNvPr name="Group 145" id="145"/>
          <p:cNvGrpSpPr/>
          <p:nvPr/>
        </p:nvGrpSpPr>
        <p:grpSpPr>
          <a:xfrm rot="0">
            <a:off x="2194560" y="6967728"/>
            <a:ext cx="5486400" cy="457200"/>
            <a:chOff x="0" y="0"/>
            <a:chExt cx="7315200" cy="609600"/>
          </a:xfrm>
        </p:grpSpPr>
        <p:sp>
          <p:nvSpPr>
            <p:cNvPr name="Freeform 146" id="146"/>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47" id="147"/>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Replace LSTM decoder → Transformer decoder (L=6)</a:t>
              </a:r>
            </a:p>
          </p:txBody>
        </p:sp>
      </p:grpSp>
      <p:grpSp>
        <p:nvGrpSpPr>
          <p:cNvPr name="Group 148" id="148"/>
          <p:cNvGrpSpPr/>
          <p:nvPr/>
        </p:nvGrpSpPr>
        <p:grpSpPr>
          <a:xfrm rot="0">
            <a:off x="7772400" y="6967728"/>
            <a:ext cx="1280160" cy="457200"/>
            <a:chOff x="0" y="0"/>
            <a:chExt cx="1706880" cy="609600"/>
          </a:xfrm>
        </p:grpSpPr>
        <p:sp>
          <p:nvSpPr>
            <p:cNvPr name="Freeform 149" id="149"/>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150" id="150"/>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1 week</a:t>
              </a:r>
            </a:p>
          </p:txBody>
        </p:sp>
      </p:grpSp>
      <p:grpSp>
        <p:nvGrpSpPr>
          <p:cNvPr name="Group 151" id="151"/>
          <p:cNvGrpSpPr/>
          <p:nvPr/>
        </p:nvGrpSpPr>
        <p:grpSpPr>
          <a:xfrm rot="0">
            <a:off x="9140190" y="7018782"/>
            <a:ext cx="958596" cy="373380"/>
            <a:chOff x="0" y="0"/>
            <a:chExt cx="1278128" cy="497840"/>
          </a:xfrm>
        </p:grpSpPr>
        <p:sp>
          <p:nvSpPr>
            <p:cNvPr name="Freeform 152" id="152"/>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153" id="153"/>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154" id="154"/>
          <p:cNvGrpSpPr/>
          <p:nvPr/>
        </p:nvGrpSpPr>
        <p:grpSpPr>
          <a:xfrm rot="0">
            <a:off x="9144000" y="7022592"/>
            <a:ext cx="950976" cy="365760"/>
            <a:chOff x="0" y="0"/>
            <a:chExt cx="1267968" cy="487680"/>
          </a:xfrm>
        </p:grpSpPr>
        <p:sp>
          <p:nvSpPr>
            <p:cNvPr name="Freeform 155" id="155"/>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156" id="156"/>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~+7 CIDEr</a:t>
              </a:r>
            </a:p>
          </p:txBody>
        </p:sp>
      </p:grpSp>
      <p:grpSp>
        <p:nvGrpSpPr>
          <p:cNvPr name="Group 157" id="157"/>
          <p:cNvGrpSpPr/>
          <p:nvPr/>
        </p:nvGrpSpPr>
        <p:grpSpPr>
          <a:xfrm rot="0">
            <a:off x="10228583" y="7028183"/>
            <a:ext cx="171707" cy="171707"/>
            <a:chOff x="0" y="0"/>
            <a:chExt cx="228943" cy="228943"/>
          </a:xfrm>
        </p:grpSpPr>
        <p:sp>
          <p:nvSpPr>
            <p:cNvPr name="Freeform 158" id="158"/>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0D9488"/>
            </a:solidFill>
          </p:spPr>
        </p:sp>
        <p:sp>
          <p:nvSpPr>
            <p:cNvPr name="Freeform 159" id="159"/>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0D9488"/>
            </a:solidFill>
          </p:spPr>
        </p:sp>
      </p:grpSp>
      <p:grpSp>
        <p:nvGrpSpPr>
          <p:cNvPr name="Group 160" id="160"/>
          <p:cNvGrpSpPr/>
          <p:nvPr/>
        </p:nvGrpSpPr>
        <p:grpSpPr>
          <a:xfrm rot="0">
            <a:off x="10515600" y="6967728"/>
            <a:ext cx="5486400" cy="457200"/>
            <a:chOff x="0" y="0"/>
            <a:chExt cx="7315200" cy="609600"/>
          </a:xfrm>
        </p:grpSpPr>
        <p:sp>
          <p:nvSpPr>
            <p:cNvPr name="Freeform 161" id="161"/>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62" id="162"/>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Joint training on RSICD + UCM + Sydney</a:t>
              </a:r>
            </a:p>
          </p:txBody>
        </p:sp>
      </p:grpSp>
      <p:grpSp>
        <p:nvGrpSpPr>
          <p:cNvPr name="Group 163" id="163"/>
          <p:cNvGrpSpPr/>
          <p:nvPr/>
        </p:nvGrpSpPr>
        <p:grpSpPr>
          <a:xfrm rot="0">
            <a:off x="16093440" y="6967728"/>
            <a:ext cx="1280160" cy="457200"/>
            <a:chOff x="0" y="0"/>
            <a:chExt cx="1706880" cy="609600"/>
          </a:xfrm>
        </p:grpSpPr>
        <p:sp>
          <p:nvSpPr>
            <p:cNvPr name="Freeform 164" id="164"/>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165" id="165"/>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1–2 days</a:t>
              </a:r>
            </a:p>
          </p:txBody>
        </p:sp>
      </p:grpSp>
      <p:grpSp>
        <p:nvGrpSpPr>
          <p:cNvPr name="Group 166" id="166"/>
          <p:cNvGrpSpPr/>
          <p:nvPr/>
        </p:nvGrpSpPr>
        <p:grpSpPr>
          <a:xfrm rot="0">
            <a:off x="17461230" y="7018782"/>
            <a:ext cx="958596" cy="373380"/>
            <a:chOff x="0" y="0"/>
            <a:chExt cx="1278128" cy="497840"/>
          </a:xfrm>
        </p:grpSpPr>
        <p:sp>
          <p:nvSpPr>
            <p:cNvPr name="Freeform 167" id="167"/>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168" id="168"/>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169" id="169"/>
          <p:cNvGrpSpPr/>
          <p:nvPr/>
        </p:nvGrpSpPr>
        <p:grpSpPr>
          <a:xfrm rot="0">
            <a:off x="17465040" y="7022592"/>
            <a:ext cx="950976" cy="365760"/>
            <a:chOff x="0" y="0"/>
            <a:chExt cx="1267968" cy="487680"/>
          </a:xfrm>
        </p:grpSpPr>
        <p:sp>
          <p:nvSpPr>
            <p:cNvPr name="Freeform 170" id="170"/>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171" id="171"/>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~+2 CIDEr</a:t>
              </a:r>
            </a:p>
          </p:txBody>
        </p:sp>
      </p:grpSp>
      <p:grpSp>
        <p:nvGrpSpPr>
          <p:cNvPr name="Group 172" id="172"/>
          <p:cNvGrpSpPr/>
          <p:nvPr/>
        </p:nvGrpSpPr>
        <p:grpSpPr>
          <a:xfrm rot="0">
            <a:off x="725167" y="8186671"/>
            <a:ext cx="16837657" cy="2426713"/>
            <a:chOff x="0" y="0"/>
            <a:chExt cx="22450209" cy="3235617"/>
          </a:xfrm>
        </p:grpSpPr>
        <p:sp>
          <p:nvSpPr>
            <p:cNvPr name="Freeform 173" id="173"/>
            <p:cNvSpPr/>
            <p:nvPr/>
          </p:nvSpPr>
          <p:spPr>
            <a:xfrm flipH="false" flipV="false" rot="0">
              <a:off x="8509" y="8509"/>
              <a:ext cx="22433281" cy="3218688"/>
            </a:xfrm>
            <a:custGeom>
              <a:avLst/>
              <a:gdLst/>
              <a:ahLst/>
              <a:cxnLst/>
              <a:rect r="r" b="b" t="t" l="l"/>
              <a:pathLst>
                <a:path h="3218688" w="22433281">
                  <a:moveTo>
                    <a:pt x="0" y="0"/>
                  </a:moveTo>
                  <a:lnTo>
                    <a:pt x="22433281" y="0"/>
                  </a:lnTo>
                  <a:lnTo>
                    <a:pt x="22433281" y="3218688"/>
                  </a:lnTo>
                  <a:lnTo>
                    <a:pt x="0" y="3218688"/>
                  </a:lnTo>
                  <a:close/>
                </a:path>
              </a:pathLst>
            </a:custGeom>
            <a:solidFill>
              <a:srgbClr val="FFFFFF"/>
            </a:solidFill>
          </p:spPr>
        </p:sp>
        <p:sp>
          <p:nvSpPr>
            <p:cNvPr name="Freeform 174" id="174"/>
            <p:cNvSpPr/>
            <p:nvPr/>
          </p:nvSpPr>
          <p:spPr>
            <a:xfrm flipH="false" flipV="false" rot="0">
              <a:off x="0" y="0"/>
              <a:ext cx="22450298" cy="3235706"/>
            </a:xfrm>
            <a:custGeom>
              <a:avLst/>
              <a:gdLst/>
              <a:ahLst/>
              <a:cxnLst/>
              <a:rect r="r" b="b" t="t" l="l"/>
              <a:pathLst>
                <a:path h="3235706" w="22450298">
                  <a:moveTo>
                    <a:pt x="8509" y="0"/>
                  </a:moveTo>
                  <a:lnTo>
                    <a:pt x="22441790" y="0"/>
                  </a:lnTo>
                  <a:cubicBezTo>
                    <a:pt x="22446489" y="0"/>
                    <a:pt x="22450298" y="3810"/>
                    <a:pt x="22450298" y="8509"/>
                  </a:cubicBezTo>
                  <a:lnTo>
                    <a:pt x="22450298" y="3227197"/>
                  </a:lnTo>
                  <a:cubicBezTo>
                    <a:pt x="22450298" y="3231896"/>
                    <a:pt x="22446489" y="3235706"/>
                    <a:pt x="22441790" y="3235706"/>
                  </a:cubicBezTo>
                  <a:lnTo>
                    <a:pt x="8509" y="3235706"/>
                  </a:lnTo>
                  <a:cubicBezTo>
                    <a:pt x="3810" y="3235706"/>
                    <a:pt x="0" y="3231896"/>
                    <a:pt x="0" y="3227197"/>
                  </a:cubicBezTo>
                  <a:lnTo>
                    <a:pt x="0" y="8509"/>
                  </a:lnTo>
                  <a:cubicBezTo>
                    <a:pt x="0" y="3810"/>
                    <a:pt x="3810" y="0"/>
                    <a:pt x="8509" y="0"/>
                  </a:cubicBezTo>
                  <a:moveTo>
                    <a:pt x="8509" y="16891"/>
                  </a:moveTo>
                  <a:lnTo>
                    <a:pt x="8509" y="8509"/>
                  </a:lnTo>
                  <a:lnTo>
                    <a:pt x="17018" y="8509"/>
                  </a:lnTo>
                  <a:lnTo>
                    <a:pt x="17018" y="3227197"/>
                  </a:lnTo>
                  <a:lnTo>
                    <a:pt x="8509" y="3227197"/>
                  </a:lnTo>
                  <a:lnTo>
                    <a:pt x="8509" y="3218688"/>
                  </a:lnTo>
                  <a:lnTo>
                    <a:pt x="22441790" y="3218688"/>
                  </a:lnTo>
                  <a:lnTo>
                    <a:pt x="22441790" y="3227197"/>
                  </a:lnTo>
                  <a:lnTo>
                    <a:pt x="22433280" y="3227197"/>
                  </a:lnTo>
                  <a:lnTo>
                    <a:pt x="22433280" y="8509"/>
                  </a:lnTo>
                  <a:lnTo>
                    <a:pt x="22441790" y="8509"/>
                  </a:lnTo>
                  <a:lnTo>
                    <a:pt x="22441790" y="17018"/>
                  </a:lnTo>
                  <a:lnTo>
                    <a:pt x="8509" y="17018"/>
                  </a:lnTo>
                  <a:close/>
                </a:path>
              </a:pathLst>
            </a:custGeom>
            <a:solidFill>
              <a:srgbClr val="E2E8F0"/>
            </a:solidFill>
          </p:spPr>
        </p:sp>
      </p:grpSp>
      <p:grpSp>
        <p:nvGrpSpPr>
          <p:cNvPr name="Group 175" id="175"/>
          <p:cNvGrpSpPr/>
          <p:nvPr/>
        </p:nvGrpSpPr>
        <p:grpSpPr>
          <a:xfrm rot="0">
            <a:off x="718823" y="8180327"/>
            <a:ext cx="939803" cy="2439419"/>
            <a:chOff x="0" y="0"/>
            <a:chExt cx="1253071" cy="3252559"/>
          </a:xfrm>
        </p:grpSpPr>
        <p:sp>
          <p:nvSpPr>
            <p:cNvPr name="Freeform 176" id="176"/>
            <p:cNvSpPr/>
            <p:nvPr/>
          </p:nvSpPr>
          <p:spPr>
            <a:xfrm flipH="false" flipV="false" rot="0">
              <a:off x="16891" y="16891"/>
              <a:ext cx="1219200" cy="3218688"/>
            </a:xfrm>
            <a:custGeom>
              <a:avLst/>
              <a:gdLst/>
              <a:ahLst/>
              <a:cxnLst/>
              <a:rect r="r" b="b" t="t" l="l"/>
              <a:pathLst>
                <a:path h="3218688" w="1219200">
                  <a:moveTo>
                    <a:pt x="0" y="0"/>
                  </a:moveTo>
                  <a:lnTo>
                    <a:pt x="1219200" y="0"/>
                  </a:lnTo>
                  <a:lnTo>
                    <a:pt x="1219200" y="3218688"/>
                  </a:lnTo>
                  <a:lnTo>
                    <a:pt x="0" y="3218688"/>
                  </a:lnTo>
                  <a:close/>
                </a:path>
              </a:pathLst>
            </a:custGeom>
            <a:solidFill>
              <a:srgbClr val="7C3AED"/>
            </a:solidFill>
          </p:spPr>
        </p:sp>
        <p:sp>
          <p:nvSpPr>
            <p:cNvPr name="Freeform 177" id="177"/>
            <p:cNvSpPr/>
            <p:nvPr/>
          </p:nvSpPr>
          <p:spPr>
            <a:xfrm flipH="false" flipV="false" rot="0">
              <a:off x="0" y="0"/>
              <a:ext cx="1252982" cy="3252470"/>
            </a:xfrm>
            <a:custGeom>
              <a:avLst/>
              <a:gdLst/>
              <a:ahLst/>
              <a:cxnLst/>
              <a:rect r="r" b="b" t="t" l="l"/>
              <a:pathLst>
                <a:path h="3252470" w="1252982">
                  <a:moveTo>
                    <a:pt x="16891" y="0"/>
                  </a:moveTo>
                  <a:lnTo>
                    <a:pt x="1236091" y="0"/>
                  </a:lnTo>
                  <a:cubicBezTo>
                    <a:pt x="1245489" y="0"/>
                    <a:pt x="1252982" y="7620"/>
                    <a:pt x="1252982" y="16891"/>
                  </a:cubicBezTo>
                  <a:lnTo>
                    <a:pt x="1252982" y="3235579"/>
                  </a:lnTo>
                  <a:cubicBezTo>
                    <a:pt x="1252982" y="3244977"/>
                    <a:pt x="1245362" y="3252470"/>
                    <a:pt x="1236091" y="3252470"/>
                  </a:cubicBezTo>
                  <a:lnTo>
                    <a:pt x="16891" y="3252470"/>
                  </a:lnTo>
                  <a:cubicBezTo>
                    <a:pt x="7493" y="3252470"/>
                    <a:pt x="0" y="3244850"/>
                    <a:pt x="0" y="3235579"/>
                  </a:cubicBezTo>
                  <a:lnTo>
                    <a:pt x="0" y="16891"/>
                  </a:lnTo>
                  <a:cubicBezTo>
                    <a:pt x="0" y="7620"/>
                    <a:pt x="7620" y="0"/>
                    <a:pt x="16891" y="0"/>
                  </a:cubicBezTo>
                  <a:moveTo>
                    <a:pt x="16891" y="33909"/>
                  </a:moveTo>
                  <a:lnTo>
                    <a:pt x="16891" y="16891"/>
                  </a:lnTo>
                  <a:lnTo>
                    <a:pt x="33909" y="16891"/>
                  </a:lnTo>
                  <a:lnTo>
                    <a:pt x="33909" y="3235579"/>
                  </a:lnTo>
                  <a:lnTo>
                    <a:pt x="16891" y="3235579"/>
                  </a:lnTo>
                  <a:lnTo>
                    <a:pt x="16891" y="3218688"/>
                  </a:lnTo>
                  <a:lnTo>
                    <a:pt x="1236091" y="3218688"/>
                  </a:lnTo>
                  <a:lnTo>
                    <a:pt x="1236091" y="3235579"/>
                  </a:lnTo>
                  <a:lnTo>
                    <a:pt x="1219200" y="3235579"/>
                  </a:lnTo>
                  <a:lnTo>
                    <a:pt x="1219200" y="16891"/>
                  </a:lnTo>
                  <a:lnTo>
                    <a:pt x="1236091" y="16891"/>
                  </a:lnTo>
                  <a:lnTo>
                    <a:pt x="1236091" y="33909"/>
                  </a:lnTo>
                  <a:lnTo>
                    <a:pt x="16891" y="33909"/>
                  </a:lnTo>
                  <a:close/>
                </a:path>
              </a:pathLst>
            </a:custGeom>
            <a:solidFill>
              <a:srgbClr val="7C3AED"/>
            </a:solidFill>
          </p:spPr>
        </p:sp>
      </p:grpSp>
      <p:grpSp>
        <p:nvGrpSpPr>
          <p:cNvPr name="Group 178" id="178"/>
          <p:cNvGrpSpPr/>
          <p:nvPr/>
        </p:nvGrpSpPr>
        <p:grpSpPr>
          <a:xfrm rot="0">
            <a:off x="731520" y="8193024"/>
            <a:ext cx="914400" cy="2414016"/>
            <a:chOff x="0" y="0"/>
            <a:chExt cx="1219200" cy="3218688"/>
          </a:xfrm>
        </p:grpSpPr>
        <p:sp>
          <p:nvSpPr>
            <p:cNvPr name="Freeform 179" id="179"/>
            <p:cNvSpPr/>
            <p:nvPr/>
          </p:nvSpPr>
          <p:spPr>
            <a:xfrm flipH="false" flipV="false" rot="0">
              <a:off x="0" y="0"/>
              <a:ext cx="1219200" cy="3218688"/>
            </a:xfrm>
            <a:custGeom>
              <a:avLst/>
              <a:gdLst/>
              <a:ahLst/>
              <a:cxnLst/>
              <a:rect r="r" b="b" t="t" l="l"/>
              <a:pathLst>
                <a:path h="3218688" w="1219200">
                  <a:moveTo>
                    <a:pt x="0" y="0"/>
                  </a:moveTo>
                  <a:lnTo>
                    <a:pt x="1219200" y="0"/>
                  </a:lnTo>
                  <a:lnTo>
                    <a:pt x="1219200" y="3218688"/>
                  </a:lnTo>
                  <a:lnTo>
                    <a:pt x="0" y="3218688"/>
                  </a:lnTo>
                  <a:close/>
                </a:path>
              </a:pathLst>
            </a:custGeom>
            <a:blipFill>
              <a:blip r:embed="rId3">
                <a:alphaModFix amt="0"/>
              </a:blip>
              <a:stretch>
                <a:fillRect l="-288721" t="0" r="-288721" b="0"/>
              </a:stretch>
            </a:blipFill>
          </p:spPr>
        </p:sp>
        <p:sp>
          <p:nvSpPr>
            <p:cNvPr name="TextBox 180" id="180"/>
            <p:cNvSpPr txBox="true"/>
            <p:nvPr/>
          </p:nvSpPr>
          <p:spPr>
            <a:xfrm>
              <a:off x="0" y="-76200"/>
              <a:ext cx="1219200" cy="3294888"/>
            </a:xfrm>
            <a:prstGeom prst="rect">
              <a:avLst/>
            </a:prstGeom>
          </p:spPr>
          <p:txBody>
            <a:bodyPr anchor="ctr" rtlCol="false" tIns="0" lIns="0" bIns="0" rIns="0"/>
            <a:lstStyle/>
            <a:p>
              <a:pPr algn="ctr">
                <a:lnSpc>
                  <a:spcPts val="5280"/>
                </a:lnSpc>
              </a:pPr>
              <a:r>
                <a:rPr lang="en-US" sz="4400" b="true">
                  <a:solidFill>
                    <a:srgbClr val="FFFFFF"/>
                  </a:solidFill>
                  <a:latin typeface="Calibri (MS) Bold"/>
                  <a:ea typeface="Calibri (MS) Bold"/>
                  <a:cs typeface="Calibri (MS) Bold"/>
                  <a:sym typeface="Calibri (MS) Bold"/>
                </a:rPr>
                <a:t>3</a:t>
              </a:r>
            </a:p>
          </p:txBody>
        </p:sp>
      </p:grpSp>
      <p:grpSp>
        <p:nvGrpSpPr>
          <p:cNvPr name="Group 181" id="181"/>
          <p:cNvGrpSpPr/>
          <p:nvPr/>
        </p:nvGrpSpPr>
        <p:grpSpPr>
          <a:xfrm rot="0">
            <a:off x="1828800" y="8284464"/>
            <a:ext cx="13533120" cy="512064"/>
            <a:chOff x="0" y="0"/>
            <a:chExt cx="18044160" cy="682752"/>
          </a:xfrm>
        </p:grpSpPr>
        <p:sp>
          <p:nvSpPr>
            <p:cNvPr name="Freeform 182" id="182"/>
            <p:cNvSpPr/>
            <p:nvPr/>
          </p:nvSpPr>
          <p:spPr>
            <a:xfrm flipH="false" flipV="false" rot="0">
              <a:off x="0" y="0"/>
              <a:ext cx="18044161" cy="682752"/>
            </a:xfrm>
            <a:custGeom>
              <a:avLst/>
              <a:gdLst/>
              <a:ahLst/>
              <a:cxnLst/>
              <a:rect r="r" b="b" t="t" l="l"/>
              <a:pathLst>
                <a:path h="682752" w="18044161">
                  <a:moveTo>
                    <a:pt x="0" y="0"/>
                  </a:moveTo>
                  <a:lnTo>
                    <a:pt x="18044161" y="0"/>
                  </a:lnTo>
                  <a:lnTo>
                    <a:pt x="18044161" y="682752"/>
                  </a:lnTo>
                  <a:lnTo>
                    <a:pt x="0" y="682752"/>
                  </a:lnTo>
                  <a:close/>
                </a:path>
              </a:pathLst>
            </a:custGeom>
            <a:blipFill>
              <a:blip r:embed="rId3">
                <a:alphaModFix amt="0"/>
              </a:blip>
              <a:stretch>
                <a:fillRect l="0" t="-464961" r="0" b="-464961"/>
              </a:stretch>
            </a:blipFill>
          </p:spPr>
        </p:sp>
        <p:sp>
          <p:nvSpPr>
            <p:cNvPr name="TextBox 183" id="183"/>
            <p:cNvSpPr txBox="true"/>
            <p:nvPr/>
          </p:nvSpPr>
          <p:spPr>
            <a:xfrm>
              <a:off x="0" y="-47625"/>
              <a:ext cx="18044160" cy="730377"/>
            </a:xfrm>
            <a:prstGeom prst="rect">
              <a:avLst/>
            </a:prstGeom>
          </p:spPr>
          <p:txBody>
            <a:bodyPr anchor="ctr" rtlCol="false" tIns="0" lIns="0" bIns="0" rIns="0"/>
            <a:lstStyle/>
            <a:p>
              <a:pPr algn="l">
                <a:lnSpc>
                  <a:spcPts val="2760"/>
                </a:lnSpc>
              </a:pPr>
              <a:r>
                <a:rPr lang="en-US" sz="2300" b="true">
                  <a:solidFill>
                    <a:srgbClr val="1E293B"/>
                  </a:solidFill>
                  <a:latin typeface="Calibri (MS) Bold"/>
                  <a:ea typeface="Calibri (MS) Bold"/>
                  <a:cs typeface="Calibri (MS) Bold"/>
                  <a:sym typeface="Calibri (MS) Bold"/>
                </a:rPr>
                <a:t>Advanced Training — High Effort, High Reward</a:t>
              </a:r>
            </a:p>
          </p:txBody>
        </p:sp>
      </p:grpSp>
      <p:grpSp>
        <p:nvGrpSpPr>
          <p:cNvPr name="Group 184" id="184"/>
          <p:cNvGrpSpPr/>
          <p:nvPr/>
        </p:nvGrpSpPr>
        <p:grpSpPr>
          <a:xfrm rot="0">
            <a:off x="15532103" y="8290055"/>
            <a:ext cx="2768603" cy="500891"/>
            <a:chOff x="0" y="0"/>
            <a:chExt cx="3691471" cy="667855"/>
          </a:xfrm>
        </p:grpSpPr>
        <p:sp>
          <p:nvSpPr>
            <p:cNvPr name="Freeform 185" id="185"/>
            <p:cNvSpPr/>
            <p:nvPr/>
          </p:nvSpPr>
          <p:spPr>
            <a:xfrm flipH="false" flipV="false" rot="0">
              <a:off x="16891" y="16891"/>
              <a:ext cx="3657600" cy="633984"/>
            </a:xfrm>
            <a:custGeom>
              <a:avLst/>
              <a:gdLst/>
              <a:ahLst/>
              <a:cxnLst/>
              <a:rect r="r" b="b" t="t" l="l"/>
              <a:pathLst>
                <a:path h="633984" w="3657600">
                  <a:moveTo>
                    <a:pt x="0" y="0"/>
                  </a:moveTo>
                  <a:lnTo>
                    <a:pt x="3657600" y="0"/>
                  </a:lnTo>
                  <a:lnTo>
                    <a:pt x="3657600" y="633984"/>
                  </a:lnTo>
                  <a:lnTo>
                    <a:pt x="0" y="633984"/>
                  </a:lnTo>
                  <a:close/>
                </a:path>
              </a:pathLst>
            </a:custGeom>
            <a:solidFill>
              <a:srgbClr val="7C3AED"/>
            </a:solidFill>
          </p:spPr>
        </p:sp>
        <p:sp>
          <p:nvSpPr>
            <p:cNvPr name="Freeform 186" id="186"/>
            <p:cNvSpPr/>
            <p:nvPr/>
          </p:nvSpPr>
          <p:spPr>
            <a:xfrm flipH="false" flipV="false" rot="0">
              <a:off x="0" y="0"/>
              <a:ext cx="3691382" cy="667768"/>
            </a:xfrm>
            <a:custGeom>
              <a:avLst/>
              <a:gdLst/>
              <a:ahLst/>
              <a:cxnLst/>
              <a:rect r="r" b="b" t="t" l="l"/>
              <a:pathLst>
                <a:path h="667768" w="3691382">
                  <a:moveTo>
                    <a:pt x="16891" y="0"/>
                  </a:moveTo>
                  <a:lnTo>
                    <a:pt x="3674491" y="0"/>
                  </a:lnTo>
                  <a:cubicBezTo>
                    <a:pt x="3683889" y="0"/>
                    <a:pt x="3691382" y="7620"/>
                    <a:pt x="3691382" y="16891"/>
                  </a:cubicBezTo>
                  <a:lnTo>
                    <a:pt x="3691382" y="650875"/>
                  </a:lnTo>
                  <a:cubicBezTo>
                    <a:pt x="3691382" y="660273"/>
                    <a:pt x="3683762" y="667766"/>
                    <a:pt x="3674491" y="667766"/>
                  </a:cubicBezTo>
                  <a:lnTo>
                    <a:pt x="16891" y="667766"/>
                  </a:lnTo>
                  <a:cubicBezTo>
                    <a:pt x="7620" y="667893"/>
                    <a:pt x="0" y="660273"/>
                    <a:pt x="0" y="650875"/>
                  </a:cubicBezTo>
                  <a:lnTo>
                    <a:pt x="0" y="16891"/>
                  </a:lnTo>
                  <a:cubicBezTo>
                    <a:pt x="0" y="7620"/>
                    <a:pt x="7620" y="0"/>
                    <a:pt x="16891" y="0"/>
                  </a:cubicBezTo>
                  <a:moveTo>
                    <a:pt x="16891" y="33909"/>
                  </a:moveTo>
                  <a:lnTo>
                    <a:pt x="16891" y="16891"/>
                  </a:lnTo>
                  <a:lnTo>
                    <a:pt x="33909" y="16891"/>
                  </a:lnTo>
                  <a:lnTo>
                    <a:pt x="33909" y="650875"/>
                  </a:lnTo>
                  <a:lnTo>
                    <a:pt x="16891" y="650875"/>
                  </a:lnTo>
                  <a:lnTo>
                    <a:pt x="16891" y="633984"/>
                  </a:lnTo>
                  <a:lnTo>
                    <a:pt x="3674491" y="633984"/>
                  </a:lnTo>
                  <a:lnTo>
                    <a:pt x="3674491" y="650875"/>
                  </a:lnTo>
                  <a:lnTo>
                    <a:pt x="3657600" y="650875"/>
                  </a:lnTo>
                  <a:lnTo>
                    <a:pt x="3657600" y="16891"/>
                  </a:lnTo>
                  <a:lnTo>
                    <a:pt x="3674491" y="16891"/>
                  </a:lnTo>
                  <a:lnTo>
                    <a:pt x="3674491" y="33909"/>
                  </a:lnTo>
                  <a:lnTo>
                    <a:pt x="16891" y="33909"/>
                  </a:lnTo>
                  <a:close/>
                </a:path>
              </a:pathLst>
            </a:custGeom>
            <a:solidFill>
              <a:srgbClr val="7C3AED"/>
            </a:solidFill>
          </p:spPr>
        </p:sp>
      </p:grpSp>
      <p:grpSp>
        <p:nvGrpSpPr>
          <p:cNvPr name="Group 187" id="187"/>
          <p:cNvGrpSpPr/>
          <p:nvPr/>
        </p:nvGrpSpPr>
        <p:grpSpPr>
          <a:xfrm rot="0">
            <a:off x="15544800" y="8302752"/>
            <a:ext cx="2743200" cy="475488"/>
            <a:chOff x="0" y="0"/>
            <a:chExt cx="3657600" cy="633984"/>
          </a:xfrm>
        </p:grpSpPr>
        <p:sp>
          <p:nvSpPr>
            <p:cNvPr name="Freeform 188" id="188"/>
            <p:cNvSpPr/>
            <p:nvPr/>
          </p:nvSpPr>
          <p:spPr>
            <a:xfrm flipH="false" flipV="false" rot="0">
              <a:off x="0" y="0"/>
              <a:ext cx="3657600" cy="633984"/>
            </a:xfrm>
            <a:custGeom>
              <a:avLst/>
              <a:gdLst/>
              <a:ahLst/>
              <a:cxnLst/>
              <a:rect r="r" b="b" t="t" l="l"/>
              <a:pathLst>
                <a:path h="633984" w="3657600">
                  <a:moveTo>
                    <a:pt x="0" y="0"/>
                  </a:moveTo>
                  <a:lnTo>
                    <a:pt x="3657600" y="0"/>
                  </a:lnTo>
                  <a:lnTo>
                    <a:pt x="3657600" y="633984"/>
                  </a:lnTo>
                  <a:lnTo>
                    <a:pt x="0" y="633984"/>
                  </a:lnTo>
                  <a:close/>
                </a:path>
              </a:pathLst>
            </a:custGeom>
            <a:blipFill>
              <a:blip r:embed="rId3">
                <a:alphaModFix amt="0"/>
              </a:blip>
              <a:stretch>
                <a:fillRect l="0" t="-62413" r="0" b="-62413"/>
              </a:stretch>
            </a:blipFill>
          </p:spPr>
        </p:sp>
        <p:sp>
          <p:nvSpPr>
            <p:cNvPr name="TextBox 189" id="189"/>
            <p:cNvSpPr txBox="true"/>
            <p:nvPr/>
          </p:nvSpPr>
          <p:spPr>
            <a:xfrm>
              <a:off x="0" y="-28575"/>
              <a:ext cx="3657600" cy="662559"/>
            </a:xfrm>
            <a:prstGeom prst="rect">
              <a:avLst/>
            </a:prstGeom>
          </p:spPr>
          <p:txBody>
            <a:bodyPr anchor="ctr" rtlCol="false" tIns="0" lIns="0" bIns="0" rIns="0"/>
            <a:lstStyle/>
            <a:p>
              <a:pPr algn="ctr">
                <a:lnSpc>
                  <a:spcPts val="1920"/>
                </a:lnSpc>
              </a:pPr>
              <a:r>
                <a:rPr lang="en-US" sz="1600" b="true">
                  <a:solidFill>
                    <a:srgbClr val="FFFFFF"/>
                  </a:solidFill>
                  <a:latin typeface="Calibri (MS) Bold"/>
                  <a:ea typeface="Calibri (MS) Bold"/>
                  <a:cs typeface="Calibri (MS) Bold"/>
                  <a:sym typeface="Calibri (MS) Bold"/>
                </a:rPr>
                <a:t>Est. 3–5 weeks</a:t>
              </a:r>
            </a:p>
          </p:txBody>
        </p:sp>
      </p:grpSp>
      <p:grpSp>
        <p:nvGrpSpPr>
          <p:cNvPr name="Group 190" id="190"/>
          <p:cNvGrpSpPr/>
          <p:nvPr/>
        </p:nvGrpSpPr>
        <p:grpSpPr>
          <a:xfrm rot="0">
            <a:off x="1907543" y="8948423"/>
            <a:ext cx="171707" cy="171707"/>
            <a:chOff x="0" y="0"/>
            <a:chExt cx="228943" cy="228943"/>
          </a:xfrm>
        </p:grpSpPr>
        <p:sp>
          <p:nvSpPr>
            <p:cNvPr name="Freeform 191" id="191"/>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7C3AED"/>
            </a:solidFill>
          </p:spPr>
        </p:sp>
        <p:sp>
          <p:nvSpPr>
            <p:cNvPr name="Freeform 192" id="192"/>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7C3AED"/>
            </a:solidFill>
          </p:spPr>
        </p:sp>
      </p:grpSp>
      <p:grpSp>
        <p:nvGrpSpPr>
          <p:cNvPr name="Group 193" id="193"/>
          <p:cNvGrpSpPr/>
          <p:nvPr/>
        </p:nvGrpSpPr>
        <p:grpSpPr>
          <a:xfrm rot="0">
            <a:off x="2194560" y="8887968"/>
            <a:ext cx="5486400" cy="457200"/>
            <a:chOff x="0" y="0"/>
            <a:chExt cx="7315200" cy="609600"/>
          </a:xfrm>
        </p:grpSpPr>
        <p:sp>
          <p:nvSpPr>
            <p:cNvPr name="Freeform 194" id="194"/>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95" id="195"/>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InfoNCE contrastive loss for fine-tuning phase</a:t>
              </a:r>
            </a:p>
          </p:txBody>
        </p:sp>
      </p:grpSp>
      <p:grpSp>
        <p:nvGrpSpPr>
          <p:cNvPr name="Group 196" id="196"/>
          <p:cNvGrpSpPr/>
          <p:nvPr/>
        </p:nvGrpSpPr>
        <p:grpSpPr>
          <a:xfrm rot="0">
            <a:off x="7772400" y="8887968"/>
            <a:ext cx="1280160" cy="457200"/>
            <a:chOff x="0" y="0"/>
            <a:chExt cx="1706880" cy="609600"/>
          </a:xfrm>
        </p:grpSpPr>
        <p:sp>
          <p:nvSpPr>
            <p:cNvPr name="Freeform 197" id="197"/>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198" id="198"/>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3–4 days</a:t>
              </a:r>
            </a:p>
          </p:txBody>
        </p:sp>
      </p:grpSp>
      <p:grpSp>
        <p:nvGrpSpPr>
          <p:cNvPr name="Group 199" id="199"/>
          <p:cNvGrpSpPr/>
          <p:nvPr/>
        </p:nvGrpSpPr>
        <p:grpSpPr>
          <a:xfrm rot="0">
            <a:off x="9140190" y="8939022"/>
            <a:ext cx="958596" cy="373380"/>
            <a:chOff x="0" y="0"/>
            <a:chExt cx="1278128" cy="497840"/>
          </a:xfrm>
        </p:grpSpPr>
        <p:sp>
          <p:nvSpPr>
            <p:cNvPr name="Freeform 200" id="200"/>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201" id="201"/>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202" id="202"/>
          <p:cNvGrpSpPr/>
          <p:nvPr/>
        </p:nvGrpSpPr>
        <p:grpSpPr>
          <a:xfrm rot="0">
            <a:off x="9144000" y="8942832"/>
            <a:ext cx="950976" cy="365760"/>
            <a:chOff x="0" y="0"/>
            <a:chExt cx="1267968" cy="487680"/>
          </a:xfrm>
        </p:grpSpPr>
        <p:sp>
          <p:nvSpPr>
            <p:cNvPr name="Freeform 203" id="203"/>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204" id="204"/>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~+3 CIDEr</a:t>
              </a:r>
            </a:p>
          </p:txBody>
        </p:sp>
      </p:grpSp>
      <p:grpSp>
        <p:nvGrpSpPr>
          <p:cNvPr name="Group 205" id="205"/>
          <p:cNvGrpSpPr/>
          <p:nvPr/>
        </p:nvGrpSpPr>
        <p:grpSpPr>
          <a:xfrm rot="0">
            <a:off x="10228583" y="8948423"/>
            <a:ext cx="171707" cy="171707"/>
            <a:chOff x="0" y="0"/>
            <a:chExt cx="228943" cy="228943"/>
          </a:xfrm>
        </p:grpSpPr>
        <p:sp>
          <p:nvSpPr>
            <p:cNvPr name="Freeform 206" id="206"/>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7C3AED"/>
            </a:solidFill>
          </p:spPr>
        </p:sp>
        <p:sp>
          <p:nvSpPr>
            <p:cNvPr name="Freeform 207" id="207"/>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7C3AED"/>
            </a:solidFill>
          </p:spPr>
        </p:sp>
      </p:grpSp>
      <p:grpSp>
        <p:nvGrpSpPr>
          <p:cNvPr name="Group 208" id="208"/>
          <p:cNvGrpSpPr/>
          <p:nvPr/>
        </p:nvGrpSpPr>
        <p:grpSpPr>
          <a:xfrm rot="0">
            <a:off x="10515600" y="8887968"/>
            <a:ext cx="5486400" cy="457200"/>
            <a:chOff x="0" y="0"/>
            <a:chExt cx="7315200" cy="609600"/>
          </a:xfrm>
        </p:grpSpPr>
        <p:sp>
          <p:nvSpPr>
            <p:cNvPr name="Freeform 209" id="20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210" id="210"/>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Feature-level Mixup augmentation</a:t>
              </a:r>
            </a:p>
          </p:txBody>
        </p:sp>
      </p:grpSp>
      <p:grpSp>
        <p:nvGrpSpPr>
          <p:cNvPr name="Group 211" id="211"/>
          <p:cNvGrpSpPr/>
          <p:nvPr/>
        </p:nvGrpSpPr>
        <p:grpSpPr>
          <a:xfrm rot="0">
            <a:off x="16093440" y="8887968"/>
            <a:ext cx="1280160" cy="457200"/>
            <a:chOff x="0" y="0"/>
            <a:chExt cx="1706880" cy="609600"/>
          </a:xfrm>
        </p:grpSpPr>
        <p:sp>
          <p:nvSpPr>
            <p:cNvPr name="Freeform 212" id="212"/>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213" id="213"/>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1–2 days</a:t>
              </a:r>
            </a:p>
          </p:txBody>
        </p:sp>
      </p:grpSp>
      <p:grpSp>
        <p:nvGrpSpPr>
          <p:cNvPr name="Group 214" id="214"/>
          <p:cNvGrpSpPr/>
          <p:nvPr/>
        </p:nvGrpSpPr>
        <p:grpSpPr>
          <a:xfrm rot="0">
            <a:off x="17461230" y="8939022"/>
            <a:ext cx="958596" cy="373380"/>
            <a:chOff x="0" y="0"/>
            <a:chExt cx="1278128" cy="497840"/>
          </a:xfrm>
        </p:grpSpPr>
        <p:sp>
          <p:nvSpPr>
            <p:cNvPr name="Freeform 215" id="215"/>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216" id="216"/>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217" id="217"/>
          <p:cNvGrpSpPr/>
          <p:nvPr/>
        </p:nvGrpSpPr>
        <p:grpSpPr>
          <a:xfrm rot="0">
            <a:off x="17465040" y="8942832"/>
            <a:ext cx="950976" cy="365760"/>
            <a:chOff x="0" y="0"/>
            <a:chExt cx="1267968" cy="487680"/>
          </a:xfrm>
        </p:grpSpPr>
        <p:sp>
          <p:nvSpPr>
            <p:cNvPr name="Freeform 218" id="218"/>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219" id="219"/>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~+1 CIDEr</a:t>
              </a:r>
            </a:p>
          </p:txBody>
        </p:sp>
      </p:grpSp>
      <p:grpSp>
        <p:nvGrpSpPr>
          <p:cNvPr name="Group 220" id="220"/>
          <p:cNvGrpSpPr/>
          <p:nvPr/>
        </p:nvGrpSpPr>
        <p:grpSpPr>
          <a:xfrm rot="0">
            <a:off x="1907543" y="9643367"/>
            <a:ext cx="171707" cy="171707"/>
            <a:chOff x="0" y="0"/>
            <a:chExt cx="228943" cy="228943"/>
          </a:xfrm>
        </p:grpSpPr>
        <p:sp>
          <p:nvSpPr>
            <p:cNvPr name="Freeform 221" id="221"/>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7C3AED"/>
            </a:solidFill>
          </p:spPr>
        </p:sp>
        <p:sp>
          <p:nvSpPr>
            <p:cNvPr name="Freeform 222" id="222"/>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7C3AED"/>
            </a:solidFill>
          </p:spPr>
        </p:sp>
      </p:grpSp>
      <p:grpSp>
        <p:nvGrpSpPr>
          <p:cNvPr name="Group 223" id="223"/>
          <p:cNvGrpSpPr/>
          <p:nvPr/>
        </p:nvGrpSpPr>
        <p:grpSpPr>
          <a:xfrm rot="0">
            <a:off x="2194560" y="9582912"/>
            <a:ext cx="5486400" cy="457200"/>
            <a:chOff x="0" y="0"/>
            <a:chExt cx="7315200" cy="609600"/>
          </a:xfrm>
        </p:grpSpPr>
        <p:sp>
          <p:nvSpPr>
            <p:cNvPr name="Freeform 224" id="224"/>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225" id="225"/>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SCST Phase 3 training (CIDEr reward)</a:t>
              </a:r>
            </a:p>
          </p:txBody>
        </p:sp>
      </p:grpSp>
      <p:grpSp>
        <p:nvGrpSpPr>
          <p:cNvPr name="Group 226" id="226"/>
          <p:cNvGrpSpPr/>
          <p:nvPr/>
        </p:nvGrpSpPr>
        <p:grpSpPr>
          <a:xfrm rot="0">
            <a:off x="7772400" y="9582912"/>
            <a:ext cx="1280160" cy="457200"/>
            <a:chOff x="0" y="0"/>
            <a:chExt cx="1706880" cy="609600"/>
          </a:xfrm>
        </p:grpSpPr>
        <p:sp>
          <p:nvSpPr>
            <p:cNvPr name="Freeform 227" id="227"/>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228" id="228"/>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1–2 weeks</a:t>
              </a:r>
            </a:p>
          </p:txBody>
        </p:sp>
      </p:grpSp>
      <p:grpSp>
        <p:nvGrpSpPr>
          <p:cNvPr name="Group 229" id="229"/>
          <p:cNvGrpSpPr/>
          <p:nvPr/>
        </p:nvGrpSpPr>
        <p:grpSpPr>
          <a:xfrm rot="0">
            <a:off x="9140190" y="9633966"/>
            <a:ext cx="958596" cy="373380"/>
            <a:chOff x="0" y="0"/>
            <a:chExt cx="1278128" cy="497840"/>
          </a:xfrm>
        </p:grpSpPr>
        <p:sp>
          <p:nvSpPr>
            <p:cNvPr name="Freeform 230" id="230"/>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231" id="231"/>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232" id="232"/>
          <p:cNvGrpSpPr/>
          <p:nvPr/>
        </p:nvGrpSpPr>
        <p:grpSpPr>
          <a:xfrm rot="0">
            <a:off x="9144000" y="9637776"/>
            <a:ext cx="950976" cy="365760"/>
            <a:chOff x="0" y="0"/>
            <a:chExt cx="1267968" cy="487680"/>
          </a:xfrm>
        </p:grpSpPr>
        <p:sp>
          <p:nvSpPr>
            <p:cNvPr name="Freeform 233" id="233"/>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234" id="234"/>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~+10 CIDEr</a:t>
              </a:r>
            </a:p>
          </p:txBody>
        </p:sp>
      </p:grpSp>
      <p:grpSp>
        <p:nvGrpSpPr>
          <p:cNvPr name="Group 235" id="235"/>
          <p:cNvGrpSpPr/>
          <p:nvPr/>
        </p:nvGrpSpPr>
        <p:grpSpPr>
          <a:xfrm rot="0">
            <a:off x="10228583" y="9643367"/>
            <a:ext cx="171707" cy="171707"/>
            <a:chOff x="0" y="0"/>
            <a:chExt cx="228943" cy="228943"/>
          </a:xfrm>
        </p:grpSpPr>
        <p:sp>
          <p:nvSpPr>
            <p:cNvPr name="Freeform 236" id="236"/>
            <p:cNvSpPr/>
            <p:nvPr/>
          </p:nvSpPr>
          <p:spPr>
            <a:xfrm flipH="false" flipV="false" rot="0">
              <a:off x="16891" y="16891"/>
              <a:ext cx="195072" cy="195072"/>
            </a:xfrm>
            <a:custGeom>
              <a:avLst/>
              <a:gdLst/>
              <a:ahLst/>
              <a:cxnLst/>
              <a:rect r="r" b="b" t="t" l="l"/>
              <a:pathLst>
                <a:path h="195072" w="195072">
                  <a:moveTo>
                    <a:pt x="0" y="0"/>
                  </a:moveTo>
                  <a:lnTo>
                    <a:pt x="195072" y="0"/>
                  </a:lnTo>
                  <a:lnTo>
                    <a:pt x="195072" y="195072"/>
                  </a:lnTo>
                  <a:lnTo>
                    <a:pt x="0" y="195072"/>
                  </a:lnTo>
                  <a:close/>
                </a:path>
              </a:pathLst>
            </a:custGeom>
            <a:solidFill>
              <a:srgbClr val="7C3AED"/>
            </a:solidFill>
          </p:spPr>
        </p:sp>
        <p:sp>
          <p:nvSpPr>
            <p:cNvPr name="Freeform 237" id="237"/>
            <p:cNvSpPr/>
            <p:nvPr/>
          </p:nvSpPr>
          <p:spPr>
            <a:xfrm flipH="false" flipV="false" rot="0">
              <a:off x="0" y="0"/>
              <a:ext cx="228854" cy="228856"/>
            </a:xfrm>
            <a:custGeom>
              <a:avLst/>
              <a:gdLst/>
              <a:ahLst/>
              <a:cxnLst/>
              <a:rect r="r" b="b" t="t" l="l"/>
              <a:pathLst>
                <a:path h="228856" w="228854">
                  <a:moveTo>
                    <a:pt x="16891" y="0"/>
                  </a:moveTo>
                  <a:lnTo>
                    <a:pt x="211963" y="0"/>
                  </a:lnTo>
                  <a:cubicBezTo>
                    <a:pt x="221361" y="0"/>
                    <a:pt x="228854" y="7620"/>
                    <a:pt x="228854" y="16891"/>
                  </a:cubicBezTo>
                  <a:lnTo>
                    <a:pt x="228854" y="211963"/>
                  </a:lnTo>
                  <a:cubicBezTo>
                    <a:pt x="228854" y="221361"/>
                    <a:pt x="221234" y="228854"/>
                    <a:pt x="211963"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11963" y="195072"/>
                  </a:lnTo>
                  <a:lnTo>
                    <a:pt x="211963" y="211963"/>
                  </a:lnTo>
                  <a:lnTo>
                    <a:pt x="195072" y="211963"/>
                  </a:lnTo>
                  <a:lnTo>
                    <a:pt x="195072" y="16891"/>
                  </a:lnTo>
                  <a:lnTo>
                    <a:pt x="211963" y="16891"/>
                  </a:lnTo>
                  <a:lnTo>
                    <a:pt x="211963" y="33909"/>
                  </a:lnTo>
                  <a:lnTo>
                    <a:pt x="16891" y="33909"/>
                  </a:lnTo>
                  <a:close/>
                </a:path>
              </a:pathLst>
            </a:custGeom>
            <a:solidFill>
              <a:srgbClr val="7C3AED"/>
            </a:solidFill>
          </p:spPr>
        </p:sp>
      </p:grpSp>
      <p:grpSp>
        <p:nvGrpSpPr>
          <p:cNvPr name="Group 238" id="238"/>
          <p:cNvGrpSpPr/>
          <p:nvPr/>
        </p:nvGrpSpPr>
        <p:grpSpPr>
          <a:xfrm rot="0">
            <a:off x="10515600" y="9582912"/>
            <a:ext cx="5486400" cy="457200"/>
            <a:chOff x="0" y="0"/>
            <a:chExt cx="7315200" cy="609600"/>
          </a:xfrm>
        </p:grpSpPr>
        <p:sp>
          <p:nvSpPr>
            <p:cNvPr name="Freeform 239" id="23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240" id="240"/>
            <p:cNvSpPr txBox="true"/>
            <p:nvPr/>
          </p:nvSpPr>
          <p:spPr>
            <a:xfrm>
              <a:off x="0" y="-38100"/>
              <a:ext cx="7315200" cy="647700"/>
            </a:xfrm>
            <a:prstGeom prst="rect">
              <a:avLst/>
            </a:prstGeom>
          </p:spPr>
          <p:txBody>
            <a:bodyPr anchor="ctr" rtlCol="false" tIns="0" lIns="0" bIns="0" rIns="0"/>
            <a:lstStyle/>
            <a:p>
              <a:pPr algn="l">
                <a:lnSpc>
                  <a:spcPts val="2280"/>
                </a:lnSpc>
              </a:pPr>
              <a:r>
                <a:rPr lang="en-US" sz="1900">
                  <a:solidFill>
                    <a:srgbClr val="1E293B"/>
                  </a:solidFill>
                  <a:latin typeface="Calibri (MS)"/>
                  <a:ea typeface="Calibri (MS)"/>
                  <a:cs typeface="Calibri (MS)"/>
                  <a:sym typeface="Calibri (MS)"/>
                </a:rPr>
                <a:t>GNN layer on top of LFSE local attention</a:t>
              </a:r>
            </a:p>
          </p:txBody>
        </p:sp>
      </p:grpSp>
      <p:grpSp>
        <p:nvGrpSpPr>
          <p:cNvPr name="Group 241" id="241"/>
          <p:cNvGrpSpPr/>
          <p:nvPr/>
        </p:nvGrpSpPr>
        <p:grpSpPr>
          <a:xfrm rot="0">
            <a:off x="16093440" y="9582912"/>
            <a:ext cx="1280160" cy="457200"/>
            <a:chOff x="0" y="0"/>
            <a:chExt cx="1706880" cy="609600"/>
          </a:xfrm>
        </p:grpSpPr>
        <p:sp>
          <p:nvSpPr>
            <p:cNvPr name="Freeform 242" id="242"/>
            <p:cNvSpPr/>
            <p:nvPr/>
          </p:nvSpPr>
          <p:spPr>
            <a:xfrm flipH="false" flipV="false" rot="0">
              <a:off x="0" y="0"/>
              <a:ext cx="1706880" cy="609600"/>
            </a:xfrm>
            <a:custGeom>
              <a:avLst/>
              <a:gdLst/>
              <a:ahLst/>
              <a:cxnLst/>
              <a:rect r="r" b="b" t="t" l="l"/>
              <a:pathLst>
                <a:path h="609600" w="1706880">
                  <a:moveTo>
                    <a:pt x="0" y="0"/>
                  </a:moveTo>
                  <a:lnTo>
                    <a:pt x="1706880" y="0"/>
                  </a:lnTo>
                  <a:lnTo>
                    <a:pt x="1706880" y="609600"/>
                  </a:lnTo>
                  <a:lnTo>
                    <a:pt x="0" y="609600"/>
                  </a:lnTo>
                  <a:close/>
                </a:path>
              </a:pathLst>
            </a:custGeom>
            <a:blipFill>
              <a:blip r:embed="rId3">
                <a:alphaModFix amt="0"/>
              </a:blip>
              <a:stretch>
                <a:fillRect l="0" t="-4558" r="0" b="-4558"/>
              </a:stretch>
            </a:blipFill>
          </p:spPr>
        </p:sp>
        <p:sp>
          <p:nvSpPr>
            <p:cNvPr name="TextBox 243" id="243"/>
            <p:cNvSpPr txBox="true"/>
            <p:nvPr/>
          </p:nvSpPr>
          <p:spPr>
            <a:xfrm>
              <a:off x="0" y="-38100"/>
              <a:ext cx="1706880" cy="647700"/>
            </a:xfrm>
            <a:prstGeom prst="rect">
              <a:avLst/>
            </a:prstGeom>
          </p:spPr>
          <p:txBody>
            <a:bodyPr anchor="ctr" rtlCol="false" tIns="0" lIns="0" bIns="0" rIns="0"/>
            <a:lstStyle/>
            <a:p>
              <a:pPr algn="l">
                <a:lnSpc>
                  <a:spcPts val="2039"/>
                </a:lnSpc>
              </a:pPr>
              <a:r>
                <a:rPr lang="en-US" sz="1700">
                  <a:solidFill>
                    <a:srgbClr val="94A3B8"/>
                  </a:solidFill>
                  <a:latin typeface="Calibri (MS)"/>
                  <a:ea typeface="Calibri (MS)"/>
                  <a:cs typeface="Calibri (MS)"/>
                  <a:sym typeface="Calibri (MS)"/>
                </a:rPr>
                <a:t>1 week</a:t>
              </a:r>
            </a:p>
          </p:txBody>
        </p:sp>
      </p:grpSp>
      <p:grpSp>
        <p:nvGrpSpPr>
          <p:cNvPr name="Group 244" id="244"/>
          <p:cNvGrpSpPr/>
          <p:nvPr/>
        </p:nvGrpSpPr>
        <p:grpSpPr>
          <a:xfrm rot="0">
            <a:off x="17461230" y="9633966"/>
            <a:ext cx="958596" cy="373380"/>
            <a:chOff x="0" y="0"/>
            <a:chExt cx="1278128" cy="497840"/>
          </a:xfrm>
        </p:grpSpPr>
        <p:sp>
          <p:nvSpPr>
            <p:cNvPr name="Freeform 245" id="245"/>
            <p:cNvSpPr/>
            <p:nvPr/>
          </p:nvSpPr>
          <p:spPr>
            <a:xfrm flipH="false" flipV="false" rot="0">
              <a:off x="5080" y="5080"/>
              <a:ext cx="1267968" cy="487680"/>
            </a:xfrm>
            <a:custGeom>
              <a:avLst/>
              <a:gdLst/>
              <a:ahLst/>
              <a:cxnLst/>
              <a:rect r="r" b="b" t="t" l="l"/>
              <a:pathLst>
                <a:path h="487680" w="1267968">
                  <a:moveTo>
                    <a:pt x="0" y="0"/>
                  </a:moveTo>
                  <a:lnTo>
                    <a:pt x="1267968" y="0"/>
                  </a:lnTo>
                  <a:lnTo>
                    <a:pt x="1267968" y="487680"/>
                  </a:lnTo>
                  <a:lnTo>
                    <a:pt x="0" y="487680"/>
                  </a:lnTo>
                  <a:close/>
                </a:path>
              </a:pathLst>
            </a:custGeom>
            <a:solidFill>
              <a:srgbClr val="D1FAE5"/>
            </a:solidFill>
          </p:spPr>
        </p:sp>
        <p:sp>
          <p:nvSpPr>
            <p:cNvPr name="Freeform 246" id="246"/>
            <p:cNvSpPr/>
            <p:nvPr/>
          </p:nvSpPr>
          <p:spPr>
            <a:xfrm flipH="false" flipV="false" rot="0">
              <a:off x="0" y="0"/>
              <a:ext cx="1278128" cy="497840"/>
            </a:xfrm>
            <a:custGeom>
              <a:avLst/>
              <a:gdLst/>
              <a:ahLst/>
              <a:cxnLst/>
              <a:rect r="r" b="b" t="t" l="l"/>
              <a:pathLst>
                <a:path h="497840" w="1278128">
                  <a:moveTo>
                    <a:pt x="5080" y="0"/>
                  </a:moveTo>
                  <a:lnTo>
                    <a:pt x="1273048" y="0"/>
                  </a:lnTo>
                  <a:cubicBezTo>
                    <a:pt x="1275842" y="0"/>
                    <a:pt x="1278128" y="2286"/>
                    <a:pt x="1278128" y="5080"/>
                  </a:cubicBezTo>
                  <a:lnTo>
                    <a:pt x="1278128" y="492760"/>
                  </a:lnTo>
                  <a:cubicBezTo>
                    <a:pt x="1278128" y="495554"/>
                    <a:pt x="1275842" y="497840"/>
                    <a:pt x="1273048" y="497840"/>
                  </a:cubicBezTo>
                  <a:lnTo>
                    <a:pt x="5080" y="497840"/>
                  </a:lnTo>
                  <a:cubicBezTo>
                    <a:pt x="2286" y="497840"/>
                    <a:pt x="0" y="495554"/>
                    <a:pt x="0" y="492760"/>
                  </a:cubicBezTo>
                  <a:lnTo>
                    <a:pt x="0" y="5080"/>
                  </a:lnTo>
                  <a:cubicBezTo>
                    <a:pt x="0" y="2286"/>
                    <a:pt x="2286" y="0"/>
                    <a:pt x="5080" y="0"/>
                  </a:cubicBezTo>
                  <a:moveTo>
                    <a:pt x="5080" y="10160"/>
                  </a:moveTo>
                  <a:lnTo>
                    <a:pt x="5080" y="5080"/>
                  </a:lnTo>
                  <a:lnTo>
                    <a:pt x="10160" y="5080"/>
                  </a:lnTo>
                  <a:lnTo>
                    <a:pt x="10160" y="492760"/>
                  </a:lnTo>
                  <a:lnTo>
                    <a:pt x="5080" y="492760"/>
                  </a:lnTo>
                  <a:lnTo>
                    <a:pt x="5080" y="487680"/>
                  </a:lnTo>
                  <a:lnTo>
                    <a:pt x="1273048" y="487680"/>
                  </a:lnTo>
                  <a:lnTo>
                    <a:pt x="1273048" y="492760"/>
                  </a:lnTo>
                  <a:lnTo>
                    <a:pt x="1267968" y="492760"/>
                  </a:lnTo>
                  <a:lnTo>
                    <a:pt x="1267968" y="5080"/>
                  </a:lnTo>
                  <a:lnTo>
                    <a:pt x="1273048" y="5080"/>
                  </a:lnTo>
                  <a:lnTo>
                    <a:pt x="1273048" y="10160"/>
                  </a:lnTo>
                  <a:lnTo>
                    <a:pt x="5080" y="10160"/>
                  </a:lnTo>
                  <a:close/>
                </a:path>
              </a:pathLst>
            </a:custGeom>
            <a:solidFill>
              <a:srgbClr val="059669"/>
            </a:solidFill>
          </p:spPr>
        </p:sp>
      </p:grpSp>
      <p:grpSp>
        <p:nvGrpSpPr>
          <p:cNvPr name="Group 247" id="247"/>
          <p:cNvGrpSpPr/>
          <p:nvPr/>
        </p:nvGrpSpPr>
        <p:grpSpPr>
          <a:xfrm rot="0">
            <a:off x="17465040" y="9637776"/>
            <a:ext cx="950976" cy="365760"/>
            <a:chOff x="0" y="0"/>
            <a:chExt cx="1267968" cy="487680"/>
          </a:xfrm>
        </p:grpSpPr>
        <p:sp>
          <p:nvSpPr>
            <p:cNvPr name="Freeform 248" id="248"/>
            <p:cNvSpPr/>
            <p:nvPr/>
          </p:nvSpPr>
          <p:spPr>
            <a:xfrm flipH="false" flipV="false" rot="0">
              <a:off x="0" y="0"/>
              <a:ext cx="1267968" cy="487680"/>
            </a:xfrm>
            <a:custGeom>
              <a:avLst/>
              <a:gdLst/>
              <a:ahLst/>
              <a:cxnLst/>
              <a:rect r="r" b="b" t="t" l="l"/>
              <a:pathLst>
                <a:path h="487680" w="1267968">
                  <a:moveTo>
                    <a:pt x="0" y="0"/>
                  </a:moveTo>
                  <a:lnTo>
                    <a:pt x="1267968" y="0"/>
                  </a:lnTo>
                  <a:lnTo>
                    <a:pt x="1267968" y="487680"/>
                  </a:lnTo>
                  <a:lnTo>
                    <a:pt x="0" y="487680"/>
                  </a:lnTo>
                  <a:close/>
                </a:path>
              </a:pathLst>
            </a:custGeom>
            <a:blipFill>
              <a:blip r:embed="rId3">
                <a:alphaModFix amt="0"/>
              </a:blip>
              <a:stretch>
                <a:fillRect l="0" t="-661" r="0" b="-661"/>
              </a:stretch>
            </a:blipFill>
          </p:spPr>
        </p:sp>
        <p:sp>
          <p:nvSpPr>
            <p:cNvPr name="TextBox 249" id="249"/>
            <p:cNvSpPr txBox="true"/>
            <p:nvPr/>
          </p:nvSpPr>
          <p:spPr>
            <a:xfrm>
              <a:off x="0" y="-38100"/>
              <a:ext cx="1267968" cy="525780"/>
            </a:xfrm>
            <a:prstGeom prst="rect">
              <a:avLst/>
            </a:prstGeom>
          </p:spPr>
          <p:txBody>
            <a:bodyPr anchor="ctr" rtlCol="false" tIns="0" lIns="0" bIns="0" rIns="0"/>
            <a:lstStyle/>
            <a:p>
              <a:pPr algn="ctr">
                <a:lnSpc>
                  <a:spcPts val="1800"/>
                </a:lnSpc>
              </a:pPr>
              <a:r>
                <a:rPr lang="en-US" sz="1500" b="true">
                  <a:solidFill>
                    <a:srgbClr val="0F6E56"/>
                  </a:solidFill>
                  <a:latin typeface="Calibri (MS) Bold"/>
                  <a:ea typeface="Calibri (MS) Bold"/>
                  <a:cs typeface="Calibri (MS) Bold"/>
                  <a:sym typeface="Calibri (MS) Bold"/>
                </a:rPr>
                <a:t>~+5 CIDEr</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718823" y="316487"/>
            <a:ext cx="3683003" cy="537467"/>
            <a:chOff x="0" y="0"/>
            <a:chExt cx="4910671" cy="716623"/>
          </a:xfrm>
        </p:grpSpPr>
        <p:sp>
          <p:nvSpPr>
            <p:cNvPr name="Freeform 3" id="3"/>
            <p:cNvSpPr/>
            <p:nvPr/>
          </p:nvSpPr>
          <p:spPr>
            <a:xfrm flipH="false" flipV="false" rot="0">
              <a:off x="16891" y="16891"/>
              <a:ext cx="4876800" cy="682752"/>
            </a:xfrm>
            <a:custGeom>
              <a:avLst/>
              <a:gdLst/>
              <a:ahLst/>
              <a:cxnLst/>
              <a:rect r="r" b="b" t="t" l="l"/>
              <a:pathLst>
                <a:path h="682752" w="4876800">
                  <a:moveTo>
                    <a:pt x="0" y="0"/>
                  </a:moveTo>
                  <a:lnTo>
                    <a:pt x="4876800" y="0"/>
                  </a:lnTo>
                  <a:lnTo>
                    <a:pt x="4876800" y="682752"/>
                  </a:lnTo>
                  <a:lnTo>
                    <a:pt x="0" y="682752"/>
                  </a:lnTo>
                  <a:close/>
                </a:path>
              </a:pathLst>
            </a:custGeom>
            <a:solidFill>
              <a:srgbClr val="0A1628"/>
            </a:solidFill>
          </p:spPr>
        </p:sp>
        <p:sp>
          <p:nvSpPr>
            <p:cNvPr name="Freeform 4" id="4"/>
            <p:cNvSpPr/>
            <p:nvPr/>
          </p:nvSpPr>
          <p:spPr>
            <a:xfrm flipH="false" flipV="false" rot="0">
              <a:off x="0" y="0"/>
              <a:ext cx="4910582" cy="716536"/>
            </a:xfrm>
            <a:custGeom>
              <a:avLst/>
              <a:gdLst/>
              <a:ahLst/>
              <a:cxnLst/>
              <a:rect r="r" b="b" t="t" l="l"/>
              <a:pathLst>
                <a:path h="716536" w="4910582">
                  <a:moveTo>
                    <a:pt x="16891" y="0"/>
                  </a:moveTo>
                  <a:lnTo>
                    <a:pt x="4893691" y="0"/>
                  </a:lnTo>
                  <a:cubicBezTo>
                    <a:pt x="4903089" y="0"/>
                    <a:pt x="4910582" y="7620"/>
                    <a:pt x="4910582" y="16891"/>
                  </a:cubicBezTo>
                  <a:lnTo>
                    <a:pt x="4910582" y="699643"/>
                  </a:lnTo>
                  <a:cubicBezTo>
                    <a:pt x="4910582" y="709041"/>
                    <a:pt x="4902962" y="716534"/>
                    <a:pt x="489369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4893691" y="682752"/>
                  </a:lnTo>
                  <a:lnTo>
                    <a:pt x="4893691" y="699643"/>
                  </a:lnTo>
                  <a:lnTo>
                    <a:pt x="4876800" y="699643"/>
                  </a:lnTo>
                  <a:lnTo>
                    <a:pt x="4876800" y="16891"/>
                  </a:lnTo>
                  <a:lnTo>
                    <a:pt x="4893691" y="16891"/>
                  </a:lnTo>
                  <a:lnTo>
                    <a:pt x="4893691" y="33909"/>
                  </a:lnTo>
                  <a:lnTo>
                    <a:pt x="16891" y="33909"/>
                  </a:lnTo>
                  <a:close/>
                </a:path>
              </a:pathLst>
            </a:custGeom>
            <a:solidFill>
              <a:srgbClr val="0A1628"/>
            </a:solidFill>
          </p:spPr>
        </p:sp>
      </p:grpSp>
      <p:grpSp>
        <p:nvGrpSpPr>
          <p:cNvPr name="Group 5" id="5"/>
          <p:cNvGrpSpPr/>
          <p:nvPr/>
        </p:nvGrpSpPr>
        <p:grpSpPr>
          <a:xfrm rot="0">
            <a:off x="731520" y="329184"/>
            <a:ext cx="3657600" cy="512064"/>
            <a:chOff x="0" y="0"/>
            <a:chExt cx="4876800" cy="682752"/>
          </a:xfrm>
        </p:grpSpPr>
        <p:sp>
          <p:nvSpPr>
            <p:cNvPr name="Freeform 6" id="6"/>
            <p:cNvSpPr/>
            <p:nvPr/>
          </p:nvSpPr>
          <p:spPr>
            <a:xfrm flipH="false" flipV="false" rot="0">
              <a:off x="0" y="0"/>
              <a:ext cx="4876800" cy="682752"/>
            </a:xfrm>
            <a:custGeom>
              <a:avLst/>
              <a:gdLst/>
              <a:ahLst/>
              <a:cxnLst/>
              <a:rect r="r" b="b" t="t" l="l"/>
              <a:pathLst>
                <a:path h="682752" w="4876800">
                  <a:moveTo>
                    <a:pt x="0" y="0"/>
                  </a:moveTo>
                  <a:lnTo>
                    <a:pt x="4876800" y="0"/>
                  </a:lnTo>
                  <a:lnTo>
                    <a:pt x="4876800" y="682752"/>
                  </a:lnTo>
                  <a:lnTo>
                    <a:pt x="0" y="682752"/>
                  </a:lnTo>
                  <a:close/>
                </a:path>
              </a:pathLst>
            </a:custGeom>
            <a:blipFill>
              <a:blip r:embed="rId3">
                <a:alphaModFix amt="0"/>
              </a:blip>
              <a:stretch>
                <a:fillRect l="0" t="-89178" r="0" b="-89178"/>
              </a:stretch>
            </a:blipFill>
          </p:spPr>
        </p:sp>
        <p:sp>
          <p:nvSpPr>
            <p:cNvPr name="TextBox 7" id="7"/>
            <p:cNvSpPr txBox="true"/>
            <p:nvPr/>
          </p:nvSpPr>
          <p:spPr>
            <a:xfrm>
              <a:off x="0" y="-38100"/>
              <a:ext cx="4876800" cy="720852"/>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ARCHITECTURE</a:t>
              </a:r>
            </a:p>
          </p:txBody>
        </p:sp>
      </p:grpSp>
      <p:grpSp>
        <p:nvGrpSpPr>
          <p:cNvPr name="Group 8" id="8"/>
          <p:cNvGrpSpPr/>
          <p:nvPr/>
        </p:nvGrpSpPr>
        <p:grpSpPr>
          <a:xfrm rot="0">
            <a:off x="731520" y="1005840"/>
            <a:ext cx="16824960" cy="1133856"/>
            <a:chOff x="0" y="0"/>
            <a:chExt cx="22433280" cy="1511808"/>
          </a:xfrm>
        </p:grpSpPr>
        <p:sp>
          <p:nvSpPr>
            <p:cNvPr name="Freeform 9" id="9"/>
            <p:cNvSpPr/>
            <p:nvPr/>
          </p:nvSpPr>
          <p:spPr>
            <a:xfrm flipH="false" flipV="false" rot="0">
              <a:off x="0" y="0"/>
              <a:ext cx="22433280" cy="1511808"/>
            </a:xfrm>
            <a:custGeom>
              <a:avLst/>
              <a:gdLst/>
              <a:ahLst/>
              <a:cxnLst/>
              <a:rect r="r" b="b" t="t" l="l"/>
              <a:pathLst>
                <a:path h="1511808" w="22433280">
                  <a:moveTo>
                    <a:pt x="0" y="0"/>
                  </a:moveTo>
                  <a:lnTo>
                    <a:pt x="22433280" y="0"/>
                  </a:lnTo>
                  <a:lnTo>
                    <a:pt x="22433280" y="1511808"/>
                  </a:lnTo>
                  <a:lnTo>
                    <a:pt x="0" y="1511808"/>
                  </a:lnTo>
                  <a:close/>
                </a:path>
              </a:pathLst>
            </a:custGeom>
            <a:blipFill>
              <a:blip r:embed="rId3">
                <a:alphaModFix amt="0"/>
              </a:blip>
              <a:stretch>
                <a:fillRect l="0" t="-239132" r="0" b="-239132"/>
              </a:stretch>
            </a:blipFill>
          </p:spPr>
        </p:sp>
        <p:sp>
          <p:nvSpPr>
            <p:cNvPr name="TextBox 10" id="10"/>
            <p:cNvSpPr txBox="true"/>
            <p:nvPr/>
          </p:nvSpPr>
          <p:spPr>
            <a:xfrm>
              <a:off x="0" y="-104775"/>
              <a:ext cx="22433280" cy="1616583"/>
            </a:xfrm>
            <a:prstGeom prst="rect">
              <a:avLst/>
            </a:prstGeom>
          </p:spPr>
          <p:txBody>
            <a:bodyPr anchor="ctr" rtlCol="false" tIns="0" lIns="0" bIns="0" rIns="0"/>
            <a:lstStyle/>
            <a:p>
              <a:pPr algn="l">
                <a:lnSpc>
                  <a:spcPts val="6240"/>
                </a:lnSpc>
              </a:pPr>
              <a:r>
                <a:rPr lang="en-US" sz="5200" b="true">
                  <a:solidFill>
                    <a:srgbClr val="1E293B"/>
                  </a:solidFill>
                  <a:latin typeface="Calibri (MS) Bold"/>
                  <a:ea typeface="Calibri (MS) Bold"/>
                  <a:cs typeface="Calibri (MS) Bold"/>
                  <a:sym typeface="Calibri (MS) Bold"/>
                </a:rPr>
                <a:t>Enhanced TSFE Architecture — All Improvements Integrated</a:t>
              </a:r>
            </a:p>
          </p:txBody>
        </p:sp>
      </p:grpSp>
      <p:grpSp>
        <p:nvGrpSpPr>
          <p:cNvPr name="Group 11" id="11"/>
          <p:cNvGrpSpPr/>
          <p:nvPr/>
        </p:nvGrpSpPr>
        <p:grpSpPr>
          <a:xfrm rot="0">
            <a:off x="725167" y="2279647"/>
            <a:ext cx="16837657" cy="12697"/>
            <a:chOff x="0" y="0"/>
            <a:chExt cx="22450209" cy="16929"/>
          </a:xfrm>
        </p:grpSpPr>
        <p:sp>
          <p:nvSpPr>
            <p:cNvPr name="Freeform 12" id="12"/>
            <p:cNvSpPr/>
            <p:nvPr/>
          </p:nvSpPr>
          <p:spPr>
            <a:xfrm flipH="false" flipV="false" rot="0">
              <a:off x="8509" y="0"/>
              <a:ext cx="22433281" cy="16891"/>
            </a:xfrm>
            <a:custGeom>
              <a:avLst/>
              <a:gdLst/>
              <a:ahLst/>
              <a:cxnLst/>
              <a:rect r="r" b="b" t="t" l="l"/>
              <a:pathLst>
                <a:path h="16891" w="22433281">
                  <a:moveTo>
                    <a:pt x="0" y="0"/>
                  </a:moveTo>
                  <a:lnTo>
                    <a:pt x="22433281" y="0"/>
                  </a:lnTo>
                  <a:lnTo>
                    <a:pt x="22433281" y="16891"/>
                  </a:lnTo>
                  <a:lnTo>
                    <a:pt x="0" y="16891"/>
                  </a:lnTo>
                  <a:close/>
                </a:path>
              </a:pathLst>
            </a:custGeom>
            <a:solidFill>
              <a:srgbClr val="E2E8F0"/>
            </a:solidFill>
          </p:spPr>
        </p:sp>
      </p:grpSp>
      <p:grpSp>
        <p:nvGrpSpPr>
          <p:cNvPr name="Group 13" id="13"/>
          <p:cNvGrpSpPr/>
          <p:nvPr/>
        </p:nvGrpSpPr>
        <p:grpSpPr>
          <a:xfrm rot="0">
            <a:off x="353063" y="2584199"/>
            <a:ext cx="2128523" cy="1854203"/>
            <a:chOff x="0" y="0"/>
            <a:chExt cx="2838031" cy="2472271"/>
          </a:xfrm>
        </p:grpSpPr>
        <p:sp>
          <p:nvSpPr>
            <p:cNvPr name="Freeform 14" id="14"/>
            <p:cNvSpPr/>
            <p:nvPr/>
          </p:nvSpPr>
          <p:spPr>
            <a:xfrm flipH="false" flipV="false" rot="0">
              <a:off x="16891" y="16891"/>
              <a:ext cx="2804160" cy="2438400"/>
            </a:xfrm>
            <a:custGeom>
              <a:avLst/>
              <a:gdLst/>
              <a:ahLst/>
              <a:cxnLst/>
              <a:rect r="r" b="b" t="t" l="l"/>
              <a:pathLst>
                <a:path h="2438400" w="2804160">
                  <a:moveTo>
                    <a:pt x="0" y="0"/>
                  </a:moveTo>
                  <a:lnTo>
                    <a:pt x="2804160" y="0"/>
                  </a:lnTo>
                  <a:lnTo>
                    <a:pt x="2804160" y="2438400"/>
                  </a:lnTo>
                  <a:lnTo>
                    <a:pt x="0" y="2438400"/>
                  </a:lnTo>
                  <a:close/>
                </a:path>
              </a:pathLst>
            </a:custGeom>
            <a:solidFill>
              <a:srgbClr val="475569"/>
            </a:solidFill>
          </p:spPr>
        </p:sp>
        <p:sp>
          <p:nvSpPr>
            <p:cNvPr name="Freeform 15" id="15"/>
            <p:cNvSpPr/>
            <p:nvPr/>
          </p:nvSpPr>
          <p:spPr>
            <a:xfrm flipH="false" flipV="false" rot="0">
              <a:off x="0" y="0"/>
              <a:ext cx="2837942" cy="2472182"/>
            </a:xfrm>
            <a:custGeom>
              <a:avLst/>
              <a:gdLst/>
              <a:ahLst/>
              <a:cxnLst/>
              <a:rect r="r" b="b" t="t" l="l"/>
              <a:pathLst>
                <a:path h="2472182" w="2837942">
                  <a:moveTo>
                    <a:pt x="16891" y="0"/>
                  </a:moveTo>
                  <a:lnTo>
                    <a:pt x="2821051" y="0"/>
                  </a:lnTo>
                  <a:cubicBezTo>
                    <a:pt x="2830449" y="0"/>
                    <a:pt x="2837942" y="7620"/>
                    <a:pt x="2837942" y="16891"/>
                  </a:cubicBezTo>
                  <a:lnTo>
                    <a:pt x="2837942" y="2455291"/>
                  </a:lnTo>
                  <a:cubicBezTo>
                    <a:pt x="2837942" y="2464689"/>
                    <a:pt x="2830322" y="2472182"/>
                    <a:pt x="282105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2821051" y="2438400"/>
                  </a:lnTo>
                  <a:lnTo>
                    <a:pt x="2821051" y="2455291"/>
                  </a:lnTo>
                  <a:lnTo>
                    <a:pt x="2804160" y="2455291"/>
                  </a:lnTo>
                  <a:lnTo>
                    <a:pt x="2804160" y="16891"/>
                  </a:lnTo>
                  <a:lnTo>
                    <a:pt x="2821051" y="16891"/>
                  </a:lnTo>
                  <a:lnTo>
                    <a:pt x="2821051" y="33909"/>
                  </a:lnTo>
                  <a:lnTo>
                    <a:pt x="16891" y="33909"/>
                  </a:lnTo>
                  <a:close/>
                </a:path>
              </a:pathLst>
            </a:custGeom>
            <a:solidFill>
              <a:srgbClr val="475569"/>
            </a:solidFill>
          </p:spPr>
        </p:sp>
      </p:grpSp>
      <p:grpSp>
        <p:nvGrpSpPr>
          <p:cNvPr name="Group 16" id="16"/>
          <p:cNvGrpSpPr/>
          <p:nvPr/>
        </p:nvGrpSpPr>
        <p:grpSpPr>
          <a:xfrm rot="0">
            <a:off x="365760" y="2596896"/>
            <a:ext cx="2103120" cy="1828800"/>
            <a:chOff x="0" y="0"/>
            <a:chExt cx="2804160" cy="2438400"/>
          </a:xfrm>
        </p:grpSpPr>
        <p:sp>
          <p:nvSpPr>
            <p:cNvPr name="Freeform 17" id="17"/>
            <p:cNvSpPr/>
            <p:nvPr/>
          </p:nvSpPr>
          <p:spPr>
            <a:xfrm flipH="false" flipV="false" rot="0">
              <a:off x="0" y="0"/>
              <a:ext cx="2804160" cy="2438400"/>
            </a:xfrm>
            <a:custGeom>
              <a:avLst/>
              <a:gdLst/>
              <a:ahLst/>
              <a:cxnLst/>
              <a:rect r="r" b="b" t="t" l="l"/>
              <a:pathLst>
                <a:path h="2438400" w="2804160">
                  <a:moveTo>
                    <a:pt x="0" y="0"/>
                  </a:moveTo>
                  <a:lnTo>
                    <a:pt x="2804160" y="0"/>
                  </a:lnTo>
                  <a:lnTo>
                    <a:pt x="2804160" y="2438400"/>
                  </a:lnTo>
                  <a:lnTo>
                    <a:pt x="0" y="2438400"/>
                  </a:lnTo>
                  <a:close/>
                </a:path>
              </a:pathLst>
            </a:custGeom>
            <a:blipFill>
              <a:blip r:embed="rId3">
                <a:alphaModFix amt="0"/>
              </a:blip>
              <a:stretch>
                <a:fillRect l="-61568" t="0" r="-61568" b="0"/>
              </a:stretch>
            </a:blipFill>
          </p:spPr>
        </p:sp>
        <p:sp>
          <p:nvSpPr>
            <p:cNvPr name="TextBox 18" id="18"/>
            <p:cNvSpPr txBox="true"/>
            <p:nvPr/>
          </p:nvSpPr>
          <p:spPr>
            <a:xfrm>
              <a:off x="0" y="-38100"/>
              <a:ext cx="2804160" cy="24765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RS Image</a:t>
              </a:r>
            </a:p>
            <a:p>
              <a:pPr algn="ctr">
                <a:lnSpc>
                  <a:spcPts val="2039"/>
                </a:lnSpc>
              </a:pPr>
              <a:r>
                <a:rPr lang="en-US" sz="1700" b="true">
                  <a:solidFill>
                    <a:srgbClr val="FFFFFF"/>
                  </a:solidFill>
                  <a:latin typeface="Calibri (MS) Bold"/>
                  <a:ea typeface="Calibri (MS) Bold"/>
                  <a:cs typeface="Calibri (MS) Bold"/>
                  <a:sym typeface="Calibri (MS) Bold"/>
                </a:rPr>
                <a:t>Input</a:t>
              </a:r>
            </a:p>
          </p:txBody>
        </p:sp>
      </p:grpSp>
      <p:grpSp>
        <p:nvGrpSpPr>
          <p:cNvPr name="Group 19" id="19"/>
          <p:cNvGrpSpPr/>
          <p:nvPr/>
        </p:nvGrpSpPr>
        <p:grpSpPr>
          <a:xfrm rot="0">
            <a:off x="2468880" y="3328416"/>
            <a:ext cx="274320" cy="365760"/>
            <a:chOff x="0" y="0"/>
            <a:chExt cx="365760" cy="487680"/>
          </a:xfrm>
        </p:grpSpPr>
        <p:sp>
          <p:nvSpPr>
            <p:cNvPr name="Freeform 20" id="20"/>
            <p:cNvSpPr/>
            <p:nvPr/>
          </p:nvSpPr>
          <p:spPr>
            <a:xfrm flipH="false" flipV="false" rot="0">
              <a:off x="0" y="0"/>
              <a:ext cx="365760" cy="487680"/>
            </a:xfrm>
            <a:custGeom>
              <a:avLst/>
              <a:gdLst/>
              <a:ahLst/>
              <a:cxnLst/>
              <a:rect r="r" b="b" t="t" l="l"/>
              <a:pathLst>
                <a:path h="487680" w="365760">
                  <a:moveTo>
                    <a:pt x="0" y="0"/>
                  </a:moveTo>
                  <a:lnTo>
                    <a:pt x="365760" y="0"/>
                  </a:lnTo>
                  <a:lnTo>
                    <a:pt x="365760" y="487680"/>
                  </a:lnTo>
                  <a:lnTo>
                    <a:pt x="0" y="487680"/>
                  </a:lnTo>
                  <a:close/>
                </a:path>
              </a:pathLst>
            </a:custGeom>
            <a:blipFill>
              <a:blip r:embed="rId3">
                <a:alphaModFix amt="0"/>
              </a:blip>
              <a:stretch>
                <a:fillRect l="-121071" t="0" r="-121071" b="0"/>
              </a:stretch>
            </a:blipFill>
          </p:spPr>
        </p:sp>
        <p:sp>
          <p:nvSpPr>
            <p:cNvPr name="TextBox 21" id="21"/>
            <p:cNvSpPr txBox="true"/>
            <p:nvPr/>
          </p:nvSpPr>
          <p:spPr>
            <a:xfrm>
              <a:off x="0" y="-28575"/>
              <a:ext cx="365760" cy="516255"/>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a:t>
              </a:r>
            </a:p>
          </p:txBody>
        </p:sp>
      </p:grpSp>
      <p:grpSp>
        <p:nvGrpSpPr>
          <p:cNvPr name="Group 22" id="22"/>
          <p:cNvGrpSpPr/>
          <p:nvPr/>
        </p:nvGrpSpPr>
        <p:grpSpPr>
          <a:xfrm rot="0">
            <a:off x="2730503" y="2584199"/>
            <a:ext cx="2585723" cy="1854203"/>
            <a:chOff x="0" y="0"/>
            <a:chExt cx="3447631" cy="2472271"/>
          </a:xfrm>
        </p:grpSpPr>
        <p:sp>
          <p:nvSpPr>
            <p:cNvPr name="Freeform 23" id="23"/>
            <p:cNvSpPr/>
            <p:nvPr/>
          </p:nvSpPr>
          <p:spPr>
            <a:xfrm flipH="false" flipV="false" rot="0">
              <a:off x="16891" y="16891"/>
              <a:ext cx="3413760" cy="2438400"/>
            </a:xfrm>
            <a:custGeom>
              <a:avLst/>
              <a:gdLst/>
              <a:ahLst/>
              <a:cxnLst/>
              <a:rect r="r" b="b" t="t" l="l"/>
              <a:pathLst>
                <a:path h="2438400" w="3413760">
                  <a:moveTo>
                    <a:pt x="0" y="0"/>
                  </a:moveTo>
                  <a:lnTo>
                    <a:pt x="3413760" y="0"/>
                  </a:lnTo>
                  <a:lnTo>
                    <a:pt x="3413760" y="2438400"/>
                  </a:lnTo>
                  <a:lnTo>
                    <a:pt x="0" y="2438400"/>
                  </a:lnTo>
                  <a:close/>
                </a:path>
              </a:pathLst>
            </a:custGeom>
            <a:solidFill>
              <a:srgbClr val="0F6E56"/>
            </a:solidFill>
          </p:spPr>
        </p:sp>
        <p:sp>
          <p:nvSpPr>
            <p:cNvPr name="Freeform 24" id="24"/>
            <p:cNvSpPr/>
            <p:nvPr/>
          </p:nvSpPr>
          <p:spPr>
            <a:xfrm flipH="false" flipV="false" rot="0">
              <a:off x="0" y="0"/>
              <a:ext cx="3447542" cy="2472182"/>
            </a:xfrm>
            <a:custGeom>
              <a:avLst/>
              <a:gdLst/>
              <a:ahLst/>
              <a:cxnLst/>
              <a:rect r="r" b="b" t="t" l="l"/>
              <a:pathLst>
                <a:path h="2472182" w="3447542">
                  <a:moveTo>
                    <a:pt x="16891" y="0"/>
                  </a:moveTo>
                  <a:lnTo>
                    <a:pt x="3430651" y="0"/>
                  </a:lnTo>
                  <a:cubicBezTo>
                    <a:pt x="3440049" y="0"/>
                    <a:pt x="3447542" y="7620"/>
                    <a:pt x="3447542" y="16891"/>
                  </a:cubicBezTo>
                  <a:lnTo>
                    <a:pt x="3447542" y="2455291"/>
                  </a:lnTo>
                  <a:cubicBezTo>
                    <a:pt x="3447542" y="2464689"/>
                    <a:pt x="3439922" y="2472182"/>
                    <a:pt x="343065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3430651" y="2438400"/>
                  </a:lnTo>
                  <a:lnTo>
                    <a:pt x="3430651" y="2455291"/>
                  </a:lnTo>
                  <a:lnTo>
                    <a:pt x="3413760" y="2455291"/>
                  </a:lnTo>
                  <a:lnTo>
                    <a:pt x="3413760" y="16891"/>
                  </a:lnTo>
                  <a:lnTo>
                    <a:pt x="3430651" y="16891"/>
                  </a:lnTo>
                  <a:lnTo>
                    <a:pt x="3430651" y="33909"/>
                  </a:lnTo>
                  <a:lnTo>
                    <a:pt x="16891" y="33909"/>
                  </a:lnTo>
                  <a:close/>
                </a:path>
              </a:pathLst>
            </a:custGeom>
            <a:solidFill>
              <a:srgbClr val="0F6E56"/>
            </a:solidFill>
          </p:spPr>
        </p:sp>
      </p:grpSp>
      <p:grpSp>
        <p:nvGrpSpPr>
          <p:cNvPr name="Group 25" id="25"/>
          <p:cNvGrpSpPr/>
          <p:nvPr/>
        </p:nvGrpSpPr>
        <p:grpSpPr>
          <a:xfrm rot="0">
            <a:off x="2743200" y="2596896"/>
            <a:ext cx="2560320" cy="1828800"/>
            <a:chOff x="0" y="0"/>
            <a:chExt cx="3413760" cy="2438400"/>
          </a:xfrm>
        </p:grpSpPr>
        <p:sp>
          <p:nvSpPr>
            <p:cNvPr name="Freeform 26" id="26"/>
            <p:cNvSpPr/>
            <p:nvPr/>
          </p:nvSpPr>
          <p:spPr>
            <a:xfrm flipH="false" flipV="false" rot="0">
              <a:off x="0" y="0"/>
              <a:ext cx="3413760" cy="2438400"/>
            </a:xfrm>
            <a:custGeom>
              <a:avLst/>
              <a:gdLst/>
              <a:ahLst/>
              <a:cxnLst/>
              <a:rect r="r" b="b" t="t" l="l"/>
              <a:pathLst>
                <a:path h="2438400" w="3413760">
                  <a:moveTo>
                    <a:pt x="0" y="0"/>
                  </a:moveTo>
                  <a:lnTo>
                    <a:pt x="3413760" y="0"/>
                  </a:lnTo>
                  <a:lnTo>
                    <a:pt x="3413760" y="2438400"/>
                  </a:lnTo>
                  <a:lnTo>
                    <a:pt x="0" y="2438400"/>
                  </a:lnTo>
                  <a:close/>
                </a:path>
              </a:pathLst>
            </a:custGeom>
            <a:blipFill>
              <a:blip r:embed="rId3">
                <a:alphaModFix amt="0"/>
              </a:blip>
              <a:stretch>
                <a:fillRect l="-41645" t="0" r="-41645" b="0"/>
              </a:stretch>
            </a:blipFill>
          </p:spPr>
        </p:sp>
        <p:sp>
          <p:nvSpPr>
            <p:cNvPr name="TextBox 27" id="27"/>
            <p:cNvSpPr txBox="true"/>
            <p:nvPr/>
          </p:nvSpPr>
          <p:spPr>
            <a:xfrm>
              <a:off x="0" y="-38100"/>
              <a:ext cx="3413760" cy="24765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RS-Pretrained</a:t>
              </a:r>
            </a:p>
            <a:p>
              <a:pPr algn="ctr">
                <a:lnSpc>
                  <a:spcPts val="2039"/>
                </a:lnSpc>
              </a:pPr>
              <a:r>
                <a:rPr lang="en-US" sz="1700" b="true">
                  <a:solidFill>
                    <a:srgbClr val="FFFFFF"/>
                  </a:solidFill>
                  <a:latin typeface="Calibri (MS) Bold"/>
                  <a:ea typeface="Calibri (MS) Bold"/>
                  <a:cs typeface="Calibri (MS) Bold"/>
                  <a:sym typeface="Calibri (MS) Bold"/>
                </a:rPr>
                <a:t>Backbone</a:t>
              </a:r>
            </a:p>
          </p:txBody>
        </p:sp>
      </p:grpSp>
      <p:grpSp>
        <p:nvGrpSpPr>
          <p:cNvPr name="Group 28" id="28"/>
          <p:cNvGrpSpPr/>
          <p:nvPr/>
        </p:nvGrpSpPr>
        <p:grpSpPr>
          <a:xfrm rot="0">
            <a:off x="5303520" y="3328416"/>
            <a:ext cx="274320" cy="365760"/>
            <a:chOff x="0" y="0"/>
            <a:chExt cx="365760" cy="487680"/>
          </a:xfrm>
        </p:grpSpPr>
        <p:sp>
          <p:nvSpPr>
            <p:cNvPr name="Freeform 29" id="29"/>
            <p:cNvSpPr/>
            <p:nvPr/>
          </p:nvSpPr>
          <p:spPr>
            <a:xfrm flipH="false" flipV="false" rot="0">
              <a:off x="0" y="0"/>
              <a:ext cx="365760" cy="487680"/>
            </a:xfrm>
            <a:custGeom>
              <a:avLst/>
              <a:gdLst/>
              <a:ahLst/>
              <a:cxnLst/>
              <a:rect r="r" b="b" t="t" l="l"/>
              <a:pathLst>
                <a:path h="487680" w="365760">
                  <a:moveTo>
                    <a:pt x="0" y="0"/>
                  </a:moveTo>
                  <a:lnTo>
                    <a:pt x="365760" y="0"/>
                  </a:lnTo>
                  <a:lnTo>
                    <a:pt x="365760" y="487680"/>
                  </a:lnTo>
                  <a:lnTo>
                    <a:pt x="0" y="487680"/>
                  </a:lnTo>
                  <a:close/>
                </a:path>
              </a:pathLst>
            </a:custGeom>
            <a:blipFill>
              <a:blip r:embed="rId3">
                <a:alphaModFix amt="0"/>
              </a:blip>
              <a:stretch>
                <a:fillRect l="-121071" t="0" r="-121071" b="0"/>
              </a:stretch>
            </a:blipFill>
          </p:spPr>
        </p:sp>
        <p:sp>
          <p:nvSpPr>
            <p:cNvPr name="TextBox 30" id="30"/>
            <p:cNvSpPr txBox="true"/>
            <p:nvPr/>
          </p:nvSpPr>
          <p:spPr>
            <a:xfrm>
              <a:off x="0" y="-28575"/>
              <a:ext cx="365760" cy="516255"/>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a:t>
              </a:r>
            </a:p>
          </p:txBody>
        </p:sp>
      </p:grpSp>
      <p:grpSp>
        <p:nvGrpSpPr>
          <p:cNvPr name="Group 31" id="31"/>
          <p:cNvGrpSpPr/>
          <p:nvPr/>
        </p:nvGrpSpPr>
        <p:grpSpPr>
          <a:xfrm rot="0">
            <a:off x="5565143" y="2584199"/>
            <a:ext cx="1854203" cy="1854203"/>
            <a:chOff x="0" y="0"/>
            <a:chExt cx="2472271" cy="2472271"/>
          </a:xfrm>
        </p:grpSpPr>
        <p:sp>
          <p:nvSpPr>
            <p:cNvPr name="Freeform 32" id="32"/>
            <p:cNvSpPr/>
            <p:nvPr/>
          </p:nvSpPr>
          <p:spPr>
            <a:xfrm flipH="false" flipV="false" rot="0">
              <a:off x="16891" y="16891"/>
              <a:ext cx="2438400" cy="2438400"/>
            </a:xfrm>
            <a:custGeom>
              <a:avLst/>
              <a:gdLst/>
              <a:ahLst/>
              <a:cxnLst/>
              <a:rect r="r" b="b" t="t" l="l"/>
              <a:pathLst>
                <a:path h="2438400" w="2438400">
                  <a:moveTo>
                    <a:pt x="0" y="0"/>
                  </a:moveTo>
                  <a:lnTo>
                    <a:pt x="2438400" y="0"/>
                  </a:lnTo>
                  <a:lnTo>
                    <a:pt x="2438400" y="2438400"/>
                  </a:lnTo>
                  <a:lnTo>
                    <a:pt x="0" y="2438400"/>
                  </a:lnTo>
                  <a:close/>
                </a:path>
              </a:pathLst>
            </a:custGeom>
            <a:solidFill>
              <a:srgbClr val="0D9488"/>
            </a:solidFill>
          </p:spPr>
        </p:sp>
        <p:sp>
          <p:nvSpPr>
            <p:cNvPr name="Freeform 33" id="33"/>
            <p:cNvSpPr/>
            <p:nvPr/>
          </p:nvSpPr>
          <p:spPr>
            <a:xfrm flipH="false" flipV="false" rot="0">
              <a:off x="0" y="0"/>
              <a:ext cx="2472182" cy="2472182"/>
            </a:xfrm>
            <a:custGeom>
              <a:avLst/>
              <a:gdLst/>
              <a:ahLst/>
              <a:cxnLst/>
              <a:rect r="r" b="b" t="t" l="l"/>
              <a:pathLst>
                <a:path h="2472182" w="2472182">
                  <a:moveTo>
                    <a:pt x="16891" y="0"/>
                  </a:moveTo>
                  <a:lnTo>
                    <a:pt x="2455291" y="0"/>
                  </a:lnTo>
                  <a:cubicBezTo>
                    <a:pt x="2464689" y="0"/>
                    <a:pt x="2472182" y="7620"/>
                    <a:pt x="2472182" y="16891"/>
                  </a:cubicBezTo>
                  <a:lnTo>
                    <a:pt x="2472182" y="2455291"/>
                  </a:lnTo>
                  <a:cubicBezTo>
                    <a:pt x="2472182" y="2464689"/>
                    <a:pt x="2464562" y="2472182"/>
                    <a:pt x="245529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2455291" y="2438400"/>
                  </a:lnTo>
                  <a:lnTo>
                    <a:pt x="2455291" y="2455291"/>
                  </a:lnTo>
                  <a:lnTo>
                    <a:pt x="2438400" y="2455291"/>
                  </a:lnTo>
                  <a:lnTo>
                    <a:pt x="2438400" y="16891"/>
                  </a:lnTo>
                  <a:lnTo>
                    <a:pt x="2455291" y="16891"/>
                  </a:lnTo>
                  <a:lnTo>
                    <a:pt x="2455291" y="33909"/>
                  </a:lnTo>
                  <a:lnTo>
                    <a:pt x="16891" y="33909"/>
                  </a:lnTo>
                  <a:close/>
                </a:path>
              </a:pathLst>
            </a:custGeom>
            <a:solidFill>
              <a:srgbClr val="0D9488"/>
            </a:solidFill>
          </p:spPr>
        </p:sp>
      </p:grpSp>
      <p:grpSp>
        <p:nvGrpSpPr>
          <p:cNvPr name="Group 34" id="34"/>
          <p:cNvGrpSpPr/>
          <p:nvPr/>
        </p:nvGrpSpPr>
        <p:grpSpPr>
          <a:xfrm rot="0">
            <a:off x="5577840" y="2596896"/>
            <a:ext cx="1828800" cy="1828800"/>
            <a:chOff x="0" y="0"/>
            <a:chExt cx="2438400" cy="2438400"/>
          </a:xfrm>
        </p:grpSpPr>
        <p:sp>
          <p:nvSpPr>
            <p:cNvPr name="Freeform 35" id="35"/>
            <p:cNvSpPr/>
            <p:nvPr/>
          </p:nvSpPr>
          <p:spPr>
            <a:xfrm flipH="false" flipV="false" rot="0">
              <a:off x="0" y="0"/>
              <a:ext cx="2438400" cy="2438400"/>
            </a:xfrm>
            <a:custGeom>
              <a:avLst/>
              <a:gdLst/>
              <a:ahLst/>
              <a:cxnLst/>
              <a:rect r="r" b="b" t="t" l="l"/>
              <a:pathLst>
                <a:path h="2438400" w="2438400">
                  <a:moveTo>
                    <a:pt x="0" y="0"/>
                  </a:moveTo>
                  <a:lnTo>
                    <a:pt x="2438400" y="0"/>
                  </a:lnTo>
                  <a:lnTo>
                    <a:pt x="2438400" y="2438400"/>
                  </a:lnTo>
                  <a:lnTo>
                    <a:pt x="0" y="2438400"/>
                  </a:lnTo>
                  <a:close/>
                </a:path>
              </a:pathLst>
            </a:custGeom>
            <a:blipFill>
              <a:blip r:embed="rId3">
                <a:alphaModFix amt="0"/>
              </a:blip>
              <a:stretch>
                <a:fillRect l="-78303" t="0" r="-78303" b="0"/>
              </a:stretch>
            </a:blipFill>
          </p:spPr>
        </p:sp>
        <p:sp>
          <p:nvSpPr>
            <p:cNvPr name="TextBox 36" id="36"/>
            <p:cNvSpPr txBox="true"/>
            <p:nvPr/>
          </p:nvSpPr>
          <p:spPr>
            <a:xfrm>
              <a:off x="0" y="-38100"/>
              <a:ext cx="2438400" cy="24765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FPN</a:t>
              </a:r>
            </a:p>
            <a:p>
              <a:pPr algn="ctr">
                <a:lnSpc>
                  <a:spcPts val="2039"/>
                </a:lnSpc>
              </a:pPr>
              <a:r>
                <a:rPr lang="en-US" sz="1700" b="true">
                  <a:solidFill>
                    <a:srgbClr val="FFFFFF"/>
                  </a:solidFill>
                  <a:latin typeface="Calibri (MS) Bold"/>
                  <a:ea typeface="Calibri (MS) Bold"/>
                  <a:cs typeface="Calibri (MS) Bold"/>
                  <a:sym typeface="Calibri (MS) Bold"/>
                </a:rPr>
                <a:t>Pathway</a:t>
              </a:r>
            </a:p>
          </p:txBody>
        </p:sp>
      </p:grpSp>
      <p:grpSp>
        <p:nvGrpSpPr>
          <p:cNvPr name="Group 37" id="37"/>
          <p:cNvGrpSpPr/>
          <p:nvPr/>
        </p:nvGrpSpPr>
        <p:grpSpPr>
          <a:xfrm rot="0">
            <a:off x="7406640" y="3328416"/>
            <a:ext cx="274320" cy="365760"/>
            <a:chOff x="0" y="0"/>
            <a:chExt cx="365760" cy="487680"/>
          </a:xfrm>
        </p:grpSpPr>
        <p:sp>
          <p:nvSpPr>
            <p:cNvPr name="Freeform 38" id="38"/>
            <p:cNvSpPr/>
            <p:nvPr/>
          </p:nvSpPr>
          <p:spPr>
            <a:xfrm flipH="false" flipV="false" rot="0">
              <a:off x="0" y="0"/>
              <a:ext cx="365760" cy="487680"/>
            </a:xfrm>
            <a:custGeom>
              <a:avLst/>
              <a:gdLst/>
              <a:ahLst/>
              <a:cxnLst/>
              <a:rect r="r" b="b" t="t" l="l"/>
              <a:pathLst>
                <a:path h="487680" w="365760">
                  <a:moveTo>
                    <a:pt x="0" y="0"/>
                  </a:moveTo>
                  <a:lnTo>
                    <a:pt x="365760" y="0"/>
                  </a:lnTo>
                  <a:lnTo>
                    <a:pt x="365760" y="487680"/>
                  </a:lnTo>
                  <a:lnTo>
                    <a:pt x="0" y="487680"/>
                  </a:lnTo>
                  <a:close/>
                </a:path>
              </a:pathLst>
            </a:custGeom>
            <a:blipFill>
              <a:blip r:embed="rId3">
                <a:alphaModFix amt="0"/>
              </a:blip>
              <a:stretch>
                <a:fillRect l="-121071" t="0" r="-121071" b="0"/>
              </a:stretch>
            </a:blipFill>
          </p:spPr>
        </p:sp>
        <p:sp>
          <p:nvSpPr>
            <p:cNvPr name="TextBox 39" id="39"/>
            <p:cNvSpPr txBox="true"/>
            <p:nvPr/>
          </p:nvSpPr>
          <p:spPr>
            <a:xfrm>
              <a:off x="0" y="-28575"/>
              <a:ext cx="365760" cy="516255"/>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a:t>
              </a:r>
            </a:p>
          </p:txBody>
        </p:sp>
      </p:grpSp>
      <p:grpSp>
        <p:nvGrpSpPr>
          <p:cNvPr name="Group 40" id="40"/>
          <p:cNvGrpSpPr/>
          <p:nvPr/>
        </p:nvGrpSpPr>
        <p:grpSpPr>
          <a:xfrm rot="0">
            <a:off x="7668263" y="2584199"/>
            <a:ext cx="2037083" cy="1854203"/>
            <a:chOff x="0" y="0"/>
            <a:chExt cx="2716111" cy="2472271"/>
          </a:xfrm>
        </p:grpSpPr>
        <p:sp>
          <p:nvSpPr>
            <p:cNvPr name="Freeform 41" id="41"/>
            <p:cNvSpPr/>
            <p:nvPr/>
          </p:nvSpPr>
          <p:spPr>
            <a:xfrm flipH="false" flipV="false" rot="0">
              <a:off x="16891" y="16891"/>
              <a:ext cx="2682240" cy="2438400"/>
            </a:xfrm>
            <a:custGeom>
              <a:avLst/>
              <a:gdLst/>
              <a:ahLst/>
              <a:cxnLst/>
              <a:rect r="r" b="b" t="t" l="l"/>
              <a:pathLst>
                <a:path h="2438400" w="2682240">
                  <a:moveTo>
                    <a:pt x="0" y="0"/>
                  </a:moveTo>
                  <a:lnTo>
                    <a:pt x="2682240" y="0"/>
                  </a:lnTo>
                  <a:lnTo>
                    <a:pt x="2682240" y="2438400"/>
                  </a:lnTo>
                  <a:lnTo>
                    <a:pt x="0" y="2438400"/>
                  </a:lnTo>
                  <a:close/>
                </a:path>
              </a:pathLst>
            </a:custGeom>
            <a:solidFill>
              <a:srgbClr val="0D9488"/>
            </a:solidFill>
          </p:spPr>
        </p:sp>
        <p:sp>
          <p:nvSpPr>
            <p:cNvPr name="Freeform 42" id="42"/>
            <p:cNvSpPr/>
            <p:nvPr/>
          </p:nvSpPr>
          <p:spPr>
            <a:xfrm flipH="false" flipV="false" rot="0">
              <a:off x="0" y="0"/>
              <a:ext cx="2716022" cy="2472182"/>
            </a:xfrm>
            <a:custGeom>
              <a:avLst/>
              <a:gdLst/>
              <a:ahLst/>
              <a:cxnLst/>
              <a:rect r="r" b="b" t="t" l="l"/>
              <a:pathLst>
                <a:path h="2472182" w="2716022">
                  <a:moveTo>
                    <a:pt x="16891" y="0"/>
                  </a:moveTo>
                  <a:lnTo>
                    <a:pt x="2699131" y="0"/>
                  </a:lnTo>
                  <a:cubicBezTo>
                    <a:pt x="2708529" y="0"/>
                    <a:pt x="2716022" y="7620"/>
                    <a:pt x="2716022" y="16891"/>
                  </a:cubicBezTo>
                  <a:lnTo>
                    <a:pt x="2716022" y="2455291"/>
                  </a:lnTo>
                  <a:cubicBezTo>
                    <a:pt x="2716022" y="2464689"/>
                    <a:pt x="2708402" y="2472182"/>
                    <a:pt x="26991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2699131" y="2438400"/>
                  </a:lnTo>
                  <a:lnTo>
                    <a:pt x="2699131" y="2455291"/>
                  </a:lnTo>
                  <a:lnTo>
                    <a:pt x="2682240" y="2455291"/>
                  </a:lnTo>
                  <a:lnTo>
                    <a:pt x="2682240" y="16891"/>
                  </a:lnTo>
                  <a:lnTo>
                    <a:pt x="2699131" y="16891"/>
                  </a:lnTo>
                  <a:lnTo>
                    <a:pt x="2699131" y="33909"/>
                  </a:lnTo>
                  <a:lnTo>
                    <a:pt x="16891" y="33909"/>
                  </a:lnTo>
                  <a:close/>
                </a:path>
              </a:pathLst>
            </a:custGeom>
            <a:solidFill>
              <a:srgbClr val="0D9488"/>
            </a:solidFill>
          </p:spPr>
        </p:sp>
      </p:grpSp>
      <p:grpSp>
        <p:nvGrpSpPr>
          <p:cNvPr name="Group 43" id="43"/>
          <p:cNvGrpSpPr/>
          <p:nvPr/>
        </p:nvGrpSpPr>
        <p:grpSpPr>
          <a:xfrm rot="0">
            <a:off x="7680960" y="2596896"/>
            <a:ext cx="2011680" cy="1828800"/>
            <a:chOff x="0" y="0"/>
            <a:chExt cx="2682240" cy="2438400"/>
          </a:xfrm>
        </p:grpSpPr>
        <p:sp>
          <p:nvSpPr>
            <p:cNvPr name="Freeform 44" id="44"/>
            <p:cNvSpPr/>
            <p:nvPr/>
          </p:nvSpPr>
          <p:spPr>
            <a:xfrm flipH="false" flipV="false" rot="0">
              <a:off x="0" y="0"/>
              <a:ext cx="2682240" cy="2438400"/>
            </a:xfrm>
            <a:custGeom>
              <a:avLst/>
              <a:gdLst/>
              <a:ahLst/>
              <a:cxnLst/>
              <a:rect r="r" b="b" t="t" l="l"/>
              <a:pathLst>
                <a:path h="2438400" w="2682240">
                  <a:moveTo>
                    <a:pt x="0" y="0"/>
                  </a:moveTo>
                  <a:lnTo>
                    <a:pt x="2682240" y="0"/>
                  </a:lnTo>
                  <a:lnTo>
                    <a:pt x="2682240" y="2438400"/>
                  </a:lnTo>
                  <a:lnTo>
                    <a:pt x="0" y="2438400"/>
                  </a:lnTo>
                  <a:close/>
                </a:path>
              </a:pathLst>
            </a:custGeom>
            <a:blipFill>
              <a:blip r:embed="rId3">
                <a:alphaModFix amt="0"/>
              </a:blip>
              <a:stretch>
                <a:fillRect l="-66639" t="0" r="-66639" b="0"/>
              </a:stretch>
            </a:blipFill>
          </p:spPr>
        </p:sp>
        <p:sp>
          <p:nvSpPr>
            <p:cNvPr name="TextBox 45" id="45"/>
            <p:cNvSpPr txBox="true"/>
            <p:nvPr/>
          </p:nvSpPr>
          <p:spPr>
            <a:xfrm>
              <a:off x="0" y="-38100"/>
              <a:ext cx="2682240" cy="24765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AMFF</a:t>
              </a:r>
            </a:p>
            <a:p>
              <a:pPr algn="ctr">
                <a:lnSpc>
                  <a:spcPts val="2039"/>
                </a:lnSpc>
              </a:pPr>
              <a:r>
                <a:rPr lang="en-US" sz="1700" b="true">
                  <a:solidFill>
                    <a:srgbClr val="FFFFFF"/>
                  </a:solidFill>
                  <a:latin typeface="Calibri (MS) Bold"/>
                  <a:ea typeface="Calibri (MS) Bold"/>
                  <a:cs typeface="Calibri (MS) Bold"/>
                  <a:sym typeface="Calibri (MS) Bold"/>
                </a:rPr>
                <a:t>+ CBAM</a:t>
              </a:r>
            </a:p>
          </p:txBody>
        </p:sp>
      </p:grpSp>
      <p:grpSp>
        <p:nvGrpSpPr>
          <p:cNvPr name="Group 46" id="46"/>
          <p:cNvGrpSpPr/>
          <p:nvPr/>
        </p:nvGrpSpPr>
        <p:grpSpPr>
          <a:xfrm rot="0">
            <a:off x="9692640" y="3328416"/>
            <a:ext cx="274320" cy="365760"/>
            <a:chOff x="0" y="0"/>
            <a:chExt cx="365760" cy="487680"/>
          </a:xfrm>
        </p:grpSpPr>
        <p:sp>
          <p:nvSpPr>
            <p:cNvPr name="Freeform 47" id="47"/>
            <p:cNvSpPr/>
            <p:nvPr/>
          </p:nvSpPr>
          <p:spPr>
            <a:xfrm flipH="false" flipV="false" rot="0">
              <a:off x="0" y="0"/>
              <a:ext cx="365760" cy="487680"/>
            </a:xfrm>
            <a:custGeom>
              <a:avLst/>
              <a:gdLst/>
              <a:ahLst/>
              <a:cxnLst/>
              <a:rect r="r" b="b" t="t" l="l"/>
              <a:pathLst>
                <a:path h="487680" w="365760">
                  <a:moveTo>
                    <a:pt x="0" y="0"/>
                  </a:moveTo>
                  <a:lnTo>
                    <a:pt x="365760" y="0"/>
                  </a:lnTo>
                  <a:lnTo>
                    <a:pt x="365760" y="487680"/>
                  </a:lnTo>
                  <a:lnTo>
                    <a:pt x="0" y="487680"/>
                  </a:lnTo>
                  <a:close/>
                </a:path>
              </a:pathLst>
            </a:custGeom>
            <a:blipFill>
              <a:blip r:embed="rId3">
                <a:alphaModFix amt="0"/>
              </a:blip>
              <a:stretch>
                <a:fillRect l="-121071" t="0" r="-121071" b="0"/>
              </a:stretch>
            </a:blipFill>
          </p:spPr>
        </p:sp>
        <p:sp>
          <p:nvSpPr>
            <p:cNvPr name="TextBox 48" id="48"/>
            <p:cNvSpPr txBox="true"/>
            <p:nvPr/>
          </p:nvSpPr>
          <p:spPr>
            <a:xfrm>
              <a:off x="0" y="-28575"/>
              <a:ext cx="365760" cy="516255"/>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a:t>
              </a:r>
            </a:p>
          </p:txBody>
        </p:sp>
      </p:grpSp>
      <p:grpSp>
        <p:nvGrpSpPr>
          <p:cNvPr name="Group 49" id="49"/>
          <p:cNvGrpSpPr/>
          <p:nvPr/>
        </p:nvGrpSpPr>
        <p:grpSpPr>
          <a:xfrm rot="0">
            <a:off x="9954263" y="2584199"/>
            <a:ext cx="2402843" cy="1854203"/>
            <a:chOff x="0" y="0"/>
            <a:chExt cx="3203791" cy="2472271"/>
          </a:xfrm>
        </p:grpSpPr>
        <p:sp>
          <p:nvSpPr>
            <p:cNvPr name="Freeform 50" id="50"/>
            <p:cNvSpPr/>
            <p:nvPr/>
          </p:nvSpPr>
          <p:spPr>
            <a:xfrm flipH="false" flipV="false" rot="0">
              <a:off x="16891" y="16891"/>
              <a:ext cx="3169920" cy="2438400"/>
            </a:xfrm>
            <a:custGeom>
              <a:avLst/>
              <a:gdLst/>
              <a:ahLst/>
              <a:cxnLst/>
              <a:rect r="r" b="b" t="t" l="l"/>
              <a:pathLst>
                <a:path h="2438400" w="3169920">
                  <a:moveTo>
                    <a:pt x="0" y="0"/>
                  </a:moveTo>
                  <a:lnTo>
                    <a:pt x="3169920" y="0"/>
                  </a:lnTo>
                  <a:lnTo>
                    <a:pt x="3169920" y="2438400"/>
                  </a:lnTo>
                  <a:lnTo>
                    <a:pt x="0" y="2438400"/>
                  </a:lnTo>
                  <a:close/>
                </a:path>
              </a:pathLst>
            </a:custGeom>
            <a:solidFill>
              <a:srgbClr val="7C3AED"/>
            </a:solidFill>
          </p:spPr>
        </p:sp>
        <p:sp>
          <p:nvSpPr>
            <p:cNvPr name="Freeform 51" id="51"/>
            <p:cNvSpPr/>
            <p:nvPr/>
          </p:nvSpPr>
          <p:spPr>
            <a:xfrm flipH="false" flipV="false" rot="0">
              <a:off x="0" y="0"/>
              <a:ext cx="3203702" cy="2472182"/>
            </a:xfrm>
            <a:custGeom>
              <a:avLst/>
              <a:gdLst/>
              <a:ahLst/>
              <a:cxnLst/>
              <a:rect r="r" b="b" t="t" l="l"/>
              <a:pathLst>
                <a:path h="2472182" w="3203702">
                  <a:moveTo>
                    <a:pt x="16891" y="0"/>
                  </a:moveTo>
                  <a:lnTo>
                    <a:pt x="3186811" y="0"/>
                  </a:lnTo>
                  <a:cubicBezTo>
                    <a:pt x="3196209" y="0"/>
                    <a:pt x="3203702" y="7620"/>
                    <a:pt x="3203702" y="16891"/>
                  </a:cubicBezTo>
                  <a:lnTo>
                    <a:pt x="3203702" y="2455291"/>
                  </a:lnTo>
                  <a:cubicBezTo>
                    <a:pt x="3203702" y="2464689"/>
                    <a:pt x="3196082" y="2472182"/>
                    <a:pt x="318681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3186811" y="2438400"/>
                  </a:lnTo>
                  <a:lnTo>
                    <a:pt x="3186811" y="2455291"/>
                  </a:lnTo>
                  <a:lnTo>
                    <a:pt x="3169920" y="2455291"/>
                  </a:lnTo>
                  <a:lnTo>
                    <a:pt x="3169920" y="16891"/>
                  </a:lnTo>
                  <a:lnTo>
                    <a:pt x="3186811" y="16891"/>
                  </a:lnTo>
                  <a:lnTo>
                    <a:pt x="3186811" y="33909"/>
                  </a:lnTo>
                  <a:lnTo>
                    <a:pt x="16891" y="33909"/>
                  </a:lnTo>
                  <a:close/>
                </a:path>
              </a:pathLst>
            </a:custGeom>
            <a:solidFill>
              <a:srgbClr val="7C3AED"/>
            </a:solidFill>
          </p:spPr>
        </p:sp>
      </p:grpSp>
      <p:grpSp>
        <p:nvGrpSpPr>
          <p:cNvPr name="Group 52" id="52"/>
          <p:cNvGrpSpPr/>
          <p:nvPr/>
        </p:nvGrpSpPr>
        <p:grpSpPr>
          <a:xfrm rot="0">
            <a:off x="9966960" y="2596896"/>
            <a:ext cx="2377440" cy="1828800"/>
            <a:chOff x="0" y="0"/>
            <a:chExt cx="3169920" cy="2438400"/>
          </a:xfrm>
        </p:grpSpPr>
        <p:sp>
          <p:nvSpPr>
            <p:cNvPr name="Freeform 53" id="53"/>
            <p:cNvSpPr/>
            <p:nvPr/>
          </p:nvSpPr>
          <p:spPr>
            <a:xfrm flipH="false" flipV="false" rot="0">
              <a:off x="0" y="0"/>
              <a:ext cx="3169920" cy="2438400"/>
            </a:xfrm>
            <a:custGeom>
              <a:avLst/>
              <a:gdLst/>
              <a:ahLst/>
              <a:cxnLst/>
              <a:rect r="r" b="b" t="t" l="l"/>
              <a:pathLst>
                <a:path h="2438400" w="3169920">
                  <a:moveTo>
                    <a:pt x="0" y="0"/>
                  </a:moveTo>
                  <a:lnTo>
                    <a:pt x="3169920" y="0"/>
                  </a:lnTo>
                  <a:lnTo>
                    <a:pt x="3169920" y="2438400"/>
                  </a:lnTo>
                  <a:lnTo>
                    <a:pt x="0" y="2438400"/>
                  </a:lnTo>
                  <a:close/>
                </a:path>
              </a:pathLst>
            </a:custGeom>
            <a:blipFill>
              <a:blip r:embed="rId3">
                <a:alphaModFix amt="0"/>
              </a:blip>
              <a:stretch>
                <a:fillRect l="-48695" t="0" r="-48695" b="0"/>
              </a:stretch>
            </a:blipFill>
          </p:spPr>
        </p:sp>
        <p:sp>
          <p:nvSpPr>
            <p:cNvPr name="TextBox 54" id="54"/>
            <p:cNvSpPr txBox="true"/>
            <p:nvPr/>
          </p:nvSpPr>
          <p:spPr>
            <a:xfrm>
              <a:off x="0" y="-38100"/>
              <a:ext cx="3169920" cy="24765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LFSE</a:t>
              </a:r>
            </a:p>
            <a:p>
              <a:pPr algn="ctr">
                <a:lnSpc>
                  <a:spcPts val="2039"/>
                </a:lnSpc>
              </a:pPr>
              <a:r>
                <a:rPr lang="en-US" sz="1700" b="true">
                  <a:solidFill>
                    <a:srgbClr val="FFFFFF"/>
                  </a:solidFill>
                  <a:latin typeface="Calibri (MS) Bold"/>
                  <a:ea typeface="Calibri (MS) Bold"/>
                  <a:cs typeface="Calibri (MS) Bold"/>
                  <a:sym typeface="Calibri (MS) Bold"/>
                </a:rPr>
                <a:t>+ RelPos + GNN</a:t>
              </a:r>
            </a:p>
          </p:txBody>
        </p:sp>
      </p:grpSp>
      <p:grpSp>
        <p:nvGrpSpPr>
          <p:cNvPr name="Group 55" id="55"/>
          <p:cNvGrpSpPr/>
          <p:nvPr/>
        </p:nvGrpSpPr>
        <p:grpSpPr>
          <a:xfrm rot="0">
            <a:off x="12344400" y="3328416"/>
            <a:ext cx="274320" cy="365760"/>
            <a:chOff x="0" y="0"/>
            <a:chExt cx="365760" cy="487680"/>
          </a:xfrm>
        </p:grpSpPr>
        <p:sp>
          <p:nvSpPr>
            <p:cNvPr name="Freeform 56" id="56"/>
            <p:cNvSpPr/>
            <p:nvPr/>
          </p:nvSpPr>
          <p:spPr>
            <a:xfrm flipH="false" flipV="false" rot="0">
              <a:off x="0" y="0"/>
              <a:ext cx="365760" cy="487680"/>
            </a:xfrm>
            <a:custGeom>
              <a:avLst/>
              <a:gdLst/>
              <a:ahLst/>
              <a:cxnLst/>
              <a:rect r="r" b="b" t="t" l="l"/>
              <a:pathLst>
                <a:path h="487680" w="365760">
                  <a:moveTo>
                    <a:pt x="0" y="0"/>
                  </a:moveTo>
                  <a:lnTo>
                    <a:pt x="365760" y="0"/>
                  </a:lnTo>
                  <a:lnTo>
                    <a:pt x="365760" y="487680"/>
                  </a:lnTo>
                  <a:lnTo>
                    <a:pt x="0" y="487680"/>
                  </a:lnTo>
                  <a:close/>
                </a:path>
              </a:pathLst>
            </a:custGeom>
            <a:blipFill>
              <a:blip r:embed="rId3">
                <a:alphaModFix amt="0"/>
              </a:blip>
              <a:stretch>
                <a:fillRect l="-121071" t="0" r="-121071" b="0"/>
              </a:stretch>
            </a:blipFill>
          </p:spPr>
        </p:sp>
        <p:sp>
          <p:nvSpPr>
            <p:cNvPr name="TextBox 57" id="57"/>
            <p:cNvSpPr txBox="true"/>
            <p:nvPr/>
          </p:nvSpPr>
          <p:spPr>
            <a:xfrm>
              <a:off x="0" y="-28575"/>
              <a:ext cx="365760" cy="516255"/>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a:t>
              </a:r>
            </a:p>
          </p:txBody>
        </p:sp>
      </p:grpSp>
      <p:grpSp>
        <p:nvGrpSpPr>
          <p:cNvPr name="Group 58" id="58"/>
          <p:cNvGrpSpPr/>
          <p:nvPr/>
        </p:nvGrpSpPr>
        <p:grpSpPr>
          <a:xfrm rot="0">
            <a:off x="12606023" y="2584199"/>
            <a:ext cx="2402843" cy="1854203"/>
            <a:chOff x="0" y="0"/>
            <a:chExt cx="3203791" cy="2472271"/>
          </a:xfrm>
        </p:grpSpPr>
        <p:sp>
          <p:nvSpPr>
            <p:cNvPr name="Freeform 59" id="59"/>
            <p:cNvSpPr/>
            <p:nvPr/>
          </p:nvSpPr>
          <p:spPr>
            <a:xfrm flipH="false" flipV="false" rot="0">
              <a:off x="16891" y="16891"/>
              <a:ext cx="3169920" cy="2438400"/>
            </a:xfrm>
            <a:custGeom>
              <a:avLst/>
              <a:gdLst/>
              <a:ahLst/>
              <a:cxnLst/>
              <a:rect r="r" b="b" t="t" l="l"/>
              <a:pathLst>
                <a:path h="2438400" w="3169920">
                  <a:moveTo>
                    <a:pt x="0" y="0"/>
                  </a:moveTo>
                  <a:lnTo>
                    <a:pt x="3169920" y="0"/>
                  </a:lnTo>
                  <a:lnTo>
                    <a:pt x="3169920" y="2438400"/>
                  </a:lnTo>
                  <a:lnTo>
                    <a:pt x="0" y="2438400"/>
                  </a:lnTo>
                  <a:close/>
                </a:path>
              </a:pathLst>
            </a:custGeom>
            <a:solidFill>
              <a:srgbClr val="E05B4B"/>
            </a:solidFill>
          </p:spPr>
        </p:sp>
        <p:sp>
          <p:nvSpPr>
            <p:cNvPr name="Freeform 60" id="60"/>
            <p:cNvSpPr/>
            <p:nvPr/>
          </p:nvSpPr>
          <p:spPr>
            <a:xfrm flipH="false" flipV="false" rot="0">
              <a:off x="0" y="0"/>
              <a:ext cx="3203702" cy="2472182"/>
            </a:xfrm>
            <a:custGeom>
              <a:avLst/>
              <a:gdLst/>
              <a:ahLst/>
              <a:cxnLst/>
              <a:rect r="r" b="b" t="t" l="l"/>
              <a:pathLst>
                <a:path h="2472182" w="3203702">
                  <a:moveTo>
                    <a:pt x="16891" y="0"/>
                  </a:moveTo>
                  <a:lnTo>
                    <a:pt x="3186811" y="0"/>
                  </a:lnTo>
                  <a:cubicBezTo>
                    <a:pt x="3196209" y="0"/>
                    <a:pt x="3203702" y="7620"/>
                    <a:pt x="3203702" y="16891"/>
                  </a:cubicBezTo>
                  <a:lnTo>
                    <a:pt x="3203702" y="2455291"/>
                  </a:lnTo>
                  <a:cubicBezTo>
                    <a:pt x="3203702" y="2464689"/>
                    <a:pt x="3196082" y="2472182"/>
                    <a:pt x="318681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3186811" y="2438400"/>
                  </a:lnTo>
                  <a:lnTo>
                    <a:pt x="3186811" y="2455291"/>
                  </a:lnTo>
                  <a:lnTo>
                    <a:pt x="3169920" y="2455291"/>
                  </a:lnTo>
                  <a:lnTo>
                    <a:pt x="3169920" y="16891"/>
                  </a:lnTo>
                  <a:lnTo>
                    <a:pt x="3186811" y="16891"/>
                  </a:lnTo>
                  <a:lnTo>
                    <a:pt x="3186811" y="33909"/>
                  </a:lnTo>
                  <a:lnTo>
                    <a:pt x="16891" y="33909"/>
                  </a:lnTo>
                  <a:close/>
                </a:path>
              </a:pathLst>
            </a:custGeom>
            <a:solidFill>
              <a:srgbClr val="E05B4B"/>
            </a:solidFill>
          </p:spPr>
        </p:sp>
      </p:grpSp>
      <p:grpSp>
        <p:nvGrpSpPr>
          <p:cNvPr name="Group 61" id="61"/>
          <p:cNvGrpSpPr/>
          <p:nvPr/>
        </p:nvGrpSpPr>
        <p:grpSpPr>
          <a:xfrm rot="0">
            <a:off x="12618720" y="2596896"/>
            <a:ext cx="2377440" cy="1828800"/>
            <a:chOff x="0" y="0"/>
            <a:chExt cx="3169920" cy="2438400"/>
          </a:xfrm>
        </p:grpSpPr>
        <p:sp>
          <p:nvSpPr>
            <p:cNvPr name="Freeform 62" id="62"/>
            <p:cNvSpPr/>
            <p:nvPr/>
          </p:nvSpPr>
          <p:spPr>
            <a:xfrm flipH="false" flipV="false" rot="0">
              <a:off x="0" y="0"/>
              <a:ext cx="3169920" cy="2438400"/>
            </a:xfrm>
            <a:custGeom>
              <a:avLst/>
              <a:gdLst/>
              <a:ahLst/>
              <a:cxnLst/>
              <a:rect r="r" b="b" t="t" l="l"/>
              <a:pathLst>
                <a:path h="2438400" w="3169920">
                  <a:moveTo>
                    <a:pt x="0" y="0"/>
                  </a:moveTo>
                  <a:lnTo>
                    <a:pt x="3169920" y="0"/>
                  </a:lnTo>
                  <a:lnTo>
                    <a:pt x="3169920" y="2438400"/>
                  </a:lnTo>
                  <a:lnTo>
                    <a:pt x="0" y="2438400"/>
                  </a:lnTo>
                  <a:close/>
                </a:path>
              </a:pathLst>
            </a:custGeom>
            <a:blipFill>
              <a:blip r:embed="rId3">
                <a:alphaModFix amt="0"/>
              </a:blip>
              <a:stretch>
                <a:fillRect l="-48695" t="0" r="-48695" b="0"/>
              </a:stretch>
            </a:blipFill>
          </p:spPr>
        </p:sp>
        <p:sp>
          <p:nvSpPr>
            <p:cNvPr name="TextBox 63" id="63"/>
            <p:cNvSpPr txBox="true"/>
            <p:nvPr/>
          </p:nvSpPr>
          <p:spPr>
            <a:xfrm>
              <a:off x="0" y="-38100"/>
              <a:ext cx="3169920" cy="24765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Transformer</a:t>
              </a:r>
            </a:p>
            <a:p>
              <a:pPr algn="ctr">
                <a:lnSpc>
                  <a:spcPts val="2039"/>
                </a:lnSpc>
              </a:pPr>
              <a:r>
                <a:rPr lang="en-US" sz="1700" b="true">
                  <a:solidFill>
                    <a:srgbClr val="FFFFFF"/>
                  </a:solidFill>
                  <a:latin typeface="Calibri (MS) Bold"/>
                  <a:ea typeface="Calibri (MS) Bold"/>
                  <a:cs typeface="Calibri (MS) Bold"/>
                  <a:sym typeface="Calibri (MS) Bold"/>
                </a:rPr>
                <a:t>Decoder</a:t>
              </a:r>
            </a:p>
          </p:txBody>
        </p:sp>
      </p:grpSp>
      <p:grpSp>
        <p:nvGrpSpPr>
          <p:cNvPr name="Group 64" id="64"/>
          <p:cNvGrpSpPr/>
          <p:nvPr/>
        </p:nvGrpSpPr>
        <p:grpSpPr>
          <a:xfrm rot="0">
            <a:off x="14996160" y="3328416"/>
            <a:ext cx="274320" cy="365760"/>
            <a:chOff x="0" y="0"/>
            <a:chExt cx="365760" cy="487680"/>
          </a:xfrm>
        </p:grpSpPr>
        <p:sp>
          <p:nvSpPr>
            <p:cNvPr name="Freeform 65" id="65"/>
            <p:cNvSpPr/>
            <p:nvPr/>
          </p:nvSpPr>
          <p:spPr>
            <a:xfrm flipH="false" flipV="false" rot="0">
              <a:off x="0" y="0"/>
              <a:ext cx="365760" cy="487680"/>
            </a:xfrm>
            <a:custGeom>
              <a:avLst/>
              <a:gdLst/>
              <a:ahLst/>
              <a:cxnLst/>
              <a:rect r="r" b="b" t="t" l="l"/>
              <a:pathLst>
                <a:path h="487680" w="365760">
                  <a:moveTo>
                    <a:pt x="0" y="0"/>
                  </a:moveTo>
                  <a:lnTo>
                    <a:pt x="365760" y="0"/>
                  </a:lnTo>
                  <a:lnTo>
                    <a:pt x="365760" y="487680"/>
                  </a:lnTo>
                  <a:lnTo>
                    <a:pt x="0" y="487680"/>
                  </a:lnTo>
                  <a:close/>
                </a:path>
              </a:pathLst>
            </a:custGeom>
            <a:blipFill>
              <a:blip r:embed="rId3">
                <a:alphaModFix amt="0"/>
              </a:blip>
              <a:stretch>
                <a:fillRect l="-121071" t="0" r="-121071" b="0"/>
              </a:stretch>
            </a:blipFill>
          </p:spPr>
        </p:sp>
        <p:sp>
          <p:nvSpPr>
            <p:cNvPr name="TextBox 66" id="66"/>
            <p:cNvSpPr txBox="true"/>
            <p:nvPr/>
          </p:nvSpPr>
          <p:spPr>
            <a:xfrm>
              <a:off x="0" y="-28575"/>
              <a:ext cx="365760" cy="516255"/>
            </a:xfrm>
            <a:prstGeom prst="rect">
              <a:avLst/>
            </a:prstGeom>
          </p:spPr>
          <p:txBody>
            <a:bodyPr anchor="ctr" rtlCol="false" tIns="0" lIns="0" bIns="0" rIns="0"/>
            <a:lstStyle/>
            <a:p>
              <a:pPr algn="ctr">
                <a:lnSpc>
                  <a:spcPts val="1679"/>
                </a:lnSpc>
              </a:pPr>
              <a:r>
                <a:rPr lang="en-US" sz="1399">
                  <a:solidFill>
                    <a:srgbClr val="94A3B8"/>
                  </a:solidFill>
                  <a:latin typeface="Calibri (MS)"/>
                  <a:ea typeface="Calibri (MS)"/>
                  <a:cs typeface="Calibri (MS)"/>
                  <a:sym typeface="Calibri (MS)"/>
                </a:rPr>
                <a:t>▶</a:t>
              </a:r>
            </a:p>
          </p:txBody>
        </p:sp>
      </p:grpSp>
      <p:grpSp>
        <p:nvGrpSpPr>
          <p:cNvPr name="Group 67" id="67"/>
          <p:cNvGrpSpPr/>
          <p:nvPr/>
        </p:nvGrpSpPr>
        <p:grpSpPr>
          <a:xfrm rot="0">
            <a:off x="15257783" y="2584199"/>
            <a:ext cx="2402843" cy="1854203"/>
            <a:chOff x="0" y="0"/>
            <a:chExt cx="3203791" cy="2472271"/>
          </a:xfrm>
        </p:grpSpPr>
        <p:sp>
          <p:nvSpPr>
            <p:cNvPr name="Freeform 68" id="68"/>
            <p:cNvSpPr/>
            <p:nvPr/>
          </p:nvSpPr>
          <p:spPr>
            <a:xfrm flipH="false" flipV="false" rot="0">
              <a:off x="16891" y="16891"/>
              <a:ext cx="3169920" cy="2438400"/>
            </a:xfrm>
            <a:custGeom>
              <a:avLst/>
              <a:gdLst/>
              <a:ahLst/>
              <a:cxnLst/>
              <a:rect r="r" b="b" t="t" l="l"/>
              <a:pathLst>
                <a:path h="2438400" w="3169920">
                  <a:moveTo>
                    <a:pt x="0" y="0"/>
                  </a:moveTo>
                  <a:lnTo>
                    <a:pt x="3169920" y="0"/>
                  </a:lnTo>
                  <a:lnTo>
                    <a:pt x="3169920" y="2438400"/>
                  </a:lnTo>
                  <a:lnTo>
                    <a:pt x="0" y="2438400"/>
                  </a:lnTo>
                  <a:close/>
                </a:path>
              </a:pathLst>
            </a:custGeom>
            <a:solidFill>
              <a:srgbClr val="059669"/>
            </a:solidFill>
          </p:spPr>
        </p:sp>
        <p:sp>
          <p:nvSpPr>
            <p:cNvPr name="Freeform 69" id="69"/>
            <p:cNvSpPr/>
            <p:nvPr/>
          </p:nvSpPr>
          <p:spPr>
            <a:xfrm flipH="false" flipV="false" rot="0">
              <a:off x="0" y="0"/>
              <a:ext cx="3203702" cy="2472182"/>
            </a:xfrm>
            <a:custGeom>
              <a:avLst/>
              <a:gdLst/>
              <a:ahLst/>
              <a:cxnLst/>
              <a:rect r="r" b="b" t="t" l="l"/>
              <a:pathLst>
                <a:path h="2472182" w="3203702">
                  <a:moveTo>
                    <a:pt x="16891" y="0"/>
                  </a:moveTo>
                  <a:lnTo>
                    <a:pt x="3186811" y="0"/>
                  </a:lnTo>
                  <a:cubicBezTo>
                    <a:pt x="3196209" y="0"/>
                    <a:pt x="3203702" y="7620"/>
                    <a:pt x="3203702" y="16891"/>
                  </a:cubicBezTo>
                  <a:lnTo>
                    <a:pt x="3203702" y="2455291"/>
                  </a:lnTo>
                  <a:cubicBezTo>
                    <a:pt x="3203702" y="2464689"/>
                    <a:pt x="3196082" y="2472182"/>
                    <a:pt x="318681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3186811" y="2438400"/>
                  </a:lnTo>
                  <a:lnTo>
                    <a:pt x="3186811" y="2455291"/>
                  </a:lnTo>
                  <a:lnTo>
                    <a:pt x="3169920" y="2455291"/>
                  </a:lnTo>
                  <a:lnTo>
                    <a:pt x="3169920" y="16891"/>
                  </a:lnTo>
                  <a:lnTo>
                    <a:pt x="3186811" y="16891"/>
                  </a:lnTo>
                  <a:lnTo>
                    <a:pt x="3186811" y="33909"/>
                  </a:lnTo>
                  <a:lnTo>
                    <a:pt x="16891" y="33909"/>
                  </a:lnTo>
                  <a:close/>
                </a:path>
              </a:pathLst>
            </a:custGeom>
            <a:solidFill>
              <a:srgbClr val="059669"/>
            </a:solidFill>
          </p:spPr>
        </p:sp>
      </p:grpSp>
      <p:grpSp>
        <p:nvGrpSpPr>
          <p:cNvPr name="Group 70" id="70"/>
          <p:cNvGrpSpPr/>
          <p:nvPr/>
        </p:nvGrpSpPr>
        <p:grpSpPr>
          <a:xfrm rot="0">
            <a:off x="15270480" y="2596896"/>
            <a:ext cx="2377440" cy="1828800"/>
            <a:chOff x="0" y="0"/>
            <a:chExt cx="3169920" cy="2438400"/>
          </a:xfrm>
        </p:grpSpPr>
        <p:sp>
          <p:nvSpPr>
            <p:cNvPr name="Freeform 71" id="71"/>
            <p:cNvSpPr/>
            <p:nvPr/>
          </p:nvSpPr>
          <p:spPr>
            <a:xfrm flipH="false" flipV="false" rot="0">
              <a:off x="0" y="0"/>
              <a:ext cx="3169920" cy="2438400"/>
            </a:xfrm>
            <a:custGeom>
              <a:avLst/>
              <a:gdLst/>
              <a:ahLst/>
              <a:cxnLst/>
              <a:rect r="r" b="b" t="t" l="l"/>
              <a:pathLst>
                <a:path h="2438400" w="3169920">
                  <a:moveTo>
                    <a:pt x="0" y="0"/>
                  </a:moveTo>
                  <a:lnTo>
                    <a:pt x="3169920" y="0"/>
                  </a:lnTo>
                  <a:lnTo>
                    <a:pt x="3169920" y="2438400"/>
                  </a:lnTo>
                  <a:lnTo>
                    <a:pt x="0" y="2438400"/>
                  </a:lnTo>
                  <a:close/>
                </a:path>
              </a:pathLst>
            </a:custGeom>
            <a:blipFill>
              <a:blip r:embed="rId3">
                <a:alphaModFix amt="0"/>
              </a:blip>
              <a:stretch>
                <a:fillRect l="-48695" t="0" r="-48695" b="0"/>
              </a:stretch>
            </a:blipFill>
          </p:spPr>
        </p:sp>
        <p:sp>
          <p:nvSpPr>
            <p:cNvPr name="TextBox 72" id="72"/>
            <p:cNvSpPr txBox="true"/>
            <p:nvPr/>
          </p:nvSpPr>
          <p:spPr>
            <a:xfrm>
              <a:off x="0" y="-38100"/>
              <a:ext cx="3169920" cy="2476500"/>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Beam Search</a:t>
              </a:r>
            </a:p>
            <a:p>
              <a:pPr algn="ctr">
                <a:lnSpc>
                  <a:spcPts val="2039"/>
                </a:lnSpc>
              </a:pPr>
              <a:r>
                <a:rPr lang="en-US" sz="1700" b="true">
                  <a:solidFill>
                    <a:srgbClr val="FFFFFF"/>
                  </a:solidFill>
                  <a:latin typeface="Calibri (MS) Bold"/>
                  <a:ea typeface="Calibri (MS) Bold"/>
                  <a:cs typeface="Calibri (MS) Bold"/>
                  <a:sym typeface="Calibri (MS) Bold"/>
                </a:rPr>
                <a:t>+ CLIP Rank</a:t>
              </a:r>
            </a:p>
          </p:txBody>
        </p:sp>
      </p:grpSp>
      <p:grpSp>
        <p:nvGrpSpPr>
          <p:cNvPr name="Group 73" id="73"/>
          <p:cNvGrpSpPr/>
          <p:nvPr/>
        </p:nvGrpSpPr>
        <p:grpSpPr>
          <a:xfrm rot="0">
            <a:off x="8676637" y="4415533"/>
            <a:ext cx="20317" cy="751837"/>
            <a:chOff x="0" y="0"/>
            <a:chExt cx="27089" cy="1002449"/>
          </a:xfrm>
        </p:grpSpPr>
        <p:sp>
          <p:nvSpPr>
            <p:cNvPr name="Freeform 74" id="74"/>
            <p:cNvSpPr/>
            <p:nvPr/>
          </p:nvSpPr>
          <p:spPr>
            <a:xfrm flipH="false" flipV="false" rot="0">
              <a:off x="0" y="13462"/>
              <a:ext cx="27051" cy="975360"/>
            </a:xfrm>
            <a:custGeom>
              <a:avLst/>
              <a:gdLst/>
              <a:ahLst/>
              <a:cxnLst/>
              <a:rect r="r" b="b" t="t" l="l"/>
              <a:pathLst>
                <a:path h="975360" w="27051">
                  <a:moveTo>
                    <a:pt x="27051" y="189738"/>
                  </a:moveTo>
                  <a:lnTo>
                    <a:pt x="27051" y="271018"/>
                  </a:lnTo>
                  <a:lnTo>
                    <a:pt x="0" y="271018"/>
                  </a:lnTo>
                  <a:lnTo>
                    <a:pt x="0" y="189738"/>
                  </a:lnTo>
                  <a:close/>
                  <a:moveTo>
                    <a:pt x="0" y="379349"/>
                  </a:moveTo>
                  <a:lnTo>
                    <a:pt x="0" y="460629"/>
                  </a:lnTo>
                  <a:lnTo>
                    <a:pt x="0" y="379349"/>
                  </a:lnTo>
                  <a:close/>
                  <a:moveTo>
                    <a:pt x="0" y="568960"/>
                  </a:moveTo>
                  <a:lnTo>
                    <a:pt x="0" y="650240"/>
                  </a:lnTo>
                  <a:lnTo>
                    <a:pt x="0" y="568960"/>
                  </a:lnTo>
                  <a:close/>
                  <a:moveTo>
                    <a:pt x="0" y="758571"/>
                  </a:moveTo>
                  <a:lnTo>
                    <a:pt x="0" y="839851"/>
                  </a:lnTo>
                  <a:lnTo>
                    <a:pt x="0" y="758698"/>
                  </a:lnTo>
                  <a:close/>
                  <a:moveTo>
                    <a:pt x="0" y="948309"/>
                  </a:moveTo>
                  <a:lnTo>
                    <a:pt x="0" y="975360"/>
                  </a:lnTo>
                  <a:lnTo>
                    <a:pt x="0" y="948309"/>
                  </a:lnTo>
                  <a:close/>
                  <a:moveTo>
                    <a:pt x="0" y="0"/>
                  </a:moveTo>
                  <a:lnTo>
                    <a:pt x="0" y="81280"/>
                  </a:lnTo>
                  <a:lnTo>
                    <a:pt x="0" y="127"/>
                  </a:lnTo>
                  <a:close/>
                </a:path>
              </a:pathLst>
            </a:custGeom>
            <a:solidFill>
              <a:srgbClr val="0D9488"/>
            </a:solidFill>
          </p:spPr>
        </p:sp>
      </p:grpSp>
      <p:grpSp>
        <p:nvGrpSpPr>
          <p:cNvPr name="Group 75" id="75"/>
          <p:cNvGrpSpPr/>
          <p:nvPr/>
        </p:nvGrpSpPr>
        <p:grpSpPr>
          <a:xfrm rot="0">
            <a:off x="8676637" y="5147053"/>
            <a:ext cx="4317997" cy="20317"/>
            <a:chOff x="0" y="0"/>
            <a:chExt cx="5757329" cy="27089"/>
          </a:xfrm>
        </p:grpSpPr>
        <p:sp>
          <p:nvSpPr>
            <p:cNvPr name="Freeform 76" id="76"/>
            <p:cNvSpPr/>
            <p:nvPr/>
          </p:nvSpPr>
          <p:spPr>
            <a:xfrm flipH="false" flipV="false" rot="0">
              <a:off x="13589" y="0"/>
              <a:ext cx="5730113" cy="27051"/>
            </a:xfrm>
            <a:custGeom>
              <a:avLst/>
              <a:gdLst/>
              <a:ahLst/>
              <a:cxnLst/>
              <a:rect r="r" b="b" t="t" l="l"/>
              <a:pathLst>
                <a:path h="27051" w="5730113">
                  <a:moveTo>
                    <a:pt x="189611" y="0"/>
                  </a:moveTo>
                  <a:lnTo>
                    <a:pt x="270891" y="0"/>
                  </a:lnTo>
                  <a:lnTo>
                    <a:pt x="270891" y="27051"/>
                  </a:lnTo>
                  <a:lnTo>
                    <a:pt x="189611" y="27051"/>
                  </a:lnTo>
                  <a:close/>
                  <a:moveTo>
                    <a:pt x="379222" y="0"/>
                  </a:moveTo>
                  <a:lnTo>
                    <a:pt x="460502" y="0"/>
                  </a:lnTo>
                  <a:lnTo>
                    <a:pt x="460502" y="27051"/>
                  </a:lnTo>
                  <a:lnTo>
                    <a:pt x="379222" y="27051"/>
                  </a:lnTo>
                  <a:close/>
                  <a:moveTo>
                    <a:pt x="568960" y="0"/>
                  </a:moveTo>
                  <a:lnTo>
                    <a:pt x="650240" y="0"/>
                  </a:lnTo>
                  <a:lnTo>
                    <a:pt x="650240" y="27051"/>
                  </a:lnTo>
                  <a:lnTo>
                    <a:pt x="568960" y="27051"/>
                  </a:lnTo>
                  <a:close/>
                  <a:moveTo>
                    <a:pt x="758571" y="0"/>
                  </a:moveTo>
                  <a:lnTo>
                    <a:pt x="839851" y="0"/>
                  </a:lnTo>
                  <a:lnTo>
                    <a:pt x="839851" y="27051"/>
                  </a:lnTo>
                  <a:lnTo>
                    <a:pt x="758571" y="27051"/>
                  </a:lnTo>
                  <a:close/>
                  <a:moveTo>
                    <a:pt x="948182" y="0"/>
                  </a:moveTo>
                  <a:lnTo>
                    <a:pt x="1029462" y="0"/>
                  </a:lnTo>
                  <a:lnTo>
                    <a:pt x="1029462" y="27051"/>
                  </a:lnTo>
                  <a:lnTo>
                    <a:pt x="948182" y="27051"/>
                  </a:lnTo>
                  <a:close/>
                  <a:moveTo>
                    <a:pt x="1137920" y="0"/>
                  </a:moveTo>
                  <a:lnTo>
                    <a:pt x="1219200" y="0"/>
                  </a:lnTo>
                  <a:lnTo>
                    <a:pt x="1219200" y="27051"/>
                  </a:lnTo>
                  <a:lnTo>
                    <a:pt x="1137920" y="27051"/>
                  </a:lnTo>
                  <a:close/>
                  <a:moveTo>
                    <a:pt x="1327531" y="0"/>
                  </a:moveTo>
                  <a:lnTo>
                    <a:pt x="1408811" y="0"/>
                  </a:lnTo>
                  <a:lnTo>
                    <a:pt x="1408811" y="27051"/>
                  </a:lnTo>
                  <a:lnTo>
                    <a:pt x="1327531" y="27051"/>
                  </a:lnTo>
                  <a:close/>
                  <a:moveTo>
                    <a:pt x="1517142" y="27051"/>
                  </a:moveTo>
                  <a:lnTo>
                    <a:pt x="1598422" y="27051"/>
                  </a:lnTo>
                  <a:lnTo>
                    <a:pt x="1517142" y="27051"/>
                  </a:lnTo>
                  <a:close/>
                  <a:moveTo>
                    <a:pt x="1706753" y="27051"/>
                  </a:moveTo>
                  <a:lnTo>
                    <a:pt x="1788033" y="27051"/>
                  </a:lnTo>
                  <a:lnTo>
                    <a:pt x="1706753" y="27051"/>
                  </a:lnTo>
                  <a:close/>
                  <a:moveTo>
                    <a:pt x="1896491" y="0"/>
                  </a:moveTo>
                  <a:lnTo>
                    <a:pt x="1977771" y="0"/>
                  </a:lnTo>
                  <a:lnTo>
                    <a:pt x="1977771" y="27051"/>
                  </a:lnTo>
                  <a:lnTo>
                    <a:pt x="1896491" y="27051"/>
                  </a:lnTo>
                  <a:close/>
                  <a:moveTo>
                    <a:pt x="2086102" y="27051"/>
                  </a:moveTo>
                  <a:lnTo>
                    <a:pt x="2167382" y="27051"/>
                  </a:lnTo>
                  <a:lnTo>
                    <a:pt x="2086102" y="27051"/>
                  </a:lnTo>
                  <a:close/>
                  <a:moveTo>
                    <a:pt x="2275713" y="27051"/>
                  </a:moveTo>
                  <a:lnTo>
                    <a:pt x="2356993" y="27051"/>
                  </a:lnTo>
                  <a:lnTo>
                    <a:pt x="2275713" y="27051"/>
                  </a:lnTo>
                  <a:close/>
                  <a:moveTo>
                    <a:pt x="2465451" y="0"/>
                  </a:moveTo>
                  <a:lnTo>
                    <a:pt x="2546731" y="0"/>
                  </a:lnTo>
                  <a:lnTo>
                    <a:pt x="2546731" y="27051"/>
                  </a:lnTo>
                  <a:lnTo>
                    <a:pt x="2465451" y="27051"/>
                  </a:lnTo>
                  <a:close/>
                  <a:moveTo>
                    <a:pt x="2655062" y="27051"/>
                  </a:moveTo>
                  <a:lnTo>
                    <a:pt x="2736342" y="27051"/>
                  </a:lnTo>
                  <a:lnTo>
                    <a:pt x="2655062" y="27051"/>
                  </a:lnTo>
                  <a:close/>
                  <a:moveTo>
                    <a:pt x="2844673" y="27051"/>
                  </a:moveTo>
                  <a:lnTo>
                    <a:pt x="2925953" y="27051"/>
                  </a:lnTo>
                  <a:lnTo>
                    <a:pt x="2844673" y="27051"/>
                  </a:lnTo>
                  <a:close/>
                  <a:moveTo>
                    <a:pt x="3034411" y="0"/>
                  </a:moveTo>
                  <a:lnTo>
                    <a:pt x="3115691" y="0"/>
                  </a:lnTo>
                  <a:lnTo>
                    <a:pt x="3115691" y="27051"/>
                  </a:lnTo>
                  <a:lnTo>
                    <a:pt x="3034411" y="27051"/>
                  </a:lnTo>
                  <a:close/>
                  <a:moveTo>
                    <a:pt x="3224022" y="27051"/>
                  </a:moveTo>
                  <a:lnTo>
                    <a:pt x="3305302" y="27051"/>
                  </a:lnTo>
                  <a:lnTo>
                    <a:pt x="3224022" y="27051"/>
                  </a:lnTo>
                  <a:close/>
                  <a:moveTo>
                    <a:pt x="3413633" y="27051"/>
                  </a:moveTo>
                  <a:lnTo>
                    <a:pt x="3494913" y="27051"/>
                  </a:lnTo>
                  <a:lnTo>
                    <a:pt x="3413633" y="27051"/>
                  </a:lnTo>
                  <a:close/>
                  <a:moveTo>
                    <a:pt x="3603371" y="0"/>
                  </a:moveTo>
                  <a:lnTo>
                    <a:pt x="3684651" y="0"/>
                  </a:lnTo>
                  <a:lnTo>
                    <a:pt x="3684651" y="27051"/>
                  </a:lnTo>
                  <a:lnTo>
                    <a:pt x="3603371" y="27051"/>
                  </a:lnTo>
                  <a:close/>
                  <a:moveTo>
                    <a:pt x="3792982" y="27051"/>
                  </a:moveTo>
                  <a:lnTo>
                    <a:pt x="3874262" y="27051"/>
                  </a:lnTo>
                  <a:lnTo>
                    <a:pt x="3792982" y="27051"/>
                  </a:lnTo>
                  <a:close/>
                  <a:moveTo>
                    <a:pt x="3982593" y="27051"/>
                  </a:moveTo>
                  <a:lnTo>
                    <a:pt x="4063873" y="27051"/>
                  </a:lnTo>
                  <a:lnTo>
                    <a:pt x="3982593" y="27051"/>
                  </a:lnTo>
                  <a:close/>
                  <a:moveTo>
                    <a:pt x="4172331" y="0"/>
                  </a:moveTo>
                  <a:lnTo>
                    <a:pt x="4253611" y="0"/>
                  </a:lnTo>
                  <a:lnTo>
                    <a:pt x="4253611" y="27051"/>
                  </a:lnTo>
                  <a:lnTo>
                    <a:pt x="4172331" y="27051"/>
                  </a:lnTo>
                  <a:close/>
                  <a:moveTo>
                    <a:pt x="4361942" y="27051"/>
                  </a:moveTo>
                  <a:lnTo>
                    <a:pt x="4443222" y="27051"/>
                  </a:lnTo>
                  <a:lnTo>
                    <a:pt x="4361942" y="27051"/>
                  </a:lnTo>
                  <a:close/>
                  <a:moveTo>
                    <a:pt x="4551553" y="27051"/>
                  </a:moveTo>
                  <a:lnTo>
                    <a:pt x="4632833" y="27051"/>
                  </a:lnTo>
                  <a:lnTo>
                    <a:pt x="4551553" y="27051"/>
                  </a:lnTo>
                  <a:close/>
                  <a:moveTo>
                    <a:pt x="4741291" y="0"/>
                  </a:moveTo>
                  <a:lnTo>
                    <a:pt x="4822571" y="0"/>
                  </a:lnTo>
                  <a:lnTo>
                    <a:pt x="4822571" y="27051"/>
                  </a:lnTo>
                  <a:lnTo>
                    <a:pt x="4741291" y="27051"/>
                  </a:lnTo>
                  <a:close/>
                  <a:moveTo>
                    <a:pt x="4930902" y="27051"/>
                  </a:moveTo>
                  <a:lnTo>
                    <a:pt x="5012182" y="27051"/>
                  </a:lnTo>
                  <a:lnTo>
                    <a:pt x="4930902" y="27051"/>
                  </a:lnTo>
                  <a:close/>
                  <a:moveTo>
                    <a:pt x="5120513" y="27051"/>
                  </a:moveTo>
                  <a:lnTo>
                    <a:pt x="5201793" y="27051"/>
                  </a:lnTo>
                  <a:lnTo>
                    <a:pt x="5120513" y="27051"/>
                  </a:lnTo>
                  <a:close/>
                  <a:moveTo>
                    <a:pt x="5310251" y="0"/>
                  </a:moveTo>
                  <a:lnTo>
                    <a:pt x="5391531" y="0"/>
                  </a:lnTo>
                  <a:lnTo>
                    <a:pt x="5391531" y="27051"/>
                  </a:lnTo>
                  <a:lnTo>
                    <a:pt x="5310251" y="27051"/>
                  </a:lnTo>
                  <a:close/>
                  <a:moveTo>
                    <a:pt x="5499862" y="27051"/>
                  </a:moveTo>
                  <a:lnTo>
                    <a:pt x="5581142" y="27051"/>
                  </a:lnTo>
                  <a:lnTo>
                    <a:pt x="5499862" y="27051"/>
                  </a:lnTo>
                  <a:close/>
                  <a:moveTo>
                    <a:pt x="5689473" y="27051"/>
                  </a:moveTo>
                  <a:lnTo>
                    <a:pt x="5730113" y="27051"/>
                  </a:lnTo>
                  <a:lnTo>
                    <a:pt x="5689473" y="27051"/>
                  </a:lnTo>
                  <a:close/>
                  <a:moveTo>
                    <a:pt x="0" y="0"/>
                  </a:moveTo>
                  <a:lnTo>
                    <a:pt x="81280" y="0"/>
                  </a:lnTo>
                  <a:lnTo>
                    <a:pt x="81280" y="27051"/>
                  </a:lnTo>
                  <a:lnTo>
                    <a:pt x="0" y="27051"/>
                  </a:lnTo>
                  <a:close/>
                </a:path>
              </a:pathLst>
            </a:custGeom>
            <a:solidFill>
              <a:srgbClr val="0D9488"/>
            </a:solidFill>
          </p:spPr>
        </p:sp>
      </p:grpSp>
      <p:grpSp>
        <p:nvGrpSpPr>
          <p:cNvPr name="Group 77" id="77"/>
          <p:cNvGrpSpPr/>
          <p:nvPr/>
        </p:nvGrpSpPr>
        <p:grpSpPr>
          <a:xfrm rot="0">
            <a:off x="12974317" y="5147053"/>
            <a:ext cx="20317" cy="751837"/>
            <a:chOff x="0" y="0"/>
            <a:chExt cx="27089" cy="1002449"/>
          </a:xfrm>
        </p:grpSpPr>
        <p:sp>
          <p:nvSpPr>
            <p:cNvPr name="Freeform 78" id="78"/>
            <p:cNvSpPr/>
            <p:nvPr/>
          </p:nvSpPr>
          <p:spPr>
            <a:xfrm flipH="false" flipV="false" rot="0">
              <a:off x="0" y="13462"/>
              <a:ext cx="27051" cy="975360"/>
            </a:xfrm>
            <a:custGeom>
              <a:avLst/>
              <a:gdLst/>
              <a:ahLst/>
              <a:cxnLst/>
              <a:rect r="r" b="b" t="t" l="l"/>
              <a:pathLst>
                <a:path h="975360" w="27051">
                  <a:moveTo>
                    <a:pt x="27051" y="189738"/>
                  </a:moveTo>
                  <a:lnTo>
                    <a:pt x="27051" y="271018"/>
                  </a:lnTo>
                  <a:lnTo>
                    <a:pt x="0" y="271018"/>
                  </a:lnTo>
                  <a:lnTo>
                    <a:pt x="0" y="189738"/>
                  </a:lnTo>
                  <a:close/>
                  <a:moveTo>
                    <a:pt x="0" y="379349"/>
                  </a:moveTo>
                  <a:lnTo>
                    <a:pt x="0" y="460629"/>
                  </a:lnTo>
                  <a:lnTo>
                    <a:pt x="0" y="379349"/>
                  </a:lnTo>
                  <a:close/>
                  <a:moveTo>
                    <a:pt x="0" y="568960"/>
                  </a:moveTo>
                  <a:lnTo>
                    <a:pt x="0" y="650240"/>
                  </a:lnTo>
                  <a:lnTo>
                    <a:pt x="0" y="568960"/>
                  </a:lnTo>
                  <a:close/>
                  <a:moveTo>
                    <a:pt x="0" y="758571"/>
                  </a:moveTo>
                  <a:lnTo>
                    <a:pt x="0" y="839851"/>
                  </a:lnTo>
                  <a:lnTo>
                    <a:pt x="0" y="758698"/>
                  </a:lnTo>
                  <a:close/>
                  <a:moveTo>
                    <a:pt x="0" y="948309"/>
                  </a:moveTo>
                  <a:lnTo>
                    <a:pt x="0" y="975360"/>
                  </a:lnTo>
                  <a:lnTo>
                    <a:pt x="0" y="948309"/>
                  </a:lnTo>
                  <a:close/>
                  <a:moveTo>
                    <a:pt x="0" y="0"/>
                  </a:moveTo>
                  <a:lnTo>
                    <a:pt x="0" y="81280"/>
                  </a:lnTo>
                  <a:lnTo>
                    <a:pt x="0" y="127"/>
                  </a:lnTo>
                  <a:close/>
                </a:path>
              </a:pathLst>
            </a:custGeom>
            <a:solidFill>
              <a:srgbClr val="0D9488"/>
            </a:solidFill>
          </p:spPr>
        </p:sp>
      </p:grpSp>
      <p:grpSp>
        <p:nvGrpSpPr>
          <p:cNvPr name="Group 79" id="79"/>
          <p:cNvGrpSpPr/>
          <p:nvPr/>
        </p:nvGrpSpPr>
        <p:grpSpPr>
          <a:xfrm rot="0">
            <a:off x="8869680" y="5266944"/>
            <a:ext cx="3657600" cy="402336"/>
            <a:chOff x="0" y="0"/>
            <a:chExt cx="4876800" cy="536448"/>
          </a:xfrm>
        </p:grpSpPr>
        <p:sp>
          <p:nvSpPr>
            <p:cNvPr name="Freeform 80" id="80"/>
            <p:cNvSpPr/>
            <p:nvPr/>
          </p:nvSpPr>
          <p:spPr>
            <a:xfrm flipH="false" flipV="false" rot="0">
              <a:off x="0" y="0"/>
              <a:ext cx="4876800" cy="536448"/>
            </a:xfrm>
            <a:custGeom>
              <a:avLst/>
              <a:gdLst/>
              <a:ahLst/>
              <a:cxnLst/>
              <a:rect r="r" b="b" t="t" l="l"/>
              <a:pathLst>
                <a:path h="536448" w="4876800">
                  <a:moveTo>
                    <a:pt x="0" y="0"/>
                  </a:moveTo>
                  <a:lnTo>
                    <a:pt x="4876800" y="0"/>
                  </a:lnTo>
                  <a:lnTo>
                    <a:pt x="4876800" y="536448"/>
                  </a:lnTo>
                  <a:lnTo>
                    <a:pt x="0" y="536448"/>
                  </a:lnTo>
                  <a:close/>
                </a:path>
              </a:pathLst>
            </a:custGeom>
            <a:blipFill>
              <a:blip r:embed="rId3">
                <a:alphaModFix amt="0"/>
              </a:blip>
              <a:stretch>
                <a:fillRect l="0" t="-127136" r="0" b="-127136"/>
              </a:stretch>
            </a:blipFill>
          </p:spPr>
        </p:sp>
        <p:sp>
          <p:nvSpPr>
            <p:cNvPr name="TextBox 81" id="81"/>
            <p:cNvSpPr txBox="true"/>
            <p:nvPr/>
          </p:nvSpPr>
          <p:spPr>
            <a:xfrm>
              <a:off x="0" y="-38100"/>
              <a:ext cx="4876800" cy="574548"/>
            </a:xfrm>
            <a:prstGeom prst="rect">
              <a:avLst/>
            </a:prstGeom>
          </p:spPr>
          <p:txBody>
            <a:bodyPr anchor="ctr" rtlCol="false" tIns="0" lIns="0" bIns="0" rIns="0"/>
            <a:lstStyle/>
            <a:p>
              <a:pPr algn="l">
                <a:lnSpc>
                  <a:spcPts val="1800"/>
                </a:lnSpc>
              </a:pPr>
              <a:r>
                <a:rPr lang="en-US" sz="1500">
                  <a:solidFill>
                    <a:srgbClr val="0D9488"/>
                  </a:solidFill>
                  <a:latin typeface="Calibri (MS)"/>
                  <a:ea typeface="Calibri (MS)"/>
                  <a:cs typeface="Calibri (MS)"/>
                  <a:sym typeface="Calibri (MS)"/>
                </a:rPr>
                <a:t>V_global (scene context)</a:t>
              </a:r>
            </a:p>
          </p:txBody>
        </p:sp>
      </p:grpSp>
      <p:grpSp>
        <p:nvGrpSpPr>
          <p:cNvPr name="Group 82" id="82"/>
          <p:cNvGrpSpPr/>
          <p:nvPr/>
        </p:nvGrpSpPr>
        <p:grpSpPr>
          <a:xfrm rot="0">
            <a:off x="13797277" y="5585203"/>
            <a:ext cx="20317" cy="660397"/>
            <a:chOff x="0" y="0"/>
            <a:chExt cx="27089" cy="880529"/>
          </a:xfrm>
        </p:grpSpPr>
        <p:sp>
          <p:nvSpPr>
            <p:cNvPr name="Freeform 83" id="83"/>
            <p:cNvSpPr/>
            <p:nvPr/>
          </p:nvSpPr>
          <p:spPr>
            <a:xfrm flipH="false" flipV="false" rot="0">
              <a:off x="0" y="13589"/>
              <a:ext cx="27051" cy="812800"/>
            </a:xfrm>
            <a:custGeom>
              <a:avLst/>
              <a:gdLst/>
              <a:ahLst/>
              <a:cxnLst/>
              <a:rect r="r" b="b" t="t" l="l"/>
              <a:pathLst>
                <a:path h="812800" w="27051">
                  <a:moveTo>
                    <a:pt x="27051" y="108331"/>
                  </a:moveTo>
                  <a:lnTo>
                    <a:pt x="27051" y="162560"/>
                  </a:lnTo>
                  <a:lnTo>
                    <a:pt x="0" y="162560"/>
                  </a:lnTo>
                  <a:lnTo>
                    <a:pt x="0" y="108331"/>
                  </a:lnTo>
                  <a:close/>
                  <a:moveTo>
                    <a:pt x="0" y="216662"/>
                  </a:moveTo>
                  <a:lnTo>
                    <a:pt x="0" y="270891"/>
                  </a:lnTo>
                  <a:lnTo>
                    <a:pt x="0" y="216662"/>
                  </a:lnTo>
                  <a:close/>
                  <a:moveTo>
                    <a:pt x="0" y="324993"/>
                  </a:moveTo>
                  <a:lnTo>
                    <a:pt x="0" y="379222"/>
                  </a:lnTo>
                  <a:lnTo>
                    <a:pt x="0" y="325120"/>
                  </a:lnTo>
                  <a:close/>
                  <a:moveTo>
                    <a:pt x="0" y="433451"/>
                  </a:moveTo>
                  <a:lnTo>
                    <a:pt x="0" y="487680"/>
                  </a:lnTo>
                  <a:lnTo>
                    <a:pt x="0" y="433451"/>
                  </a:lnTo>
                  <a:close/>
                  <a:moveTo>
                    <a:pt x="0" y="541782"/>
                  </a:moveTo>
                  <a:lnTo>
                    <a:pt x="0" y="596011"/>
                  </a:lnTo>
                  <a:lnTo>
                    <a:pt x="0" y="541782"/>
                  </a:lnTo>
                  <a:close/>
                  <a:moveTo>
                    <a:pt x="0" y="650113"/>
                  </a:moveTo>
                  <a:lnTo>
                    <a:pt x="0" y="704342"/>
                  </a:lnTo>
                  <a:lnTo>
                    <a:pt x="0" y="650240"/>
                  </a:lnTo>
                  <a:close/>
                  <a:moveTo>
                    <a:pt x="0" y="758571"/>
                  </a:moveTo>
                  <a:lnTo>
                    <a:pt x="0" y="812800"/>
                  </a:lnTo>
                  <a:lnTo>
                    <a:pt x="0" y="758571"/>
                  </a:lnTo>
                  <a:close/>
                  <a:moveTo>
                    <a:pt x="0" y="0"/>
                  </a:moveTo>
                  <a:lnTo>
                    <a:pt x="0" y="54102"/>
                  </a:lnTo>
                  <a:lnTo>
                    <a:pt x="0" y="0"/>
                  </a:lnTo>
                  <a:close/>
                </a:path>
              </a:pathLst>
            </a:custGeom>
            <a:solidFill>
              <a:srgbClr val="059669"/>
            </a:solidFill>
          </p:spPr>
        </p:sp>
      </p:grpSp>
      <p:grpSp>
        <p:nvGrpSpPr>
          <p:cNvPr name="Group 84" id="84"/>
          <p:cNvGrpSpPr/>
          <p:nvPr/>
        </p:nvGrpSpPr>
        <p:grpSpPr>
          <a:xfrm rot="0">
            <a:off x="11887200" y="6217158"/>
            <a:ext cx="3657600" cy="402336"/>
            <a:chOff x="0" y="0"/>
            <a:chExt cx="4876800" cy="536448"/>
          </a:xfrm>
        </p:grpSpPr>
        <p:sp>
          <p:nvSpPr>
            <p:cNvPr name="Freeform 85" id="85"/>
            <p:cNvSpPr/>
            <p:nvPr/>
          </p:nvSpPr>
          <p:spPr>
            <a:xfrm flipH="false" flipV="false" rot="0">
              <a:off x="0" y="0"/>
              <a:ext cx="4876800" cy="536448"/>
            </a:xfrm>
            <a:custGeom>
              <a:avLst/>
              <a:gdLst/>
              <a:ahLst/>
              <a:cxnLst/>
              <a:rect r="r" b="b" t="t" l="l"/>
              <a:pathLst>
                <a:path h="536448" w="4876800">
                  <a:moveTo>
                    <a:pt x="0" y="0"/>
                  </a:moveTo>
                  <a:lnTo>
                    <a:pt x="4876800" y="0"/>
                  </a:lnTo>
                  <a:lnTo>
                    <a:pt x="4876800" y="536448"/>
                  </a:lnTo>
                  <a:lnTo>
                    <a:pt x="0" y="536448"/>
                  </a:lnTo>
                  <a:close/>
                </a:path>
              </a:pathLst>
            </a:custGeom>
            <a:blipFill>
              <a:blip r:embed="rId3">
                <a:alphaModFix amt="0"/>
              </a:blip>
              <a:stretch>
                <a:fillRect l="0" t="-127136" r="0" b="-127136"/>
              </a:stretch>
            </a:blipFill>
          </p:spPr>
        </p:sp>
        <p:sp>
          <p:nvSpPr>
            <p:cNvPr name="TextBox 86" id="86"/>
            <p:cNvSpPr txBox="true"/>
            <p:nvPr/>
          </p:nvSpPr>
          <p:spPr>
            <a:xfrm>
              <a:off x="0" y="-38100"/>
              <a:ext cx="4876800" cy="574548"/>
            </a:xfrm>
            <a:prstGeom prst="rect">
              <a:avLst/>
            </a:prstGeom>
          </p:spPr>
          <p:txBody>
            <a:bodyPr anchor="ctr" rtlCol="false" tIns="0" lIns="0" bIns="0" rIns="0"/>
            <a:lstStyle/>
            <a:p>
              <a:pPr algn="l">
                <a:lnSpc>
                  <a:spcPts val="1800"/>
                </a:lnSpc>
              </a:pPr>
              <a:r>
                <a:rPr lang="en-US" sz="1500">
                  <a:solidFill>
                    <a:srgbClr val="059669"/>
                  </a:solidFill>
                  <a:latin typeface="Calibri (MS)"/>
                  <a:ea typeface="Calibri (MS)"/>
                  <a:cs typeface="Calibri (MS)"/>
                  <a:sym typeface="Calibri (MS)"/>
                </a:rPr>
                <a:t>CIDEr reward (SCST)</a:t>
              </a:r>
            </a:p>
          </p:txBody>
        </p:sp>
      </p:grpSp>
      <p:grpSp>
        <p:nvGrpSpPr>
          <p:cNvPr name="Group 87" id="87"/>
          <p:cNvGrpSpPr/>
          <p:nvPr/>
        </p:nvGrpSpPr>
        <p:grpSpPr>
          <a:xfrm rot="0">
            <a:off x="731520" y="5449062"/>
            <a:ext cx="6400800" cy="475488"/>
            <a:chOff x="0" y="0"/>
            <a:chExt cx="8534400" cy="633984"/>
          </a:xfrm>
        </p:grpSpPr>
        <p:sp>
          <p:nvSpPr>
            <p:cNvPr name="Freeform 88" id="88"/>
            <p:cNvSpPr/>
            <p:nvPr/>
          </p:nvSpPr>
          <p:spPr>
            <a:xfrm flipH="false" flipV="false" rot="0">
              <a:off x="0" y="0"/>
              <a:ext cx="8534400" cy="633984"/>
            </a:xfrm>
            <a:custGeom>
              <a:avLst/>
              <a:gdLst/>
              <a:ahLst/>
              <a:cxnLst/>
              <a:rect r="r" b="b" t="t" l="l"/>
              <a:pathLst>
                <a:path h="633984" w="8534400">
                  <a:moveTo>
                    <a:pt x="0" y="0"/>
                  </a:moveTo>
                  <a:lnTo>
                    <a:pt x="8534400" y="0"/>
                  </a:lnTo>
                  <a:lnTo>
                    <a:pt x="8534400" y="633984"/>
                  </a:lnTo>
                  <a:lnTo>
                    <a:pt x="0" y="633984"/>
                  </a:lnTo>
                  <a:close/>
                </a:path>
              </a:pathLst>
            </a:custGeom>
            <a:blipFill>
              <a:blip r:embed="rId3">
                <a:alphaModFix amt="0"/>
              </a:blip>
              <a:stretch>
                <a:fillRect l="0" t="-212298" r="0" b="-212298"/>
              </a:stretch>
            </a:blipFill>
          </p:spPr>
        </p:sp>
        <p:sp>
          <p:nvSpPr>
            <p:cNvPr name="TextBox 89" id="89"/>
            <p:cNvSpPr txBox="true"/>
            <p:nvPr/>
          </p:nvSpPr>
          <p:spPr>
            <a:xfrm>
              <a:off x="0" y="-47625"/>
              <a:ext cx="8534400" cy="681609"/>
            </a:xfrm>
            <a:prstGeom prst="rect">
              <a:avLst/>
            </a:prstGeom>
          </p:spPr>
          <p:txBody>
            <a:bodyPr anchor="ctr" rtlCol="false" tIns="0" lIns="0" bIns="0" rIns="0"/>
            <a:lstStyle/>
            <a:p>
              <a:pPr algn="l">
                <a:lnSpc>
                  <a:spcPts val="2640"/>
                </a:lnSpc>
              </a:pPr>
              <a:r>
                <a:rPr lang="en-US" sz="2200" b="true">
                  <a:solidFill>
                    <a:srgbClr val="1E293B"/>
                  </a:solidFill>
                  <a:latin typeface="Calibri (MS) Bold"/>
                  <a:ea typeface="Calibri (MS) Bold"/>
                  <a:cs typeface="Calibri (MS) Bold"/>
                  <a:sym typeface="Calibri (MS) Bold"/>
                </a:rPr>
                <a:t>Changes vs original TSFE:</a:t>
              </a:r>
            </a:p>
          </p:txBody>
        </p:sp>
      </p:grpSp>
      <p:grpSp>
        <p:nvGrpSpPr>
          <p:cNvPr name="Group 90" id="90"/>
          <p:cNvGrpSpPr/>
          <p:nvPr/>
        </p:nvGrpSpPr>
        <p:grpSpPr>
          <a:xfrm rot="0">
            <a:off x="718823" y="5948429"/>
            <a:ext cx="16850363" cy="537467"/>
            <a:chOff x="0" y="0"/>
            <a:chExt cx="22467151" cy="716623"/>
          </a:xfrm>
        </p:grpSpPr>
        <p:sp>
          <p:nvSpPr>
            <p:cNvPr name="Freeform 91" id="91"/>
            <p:cNvSpPr/>
            <p:nvPr/>
          </p:nvSpPr>
          <p:spPr>
            <a:xfrm flipH="false" flipV="false" rot="0">
              <a:off x="16891" y="16891"/>
              <a:ext cx="22433280" cy="682752"/>
            </a:xfrm>
            <a:custGeom>
              <a:avLst/>
              <a:gdLst/>
              <a:ahLst/>
              <a:cxnLst/>
              <a:rect r="r" b="b" t="t" l="l"/>
              <a:pathLst>
                <a:path h="682752" w="22433280">
                  <a:moveTo>
                    <a:pt x="0" y="0"/>
                  </a:moveTo>
                  <a:lnTo>
                    <a:pt x="22433280" y="0"/>
                  </a:lnTo>
                  <a:lnTo>
                    <a:pt x="22433280" y="682752"/>
                  </a:lnTo>
                  <a:lnTo>
                    <a:pt x="0" y="682752"/>
                  </a:lnTo>
                  <a:close/>
                </a:path>
              </a:pathLst>
            </a:custGeom>
            <a:solidFill>
              <a:srgbClr val="0A1628"/>
            </a:solidFill>
          </p:spPr>
        </p:sp>
        <p:sp>
          <p:nvSpPr>
            <p:cNvPr name="Freeform 92" id="92"/>
            <p:cNvSpPr/>
            <p:nvPr/>
          </p:nvSpPr>
          <p:spPr>
            <a:xfrm flipH="false" flipV="false" rot="0">
              <a:off x="0" y="0"/>
              <a:ext cx="22467063" cy="716536"/>
            </a:xfrm>
            <a:custGeom>
              <a:avLst/>
              <a:gdLst/>
              <a:ahLst/>
              <a:cxnLst/>
              <a:rect r="r" b="b" t="t" l="l"/>
              <a:pathLst>
                <a:path h="716536" w="22467063">
                  <a:moveTo>
                    <a:pt x="16891" y="0"/>
                  </a:moveTo>
                  <a:lnTo>
                    <a:pt x="22450171" y="0"/>
                  </a:lnTo>
                  <a:cubicBezTo>
                    <a:pt x="22459569" y="0"/>
                    <a:pt x="22467063" y="7620"/>
                    <a:pt x="22467063" y="16891"/>
                  </a:cubicBezTo>
                  <a:lnTo>
                    <a:pt x="22467063" y="699643"/>
                  </a:lnTo>
                  <a:cubicBezTo>
                    <a:pt x="22467063" y="709041"/>
                    <a:pt x="22459443" y="716534"/>
                    <a:pt x="22450171"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22450171" y="682752"/>
                  </a:lnTo>
                  <a:lnTo>
                    <a:pt x="22450171" y="699643"/>
                  </a:lnTo>
                  <a:lnTo>
                    <a:pt x="22433280" y="699643"/>
                  </a:lnTo>
                  <a:lnTo>
                    <a:pt x="22433280" y="16891"/>
                  </a:lnTo>
                  <a:lnTo>
                    <a:pt x="22450171" y="16891"/>
                  </a:lnTo>
                  <a:lnTo>
                    <a:pt x="22450171" y="33909"/>
                  </a:lnTo>
                  <a:lnTo>
                    <a:pt x="16891" y="33909"/>
                  </a:lnTo>
                  <a:close/>
                </a:path>
              </a:pathLst>
            </a:custGeom>
            <a:solidFill>
              <a:srgbClr val="0A1628"/>
            </a:solidFill>
          </p:spPr>
        </p:sp>
      </p:grpSp>
      <p:grpSp>
        <p:nvGrpSpPr>
          <p:cNvPr name="Group 93" id="93"/>
          <p:cNvGrpSpPr/>
          <p:nvPr/>
        </p:nvGrpSpPr>
        <p:grpSpPr>
          <a:xfrm rot="0">
            <a:off x="1005840" y="5961126"/>
            <a:ext cx="2743200" cy="512064"/>
            <a:chOff x="0" y="0"/>
            <a:chExt cx="3657600" cy="682752"/>
          </a:xfrm>
        </p:grpSpPr>
        <p:sp>
          <p:nvSpPr>
            <p:cNvPr name="Freeform 94" id="94"/>
            <p:cNvSpPr/>
            <p:nvPr/>
          </p:nvSpPr>
          <p:spPr>
            <a:xfrm flipH="false" flipV="false" rot="0">
              <a:off x="0" y="0"/>
              <a:ext cx="3657600" cy="682752"/>
            </a:xfrm>
            <a:custGeom>
              <a:avLst/>
              <a:gdLst/>
              <a:ahLst/>
              <a:cxnLst/>
              <a:rect r="r" b="b" t="t" l="l"/>
              <a:pathLst>
                <a:path h="682752" w="3657600">
                  <a:moveTo>
                    <a:pt x="0" y="0"/>
                  </a:moveTo>
                  <a:lnTo>
                    <a:pt x="3657600" y="0"/>
                  </a:lnTo>
                  <a:lnTo>
                    <a:pt x="3657600" y="682752"/>
                  </a:lnTo>
                  <a:lnTo>
                    <a:pt x="0" y="682752"/>
                  </a:lnTo>
                  <a:close/>
                </a:path>
              </a:pathLst>
            </a:custGeom>
            <a:blipFill>
              <a:blip r:embed="rId3">
                <a:alphaModFix amt="0"/>
              </a:blip>
              <a:stretch>
                <a:fillRect l="0" t="-54384" r="0" b="-54384"/>
              </a:stretch>
            </a:blipFill>
          </p:spPr>
        </p:sp>
        <p:sp>
          <p:nvSpPr>
            <p:cNvPr name="TextBox 95" id="95"/>
            <p:cNvSpPr txBox="true"/>
            <p:nvPr/>
          </p:nvSpPr>
          <p:spPr>
            <a:xfrm>
              <a:off x="0" y="-38100"/>
              <a:ext cx="3657600" cy="720852"/>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Module</a:t>
              </a:r>
            </a:p>
          </p:txBody>
        </p:sp>
      </p:grpSp>
      <p:grpSp>
        <p:nvGrpSpPr>
          <p:cNvPr name="Group 96" id="96"/>
          <p:cNvGrpSpPr/>
          <p:nvPr/>
        </p:nvGrpSpPr>
        <p:grpSpPr>
          <a:xfrm rot="0">
            <a:off x="3931920" y="5961126"/>
            <a:ext cx="5303520" cy="512064"/>
            <a:chOff x="0" y="0"/>
            <a:chExt cx="7071360" cy="682752"/>
          </a:xfrm>
        </p:grpSpPr>
        <p:sp>
          <p:nvSpPr>
            <p:cNvPr name="Freeform 97" id="97"/>
            <p:cNvSpPr/>
            <p:nvPr/>
          </p:nvSpPr>
          <p:spPr>
            <a:xfrm flipH="false" flipV="false" rot="0">
              <a:off x="0" y="0"/>
              <a:ext cx="7071360" cy="682752"/>
            </a:xfrm>
            <a:custGeom>
              <a:avLst/>
              <a:gdLst/>
              <a:ahLst/>
              <a:cxnLst/>
              <a:rect r="r" b="b" t="t" l="l"/>
              <a:pathLst>
                <a:path h="682752" w="7071360">
                  <a:moveTo>
                    <a:pt x="0" y="0"/>
                  </a:moveTo>
                  <a:lnTo>
                    <a:pt x="7071360" y="0"/>
                  </a:lnTo>
                  <a:lnTo>
                    <a:pt x="7071360" y="682752"/>
                  </a:lnTo>
                  <a:lnTo>
                    <a:pt x="0" y="682752"/>
                  </a:lnTo>
                  <a:close/>
                </a:path>
              </a:pathLst>
            </a:custGeom>
            <a:blipFill>
              <a:blip r:embed="rId3">
                <a:alphaModFix amt="0"/>
              </a:blip>
              <a:stretch>
                <a:fillRect l="0" t="-151809" r="0" b="-151809"/>
              </a:stretch>
            </a:blipFill>
          </p:spPr>
        </p:sp>
        <p:sp>
          <p:nvSpPr>
            <p:cNvPr name="TextBox 98" id="98"/>
            <p:cNvSpPr txBox="true"/>
            <p:nvPr/>
          </p:nvSpPr>
          <p:spPr>
            <a:xfrm>
              <a:off x="0" y="-38100"/>
              <a:ext cx="7071360" cy="720852"/>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Original</a:t>
              </a:r>
            </a:p>
          </p:txBody>
        </p:sp>
      </p:grpSp>
      <p:grpSp>
        <p:nvGrpSpPr>
          <p:cNvPr name="Group 99" id="99"/>
          <p:cNvGrpSpPr/>
          <p:nvPr/>
        </p:nvGrpSpPr>
        <p:grpSpPr>
          <a:xfrm rot="0">
            <a:off x="9509760" y="5961126"/>
            <a:ext cx="7772400" cy="512064"/>
            <a:chOff x="0" y="0"/>
            <a:chExt cx="10363200" cy="682752"/>
          </a:xfrm>
        </p:grpSpPr>
        <p:sp>
          <p:nvSpPr>
            <p:cNvPr name="Freeform 100" id="100"/>
            <p:cNvSpPr/>
            <p:nvPr/>
          </p:nvSpPr>
          <p:spPr>
            <a:xfrm flipH="false" flipV="false" rot="0">
              <a:off x="0" y="0"/>
              <a:ext cx="10363200" cy="682752"/>
            </a:xfrm>
            <a:custGeom>
              <a:avLst/>
              <a:gdLst/>
              <a:ahLst/>
              <a:cxnLst/>
              <a:rect r="r" b="b" t="t" l="l"/>
              <a:pathLst>
                <a:path h="682752" w="10363200">
                  <a:moveTo>
                    <a:pt x="0" y="0"/>
                  </a:moveTo>
                  <a:lnTo>
                    <a:pt x="10363200" y="0"/>
                  </a:lnTo>
                  <a:lnTo>
                    <a:pt x="10363200" y="682752"/>
                  </a:lnTo>
                  <a:lnTo>
                    <a:pt x="0" y="682752"/>
                  </a:lnTo>
                  <a:close/>
                </a:path>
              </a:pathLst>
            </a:custGeom>
            <a:blipFill>
              <a:blip r:embed="rId3">
                <a:alphaModFix amt="0"/>
              </a:blip>
              <a:stretch>
                <a:fillRect l="0" t="-245755" r="0" b="-245755"/>
              </a:stretch>
            </a:blipFill>
          </p:spPr>
        </p:sp>
        <p:sp>
          <p:nvSpPr>
            <p:cNvPr name="TextBox 101" id="101"/>
            <p:cNvSpPr txBox="true"/>
            <p:nvPr/>
          </p:nvSpPr>
          <p:spPr>
            <a:xfrm>
              <a:off x="0" y="-38100"/>
              <a:ext cx="10363200" cy="720852"/>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Enhanced</a:t>
              </a:r>
            </a:p>
          </p:txBody>
        </p:sp>
      </p:grpSp>
      <p:grpSp>
        <p:nvGrpSpPr>
          <p:cNvPr name="Group 102" id="102"/>
          <p:cNvGrpSpPr/>
          <p:nvPr/>
        </p:nvGrpSpPr>
        <p:grpSpPr>
          <a:xfrm rot="0">
            <a:off x="727710" y="6505956"/>
            <a:ext cx="16832580" cy="428244"/>
            <a:chOff x="0" y="0"/>
            <a:chExt cx="22443440" cy="570992"/>
          </a:xfrm>
        </p:grpSpPr>
        <p:sp>
          <p:nvSpPr>
            <p:cNvPr name="Freeform 103" id="103"/>
            <p:cNvSpPr/>
            <p:nvPr/>
          </p:nvSpPr>
          <p:spPr>
            <a:xfrm flipH="false" flipV="false" rot="0">
              <a:off x="5080" y="5080"/>
              <a:ext cx="22433281" cy="560832"/>
            </a:xfrm>
            <a:custGeom>
              <a:avLst/>
              <a:gdLst/>
              <a:ahLst/>
              <a:cxnLst/>
              <a:rect r="r" b="b" t="t" l="l"/>
              <a:pathLst>
                <a:path h="560832" w="22433281">
                  <a:moveTo>
                    <a:pt x="0" y="0"/>
                  </a:moveTo>
                  <a:lnTo>
                    <a:pt x="22433281" y="0"/>
                  </a:lnTo>
                  <a:lnTo>
                    <a:pt x="22433281" y="560832"/>
                  </a:lnTo>
                  <a:lnTo>
                    <a:pt x="0" y="560832"/>
                  </a:lnTo>
                  <a:close/>
                </a:path>
              </a:pathLst>
            </a:custGeom>
            <a:solidFill>
              <a:srgbClr val="F8FAFC"/>
            </a:solidFill>
          </p:spPr>
        </p:sp>
        <p:sp>
          <p:nvSpPr>
            <p:cNvPr name="Freeform 104" id="104"/>
            <p:cNvSpPr/>
            <p:nvPr/>
          </p:nvSpPr>
          <p:spPr>
            <a:xfrm flipH="false" flipV="false" rot="0">
              <a:off x="0" y="0"/>
              <a:ext cx="22443441" cy="570992"/>
            </a:xfrm>
            <a:custGeom>
              <a:avLst/>
              <a:gdLst/>
              <a:ahLst/>
              <a:cxnLst/>
              <a:rect r="r" b="b" t="t" l="l"/>
              <a:pathLst>
                <a:path h="570992" w="22443441">
                  <a:moveTo>
                    <a:pt x="5080" y="0"/>
                  </a:moveTo>
                  <a:lnTo>
                    <a:pt x="22438361" y="0"/>
                  </a:lnTo>
                  <a:cubicBezTo>
                    <a:pt x="22441154" y="0"/>
                    <a:pt x="22443441" y="2286"/>
                    <a:pt x="22443441" y="5080"/>
                  </a:cubicBezTo>
                  <a:lnTo>
                    <a:pt x="22443441" y="565912"/>
                  </a:lnTo>
                  <a:cubicBezTo>
                    <a:pt x="22443441" y="568706"/>
                    <a:pt x="22441154" y="570992"/>
                    <a:pt x="22438361" y="570992"/>
                  </a:cubicBezTo>
                  <a:lnTo>
                    <a:pt x="5080" y="570992"/>
                  </a:lnTo>
                  <a:cubicBezTo>
                    <a:pt x="2286" y="570992"/>
                    <a:pt x="0" y="568706"/>
                    <a:pt x="0" y="565912"/>
                  </a:cubicBezTo>
                  <a:lnTo>
                    <a:pt x="0" y="5080"/>
                  </a:lnTo>
                  <a:cubicBezTo>
                    <a:pt x="0" y="2286"/>
                    <a:pt x="2286" y="0"/>
                    <a:pt x="5080" y="0"/>
                  </a:cubicBezTo>
                  <a:moveTo>
                    <a:pt x="5080" y="10160"/>
                  </a:moveTo>
                  <a:lnTo>
                    <a:pt x="5080" y="5080"/>
                  </a:lnTo>
                  <a:lnTo>
                    <a:pt x="10160" y="5080"/>
                  </a:lnTo>
                  <a:lnTo>
                    <a:pt x="10160" y="565912"/>
                  </a:lnTo>
                  <a:lnTo>
                    <a:pt x="5080" y="565912"/>
                  </a:lnTo>
                  <a:lnTo>
                    <a:pt x="5080" y="560832"/>
                  </a:lnTo>
                  <a:lnTo>
                    <a:pt x="22438361" y="560832"/>
                  </a:lnTo>
                  <a:lnTo>
                    <a:pt x="22438361" y="565912"/>
                  </a:lnTo>
                  <a:lnTo>
                    <a:pt x="22433280" y="565912"/>
                  </a:lnTo>
                  <a:lnTo>
                    <a:pt x="22433280" y="5080"/>
                  </a:lnTo>
                  <a:lnTo>
                    <a:pt x="22438361" y="5080"/>
                  </a:lnTo>
                  <a:lnTo>
                    <a:pt x="22438361" y="10160"/>
                  </a:lnTo>
                  <a:lnTo>
                    <a:pt x="5080" y="10160"/>
                  </a:lnTo>
                  <a:close/>
                </a:path>
              </a:pathLst>
            </a:custGeom>
            <a:solidFill>
              <a:srgbClr val="E2E8F0"/>
            </a:solidFill>
          </p:spPr>
        </p:sp>
      </p:grpSp>
      <p:grpSp>
        <p:nvGrpSpPr>
          <p:cNvPr name="Group 105" id="105"/>
          <p:cNvGrpSpPr/>
          <p:nvPr/>
        </p:nvGrpSpPr>
        <p:grpSpPr>
          <a:xfrm rot="0">
            <a:off x="718823" y="6497069"/>
            <a:ext cx="116843" cy="446027"/>
            <a:chOff x="0" y="0"/>
            <a:chExt cx="155791" cy="594703"/>
          </a:xfrm>
        </p:grpSpPr>
        <p:sp>
          <p:nvSpPr>
            <p:cNvPr name="Freeform 106" id="106"/>
            <p:cNvSpPr/>
            <p:nvPr/>
          </p:nvSpPr>
          <p:spPr>
            <a:xfrm flipH="false" flipV="false" rot="0">
              <a:off x="16891" y="16891"/>
              <a:ext cx="121920" cy="560832"/>
            </a:xfrm>
            <a:custGeom>
              <a:avLst/>
              <a:gdLst/>
              <a:ahLst/>
              <a:cxnLst/>
              <a:rect r="r" b="b" t="t" l="l"/>
              <a:pathLst>
                <a:path h="560832" w="121920">
                  <a:moveTo>
                    <a:pt x="0" y="0"/>
                  </a:moveTo>
                  <a:lnTo>
                    <a:pt x="121920" y="0"/>
                  </a:lnTo>
                  <a:lnTo>
                    <a:pt x="121920" y="560832"/>
                  </a:lnTo>
                  <a:lnTo>
                    <a:pt x="0" y="560832"/>
                  </a:lnTo>
                  <a:close/>
                </a:path>
              </a:pathLst>
            </a:custGeom>
            <a:solidFill>
              <a:srgbClr val="0F6E56"/>
            </a:solidFill>
          </p:spPr>
        </p:sp>
        <p:sp>
          <p:nvSpPr>
            <p:cNvPr name="Freeform 107" id="107"/>
            <p:cNvSpPr/>
            <p:nvPr/>
          </p:nvSpPr>
          <p:spPr>
            <a:xfrm flipH="false" flipV="false" rot="0">
              <a:off x="0" y="0"/>
              <a:ext cx="155702" cy="594616"/>
            </a:xfrm>
            <a:custGeom>
              <a:avLst/>
              <a:gdLst/>
              <a:ahLst/>
              <a:cxnLst/>
              <a:rect r="r" b="b" t="t" l="l"/>
              <a:pathLst>
                <a:path h="594616" w="155702">
                  <a:moveTo>
                    <a:pt x="16891" y="0"/>
                  </a:moveTo>
                  <a:lnTo>
                    <a:pt x="138811" y="0"/>
                  </a:lnTo>
                  <a:cubicBezTo>
                    <a:pt x="148209" y="0"/>
                    <a:pt x="155702" y="7620"/>
                    <a:pt x="155702" y="16891"/>
                  </a:cubicBezTo>
                  <a:lnTo>
                    <a:pt x="155702" y="577723"/>
                  </a:lnTo>
                  <a:cubicBezTo>
                    <a:pt x="155702" y="587121"/>
                    <a:pt x="148082" y="594614"/>
                    <a:pt x="138811" y="594614"/>
                  </a:cubicBezTo>
                  <a:lnTo>
                    <a:pt x="16891" y="594614"/>
                  </a:lnTo>
                  <a:cubicBezTo>
                    <a:pt x="7620" y="594741"/>
                    <a:pt x="0" y="587121"/>
                    <a:pt x="0" y="577723"/>
                  </a:cubicBezTo>
                  <a:lnTo>
                    <a:pt x="0" y="16891"/>
                  </a:lnTo>
                  <a:cubicBezTo>
                    <a:pt x="0" y="7620"/>
                    <a:pt x="7620" y="0"/>
                    <a:pt x="16891" y="0"/>
                  </a:cubicBezTo>
                  <a:moveTo>
                    <a:pt x="16891" y="33909"/>
                  </a:moveTo>
                  <a:lnTo>
                    <a:pt x="16891" y="16891"/>
                  </a:lnTo>
                  <a:lnTo>
                    <a:pt x="33909" y="16891"/>
                  </a:lnTo>
                  <a:lnTo>
                    <a:pt x="33909" y="577723"/>
                  </a:lnTo>
                  <a:lnTo>
                    <a:pt x="16891" y="577723"/>
                  </a:lnTo>
                  <a:lnTo>
                    <a:pt x="16891" y="560832"/>
                  </a:lnTo>
                  <a:lnTo>
                    <a:pt x="138811" y="560832"/>
                  </a:lnTo>
                  <a:lnTo>
                    <a:pt x="138811" y="577723"/>
                  </a:lnTo>
                  <a:lnTo>
                    <a:pt x="121920" y="577723"/>
                  </a:lnTo>
                  <a:lnTo>
                    <a:pt x="121920" y="16891"/>
                  </a:lnTo>
                  <a:lnTo>
                    <a:pt x="138811" y="16891"/>
                  </a:lnTo>
                  <a:lnTo>
                    <a:pt x="138811" y="33909"/>
                  </a:lnTo>
                  <a:lnTo>
                    <a:pt x="16891" y="33909"/>
                  </a:lnTo>
                  <a:close/>
                </a:path>
              </a:pathLst>
            </a:custGeom>
            <a:solidFill>
              <a:srgbClr val="0F6E56"/>
            </a:solidFill>
          </p:spPr>
        </p:sp>
      </p:grpSp>
      <p:grpSp>
        <p:nvGrpSpPr>
          <p:cNvPr name="Group 108" id="108"/>
          <p:cNvGrpSpPr/>
          <p:nvPr/>
        </p:nvGrpSpPr>
        <p:grpSpPr>
          <a:xfrm rot="0">
            <a:off x="950976" y="6509766"/>
            <a:ext cx="2889504" cy="420624"/>
            <a:chOff x="0" y="0"/>
            <a:chExt cx="3852672" cy="560832"/>
          </a:xfrm>
        </p:grpSpPr>
        <p:sp>
          <p:nvSpPr>
            <p:cNvPr name="Freeform 109" id="109"/>
            <p:cNvSpPr/>
            <p:nvPr/>
          </p:nvSpPr>
          <p:spPr>
            <a:xfrm flipH="false" flipV="false" rot="0">
              <a:off x="0" y="0"/>
              <a:ext cx="3852672" cy="560832"/>
            </a:xfrm>
            <a:custGeom>
              <a:avLst/>
              <a:gdLst/>
              <a:ahLst/>
              <a:cxnLst/>
              <a:rect r="r" b="b" t="t" l="l"/>
              <a:pathLst>
                <a:path h="560832" w="3852672">
                  <a:moveTo>
                    <a:pt x="0" y="0"/>
                  </a:moveTo>
                  <a:lnTo>
                    <a:pt x="3852672" y="0"/>
                  </a:lnTo>
                  <a:lnTo>
                    <a:pt x="3852672" y="560832"/>
                  </a:lnTo>
                  <a:lnTo>
                    <a:pt x="0" y="560832"/>
                  </a:lnTo>
                  <a:close/>
                </a:path>
              </a:pathLst>
            </a:custGeom>
            <a:blipFill>
              <a:blip r:embed="rId3">
                <a:alphaModFix amt="0"/>
              </a:blip>
              <a:stretch>
                <a:fillRect l="0" t="-83853" r="0" b="-83853"/>
              </a:stretch>
            </a:blipFill>
          </p:spPr>
        </p:sp>
        <p:sp>
          <p:nvSpPr>
            <p:cNvPr name="TextBox 110" id="110"/>
            <p:cNvSpPr txBox="true"/>
            <p:nvPr/>
          </p:nvSpPr>
          <p:spPr>
            <a:xfrm>
              <a:off x="0" y="-38100"/>
              <a:ext cx="3852672" cy="598932"/>
            </a:xfrm>
            <a:prstGeom prst="rect">
              <a:avLst/>
            </a:prstGeom>
          </p:spPr>
          <p:txBody>
            <a:bodyPr anchor="ctr" rtlCol="false" tIns="0" lIns="0" bIns="0" rIns="0"/>
            <a:lstStyle/>
            <a:p>
              <a:pPr algn="l">
                <a:lnSpc>
                  <a:spcPts val="2039"/>
                </a:lnSpc>
              </a:pPr>
              <a:r>
                <a:rPr lang="en-US" sz="1700" b="true">
                  <a:solidFill>
                    <a:srgbClr val="1E293B"/>
                  </a:solidFill>
                  <a:latin typeface="Calibri (MS) Bold"/>
                  <a:ea typeface="Calibri (MS) Bold"/>
                  <a:cs typeface="Calibri (MS) Bold"/>
                  <a:sym typeface="Calibri (MS) Bold"/>
                </a:rPr>
                <a:t>Backbone</a:t>
              </a:r>
            </a:p>
          </p:txBody>
        </p:sp>
      </p:grpSp>
      <p:grpSp>
        <p:nvGrpSpPr>
          <p:cNvPr name="Group 111" id="111"/>
          <p:cNvGrpSpPr/>
          <p:nvPr/>
        </p:nvGrpSpPr>
        <p:grpSpPr>
          <a:xfrm rot="0">
            <a:off x="3931920" y="6509766"/>
            <a:ext cx="5394960" cy="420624"/>
            <a:chOff x="0" y="0"/>
            <a:chExt cx="7193280" cy="560832"/>
          </a:xfrm>
        </p:grpSpPr>
        <p:sp>
          <p:nvSpPr>
            <p:cNvPr name="Freeform 112" id="112"/>
            <p:cNvSpPr/>
            <p:nvPr/>
          </p:nvSpPr>
          <p:spPr>
            <a:xfrm flipH="false" flipV="false" rot="0">
              <a:off x="0" y="0"/>
              <a:ext cx="7193280" cy="560832"/>
            </a:xfrm>
            <a:custGeom>
              <a:avLst/>
              <a:gdLst/>
              <a:ahLst/>
              <a:cxnLst/>
              <a:rect r="r" b="b" t="t" l="l"/>
              <a:pathLst>
                <a:path h="560832" w="7193280">
                  <a:moveTo>
                    <a:pt x="0" y="0"/>
                  </a:moveTo>
                  <a:lnTo>
                    <a:pt x="7193280" y="0"/>
                  </a:lnTo>
                  <a:lnTo>
                    <a:pt x="7193280" y="560832"/>
                  </a:lnTo>
                  <a:lnTo>
                    <a:pt x="0" y="560832"/>
                  </a:lnTo>
                  <a:close/>
                </a:path>
              </a:pathLst>
            </a:custGeom>
            <a:blipFill>
              <a:blip r:embed="rId3">
                <a:alphaModFix amt="0"/>
              </a:blip>
              <a:stretch>
                <a:fillRect l="0" t="-199916" r="0" b="-199916"/>
              </a:stretch>
            </a:blipFill>
          </p:spPr>
        </p:sp>
        <p:sp>
          <p:nvSpPr>
            <p:cNvPr name="TextBox 113" id="113"/>
            <p:cNvSpPr txBox="true"/>
            <p:nvPr/>
          </p:nvSpPr>
          <p:spPr>
            <a:xfrm>
              <a:off x="0" y="-38100"/>
              <a:ext cx="7193280" cy="598932"/>
            </a:xfrm>
            <a:prstGeom prst="rect">
              <a:avLst/>
            </a:prstGeom>
          </p:spPr>
          <p:txBody>
            <a:bodyPr anchor="ctr" rtlCol="false" tIns="0" lIns="0" bIns="0" rIns="0"/>
            <a:lstStyle/>
            <a:p>
              <a:pPr algn="l">
                <a:lnSpc>
                  <a:spcPts val="2039"/>
                </a:lnSpc>
              </a:pPr>
              <a:r>
                <a:rPr lang="en-US" sz="1700">
                  <a:solidFill>
                    <a:srgbClr val="E05B4B"/>
                  </a:solidFill>
                  <a:latin typeface="Calibri (MS)"/>
                  <a:ea typeface="Calibri (MS)"/>
                  <a:cs typeface="Calibri (MS)"/>
                  <a:sym typeface="Calibri (MS)"/>
                </a:rPr>
                <a:t>Swin-Base (ImageNet)</a:t>
              </a:r>
            </a:p>
          </p:txBody>
        </p:sp>
      </p:grpSp>
      <p:grpSp>
        <p:nvGrpSpPr>
          <p:cNvPr name="Group 114" id="114"/>
          <p:cNvGrpSpPr/>
          <p:nvPr/>
        </p:nvGrpSpPr>
        <p:grpSpPr>
          <a:xfrm rot="0">
            <a:off x="9509760" y="6509766"/>
            <a:ext cx="7863840" cy="420624"/>
            <a:chOff x="0" y="0"/>
            <a:chExt cx="10485120" cy="560832"/>
          </a:xfrm>
        </p:grpSpPr>
        <p:sp>
          <p:nvSpPr>
            <p:cNvPr name="Freeform 115" id="115"/>
            <p:cNvSpPr/>
            <p:nvPr/>
          </p:nvSpPr>
          <p:spPr>
            <a:xfrm flipH="false" flipV="false" rot="0">
              <a:off x="0" y="0"/>
              <a:ext cx="10485120" cy="560832"/>
            </a:xfrm>
            <a:custGeom>
              <a:avLst/>
              <a:gdLst/>
              <a:ahLst/>
              <a:cxnLst/>
              <a:rect r="r" b="b" t="t" l="l"/>
              <a:pathLst>
                <a:path h="560832" w="10485120">
                  <a:moveTo>
                    <a:pt x="0" y="0"/>
                  </a:moveTo>
                  <a:lnTo>
                    <a:pt x="10485120" y="0"/>
                  </a:lnTo>
                  <a:lnTo>
                    <a:pt x="10485120" y="560832"/>
                  </a:lnTo>
                  <a:lnTo>
                    <a:pt x="0" y="560832"/>
                  </a:lnTo>
                  <a:close/>
                </a:path>
              </a:pathLst>
            </a:custGeom>
            <a:blipFill>
              <a:blip r:embed="rId3">
                <a:alphaModFix amt="0"/>
              </a:blip>
              <a:stretch>
                <a:fillRect l="0" t="-314285" r="0" b="-314285"/>
              </a:stretch>
            </a:blipFill>
          </p:spPr>
        </p:sp>
        <p:sp>
          <p:nvSpPr>
            <p:cNvPr name="TextBox 116" id="116"/>
            <p:cNvSpPr txBox="true"/>
            <p:nvPr/>
          </p:nvSpPr>
          <p:spPr>
            <a:xfrm>
              <a:off x="0" y="-38100"/>
              <a:ext cx="10485120" cy="598932"/>
            </a:xfrm>
            <a:prstGeom prst="rect">
              <a:avLst/>
            </a:prstGeom>
          </p:spPr>
          <p:txBody>
            <a:bodyPr anchor="ctr" rtlCol="false" tIns="0" lIns="0" bIns="0" rIns="0"/>
            <a:lstStyle/>
            <a:p>
              <a:pPr algn="l">
                <a:lnSpc>
                  <a:spcPts val="2039"/>
                </a:lnSpc>
              </a:pPr>
              <a:r>
                <a:rPr lang="en-US" sz="1700" b="true">
                  <a:solidFill>
                    <a:srgbClr val="0F6E56"/>
                  </a:solidFill>
                  <a:latin typeface="Calibri (MS) Bold"/>
                  <a:ea typeface="Calibri (MS) Bold"/>
                  <a:cs typeface="Calibri (MS) Bold"/>
                  <a:sym typeface="Calibri (MS) Bold"/>
                </a:rPr>
                <a:t>→ SwinV2 / RemoteCLIP</a:t>
              </a:r>
            </a:p>
          </p:txBody>
        </p:sp>
      </p:grpSp>
      <p:grpSp>
        <p:nvGrpSpPr>
          <p:cNvPr name="Group 117" id="117"/>
          <p:cNvGrpSpPr/>
          <p:nvPr/>
        </p:nvGrpSpPr>
        <p:grpSpPr>
          <a:xfrm rot="0">
            <a:off x="727710" y="6944868"/>
            <a:ext cx="16832580" cy="428244"/>
            <a:chOff x="0" y="0"/>
            <a:chExt cx="22443440" cy="570992"/>
          </a:xfrm>
        </p:grpSpPr>
        <p:sp>
          <p:nvSpPr>
            <p:cNvPr name="Freeform 118" id="118"/>
            <p:cNvSpPr/>
            <p:nvPr/>
          </p:nvSpPr>
          <p:spPr>
            <a:xfrm flipH="false" flipV="false" rot="0">
              <a:off x="5080" y="5080"/>
              <a:ext cx="22433281" cy="560832"/>
            </a:xfrm>
            <a:custGeom>
              <a:avLst/>
              <a:gdLst/>
              <a:ahLst/>
              <a:cxnLst/>
              <a:rect r="r" b="b" t="t" l="l"/>
              <a:pathLst>
                <a:path h="560832" w="22433281">
                  <a:moveTo>
                    <a:pt x="0" y="0"/>
                  </a:moveTo>
                  <a:lnTo>
                    <a:pt x="22433281" y="0"/>
                  </a:lnTo>
                  <a:lnTo>
                    <a:pt x="22433281" y="560832"/>
                  </a:lnTo>
                  <a:lnTo>
                    <a:pt x="0" y="560832"/>
                  </a:lnTo>
                  <a:close/>
                </a:path>
              </a:pathLst>
            </a:custGeom>
            <a:solidFill>
              <a:srgbClr val="FFFFFF"/>
            </a:solidFill>
          </p:spPr>
        </p:sp>
        <p:sp>
          <p:nvSpPr>
            <p:cNvPr name="Freeform 119" id="119"/>
            <p:cNvSpPr/>
            <p:nvPr/>
          </p:nvSpPr>
          <p:spPr>
            <a:xfrm flipH="false" flipV="false" rot="0">
              <a:off x="0" y="0"/>
              <a:ext cx="22443441" cy="570992"/>
            </a:xfrm>
            <a:custGeom>
              <a:avLst/>
              <a:gdLst/>
              <a:ahLst/>
              <a:cxnLst/>
              <a:rect r="r" b="b" t="t" l="l"/>
              <a:pathLst>
                <a:path h="570992" w="22443441">
                  <a:moveTo>
                    <a:pt x="5080" y="0"/>
                  </a:moveTo>
                  <a:lnTo>
                    <a:pt x="22438361" y="0"/>
                  </a:lnTo>
                  <a:cubicBezTo>
                    <a:pt x="22441154" y="0"/>
                    <a:pt x="22443441" y="2286"/>
                    <a:pt x="22443441" y="5080"/>
                  </a:cubicBezTo>
                  <a:lnTo>
                    <a:pt x="22443441" y="565912"/>
                  </a:lnTo>
                  <a:cubicBezTo>
                    <a:pt x="22443441" y="568706"/>
                    <a:pt x="22441154" y="570992"/>
                    <a:pt x="22438361" y="570992"/>
                  </a:cubicBezTo>
                  <a:lnTo>
                    <a:pt x="5080" y="570992"/>
                  </a:lnTo>
                  <a:cubicBezTo>
                    <a:pt x="2286" y="570992"/>
                    <a:pt x="0" y="568706"/>
                    <a:pt x="0" y="565912"/>
                  </a:cubicBezTo>
                  <a:lnTo>
                    <a:pt x="0" y="5080"/>
                  </a:lnTo>
                  <a:cubicBezTo>
                    <a:pt x="0" y="2286"/>
                    <a:pt x="2286" y="0"/>
                    <a:pt x="5080" y="0"/>
                  </a:cubicBezTo>
                  <a:moveTo>
                    <a:pt x="5080" y="10160"/>
                  </a:moveTo>
                  <a:lnTo>
                    <a:pt x="5080" y="5080"/>
                  </a:lnTo>
                  <a:lnTo>
                    <a:pt x="10160" y="5080"/>
                  </a:lnTo>
                  <a:lnTo>
                    <a:pt x="10160" y="565912"/>
                  </a:lnTo>
                  <a:lnTo>
                    <a:pt x="5080" y="565912"/>
                  </a:lnTo>
                  <a:lnTo>
                    <a:pt x="5080" y="560832"/>
                  </a:lnTo>
                  <a:lnTo>
                    <a:pt x="22438361" y="560832"/>
                  </a:lnTo>
                  <a:lnTo>
                    <a:pt x="22438361" y="565912"/>
                  </a:lnTo>
                  <a:lnTo>
                    <a:pt x="22433280" y="565912"/>
                  </a:lnTo>
                  <a:lnTo>
                    <a:pt x="22433280" y="5080"/>
                  </a:lnTo>
                  <a:lnTo>
                    <a:pt x="22438361" y="5080"/>
                  </a:lnTo>
                  <a:lnTo>
                    <a:pt x="22438361" y="10160"/>
                  </a:lnTo>
                  <a:lnTo>
                    <a:pt x="5080" y="10160"/>
                  </a:lnTo>
                  <a:close/>
                </a:path>
              </a:pathLst>
            </a:custGeom>
            <a:solidFill>
              <a:srgbClr val="E2E8F0"/>
            </a:solidFill>
          </p:spPr>
        </p:sp>
      </p:grpSp>
      <p:grpSp>
        <p:nvGrpSpPr>
          <p:cNvPr name="Group 120" id="120"/>
          <p:cNvGrpSpPr/>
          <p:nvPr/>
        </p:nvGrpSpPr>
        <p:grpSpPr>
          <a:xfrm rot="0">
            <a:off x="718823" y="6935981"/>
            <a:ext cx="116843" cy="446027"/>
            <a:chOff x="0" y="0"/>
            <a:chExt cx="155791" cy="594703"/>
          </a:xfrm>
        </p:grpSpPr>
        <p:sp>
          <p:nvSpPr>
            <p:cNvPr name="Freeform 121" id="121"/>
            <p:cNvSpPr/>
            <p:nvPr/>
          </p:nvSpPr>
          <p:spPr>
            <a:xfrm flipH="false" flipV="false" rot="0">
              <a:off x="16891" y="16891"/>
              <a:ext cx="121920" cy="560832"/>
            </a:xfrm>
            <a:custGeom>
              <a:avLst/>
              <a:gdLst/>
              <a:ahLst/>
              <a:cxnLst/>
              <a:rect r="r" b="b" t="t" l="l"/>
              <a:pathLst>
                <a:path h="560832" w="121920">
                  <a:moveTo>
                    <a:pt x="0" y="0"/>
                  </a:moveTo>
                  <a:lnTo>
                    <a:pt x="121920" y="0"/>
                  </a:lnTo>
                  <a:lnTo>
                    <a:pt x="121920" y="560832"/>
                  </a:lnTo>
                  <a:lnTo>
                    <a:pt x="0" y="560832"/>
                  </a:lnTo>
                  <a:close/>
                </a:path>
              </a:pathLst>
            </a:custGeom>
            <a:solidFill>
              <a:srgbClr val="0D9488"/>
            </a:solidFill>
          </p:spPr>
        </p:sp>
        <p:sp>
          <p:nvSpPr>
            <p:cNvPr name="Freeform 122" id="122"/>
            <p:cNvSpPr/>
            <p:nvPr/>
          </p:nvSpPr>
          <p:spPr>
            <a:xfrm flipH="false" flipV="false" rot="0">
              <a:off x="0" y="0"/>
              <a:ext cx="155702" cy="594616"/>
            </a:xfrm>
            <a:custGeom>
              <a:avLst/>
              <a:gdLst/>
              <a:ahLst/>
              <a:cxnLst/>
              <a:rect r="r" b="b" t="t" l="l"/>
              <a:pathLst>
                <a:path h="594616" w="155702">
                  <a:moveTo>
                    <a:pt x="16891" y="0"/>
                  </a:moveTo>
                  <a:lnTo>
                    <a:pt x="138811" y="0"/>
                  </a:lnTo>
                  <a:cubicBezTo>
                    <a:pt x="148209" y="0"/>
                    <a:pt x="155702" y="7620"/>
                    <a:pt x="155702" y="16891"/>
                  </a:cubicBezTo>
                  <a:lnTo>
                    <a:pt x="155702" y="577723"/>
                  </a:lnTo>
                  <a:cubicBezTo>
                    <a:pt x="155702" y="587121"/>
                    <a:pt x="148082" y="594614"/>
                    <a:pt x="138811" y="594614"/>
                  </a:cubicBezTo>
                  <a:lnTo>
                    <a:pt x="16891" y="594614"/>
                  </a:lnTo>
                  <a:cubicBezTo>
                    <a:pt x="7620" y="594741"/>
                    <a:pt x="0" y="587121"/>
                    <a:pt x="0" y="577723"/>
                  </a:cubicBezTo>
                  <a:lnTo>
                    <a:pt x="0" y="16891"/>
                  </a:lnTo>
                  <a:cubicBezTo>
                    <a:pt x="0" y="7620"/>
                    <a:pt x="7620" y="0"/>
                    <a:pt x="16891" y="0"/>
                  </a:cubicBezTo>
                  <a:moveTo>
                    <a:pt x="16891" y="33909"/>
                  </a:moveTo>
                  <a:lnTo>
                    <a:pt x="16891" y="16891"/>
                  </a:lnTo>
                  <a:lnTo>
                    <a:pt x="33909" y="16891"/>
                  </a:lnTo>
                  <a:lnTo>
                    <a:pt x="33909" y="577723"/>
                  </a:lnTo>
                  <a:lnTo>
                    <a:pt x="16891" y="577723"/>
                  </a:lnTo>
                  <a:lnTo>
                    <a:pt x="16891" y="560832"/>
                  </a:lnTo>
                  <a:lnTo>
                    <a:pt x="138811" y="560832"/>
                  </a:lnTo>
                  <a:lnTo>
                    <a:pt x="138811" y="577723"/>
                  </a:lnTo>
                  <a:lnTo>
                    <a:pt x="121920" y="577723"/>
                  </a:lnTo>
                  <a:lnTo>
                    <a:pt x="121920" y="16891"/>
                  </a:lnTo>
                  <a:lnTo>
                    <a:pt x="138811" y="16891"/>
                  </a:lnTo>
                  <a:lnTo>
                    <a:pt x="138811" y="33909"/>
                  </a:lnTo>
                  <a:lnTo>
                    <a:pt x="16891" y="33909"/>
                  </a:lnTo>
                  <a:close/>
                </a:path>
              </a:pathLst>
            </a:custGeom>
            <a:solidFill>
              <a:srgbClr val="0D9488"/>
            </a:solidFill>
          </p:spPr>
        </p:sp>
      </p:grpSp>
      <p:grpSp>
        <p:nvGrpSpPr>
          <p:cNvPr name="Group 123" id="123"/>
          <p:cNvGrpSpPr/>
          <p:nvPr/>
        </p:nvGrpSpPr>
        <p:grpSpPr>
          <a:xfrm rot="0">
            <a:off x="950976" y="6948678"/>
            <a:ext cx="2889504" cy="420624"/>
            <a:chOff x="0" y="0"/>
            <a:chExt cx="3852672" cy="560832"/>
          </a:xfrm>
        </p:grpSpPr>
        <p:sp>
          <p:nvSpPr>
            <p:cNvPr name="Freeform 124" id="124"/>
            <p:cNvSpPr/>
            <p:nvPr/>
          </p:nvSpPr>
          <p:spPr>
            <a:xfrm flipH="false" flipV="false" rot="0">
              <a:off x="0" y="0"/>
              <a:ext cx="3852672" cy="560832"/>
            </a:xfrm>
            <a:custGeom>
              <a:avLst/>
              <a:gdLst/>
              <a:ahLst/>
              <a:cxnLst/>
              <a:rect r="r" b="b" t="t" l="l"/>
              <a:pathLst>
                <a:path h="560832" w="3852672">
                  <a:moveTo>
                    <a:pt x="0" y="0"/>
                  </a:moveTo>
                  <a:lnTo>
                    <a:pt x="3852672" y="0"/>
                  </a:lnTo>
                  <a:lnTo>
                    <a:pt x="3852672" y="560832"/>
                  </a:lnTo>
                  <a:lnTo>
                    <a:pt x="0" y="560832"/>
                  </a:lnTo>
                  <a:close/>
                </a:path>
              </a:pathLst>
            </a:custGeom>
            <a:blipFill>
              <a:blip r:embed="rId3">
                <a:alphaModFix amt="0"/>
              </a:blip>
              <a:stretch>
                <a:fillRect l="0" t="-83853" r="0" b="-83853"/>
              </a:stretch>
            </a:blipFill>
          </p:spPr>
        </p:sp>
        <p:sp>
          <p:nvSpPr>
            <p:cNvPr name="TextBox 125" id="125"/>
            <p:cNvSpPr txBox="true"/>
            <p:nvPr/>
          </p:nvSpPr>
          <p:spPr>
            <a:xfrm>
              <a:off x="0" y="-38100"/>
              <a:ext cx="3852672" cy="598932"/>
            </a:xfrm>
            <a:prstGeom prst="rect">
              <a:avLst/>
            </a:prstGeom>
          </p:spPr>
          <p:txBody>
            <a:bodyPr anchor="ctr" rtlCol="false" tIns="0" lIns="0" bIns="0" rIns="0"/>
            <a:lstStyle/>
            <a:p>
              <a:pPr algn="l">
                <a:lnSpc>
                  <a:spcPts val="2039"/>
                </a:lnSpc>
              </a:pPr>
              <a:r>
                <a:rPr lang="en-US" sz="1700" b="true">
                  <a:solidFill>
                    <a:srgbClr val="1E293B"/>
                  </a:solidFill>
                  <a:latin typeface="Calibri (MS) Bold"/>
                  <a:ea typeface="Calibri (MS) Bold"/>
                  <a:cs typeface="Calibri (MS) Bold"/>
                  <a:sym typeface="Calibri (MS) Bold"/>
                </a:rPr>
                <a:t>AMFF</a:t>
              </a:r>
            </a:p>
          </p:txBody>
        </p:sp>
      </p:grpSp>
      <p:grpSp>
        <p:nvGrpSpPr>
          <p:cNvPr name="Group 126" id="126"/>
          <p:cNvGrpSpPr/>
          <p:nvPr/>
        </p:nvGrpSpPr>
        <p:grpSpPr>
          <a:xfrm rot="0">
            <a:off x="3931920" y="6948678"/>
            <a:ext cx="5394960" cy="420624"/>
            <a:chOff x="0" y="0"/>
            <a:chExt cx="7193280" cy="560832"/>
          </a:xfrm>
        </p:grpSpPr>
        <p:sp>
          <p:nvSpPr>
            <p:cNvPr name="Freeform 127" id="127"/>
            <p:cNvSpPr/>
            <p:nvPr/>
          </p:nvSpPr>
          <p:spPr>
            <a:xfrm flipH="false" flipV="false" rot="0">
              <a:off x="0" y="0"/>
              <a:ext cx="7193280" cy="560832"/>
            </a:xfrm>
            <a:custGeom>
              <a:avLst/>
              <a:gdLst/>
              <a:ahLst/>
              <a:cxnLst/>
              <a:rect r="r" b="b" t="t" l="l"/>
              <a:pathLst>
                <a:path h="560832" w="7193280">
                  <a:moveTo>
                    <a:pt x="0" y="0"/>
                  </a:moveTo>
                  <a:lnTo>
                    <a:pt x="7193280" y="0"/>
                  </a:lnTo>
                  <a:lnTo>
                    <a:pt x="7193280" y="560832"/>
                  </a:lnTo>
                  <a:lnTo>
                    <a:pt x="0" y="560832"/>
                  </a:lnTo>
                  <a:close/>
                </a:path>
              </a:pathLst>
            </a:custGeom>
            <a:blipFill>
              <a:blip r:embed="rId3">
                <a:alphaModFix amt="0"/>
              </a:blip>
              <a:stretch>
                <a:fillRect l="0" t="-199916" r="0" b="-199916"/>
              </a:stretch>
            </a:blipFill>
          </p:spPr>
        </p:sp>
        <p:sp>
          <p:nvSpPr>
            <p:cNvPr name="TextBox 128" id="128"/>
            <p:cNvSpPr txBox="true"/>
            <p:nvPr/>
          </p:nvSpPr>
          <p:spPr>
            <a:xfrm>
              <a:off x="0" y="-38100"/>
              <a:ext cx="7193280" cy="598932"/>
            </a:xfrm>
            <a:prstGeom prst="rect">
              <a:avLst/>
            </a:prstGeom>
          </p:spPr>
          <p:txBody>
            <a:bodyPr anchor="ctr" rtlCol="false" tIns="0" lIns="0" bIns="0" rIns="0"/>
            <a:lstStyle/>
            <a:p>
              <a:pPr algn="l">
                <a:lnSpc>
                  <a:spcPts val="2039"/>
                </a:lnSpc>
              </a:pPr>
              <a:r>
                <a:rPr lang="en-US" sz="1700">
                  <a:solidFill>
                    <a:srgbClr val="E05B4B"/>
                  </a:solidFill>
                  <a:latin typeface="Calibri (MS)"/>
                  <a:ea typeface="Calibri (MS)"/>
                  <a:cs typeface="Calibri (MS)"/>
                  <a:sym typeface="Calibri (MS)"/>
                </a:rPr>
                <a:t>SENet channel attention</a:t>
              </a:r>
            </a:p>
          </p:txBody>
        </p:sp>
      </p:grpSp>
      <p:grpSp>
        <p:nvGrpSpPr>
          <p:cNvPr name="Group 129" id="129"/>
          <p:cNvGrpSpPr/>
          <p:nvPr/>
        </p:nvGrpSpPr>
        <p:grpSpPr>
          <a:xfrm rot="0">
            <a:off x="9509760" y="6948678"/>
            <a:ext cx="7863840" cy="420624"/>
            <a:chOff x="0" y="0"/>
            <a:chExt cx="10485120" cy="560832"/>
          </a:xfrm>
        </p:grpSpPr>
        <p:sp>
          <p:nvSpPr>
            <p:cNvPr name="Freeform 130" id="130"/>
            <p:cNvSpPr/>
            <p:nvPr/>
          </p:nvSpPr>
          <p:spPr>
            <a:xfrm flipH="false" flipV="false" rot="0">
              <a:off x="0" y="0"/>
              <a:ext cx="10485120" cy="560832"/>
            </a:xfrm>
            <a:custGeom>
              <a:avLst/>
              <a:gdLst/>
              <a:ahLst/>
              <a:cxnLst/>
              <a:rect r="r" b="b" t="t" l="l"/>
              <a:pathLst>
                <a:path h="560832" w="10485120">
                  <a:moveTo>
                    <a:pt x="0" y="0"/>
                  </a:moveTo>
                  <a:lnTo>
                    <a:pt x="10485120" y="0"/>
                  </a:lnTo>
                  <a:lnTo>
                    <a:pt x="10485120" y="560832"/>
                  </a:lnTo>
                  <a:lnTo>
                    <a:pt x="0" y="560832"/>
                  </a:lnTo>
                  <a:close/>
                </a:path>
              </a:pathLst>
            </a:custGeom>
            <a:blipFill>
              <a:blip r:embed="rId3">
                <a:alphaModFix amt="0"/>
              </a:blip>
              <a:stretch>
                <a:fillRect l="0" t="-314285" r="0" b="-314285"/>
              </a:stretch>
            </a:blipFill>
          </p:spPr>
        </p:sp>
        <p:sp>
          <p:nvSpPr>
            <p:cNvPr name="TextBox 131" id="131"/>
            <p:cNvSpPr txBox="true"/>
            <p:nvPr/>
          </p:nvSpPr>
          <p:spPr>
            <a:xfrm>
              <a:off x="0" y="-38100"/>
              <a:ext cx="10485120" cy="598932"/>
            </a:xfrm>
            <a:prstGeom prst="rect">
              <a:avLst/>
            </a:prstGeom>
          </p:spPr>
          <p:txBody>
            <a:bodyPr anchor="ctr" rtlCol="false" tIns="0" lIns="0" bIns="0" rIns="0"/>
            <a:lstStyle/>
            <a:p>
              <a:pPr algn="l">
                <a:lnSpc>
                  <a:spcPts val="2039"/>
                </a:lnSpc>
              </a:pPr>
              <a:r>
                <a:rPr lang="en-US" sz="1700" b="true">
                  <a:solidFill>
                    <a:srgbClr val="0F6E56"/>
                  </a:solidFill>
                  <a:latin typeface="Calibri (MS) Bold"/>
                  <a:ea typeface="Calibri (MS) Bold"/>
                  <a:cs typeface="Calibri (MS) Bold"/>
                  <a:sym typeface="Calibri (MS) Bold"/>
                </a:rPr>
                <a:t>→ CBAM (channel + spatial)</a:t>
              </a:r>
            </a:p>
          </p:txBody>
        </p:sp>
      </p:grpSp>
      <p:grpSp>
        <p:nvGrpSpPr>
          <p:cNvPr name="Group 132" id="132"/>
          <p:cNvGrpSpPr/>
          <p:nvPr/>
        </p:nvGrpSpPr>
        <p:grpSpPr>
          <a:xfrm rot="0">
            <a:off x="727710" y="7383780"/>
            <a:ext cx="16832580" cy="428244"/>
            <a:chOff x="0" y="0"/>
            <a:chExt cx="22443440" cy="570992"/>
          </a:xfrm>
        </p:grpSpPr>
        <p:sp>
          <p:nvSpPr>
            <p:cNvPr name="Freeform 133" id="133"/>
            <p:cNvSpPr/>
            <p:nvPr/>
          </p:nvSpPr>
          <p:spPr>
            <a:xfrm flipH="false" flipV="false" rot="0">
              <a:off x="5080" y="5080"/>
              <a:ext cx="22433281" cy="560832"/>
            </a:xfrm>
            <a:custGeom>
              <a:avLst/>
              <a:gdLst/>
              <a:ahLst/>
              <a:cxnLst/>
              <a:rect r="r" b="b" t="t" l="l"/>
              <a:pathLst>
                <a:path h="560832" w="22433281">
                  <a:moveTo>
                    <a:pt x="0" y="0"/>
                  </a:moveTo>
                  <a:lnTo>
                    <a:pt x="22433281" y="0"/>
                  </a:lnTo>
                  <a:lnTo>
                    <a:pt x="22433281" y="560832"/>
                  </a:lnTo>
                  <a:lnTo>
                    <a:pt x="0" y="560832"/>
                  </a:lnTo>
                  <a:close/>
                </a:path>
              </a:pathLst>
            </a:custGeom>
            <a:solidFill>
              <a:srgbClr val="F8FAFC"/>
            </a:solidFill>
          </p:spPr>
        </p:sp>
        <p:sp>
          <p:nvSpPr>
            <p:cNvPr name="Freeform 134" id="134"/>
            <p:cNvSpPr/>
            <p:nvPr/>
          </p:nvSpPr>
          <p:spPr>
            <a:xfrm flipH="false" flipV="false" rot="0">
              <a:off x="0" y="0"/>
              <a:ext cx="22443441" cy="570992"/>
            </a:xfrm>
            <a:custGeom>
              <a:avLst/>
              <a:gdLst/>
              <a:ahLst/>
              <a:cxnLst/>
              <a:rect r="r" b="b" t="t" l="l"/>
              <a:pathLst>
                <a:path h="570992" w="22443441">
                  <a:moveTo>
                    <a:pt x="5080" y="0"/>
                  </a:moveTo>
                  <a:lnTo>
                    <a:pt x="22438361" y="0"/>
                  </a:lnTo>
                  <a:cubicBezTo>
                    <a:pt x="22441154" y="0"/>
                    <a:pt x="22443441" y="2286"/>
                    <a:pt x="22443441" y="5080"/>
                  </a:cubicBezTo>
                  <a:lnTo>
                    <a:pt x="22443441" y="565912"/>
                  </a:lnTo>
                  <a:cubicBezTo>
                    <a:pt x="22443441" y="568706"/>
                    <a:pt x="22441154" y="570992"/>
                    <a:pt x="22438361" y="570992"/>
                  </a:cubicBezTo>
                  <a:lnTo>
                    <a:pt x="5080" y="570992"/>
                  </a:lnTo>
                  <a:cubicBezTo>
                    <a:pt x="2286" y="570992"/>
                    <a:pt x="0" y="568706"/>
                    <a:pt x="0" y="565912"/>
                  </a:cubicBezTo>
                  <a:lnTo>
                    <a:pt x="0" y="5080"/>
                  </a:lnTo>
                  <a:cubicBezTo>
                    <a:pt x="0" y="2286"/>
                    <a:pt x="2286" y="0"/>
                    <a:pt x="5080" y="0"/>
                  </a:cubicBezTo>
                  <a:moveTo>
                    <a:pt x="5080" y="10160"/>
                  </a:moveTo>
                  <a:lnTo>
                    <a:pt x="5080" y="5080"/>
                  </a:lnTo>
                  <a:lnTo>
                    <a:pt x="10160" y="5080"/>
                  </a:lnTo>
                  <a:lnTo>
                    <a:pt x="10160" y="565912"/>
                  </a:lnTo>
                  <a:lnTo>
                    <a:pt x="5080" y="565912"/>
                  </a:lnTo>
                  <a:lnTo>
                    <a:pt x="5080" y="560832"/>
                  </a:lnTo>
                  <a:lnTo>
                    <a:pt x="22438361" y="560832"/>
                  </a:lnTo>
                  <a:lnTo>
                    <a:pt x="22438361" y="565912"/>
                  </a:lnTo>
                  <a:lnTo>
                    <a:pt x="22433280" y="565912"/>
                  </a:lnTo>
                  <a:lnTo>
                    <a:pt x="22433280" y="5080"/>
                  </a:lnTo>
                  <a:lnTo>
                    <a:pt x="22438361" y="5080"/>
                  </a:lnTo>
                  <a:lnTo>
                    <a:pt x="22438361" y="10160"/>
                  </a:lnTo>
                  <a:lnTo>
                    <a:pt x="5080" y="10160"/>
                  </a:lnTo>
                  <a:close/>
                </a:path>
              </a:pathLst>
            </a:custGeom>
            <a:solidFill>
              <a:srgbClr val="E2E8F0"/>
            </a:solidFill>
          </p:spPr>
        </p:sp>
      </p:grpSp>
      <p:grpSp>
        <p:nvGrpSpPr>
          <p:cNvPr name="Group 135" id="135"/>
          <p:cNvGrpSpPr/>
          <p:nvPr/>
        </p:nvGrpSpPr>
        <p:grpSpPr>
          <a:xfrm rot="0">
            <a:off x="718823" y="7374893"/>
            <a:ext cx="116843" cy="446027"/>
            <a:chOff x="0" y="0"/>
            <a:chExt cx="155791" cy="594703"/>
          </a:xfrm>
        </p:grpSpPr>
        <p:sp>
          <p:nvSpPr>
            <p:cNvPr name="Freeform 136" id="136"/>
            <p:cNvSpPr/>
            <p:nvPr/>
          </p:nvSpPr>
          <p:spPr>
            <a:xfrm flipH="false" flipV="false" rot="0">
              <a:off x="16891" y="16891"/>
              <a:ext cx="121920" cy="560832"/>
            </a:xfrm>
            <a:custGeom>
              <a:avLst/>
              <a:gdLst/>
              <a:ahLst/>
              <a:cxnLst/>
              <a:rect r="r" b="b" t="t" l="l"/>
              <a:pathLst>
                <a:path h="560832" w="121920">
                  <a:moveTo>
                    <a:pt x="0" y="0"/>
                  </a:moveTo>
                  <a:lnTo>
                    <a:pt x="121920" y="0"/>
                  </a:lnTo>
                  <a:lnTo>
                    <a:pt x="121920" y="560832"/>
                  </a:lnTo>
                  <a:lnTo>
                    <a:pt x="0" y="560832"/>
                  </a:lnTo>
                  <a:close/>
                </a:path>
              </a:pathLst>
            </a:custGeom>
            <a:solidFill>
              <a:srgbClr val="0D9488"/>
            </a:solidFill>
          </p:spPr>
        </p:sp>
        <p:sp>
          <p:nvSpPr>
            <p:cNvPr name="Freeform 137" id="137"/>
            <p:cNvSpPr/>
            <p:nvPr/>
          </p:nvSpPr>
          <p:spPr>
            <a:xfrm flipH="false" flipV="false" rot="0">
              <a:off x="0" y="0"/>
              <a:ext cx="155702" cy="594616"/>
            </a:xfrm>
            <a:custGeom>
              <a:avLst/>
              <a:gdLst/>
              <a:ahLst/>
              <a:cxnLst/>
              <a:rect r="r" b="b" t="t" l="l"/>
              <a:pathLst>
                <a:path h="594616" w="155702">
                  <a:moveTo>
                    <a:pt x="16891" y="0"/>
                  </a:moveTo>
                  <a:lnTo>
                    <a:pt x="138811" y="0"/>
                  </a:lnTo>
                  <a:cubicBezTo>
                    <a:pt x="148209" y="0"/>
                    <a:pt x="155702" y="7620"/>
                    <a:pt x="155702" y="16891"/>
                  </a:cubicBezTo>
                  <a:lnTo>
                    <a:pt x="155702" y="577723"/>
                  </a:lnTo>
                  <a:cubicBezTo>
                    <a:pt x="155702" y="587121"/>
                    <a:pt x="148082" y="594614"/>
                    <a:pt x="138811" y="594614"/>
                  </a:cubicBezTo>
                  <a:lnTo>
                    <a:pt x="16891" y="594614"/>
                  </a:lnTo>
                  <a:cubicBezTo>
                    <a:pt x="7620" y="594741"/>
                    <a:pt x="0" y="587121"/>
                    <a:pt x="0" y="577723"/>
                  </a:cubicBezTo>
                  <a:lnTo>
                    <a:pt x="0" y="16891"/>
                  </a:lnTo>
                  <a:cubicBezTo>
                    <a:pt x="0" y="7620"/>
                    <a:pt x="7620" y="0"/>
                    <a:pt x="16891" y="0"/>
                  </a:cubicBezTo>
                  <a:moveTo>
                    <a:pt x="16891" y="33909"/>
                  </a:moveTo>
                  <a:lnTo>
                    <a:pt x="16891" y="16891"/>
                  </a:lnTo>
                  <a:lnTo>
                    <a:pt x="33909" y="16891"/>
                  </a:lnTo>
                  <a:lnTo>
                    <a:pt x="33909" y="577723"/>
                  </a:lnTo>
                  <a:lnTo>
                    <a:pt x="16891" y="577723"/>
                  </a:lnTo>
                  <a:lnTo>
                    <a:pt x="16891" y="560832"/>
                  </a:lnTo>
                  <a:lnTo>
                    <a:pt x="138811" y="560832"/>
                  </a:lnTo>
                  <a:lnTo>
                    <a:pt x="138811" y="577723"/>
                  </a:lnTo>
                  <a:lnTo>
                    <a:pt x="121920" y="577723"/>
                  </a:lnTo>
                  <a:lnTo>
                    <a:pt x="121920" y="16891"/>
                  </a:lnTo>
                  <a:lnTo>
                    <a:pt x="138811" y="16891"/>
                  </a:lnTo>
                  <a:lnTo>
                    <a:pt x="138811" y="33909"/>
                  </a:lnTo>
                  <a:lnTo>
                    <a:pt x="16891" y="33909"/>
                  </a:lnTo>
                  <a:close/>
                </a:path>
              </a:pathLst>
            </a:custGeom>
            <a:solidFill>
              <a:srgbClr val="0D9488"/>
            </a:solidFill>
          </p:spPr>
        </p:sp>
      </p:grpSp>
      <p:grpSp>
        <p:nvGrpSpPr>
          <p:cNvPr name="Group 138" id="138"/>
          <p:cNvGrpSpPr/>
          <p:nvPr/>
        </p:nvGrpSpPr>
        <p:grpSpPr>
          <a:xfrm rot="0">
            <a:off x="950976" y="7387590"/>
            <a:ext cx="2889504" cy="420624"/>
            <a:chOff x="0" y="0"/>
            <a:chExt cx="3852672" cy="560832"/>
          </a:xfrm>
        </p:grpSpPr>
        <p:sp>
          <p:nvSpPr>
            <p:cNvPr name="Freeform 139" id="139"/>
            <p:cNvSpPr/>
            <p:nvPr/>
          </p:nvSpPr>
          <p:spPr>
            <a:xfrm flipH="false" flipV="false" rot="0">
              <a:off x="0" y="0"/>
              <a:ext cx="3852672" cy="560832"/>
            </a:xfrm>
            <a:custGeom>
              <a:avLst/>
              <a:gdLst/>
              <a:ahLst/>
              <a:cxnLst/>
              <a:rect r="r" b="b" t="t" l="l"/>
              <a:pathLst>
                <a:path h="560832" w="3852672">
                  <a:moveTo>
                    <a:pt x="0" y="0"/>
                  </a:moveTo>
                  <a:lnTo>
                    <a:pt x="3852672" y="0"/>
                  </a:lnTo>
                  <a:lnTo>
                    <a:pt x="3852672" y="560832"/>
                  </a:lnTo>
                  <a:lnTo>
                    <a:pt x="0" y="560832"/>
                  </a:lnTo>
                  <a:close/>
                </a:path>
              </a:pathLst>
            </a:custGeom>
            <a:blipFill>
              <a:blip r:embed="rId3">
                <a:alphaModFix amt="0"/>
              </a:blip>
              <a:stretch>
                <a:fillRect l="0" t="-83853" r="0" b="-83853"/>
              </a:stretch>
            </a:blipFill>
          </p:spPr>
        </p:sp>
        <p:sp>
          <p:nvSpPr>
            <p:cNvPr name="TextBox 140" id="140"/>
            <p:cNvSpPr txBox="true"/>
            <p:nvPr/>
          </p:nvSpPr>
          <p:spPr>
            <a:xfrm>
              <a:off x="0" y="-38100"/>
              <a:ext cx="3852672" cy="598932"/>
            </a:xfrm>
            <a:prstGeom prst="rect">
              <a:avLst/>
            </a:prstGeom>
          </p:spPr>
          <p:txBody>
            <a:bodyPr anchor="ctr" rtlCol="false" tIns="0" lIns="0" bIns="0" rIns="0"/>
            <a:lstStyle/>
            <a:p>
              <a:pPr algn="l">
                <a:lnSpc>
                  <a:spcPts val="2039"/>
                </a:lnSpc>
              </a:pPr>
              <a:r>
                <a:rPr lang="en-US" sz="1700" b="true">
                  <a:solidFill>
                    <a:srgbClr val="1E293B"/>
                  </a:solidFill>
                  <a:latin typeface="Calibri (MS) Bold"/>
                  <a:ea typeface="Calibri (MS) Bold"/>
                  <a:cs typeface="Calibri (MS) Bold"/>
                  <a:sym typeface="Calibri (MS) Bold"/>
                </a:rPr>
                <a:t>Between AMFF</a:t>
              </a:r>
            </a:p>
          </p:txBody>
        </p:sp>
      </p:grpSp>
      <p:grpSp>
        <p:nvGrpSpPr>
          <p:cNvPr name="Group 141" id="141"/>
          <p:cNvGrpSpPr/>
          <p:nvPr/>
        </p:nvGrpSpPr>
        <p:grpSpPr>
          <a:xfrm rot="0">
            <a:off x="3931920" y="7387590"/>
            <a:ext cx="5394960" cy="420624"/>
            <a:chOff x="0" y="0"/>
            <a:chExt cx="7193280" cy="560832"/>
          </a:xfrm>
        </p:grpSpPr>
        <p:sp>
          <p:nvSpPr>
            <p:cNvPr name="Freeform 142" id="142"/>
            <p:cNvSpPr/>
            <p:nvPr/>
          </p:nvSpPr>
          <p:spPr>
            <a:xfrm flipH="false" flipV="false" rot="0">
              <a:off x="0" y="0"/>
              <a:ext cx="7193280" cy="560832"/>
            </a:xfrm>
            <a:custGeom>
              <a:avLst/>
              <a:gdLst/>
              <a:ahLst/>
              <a:cxnLst/>
              <a:rect r="r" b="b" t="t" l="l"/>
              <a:pathLst>
                <a:path h="560832" w="7193280">
                  <a:moveTo>
                    <a:pt x="0" y="0"/>
                  </a:moveTo>
                  <a:lnTo>
                    <a:pt x="7193280" y="0"/>
                  </a:lnTo>
                  <a:lnTo>
                    <a:pt x="7193280" y="560832"/>
                  </a:lnTo>
                  <a:lnTo>
                    <a:pt x="0" y="560832"/>
                  </a:lnTo>
                  <a:close/>
                </a:path>
              </a:pathLst>
            </a:custGeom>
            <a:blipFill>
              <a:blip r:embed="rId3">
                <a:alphaModFix amt="0"/>
              </a:blip>
              <a:stretch>
                <a:fillRect l="0" t="-199916" r="0" b="-199916"/>
              </a:stretch>
            </a:blipFill>
          </p:spPr>
        </p:sp>
        <p:sp>
          <p:nvSpPr>
            <p:cNvPr name="TextBox 143" id="143"/>
            <p:cNvSpPr txBox="true"/>
            <p:nvPr/>
          </p:nvSpPr>
          <p:spPr>
            <a:xfrm>
              <a:off x="0" y="-38100"/>
              <a:ext cx="7193280" cy="598932"/>
            </a:xfrm>
            <a:prstGeom prst="rect">
              <a:avLst/>
            </a:prstGeom>
          </p:spPr>
          <p:txBody>
            <a:bodyPr anchor="ctr" rtlCol="false" tIns="0" lIns="0" bIns="0" rIns="0"/>
            <a:lstStyle/>
            <a:p>
              <a:pPr algn="l">
                <a:lnSpc>
                  <a:spcPts val="2039"/>
                </a:lnSpc>
              </a:pPr>
              <a:r>
                <a:rPr lang="en-US" sz="1700">
                  <a:solidFill>
                    <a:srgbClr val="E05B4B"/>
                  </a:solidFill>
                  <a:latin typeface="Calibri (MS)"/>
                  <a:ea typeface="Calibri (MS)"/>
                  <a:cs typeface="Calibri (MS)"/>
                  <a:sym typeface="Calibri (MS)"/>
                </a:rPr>
                <a:t>—</a:t>
              </a:r>
            </a:p>
          </p:txBody>
        </p:sp>
      </p:grpSp>
      <p:grpSp>
        <p:nvGrpSpPr>
          <p:cNvPr name="Group 144" id="144"/>
          <p:cNvGrpSpPr/>
          <p:nvPr/>
        </p:nvGrpSpPr>
        <p:grpSpPr>
          <a:xfrm rot="0">
            <a:off x="9509760" y="7387590"/>
            <a:ext cx="7863840" cy="420624"/>
            <a:chOff x="0" y="0"/>
            <a:chExt cx="10485120" cy="560832"/>
          </a:xfrm>
        </p:grpSpPr>
        <p:sp>
          <p:nvSpPr>
            <p:cNvPr name="Freeform 145" id="145"/>
            <p:cNvSpPr/>
            <p:nvPr/>
          </p:nvSpPr>
          <p:spPr>
            <a:xfrm flipH="false" flipV="false" rot="0">
              <a:off x="0" y="0"/>
              <a:ext cx="10485120" cy="560832"/>
            </a:xfrm>
            <a:custGeom>
              <a:avLst/>
              <a:gdLst/>
              <a:ahLst/>
              <a:cxnLst/>
              <a:rect r="r" b="b" t="t" l="l"/>
              <a:pathLst>
                <a:path h="560832" w="10485120">
                  <a:moveTo>
                    <a:pt x="0" y="0"/>
                  </a:moveTo>
                  <a:lnTo>
                    <a:pt x="10485120" y="0"/>
                  </a:lnTo>
                  <a:lnTo>
                    <a:pt x="10485120" y="560832"/>
                  </a:lnTo>
                  <a:lnTo>
                    <a:pt x="0" y="560832"/>
                  </a:lnTo>
                  <a:close/>
                </a:path>
              </a:pathLst>
            </a:custGeom>
            <a:blipFill>
              <a:blip r:embed="rId3">
                <a:alphaModFix amt="0"/>
              </a:blip>
              <a:stretch>
                <a:fillRect l="0" t="-314285" r="0" b="-314285"/>
              </a:stretch>
            </a:blipFill>
          </p:spPr>
        </p:sp>
        <p:sp>
          <p:nvSpPr>
            <p:cNvPr name="TextBox 146" id="146"/>
            <p:cNvSpPr txBox="true"/>
            <p:nvPr/>
          </p:nvSpPr>
          <p:spPr>
            <a:xfrm>
              <a:off x="0" y="-38100"/>
              <a:ext cx="10485120" cy="598932"/>
            </a:xfrm>
            <a:prstGeom prst="rect">
              <a:avLst/>
            </a:prstGeom>
          </p:spPr>
          <p:txBody>
            <a:bodyPr anchor="ctr" rtlCol="false" tIns="0" lIns="0" bIns="0" rIns="0"/>
            <a:lstStyle/>
            <a:p>
              <a:pPr algn="l">
                <a:lnSpc>
                  <a:spcPts val="2039"/>
                </a:lnSpc>
              </a:pPr>
              <a:r>
                <a:rPr lang="en-US" sz="1700" b="true">
                  <a:solidFill>
                    <a:srgbClr val="0F6E56"/>
                  </a:solidFill>
                  <a:latin typeface="Calibri (MS) Bold"/>
                  <a:ea typeface="Calibri (MS) Bold"/>
                  <a:cs typeface="Calibri (MS) Bold"/>
                  <a:sym typeface="Calibri (MS) Bold"/>
                </a:rPr>
                <a:t>→ FPN top-down pathway</a:t>
              </a:r>
            </a:p>
          </p:txBody>
        </p:sp>
      </p:grpSp>
      <p:grpSp>
        <p:nvGrpSpPr>
          <p:cNvPr name="Group 147" id="147"/>
          <p:cNvGrpSpPr/>
          <p:nvPr/>
        </p:nvGrpSpPr>
        <p:grpSpPr>
          <a:xfrm rot="0">
            <a:off x="727710" y="7822692"/>
            <a:ext cx="16832580" cy="428244"/>
            <a:chOff x="0" y="0"/>
            <a:chExt cx="22443440" cy="570992"/>
          </a:xfrm>
        </p:grpSpPr>
        <p:sp>
          <p:nvSpPr>
            <p:cNvPr name="Freeform 148" id="148"/>
            <p:cNvSpPr/>
            <p:nvPr/>
          </p:nvSpPr>
          <p:spPr>
            <a:xfrm flipH="false" flipV="false" rot="0">
              <a:off x="5080" y="5080"/>
              <a:ext cx="22433281" cy="560832"/>
            </a:xfrm>
            <a:custGeom>
              <a:avLst/>
              <a:gdLst/>
              <a:ahLst/>
              <a:cxnLst/>
              <a:rect r="r" b="b" t="t" l="l"/>
              <a:pathLst>
                <a:path h="560832" w="22433281">
                  <a:moveTo>
                    <a:pt x="0" y="0"/>
                  </a:moveTo>
                  <a:lnTo>
                    <a:pt x="22433281" y="0"/>
                  </a:lnTo>
                  <a:lnTo>
                    <a:pt x="22433281" y="560832"/>
                  </a:lnTo>
                  <a:lnTo>
                    <a:pt x="0" y="560832"/>
                  </a:lnTo>
                  <a:close/>
                </a:path>
              </a:pathLst>
            </a:custGeom>
            <a:solidFill>
              <a:srgbClr val="FFFFFF"/>
            </a:solidFill>
          </p:spPr>
        </p:sp>
        <p:sp>
          <p:nvSpPr>
            <p:cNvPr name="Freeform 149" id="149"/>
            <p:cNvSpPr/>
            <p:nvPr/>
          </p:nvSpPr>
          <p:spPr>
            <a:xfrm flipH="false" flipV="false" rot="0">
              <a:off x="0" y="0"/>
              <a:ext cx="22443441" cy="570992"/>
            </a:xfrm>
            <a:custGeom>
              <a:avLst/>
              <a:gdLst/>
              <a:ahLst/>
              <a:cxnLst/>
              <a:rect r="r" b="b" t="t" l="l"/>
              <a:pathLst>
                <a:path h="570992" w="22443441">
                  <a:moveTo>
                    <a:pt x="5080" y="0"/>
                  </a:moveTo>
                  <a:lnTo>
                    <a:pt x="22438361" y="0"/>
                  </a:lnTo>
                  <a:cubicBezTo>
                    <a:pt x="22441154" y="0"/>
                    <a:pt x="22443441" y="2286"/>
                    <a:pt x="22443441" y="5080"/>
                  </a:cubicBezTo>
                  <a:lnTo>
                    <a:pt x="22443441" y="565912"/>
                  </a:lnTo>
                  <a:cubicBezTo>
                    <a:pt x="22443441" y="568706"/>
                    <a:pt x="22441154" y="570992"/>
                    <a:pt x="22438361" y="570992"/>
                  </a:cubicBezTo>
                  <a:lnTo>
                    <a:pt x="5080" y="570992"/>
                  </a:lnTo>
                  <a:cubicBezTo>
                    <a:pt x="2286" y="570992"/>
                    <a:pt x="0" y="568706"/>
                    <a:pt x="0" y="565912"/>
                  </a:cubicBezTo>
                  <a:lnTo>
                    <a:pt x="0" y="5080"/>
                  </a:lnTo>
                  <a:cubicBezTo>
                    <a:pt x="0" y="2286"/>
                    <a:pt x="2286" y="0"/>
                    <a:pt x="5080" y="0"/>
                  </a:cubicBezTo>
                  <a:moveTo>
                    <a:pt x="5080" y="10160"/>
                  </a:moveTo>
                  <a:lnTo>
                    <a:pt x="5080" y="5080"/>
                  </a:lnTo>
                  <a:lnTo>
                    <a:pt x="10160" y="5080"/>
                  </a:lnTo>
                  <a:lnTo>
                    <a:pt x="10160" y="565912"/>
                  </a:lnTo>
                  <a:lnTo>
                    <a:pt x="5080" y="565912"/>
                  </a:lnTo>
                  <a:lnTo>
                    <a:pt x="5080" y="560832"/>
                  </a:lnTo>
                  <a:lnTo>
                    <a:pt x="22438361" y="560832"/>
                  </a:lnTo>
                  <a:lnTo>
                    <a:pt x="22438361" y="565912"/>
                  </a:lnTo>
                  <a:lnTo>
                    <a:pt x="22433280" y="565912"/>
                  </a:lnTo>
                  <a:lnTo>
                    <a:pt x="22433280" y="5080"/>
                  </a:lnTo>
                  <a:lnTo>
                    <a:pt x="22438361" y="5080"/>
                  </a:lnTo>
                  <a:lnTo>
                    <a:pt x="22438361" y="10160"/>
                  </a:lnTo>
                  <a:lnTo>
                    <a:pt x="5080" y="10160"/>
                  </a:lnTo>
                  <a:close/>
                </a:path>
              </a:pathLst>
            </a:custGeom>
            <a:solidFill>
              <a:srgbClr val="E2E8F0"/>
            </a:solidFill>
          </p:spPr>
        </p:sp>
      </p:grpSp>
      <p:grpSp>
        <p:nvGrpSpPr>
          <p:cNvPr name="Group 150" id="150"/>
          <p:cNvGrpSpPr/>
          <p:nvPr/>
        </p:nvGrpSpPr>
        <p:grpSpPr>
          <a:xfrm rot="0">
            <a:off x="718823" y="7813805"/>
            <a:ext cx="116843" cy="446027"/>
            <a:chOff x="0" y="0"/>
            <a:chExt cx="155791" cy="594703"/>
          </a:xfrm>
        </p:grpSpPr>
        <p:sp>
          <p:nvSpPr>
            <p:cNvPr name="Freeform 151" id="151"/>
            <p:cNvSpPr/>
            <p:nvPr/>
          </p:nvSpPr>
          <p:spPr>
            <a:xfrm flipH="false" flipV="false" rot="0">
              <a:off x="16891" y="16891"/>
              <a:ext cx="121920" cy="560832"/>
            </a:xfrm>
            <a:custGeom>
              <a:avLst/>
              <a:gdLst/>
              <a:ahLst/>
              <a:cxnLst/>
              <a:rect r="r" b="b" t="t" l="l"/>
              <a:pathLst>
                <a:path h="560832" w="121920">
                  <a:moveTo>
                    <a:pt x="0" y="0"/>
                  </a:moveTo>
                  <a:lnTo>
                    <a:pt x="121920" y="0"/>
                  </a:lnTo>
                  <a:lnTo>
                    <a:pt x="121920" y="560832"/>
                  </a:lnTo>
                  <a:lnTo>
                    <a:pt x="0" y="560832"/>
                  </a:lnTo>
                  <a:close/>
                </a:path>
              </a:pathLst>
            </a:custGeom>
            <a:solidFill>
              <a:srgbClr val="7C3AED"/>
            </a:solidFill>
          </p:spPr>
        </p:sp>
        <p:sp>
          <p:nvSpPr>
            <p:cNvPr name="Freeform 152" id="152"/>
            <p:cNvSpPr/>
            <p:nvPr/>
          </p:nvSpPr>
          <p:spPr>
            <a:xfrm flipH="false" flipV="false" rot="0">
              <a:off x="0" y="0"/>
              <a:ext cx="155702" cy="594616"/>
            </a:xfrm>
            <a:custGeom>
              <a:avLst/>
              <a:gdLst/>
              <a:ahLst/>
              <a:cxnLst/>
              <a:rect r="r" b="b" t="t" l="l"/>
              <a:pathLst>
                <a:path h="594616" w="155702">
                  <a:moveTo>
                    <a:pt x="16891" y="0"/>
                  </a:moveTo>
                  <a:lnTo>
                    <a:pt x="138811" y="0"/>
                  </a:lnTo>
                  <a:cubicBezTo>
                    <a:pt x="148209" y="0"/>
                    <a:pt x="155702" y="7620"/>
                    <a:pt x="155702" y="16891"/>
                  </a:cubicBezTo>
                  <a:lnTo>
                    <a:pt x="155702" y="577723"/>
                  </a:lnTo>
                  <a:cubicBezTo>
                    <a:pt x="155702" y="587121"/>
                    <a:pt x="148082" y="594614"/>
                    <a:pt x="138811" y="594614"/>
                  </a:cubicBezTo>
                  <a:lnTo>
                    <a:pt x="16891" y="594614"/>
                  </a:lnTo>
                  <a:cubicBezTo>
                    <a:pt x="7620" y="594741"/>
                    <a:pt x="0" y="587121"/>
                    <a:pt x="0" y="577723"/>
                  </a:cubicBezTo>
                  <a:lnTo>
                    <a:pt x="0" y="16891"/>
                  </a:lnTo>
                  <a:cubicBezTo>
                    <a:pt x="0" y="7620"/>
                    <a:pt x="7620" y="0"/>
                    <a:pt x="16891" y="0"/>
                  </a:cubicBezTo>
                  <a:moveTo>
                    <a:pt x="16891" y="33909"/>
                  </a:moveTo>
                  <a:lnTo>
                    <a:pt x="16891" y="16891"/>
                  </a:lnTo>
                  <a:lnTo>
                    <a:pt x="33909" y="16891"/>
                  </a:lnTo>
                  <a:lnTo>
                    <a:pt x="33909" y="577723"/>
                  </a:lnTo>
                  <a:lnTo>
                    <a:pt x="16891" y="577723"/>
                  </a:lnTo>
                  <a:lnTo>
                    <a:pt x="16891" y="560832"/>
                  </a:lnTo>
                  <a:lnTo>
                    <a:pt x="138811" y="560832"/>
                  </a:lnTo>
                  <a:lnTo>
                    <a:pt x="138811" y="577723"/>
                  </a:lnTo>
                  <a:lnTo>
                    <a:pt x="121920" y="577723"/>
                  </a:lnTo>
                  <a:lnTo>
                    <a:pt x="121920" y="16891"/>
                  </a:lnTo>
                  <a:lnTo>
                    <a:pt x="138811" y="16891"/>
                  </a:lnTo>
                  <a:lnTo>
                    <a:pt x="138811" y="33909"/>
                  </a:lnTo>
                  <a:lnTo>
                    <a:pt x="16891" y="33909"/>
                  </a:lnTo>
                  <a:close/>
                </a:path>
              </a:pathLst>
            </a:custGeom>
            <a:solidFill>
              <a:srgbClr val="7C3AED"/>
            </a:solidFill>
          </p:spPr>
        </p:sp>
      </p:grpSp>
      <p:grpSp>
        <p:nvGrpSpPr>
          <p:cNvPr name="Group 153" id="153"/>
          <p:cNvGrpSpPr/>
          <p:nvPr/>
        </p:nvGrpSpPr>
        <p:grpSpPr>
          <a:xfrm rot="0">
            <a:off x="950976" y="7826502"/>
            <a:ext cx="2889504" cy="420624"/>
            <a:chOff x="0" y="0"/>
            <a:chExt cx="3852672" cy="560832"/>
          </a:xfrm>
        </p:grpSpPr>
        <p:sp>
          <p:nvSpPr>
            <p:cNvPr name="Freeform 154" id="154"/>
            <p:cNvSpPr/>
            <p:nvPr/>
          </p:nvSpPr>
          <p:spPr>
            <a:xfrm flipH="false" flipV="false" rot="0">
              <a:off x="0" y="0"/>
              <a:ext cx="3852672" cy="560832"/>
            </a:xfrm>
            <a:custGeom>
              <a:avLst/>
              <a:gdLst/>
              <a:ahLst/>
              <a:cxnLst/>
              <a:rect r="r" b="b" t="t" l="l"/>
              <a:pathLst>
                <a:path h="560832" w="3852672">
                  <a:moveTo>
                    <a:pt x="0" y="0"/>
                  </a:moveTo>
                  <a:lnTo>
                    <a:pt x="3852672" y="0"/>
                  </a:lnTo>
                  <a:lnTo>
                    <a:pt x="3852672" y="560832"/>
                  </a:lnTo>
                  <a:lnTo>
                    <a:pt x="0" y="560832"/>
                  </a:lnTo>
                  <a:close/>
                </a:path>
              </a:pathLst>
            </a:custGeom>
            <a:blipFill>
              <a:blip r:embed="rId3">
                <a:alphaModFix amt="0"/>
              </a:blip>
              <a:stretch>
                <a:fillRect l="0" t="-83853" r="0" b="-83853"/>
              </a:stretch>
            </a:blipFill>
          </p:spPr>
        </p:sp>
        <p:sp>
          <p:nvSpPr>
            <p:cNvPr name="TextBox 155" id="155"/>
            <p:cNvSpPr txBox="true"/>
            <p:nvPr/>
          </p:nvSpPr>
          <p:spPr>
            <a:xfrm>
              <a:off x="0" y="-38100"/>
              <a:ext cx="3852672" cy="598932"/>
            </a:xfrm>
            <a:prstGeom prst="rect">
              <a:avLst/>
            </a:prstGeom>
          </p:spPr>
          <p:txBody>
            <a:bodyPr anchor="ctr" rtlCol="false" tIns="0" lIns="0" bIns="0" rIns="0"/>
            <a:lstStyle/>
            <a:p>
              <a:pPr algn="l">
                <a:lnSpc>
                  <a:spcPts val="2039"/>
                </a:lnSpc>
              </a:pPr>
              <a:r>
                <a:rPr lang="en-US" sz="1700" b="true">
                  <a:solidFill>
                    <a:srgbClr val="1E293B"/>
                  </a:solidFill>
                  <a:latin typeface="Calibri (MS) Bold"/>
                  <a:ea typeface="Calibri (MS) Bold"/>
                  <a:cs typeface="Calibri (MS) Bold"/>
                  <a:sym typeface="Calibri (MS) Bold"/>
                </a:rPr>
                <a:t>LFSE</a:t>
              </a:r>
            </a:p>
          </p:txBody>
        </p:sp>
      </p:grpSp>
      <p:grpSp>
        <p:nvGrpSpPr>
          <p:cNvPr name="Group 156" id="156"/>
          <p:cNvGrpSpPr/>
          <p:nvPr/>
        </p:nvGrpSpPr>
        <p:grpSpPr>
          <a:xfrm rot="0">
            <a:off x="3931920" y="7826502"/>
            <a:ext cx="5394960" cy="420624"/>
            <a:chOff x="0" y="0"/>
            <a:chExt cx="7193280" cy="560832"/>
          </a:xfrm>
        </p:grpSpPr>
        <p:sp>
          <p:nvSpPr>
            <p:cNvPr name="Freeform 157" id="157"/>
            <p:cNvSpPr/>
            <p:nvPr/>
          </p:nvSpPr>
          <p:spPr>
            <a:xfrm flipH="false" flipV="false" rot="0">
              <a:off x="0" y="0"/>
              <a:ext cx="7193280" cy="560832"/>
            </a:xfrm>
            <a:custGeom>
              <a:avLst/>
              <a:gdLst/>
              <a:ahLst/>
              <a:cxnLst/>
              <a:rect r="r" b="b" t="t" l="l"/>
              <a:pathLst>
                <a:path h="560832" w="7193280">
                  <a:moveTo>
                    <a:pt x="0" y="0"/>
                  </a:moveTo>
                  <a:lnTo>
                    <a:pt x="7193280" y="0"/>
                  </a:lnTo>
                  <a:lnTo>
                    <a:pt x="7193280" y="560832"/>
                  </a:lnTo>
                  <a:lnTo>
                    <a:pt x="0" y="560832"/>
                  </a:lnTo>
                  <a:close/>
                </a:path>
              </a:pathLst>
            </a:custGeom>
            <a:blipFill>
              <a:blip r:embed="rId3">
                <a:alphaModFix amt="0"/>
              </a:blip>
              <a:stretch>
                <a:fillRect l="0" t="-199916" r="0" b="-199916"/>
              </a:stretch>
            </a:blipFill>
          </p:spPr>
        </p:sp>
        <p:sp>
          <p:nvSpPr>
            <p:cNvPr name="TextBox 158" id="158"/>
            <p:cNvSpPr txBox="true"/>
            <p:nvPr/>
          </p:nvSpPr>
          <p:spPr>
            <a:xfrm>
              <a:off x="0" y="-38100"/>
              <a:ext cx="7193280" cy="598932"/>
            </a:xfrm>
            <a:prstGeom prst="rect">
              <a:avLst/>
            </a:prstGeom>
          </p:spPr>
          <p:txBody>
            <a:bodyPr anchor="ctr" rtlCol="false" tIns="0" lIns="0" bIns="0" rIns="0"/>
            <a:lstStyle/>
            <a:p>
              <a:pPr algn="l">
                <a:lnSpc>
                  <a:spcPts val="2039"/>
                </a:lnSpc>
              </a:pPr>
              <a:r>
                <a:rPr lang="en-US" sz="1700">
                  <a:solidFill>
                    <a:srgbClr val="E05B4B"/>
                  </a:solidFill>
                  <a:latin typeface="Calibri (MS)"/>
                  <a:ea typeface="Calibri (MS)"/>
                  <a:cs typeface="Calibri (MS)"/>
                  <a:sym typeface="Calibri (MS)"/>
                </a:rPr>
                <a:t>Mean-squeeze attention</a:t>
              </a:r>
            </a:p>
          </p:txBody>
        </p:sp>
      </p:grpSp>
      <p:grpSp>
        <p:nvGrpSpPr>
          <p:cNvPr name="Group 159" id="159"/>
          <p:cNvGrpSpPr/>
          <p:nvPr/>
        </p:nvGrpSpPr>
        <p:grpSpPr>
          <a:xfrm rot="0">
            <a:off x="9509760" y="7826502"/>
            <a:ext cx="7863840" cy="420624"/>
            <a:chOff x="0" y="0"/>
            <a:chExt cx="10485120" cy="560832"/>
          </a:xfrm>
        </p:grpSpPr>
        <p:sp>
          <p:nvSpPr>
            <p:cNvPr name="Freeform 160" id="160"/>
            <p:cNvSpPr/>
            <p:nvPr/>
          </p:nvSpPr>
          <p:spPr>
            <a:xfrm flipH="false" flipV="false" rot="0">
              <a:off x="0" y="0"/>
              <a:ext cx="10485120" cy="560832"/>
            </a:xfrm>
            <a:custGeom>
              <a:avLst/>
              <a:gdLst/>
              <a:ahLst/>
              <a:cxnLst/>
              <a:rect r="r" b="b" t="t" l="l"/>
              <a:pathLst>
                <a:path h="560832" w="10485120">
                  <a:moveTo>
                    <a:pt x="0" y="0"/>
                  </a:moveTo>
                  <a:lnTo>
                    <a:pt x="10485120" y="0"/>
                  </a:lnTo>
                  <a:lnTo>
                    <a:pt x="10485120" y="560832"/>
                  </a:lnTo>
                  <a:lnTo>
                    <a:pt x="0" y="560832"/>
                  </a:lnTo>
                  <a:close/>
                </a:path>
              </a:pathLst>
            </a:custGeom>
            <a:blipFill>
              <a:blip r:embed="rId3">
                <a:alphaModFix amt="0"/>
              </a:blip>
              <a:stretch>
                <a:fillRect l="0" t="-314285" r="0" b="-314285"/>
              </a:stretch>
            </a:blipFill>
          </p:spPr>
        </p:sp>
        <p:sp>
          <p:nvSpPr>
            <p:cNvPr name="TextBox 161" id="161"/>
            <p:cNvSpPr txBox="true"/>
            <p:nvPr/>
          </p:nvSpPr>
          <p:spPr>
            <a:xfrm>
              <a:off x="0" y="-38100"/>
              <a:ext cx="10485120" cy="598932"/>
            </a:xfrm>
            <a:prstGeom prst="rect">
              <a:avLst/>
            </a:prstGeom>
          </p:spPr>
          <p:txBody>
            <a:bodyPr anchor="ctr" rtlCol="false" tIns="0" lIns="0" bIns="0" rIns="0"/>
            <a:lstStyle/>
            <a:p>
              <a:pPr algn="l">
                <a:lnSpc>
                  <a:spcPts val="2039"/>
                </a:lnSpc>
              </a:pPr>
              <a:r>
                <a:rPr lang="en-US" sz="1700" b="true">
                  <a:solidFill>
                    <a:srgbClr val="0F6E56"/>
                  </a:solidFill>
                  <a:latin typeface="Calibri (MS) Bold"/>
                  <a:ea typeface="Calibri (MS) Bold"/>
                  <a:cs typeface="Calibri (MS) Bold"/>
                  <a:sym typeface="Calibri (MS) Bold"/>
                </a:rPr>
                <a:t>→ + Relative pos. bias + GNN</a:t>
              </a:r>
            </a:p>
          </p:txBody>
        </p:sp>
      </p:grpSp>
      <p:grpSp>
        <p:nvGrpSpPr>
          <p:cNvPr name="Group 162" id="162"/>
          <p:cNvGrpSpPr/>
          <p:nvPr/>
        </p:nvGrpSpPr>
        <p:grpSpPr>
          <a:xfrm rot="0">
            <a:off x="727710" y="8261604"/>
            <a:ext cx="16832580" cy="428244"/>
            <a:chOff x="0" y="0"/>
            <a:chExt cx="22443440" cy="570992"/>
          </a:xfrm>
        </p:grpSpPr>
        <p:sp>
          <p:nvSpPr>
            <p:cNvPr name="Freeform 163" id="163"/>
            <p:cNvSpPr/>
            <p:nvPr/>
          </p:nvSpPr>
          <p:spPr>
            <a:xfrm flipH="false" flipV="false" rot="0">
              <a:off x="5080" y="5080"/>
              <a:ext cx="22433281" cy="560832"/>
            </a:xfrm>
            <a:custGeom>
              <a:avLst/>
              <a:gdLst/>
              <a:ahLst/>
              <a:cxnLst/>
              <a:rect r="r" b="b" t="t" l="l"/>
              <a:pathLst>
                <a:path h="560832" w="22433281">
                  <a:moveTo>
                    <a:pt x="0" y="0"/>
                  </a:moveTo>
                  <a:lnTo>
                    <a:pt x="22433281" y="0"/>
                  </a:lnTo>
                  <a:lnTo>
                    <a:pt x="22433281" y="560832"/>
                  </a:lnTo>
                  <a:lnTo>
                    <a:pt x="0" y="560832"/>
                  </a:lnTo>
                  <a:close/>
                </a:path>
              </a:pathLst>
            </a:custGeom>
            <a:solidFill>
              <a:srgbClr val="F8FAFC"/>
            </a:solidFill>
          </p:spPr>
        </p:sp>
        <p:sp>
          <p:nvSpPr>
            <p:cNvPr name="Freeform 164" id="164"/>
            <p:cNvSpPr/>
            <p:nvPr/>
          </p:nvSpPr>
          <p:spPr>
            <a:xfrm flipH="false" flipV="false" rot="0">
              <a:off x="0" y="0"/>
              <a:ext cx="22443441" cy="570992"/>
            </a:xfrm>
            <a:custGeom>
              <a:avLst/>
              <a:gdLst/>
              <a:ahLst/>
              <a:cxnLst/>
              <a:rect r="r" b="b" t="t" l="l"/>
              <a:pathLst>
                <a:path h="570992" w="22443441">
                  <a:moveTo>
                    <a:pt x="5080" y="0"/>
                  </a:moveTo>
                  <a:lnTo>
                    <a:pt x="22438361" y="0"/>
                  </a:lnTo>
                  <a:cubicBezTo>
                    <a:pt x="22441154" y="0"/>
                    <a:pt x="22443441" y="2286"/>
                    <a:pt x="22443441" y="5080"/>
                  </a:cubicBezTo>
                  <a:lnTo>
                    <a:pt x="22443441" y="565912"/>
                  </a:lnTo>
                  <a:cubicBezTo>
                    <a:pt x="22443441" y="568706"/>
                    <a:pt x="22441154" y="570992"/>
                    <a:pt x="22438361" y="570992"/>
                  </a:cubicBezTo>
                  <a:lnTo>
                    <a:pt x="5080" y="570992"/>
                  </a:lnTo>
                  <a:cubicBezTo>
                    <a:pt x="2286" y="570992"/>
                    <a:pt x="0" y="568706"/>
                    <a:pt x="0" y="565912"/>
                  </a:cubicBezTo>
                  <a:lnTo>
                    <a:pt x="0" y="5080"/>
                  </a:lnTo>
                  <a:cubicBezTo>
                    <a:pt x="0" y="2286"/>
                    <a:pt x="2286" y="0"/>
                    <a:pt x="5080" y="0"/>
                  </a:cubicBezTo>
                  <a:moveTo>
                    <a:pt x="5080" y="10160"/>
                  </a:moveTo>
                  <a:lnTo>
                    <a:pt x="5080" y="5080"/>
                  </a:lnTo>
                  <a:lnTo>
                    <a:pt x="10160" y="5080"/>
                  </a:lnTo>
                  <a:lnTo>
                    <a:pt x="10160" y="565912"/>
                  </a:lnTo>
                  <a:lnTo>
                    <a:pt x="5080" y="565912"/>
                  </a:lnTo>
                  <a:lnTo>
                    <a:pt x="5080" y="560832"/>
                  </a:lnTo>
                  <a:lnTo>
                    <a:pt x="22438361" y="560832"/>
                  </a:lnTo>
                  <a:lnTo>
                    <a:pt x="22438361" y="565912"/>
                  </a:lnTo>
                  <a:lnTo>
                    <a:pt x="22433280" y="565912"/>
                  </a:lnTo>
                  <a:lnTo>
                    <a:pt x="22433280" y="5080"/>
                  </a:lnTo>
                  <a:lnTo>
                    <a:pt x="22438361" y="5080"/>
                  </a:lnTo>
                  <a:lnTo>
                    <a:pt x="22438361" y="10160"/>
                  </a:lnTo>
                  <a:lnTo>
                    <a:pt x="5080" y="10160"/>
                  </a:lnTo>
                  <a:close/>
                </a:path>
              </a:pathLst>
            </a:custGeom>
            <a:solidFill>
              <a:srgbClr val="E2E8F0"/>
            </a:solidFill>
          </p:spPr>
        </p:sp>
      </p:grpSp>
      <p:grpSp>
        <p:nvGrpSpPr>
          <p:cNvPr name="Group 165" id="165"/>
          <p:cNvGrpSpPr/>
          <p:nvPr/>
        </p:nvGrpSpPr>
        <p:grpSpPr>
          <a:xfrm rot="0">
            <a:off x="718823" y="8252717"/>
            <a:ext cx="116843" cy="446027"/>
            <a:chOff x="0" y="0"/>
            <a:chExt cx="155791" cy="594703"/>
          </a:xfrm>
        </p:grpSpPr>
        <p:sp>
          <p:nvSpPr>
            <p:cNvPr name="Freeform 166" id="166"/>
            <p:cNvSpPr/>
            <p:nvPr/>
          </p:nvSpPr>
          <p:spPr>
            <a:xfrm flipH="false" flipV="false" rot="0">
              <a:off x="16891" y="16891"/>
              <a:ext cx="121920" cy="560832"/>
            </a:xfrm>
            <a:custGeom>
              <a:avLst/>
              <a:gdLst/>
              <a:ahLst/>
              <a:cxnLst/>
              <a:rect r="r" b="b" t="t" l="l"/>
              <a:pathLst>
                <a:path h="560832" w="121920">
                  <a:moveTo>
                    <a:pt x="0" y="0"/>
                  </a:moveTo>
                  <a:lnTo>
                    <a:pt x="121920" y="0"/>
                  </a:lnTo>
                  <a:lnTo>
                    <a:pt x="121920" y="560832"/>
                  </a:lnTo>
                  <a:lnTo>
                    <a:pt x="0" y="560832"/>
                  </a:lnTo>
                  <a:close/>
                </a:path>
              </a:pathLst>
            </a:custGeom>
            <a:solidFill>
              <a:srgbClr val="D97706"/>
            </a:solidFill>
          </p:spPr>
        </p:sp>
        <p:sp>
          <p:nvSpPr>
            <p:cNvPr name="Freeform 167" id="167"/>
            <p:cNvSpPr/>
            <p:nvPr/>
          </p:nvSpPr>
          <p:spPr>
            <a:xfrm flipH="false" flipV="false" rot="0">
              <a:off x="0" y="0"/>
              <a:ext cx="155702" cy="594616"/>
            </a:xfrm>
            <a:custGeom>
              <a:avLst/>
              <a:gdLst/>
              <a:ahLst/>
              <a:cxnLst/>
              <a:rect r="r" b="b" t="t" l="l"/>
              <a:pathLst>
                <a:path h="594616" w="155702">
                  <a:moveTo>
                    <a:pt x="16891" y="0"/>
                  </a:moveTo>
                  <a:lnTo>
                    <a:pt x="138811" y="0"/>
                  </a:lnTo>
                  <a:cubicBezTo>
                    <a:pt x="148209" y="0"/>
                    <a:pt x="155702" y="7620"/>
                    <a:pt x="155702" y="16891"/>
                  </a:cubicBezTo>
                  <a:lnTo>
                    <a:pt x="155702" y="577723"/>
                  </a:lnTo>
                  <a:cubicBezTo>
                    <a:pt x="155702" y="587121"/>
                    <a:pt x="148082" y="594614"/>
                    <a:pt x="138811" y="594614"/>
                  </a:cubicBezTo>
                  <a:lnTo>
                    <a:pt x="16891" y="594614"/>
                  </a:lnTo>
                  <a:cubicBezTo>
                    <a:pt x="7620" y="594741"/>
                    <a:pt x="0" y="587121"/>
                    <a:pt x="0" y="577723"/>
                  </a:cubicBezTo>
                  <a:lnTo>
                    <a:pt x="0" y="16891"/>
                  </a:lnTo>
                  <a:cubicBezTo>
                    <a:pt x="0" y="7620"/>
                    <a:pt x="7620" y="0"/>
                    <a:pt x="16891" y="0"/>
                  </a:cubicBezTo>
                  <a:moveTo>
                    <a:pt x="16891" y="33909"/>
                  </a:moveTo>
                  <a:lnTo>
                    <a:pt x="16891" y="16891"/>
                  </a:lnTo>
                  <a:lnTo>
                    <a:pt x="33909" y="16891"/>
                  </a:lnTo>
                  <a:lnTo>
                    <a:pt x="33909" y="577723"/>
                  </a:lnTo>
                  <a:lnTo>
                    <a:pt x="16891" y="577723"/>
                  </a:lnTo>
                  <a:lnTo>
                    <a:pt x="16891" y="560832"/>
                  </a:lnTo>
                  <a:lnTo>
                    <a:pt x="138811" y="560832"/>
                  </a:lnTo>
                  <a:lnTo>
                    <a:pt x="138811" y="577723"/>
                  </a:lnTo>
                  <a:lnTo>
                    <a:pt x="121920" y="577723"/>
                  </a:lnTo>
                  <a:lnTo>
                    <a:pt x="121920" y="16891"/>
                  </a:lnTo>
                  <a:lnTo>
                    <a:pt x="138811" y="16891"/>
                  </a:lnTo>
                  <a:lnTo>
                    <a:pt x="138811" y="33909"/>
                  </a:lnTo>
                  <a:lnTo>
                    <a:pt x="16891" y="33909"/>
                  </a:lnTo>
                  <a:close/>
                </a:path>
              </a:pathLst>
            </a:custGeom>
            <a:solidFill>
              <a:srgbClr val="D97706"/>
            </a:solidFill>
          </p:spPr>
        </p:sp>
      </p:grpSp>
      <p:grpSp>
        <p:nvGrpSpPr>
          <p:cNvPr name="Group 168" id="168"/>
          <p:cNvGrpSpPr/>
          <p:nvPr/>
        </p:nvGrpSpPr>
        <p:grpSpPr>
          <a:xfrm rot="0">
            <a:off x="950976" y="8265414"/>
            <a:ext cx="2889504" cy="420624"/>
            <a:chOff x="0" y="0"/>
            <a:chExt cx="3852672" cy="560832"/>
          </a:xfrm>
        </p:grpSpPr>
        <p:sp>
          <p:nvSpPr>
            <p:cNvPr name="Freeform 169" id="169"/>
            <p:cNvSpPr/>
            <p:nvPr/>
          </p:nvSpPr>
          <p:spPr>
            <a:xfrm flipH="false" flipV="false" rot="0">
              <a:off x="0" y="0"/>
              <a:ext cx="3852672" cy="560832"/>
            </a:xfrm>
            <a:custGeom>
              <a:avLst/>
              <a:gdLst/>
              <a:ahLst/>
              <a:cxnLst/>
              <a:rect r="r" b="b" t="t" l="l"/>
              <a:pathLst>
                <a:path h="560832" w="3852672">
                  <a:moveTo>
                    <a:pt x="0" y="0"/>
                  </a:moveTo>
                  <a:lnTo>
                    <a:pt x="3852672" y="0"/>
                  </a:lnTo>
                  <a:lnTo>
                    <a:pt x="3852672" y="560832"/>
                  </a:lnTo>
                  <a:lnTo>
                    <a:pt x="0" y="560832"/>
                  </a:lnTo>
                  <a:close/>
                </a:path>
              </a:pathLst>
            </a:custGeom>
            <a:blipFill>
              <a:blip r:embed="rId3">
                <a:alphaModFix amt="0"/>
              </a:blip>
              <a:stretch>
                <a:fillRect l="0" t="-83853" r="0" b="-83853"/>
              </a:stretch>
            </a:blipFill>
          </p:spPr>
        </p:sp>
        <p:sp>
          <p:nvSpPr>
            <p:cNvPr name="TextBox 170" id="170"/>
            <p:cNvSpPr txBox="true"/>
            <p:nvPr/>
          </p:nvSpPr>
          <p:spPr>
            <a:xfrm>
              <a:off x="0" y="-38100"/>
              <a:ext cx="3852672" cy="598932"/>
            </a:xfrm>
            <a:prstGeom prst="rect">
              <a:avLst/>
            </a:prstGeom>
          </p:spPr>
          <p:txBody>
            <a:bodyPr anchor="ctr" rtlCol="false" tIns="0" lIns="0" bIns="0" rIns="0"/>
            <a:lstStyle/>
            <a:p>
              <a:pPr algn="l">
                <a:lnSpc>
                  <a:spcPts val="2039"/>
                </a:lnSpc>
              </a:pPr>
              <a:r>
                <a:rPr lang="en-US" sz="1700" b="true">
                  <a:solidFill>
                    <a:srgbClr val="1E293B"/>
                  </a:solidFill>
                  <a:latin typeface="Calibri (MS) Bold"/>
                  <a:ea typeface="Calibri (MS) Bold"/>
                  <a:cs typeface="Calibri (MS) Bold"/>
                  <a:sym typeface="Calibri (MS) Bold"/>
                </a:rPr>
                <a:t>Fine-tuning loss</a:t>
              </a:r>
            </a:p>
          </p:txBody>
        </p:sp>
      </p:grpSp>
      <p:grpSp>
        <p:nvGrpSpPr>
          <p:cNvPr name="Group 171" id="171"/>
          <p:cNvGrpSpPr/>
          <p:nvPr/>
        </p:nvGrpSpPr>
        <p:grpSpPr>
          <a:xfrm rot="0">
            <a:off x="3931920" y="8265414"/>
            <a:ext cx="5394960" cy="420624"/>
            <a:chOff x="0" y="0"/>
            <a:chExt cx="7193280" cy="560832"/>
          </a:xfrm>
        </p:grpSpPr>
        <p:sp>
          <p:nvSpPr>
            <p:cNvPr name="Freeform 172" id="172"/>
            <p:cNvSpPr/>
            <p:nvPr/>
          </p:nvSpPr>
          <p:spPr>
            <a:xfrm flipH="false" flipV="false" rot="0">
              <a:off x="0" y="0"/>
              <a:ext cx="7193280" cy="560832"/>
            </a:xfrm>
            <a:custGeom>
              <a:avLst/>
              <a:gdLst/>
              <a:ahLst/>
              <a:cxnLst/>
              <a:rect r="r" b="b" t="t" l="l"/>
              <a:pathLst>
                <a:path h="560832" w="7193280">
                  <a:moveTo>
                    <a:pt x="0" y="0"/>
                  </a:moveTo>
                  <a:lnTo>
                    <a:pt x="7193280" y="0"/>
                  </a:lnTo>
                  <a:lnTo>
                    <a:pt x="7193280" y="560832"/>
                  </a:lnTo>
                  <a:lnTo>
                    <a:pt x="0" y="560832"/>
                  </a:lnTo>
                  <a:close/>
                </a:path>
              </a:pathLst>
            </a:custGeom>
            <a:blipFill>
              <a:blip r:embed="rId3">
                <a:alphaModFix amt="0"/>
              </a:blip>
              <a:stretch>
                <a:fillRect l="0" t="-199916" r="0" b="-199916"/>
              </a:stretch>
            </a:blipFill>
          </p:spPr>
        </p:sp>
        <p:sp>
          <p:nvSpPr>
            <p:cNvPr name="TextBox 173" id="173"/>
            <p:cNvSpPr txBox="true"/>
            <p:nvPr/>
          </p:nvSpPr>
          <p:spPr>
            <a:xfrm>
              <a:off x="0" y="-38100"/>
              <a:ext cx="7193280" cy="598932"/>
            </a:xfrm>
            <a:prstGeom prst="rect">
              <a:avLst/>
            </a:prstGeom>
          </p:spPr>
          <p:txBody>
            <a:bodyPr anchor="ctr" rtlCol="false" tIns="0" lIns="0" bIns="0" rIns="0"/>
            <a:lstStyle/>
            <a:p>
              <a:pPr algn="l">
                <a:lnSpc>
                  <a:spcPts val="2039"/>
                </a:lnSpc>
              </a:pPr>
              <a:r>
                <a:rPr lang="en-US" sz="1700">
                  <a:solidFill>
                    <a:srgbClr val="E05B4B"/>
                  </a:solidFill>
                  <a:latin typeface="Calibri (MS)"/>
                  <a:ea typeface="Calibri (MS)"/>
                  <a:cs typeface="Calibri (MS)"/>
                  <a:sym typeface="Calibri (MS)"/>
                </a:rPr>
                <a:t>SmoothL1</a:t>
              </a:r>
            </a:p>
          </p:txBody>
        </p:sp>
      </p:grpSp>
      <p:grpSp>
        <p:nvGrpSpPr>
          <p:cNvPr name="Group 174" id="174"/>
          <p:cNvGrpSpPr/>
          <p:nvPr/>
        </p:nvGrpSpPr>
        <p:grpSpPr>
          <a:xfrm rot="0">
            <a:off x="9509760" y="8265414"/>
            <a:ext cx="7863840" cy="420624"/>
            <a:chOff x="0" y="0"/>
            <a:chExt cx="10485120" cy="560832"/>
          </a:xfrm>
        </p:grpSpPr>
        <p:sp>
          <p:nvSpPr>
            <p:cNvPr name="Freeform 175" id="175"/>
            <p:cNvSpPr/>
            <p:nvPr/>
          </p:nvSpPr>
          <p:spPr>
            <a:xfrm flipH="false" flipV="false" rot="0">
              <a:off x="0" y="0"/>
              <a:ext cx="10485120" cy="560832"/>
            </a:xfrm>
            <a:custGeom>
              <a:avLst/>
              <a:gdLst/>
              <a:ahLst/>
              <a:cxnLst/>
              <a:rect r="r" b="b" t="t" l="l"/>
              <a:pathLst>
                <a:path h="560832" w="10485120">
                  <a:moveTo>
                    <a:pt x="0" y="0"/>
                  </a:moveTo>
                  <a:lnTo>
                    <a:pt x="10485120" y="0"/>
                  </a:lnTo>
                  <a:lnTo>
                    <a:pt x="10485120" y="560832"/>
                  </a:lnTo>
                  <a:lnTo>
                    <a:pt x="0" y="560832"/>
                  </a:lnTo>
                  <a:close/>
                </a:path>
              </a:pathLst>
            </a:custGeom>
            <a:blipFill>
              <a:blip r:embed="rId3">
                <a:alphaModFix amt="0"/>
              </a:blip>
              <a:stretch>
                <a:fillRect l="0" t="-314285" r="0" b="-314285"/>
              </a:stretch>
            </a:blipFill>
          </p:spPr>
        </p:sp>
        <p:sp>
          <p:nvSpPr>
            <p:cNvPr name="TextBox 176" id="176"/>
            <p:cNvSpPr txBox="true"/>
            <p:nvPr/>
          </p:nvSpPr>
          <p:spPr>
            <a:xfrm>
              <a:off x="0" y="-38100"/>
              <a:ext cx="10485120" cy="598932"/>
            </a:xfrm>
            <a:prstGeom prst="rect">
              <a:avLst/>
            </a:prstGeom>
          </p:spPr>
          <p:txBody>
            <a:bodyPr anchor="ctr" rtlCol="false" tIns="0" lIns="0" bIns="0" rIns="0"/>
            <a:lstStyle/>
            <a:p>
              <a:pPr algn="l">
                <a:lnSpc>
                  <a:spcPts val="2039"/>
                </a:lnSpc>
              </a:pPr>
              <a:r>
                <a:rPr lang="en-US" sz="1700" b="true">
                  <a:solidFill>
                    <a:srgbClr val="0F6E56"/>
                  </a:solidFill>
                  <a:latin typeface="Calibri (MS) Bold"/>
                  <a:ea typeface="Calibri (MS) Bold"/>
                  <a:cs typeface="Calibri (MS) Bold"/>
                  <a:sym typeface="Calibri (MS) Bold"/>
                </a:rPr>
                <a:t>→ InfoNCE contrastive</a:t>
              </a:r>
            </a:p>
          </p:txBody>
        </p:sp>
      </p:grpSp>
      <p:grpSp>
        <p:nvGrpSpPr>
          <p:cNvPr name="Group 177" id="177"/>
          <p:cNvGrpSpPr/>
          <p:nvPr/>
        </p:nvGrpSpPr>
        <p:grpSpPr>
          <a:xfrm rot="0">
            <a:off x="727710" y="8700516"/>
            <a:ext cx="16832580" cy="428244"/>
            <a:chOff x="0" y="0"/>
            <a:chExt cx="22443440" cy="570992"/>
          </a:xfrm>
        </p:grpSpPr>
        <p:sp>
          <p:nvSpPr>
            <p:cNvPr name="Freeform 178" id="178"/>
            <p:cNvSpPr/>
            <p:nvPr/>
          </p:nvSpPr>
          <p:spPr>
            <a:xfrm flipH="false" flipV="false" rot="0">
              <a:off x="5080" y="5080"/>
              <a:ext cx="22433281" cy="560832"/>
            </a:xfrm>
            <a:custGeom>
              <a:avLst/>
              <a:gdLst/>
              <a:ahLst/>
              <a:cxnLst/>
              <a:rect r="r" b="b" t="t" l="l"/>
              <a:pathLst>
                <a:path h="560832" w="22433281">
                  <a:moveTo>
                    <a:pt x="0" y="0"/>
                  </a:moveTo>
                  <a:lnTo>
                    <a:pt x="22433281" y="0"/>
                  </a:lnTo>
                  <a:lnTo>
                    <a:pt x="22433281" y="560832"/>
                  </a:lnTo>
                  <a:lnTo>
                    <a:pt x="0" y="560832"/>
                  </a:lnTo>
                  <a:close/>
                </a:path>
              </a:pathLst>
            </a:custGeom>
            <a:solidFill>
              <a:srgbClr val="FFFFFF"/>
            </a:solidFill>
          </p:spPr>
        </p:sp>
        <p:sp>
          <p:nvSpPr>
            <p:cNvPr name="Freeform 179" id="179"/>
            <p:cNvSpPr/>
            <p:nvPr/>
          </p:nvSpPr>
          <p:spPr>
            <a:xfrm flipH="false" flipV="false" rot="0">
              <a:off x="0" y="0"/>
              <a:ext cx="22443441" cy="570992"/>
            </a:xfrm>
            <a:custGeom>
              <a:avLst/>
              <a:gdLst/>
              <a:ahLst/>
              <a:cxnLst/>
              <a:rect r="r" b="b" t="t" l="l"/>
              <a:pathLst>
                <a:path h="570992" w="22443441">
                  <a:moveTo>
                    <a:pt x="5080" y="0"/>
                  </a:moveTo>
                  <a:lnTo>
                    <a:pt x="22438361" y="0"/>
                  </a:lnTo>
                  <a:cubicBezTo>
                    <a:pt x="22441154" y="0"/>
                    <a:pt x="22443441" y="2286"/>
                    <a:pt x="22443441" y="5080"/>
                  </a:cubicBezTo>
                  <a:lnTo>
                    <a:pt x="22443441" y="565912"/>
                  </a:lnTo>
                  <a:cubicBezTo>
                    <a:pt x="22443441" y="568706"/>
                    <a:pt x="22441154" y="570992"/>
                    <a:pt x="22438361" y="570992"/>
                  </a:cubicBezTo>
                  <a:lnTo>
                    <a:pt x="5080" y="570992"/>
                  </a:lnTo>
                  <a:cubicBezTo>
                    <a:pt x="2286" y="570992"/>
                    <a:pt x="0" y="568706"/>
                    <a:pt x="0" y="565912"/>
                  </a:cubicBezTo>
                  <a:lnTo>
                    <a:pt x="0" y="5080"/>
                  </a:lnTo>
                  <a:cubicBezTo>
                    <a:pt x="0" y="2286"/>
                    <a:pt x="2286" y="0"/>
                    <a:pt x="5080" y="0"/>
                  </a:cubicBezTo>
                  <a:moveTo>
                    <a:pt x="5080" y="10160"/>
                  </a:moveTo>
                  <a:lnTo>
                    <a:pt x="5080" y="5080"/>
                  </a:lnTo>
                  <a:lnTo>
                    <a:pt x="10160" y="5080"/>
                  </a:lnTo>
                  <a:lnTo>
                    <a:pt x="10160" y="565912"/>
                  </a:lnTo>
                  <a:lnTo>
                    <a:pt x="5080" y="565912"/>
                  </a:lnTo>
                  <a:lnTo>
                    <a:pt x="5080" y="560832"/>
                  </a:lnTo>
                  <a:lnTo>
                    <a:pt x="22438361" y="560832"/>
                  </a:lnTo>
                  <a:lnTo>
                    <a:pt x="22438361" y="565912"/>
                  </a:lnTo>
                  <a:lnTo>
                    <a:pt x="22433280" y="565912"/>
                  </a:lnTo>
                  <a:lnTo>
                    <a:pt x="22433280" y="5080"/>
                  </a:lnTo>
                  <a:lnTo>
                    <a:pt x="22438361" y="5080"/>
                  </a:lnTo>
                  <a:lnTo>
                    <a:pt x="22438361" y="10160"/>
                  </a:lnTo>
                  <a:lnTo>
                    <a:pt x="5080" y="10160"/>
                  </a:lnTo>
                  <a:close/>
                </a:path>
              </a:pathLst>
            </a:custGeom>
            <a:solidFill>
              <a:srgbClr val="E2E8F0"/>
            </a:solidFill>
          </p:spPr>
        </p:sp>
      </p:grpSp>
      <p:grpSp>
        <p:nvGrpSpPr>
          <p:cNvPr name="Group 180" id="180"/>
          <p:cNvGrpSpPr/>
          <p:nvPr/>
        </p:nvGrpSpPr>
        <p:grpSpPr>
          <a:xfrm rot="0">
            <a:off x="718823" y="8691629"/>
            <a:ext cx="116843" cy="446027"/>
            <a:chOff x="0" y="0"/>
            <a:chExt cx="155791" cy="594703"/>
          </a:xfrm>
        </p:grpSpPr>
        <p:sp>
          <p:nvSpPr>
            <p:cNvPr name="Freeform 181" id="181"/>
            <p:cNvSpPr/>
            <p:nvPr/>
          </p:nvSpPr>
          <p:spPr>
            <a:xfrm flipH="false" flipV="false" rot="0">
              <a:off x="16891" y="16891"/>
              <a:ext cx="121920" cy="560832"/>
            </a:xfrm>
            <a:custGeom>
              <a:avLst/>
              <a:gdLst/>
              <a:ahLst/>
              <a:cxnLst/>
              <a:rect r="r" b="b" t="t" l="l"/>
              <a:pathLst>
                <a:path h="560832" w="121920">
                  <a:moveTo>
                    <a:pt x="0" y="0"/>
                  </a:moveTo>
                  <a:lnTo>
                    <a:pt x="121920" y="0"/>
                  </a:lnTo>
                  <a:lnTo>
                    <a:pt x="121920" y="560832"/>
                  </a:lnTo>
                  <a:lnTo>
                    <a:pt x="0" y="560832"/>
                  </a:lnTo>
                  <a:close/>
                </a:path>
              </a:pathLst>
            </a:custGeom>
            <a:solidFill>
              <a:srgbClr val="E05B4B"/>
            </a:solidFill>
          </p:spPr>
        </p:sp>
        <p:sp>
          <p:nvSpPr>
            <p:cNvPr name="Freeform 182" id="182"/>
            <p:cNvSpPr/>
            <p:nvPr/>
          </p:nvSpPr>
          <p:spPr>
            <a:xfrm flipH="false" flipV="false" rot="0">
              <a:off x="0" y="0"/>
              <a:ext cx="155702" cy="594616"/>
            </a:xfrm>
            <a:custGeom>
              <a:avLst/>
              <a:gdLst/>
              <a:ahLst/>
              <a:cxnLst/>
              <a:rect r="r" b="b" t="t" l="l"/>
              <a:pathLst>
                <a:path h="594616" w="155702">
                  <a:moveTo>
                    <a:pt x="16891" y="0"/>
                  </a:moveTo>
                  <a:lnTo>
                    <a:pt x="138811" y="0"/>
                  </a:lnTo>
                  <a:cubicBezTo>
                    <a:pt x="148209" y="0"/>
                    <a:pt x="155702" y="7620"/>
                    <a:pt x="155702" y="16891"/>
                  </a:cubicBezTo>
                  <a:lnTo>
                    <a:pt x="155702" y="577723"/>
                  </a:lnTo>
                  <a:cubicBezTo>
                    <a:pt x="155702" y="587121"/>
                    <a:pt x="148082" y="594614"/>
                    <a:pt x="138811" y="594614"/>
                  </a:cubicBezTo>
                  <a:lnTo>
                    <a:pt x="16891" y="594614"/>
                  </a:lnTo>
                  <a:cubicBezTo>
                    <a:pt x="7620" y="594741"/>
                    <a:pt x="0" y="587121"/>
                    <a:pt x="0" y="577723"/>
                  </a:cubicBezTo>
                  <a:lnTo>
                    <a:pt x="0" y="16891"/>
                  </a:lnTo>
                  <a:cubicBezTo>
                    <a:pt x="0" y="7620"/>
                    <a:pt x="7620" y="0"/>
                    <a:pt x="16891" y="0"/>
                  </a:cubicBezTo>
                  <a:moveTo>
                    <a:pt x="16891" y="33909"/>
                  </a:moveTo>
                  <a:lnTo>
                    <a:pt x="16891" y="16891"/>
                  </a:lnTo>
                  <a:lnTo>
                    <a:pt x="33909" y="16891"/>
                  </a:lnTo>
                  <a:lnTo>
                    <a:pt x="33909" y="577723"/>
                  </a:lnTo>
                  <a:lnTo>
                    <a:pt x="16891" y="577723"/>
                  </a:lnTo>
                  <a:lnTo>
                    <a:pt x="16891" y="560832"/>
                  </a:lnTo>
                  <a:lnTo>
                    <a:pt x="138811" y="560832"/>
                  </a:lnTo>
                  <a:lnTo>
                    <a:pt x="138811" y="577723"/>
                  </a:lnTo>
                  <a:lnTo>
                    <a:pt x="121920" y="577723"/>
                  </a:lnTo>
                  <a:lnTo>
                    <a:pt x="121920" y="16891"/>
                  </a:lnTo>
                  <a:lnTo>
                    <a:pt x="138811" y="16891"/>
                  </a:lnTo>
                  <a:lnTo>
                    <a:pt x="138811" y="33909"/>
                  </a:lnTo>
                  <a:lnTo>
                    <a:pt x="16891" y="33909"/>
                  </a:lnTo>
                  <a:close/>
                </a:path>
              </a:pathLst>
            </a:custGeom>
            <a:solidFill>
              <a:srgbClr val="E05B4B"/>
            </a:solidFill>
          </p:spPr>
        </p:sp>
      </p:grpSp>
      <p:grpSp>
        <p:nvGrpSpPr>
          <p:cNvPr name="Group 183" id="183"/>
          <p:cNvGrpSpPr/>
          <p:nvPr/>
        </p:nvGrpSpPr>
        <p:grpSpPr>
          <a:xfrm rot="0">
            <a:off x="950976" y="8704326"/>
            <a:ext cx="2889504" cy="420624"/>
            <a:chOff x="0" y="0"/>
            <a:chExt cx="3852672" cy="560832"/>
          </a:xfrm>
        </p:grpSpPr>
        <p:sp>
          <p:nvSpPr>
            <p:cNvPr name="Freeform 184" id="184"/>
            <p:cNvSpPr/>
            <p:nvPr/>
          </p:nvSpPr>
          <p:spPr>
            <a:xfrm flipH="false" flipV="false" rot="0">
              <a:off x="0" y="0"/>
              <a:ext cx="3852672" cy="560832"/>
            </a:xfrm>
            <a:custGeom>
              <a:avLst/>
              <a:gdLst/>
              <a:ahLst/>
              <a:cxnLst/>
              <a:rect r="r" b="b" t="t" l="l"/>
              <a:pathLst>
                <a:path h="560832" w="3852672">
                  <a:moveTo>
                    <a:pt x="0" y="0"/>
                  </a:moveTo>
                  <a:lnTo>
                    <a:pt x="3852672" y="0"/>
                  </a:lnTo>
                  <a:lnTo>
                    <a:pt x="3852672" y="560832"/>
                  </a:lnTo>
                  <a:lnTo>
                    <a:pt x="0" y="560832"/>
                  </a:lnTo>
                  <a:close/>
                </a:path>
              </a:pathLst>
            </a:custGeom>
            <a:blipFill>
              <a:blip r:embed="rId3">
                <a:alphaModFix amt="0"/>
              </a:blip>
              <a:stretch>
                <a:fillRect l="0" t="-83853" r="0" b="-83853"/>
              </a:stretch>
            </a:blipFill>
          </p:spPr>
        </p:sp>
        <p:sp>
          <p:nvSpPr>
            <p:cNvPr name="TextBox 185" id="185"/>
            <p:cNvSpPr txBox="true"/>
            <p:nvPr/>
          </p:nvSpPr>
          <p:spPr>
            <a:xfrm>
              <a:off x="0" y="-38100"/>
              <a:ext cx="3852672" cy="598932"/>
            </a:xfrm>
            <a:prstGeom prst="rect">
              <a:avLst/>
            </a:prstGeom>
          </p:spPr>
          <p:txBody>
            <a:bodyPr anchor="ctr" rtlCol="false" tIns="0" lIns="0" bIns="0" rIns="0"/>
            <a:lstStyle/>
            <a:p>
              <a:pPr algn="l">
                <a:lnSpc>
                  <a:spcPts val="2039"/>
                </a:lnSpc>
              </a:pPr>
              <a:r>
                <a:rPr lang="en-US" sz="1700" b="true">
                  <a:solidFill>
                    <a:srgbClr val="1E293B"/>
                  </a:solidFill>
                  <a:latin typeface="Calibri (MS) Bold"/>
                  <a:ea typeface="Calibri (MS) Bold"/>
                  <a:cs typeface="Calibri (MS) Bold"/>
                  <a:sym typeface="Calibri (MS) Bold"/>
                </a:rPr>
                <a:t>Decoder</a:t>
              </a:r>
            </a:p>
          </p:txBody>
        </p:sp>
      </p:grpSp>
      <p:grpSp>
        <p:nvGrpSpPr>
          <p:cNvPr name="Group 186" id="186"/>
          <p:cNvGrpSpPr/>
          <p:nvPr/>
        </p:nvGrpSpPr>
        <p:grpSpPr>
          <a:xfrm rot="0">
            <a:off x="3931920" y="8704326"/>
            <a:ext cx="5394960" cy="420624"/>
            <a:chOff x="0" y="0"/>
            <a:chExt cx="7193280" cy="560832"/>
          </a:xfrm>
        </p:grpSpPr>
        <p:sp>
          <p:nvSpPr>
            <p:cNvPr name="Freeform 187" id="187"/>
            <p:cNvSpPr/>
            <p:nvPr/>
          </p:nvSpPr>
          <p:spPr>
            <a:xfrm flipH="false" flipV="false" rot="0">
              <a:off x="0" y="0"/>
              <a:ext cx="7193280" cy="560832"/>
            </a:xfrm>
            <a:custGeom>
              <a:avLst/>
              <a:gdLst/>
              <a:ahLst/>
              <a:cxnLst/>
              <a:rect r="r" b="b" t="t" l="l"/>
              <a:pathLst>
                <a:path h="560832" w="7193280">
                  <a:moveTo>
                    <a:pt x="0" y="0"/>
                  </a:moveTo>
                  <a:lnTo>
                    <a:pt x="7193280" y="0"/>
                  </a:lnTo>
                  <a:lnTo>
                    <a:pt x="7193280" y="560832"/>
                  </a:lnTo>
                  <a:lnTo>
                    <a:pt x="0" y="560832"/>
                  </a:lnTo>
                  <a:close/>
                </a:path>
              </a:pathLst>
            </a:custGeom>
            <a:blipFill>
              <a:blip r:embed="rId3">
                <a:alphaModFix amt="0"/>
              </a:blip>
              <a:stretch>
                <a:fillRect l="0" t="-199916" r="0" b="-199916"/>
              </a:stretch>
            </a:blipFill>
          </p:spPr>
        </p:sp>
        <p:sp>
          <p:nvSpPr>
            <p:cNvPr name="TextBox 188" id="188"/>
            <p:cNvSpPr txBox="true"/>
            <p:nvPr/>
          </p:nvSpPr>
          <p:spPr>
            <a:xfrm>
              <a:off x="0" y="-38100"/>
              <a:ext cx="7193280" cy="598932"/>
            </a:xfrm>
            <a:prstGeom prst="rect">
              <a:avLst/>
            </a:prstGeom>
          </p:spPr>
          <p:txBody>
            <a:bodyPr anchor="ctr" rtlCol="false" tIns="0" lIns="0" bIns="0" rIns="0"/>
            <a:lstStyle/>
            <a:p>
              <a:pPr algn="l">
                <a:lnSpc>
                  <a:spcPts val="2039"/>
                </a:lnSpc>
              </a:pPr>
              <a:r>
                <a:rPr lang="en-US" sz="1700">
                  <a:solidFill>
                    <a:srgbClr val="E05B4B"/>
                  </a:solidFill>
                  <a:latin typeface="Calibri (MS)"/>
                  <a:ea typeface="Calibri (MS)"/>
                  <a:cs typeface="Calibri (MS)"/>
                  <a:sym typeface="Calibri (MS)"/>
                </a:rPr>
                <a:t>LSTM cell</a:t>
              </a:r>
            </a:p>
          </p:txBody>
        </p:sp>
      </p:grpSp>
      <p:grpSp>
        <p:nvGrpSpPr>
          <p:cNvPr name="Group 189" id="189"/>
          <p:cNvGrpSpPr/>
          <p:nvPr/>
        </p:nvGrpSpPr>
        <p:grpSpPr>
          <a:xfrm rot="0">
            <a:off x="9509760" y="8704326"/>
            <a:ext cx="7863840" cy="420624"/>
            <a:chOff x="0" y="0"/>
            <a:chExt cx="10485120" cy="560832"/>
          </a:xfrm>
        </p:grpSpPr>
        <p:sp>
          <p:nvSpPr>
            <p:cNvPr name="Freeform 190" id="190"/>
            <p:cNvSpPr/>
            <p:nvPr/>
          </p:nvSpPr>
          <p:spPr>
            <a:xfrm flipH="false" flipV="false" rot="0">
              <a:off x="0" y="0"/>
              <a:ext cx="10485120" cy="560832"/>
            </a:xfrm>
            <a:custGeom>
              <a:avLst/>
              <a:gdLst/>
              <a:ahLst/>
              <a:cxnLst/>
              <a:rect r="r" b="b" t="t" l="l"/>
              <a:pathLst>
                <a:path h="560832" w="10485120">
                  <a:moveTo>
                    <a:pt x="0" y="0"/>
                  </a:moveTo>
                  <a:lnTo>
                    <a:pt x="10485120" y="0"/>
                  </a:lnTo>
                  <a:lnTo>
                    <a:pt x="10485120" y="560832"/>
                  </a:lnTo>
                  <a:lnTo>
                    <a:pt x="0" y="560832"/>
                  </a:lnTo>
                  <a:close/>
                </a:path>
              </a:pathLst>
            </a:custGeom>
            <a:blipFill>
              <a:blip r:embed="rId3">
                <a:alphaModFix amt="0"/>
              </a:blip>
              <a:stretch>
                <a:fillRect l="0" t="-314285" r="0" b="-314285"/>
              </a:stretch>
            </a:blipFill>
          </p:spPr>
        </p:sp>
        <p:sp>
          <p:nvSpPr>
            <p:cNvPr name="TextBox 191" id="191"/>
            <p:cNvSpPr txBox="true"/>
            <p:nvPr/>
          </p:nvSpPr>
          <p:spPr>
            <a:xfrm>
              <a:off x="0" y="-38100"/>
              <a:ext cx="10485120" cy="598932"/>
            </a:xfrm>
            <a:prstGeom prst="rect">
              <a:avLst/>
            </a:prstGeom>
          </p:spPr>
          <p:txBody>
            <a:bodyPr anchor="ctr" rtlCol="false" tIns="0" lIns="0" bIns="0" rIns="0"/>
            <a:lstStyle/>
            <a:p>
              <a:pPr algn="l">
                <a:lnSpc>
                  <a:spcPts val="2039"/>
                </a:lnSpc>
              </a:pPr>
              <a:r>
                <a:rPr lang="en-US" sz="1700" b="true">
                  <a:solidFill>
                    <a:srgbClr val="0F6E56"/>
                  </a:solidFill>
                  <a:latin typeface="Calibri (MS) Bold"/>
                  <a:ea typeface="Calibri (MS) Bold"/>
                  <a:cs typeface="Calibri (MS) Bold"/>
                  <a:sym typeface="Calibri (MS) Bold"/>
                </a:rPr>
                <a:t>→ Transformer (L=6 layers)</a:t>
              </a:r>
            </a:p>
          </p:txBody>
        </p:sp>
      </p:grpSp>
      <p:grpSp>
        <p:nvGrpSpPr>
          <p:cNvPr name="Group 192" id="192"/>
          <p:cNvGrpSpPr/>
          <p:nvPr/>
        </p:nvGrpSpPr>
        <p:grpSpPr>
          <a:xfrm rot="0">
            <a:off x="727710" y="9139428"/>
            <a:ext cx="16832580" cy="428244"/>
            <a:chOff x="0" y="0"/>
            <a:chExt cx="22443440" cy="570992"/>
          </a:xfrm>
        </p:grpSpPr>
        <p:sp>
          <p:nvSpPr>
            <p:cNvPr name="Freeform 193" id="193"/>
            <p:cNvSpPr/>
            <p:nvPr/>
          </p:nvSpPr>
          <p:spPr>
            <a:xfrm flipH="false" flipV="false" rot="0">
              <a:off x="5080" y="5080"/>
              <a:ext cx="22433281" cy="560832"/>
            </a:xfrm>
            <a:custGeom>
              <a:avLst/>
              <a:gdLst/>
              <a:ahLst/>
              <a:cxnLst/>
              <a:rect r="r" b="b" t="t" l="l"/>
              <a:pathLst>
                <a:path h="560832" w="22433281">
                  <a:moveTo>
                    <a:pt x="0" y="0"/>
                  </a:moveTo>
                  <a:lnTo>
                    <a:pt x="22433281" y="0"/>
                  </a:lnTo>
                  <a:lnTo>
                    <a:pt x="22433281" y="560832"/>
                  </a:lnTo>
                  <a:lnTo>
                    <a:pt x="0" y="560832"/>
                  </a:lnTo>
                  <a:close/>
                </a:path>
              </a:pathLst>
            </a:custGeom>
            <a:solidFill>
              <a:srgbClr val="F8FAFC"/>
            </a:solidFill>
          </p:spPr>
        </p:sp>
        <p:sp>
          <p:nvSpPr>
            <p:cNvPr name="Freeform 194" id="194"/>
            <p:cNvSpPr/>
            <p:nvPr/>
          </p:nvSpPr>
          <p:spPr>
            <a:xfrm flipH="false" flipV="false" rot="0">
              <a:off x="0" y="0"/>
              <a:ext cx="22443441" cy="570992"/>
            </a:xfrm>
            <a:custGeom>
              <a:avLst/>
              <a:gdLst/>
              <a:ahLst/>
              <a:cxnLst/>
              <a:rect r="r" b="b" t="t" l="l"/>
              <a:pathLst>
                <a:path h="570992" w="22443441">
                  <a:moveTo>
                    <a:pt x="5080" y="0"/>
                  </a:moveTo>
                  <a:lnTo>
                    <a:pt x="22438361" y="0"/>
                  </a:lnTo>
                  <a:cubicBezTo>
                    <a:pt x="22441154" y="0"/>
                    <a:pt x="22443441" y="2286"/>
                    <a:pt x="22443441" y="5080"/>
                  </a:cubicBezTo>
                  <a:lnTo>
                    <a:pt x="22443441" y="565912"/>
                  </a:lnTo>
                  <a:cubicBezTo>
                    <a:pt x="22443441" y="568706"/>
                    <a:pt x="22441154" y="570992"/>
                    <a:pt x="22438361" y="570992"/>
                  </a:cubicBezTo>
                  <a:lnTo>
                    <a:pt x="5080" y="570992"/>
                  </a:lnTo>
                  <a:cubicBezTo>
                    <a:pt x="2286" y="570992"/>
                    <a:pt x="0" y="568706"/>
                    <a:pt x="0" y="565912"/>
                  </a:cubicBezTo>
                  <a:lnTo>
                    <a:pt x="0" y="5080"/>
                  </a:lnTo>
                  <a:cubicBezTo>
                    <a:pt x="0" y="2286"/>
                    <a:pt x="2286" y="0"/>
                    <a:pt x="5080" y="0"/>
                  </a:cubicBezTo>
                  <a:moveTo>
                    <a:pt x="5080" y="10160"/>
                  </a:moveTo>
                  <a:lnTo>
                    <a:pt x="5080" y="5080"/>
                  </a:lnTo>
                  <a:lnTo>
                    <a:pt x="10160" y="5080"/>
                  </a:lnTo>
                  <a:lnTo>
                    <a:pt x="10160" y="565912"/>
                  </a:lnTo>
                  <a:lnTo>
                    <a:pt x="5080" y="565912"/>
                  </a:lnTo>
                  <a:lnTo>
                    <a:pt x="5080" y="560832"/>
                  </a:lnTo>
                  <a:lnTo>
                    <a:pt x="22438361" y="560832"/>
                  </a:lnTo>
                  <a:lnTo>
                    <a:pt x="22438361" y="565912"/>
                  </a:lnTo>
                  <a:lnTo>
                    <a:pt x="22433280" y="565912"/>
                  </a:lnTo>
                  <a:lnTo>
                    <a:pt x="22433280" y="5080"/>
                  </a:lnTo>
                  <a:lnTo>
                    <a:pt x="22438361" y="5080"/>
                  </a:lnTo>
                  <a:lnTo>
                    <a:pt x="22438361" y="10160"/>
                  </a:lnTo>
                  <a:lnTo>
                    <a:pt x="5080" y="10160"/>
                  </a:lnTo>
                  <a:close/>
                </a:path>
              </a:pathLst>
            </a:custGeom>
            <a:solidFill>
              <a:srgbClr val="E2E8F0"/>
            </a:solidFill>
          </p:spPr>
        </p:sp>
      </p:grpSp>
      <p:grpSp>
        <p:nvGrpSpPr>
          <p:cNvPr name="Group 195" id="195"/>
          <p:cNvGrpSpPr/>
          <p:nvPr/>
        </p:nvGrpSpPr>
        <p:grpSpPr>
          <a:xfrm rot="0">
            <a:off x="718823" y="9130541"/>
            <a:ext cx="116843" cy="446027"/>
            <a:chOff x="0" y="0"/>
            <a:chExt cx="155791" cy="594703"/>
          </a:xfrm>
        </p:grpSpPr>
        <p:sp>
          <p:nvSpPr>
            <p:cNvPr name="Freeform 196" id="196"/>
            <p:cNvSpPr/>
            <p:nvPr/>
          </p:nvSpPr>
          <p:spPr>
            <a:xfrm flipH="false" flipV="false" rot="0">
              <a:off x="16891" y="16891"/>
              <a:ext cx="121920" cy="560832"/>
            </a:xfrm>
            <a:custGeom>
              <a:avLst/>
              <a:gdLst/>
              <a:ahLst/>
              <a:cxnLst/>
              <a:rect r="r" b="b" t="t" l="l"/>
              <a:pathLst>
                <a:path h="560832" w="121920">
                  <a:moveTo>
                    <a:pt x="0" y="0"/>
                  </a:moveTo>
                  <a:lnTo>
                    <a:pt x="121920" y="0"/>
                  </a:lnTo>
                  <a:lnTo>
                    <a:pt x="121920" y="560832"/>
                  </a:lnTo>
                  <a:lnTo>
                    <a:pt x="0" y="560832"/>
                  </a:lnTo>
                  <a:close/>
                </a:path>
              </a:pathLst>
            </a:custGeom>
            <a:solidFill>
              <a:srgbClr val="059669"/>
            </a:solidFill>
          </p:spPr>
        </p:sp>
        <p:sp>
          <p:nvSpPr>
            <p:cNvPr name="Freeform 197" id="197"/>
            <p:cNvSpPr/>
            <p:nvPr/>
          </p:nvSpPr>
          <p:spPr>
            <a:xfrm flipH="false" flipV="false" rot="0">
              <a:off x="0" y="0"/>
              <a:ext cx="155702" cy="594616"/>
            </a:xfrm>
            <a:custGeom>
              <a:avLst/>
              <a:gdLst/>
              <a:ahLst/>
              <a:cxnLst/>
              <a:rect r="r" b="b" t="t" l="l"/>
              <a:pathLst>
                <a:path h="594616" w="155702">
                  <a:moveTo>
                    <a:pt x="16891" y="0"/>
                  </a:moveTo>
                  <a:lnTo>
                    <a:pt x="138811" y="0"/>
                  </a:lnTo>
                  <a:cubicBezTo>
                    <a:pt x="148209" y="0"/>
                    <a:pt x="155702" y="7620"/>
                    <a:pt x="155702" y="16891"/>
                  </a:cubicBezTo>
                  <a:lnTo>
                    <a:pt x="155702" y="577723"/>
                  </a:lnTo>
                  <a:cubicBezTo>
                    <a:pt x="155702" y="587121"/>
                    <a:pt x="148082" y="594614"/>
                    <a:pt x="138811" y="594614"/>
                  </a:cubicBezTo>
                  <a:lnTo>
                    <a:pt x="16891" y="594614"/>
                  </a:lnTo>
                  <a:cubicBezTo>
                    <a:pt x="7620" y="594741"/>
                    <a:pt x="0" y="587121"/>
                    <a:pt x="0" y="577723"/>
                  </a:cubicBezTo>
                  <a:lnTo>
                    <a:pt x="0" y="16891"/>
                  </a:lnTo>
                  <a:cubicBezTo>
                    <a:pt x="0" y="7620"/>
                    <a:pt x="7620" y="0"/>
                    <a:pt x="16891" y="0"/>
                  </a:cubicBezTo>
                  <a:moveTo>
                    <a:pt x="16891" y="33909"/>
                  </a:moveTo>
                  <a:lnTo>
                    <a:pt x="16891" y="16891"/>
                  </a:lnTo>
                  <a:lnTo>
                    <a:pt x="33909" y="16891"/>
                  </a:lnTo>
                  <a:lnTo>
                    <a:pt x="33909" y="577723"/>
                  </a:lnTo>
                  <a:lnTo>
                    <a:pt x="16891" y="577723"/>
                  </a:lnTo>
                  <a:lnTo>
                    <a:pt x="16891" y="560832"/>
                  </a:lnTo>
                  <a:lnTo>
                    <a:pt x="138811" y="560832"/>
                  </a:lnTo>
                  <a:lnTo>
                    <a:pt x="138811" y="577723"/>
                  </a:lnTo>
                  <a:lnTo>
                    <a:pt x="121920" y="577723"/>
                  </a:lnTo>
                  <a:lnTo>
                    <a:pt x="121920" y="16891"/>
                  </a:lnTo>
                  <a:lnTo>
                    <a:pt x="138811" y="16891"/>
                  </a:lnTo>
                  <a:lnTo>
                    <a:pt x="138811" y="33909"/>
                  </a:lnTo>
                  <a:lnTo>
                    <a:pt x="16891" y="33909"/>
                  </a:lnTo>
                  <a:close/>
                </a:path>
              </a:pathLst>
            </a:custGeom>
            <a:solidFill>
              <a:srgbClr val="059669"/>
            </a:solidFill>
          </p:spPr>
        </p:sp>
      </p:grpSp>
      <p:grpSp>
        <p:nvGrpSpPr>
          <p:cNvPr name="Group 198" id="198"/>
          <p:cNvGrpSpPr/>
          <p:nvPr/>
        </p:nvGrpSpPr>
        <p:grpSpPr>
          <a:xfrm rot="0">
            <a:off x="950976" y="9143238"/>
            <a:ext cx="2889504" cy="420624"/>
            <a:chOff x="0" y="0"/>
            <a:chExt cx="3852672" cy="560832"/>
          </a:xfrm>
        </p:grpSpPr>
        <p:sp>
          <p:nvSpPr>
            <p:cNvPr name="Freeform 199" id="199"/>
            <p:cNvSpPr/>
            <p:nvPr/>
          </p:nvSpPr>
          <p:spPr>
            <a:xfrm flipH="false" flipV="false" rot="0">
              <a:off x="0" y="0"/>
              <a:ext cx="3852672" cy="560832"/>
            </a:xfrm>
            <a:custGeom>
              <a:avLst/>
              <a:gdLst/>
              <a:ahLst/>
              <a:cxnLst/>
              <a:rect r="r" b="b" t="t" l="l"/>
              <a:pathLst>
                <a:path h="560832" w="3852672">
                  <a:moveTo>
                    <a:pt x="0" y="0"/>
                  </a:moveTo>
                  <a:lnTo>
                    <a:pt x="3852672" y="0"/>
                  </a:lnTo>
                  <a:lnTo>
                    <a:pt x="3852672" y="560832"/>
                  </a:lnTo>
                  <a:lnTo>
                    <a:pt x="0" y="560832"/>
                  </a:lnTo>
                  <a:close/>
                </a:path>
              </a:pathLst>
            </a:custGeom>
            <a:blipFill>
              <a:blip r:embed="rId3">
                <a:alphaModFix amt="0"/>
              </a:blip>
              <a:stretch>
                <a:fillRect l="0" t="-83853" r="0" b="-83853"/>
              </a:stretch>
            </a:blipFill>
          </p:spPr>
        </p:sp>
        <p:sp>
          <p:nvSpPr>
            <p:cNvPr name="TextBox 200" id="200"/>
            <p:cNvSpPr txBox="true"/>
            <p:nvPr/>
          </p:nvSpPr>
          <p:spPr>
            <a:xfrm>
              <a:off x="0" y="-38100"/>
              <a:ext cx="3852672" cy="598932"/>
            </a:xfrm>
            <a:prstGeom prst="rect">
              <a:avLst/>
            </a:prstGeom>
          </p:spPr>
          <p:txBody>
            <a:bodyPr anchor="ctr" rtlCol="false" tIns="0" lIns="0" bIns="0" rIns="0"/>
            <a:lstStyle/>
            <a:p>
              <a:pPr algn="l">
                <a:lnSpc>
                  <a:spcPts val="2039"/>
                </a:lnSpc>
              </a:pPr>
              <a:r>
                <a:rPr lang="en-US" sz="1700" b="true">
                  <a:solidFill>
                    <a:srgbClr val="1E293B"/>
                  </a:solidFill>
                  <a:latin typeface="Calibri (MS) Bold"/>
                  <a:ea typeface="Calibri (MS) Bold"/>
                  <a:cs typeface="Calibri (MS) Bold"/>
                  <a:sym typeface="Calibri (MS) Bold"/>
                </a:rPr>
                <a:t>Inference</a:t>
              </a:r>
            </a:p>
          </p:txBody>
        </p:sp>
      </p:grpSp>
      <p:grpSp>
        <p:nvGrpSpPr>
          <p:cNvPr name="Group 201" id="201"/>
          <p:cNvGrpSpPr/>
          <p:nvPr/>
        </p:nvGrpSpPr>
        <p:grpSpPr>
          <a:xfrm rot="0">
            <a:off x="3931920" y="9143238"/>
            <a:ext cx="5394960" cy="420624"/>
            <a:chOff x="0" y="0"/>
            <a:chExt cx="7193280" cy="560832"/>
          </a:xfrm>
        </p:grpSpPr>
        <p:sp>
          <p:nvSpPr>
            <p:cNvPr name="Freeform 202" id="202"/>
            <p:cNvSpPr/>
            <p:nvPr/>
          </p:nvSpPr>
          <p:spPr>
            <a:xfrm flipH="false" flipV="false" rot="0">
              <a:off x="0" y="0"/>
              <a:ext cx="7193280" cy="560832"/>
            </a:xfrm>
            <a:custGeom>
              <a:avLst/>
              <a:gdLst/>
              <a:ahLst/>
              <a:cxnLst/>
              <a:rect r="r" b="b" t="t" l="l"/>
              <a:pathLst>
                <a:path h="560832" w="7193280">
                  <a:moveTo>
                    <a:pt x="0" y="0"/>
                  </a:moveTo>
                  <a:lnTo>
                    <a:pt x="7193280" y="0"/>
                  </a:lnTo>
                  <a:lnTo>
                    <a:pt x="7193280" y="560832"/>
                  </a:lnTo>
                  <a:lnTo>
                    <a:pt x="0" y="560832"/>
                  </a:lnTo>
                  <a:close/>
                </a:path>
              </a:pathLst>
            </a:custGeom>
            <a:blipFill>
              <a:blip r:embed="rId3">
                <a:alphaModFix amt="0"/>
              </a:blip>
              <a:stretch>
                <a:fillRect l="0" t="-199916" r="0" b="-199916"/>
              </a:stretch>
            </a:blipFill>
          </p:spPr>
        </p:sp>
        <p:sp>
          <p:nvSpPr>
            <p:cNvPr name="TextBox 203" id="203"/>
            <p:cNvSpPr txBox="true"/>
            <p:nvPr/>
          </p:nvSpPr>
          <p:spPr>
            <a:xfrm>
              <a:off x="0" y="-38100"/>
              <a:ext cx="7193280" cy="598932"/>
            </a:xfrm>
            <a:prstGeom prst="rect">
              <a:avLst/>
            </a:prstGeom>
          </p:spPr>
          <p:txBody>
            <a:bodyPr anchor="ctr" rtlCol="false" tIns="0" lIns="0" bIns="0" rIns="0"/>
            <a:lstStyle/>
            <a:p>
              <a:pPr algn="l">
                <a:lnSpc>
                  <a:spcPts val="2039"/>
                </a:lnSpc>
              </a:pPr>
              <a:r>
                <a:rPr lang="en-US" sz="1700">
                  <a:solidFill>
                    <a:srgbClr val="E05B4B"/>
                  </a:solidFill>
                  <a:latin typeface="Calibri (MS)"/>
                  <a:ea typeface="Calibri (MS)"/>
                  <a:cs typeface="Calibri (MS)"/>
                  <a:sym typeface="Calibri (MS)"/>
                </a:rPr>
                <a:t>Greedy decode</a:t>
              </a:r>
            </a:p>
          </p:txBody>
        </p:sp>
      </p:grpSp>
      <p:grpSp>
        <p:nvGrpSpPr>
          <p:cNvPr name="Group 204" id="204"/>
          <p:cNvGrpSpPr/>
          <p:nvPr/>
        </p:nvGrpSpPr>
        <p:grpSpPr>
          <a:xfrm rot="0">
            <a:off x="9509760" y="9143238"/>
            <a:ext cx="7863840" cy="420624"/>
            <a:chOff x="0" y="0"/>
            <a:chExt cx="10485120" cy="560832"/>
          </a:xfrm>
        </p:grpSpPr>
        <p:sp>
          <p:nvSpPr>
            <p:cNvPr name="Freeform 205" id="205"/>
            <p:cNvSpPr/>
            <p:nvPr/>
          </p:nvSpPr>
          <p:spPr>
            <a:xfrm flipH="false" flipV="false" rot="0">
              <a:off x="0" y="0"/>
              <a:ext cx="10485120" cy="560832"/>
            </a:xfrm>
            <a:custGeom>
              <a:avLst/>
              <a:gdLst/>
              <a:ahLst/>
              <a:cxnLst/>
              <a:rect r="r" b="b" t="t" l="l"/>
              <a:pathLst>
                <a:path h="560832" w="10485120">
                  <a:moveTo>
                    <a:pt x="0" y="0"/>
                  </a:moveTo>
                  <a:lnTo>
                    <a:pt x="10485120" y="0"/>
                  </a:lnTo>
                  <a:lnTo>
                    <a:pt x="10485120" y="560832"/>
                  </a:lnTo>
                  <a:lnTo>
                    <a:pt x="0" y="560832"/>
                  </a:lnTo>
                  <a:close/>
                </a:path>
              </a:pathLst>
            </a:custGeom>
            <a:blipFill>
              <a:blip r:embed="rId3">
                <a:alphaModFix amt="0"/>
              </a:blip>
              <a:stretch>
                <a:fillRect l="0" t="-314285" r="0" b="-314285"/>
              </a:stretch>
            </a:blipFill>
          </p:spPr>
        </p:sp>
        <p:sp>
          <p:nvSpPr>
            <p:cNvPr name="TextBox 206" id="206"/>
            <p:cNvSpPr txBox="true"/>
            <p:nvPr/>
          </p:nvSpPr>
          <p:spPr>
            <a:xfrm>
              <a:off x="0" y="-38100"/>
              <a:ext cx="10485120" cy="598932"/>
            </a:xfrm>
            <a:prstGeom prst="rect">
              <a:avLst/>
            </a:prstGeom>
          </p:spPr>
          <p:txBody>
            <a:bodyPr anchor="ctr" rtlCol="false" tIns="0" lIns="0" bIns="0" rIns="0"/>
            <a:lstStyle/>
            <a:p>
              <a:pPr algn="l">
                <a:lnSpc>
                  <a:spcPts val="2039"/>
                </a:lnSpc>
              </a:pPr>
              <a:r>
                <a:rPr lang="en-US" sz="1700" b="true">
                  <a:solidFill>
                    <a:srgbClr val="0F6E56"/>
                  </a:solidFill>
                  <a:latin typeface="Calibri (MS) Bold"/>
                  <a:ea typeface="Calibri (MS) Bold"/>
                  <a:cs typeface="Calibri (MS) Bold"/>
                  <a:sym typeface="Calibri (MS) Bold"/>
                </a:rPr>
                <a:t>→ Beam search + CLIP re-rank</a:t>
              </a:r>
            </a:p>
          </p:txBody>
        </p:sp>
      </p:grpSp>
      <p:grpSp>
        <p:nvGrpSpPr>
          <p:cNvPr name="Group 207" id="207"/>
          <p:cNvGrpSpPr/>
          <p:nvPr/>
        </p:nvGrpSpPr>
        <p:grpSpPr>
          <a:xfrm rot="0">
            <a:off x="727710" y="9578340"/>
            <a:ext cx="16832580" cy="428244"/>
            <a:chOff x="0" y="0"/>
            <a:chExt cx="22443440" cy="570992"/>
          </a:xfrm>
        </p:grpSpPr>
        <p:sp>
          <p:nvSpPr>
            <p:cNvPr name="Freeform 208" id="208"/>
            <p:cNvSpPr/>
            <p:nvPr/>
          </p:nvSpPr>
          <p:spPr>
            <a:xfrm flipH="false" flipV="false" rot="0">
              <a:off x="5080" y="5080"/>
              <a:ext cx="22433281" cy="560832"/>
            </a:xfrm>
            <a:custGeom>
              <a:avLst/>
              <a:gdLst/>
              <a:ahLst/>
              <a:cxnLst/>
              <a:rect r="r" b="b" t="t" l="l"/>
              <a:pathLst>
                <a:path h="560832" w="22433281">
                  <a:moveTo>
                    <a:pt x="0" y="0"/>
                  </a:moveTo>
                  <a:lnTo>
                    <a:pt x="22433281" y="0"/>
                  </a:lnTo>
                  <a:lnTo>
                    <a:pt x="22433281" y="560832"/>
                  </a:lnTo>
                  <a:lnTo>
                    <a:pt x="0" y="560832"/>
                  </a:lnTo>
                  <a:close/>
                </a:path>
              </a:pathLst>
            </a:custGeom>
            <a:solidFill>
              <a:srgbClr val="FFFFFF"/>
            </a:solidFill>
          </p:spPr>
        </p:sp>
        <p:sp>
          <p:nvSpPr>
            <p:cNvPr name="Freeform 209" id="209"/>
            <p:cNvSpPr/>
            <p:nvPr/>
          </p:nvSpPr>
          <p:spPr>
            <a:xfrm flipH="false" flipV="false" rot="0">
              <a:off x="0" y="0"/>
              <a:ext cx="22443441" cy="570992"/>
            </a:xfrm>
            <a:custGeom>
              <a:avLst/>
              <a:gdLst/>
              <a:ahLst/>
              <a:cxnLst/>
              <a:rect r="r" b="b" t="t" l="l"/>
              <a:pathLst>
                <a:path h="570992" w="22443441">
                  <a:moveTo>
                    <a:pt x="5080" y="0"/>
                  </a:moveTo>
                  <a:lnTo>
                    <a:pt x="22438361" y="0"/>
                  </a:lnTo>
                  <a:cubicBezTo>
                    <a:pt x="22441154" y="0"/>
                    <a:pt x="22443441" y="2286"/>
                    <a:pt x="22443441" y="5080"/>
                  </a:cubicBezTo>
                  <a:lnTo>
                    <a:pt x="22443441" y="565912"/>
                  </a:lnTo>
                  <a:cubicBezTo>
                    <a:pt x="22443441" y="568706"/>
                    <a:pt x="22441154" y="570992"/>
                    <a:pt x="22438361" y="570992"/>
                  </a:cubicBezTo>
                  <a:lnTo>
                    <a:pt x="5080" y="570992"/>
                  </a:lnTo>
                  <a:cubicBezTo>
                    <a:pt x="2286" y="570992"/>
                    <a:pt x="0" y="568706"/>
                    <a:pt x="0" y="565912"/>
                  </a:cubicBezTo>
                  <a:lnTo>
                    <a:pt x="0" y="5080"/>
                  </a:lnTo>
                  <a:cubicBezTo>
                    <a:pt x="0" y="2286"/>
                    <a:pt x="2286" y="0"/>
                    <a:pt x="5080" y="0"/>
                  </a:cubicBezTo>
                  <a:moveTo>
                    <a:pt x="5080" y="10160"/>
                  </a:moveTo>
                  <a:lnTo>
                    <a:pt x="5080" y="5080"/>
                  </a:lnTo>
                  <a:lnTo>
                    <a:pt x="10160" y="5080"/>
                  </a:lnTo>
                  <a:lnTo>
                    <a:pt x="10160" y="565912"/>
                  </a:lnTo>
                  <a:lnTo>
                    <a:pt x="5080" y="565912"/>
                  </a:lnTo>
                  <a:lnTo>
                    <a:pt x="5080" y="560832"/>
                  </a:lnTo>
                  <a:lnTo>
                    <a:pt x="22438361" y="560832"/>
                  </a:lnTo>
                  <a:lnTo>
                    <a:pt x="22438361" y="565912"/>
                  </a:lnTo>
                  <a:lnTo>
                    <a:pt x="22433280" y="565912"/>
                  </a:lnTo>
                  <a:lnTo>
                    <a:pt x="22433280" y="5080"/>
                  </a:lnTo>
                  <a:lnTo>
                    <a:pt x="22438361" y="5080"/>
                  </a:lnTo>
                  <a:lnTo>
                    <a:pt x="22438361" y="10160"/>
                  </a:lnTo>
                  <a:lnTo>
                    <a:pt x="5080" y="10160"/>
                  </a:lnTo>
                  <a:close/>
                </a:path>
              </a:pathLst>
            </a:custGeom>
            <a:solidFill>
              <a:srgbClr val="E2E8F0"/>
            </a:solidFill>
          </p:spPr>
        </p:sp>
      </p:grpSp>
      <p:grpSp>
        <p:nvGrpSpPr>
          <p:cNvPr name="Group 210" id="210"/>
          <p:cNvGrpSpPr/>
          <p:nvPr/>
        </p:nvGrpSpPr>
        <p:grpSpPr>
          <a:xfrm rot="0">
            <a:off x="718823" y="9569453"/>
            <a:ext cx="116843" cy="446027"/>
            <a:chOff x="0" y="0"/>
            <a:chExt cx="155791" cy="594703"/>
          </a:xfrm>
        </p:grpSpPr>
        <p:sp>
          <p:nvSpPr>
            <p:cNvPr name="Freeform 211" id="211"/>
            <p:cNvSpPr/>
            <p:nvPr/>
          </p:nvSpPr>
          <p:spPr>
            <a:xfrm flipH="false" flipV="false" rot="0">
              <a:off x="16891" y="16891"/>
              <a:ext cx="121920" cy="560832"/>
            </a:xfrm>
            <a:custGeom>
              <a:avLst/>
              <a:gdLst/>
              <a:ahLst/>
              <a:cxnLst/>
              <a:rect r="r" b="b" t="t" l="l"/>
              <a:pathLst>
                <a:path h="560832" w="121920">
                  <a:moveTo>
                    <a:pt x="0" y="0"/>
                  </a:moveTo>
                  <a:lnTo>
                    <a:pt x="121920" y="0"/>
                  </a:lnTo>
                  <a:lnTo>
                    <a:pt x="121920" y="560832"/>
                  </a:lnTo>
                  <a:lnTo>
                    <a:pt x="0" y="560832"/>
                  </a:lnTo>
                  <a:close/>
                </a:path>
              </a:pathLst>
            </a:custGeom>
            <a:solidFill>
              <a:srgbClr val="059669"/>
            </a:solidFill>
          </p:spPr>
        </p:sp>
        <p:sp>
          <p:nvSpPr>
            <p:cNvPr name="Freeform 212" id="212"/>
            <p:cNvSpPr/>
            <p:nvPr/>
          </p:nvSpPr>
          <p:spPr>
            <a:xfrm flipH="false" flipV="false" rot="0">
              <a:off x="0" y="0"/>
              <a:ext cx="155702" cy="594616"/>
            </a:xfrm>
            <a:custGeom>
              <a:avLst/>
              <a:gdLst/>
              <a:ahLst/>
              <a:cxnLst/>
              <a:rect r="r" b="b" t="t" l="l"/>
              <a:pathLst>
                <a:path h="594616" w="155702">
                  <a:moveTo>
                    <a:pt x="16891" y="0"/>
                  </a:moveTo>
                  <a:lnTo>
                    <a:pt x="138811" y="0"/>
                  </a:lnTo>
                  <a:cubicBezTo>
                    <a:pt x="148209" y="0"/>
                    <a:pt x="155702" y="7620"/>
                    <a:pt x="155702" y="16891"/>
                  </a:cubicBezTo>
                  <a:lnTo>
                    <a:pt x="155702" y="577723"/>
                  </a:lnTo>
                  <a:cubicBezTo>
                    <a:pt x="155702" y="587121"/>
                    <a:pt x="148082" y="594614"/>
                    <a:pt x="138811" y="594614"/>
                  </a:cubicBezTo>
                  <a:lnTo>
                    <a:pt x="16891" y="594614"/>
                  </a:lnTo>
                  <a:cubicBezTo>
                    <a:pt x="7620" y="594741"/>
                    <a:pt x="0" y="587121"/>
                    <a:pt x="0" y="577723"/>
                  </a:cubicBezTo>
                  <a:lnTo>
                    <a:pt x="0" y="16891"/>
                  </a:lnTo>
                  <a:cubicBezTo>
                    <a:pt x="0" y="7620"/>
                    <a:pt x="7620" y="0"/>
                    <a:pt x="16891" y="0"/>
                  </a:cubicBezTo>
                  <a:moveTo>
                    <a:pt x="16891" y="33909"/>
                  </a:moveTo>
                  <a:lnTo>
                    <a:pt x="16891" y="16891"/>
                  </a:lnTo>
                  <a:lnTo>
                    <a:pt x="33909" y="16891"/>
                  </a:lnTo>
                  <a:lnTo>
                    <a:pt x="33909" y="577723"/>
                  </a:lnTo>
                  <a:lnTo>
                    <a:pt x="16891" y="577723"/>
                  </a:lnTo>
                  <a:lnTo>
                    <a:pt x="16891" y="560832"/>
                  </a:lnTo>
                  <a:lnTo>
                    <a:pt x="138811" y="560832"/>
                  </a:lnTo>
                  <a:lnTo>
                    <a:pt x="138811" y="577723"/>
                  </a:lnTo>
                  <a:lnTo>
                    <a:pt x="121920" y="577723"/>
                  </a:lnTo>
                  <a:lnTo>
                    <a:pt x="121920" y="16891"/>
                  </a:lnTo>
                  <a:lnTo>
                    <a:pt x="138811" y="16891"/>
                  </a:lnTo>
                  <a:lnTo>
                    <a:pt x="138811" y="33909"/>
                  </a:lnTo>
                  <a:lnTo>
                    <a:pt x="16891" y="33909"/>
                  </a:lnTo>
                  <a:close/>
                </a:path>
              </a:pathLst>
            </a:custGeom>
            <a:solidFill>
              <a:srgbClr val="059669"/>
            </a:solidFill>
          </p:spPr>
        </p:sp>
      </p:grpSp>
      <p:grpSp>
        <p:nvGrpSpPr>
          <p:cNvPr name="Group 213" id="213"/>
          <p:cNvGrpSpPr/>
          <p:nvPr/>
        </p:nvGrpSpPr>
        <p:grpSpPr>
          <a:xfrm rot="0">
            <a:off x="950976" y="9582150"/>
            <a:ext cx="2889504" cy="420624"/>
            <a:chOff x="0" y="0"/>
            <a:chExt cx="3852672" cy="560832"/>
          </a:xfrm>
        </p:grpSpPr>
        <p:sp>
          <p:nvSpPr>
            <p:cNvPr name="Freeform 214" id="214"/>
            <p:cNvSpPr/>
            <p:nvPr/>
          </p:nvSpPr>
          <p:spPr>
            <a:xfrm flipH="false" flipV="false" rot="0">
              <a:off x="0" y="0"/>
              <a:ext cx="3852672" cy="560832"/>
            </a:xfrm>
            <a:custGeom>
              <a:avLst/>
              <a:gdLst/>
              <a:ahLst/>
              <a:cxnLst/>
              <a:rect r="r" b="b" t="t" l="l"/>
              <a:pathLst>
                <a:path h="560832" w="3852672">
                  <a:moveTo>
                    <a:pt x="0" y="0"/>
                  </a:moveTo>
                  <a:lnTo>
                    <a:pt x="3852672" y="0"/>
                  </a:lnTo>
                  <a:lnTo>
                    <a:pt x="3852672" y="560832"/>
                  </a:lnTo>
                  <a:lnTo>
                    <a:pt x="0" y="560832"/>
                  </a:lnTo>
                  <a:close/>
                </a:path>
              </a:pathLst>
            </a:custGeom>
            <a:blipFill>
              <a:blip r:embed="rId3">
                <a:alphaModFix amt="0"/>
              </a:blip>
              <a:stretch>
                <a:fillRect l="0" t="-83853" r="0" b="-83853"/>
              </a:stretch>
            </a:blipFill>
          </p:spPr>
        </p:sp>
        <p:sp>
          <p:nvSpPr>
            <p:cNvPr name="TextBox 215" id="215"/>
            <p:cNvSpPr txBox="true"/>
            <p:nvPr/>
          </p:nvSpPr>
          <p:spPr>
            <a:xfrm>
              <a:off x="0" y="-38100"/>
              <a:ext cx="3852672" cy="598932"/>
            </a:xfrm>
            <a:prstGeom prst="rect">
              <a:avLst/>
            </a:prstGeom>
          </p:spPr>
          <p:txBody>
            <a:bodyPr anchor="ctr" rtlCol="false" tIns="0" lIns="0" bIns="0" rIns="0"/>
            <a:lstStyle/>
            <a:p>
              <a:pPr algn="l">
                <a:lnSpc>
                  <a:spcPts val="2039"/>
                </a:lnSpc>
              </a:pPr>
              <a:r>
                <a:rPr lang="en-US" sz="1700" b="true">
                  <a:solidFill>
                    <a:srgbClr val="1E293B"/>
                  </a:solidFill>
                  <a:latin typeface="Calibri (MS) Bold"/>
                  <a:ea typeface="Calibri (MS) Bold"/>
                  <a:cs typeface="Calibri (MS) Bold"/>
                  <a:sym typeface="Calibri (MS) Bold"/>
                </a:rPr>
                <a:t>Training Phase 3</a:t>
              </a:r>
            </a:p>
          </p:txBody>
        </p:sp>
      </p:grpSp>
      <p:grpSp>
        <p:nvGrpSpPr>
          <p:cNvPr name="Group 216" id="216"/>
          <p:cNvGrpSpPr/>
          <p:nvPr/>
        </p:nvGrpSpPr>
        <p:grpSpPr>
          <a:xfrm rot="0">
            <a:off x="3931920" y="9582150"/>
            <a:ext cx="5394960" cy="420624"/>
            <a:chOff x="0" y="0"/>
            <a:chExt cx="7193280" cy="560832"/>
          </a:xfrm>
        </p:grpSpPr>
        <p:sp>
          <p:nvSpPr>
            <p:cNvPr name="Freeform 217" id="217"/>
            <p:cNvSpPr/>
            <p:nvPr/>
          </p:nvSpPr>
          <p:spPr>
            <a:xfrm flipH="false" flipV="false" rot="0">
              <a:off x="0" y="0"/>
              <a:ext cx="7193280" cy="560832"/>
            </a:xfrm>
            <a:custGeom>
              <a:avLst/>
              <a:gdLst/>
              <a:ahLst/>
              <a:cxnLst/>
              <a:rect r="r" b="b" t="t" l="l"/>
              <a:pathLst>
                <a:path h="560832" w="7193280">
                  <a:moveTo>
                    <a:pt x="0" y="0"/>
                  </a:moveTo>
                  <a:lnTo>
                    <a:pt x="7193280" y="0"/>
                  </a:lnTo>
                  <a:lnTo>
                    <a:pt x="7193280" y="560832"/>
                  </a:lnTo>
                  <a:lnTo>
                    <a:pt x="0" y="560832"/>
                  </a:lnTo>
                  <a:close/>
                </a:path>
              </a:pathLst>
            </a:custGeom>
            <a:blipFill>
              <a:blip r:embed="rId3">
                <a:alphaModFix amt="0"/>
              </a:blip>
              <a:stretch>
                <a:fillRect l="0" t="-199916" r="0" b="-199916"/>
              </a:stretch>
            </a:blipFill>
          </p:spPr>
        </p:sp>
        <p:sp>
          <p:nvSpPr>
            <p:cNvPr name="TextBox 218" id="218"/>
            <p:cNvSpPr txBox="true"/>
            <p:nvPr/>
          </p:nvSpPr>
          <p:spPr>
            <a:xfrm>
              <a:off x="0" y="-38100"/>
              <a:ext cx="7193280" cy="598932"/>
            </a:xfrm>
            <a:prstGeom prst="rect">
              <a:avLst/>
            </a:prstGeom>
          </p:spPr>
          <p:txBody>
            <a:bodyPr anchor="ctr" rtlCol="false" tIns="0" lIns="0" bIns="0" rIns="0"/>
            <a:lstStyle/>
            <a:p>
              <a:pPr algn="l">
                <a:lnSpc>
                  <a:spcPts val="2039"/>
                </a:lnSpc>
              </a:pPr>
              <a:r>
                <a:rPr lang="en-US" sz="1700">
                  <a:solidFill>
                    <a:srgbClr val="E05B4B"/>
                  </a:solidFill>
                  <a:latin typeface="Calibri (MS)"/>
                  <a:ea typeface="Calibri (MS)"/>
                  <a:cs typeface="Calibri (MS)"/>
                  <a:sym typeface="Calibri (MS)"/>
                </a:rPr>
                <a:t>—</a:t>
              </a:r>
            </a:p>
          </p:txBody>
        </p:sp>
      </p:grpSp>
      <p:grpSp>
        <p:nvGrpSpPr>
          <p:cNvPr name="Group 219" id="219"/>
          <p:cNvGrpSpPr/>
          <p:nvPr/>
        </p:nvGrpSpPr>
        <p:grpSpPr>
          <a:xfrm rot="0">
            <a:off x="9509760" y="9582150"/>
            <a:ext cx="7863840" cy="420624"/>
            <a:chOff x="0" y="0"/>
            <a:chExt cx="10485120" cy="560832"/>
          </a:xfrm>
        </p:grpSpPr>
        <p:sp>
          <p:nvSpPr>
            <p:cNvPr name="Freeform 220" id="220"/>
            <p:cNvSpPr/>
            <p:nvPr/>
          </p:nvSpPr>
          <p:spPr>
            <a:xfrm flipH="false" flipV="false" rot="0">
              <a:off x="0" y="0"/>
              <a:ext cx="10485120" cy="560832"/>
            </a:xfrm>
            <a:custGeom>
              <a:avLst/>
              <a:gdLst/>
              <a:ahLst/>
              <a:cxnLst/>
              <a:rect r="r" b="b" t="t" l="l"/>
              <a:pathLst>
                <a:path h="560832" w="10485120">
                  <a:moveTo>
                    <a:pt x="0" y="0"/>
                  </a:moveTo>
                  <a:lnTo>
                    <a:pt x="10485120" y="0"/>
                  </a:lnTo>
                  <a:lnTo>
                    <a:pt x="10485120" y="560832"/>
                  </a:lnTo>
                  <a:lnTo>
                    <a:pt x="0" y="560832"/>
                  </a:lnTo>
                  <a:close/>
                </a:path>
              </a:pathLst>
            </a:custGeom>
            <a:blipFill>
              <a:blip r:embed="rId3">
                <a:alphaModFix amt="0"/>
              </a:blip>
              <a:stretch>
                <a:fillRect l="0" t="-314285" r="0" b="-314285"/>
              </a:stretch>
            </a:blipFill>
          </p:spPr>
        </p:sp>
        <p:sp>
          <p:nvSpPr>
            <p:cNvPr name="TextBox 221" id="221"/>
            <p:cNvSpPr txBox="true"/>
            <p:nvPr/>
          </p:nvSpPr>
          <p:spPr>
            <a:xfrm>
              <a:off x="0" y="-38100"/>
              <a:ext cx="10485120" cy="598932"/>
            </a:xfrm>
            <a:prstGeom prst="rect">
              <a:avLst/>
            </a:prstGeom>
          </p:spPr>
          <p:txBody>
            <a:bodyPr anchor="ctr" rtlCol="false" tIns="0" lIns="0" bIns="0" rIns="0"/>
            <a:lstStyle/>
            <a:p>
              <a:pPr algn="l">
                <a:lnSpc>
                  <a:spcPts val="2039"/>
                </a:lnSpc>
              </a:pPr>
              <a:r>
                <a:rPr lang="en-US" sz="1700" b="true">
                  <a:solidFill>
                    <a:srgbClr val="0F6E56"/>
                  </a:solidFill>
                  <a:latin typeface="Calibri (MS) Bold"/>
                  <a:ea typeface="Calibri (MS) Bold"/>
                  <a:cs typeface="Calibri (MS) Bold"/>
                  <a:sym typeface="Calibri (MS) Bold"/>
                </a:rPr>
                <a:t>→ SCST with CIDEr reward</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628"/>
        </a:solidFill>
      </p:bgPr>
    </p:bg>
    <p:spTree>
      <p:nvGrpSpPr>
        <p:cNvPr id="1" name=""/>
        <p:cNvGrpSpPr/>
        <p:nvPr/>
      </p:nvGrpSpPr>
      <p:grpSpPr>
        <a:xfrm>
          <a:off x="0" y="0"/>
          <a:ext cx="0" cy="0"/>
          <a:chOff x="0" y="0"/>
          <a:chExt cx="0" cy="0"/>
        </a:xfrm>
      </p:grpSpPr>
      <p:grpSp>
        <p:nvGrpSpPr>
          <p:cNvPr name="Group 2" id="2"/>
          <p:cNvGrpSpPr/>
          <p:nvPr/>
        </p:nvGrpSpPr>
        <p:grpSpPr>
          <a:xfrm rot="0">
            <a:off x="15714983" y="-12697"/>
            <a:ext cx="2585723" cy="10312403"/>
            <a:chOff x="0" y="0"/>
            <a:chExt cx="3447631" cy="13749871"/>
          </a:xfrm>
        </p:grpSpPr>
        <p:sp>
          <p:nvSpPr>
            <p:cNvPr name="Freeform 3" id="3"/>
            <p:cNvSpPr/>
            <p:nvPr/>
          </p:nvSpPr>
          <p:spPr>
            <a:xfrm flipH="false" flipV="false" rot="0">
              <a:off x="16891" y="16891"/>
              <a:ext cx="3413760" cy="13715999"/>
            </a:xfrm>
            <a:custGeom>
              <a:avLst/>
              <a:gdLst/>
              <a:ahLst/>
              <a:cxnLst/>
              <a:rect r="r" b="b" t="t" l="l"/>
              <a:pathLst>
                <a:path h="13715999" w="3413760">
                  <a:moveTo>
                    <a:pt x="0" y="0"/>
                  </a:moveTo>
                  <a:lnTo>
                    <a:pt x="3413760" y="0"/>
                  </a:lnTo>
                  <a:lnTo>
                    <a:pt x="3413760" y="13715999"/>
                  </a:lnTo>
                  <a:lnTo>
                    <a:pt x="0" y="13715999"/>
                  </a:lnTo>
                  <a:close/>
                </a:path>
              </a:pathLst>
            </a:custGeom>
            <a:solidFill>
              <a:srgbClr val="0F2347"/>
            </a:solidFill>
          </p:spPr>
        </p:sp>
        <p:sp>
          <p:nvSpPr>
            <p:cNvPr name="Freeform 4" id="4"/>
            <p:cNvSpPr/>
            <p:nvPr/>
          </p:nvSpPr>
          <p:spPr>
            <a:xfrm flipH="false" flipV="false" rot="0">
              <a:off x="0" y="0"/>
              <a:ext cx="3447542" cy="13749782"/>
            </a:xfrm>
            <a:custGeom>
              <a:avLst/>
              <a:gdLst/>
              <a:ahLst/>
              <a:cxnLst/>
              <a:rect r="r" b="b" t="t" l="l"/>
              <a:pathLst>
                <a:path h="13749782" w="3447542">
                  <a:moveTo>
                    <a:pt x="16891" y="0"/>
                  </a:moveTo>
                  <a:lnTo>
                    <a:pt x="3430651" y="0"/>
                  </a:lnTo>
                  <a:cubicBezTo>
                    <a:pt x="3440049" y="0"/>
                    <a:pt x="3447542" y="7620"/>
                    <a:pt x="3447542" y="16891"/>
                  </a:cubicBezTo>
                  <a:lnTo>
                    <a:pt x="3447542" y="13732890"/>
                  </a:lnTo>
                  <a:cubicBezTo>
                    <a:pt x="3447542" y="13742290"/>
                    <a:pt x="3439922" y="13749782"/>
                    <a:pt x="3430651"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430651" y="13716000"/>
                  </a:lnTo>
                  <a:lnTo>
                    <a:pt x="3430651" y="13732890"/>
                  </a:lnTo>
                  <a:lnTo>
                    <a:pt x="3413760" y="13732890"/>
                  </a:lnTo>
                  <a:lnTo>
                    <a:pt x="3413760" y="16891"/>
                  </a:lnTo>
                  <a:lnTo>
                    <a:pt x="3430651" y="16891"/>
                  </a:lnTo>
                  <a:lnTo>
                    <a:pt x="3430651" y="33909"/>
                  </a:lnTo>
                  <a:lnTo>
                    <a:pt x="16891" y="33909"/>
                  </a:lnTo>
                  <a:close/>
                </a:path>
              </a:pathLst>
            </a:custGeom>
            <a:solidFill>
              <a:srgbClr val="0F2347"/>
            </a:solidFill>
          </p:spPr>
        </p:sp>
      </p:grpSp>
      <p:grpSp>
        <p:nvGrpSpPr>
          <p:cNvPr name="Group 5" id="5"/>
          <p:cNvGrpSpPr/>
          <p:nvPr/>
        </p:nvGrpSpPr>
        <p:grpSpPr>
          <a:xfrm rot="0">
            <a:off x="-12697" y="8491223"/>
            <a:ext cx="15753083" cy="1808483"/>
            <a:chOff x="0" y="0"/>
            <a:chExt cx="21004111" cy="2411311"/>
          </a:xfrm>
        </p:grpSpPr>
        <p:sp>
          <p:nvSpPr>
            <p:cNvPr name="Freeform 6" id="6"/>
            <p:cNvSpPr/>
            <p:nvPr/>
          </p:nvSpPr>
          <p:spPr>
            <a:xfrm flipH="false" flipV="false" rot="0">
              <a:off x="16891" y="16891"/>
              <a:ext cx="20970239" cy="2377440"/>
            </a:xfrm>
            <a:custGeom>
              <a:avLst/>
              <a:gdLst/>
              <a:ahLst/>
              <a:cxnLst/>
              <a:rect r="r" b="b" t="t" l="l"/>
              <a:pathLst>
                <a:path h="2377440" w="20970239">
                  <a:moveTo>
                    <a:pt x="0" y="0"/>
                  </a:moveTo>
                  <a:lnTo>
                    <a:pt x="20970239" y="0"/>
                  </a:lnTo>
                  <a:lnTo>
                    <a:pt x="20970239" y="2377440"/>
                  </a:lnTo>
                  <a:lnTo>
                    <a:pt x="0" y="2377440"/>
                  </a:lnTo>
                  <a:close/>
                </a:path>
              </a:pathLst>
            </a:custGeom>
            <a:solidFill>
              <a:srgbClr val="0F2347"/>
            </a:solidFill>
          </p:spPr>
        </p:sp>
        <p:sp>
          <p:nvSpPr>
            <p:cNvPr name="Freeform 7" id="7"/>
            <p:cNvSpPr/>
            <p:nvPr/>
          </p:nvSpPr>
          <p:spPr>
            <a:xfrm flipH="false" flipV="false" rot="0">
              <a:off x="0" y="0"/>
              <a:ext cx="21004022" cy="2411222"/>
            </a:xfrm>
            <a:custGeom>
              <a:avLst/>
              <a:gdLst/>
              <a:ahLst/>
              <a:cxnLst/>
              <a:rect r="r" b="b" t="t" l="l"/>
              <a:pathLst>
                <a:path h="2411222" w="21004022">
                  <a:moveTo>
                    <a:pt x="16891" y="0"/>
                  </a:moveTo>
                  <a:lnTo>
                    <a:pt x="20987130" y="0"/>
                  </a:lnTo>
                  <a:cubicBezTo>
                    <a:pt x="20996529" y="0"/>
                    <a:pt x="21004022" y="7620"/>
                    <a:pt x="21004022" y="16891"/>
                  </a:cubicBezTo>
                  <a:lnTo>
                    <a:pt x="21004022" y="2394331"/>
                  </a:lnTo>
                  <a:cubicBezTo>
                    <a:pt x="21004022" y="2403729"/>
                    <a:pt x="20996402" y="2411222"/>
                    <a:pt x="20987130" y="2411222"/>
                  </a:cubicBezTo>
                  <a:lnTo>
                    <a:pt x="16891" y="2411222"/>
                  </a:lnTo>
                  <a:cubicBezTo>
                    <a:pt x="7493" y="2411222"/>
                    <a:pt x="0" y="2403602"/>
                    <a:pt x="0" y="2394331"/>
                  </a:cubicBezTo>
                  <a:lnTo>
                    <a:pt x="0" y="16891"/>
                  </a:lnTo>
                  <a:cubicBezTo>
                    <a:pt x="0" y="7620"/>
                    <a:pt x="7620" y="0"/>
                    <a:pt x="16891" y="0"/>
                  </a:cubicBezTo>
                  <a:moveTo>
                    <a:pt x="16891" y="33909"/>
                  </a:moveTo>
                  <a:lnTo>
                    <a:pt x="16891" y="16891"/>
                  </a:lnTo>
                  <a:lnTo>
                    <a:pt x="33909" y="16891"/>
                  </a:lnTo>
                  <a:lnTo>
                    <a:pt x="33909" y="2394331"/>
                  </a:lnTo>
                  <a:lnTo>
                    <a:pt x="16891" y="2394331"/>
                  </a:lnTo>
                  <a:lnTo>
                    <a:pt x="16891" y="2377440"/>
                  </a:lnTo>
                  <a:lnTo>
                    <a:pt x="20987130" y="2377440"/>
                  </a:lnTo>
                  <a:lnTo>
                    <a:pt x="20987130" y="2394331"/>
                  </a:lnTo>
                  <a:lnTo>
                    <a:pt x="20970239" y="2394331"/>
                  </a:lnTo>
                  <a:lnTo>
                    <a:pt x="20970239" y="16891"/>
                  </a:lnTo>
                  <a:lnTo>
                    <a:pt x="20987130" y="16891"/>
                  </a:lnTo>
                  <a:lnTo>
                    <a:pt x="20987130" y="33909"/>
                  </a:lnTo>
                  <a:lnTo>
                    <a:pt x="16891" y="33909"/>
                  </a:lnTo>
                  <a:close/>
                </a:path>
              </a:pathLst>
            </a:custGeom>
            <a:solidFill>
              <a:srgbClr val="0F2347"/>
            </a:solidFill>
          </p:spPr>
        </p:sp>
      </p:grpSp>
      <p:grpSp>
        <p:nvGrpSpPr>
          <p:cNvPr name="Group 8" id="8"/>
          <p:cNvGrpSpPr/>
          <p:nvPr/>
        </p:nvGrpSpPr>
        <p:grpSpPr>
          <a:xfrm rot="0">
            <a:off x="718823" y="1596647"/>
            <a:ext cx="171707" cy="4414523"/>
            <a:chOff x="0" y="0"/>
            <a:chExt cx="228943" cy="5886031"/>
          </a:xfrm>
        </p:grpSpPr>
        <p:sp>
          <p:nvSpPr>
            <p:cNvPr name="Freeform 9" id="9"/>
            <p:cNvSpPr/>
            <p:nvPr/>
          </p:nvSpPr>
          <p:spPr>
            <a:xfrm flipH="false" flipV="false" rot="0">
              <a:off x="16891" y="16891"/>
              <a:ext cx="195072" cy="5852160"/>
            </a:xfrm>
            <a:custGeom>
              <a:avLst/>
              <a:gdLst/>
              <a:ahLst/>
              <a:cxnLst/>
              <a:rect r="r" b="b" t="t" l="l"/>
              <a:pathLst>
                <a:path h="5852160" w="195072">
                  <a:moveTo>
                    <a:pt x="0" y="0"/>
                  </a:moveTo>
                  <a:lnTo>
                    <a:pt x="195072" y="0"/>
                  </a:lnTo>
                  <a:lnTo>
                    <a:pt x="195072" y="5852160"/>
                  </a:lnTo>
                  <a:lnTo>
                    <a:pt x="0" y="5852160"/>
                  </a:lnTo>
                  <a:close/>
                </a:path>
              </a:pathLst>
            </a:custGeom>
            <a:solidFill>
              <a:srgbClr val="0D9488"/>
            </a:solidFill>
          </p:spPr>
        </p:sp>
        <p:sp>
          <p:nvSpPr>
            <p:cNvPr name="Freeform 10" id="10"/>
            <p:cNvSpPr/>
            <p:nvPr/>
          </p:nvSpPr>
          <p:spPr>
            <a:xfrm flipH="false" flipV="false" rot="0">
              <a:off x="0" y="0"/>
              <a:ext cx="228854" cy="5885942"/>
            </a:xfrm>
            <a:custGeom>
              <a:avLst/>
              <a:gdLst/>
              <a:ahLst/>
              <a:cxnLst/>
              <a:rect r="r" b="b" t="t" l="l"/>
              <a:pathLst>
                <a:path h="5885942" w="228854">
                  <a:moveTo>
                    <a:pt x="16891" y="0"/>
                  </a:moveTo>
                  <a:lnTo>
                    <a:pt x="211963" y="0"/>
                  </a:lnTo>
                  <a:cubicBezTo>
                    <a:pt x="221361" y="0"/>
                    <a:pt x="228854" y="7620"/>
                    <a:pt x="228854" y="16891"/>
                  </a:cubicBezTo>
                  <a:lnTo>
                    <a:pt x="228854" y="5869051"/>
                  </a:lnTo>
                  <a:cubicBezTo>
                    <a:pt x="228854" y="5878449"/>
                    <a:pt x="221234" y="5885942"/>
                    <a:pt x="211963" y="5885942"/>
                  </a:cubicBezTo>
                  <a:lnTo>
                    <a:pt x="16891" y="5885942"/>
                  </a:lnTo>
                  <a:cubicBezTo>
                    <a:pt x="7493" y="5885942"/>
                    <a:pt x="0" y="5878322"/>
                    <a:pt x="0" y="5869051"/>
                  </a:cubicBezTo>
                  <a:lnTo>
                    <a:pt x="0" y="16891"/>
                  </a:lnTo>
                  <a:cubicBezTo>
                    <a:pt x="0" y="7620"/>
                    <a:pt x="7620" y="0"/>
                    <a:pt x="16891" y="0"/>
                  </a:cubicBezTo>
                  <a:moveTo>
                    <a:pt x="16891" y="33909"/>
                  </a:moveTo>
                  <a:lnTo>
                    <a:pt x="16891" y="16891"/>
                  </a:lnTo>
                  <a:lnTo>
                    <a:pt x="33909" y="16891"/>
                  </a:lnTo>
                  <a:lnTo>
                    <a:pt x="33909" y="5869051"/>
                  </a:lnTo>
                  <a:lnTo>
                    <a:pt x="16891" y="5869051"/>
                  </a:lnTo>
                  <a:lnTo>
                    <a:pt x="16891" y="5852160"/>
                  </a:lnTo>
                  <a:lnTo>
                    <a:pt x="211963" y="5852160"/>
                  </a:lnTo>
                  <a:lnTo>
                    <a:pt x="211963" y="5869051"/>
                  </a:lnTo>
                  <a:lnTo>
                    <a:pt x="195072" y="5869051"/>
                  </a:lnTo>
                  <a:lnTo>
                    <a:pt x="195072" y="16891"/>
                  </a:lnTo>
                  <a:lnTo>
                    <a:pt x="211963" y="16891"/>
                  </a:lnTo>
                  <a:lnTo>
                    <a:pt x="211963" y="33909"/>
                  </a:lnTo>
                  <a:lnTo>
                    <a:pt x="16891" y="33909"/>
                  </a:lnTo>
                  <a:close/>
                </a:path>
              </a:pathLst>
            </a:custGeom>
            <a:solidFill>
              <a:srgbClr val="0D9488"/>
            </a:solidFill>
          </p:spPr>
        </p:sp>
      </p:grpSp>
      <p:grpSp>
        <p:nvGrpSpPr>
          <p:cNvPr name="Group 11" id="11"/>
          <p:cNvGrpSpPr/>
          <p:nvPr/>
        </p:nvGrpSpPr>
        <p:grpSpPr>
          <a:xfrm rot="0">
            <a:off x="1097280" y="1280160"/>
            <a:ext cx="14264640" cy="1097280"/>
            <a:chOff x="0" y="0"/>
            <a:chExt cx="19019520" cy="1463040"/>
          </a:xfrm>
        </p:grpSpPr>
        <p:sp>
          <p:nvSpPr>
            <p:cNvPr name="Freeform 12" id="12"/>
            <p:cNvSpPr/>
            <p:nvPr/>
          </p:nvSpPr>
          <p:spPr>
            <a:xfrm flipH="false" flipV="false" rot="0">
              <a:off x="0" y="0"/>
              <a:ext cx="19019520" cy="1463040"/>
            </a:xfrm>
            <a:custGeom>
              <a:avLst/>
              <a:gdLst/>
              <a:ahLst/>
              <a:cxnLst/>
              <a:rect r="r" b="b" t="t" l="l"/>
              <a:pathLst>
                <a:path h="1463040" w="19019520">
                  <a:moveTo>
                    <a:pt x="0" y="0"/>
                  </a:moveTo>
                  <a:lnTo>
                    <a:pt x="19019520" y="0"/>
                  </a:lnTo>
                  <a:lnTo>
                    <a:pt x="19019520" y="1463040"/>
                  </a:lnTo>
                  <a:lnTo>
                    <a:pt x="0" y="1463040"/>
                  </a:lnTo>
                  <a:close/>
                </a:path>
              </a:pathLst>
            </a:custGeom>
            <a:blipFill>
              <a:blip r:embed="rId3">
                <a:alphaModFix amt="0"/>
              </a:blip>
              <a:stretch>
                <a:fillRect l="0" t="-203305" r="0" b="-203305"/>
              </a:stretch>
            </a:blipFill>
          </p:spPr>
        </p:sp>
        <p:sp>
          <p:nvSpPr>
            <p:cNvPr name="TextBox 13" id="13"/>
            <p:cNvSpPr txBox="true"/>
            <p:nvPr/>
          </p:nvSpPr>
          <p:spPr>
            <a:xfrm>
              <a:off x="0" y="-142875"/>
              <a:ext cx="19019520" cy="1605915"/>
            </a:xfrm>
            <a:prstGeom prst="rect">
              <a:avLst/>
            </a:prstGeom>
          </p:spPr>
          <p:txBody>
            <a:bodyPr anchor="ctr" rtlCol="false" tIns="0" lIns="0" bIns="0" rIns="0"/>
            <a:lstStyle/>
            <a:p>
              <a:pPr algn="l">
                <a:lnSpc>
                  <a:spcPts val="8640"/>
                </a:lnSpc>
              </a:pPr>
              <a:r>
                <a:rPr lang="en-US" sz="7200" b="true">
                  <a:solidFill>
                    <a:srgbClr val="FFFFFF"/>
                  </a:solidFill>
                  <a:latin typeface="Calibri (MS) Bold"/>
                  <a:ea typeface="Calibri (MS) Bold"/>
                  <a:cs typeface="Calibri (MS) Bold"/>
                  <a:sym typeface="Calibri (MS) Bold"/>
                </a:rPr>
                <a:t>Key Takeaways</a:t>
              </a:r>
            </a:p>
          </p:txBody>
        </p:sp>
      </p:grpSp>
      <p:grpSp>
        <p:nvGrpSpPr>
          <p:cNvPr name="Group 14" id="14"/>
          <p:cNvGrpSpPr/>
          <p:nvPr/>
        </p:nvGrpSpPr>
        <p:grpSpPr>
          <a:xfrm rot="0">
            <a:off x="999487" y="2736847"/>
            <a:ext cx="7510777" cy="1658617"/>
            <a:chOff x="0" y="0"/>
            <a:chExt cx="10014369" cy="2211489"/>
          </a:xfrm>
        </p:grpSpPr>
        <p:sp>
          <p:nvSpPr>
            <p:cNvPr name="Freeform 15" id="15"/>
            <p:cNvSpPr/>
            <p:nvPr/>
          </p:nvSpPr>
          <p:spPr>
            <a:xfrm flipH="false" flipV="false" rot="0">
              <a:off x="8509" y="8509"/>
              <a:ext cx="9997440" cy="2194560"/>
            </a:xfrm>
            <a:custGeom>
              <a:avLst/>
              <a:gdLst/>
              <a:ahLst/>
              <a:cxnLst/>
              <a:rect r="r" b="b" t="t" l="l"/>
              <a:pathLst>
                <a:path h="2194560" w="9997440">
                  <a:moveTo>
                    <a:pt x="0" y="0"/>
                  </a:moveTo>
                  <a:lnTo>
                    <a:pt x="9997440" y="0"/>
                  </a:lnTo>
                  <a:lnTo>
                    <a:pt x="9997440" y="2194560"/>
                  </a:lnTo>
                  <a:lnTo>
                    <a:pt x="0" y="2194560"/>
                  </a:lnTo>
                  <a:close/>
                </a:path>
              </a:pathLst>
            </a:custGeom>
            <a:solidFill>
              <a:srgbClr val="162B52"/>
            </a:solidFill>
          </p:spPr>
        </p:sp>
        <p:sp>
          <p:nvSpPr>
            <p:cNvPr name="Freeform 16" id="16"/>
            <p:cNvSpPr/>
            <p:nvPr/>
          </p:nvSpPr>
          <p:spPr>
            <a:xfrm flipH="false" flipV="false" rot="0">
              <a:off x="0" y="0"/>
              <a:ext cx="10014458" cy="2211578"/>
            </a:xfrm>
            <a:custGeom>
              <a:avLst/>
              <a:gdLst/>
              <a:ahLst/>
              <a:cxnLst/>
              <a:rect r="r" b="b" t="t" l="l"/>
              <a:pathLst>
                <a:path h="2211578" w="10014458">
                  <a:moveTo>
                    <a:pt x="8509" y="0"/>
                  </a:moveTo>
                  <a:lnTo>
                    <a:pt x="10005949" y="0"/>
                  </a:lnTo>
                  <a:cubicBezTo>
                    <a:pt x="10010648" y="0"/>
                    <a:pt x="10014458" y="3810"/>
                    <a:pt x="10014458" y="8509"/>
                  </a:cubicBezTo>
                  <a:lnTo>
                    <a:pt x="10014458" y="2203069"/>
                  </a:lnTo>
                  <a:cubicBezTo>
                    <a:pt x="10014458" y="2207768"/>
                    <a:pt x="10010648" y="2211578"/>
                    <a:pt x="100059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0005949" y="2194560"/>
                  </a:lnTo>
                  <a:lnTo>
                    <a:pt x="10005949" y="2203069"/>
                  </a:lnTo>
                  <a:lnTo>
                    <a:pt x="9997440" y="2203069"/>
                  </a:lnTo>
                  <a:lnTo>
                    <a:pt x="9997440" y="8509"/>
                  </a:lnTo>
                  <a:lnTo>
                    <a:pt x="10005949" y="8509"/>
                  </a:lnTo>
                  <a:lnTo>
                    <a:pt x="10005949" y="17018"/>
                  </a:lnTo>
                  <a:lnTo>
                    <a:pt x="8509" y="17018"/>
                  </a:lnTo>
                  <a:close/>
                </a:path>
              </a:pathLst>
            </a:custGeom>
            <a:solidFill>
              <a:srgbClr val="059669"/>
            </a:solidFill>
          </p:spPr>
        </p:sp>
      </p:grpSp>
      <p:grpSp>
        <p:nvGrpSpPr>
          <p:cNvPr name="Group 17" id="17"/>
          <p:cNvGrpSpPr/>
          <p:nvPr/>
        </p:nvGrpSpPr>
        <p:grpSpPr>
          <a:xfrm rot="0">
            <a:off x="993143" y="2730503"/>
            <a:ext cx="720347" cy="1671323"/>
            <a:chOff x="0" y="0"/>
            <a:chExt cx="960463" cy="2228431"/>
          </a:xfrm>
        </p:grpSpPr>
        <p:sp>
          <p:nvSpPr>
            <p:cNvPr name="Freeform 18" id="18"/>
            <p:cNvSpPr/>
            <p:nvPr/>
          </p:nvSpPr>
          <p:spPr>
            <a:xfrm flipH="false" flipV="false" rot="0">
              <a:off x="16891" y="16891"/>
              <a:ext cx="926592" cy="2194560"/>
            </a:xfrm>
            <a:custGeom>
              <a:avLst/>
              <a:gdLst/>
              <a:ahLst/>
              <a:cxnLst/>
              <a:rect r="r" b="b" t="t" l="l"/>
              <a:pathLst>
                <a:path h="2194560" w="926592">
                  <a:moveTo>
                    <a:pt x="0" y="0"/>
                  </a:moveTo>
                  <a:lnTo>
                    <a:pt x="926592" y="0"/>
                  </a:lnTo>
                  <a:lnTo>
                    <a:pt x="926592" y="2194560"/>
                  </a:lnTo>
                  <a:lnTo>
                    <a:pt x="0" y="2194560"/>
                  </a:lnTo>
                  <a:close/>
                </a:path>
              </a:pathLst>
            </a:custGeom>
            <a:solidFill>
              <a:srgbClr val="059669"/>
            </a:solidFill>
          </p:spPr>
        </p:sp>
        <p:sp>
          <p:nvSpPr>
            <p:cNvPr name="Freeform 19" id="19"/>
            <p:cNvSpPr/>
            <p:nvPr/>
          </p:nvSpPr>
          <p:spPr>
            <a:xfrm flipH="false" flipV="false" rot="0">
              <a:off x="0" y="0"/>
              <a:ext cx="960374" cy="2228342"/>
            </a:xfrm>
            <a:custGeom>
              <a:avLst/>
              <a:gdLst/>
              <a:ahLst/>
              <a:cxnLst/>
              <a:rect r="r" b="b" t="t" l="l"/>
              <a:pathLst>
                <a:path h="2228342" w="960374">
                  <a:moveTo>
                    <a:pt x="16891" y="0"/>
                  </a:moveTo>
                  <a:lnTo>
                    <a:pt x="943483" y="0"/>
                  </a:lnTo>
                  <a:cubicBezTo>
                    <a:pt x="952881" y="0"/>
                    <a:pt x="960374" y="7620"/>
                    <a:pt x="960374" y="16891"/>
                  </a:cubicBezTo>
                  <a:lnTo>
                    <a:pt x="960374" y="2211451"/>
                  </a:lnTo>
                  <a:cubicBezTo>
                    <a:pt x="960374" y="2220849"/>
                    <a:pt x="952754" y="2228342"/>
                    <a:pt x="943483"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943483" y="2194560"/>
                  </a:lnTo>
                  <a:lnTo>
                    <a:pt x="943483" y="2211451"/>
                  </a:lnTo>
                  <a:lnTo>
                    <a:pt x="926592" y="2211451"/>
                  </a:lnTo>
                  <a:lnTo>
                    <a:pt x="926592" y="16891"/>
                  </a:lnTo>
                  <a:lnTo>
                    <a:pt x="943483" y="16891"/>
                  </a:lnTo>
                  <a:lnTo>
                    <a:pt x="943483" y="33909"/>
                  </a:lnTo>
                  <a:lnTo>
                    <a:pt x="16891" y="33909"/>
                  </a:lnTo>
                  <a:close/>
                </a:path>
              </a:pathLst>
            </a:custGeom>
            <a:solidFill>
              <a:srgbClr val="059669"/>
            </a:solidFill>
          </p:spPr>
        </p:sp>
      </p:grpSp>
      <p:grpSp>
        <p:nvGrpSpPr>
          <p:cNvPr name="Group 20" id="20"/>
          <p:cNvGrpSpPr/>
          <p:nvPr/>
        </p:nvGrpSpPr>
        <p:grpSpPr>
          <a:xfrm rot="0">
            <a:off x="1005840" y="2743200"/>
            <a:ext cx="694944" cy="1645920"/>
            <a:chOff x="0" y="0"/>
            <a:chExt cx="926592" cy="2194560"/>
          </a:xfrm>
        </p:grpSpPr>
        <p:sp>
          <p:nvSpPr>
            <p:cNvPr name="Freeform 21" id="21"/>
            <p:cNvSpPr/>
            <p:nvPr/>
          </p:nvSpPr>
          <p:spPr>
            <a:xfrm flipH="false" flipV="false" rot="0">
              <a:off x="0" y="0"/>
              <a:ext cx="926592" cy="2194560"/>
            </a:xfrm>
            <a:custGeom>
              <a:avLst/>
              <a:gdLst/>
              <a:ahLst/>
              <a:cxnLst/>
              <a:rect r="r" b="b" t="t" l="l"/>
              <a:pathLst>
                <a:path h="2194560" w="926592">
                  <a:moveTo>
                    <a:pt x="0" y="0"/>
                  </a:moveTo>
                  <a:lnTo>
                    <a:pt x="926592" y="0"/>
                  </a:lnTo>
                  <a:lnTo>
                    <a:pt x="926592" y="2194560"/>
                  </a:lnTo>
                  <a:lnTo>
                    <a:pt x="0" y="2194560"/>
                  </a:lnTo>
                  <a:close/>
                </a:path>
              </a:pathLst>
            </a:custGeom>
            <a:blipFill>
              <a:blip r:embed="rId3">
                <a:alphaModFix amt="0"/>
              </a:blip>
              <a:stretch>
                <a:fillRect l="-253876" t="0" r="-253876" b="0"/>
              </a:stretch>
            </a:blipFill>
          </p:spPr>
        </p:sp>
        <p:sp>
          <p:nvSpPr>
            <p:cNvPr name="TextBox 22" id="22"/>
            <p:cNvSpPr txBox="true"/>
            <p:nvPr/>
          </p:nvSpPr>
          <p:spPr>
            <a:xfrm>
              <a:off x="0" y="-57150"/>
              <a:ext cx="926592" cy="225171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1</a:t>
              </a:r>
            </a:p>
          </p:txBody>
        </p:sp>
      </p:grpSp>
      <p:grpSp>
        <p:nvGrpSpPr>
          <p:cNvPr name="Group 23" id="23"/>
          <p:cNvGrpSpPr/>
          <p:nvPr/>
        </p:nvGrpSpPr>
        <p:grpSpPr>
          <a:xfrm rot="0">
            <a:off x="1847088" y="2889504"/>
            <a:ext cx="6510528" cy="1353312"/>
            <a:chOff x="0" y="0"/>
            <a:chExt cx="8680704" cy="1804416"/>
          </a:xfrm>
        </p:grpSpPr>
        <p:sp>
          <p:nvSpPr>
            <p:cNvPr name="Freeform 24" id="24"/>
            <p:cNvSpPr/>
            <p:nvPr/>
          </p:nvSpPr>
          <p:spPr>
            <a:xfrm flipH="false" flipV="false" rot="0">
              <a:off x="0" y="0"/>
              <a:ext cx="8680704" cy="1804416"/>
            </a:xfrm>
            <a:custGeom>
              <a:avLst/>
              <a:gdLst/>
              <a:ahLst/>
              <a:cxnLst/>
              <a:rect r="r" b="b" t="t" l="l"/>
              <a:pathLst>
                <a:path h="1804416" w="8680704">
                  <a:moveTo>
                    <a:pt x="0" y="0"/>
                  </a:moveTo>
                  <a:lnTo>
                    <a:pt x="8680704" y="0"/>
                  </a:lnTo>
                  <a:lnTo>
                    <a:pt x="8680704" y="1804416"/>
                  </a:lnTo>
                  <a:lnTo>
                    <a:pt x="0" y="1804416"/>
                  </a:lnTo>
                  <a:close/>
                </a:path>
              </a:pathLst>
            </a:custGeom>
            <a:blipFill>
              <a:blip r:embed="rId3">
                <a:alphaModFix amt="0"/>
              </a:blip>
              <a:stretch>
                <a:fillRect l="0" t="-43738" r="0" b="-43738"/>
              </a:stretch>
            </a:blipFill>
          </p:spPr>
        </p:sp>
        <p:sp>
          <p:nvSpPr>
            <p:cNvPr name="TextBox 25" id="25"/>
            <p:cNvSpPr txBox="true"/>
            <p:nvPr/>
          </p:nvSpPr>
          <p:spPr>
            <a:xfrm>
              <a:off x="0" y="-38100"/>
              <a:ext cx="8680704" cy="1842516"/>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SCST training is the single highest-ROI enhancement. It directly optimises CIDEr and requires no architecture changes — just a Phase 3 training loop.</a:t>
              </a:r>
            </a:p>
          </p:txBody>
        </p:sp>
      </p:grpSp>
      <p:grpSp>
        <p:nvGrpSpPr>
          <p:cNvPr name="Group 26" id="26"/>
          <p:cNvGrpSpPr/>
          <p:nvPr/>
        </p:nvGrpSpPr>
        <p:grpSpPr>
          <a:xfrm rot="0">
            <a:off x="999487" y="4657087"/>
            <a:ext cx="7510777" cy="1658617"/>
            <a:chOff x="0" y="0"/>
            <a:chExt cx="10014369" cy="2211489"/>
          </a:xfrm>
        </p:grpSpPr>
        <p:sp>
          <p:nvSpPr>
            <p:cNvPr name="Freeform 27" id="27"/>
            <p:cNvSpPr/>
            <p:nvPr/>
          </p:nvSpPr>
          <p:spPr>
            <a:xfrm flipH="false" flipV="false" rot="0">
              <a:off x="8509" y="8509"/>
              <a:ext cx="9997440" cy="2194560"/>
            </a:xfrm>
            <a:custGeom>
              <a:avLst/>
              <a:gdLst/>
              <a:ahLst/>
              <a:cxnLst/>
              <a:rect r="r" b="b" t="t" l="l"/>
              <a:pathLst>
                <a:path h="2194560" w="9997440">
                  <a:moveTo>
                    <a:pt x="0" y="0"/>
                  </a:moveTo>
                  <a:lnTo>
                    <a:pt x="9997440" y="0"/>
                  </a:lnTo>
                  <a:lnTo>
                    <a:pt x="9997440" y="2194560"/>
                  </a:lnTo>
                  <a:lnTo>
                    <a:pt x="0" y="2194560"/>
                  </a:lnTo>
                  <a:close/>
                </a:path>
              </a:pathLst>
            </a:custGeom>
            <a:solidFill>
              <a:srgbClr val="162B52"/>
            </a:solidFill>
          </p:spPr>
        </p:sp>
        <p:sp>
          <p:nvSpPr>
            <p:cNvPr name="Freeform 28" id="28"/>
            <p:cNvSpPr/>
            <p:nvPr/>
          </p:nvSpPr>
          <p:spPr>
            <a:xfrm flipH="false" flipV="false" rot="0">
              <a:off x="0" y="0"/>
              <a:ext cx="10014458" cy="2211578"/>
            </a:xfrm>
            <a:custGeom>
              <a:avLst/>
              <a:gdLst/>
              <a:ahLst/>
              <a:cxnLst/>
              <a:rect r="r" b="b" t="t" l="l"/>
              <a:pathLst>
                <a:path h="2211578" w="10014458">
                  <a:moveTo>
                    <a:pt x="8509" y="0"/>
                  </a:moveTo>
                  <a:lnTo>
                    <a:pt x="10005949" y="0"/>
                  </a:lnTo>
                  <a:cubicBezTo>
                    <a:pt x="10010648" y="0"/>
                    <a:pt x="10014458" y="3810"/>
                    <a:pt x="10014458" y="8509"/>
                  </a:cubicBezTo>
                  <a:lnTo>
                    <a:pt x="10014458" y="2203069"/>
                  </a:lnTo>
                  <a:cubicBezTo>
                    <a:pt x="10014458" y="2207768"/>
                    <a:pt x="10010648" y="2211578"/>
                    <a:pt x="100059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0005949" y="2194560"/>
                  </a:lnTo>
                  <a:lnTo>
                    <a:pt x="10005949" y="2203069"/>
                  </a:lnTo>
                  <a:lnTo>
                    <a:pt x="9997440" y="2203069"/>
                  </a:lnTo>
                  <a:lnTo>
                    <a:pt x="9997440" y="8509"/>
                  </a:lnTo>
                  <a:lnTo>
                    <a:pt x="10005949" y="8509"/>
                  </a:lnTo>
                  <a:lnTo>
                    <a:pt x="10005949" y="17018"/>
                  </a:lnTo>
                  <a:lnTo>
                    <a:pt x="8509" y="17018"/>
                  </a:lnTo>
                  <a:close/>
                </a:path>
              </a:pathLst>
            </a:custGeom>
            <a:solidFill>
              <a:srgbClr val="0D9488"/>
            </a:solidFill>
          </p:spPr>
        </p:sp>
      </p:grpSp>
      <p:grpSp>
        <p:nvGrpSpPr>
          <p:cNvPr name="Group 29" id="29"/>
          <p:cNvGrpSpPr/>
          <p:nvPr/>
        </p:nvGrpSpPr>
        <p:grpSpPr>
          <a:xfrm rot="0">
            <a:off x="993143" y="4650743"/>
            <a:ext cx="720347" cy="1671323"/>
            <a:chOff x="0" y="0"/>
            <a:chExt cx="960463" cy="2228431"/>
          </a:xfrm>
        </p:grpSpPr>
        <p:sp>
          <p:nvSpPr>
            <p:cNvPr name="Freeform 30" id="30"/>
            <p:cNvSpPr/>
            <p:nvPr/>
          </p:nvSpPr>
          <p:spPr>
            <a:xfrm flipH="false" flipV="false" rot="0">
              <a:off x="16891" y="16891"/>
              <a:ext cx="926592" cy="2194560"/>
            </a:xfrm>
            <a:custGeom>
              <a:avLst/>
              <a:gdLst/>
              <a:ahLst/>
              <a:cxnLst/>
              <a:rect r="r" b="b" t="t" l="l"/>
              <a:pathLst>
                <a:path h="2194560" w="926592">
                  <a:moveTo>
                    <a:pt x="0" y="0"/>
                  </a:moveTo>
                  <a:lnTo>
                    <a:pt x="926592" y="0"/>
                  </a:lnTo>
                  <a:lnTo>
                    <a:pt x="926592" y="2194560"/>
                  </a:lnTo>
                  <a:lnTo>
                    <a:pt x="0" y="2194560"/>
                  </a:lnTo>
                  <a:close/>
                </a:path>
              </a:pathLst>
            </a:custGeom>
            <a:solidFill>
              <a:srgbClr val="0D9488"/>
            </a:solidFill>
          </p:spPr>
        </p:sp>
        <p:sp>
          <p:nvSpPr>
            <p:cNvPr name="Freeform 31" id="31"/>
            <p:cNvSpPr/>
            <p:nvPr/>
          </p:nvSpPr>
          <p:spPr>
            <a:xfrm flipH="false" flipV="false" rot="0">
              <a:off x="0" y="0"/>
              <a:ext cx="960374" cy="2228342"/>
            </a:xfrm>
            <a:custGeom>
              <a:avLst/>
              <a:gdLst/>
              <a:ahLst/>
              <a:cxnLst/>
              <a:rect r="r" b="b" t="t" l="l"/>
              <a:pathLst>
                <a:path h="2228342" w="960374">
                  <a:moveTo>
                    <a:pt x="16891" y="0"/>
                  </a:moveTo>
                  <a:lnTo>
                    <a:pt x="943483" y="0"/>
                  </a:lnTo>
                  <a:cubicBezTo>
                    <a:pt x="952881" y="0"/>
                    <a:pt x="960374" y="7620"/>
                    <a:pt x="960374" y="16891"/>
                  </a:cubicBezTo>
                  <a:lnTo>
                    <a:pt x="960374" y="2211451"/>
                  </a:lnTo>
                  <a:cubicBezTo>
                    <a:pt x="960374" y="2220849"/>
                    <a:pt x="952754" y="2228342"/>
                    <a:pt x="943483"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943483" y="2194560"/>
                  </a:lnTo>
                  <a:lnTo>
                    <a:pt x="943483" y="2211451"/>
                  </a:lnTo>
                  <a:lnTo>
                    <a:pt x="926592" y="2211451"/>
                  </a:lnTo>
                  <a:lnTo>
                    <a:pt x="926592" y="16891"/>
                  </a:lnTo>
                  <a:lnTo>
                    <a:pt x="943483" y="16891"/>
                  </a:lnTo>
                  <a:lnTo>
                    <a:pt x="943483" y="33909"/>
                  </a:lnTo>
                  <a:lnTo>
                    <a:pt x="16891" y="33909"/>
                  </a:lnTo>
                  <a:close/>
                </a:path>
              </a:pathLst>
            </a:custGeom>
            <a:solidFill>
              <a:srgbClr val="0D9488"/>
            </a:solidFill>
          </p:spPr>
        </p:sp>
      </p:grpSp>
      <p:grpSp>
        <p:nvGrpSpPr>
          <p:cNvPr name="Group 32" id="32"/>
          <p:cNvGrpSpPr/>
          <p:nvPr/>
        </p:nvGrpSpPr>
        <p:grpSpPr>
          <a:xfrm rot="0">
            <a:off x="1005840" y="4663440"/>
            <a:ext cx="694944" cy="1645920"/>
            <a:chOff x="0" y="0"/>
            <a:chExt cx="926592" cy="2194560"/>
          </a:xfrm>
        </p:grpSpPr>
        <p:sp>
          <p:nvSpPr>
            <p:cNvPr name="Freeform 33" id="33"/>
            <p:cNvSpPr/>
            <p:nvPr/>
          </p:nvSpPr>
          <p:spPr>
            <a:xfrm flipH="false" flipV="false" rot="0">
              <a:off x="0" y="0"/>
              <a:ext cx="926592" cy="2194560"/>
            </a:xfrm>
            <a:custGeom>
              <a:avLst/>
              <a:gdLst/>
              <a:ahLst/>
              <a:cxnLst/>
              <a:rect r="r" b="b" t="t" l="l"/>
              <a:pathLst>
                <a:path h="2194560" w="926592">
                  <a:moveTo>
                    <a:pt x="0" y="0"/>
                  </a:moveTo>
                  <a:lnTo>
                    <a:pt x="926592" y="0"/>
                  </a:lnTo>
                  <a:lnTo>
                    <a:pt x="926592" y="2194560"/>
                  </a:lnTo>
                  <a:lnTo>
                    <a:pt x="0" y="2194560"/>
                  </a:lnTo>
                  <a:close/>
                </a:path>
              </a:pathLst>
            </a:custGeom>
            <a:blipFill>
              <a:blip r:embed="rId3">
                <a:alphaModFix amt="0"/>
              </a:blip>
              <a:stretch>
                <a:fillRect l="-253876" t="0" r="-253876" b="0"/>
              </a:stretch>
            </a:blipFill>
          </p:spPr>
        </p:sp>
        <p:sp>
          <p:nvSpPr>
            <p:cNvPr name="TextBox 34" id="34"/>
            <p:cNvSpPr txBox="true"/>
            <p:nvPr/>
          </p:nvSpPr>
          <p:spPr>
            <a:xfrm>
              <a:off x="0" y="-57150"/>
              <a:ext cx="926592" cy="225171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2</a:t>
              </a:r>
            </a:p>
          </p:txBody>
        </p:sp>
      </p:grpSp>
      <p:grpSp>
        <p:nvGrpSpPr>
          <p:cNvPr name="Group 35" id="35"/>
          <p:cNvGrpSpPr/>
          <p:nvPr/>
        </p:nvGrpSpPr>
        <p:grpSpPr>
          <a:xfrm rot="0">
            <a:off x="1847088" y="4809744"/>
            <a:ext cx="6510528" cy="1353312"/>
            <a:chOff x="0" y="0"/>
            <a:chExt cx="8680704" cy="1804416"/>
          </a:xfrm>
        </p:grpSpPr>
        <p:sp>
          <p:nvSpPr>
            <p:cNvPr name="Freeform 36" id="36"/>
            <p:cNvSpPr/>
            <p:nvPr/>
          </p:nvSpPr>
          <p:spPr>
            <a:xfrm flipH="false" flipV="false" rot="0">
              <a:off x="0" y="0"/>
              <a:ext cx="8680704" cy="1804416"/>
            </a:xfrm>
            <a:custGeom>
              <a:avLst/>
              <a:gdLst/>
              <a:ahLst/>
              <a:cxnLst/>
              <a:rect r="r" b="b" t="t" l="l"/>
              <a:pathLst>
                <a:path h="1804416" w="8680704">
                  <a:moveTo>
                    <a:pt x="0" y="0"/>
                  </a:moveTo>
                  <a:lnTo>
                    <a:pt x="8680704" y="0"/>
                  </a:lnTo>
                  <a:lnTo>
                    <a:pt x="8680704" y="1804416"/>
                  </a:lnTo>
                  <a:lnTo>
                    <a:pt x="0" y="1804416"/>
                  </a:lnTo>
                  <a:close/>
                </a:path>
              </a:pathLst>
            </a:custGeom>
            <a:blipFill>
              <a:blip r:embed="rId3">
                <a:alphaModFix amt="0"/>
              </a:blip>
              <a:stretch>
                <a:fillRect l="0" t="-43738" r="0" b="-43738"/>
              </a:stretch>
            </a:blipFill>
          </p:spPr>
        </p:sp>
        <p:sp>
          <p:nvSpPr>
            <p:cNvPr name="TextBox 37" id="37"/>
            <p:cNvSpPr txBox="true"/>
            <p:nvPr/>
          </p:nvSpPr>
          <p:spPr>
            <a:xfrm>
              <a:off x="0" y="-38100"/>
              <a:ext cx="8680704" cy="1842516"/>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Domain-appropriate backbone (RemoteCLIP or SeCo) eliminates the largest known bottleneck in TSFE, proven by the paper's own ablation study.</a:t>
              </a:r>
            </a:p>
          </p:txBody>
        </p:sp>
      </p:grpSp>
      <p:grpSp>
        <p:nvGrpSpPr>
          <p:cNvPr name="Group 38" id="38"/>
          <p:cNvGrpSpPr/>
          <p:nvPr/>
        </p:nvGrpSpPr>
        <p:grpSpPr>
          <a:xfrm rot="0">
            <a:off x="999487" y="6577327"/>
            <a:ext cx="7510777" cy="1658617"/>
            <a:chOff x="0" y="0"/>
            <a:chExt cx="10014369" cy="2211489"/>
          </a:xfrm>
        </p:grpSpPr>
        <p:sp>
          <p:nvSpPr>
            <p:cNvPr name="Freeform 39" id="39"/>
            <p:cNvSpPr/>
            <p:nvPr/>
          </p:nvSpPr>
          <p:spPr>
            <a:xfrm flipH="false" flipV="false" rot="0">
              <a:off x="8509" y="8509"/>
              <a:ext cx="9997440" cy="2194560"/>
            </a:xfrm>
            <a:custGeom>
              <a:avLst/>
              <a:gdLst/>
              <a:ahLst/>
              <a:cxnLst/>
              <a:rect r="r" b="b" t="t" l="l"/>
              <a:pathLst>
                <a:path h="2194560" w="9997440">
                  <a:moveTo>
                    <a:pt x="0" y="0"/>
                  </a:moveTo>
                  <a:lnTo>
                    <a:pt x="9997440" y="0"/>
                  </a:lnTo>
                  <a:lnTo>
                    <a:pt x="9997440" y="2194560"/>
                  </a:lnTo>
                  <a:lnTo>
                    <a:pt x="0" y="2194560"/>
                  </a:lnTo>
                  <a:close/>
                </a:path>
              </a:pathLst>
            </a:custGeom>
            <a:solidFill>
              <a:srgbClr val="162B52"/>
            </a:solidFill>
          </p:spPr>
        </p:sp>
        <p:sp>
          <p:nvSpPr>
            <p:cNvPr name="Freeform 40" id="40"/>
            <p:cNvSpPr/>
            <p:nvPr/>
          </p:nvSpPr>
          <p:spPr>
            <a:xfrm flipH="false" flipV="false" rot="0">
              <a:off x="0" y="0"/>
              <a:ext cx="10014458" cy="2211578"/>
            </a:xfrm>
            <a:custGeom>
              <a:avLst/>
              <a:gdLst/>
              <a:ahLst/>
              <a:cxnLst/>
              <a:rect r="r" b="b" t="t" l="l"/>
              <a:pathLst>
                <a:path h="2211578" w="10014458">
                  <a:moveTo>
                    <a:pt x="8509" y="0"/>
                  </a:moveTo>
                  <a:lnTo>
                    <a:pt x="10005949" y="0"/>
                  </a:lnTo>
                  <a:cubicBezTo>
                    <a:pt x="10010648" y="0"/>
                    <a:pt x="10014458" y="3810"/>
                    <a:pt x="10014458" y="8509"/>
                  </a:cubicBezTo>
                  <a:lnTo>
                    <a:pt x="10014458" y="2203069"/>
                  </a:lnTo>
                  <a:cubicBezTo>
                    <a:pt x="10014458" y="2207768"/>
                    <a:pt x="10010648" y="2211578"/>
                    <a:pt x="100059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0005949" y="2194560"/>
                  </a:lnTo>
                  <a:lnTo>
                    <a:pt x="10005949" y="2203069"/>
                  </a:lnTo>
                  <a:lnTo>
                    <a:pt x="9997440" y="2203069"/>
                  </a:lnTo>
                  <a:lnTo>
                    <a:pt x="9997440" y="8509"/>
                  </a:lnTo>
                  <a:lnTo>
                    <a:pt x="10005949" y="8509"/>
                  </a:lnTo>
                  <a:lnTo>
                    <a:pt x="10005949" y="17018"/>
                  </a:lnTo>
                  <a:lnTo>
                    <a:pt x="8509" y="17018"/>
                  </a:lnTo>
                  <a:close/>
                </a:path>
              </a:pathLst>
            </a:custGeom>
            <a:solidFill>
              <a:srgbClr val="7C3AED"/>
            </a:solidFill>
          </p:spPr>
        </p:sp>
      </p:grpSp>
      <p:grpSp>
        <p:nvGrpSpPr>
          <p:cNvPr name="Group 41" id="41"/>
          <p:cNvGrpSpPr/>
          <p:nvPr/>
        </p:nvGrpSpPr>
        <p:grpSpPr>
          <a:xfrm rot="0">
            <a:off x="993143" y="6570983"/>
            <a:ext cx="720347" cy="1671323"/>
            <a:chOff x="0" y="0"/>
            <a:chExt cx="960463" cy="2228431"/>
          </a:xfrm>
        </p:grpSpPr>
        <p:sp>
          <p:nvSpPr>
            <p:cNvPr name="Freeform 42" id="42"/>
            <p:cNvSpPr/>
            <p:nvPr/>
          </p:nvSpPr>
          <p:spPr>
            <a:xfrm flipH="false" flipV="false" rot="0">
              <a:off x="16891" y="16891"/>
              <a:ext cx="926592" cy="2194560"/>
            </a:xfrm>
            <a:custGeom>
              <a:avLst/>
              <a:gdLst/>
              <a:ahLst/>
              <a:cxnLst/>
              <a:rect r="r" b="b" t="t" l="l"/>
              <a:pathLst>
                <a:path h="2194560" w="926592">
                  <a:moveTo>
                    <a:pt x="0" y="0"/>
                  </a:moveTo>
                  <a:lnTo>
                    <a:pt x="926592" y="0"/>
                  </a:lnTo>
                  <a:lnTo>
                    <a:pt x="926592" y="2194560"/>
                  </a:lnTo>
                  <a:lnTo>
                    <a:pt x="0" y="2194560"/>
                  </a:lnTo>
                  <a:close/>
                </a:path>
              </a:pathLst>
            </a:custGeom>
            <a:solidFill>
              <a:srgbClr val="7C3AED"/>
            </a:solidFill>
          </p:spPr>
        </p:sp>
        <p:sp>
          <p:nvSpPr>
            <p:cNvPr name="Freeform 43" id="43"/>
            <p:cNvSpPr/>
            <p:nvPr/>
          </p:nvSpPr>
          <p:spPr>
            <a:xfrm flipH="false" flipV="false" rot="0">
              <a:off x="0" y="0"/>
              <a:ext cx="960374" cy="2228342"/>
            </a:xfrm>
            <a:custGeom>
              <a:avLst/>
              <a:gdLst/>
              <a:ahLst/>
              <a:cxnLst/>
              <a:rect r="r" b="b" t="t" l="l"/>
              <a:pathLst>
                <a:path h="2228342" w="960374">
                  <a:moveTo>
                    <a:pt x="16891" y="0"/>
                  </a:moveTo>
                  <a:lnTo>
                    <a:pt x="943483" y="0"/>
                  </a:lnTo>
                  <a:cubicBezTo>
                    <a:pt x="952881" y="0"/>
                    <a:pt x="960374" y="7620"/>
                    <a:pt x="960374" y="16891"/>
                  </a:cubicBezTo>
                  <a:lnTo>
                    <a:pt x="960374" y="2211451"/>
                  </a:lnTo>
                  <a:cubicBezTo>
                    <a:pt x="960374" y="2220849"/>
                    <a:pt x="952754" y="2228342"/>
                    <a:pt x="943483"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943483" y="2194560"/>
                  </a:lnTo>
                  <a:lnTo>
                    <a:pt x="943483" y="2211451"/>
                  </a:lnTo>
                  <a:lnTo>
                    <a:pt x="926592" y="2211451"/>
                  </a:lnTo>
                  <a:lnTo>
                    <a:pt x="926592" y="16891"/>
                  </a:lnTo>
                  <a:lnTo>
                    <a:pt x="943483" y="16891"/>
                  </a:lnTo>
                  <a:lnTo>
                    <a:pt x="943483" y="33909"/>
                  </a:lnTo>
                  <a:lnTo>
                    <a:pt x="16891" y="33909"/>
                  </a:lnTo>
                  <a:close/>
                </a:path>
              </a:pathLst>
            </a:custGeom>
            <a:solidFill>
              <a:srgbClr val="7C3AED"/>
            </a:solidFill>
          </p:spPr>
        </p:sp>
      </p:grpSp>
      <p:grpSp>
        <p:nvGrpSpPr>
          <p:cNvPr name="Group 44" id="44"/>
          <p:cNvGrpSpPr/>
          <p:nvPr/>
        </p:nvGrpSpPr>
        <p:grpSpPr>
          <a:xfrm rot="0">
            <a:off x="1005840" y="6583680"/>
            <a:ext cx="694944" cy="1645920"/>
            <a:chOff x="0" y="0"/>
            <a:chExt cx="926592" cy="2194560"/>
          </a:xfrm>
        </p:grpSpPr>
        <p:sp>
          <p:nvSpPr>
            <p:cNvPr name="Freeform 45" id="45"/>
            <p:cNvSpPr/>
            <p:nvPr/>
          </p:nvSpPr>
          <p:spPr>
            <a:xfrm flipH="false" flipV="false" rot="0">
              <a:off x="0" y="0"/>
              <a:ext cx="926592" cy="2194560"/>
            </a:xfrm>
            <a:custGeom>
              <a:avLst/>
              <a:gdLst/>
              <a:ahLst/>
              <a:cxnLst/>
              <a:rect r="r" b="b" t="t" l="l"/>
              <a:pathLst>
                <a:path h="2194560" w="926592">
                  <a:moveTo>
                    <a:pt x="0" y="0"/>
                  </a:moveTo>
                  <a:lnTo>
                    <a:pt x="926592" y="0"/>
                  </a:lnTo>
                  <a:lnTo>
                    <a:pt x="926592" y="2194560"/>
                  </a:lnTo>
                  <a:lnTo>
                    <a:pt x="0" y="2194560"/>
                  </a:lnTo>
                  <a:close/>
                </a:path>
              </a:pathLst>
            </a:custGeom>
            <a:blipFill>
              <a:blip r:embed="rId3">
                <a:alphaModFix amt="0"/>
              </a:blip>
              <a:stretch>
                <a:fillRect l="-253876" t="0" r="-253876" b="0"/>
              </a:stretch>
            </a:blipFill>
          </p:spPr>
        </p:sp>
        <p:sp>
          <p:nvSpPr>
            <p:cNvPr name="TextBox 46" id="46"/>
            <p:cNvSpPr txBox="true"/>
            <p:nvPr/>
          </p:nvSpPr>
          <p:spPr>
            <a:xfrm>
              <a:off x="0" y="-57150"/>
              <a:ext cx="926592" cy="225171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3</a:t>
              </a:r>
            </a:p>
          </p:txBody>
        </p:sp>
      </p:grpSp>
      <p:grpSp>
        <p:nvGrpSpPr>
          <p:cNvPr name="Group 47" id="47"/>
          <p:cNvGrpSpPr/>
          <p:nvPr/>
        </p:nvGrpSpPr>
        <p:grpSpPr>
          <a:xfrm rot="0">
            <a:off x="1847088" y="6729984"/>
            <a:ext cx="6510528" cy="1353312"/>
            <a:chOff x="0" y="0"/>
            <a:chExt cx="8680704" cy="1804416"/>
          </a:xfrm>
        </p:grpSpPr>
        <p:sp>
          <p:nvSpPr>
            <p:cNvPr name="Freeform 48" id="48"/>
            <p:cNvSpPr/>
            <p:nvPr/>
          </p:nvSpPr>
          <p:spPr>
            <a:xfrm flipH="false" flipV="false" rot="0">
              <a:off x="0" y="0"/>
              <a:ext cx="8680704" cy="1804416"/>
            </a:xfrm>
            <a:custGeom>
              <a:avLst/>
              <a:gdLst/>
              <a:ahLst/>
              <a:cxnLst/>
              <a:rect r="r" b="b" t="t" l="l"/>
              <a:pathLst>
                <a:path h="1804416" w="8680704">
                  <a:moveTo>
                    <a:pt x="0" y="0"/>
                  </a:moveTo>
                  <a:lnTo>
                    <a:pt x="8680704" y="0"/>
                  </a:lnTo>
                  <a:lnTo>
                    <a:pt x="8680704" y="1804416"/>
                  </a:lnTo>
                  <a:lnTo>
                    <a:pt x="0" y="1804416"/>
                  </a:lnTo>
                  <a:close/>
                </a:path>
              </a:pathLst>
            </a:custGeom>
            <a:blipFill>
              <a:blip r:embed="rId3">
                <a:alphaModFix amt="0"/>
              </a:blip>
              <a:stretch>
                <a:fillRect l="0" t="-43738" r="0" b="-43738"/>
              </a:stretch>
            </a:blipFill>
          </p:spPr>
        </p:sp>
        <p:sp>
          <p:nvSpPr>
            <p:cNvPr name="TextBox 49" id="49"/>
            <p:cNvSpPr txBox="true"/>
            <p:nvPr/>
          </p:nvSpPr>
          <p:spPr>
            <a:xfrm>
              <a:off x="0" y="-38100"/>
              <a:ext cx="8680704" cy="1842516"/>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A Transformer decoder fundamentally solves LSTM's context compression problem — critical for longer, more complex RS captions.</a:t>
              </a:r>
            </a:p>
          </p:txBody>
        </p:sp>
      </p:grpSp>
      <p:grpSp>
        <p:nvGrpSpPr>
          <p:cNvPr name="Group 50" id="50"/>
          <p:cNvGrpSpPr/>
          <p:nvPr/>
        </p:nvGrpSpPr>
        <p:grpSpPr>
          <a:xfrm rot="0">
            <a:off x="8863327" y="2736847"/>
            <a:ext cx="7510777" cy="1658617"/>
            <a:chOff x="0" y="0"/>
            <a:chExt cx="10014369" cy="2211489"/>
          </a:xfrm>
        </p:grpSpPr>
        <p:sp>
          <p:nvSpPr>
            <p:cNvPr name="Freeform 51" id="51"/>
            <p:cNvSpPr/>
            <p:nvPr/>
          </p:nvSpPr>
          <p:spPr>
            <a:xfrm flipH="false" flipV="false" rot="0">
              <a:off x="8509" y="8509"/>
              <a:ext cx="9997440" cy="2194560"/>
            </a:xfrm>
            <a:custGeom>
              <a:avLst/>
              <a:gdLst/>
              <a:ahLst/>
              <a:cxnLst/>
              <a:rect r="r" b="b" t="t" l="l"/>
              <a:pathLst>
                <a:path h="2194560" w="9997440">
                  <a:moveTo>
                    <a:pt x="0" y="0"/>
                  </a:moveTo>
                  <a:lnTo>
                    <a:pt x="9997440" y="0"/>
                  </a:lnTo>
                  <a:lnTo>
                    <a:pt x="9997440" y="2194560"/>
                  </a:lnTo>
                  <a:lnTo>
                    <a:pt x="0" y="2194560"/>
                  </a:lnTo>
                  <a:close/>
                </a:path>
              </a:pathLst>
            </a:custGeom>
            <a:solidFill>
              <a:srgbClr val="162B52"/>
            </a:solidFill>
          </p:spPr>
        </p:sp>
        <p:sp>
          <p:nvSpPr>
            <p:cNvPr name="Freeform 52" id="52"/>
            <p:cNvSpPr/>
            <p:nvPr/>
          </p:nvSpPr>
          <p:spPr>
            <a:xfrm flipH="false" flipV="false" rot="0">
              <a:off x="0" y="0"/>
              <a:ext cx="10014458" cy="2211578"/>
            </a:xfrm>
            <a:custGeom>
              <a:avLst/>
              <a:gdLst/>
              <a:ahLst/>
              <a:cxnLst/>
              <a:rect r="r" b="b" t="t" l="l"/>
              <a:pathLst>
                <a:path h="2211578" w="10014458">
                  <a:moveTo>
                    <a:pt x="8509" y="0"/>
                  </a:moveTo>
                  <a:lnTo>
                    <a:pt x="10005949" y="0"/>
                  </a:lnTo>
                  <a:cubicBezTo>
                    <a:pt x="10010648" y="0"/>
                    <a:pt x="10014458" y="3810"/>
                    <a:pt x="10014458" y="8509"/>
                  </a:cubicBezTo>
                  <a:lnTo>
                    <a:pt x="10014458" y="2203069"/>
                  </a:lnTo>
                  <a:cubicBezTo>
                    <a:pt x="10014458" y="2207768"/>
                    <a:pt x="10010648" y="2211578"/>
                    <a:pt x="100059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0005949" y="2194560"/>
                  </a:lnTo>
                  <a:lnTo>
                    <a:pt x="10005949" y="2203069"/>
                  </a:lnTo>
                  <a:lnTo>
                    <a:pt x="9997440" y="2203069"/>
                  </a:lnTo>
                  <a:lnTo>
                    <a:pt x="9997440" y="8509"/>
                  </a:lnTo>
                  <a:lnTo>
                    <a:pt x="10005949" y="8509"/>
                  </a:lnTo>
                  <a:lnTo>
                    <a:pt x="10005949" y="17018"/>
                  </a:lnTo>
                  <a:lnTo>
                    <a:pt x="8509" y="17018"/>
                  </a:lnTo>
                  <a:close/>
                </a:path>
              </a:pathLst>
            </a:custGeom>
            <a:solidFill>
              <a:srgbClr val="D97706"/>
            </a:solidFill>
          </p:spPr>
        </p:sp>
      </p:grpSp>
      <p:grpSp>
        <p:nvGrpSpPr>
          <p:cNvPr name="Group 53" id="53"/>
          <p:cNvGrpSpPr/>
          <p:nvPr/>
        </p:nvGrpSpPr>
        <p:grpSpPr>
          <a:xfrm rot="0">
            <a:off x="8856983" y="2730503"/>
            <a:ext cx="720347" cy="1671323"/>
            <a:chOff x="0" y="0"/>
            <a:chExt cx="960463" cy="2228431"/>
          </a:xfrm>
        </p:grpSpPr>
        <p:sp>
          <p:nvSpPr>
            <p:cNvPr name="Freeform 54" id="54"/>
            <p:cNvSpPr/>
            <p:nvPr/>
          </p:nvSpPr>
          <p:spPr>
            <a:xfrm flipH="false" flipV="false" rot="0">
              <a:off x="16891" y="16891"/>
              <a:ext cx="926592" cy="2194560"/>
            </a:xfrm>
            <a:custGeom>
              <a:avLst/>
              <a:gdLst/>
              <a:ahLst/>
              <a:cxnLst/>
              <a:rect r="r" b="b" t="t" l="l"/>
              <a:pathLst>
                <a:path h="2194560" w="926592">
                  <a:moveTo>
                    <a:pt x="0" y="0"/>
                  </a:moveTo>
                  <a:lnTo>
                    <a:pt x="926592" y="0"/>
                  </a:lnTo>
                  <a:lnTo>
                    <a:pt x="926592" y="2194560"/>
                  </a:lnTo>
                  <a:lnTo>
                    <a:pt x="0" y="2194560"/>
                  </a:lnTo>
                  <a:close/>
                </a:path>
              </a:pathLst>
            </a:custGeom>
            <a:solidFill>
              <a:srgbClr val="D97706"/>
            </a:solidFill>
          </p:spPr>
        </p:sp>
        <p:sp>
          <p:nvSpPr>
            <p:cNvPr name="Freeform 55" id="55"/>
            <p:cNvSpPr/>
            <p:nvPr/>
          </p:nvSpPr>
          <p:spPr>
            <a:xfrm flipH="false" flipV="false" rot="0">
              <a:off x="0" y="0"/>
              <a:ext cx="960374" cy="2228342"/>
            </a:xfrm>
            <a:custGeom>
              <a:avLst/>
              <a:gdLst/>
              <a:ahLst/>
              <a:cxnLst/>
              <a:rect r="r" b="b" t="t" l="l"/>
              <a:pathLst>
                <a:path h="2228342" w="960374">
                  <a:moveTo>
                    <a:pt x="16891" y="0"/>
                  </a:moveTo>
                  <a:lnTo>
                    <a:pt x="943483" y="0"/>
                  </a:lnTo>
                  <a:cubicBezTo>
                    <a:pt x="952881" y="0"/>
                    <a:pt x="960374" y="7620"/>
                    <a:pt x="960374" y="16891"/>
                  </a:cubicBezTo>
                  <a:lnTo>
                    <a:pt x="960374" y="2211451"/>
                  </a:lnTo>
                  <a:cubicBezTo>
                    <a:pt x="960374" y="2220849"/>
                    <a:pt x="952754" y="2228342"/>
                    <a:pt x="943483"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943483" y="2194560"/>
                  </a:lnTo>
                  <a:lnTo>
                    <a:pt x="943483" y="2211451"/>
                  </a:lnTo>
                  <a:lnTo>
                    <a:pt x="926592" y="2211451"/>
                  </a:lnTo>
                  <a:lnTo>
                    <a:pt x="926592" y="16891"/>
                  </a:lnTo>
                  <a:lnTo>
                    <a:pt x="943483" y="16891"/>
                  </a:lnTo>
                  <a:lnTo>
                    <a:pt x="943483" y="33909"/>
                  </a:lnTo>
                  <a:lnTo>
                    <a:pt x="16891" y="33909"/>
                  </a:lnTo>
                  <a:close/>
                </a:path>
              </a:pathLst>
            </a:custGeom>
            <a:solidFill>
              <a:srgbClr val="D97706"/>
            </a:solidFill>
          </p:spPr>
        </p:sp>
      </p:grpSp>
      <p:grpSp>
        <p:nvGrpSpPr>
          <p:cNvPr name="Group 56" id="56"/>
          <p:cNvGrpSpPr/>
          <p:nvPr/>
        </p:nvGrpSpPr>
        <p:grpSpPr>
          <a:xfrm rot="0">
            <a:off x="8869680" y="2743200"/>
            <a:ext cx="694944" cy="1645920"/>
            <a:chOff x="0" y="0"/>
            <a:chExt cx="926592" cy="2194560"/>
          </a:xfrm>
        </p:grpSpPr>
        <p:sp>
          <p:nvSpPr>
            <p:cNvPr name="Freeform 57" id="57"/>
            <p:cNvSpPr/>
            <p:nvPr/>
          </p:nvSpPr>
          <p:spPr>
            <a:xfrm flipH="false" flipV="false" rot="0">
              <a:off x="0" y="0"/>
              <a:ext cx="926592" cy="2194560"/>
            </a:xfrm>
            <a:custGeom>
              <a:avLst/>
              <a:gdLst/>
              <a:ahLst/>
              <a:cxnLst/>
              <a:rect r="r" b="b" t="t" l="l"/>
              <a:pathLst>
                <a:path h="2194560" w="926592">
                  <a:moveTo>
                    <a:pt x="0" y="0"/>
                  </a:moveTo>
                  <a:lnTo>
                    <a:pt x="926592" y="0"/>
                  </a:lnTo>
                  <a:lnTo>
                    <a:pt x="926592" y="2194560"/>
                  </a:lnTo>
                  <a:lnTo>
                    <a:pt x="0" y="2194560"/>
                  </a:lnTo>
                  <a:close/>
                </a:path>
              </a:pathLst>
            </a:custGeom>
            <a:blipFill>
              <a:blip r:embed="rId3">
                <a:alphaModFix amt="0"/>
              </a:blip>
              <a:stretch>
                <a:fillRect l="-253876" t="0" r="-253876" b="0"/>
              </a:stretch>
            </a:blipFill>
          </p:spPr>
        </p:sp>
        <p:sp>
          <p:nvSpPr>
            <p:cNvPr name="TextBox 58" id="58"/>
            <p:cNvSpPr txBox="true"/>
            <p:nvPr/>
          </p:nvSpPr>
          <p:spPr>
            <a:xfrm>
              <a:off x="0" y="-57150"/>
              <a:ext cx="926592" cy="225171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4</a:t>
              </a:r>
            </a:p>
          </p:txBody>
        </p:sp>
      </p:grpSp>
      <p:grpSp>
        <p:nvGrpSpPr>
          <p:cNvPr name="Group 59" id="59"/>
          <p:cNvGrpSpPr/>
          <p:nvPr/>
        </p:nvGrpSpPr>
        <p:grpSpPr>
          <a:xfrm rot="0">
            <a:off x="9710928" y="2889504"/>
            <a:ext cx="6510528" cy="1353312"/>
            <a:chOff x="0" y="0"/>
            <a:chExt cx="8680704" cy="1804416"/>
          </a:xfrm>
        </p:grpSpPr>
        <p:sp>
          <p:nvSpPr>
            <p:cNvPr name="Freeform 60" id="60"/>
            <p:cNvSpPr/>
            <p:nvPr/>
          </p:nvSpPr>
          <p:spPr>
            <a:xfrm flipH="false" flipV="false" rot="0">
              <a:off x="0" y="0"/>
              <a:ext cx="8680704" cy="1804416"/>
            </a:xfrm>
            <a:custGeom>
              <a:avLst/>
              <a:gdLst/>
              <a:ahLst/>
              <a:cxnLst/>
              <a:rect r="r" b="b" t="t" l="l"/>
              <a:pathLst>
                <a:path h="1804416" w="8680704">
                  <a:moveTo>
                    <a:pt x="0" y="0"/>
                  </a:moveTo>
                  <a:lnTo>
                    <a:pt x="8680704" y="0"/>
                  </a:lnTo>
                  <a:lnTo>
                    <a:pt x="8680704" y="1804416"/>
                  </a:lnTo>
                  <a:lnTo>
                    <a:pt x="0" y="1804416"/>
                  </a:lnTo>
                  <a:close/>
                </a:path>
              </a:pathLst>
            </a:custGeom>
            <a:blipFill>
              <a:blip r:embed="rId3">
                <a:alphaModFix amt="0"/>
              </a:blip>
              <a:stretch>
                <a:fillRect l="0" t="-43738" r="0" b="-43738"/>
              </a:stretch>
            </a:blipFill>
          </p:spPr>
        </p:sp>
        <p:sp>
          <p:nvSpPr>
            <p:cNvPr name="TextBox 61" id="61"/>
            <p:cNvSpPr txBox="true"/>
            <p:nvPr/>
          </p:nvSpPr>
          <p:spPr>
            <a:xfrm>
              <a:off x="0" y="-38100"/>
              <a:ext cx="8680704" cy="1842516"/>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LFSE's spatial blindness is fixable with relative position encoding — a small code change with consistent spatial relationship accuracy improvement.</a:t>
              </a:r>
            </a:p>
          </p:txBody>
        </p:sp>
      </p:grpSp>
      <p:grpSp>
        <p:nvGrpSpPr>
          <p:cNvPr name="Group 62" id="62"/>
          <p:cNvGrpSpPr/>
          <p:nvPr/>
        </p:nvGrpSpPr>
        <p:grpSpPr>
          <a:xfrm rot="0">
            <a:off x="8863327" y="4657087"/>
            <a:ext cx="7510777" cy="1658617"/>
            <a:chOff x="0" y="0"/>
            <a:chExt cx="10014369" cy="2211489"/>
          </a:xfrm>
        </p:grpSpPr>
        <p:sp>
          <p:nvSpPr>
            <p:cNvPr name="Freeform 63" id="63"/>
            <p:cNvSpPr/>
            <p:nvPr/>
          </p:nvSpPr>
          <p:spPr>
            <a:xfrm flipH="false" flipV="false" rot="0">
              <a:off x="8509" y="8509"/>
              <a:ext cx="9997440" cy="2194560"/>
            </a:xfrm>
            <a:custGeom>
              <a:avLst/>
              <a:gdLst/>
              <a:ahLst/>
              <a:cxnLst/>
              <a:rect r="r" b="b" t="t" l="l"/>
              <a:pathLst>
                <a:path h="2194560" w="9997440">
                  <a:moveTo>
                    <a:pt x="0" y="0"/>
                  </a:moveTo>
                  <a:lnTo>
                    <a:pt x="9997440" y="0"/>
                  </a:lnTo>
                  <a:lnTo>
                    <a:pt x="9997440" y="2194560"/>
                  </a:lnTo>
                  <a:lnTo>
                    <a:pt x="0" y="2194560"/>
                  </a:lnTo>
                  <a:close/>
                </a:path>
              </a:pathLst>
            </a:custGeom>
            <a:solidFill>
              <a:srgbClr val="162B52"/>
            </a:solidFill>
          </p:spPr>
        </p:sp>
        <p:sp>
          <p:nvSpPr>
            <p:cNvPr name="Freeform 64" id="64"/>
            <p:cNvSpPr/>
            <p:nvPr/>
          </p:nvSpPr>
          <p:spPr>
            <a:xfrm flipH="false" flipV="false" rot="0">
              <a:off x="0" y="0"/>
              <a:ext cx="10014458" cy="2211578"/>
            </a:xfrm>
            <a:custGeom>
              <a:avLst/>
              <a:gdLst/>
              <a:ahLst/>
              <a:cxnLst/>
              <a:rect r="r" b="b" t="t" l="l"/>
              <a:pathLst>
                <a:path h="2211578" w="10014458">
                  <a:moveTo>
                    <a:pt x="8509" y="0"/>
                  </a:moveTo>
                  <a:lnTo>
                    <a:pt x="10005949" y="0"/>
                  </a:lnTo>
                  <a:cubicBezTo>
                    <a:pt x="10010648" y="0"/>
                    <a:pt x="10014458" y="3810"/>
                    <a:pt x="10014458" y="8509"/>
                  </a:cubicBezTo>
                  <a:lnTo>
                    <a:pt x="10014458" y="2203069"/>
                  </a:lnTo>
                  <a:cubicBezTo>
                    <a:pt x="10014458" y="2207768"/>
                    <a:pt x="10010648" y="2211578"/>
                    <a:pt x="10005949" y="2211578"/>
                  </a:cubicBezTo>
                  <a:lnTo>
                    <a:pt x="8509" y="2211578"/>
                  </a:lnTo>
                  <a:cubicBezTo>
                    <a:pt x="3810" y="2211578"/>
                    <a:pt x="0" y="2207768"/>
                    <a:pt x="0" y="2203069"/>
                  </a:cubicBezTo>
                  <a:lnTo>
                    <a:pt x="0" y="8509"/>
                  </a:lnTo>
                  <a:cubicBezTo>
                    <a:pt x="0" y="3810"/>
                    <a:pt x="3810" y="0"/>
                    <a:pt x="8509" y="0"/>
                  </a:cubicBezTo>
                  <a:moveTo>
                    <a:pt x="8509" y="16891"/>
                  </a:moveTo>
                  <a:lnTo>
                    <a:pt x="8509" y="8509"/>
                  </a:lnTo>
                  <a:lnTo>
                    <a:pt x="17018" y="8509"/>
                  </a:lnTo>
                  <a:lnTo>
                    <a:pt x="17018" y="2203069"/>
                  </a:lnTo>
                  <a:lnTo>
                    <a:pt x="8509" y="2203069"/>
                  </a:lnTo>
                  <a:lnTo>
                    <a:pt x="8509" y="2194560"/>
                  </a:lnTo>
                  <a:lnTo>
                    <a:pt x="10005949" y="2194560"/>
                  </a:lnTo>
                  <a:lnTo>
                    <a:pt x="10005949" y="2203069"/>
                  </a:lnTo>
                  <a:lnTo>
                    <a:pt x="9997440" y="2203069"/>
                  </a:lnTo>
                  <a:lnTo>
                    <a:pt x="9997440" y="8509"/>
                  </a:lnTo>
                  <a:lnTo>
                    <a:pt x="10005949" y="8509"/>
                  </a:lnTo>
                  <a:lnTo>
                    <a:pt x="10005949" y="17018"/>
                  </a:lnTo>
                  <a:lnTo>
                    <a:pt x="8509" y="17018"/>
                  </a:lnTo>
                  <a:close/>
                </a:path>
              </a:pathLst>
            </a:custGeom>
            <a:solidFill>
              <a:srgbClr val="0D9488"/>
            </a:solidFill>
          </p:spPr>
        </p:sp>
      </p:grpSp>
      <p:grpSp>
        <p:nvGrpSpPr>
          <p:cNvPr name="Group 65" id="65"/>
          <p:cNvGrpSpPr/>
          <p:nvPr/>
        </p:nvGrpSpPr>
        <p:grpSpPr>
          <a:xfrm rot="0">
            <a:off x="8856983" y="4650743"/>
            <a:ext cx="720347" cy="1671323"/>
            <a:chOff x="0" y="0"/>
            <a:chExt cx="960463" cy="2228431"/>
          </a:xfrm>
        </p:grpSpPr>
        <p:sp>
          <p:nvSpPr>
            <p:cNvPr name="Freeform 66" id="66"/>
            <p:cNvSpPr/>
            <p:nvPr/>
          </p:nvSpPr>
          <p:spPr>
            <a:xfrm flipH="false" flipV="false" rot="0">
              <a:off x="16891" y="16891"/>
              <a:ext cx="926592" cy="2194560"/>
            </a:xfrm>
            <a:custGeom>
              <a:avLst/>
              <a:gdLst/>
              <a:ahLst/>
              <a:cxnLst/>
              <a:rect r="r" b="b" t="t" l="l"/>
              <a:pathLst>
                <a:path h="2194560" w="926592">
                  <a:moveTo>
                    <a:pt x="0" y="0"/>
                  </a:moveTo>
                  <a:lnTo>
                    <a:pt x="926592" y="0"/>
                  </a:lnTo>
                  <a:lnTo>
                    <a:pt x="926592" y="2194560"/>
                  </a:lnTo>
                  <a:lnTo>
                    <a:pt x="0" y="2194560"/>
                  </a:lnTo>
                  <a:close/>
                </a:path>
              </a:pathLst>
            </a:custGeom>
            <a:solidFill>
              <a:srgbClr val="0D9488"/>
            </a:solidFill>
          </p:spPr>
        </p:sp>
        <p:sp>
          <p:nvSpPr>
            <p:cNvPr name="Freeform 67" id="67"/>
            <p:cNvSpPr/>
            <p:nvPr/>
          </p:nvSpPr>
          <p:spPr>
            <a:xfrm flipH="false" flipV="false" rot="0">
              <a:off x="0" y="0"/>
              <a:ext cx="960374" cy="2228342"/>
            </a:xfrm>
            <a:custGeom>
              <a:avLst/>
              <a:gdLst/>
              <a:ahLst/>
              <a:cxnLst/>
              <a:rect r="r" b="b" t="t" l="l"/>
              <a:pathLst>
                <a:path h="2228342" w="960374">
                  <a:moveTo>
                    <a:pt x="16891" y="0"/>
                  </a:moveTo>
                  <a:lnTo>
                    <a:pt x="943483" y="0"/>
                  </a:lnTo>
                  <a:cubicBezTo>
                    <a:pt x="952881" y="0"/>
                    <a:pt x="960374" y="7620"/>
                    <a:pt x="960374" y="16891"/>
                  </a:cubicBezTo>
                  <a:lnTo>
                    <a:pt x="960374" y="2211451"/>
                  </a:lnTo>
                  <a:cubicBezTo>
                    <a:pt x="960374" y="2220849"/>
                    <a:pt x="952754" y="2228342"/>
                    <a:pt x="943483"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943483" y="2194560"/>
                  </a:lnTo>
                  <a:lnTo>
                    <a:pt x="943483" y="2211451"/>
                  </a:lnTo>
                  <a:lnTo>
                    <a:pt x="926592" y="2211451"/>
                  </a:lnTo>
                  <a:lnTo>
                    <a:pt x="926592" y="16891"/>
                  </a:lnTo>
                  <a:lnTo>
                    <a:pt x="943483" y="16891"/>
                  </a:lnTo>
                  <a:lnTo>
                    <a:pt x="943483" y="33909"/>
                  </a:lnTo>
                  <a:lnTo>
                    <a:pt x="16891" y="33909"/>
                  </a:lnTo>
                  <a:close/>
                </a:path>
              </a:pathLst>
            </a:custGeom>
            <a:solidFill>
              <a:srgbClr val="0D9488"/>
            </a:solidFill>
          </p:spPr>
        </p:sp>
      </p:grpSp>
      <p:grpSp>
        <p:nvGrpSpPr>
          <p:cNvPr name="Group 68" id="68"/>
          <p:cNvGrpSpPr/>
          <p:nvPr/>
        </p:nvGrpSpPr>
        <p:grpSpPr>
          <a:xfrm rot="0">
            <a:off x="8869680" y="4663440"/>
            <a:ext cx="694944" cy="1645920"/>
            <a:chOff x="0" y="0"/>
            <a:chExt cx="926592" cy="2194560"/>
          </a:xfrm>
        </p:grpSpPr>
        <p:sp>
          <p:nvSpPr>
            <p:cNvPr name="Freeform 69" id="69"/>
            <p:cNvSpPr/>
            <p:nvPr/>
          </p:nvSpPr>
          <p:spPr>
            <a:xfrm flipH="false" flipV="false" rot="0">
              <a:off x="0" y="0"/>
              <a:ext cx="926592" cy="2194560"/>
            </a:xfrm>
            <a:custGeom>
              <a:avLst/>
              <a:gdLst/>
              <a:ahLst/>
              <a:cxnLst/>
              <a:rect r="r" b="b" t="t" l="l"/>
              <a:pathLst>
                <a:path h="2194560" w="926592">
                  <a:moveTo>
                    <a:pt x="0" y="0"/>
                  </a:moveTo>
                  <a:lnTo>
                    <a:pt x="926592" y="0"/>
                  </a:lnTo>
                  <a:lnTo>
                    <a:pt x="926592" y="2194560"/>
                  </a:lnTo>
                  <a:lnTo>
                    <a:pt x="0" y="2194560"/>
                  </a:lnTo>
                  <a:close/>
                </a:path>
              </a:pathLst>
            </a:custGeom>
            <a:blipFill>
              <a:blip r:embed="rId3">
                <a:alphaModFix amt="0"/>
              </a:blip>
              <a:stretch>
                <a:fillRect l="-253876" t="0" r="-253876" b="0"/>
              </a:stretch>
            </a:blipFill>
          </p:spPr>
        </p:sp>
        <p:sp>
          <p:nvSpPr>
            <p:cNvPr name="TextBox 70" id="70"/>
            <p:cNvSpPr txBox="true"/>
            <p:nvPr/>
          </p:nvSpPr>
          <p:spPr>
            <a:xfrm>
              <a:off x="0" y="-57150"/>
              <a:ext cx="926592" cy="2251710"/>
            </a:xfrm>
            <a:prstGeom prst="rect">
              <a:avLst/>
            </a:prstGeom>
          </p:spPr>
          <p:txBody>
            <a:bodyPr anchor="ctr" rtlCol="false" tIns="0" lIns="0" bIns="0" rIns="0"/>
            <a:lstStyle/>
            <a:p>
              <a:pPr algn="ctr">
                <a:lnSpc>
                  <a:spcPts val="3840"/>
                </a:lnSpc>
              </a:pPr>
              <a:r>
                <a:rPr lang="en-US" sz="3200" b="true">
                  <a:solidFill>
                    <a:srgbClr val="FFFFFF"/>
                  </a:solidFill>
                  <a:latin typeface="Calibri (MS) Bold"/>
                  <a:ea typeface="Calibri (MS) Bold"/>
                  <a:cs typeface="Calibri (MS) Bold"/>
                  <a:sym typeface="Calibri (MS) Bold"/>
                </a:rPr>
                <a:t>5</a:t>
              </a:r>
            </a:p>
          </p:txBody>
        </p:sp>
      </p:grpSp>
      <p:grpSp>
        <p:nvGrpSpPr>
          <p:cNvPr name="Group 71" id="71"/>
          <p:cNvGrpSpPr/>
          <p:nvPr/>
        </p:nvGrpSpPr>
        <p:grpSpPr>
          <a:xfrm rot="0">
            <a:off x="9710928" y="4809744"/>
            <a:ext cx="6510528" cy="1353312"/>
            <a:chOff x="0" y="0"/>
            <a:chExt cx="8680704" cy="1804416"/>
          </a:xfrm>
        </p:grpSpPr>
        <p:sp>
          <p:nvSpPr>
            <p:cNvPr name="Freeform 72" id="72"/>
            <p:cNvSpPr/>
            <p:nvPr/>
          </p:nvSpPr>
          <p:spPr>
            <a:xfrm flipH="false" flipV="false" rot="0">
              <a:off x="0" y="0"/>
              <a:ext cx="8680704" cy="1804416"/>
            </a:xfrm>
            <a:custGeom>
              <a:avLst/>
              <a:gdLst/>
              <a:ahLst/>
              <a:cxnLst/>
              <a:rect r="r" b="b" t="t" l="l"/>
              <a:pathLst>
                <a:path h="1804416" w="8680704">
                  <a:moveTo>
                    <a:pt x="0" y="0"/>
                  </a:moveTo>
                  <a:lnTo>
                    <a:pt x="8680704" y="0"/>
                  </a:lnTo>
                  <a:lnTo>
                    <a:pt x="8680704" y="1804416"/>
                  </a:lnTo>
                  <a:lnTo>
                    <a:pt x="0" y="1804416"/>
                  </a:lnTo>
                  <a:close/>
                </a:path>
              </a:pathLst>
            </a:custGeom>
            <a:blipFill>
              <a:blip r:embed="rId3">
                <a:alphaModFix amt="0"/>
              </a:blip>
              <a:stretch>
                <a:fillRect l="0" t="-43738" r="0" b="-43738"/>
              </a:stretch>
            </a:blipFill>
          </p:spPr>
        </p:sp>
        <p:sp>
          <p:nvSpPr>
            <p:cNvPr name="TextBox 73" id="73"/>
            <p:cNvSpPr txBox="true"/>
            <p:nvPr/>
          </p:nvSpPr>
          <p:spPr>
            <a:xfrm>
              <a:off x="0" y="-38100"/>
              <a:ext cx="8680704" cy="1842516"/>
            </a:xfrm>
            <a:prstGeom prst="rect">
              <a:avLst/>
            </a:prstGeom>
          </p:spPr>
          <p:txBody>
            <a:bodyPr anchor="ctr" rtlCol="false" tIns="0" lIns="0" bIns="0" rIns="0"/>
            <a:lstStyle/>
            <a:p>
              <a:pPr algn="l">
                <a:lnSpc>
                  <a:spcPts val="2280"/>
                </a:lnSpc>
              </a:pPr>
              <a:r>
                <a:rPr lang="en-US" sz="1900">
                  <a:solidFill>
                    <a:srgbClr val="A5C8E4"/>
                  </a:solidFill>
                  <a:latin typeface="Calibri (MS)"/>
                  <a:ea typeface="Calibri (MS)"/>
                  <a:cs typeface="Calibri (MS)"/>
                  <a:sym typeface="Calibri (MS)"/>
                </a:rPr>
                <a:t>CLIP re-ranking is a free improvement at inference time. No retraining needed — use it as a plug-in on top of any TSFE checkpoint.</a:t>
              </a:r>
            </a:p>
          </p:txBody>
        </p:sp>
      </p:grpSp>
      <p:grpSp>
        <p:nvGrpSpPr>
          <p:cNvPr name="Group 74" id="74"/>
          <p:cNvGrpSpPr/>
          <p:nvPr/>
        </p:nvGrpSpPr>
        <p:grpSpPr>
          <a:xfrm rot="0">
            <a:off x="1005840" y="8741664"/>
            <a:ext cx="14447520" cy="512064"/>
            <a:chOff x="0" y="0"/>
            <a:chExt cx="19263360" cy="682752"/>
          </a:xfrm>
        </p:grpSpPr>
        <p:sp>
          <p:nvSpPr>
            <p:cNvPr name="Freeform 75" id="75"/>
            <p:cNvSpPr/>
            <p:nvPr/>
          </p:nvSpPr>
          <p:spPr>
            <a:xfrm flipH="false" flipV="false" rot="0">
              <a:off x="0" y="0"/>
              <a:ext cx="19263361" cy="682752"/>
            </a:xfrm>
            <a:custGeom>
              <a:avLst/>
              <a:gdLst/>
              <a:ahLst/>
              <a:cxnLst/>
              <a:rect r="r" b="b" t="t" l="l"/>
              <a:pathLst>
                <a:path h="682752" w="19263361">
                  <a:moveTo>
                    <a:pt x="0" y="0"/>
                  </a:moveTo>
                  <a:lnTo>
                    <a:pt x="19263361" y="0"/>
                  </a:lnTo>
                  <a:lnTo>
                    <a:pt x="19263361" y="682752"/>
                  </a:lnTo>
                  <a:lnTo>
                    <a:pt x="0" y="682752"/>
                  </a:lnTo>
                  <a:close/>
                </a:path>
              </a:pathLst>
            </a:custGeom>
            <a:blipFill>
              <a:blip r:embed="rId3">
                <a:alphaModFix amt="0"/>
              </a:blip>
              <a:stretch>
                <a:fillRect l="0" t="-499756" r="0" b="-499756"/>
              </a:stretch>
            </a:blipFill>
          </p:spPr>
        </p:sp>
        <p:sp>
          <p:nvSpPr>
            <p:cNvPr name="TextBox 76" id="76"/>
            <p:cNvSpPr txBox="true"/>
            <p:nvPr/>
          </p:nvSpPr>
          <p:spPr>
            <a:xfrm>
              <a:off x="0" y="-38100"/>
              <a:ext cx="19263360" cy="720852"/>
            </a:xfrm>
            <a:prstGeom prst="rect">
              <a:avLst/>
            </a:prstGeom>
          </p:spPr>
          <p:txBody>
            <a:bodyPr anchor="ctr" rtlCol="false" tIns="0" lIns="0" bIns="0" rIns="0"/>
            <a:lstStyle/>
            <a:p>
              <a:pPr algn="l">
                <a:lnSpc>
                  <a:spcPts val="2400"/>
                </a:lnSpc>
              </a:pPr>
              <a:r>
                <a:rPr lang="en-US" sz="2000">
                  <a:solidFill>
                    <a:srgbClr val="94A3B8"/>
                  </a:solidFill>
                  <a:latin typeface="Calibri (MS)"/>
                  <a:ea typeface="Calibri (MS)"/>
                  <a:cs typeface="Calibri (MS)"/>
                  <a:sym typeface="Calibri (MS)"/>
                </a:rPr>
                <a:t>TSFE baseline CIDEr: 305.70  ·  Estimated enhanced ceiling: 330–345+  ·  All 6 enhancement directions are independently applicable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DAHF_49wDk8</dc:identifier>
  <dcterms:modified xsi:type="dcterms:W3CDTF">2011-08-01T06:04:30Z</dcterms:modified>
  <cp:revision>1</cp:revision>
  <dc:title>TSFE_Enhancements.pptx</dc:title>
</cp:coreProperties>
</file>