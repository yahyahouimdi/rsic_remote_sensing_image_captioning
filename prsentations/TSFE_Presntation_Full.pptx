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2"/>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Calibri (MS) Bold" charset="1" panose="020F0702030404030204"/>
      <p:regular r:id="rId25"/>
    </p:embeddedFont>
    <p:embeddedFont>
      <p:font typeface="Calibri (MS)" charset="1" panose="020F0502020204030204"/>
      <p:regular r:id="rId26"/>
    </p:embeddedFont>
    <p:embeddedFont>
      <p:font typeface="Calibri (MS) Italics" charset="1" panose="020F05020202040A0204"/>
      <p:regular r:id="rId29"/>
    </p:embeddedFont>
    <p:embeddedFont>
      <p:font typeface="Consolas" charset="1" panose="020B0609020204030204"/>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notesMasters/notesMaster1.xml" Type="http://schemas.openxmlformats.org/officeDocument/2006/relationships/notesMaster"/><Relationship Id="rId23" Target="theme/theme2.xml" Type="http://schemas.openxmlformats.org/officeDocument/2006/relationships/theme"/><Relationship Id="rId24" Target="notesSlides/notesSlide1.xml" Type="http://schemas.openxmlformats.org/officeDocument/2006/relationships/notesSlide"/><Relationship Id="rId25" Target="fonts/font25.fntdata" Type="http://schemas.openxmlformats.org/officeDocument/2006/relationships/font"/><Relationship Id="rId26" Target="fonts/font26.fntdata" Type="http://schemas.openxmlformats.org/officeDocument/2006/relationships/font"/><Relationship Id="rId27" Target="notesSlides/notesSlide2.xml" Type="http://schemas.openxmlformats.org/officeDocument/2006/relationships/notesSlide"/><Relationship Id="rId28" Target="notesSlides/notesSlide3.xml" Type="http://schemas.openxmlformats.org/officeDocument/2006/relationships/notesSlide"/><Relationship Id="rId29" Target="fonts/font29.fntdata" Type="http://schemas.openxmlformats.org/officeDocument/2006/relationships/font"/><Relationship Id="rId3" Target="viewProps.xml" Type="http://schemas.openxmlformats.org/officeDocument/2006/relationships/viewProps"/><Relationship Id="rId30" Target="notesSlides/notesSlide4.xml" Type="http://schemas.openxmlformats.org/officeDocument/2006/relationships/notesSlide"/><Relationship Id="rId31" Target="notesSlides/notesSlide5.xml" Type="http://schemas.openxmlformats.org/officeDocument/2006/relationships/notesSlide"/><Relationship Id="rId32" Target="fonts/font32.fntdata" Type="http://schemas.openxmlformats.org/officeDocument/2006/relationships/font"/><Relationship Id="rId33" Target="notesSlides/notesSlide6.xml" Type="http://schemas.openxmlformats.org/officeDocument/2006/relationships/notesSlide"/><Relationship Id="rId34" Target="notesSlides/notesSlide7.xml" Type="http://schemas.openxmlformats.org/officeDocument/2006/relationships/notesSlide"/><Relationship Id="rId35" Target="notesSlides/notesSlide8.xml" Type="http://schemas.openxmlformats.org/officeDocument/2006/relationships/notesSlide"/><Relationship Id="rId36" Target="notesSlides/notesSlide9.xml" Type="http://schemas.openxmlformats.org/officeDocument/2006/relationships/notesSlide"/><Relationship Id="rId37" Target="notesSlides/notesSlide10.xml" Type="http://schemas.openxmlformats.org/officeDocument/2006/relationships/notesSlide"/><Relationship Id="rId38" Target="notesSlides/notesSlide11.xml" Type="http://schemas.openxmlformats.org/officeDocument/2006/relationships/notesSlide"/><Relationship Id="rId39" Target="notesSlides/notesSlide12.xml" Type="http://schemas.openxmlformats.org/officeDocument/2006/relationships/notesSlide"/><Relationship Id="rId4" Target="theme/theme1.xml" Type="http://schemas.openxmlformats.org/officeDocument/2006/relationships/theme"/><Relationship Id="rId40" Target="notesSlides/notesSlide13.xml" Type="http://schemas.openxmlformats.org/officeDocument/2006/relationships/notesSlide"/><Relationship Id="rId41" Target="notesSlides/notesSlide14.xml" Type="http://schemas.openxmlformats.org/officeDocument/2006/relationships/notesSlide"/><Relationship Id="rId42" Target="notesSlides/notesSlide15.xml" Type="http://schemas.openxmlformats.org/officeDocument/2006/relationships/notesSlid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1.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E3A6A"/>
        </a:solidFill>
      </p:bgPr>
    </p:bg>
    <p:spTree>
      <p:nvGrpSpPr>
        <p:cNvPr id="1" name=""/>
        <p:cNvGrpSpPr/>
        <p:nvPr/>
      </p:nvGrpSpPr>
      <p:grpSpPr>
        <a:xfrm>
          <a:off x="0" y="0"/>
          <a:ext cx="0" cy="0"/>
          <a:chOff x="0" y="0"/>
          <a:chExt cx="0" cy="0"/>
        </a:xfrm>
      </p:grpSpPr>
      <p:grpSp>
        <p:nvGrpSpPr>
          <p:cNvPr name="Group 2" id="2"/>
          <p:cNvGrpSpPr/>
          <p:nvPr/>
        </p:nvGrpSpPr>
        <p:grpSpPr>
          <a:xfrm rot="0">
            <a:off x="1005840" y="2194560"/>
            <a:ext cx="13716000" cy="1280160"/>
            <a:chOff x="0" y="0"/>
            <a:chExt cx="18288000" cy="1706880"/>
          </a:xfrm>
        </p:grpSpPr>
        <p:sp>
          <p:nvSpPr>
            <p:cNvPr name="Freeform 3" id="3"/>
            <p:cNvSpPr/>
            <p:nvPr/>
          </p:nvSpPr>
          <p:spPr>
            <a:xfrm flipH="false" flipV="false" rot="0">
              <a:off x="0" y="0"/>
              <a:ext cx="18288000" cy="1706880"/>
            </a:xfrm>
            <a:custGeom>
              <a:avLst/>
              <a:gdLst/>
              <a:ahLst/>
              <a:cxnLst/>
              <a:rect r="r" b="b" t="t" l="l"/>
              <a:pathLst>
                <a:path h="1706880" w="18288000">
                  <a:moveTo>
                    <a:pt x="0" y="0"/>
                  </a:moveTo>
                  <a:lnTo>
                    <a:pt x="18288000" y="0"/>
                  </a:lnTo>
                  <a:lnTo>
                    <a:pt x="18288000" y="1706880"/>
                  </a:lnTo>
                  <a:lnTo>
                    <a:pt x="0" y="1706880"/>
                  </a:lnTo>
                  <a:close/>
                </a:path>
              </a:pathLst>
            </a:custGeom>
            <a:blipFill>
              <a:blip r:embed="rId3">
                <a:alphaModFix amt="0"/>
              </a:blip>
              <a:stretch>
                <a:fillRect l="0" t="-158768" r="0" b="-158768"/>
              </a:stretch>
            </a:blipFill>
          </p:spPr>
        </p:sp>
        <p:sp>
          <p:nvSpPr>
            <p:cNvPr name="TextBox 4" id="4"/>
            <p:cNvSpPr txBox="true"/>
            <p:nvPr/>
          </p:nvSpPr>
          <p:spPr>
            <a:xfrm>
              <a:off x="0" y="-209550"/>
              <a:ext cx="18288000" cy="1916430"/>
            </a:xfrm>
            <a:prstGeom prst="rect">
              <a:avLst/>
            </a:prstGeom>
          </p:spPr>
          <p:txBody>
            <a:bodyPr anchor="ctr" rtlCol="false" tIns="0" lIns="0" bIns="0" rIns="0"/>
            <a:lstStyle/>
            <a:p>
              <a:pPr algn="l">
                <a:lnSpc>
                  <a:spcPts val="12480"/>
                </a:lnSpc>
              </a:pPr>
              <a:r>
                <a:rPr lang="en-US" sz="10400" b="true">
                  <a:solidFill>
                    <a:srgbClr val="FFFFFF"/>
                  </a:solidFill>
                  <a:latin typeface="Calibri (MS) Bold"/>
                  <a:ea typeface="Calibri (MS) Bold"/>
                  <a:cs typeface="Calibri (MS) Bold"/>
                  <a:sym typeface="Calibri (MS) Bold"/>
                </a:rPr>
                <a:t>TSFE</a:t>
              </a:r>
            </a:p>
          </p:txBody>
        </p:sp>
      </p:grpSp>
      <p:grpSp>
        <p:nvGrpSpPr>
          <p:cNvPr name="Group 5" id="5"/>
          <p:cNvGrpSpPr/>
          <p:nvPr/>
        </p:nvGrpSpPr>
        <p:grpSpPr>
          <a:xfrm rot="0">
            <a:off x="1005840" y="3383280"/>
            <a:ext cx="14264640" cy="2011680"/>
            <a:chOff x="0" y="0"/>
            <a:chExt cx="19019520" cy="2682240"/>
          </a:xfrm>
        </p:grpSpPr>
        <p:sp>
          <p:nvSpPr>
            <p:cNvPr name="Freeform 6" id="6"/>
            <p:cNvSpPr/>
            <p:nvPr/>
          </p:nvSpPr>
          <p:spPr>
            <a:xfrm flipH="false" flipV="false" rot="0">
              <a:off x="0" y="0"/>
              <a:ext cx="19019520" cy="2682240"/>
            </a:xfrm>
            <a:custGeom>
              <a:avLst/>
              <a:gdLst/>
              <a:ahLst/>
              <a:cxnLst/>
              <a:rect r="r" b="b" t="t" l="l"/>
              <a:pathLst>
                <a:path h="2682240" w="19019520">
                  <a:moveTo>
                    <a:pt x="0" y="0"/>
                  </a:moveTo>
                  <a:lnTo>
                    <a:pt x="19019520" y="0"/>
                  </a:lnTo>
                  <a:lnTo>
                    <a:pt x="19019520" y="2682240"/>
                  </a:lnTo>
                  <a:lnTo>
                    <a:pt x="0" y="2682240"/>
                  </a:lnTo>
                  <a:close/>
                </a:path>
              </a:pathLst>
            </a:custGeom>
            <a:blipFill>
              <a:blip r:embed="rId3">
                <a:alphaModFix amt="0"/>
              </a:blip>
              <a:stretch>
                <a:fillRect l="0" t="-88166" r="0" b="-88166"/>
              </a:stretch>
            </a:blipFill>
          </p:spPr>
        </p:sp>
        <p:sp>
          <p:nvSpPr>
            <p:cNvPr name="TextBox 7" id="7"/>
            <p:cNvSpPr txBox="true"/>
            <p:nvPr/>
          </p:nvSpPr>
          <p:spPr>
            <a:xfrm>
              <a:off x="0" y="-209550"/>
              <a:ext cx="19019520" cy="2891790"/>
            </a:xfrm>
            <a:prstGeom prst="rect">
              <a:avLst/>
            </a:prstGeom>
          </p:spPr>
          <p:txBody>
            <a:bodyPr anchor="ctr" rtlCol="false" tIns="0" lIns="0" bIns="0" rIns="0"/>
            <a:lstStyle/>
            <a:p>
              <a:pPr algn="l">
                <a:lnSpc>
                  <a:spcPts val="6240"/>
                </a:lnSpc>
              </a:pPr>
              <a:r>
                <a:rPr lang="en-US" sz="4000">
                  <a:solidFill>
                    <a:srgbClr val="A5C8E4"/>
                  </a:solidFill>
                  <a:latin typeface="Calibri (MS)"/>
                  <a:ea typeface="Calibri (MS)"/>
                  <a:cs typeface="Calibri (MS)"/>
                  <a:sym typeface="Calibri (MS)"/>
                </a:rPr>
                <a:t>Two-Stage Feature Enhancement</a:t>
              </a:r>
            </a:p>
            <a:p>
              <a:pPr algn="l">
                <a:lnSpc>
                  <a:spcPts val="6240"/>
                </a:lnSpc>
              </a:pPr>
              <a:r>
                <a:rPr lang="en-US" sz="4000">
                  <a:solidFill>
                    <a:srgbClr val="A5C8E4"/>
                  </a:solidFill>
                  <a:latin typeface="Calibri (MS)"/>
                  <a:ea typeface="Calibri (MS)"/>
                  <a:cs typeface="Calibri (MS)"/>
                  <a:sym typeface="Calibri (MS)"/>
                </a:rPr>
                <a:t>for Remote Sensing Image Captioning</a:t>
              </a:r>
            </a:p>
          </p:txBody>
        </p:sp>
      </p:grpSp>
      <p:grpSp>
        <p:nvGrpSpPr>
          <p:cNvPr name="Group 8" id="8"/>
          <p:cNvGrpSpPr/>
          <p:nvPr/>
        </p:nvGrpSpPr>
        <p:grpSpPr>
          <a:xfrm rot="0">
            <a:off x="1005840" y="5760720"/>
            <a:ext cx="14630400" cy="640080"/>
            <a:chOff x="0" y="0"/>
            <a:chExt cx="19507200" cy="853440"/>
          </a:xfrm>
        </p:grpSpPr>
        <p:sp>
          <p:nvSpPr>
            <p:cNvPr name="Freeform 9" id="9"/>
            <p:cNvSpPr/>
            <p:nvPr/>
          </p:nvSpPr>
          <p:spPr>
            <a:xfrm flipH="false" flipV="false" rot="0">
              <a:off x="0" y="0"/>
              <a:ext cx="19507200" cy="853440"/>
            </a:xfrm>
            <a:custGeom>
              <a:avLst/>
              <a:gdLst/>
              <a:ahLst/>
              <a:cxnLst/>
              <a:rect r="r" b="b" t="t" l="l"/>
              <a:pathLst>
                <a:path h="853440" w="19507200">
                  <a:moveTo>
                    <a:pt x="0" y="0"/>
                  </a:moveTo>
                  <a:lnTo>
                    <a:pt x="19507200" y="0"/>
                  </a:lnTo>
                  <a:lnTo>
                    <a:pt x="19507200" y="853440"/>
                  </a:lnTo>
                  <a:lnTo>
                    <a:pt x="0" y="853440"/>
                  </a:lnTo>
                  <a:close/>
                </a:path>
              </a:pathLst>
            </a:custGeom>
            <a:blipFill>
              <a:blip r:embed="rId3">
                <a:alphaModFix amt="0"/>
              </a:blip>
              <a:stretch>
                <a:fillRect l="0" t="-395372" r="0" b="-395372"/>
              </a:stretch>
            </a:blipFill>
          </p:spPr>
        </p:sp>
        <p:sp>
          <p:nvSpPr>
            <p:cNvPr name="TextBox 10" id="10"/>
            <p:cNvSpPr txBox="true"/>
            <p:nvPr/>
          </p:nvSpPr>
          <p:spPr>
            <a:xfrm>
              <a:off x="0" y="-38100"/>
              <a:ext cx="19507200" cy="891540"/>
            </a:xfrm>
            <a:prstGeom prst="rect">
              <a:avLst/>
            </a:prstGeom>
          </p:spPr>
          <p:txBody>
            <a:bodyPr anchor="ctr" rtlCol="false" tIns="0" lIns="0" bIns="0" rIns="0"/>
            <a:lstStyle/>
            <a:p>
              <a:pPr algn="l">
                <a:lnSpc>
                  <a:spcPts val="2879"/>
                </a:lnSpc>
              </a:pPr>
              <a:r>
                <a:rPr lang="en-US" sz="2400">
                  <a:solidFill>
                    <a:srgbClr val="94A3B8"/>
                  </a:solidFill>
                  <a:latin typeface="Calibri (MS)"/>
                  <a:ea typeface="Calibri (MS)"/>
                  <a:cs typeface="Calibri (MS)"/>
                  <a:sym typeface="Calibri (MS)"/>
                </a:rPr>
                <a:t>Guo, Li, Song &amp; Chi  ·  Remote Sensing, 2024  ·  Xidian University</a:t>
              </a:r>
            </a:p>
          </p:txBody>
        </p:sp>
      </p:grpSp>
      <p:grpSp>
        <p:nvGrpSpPr>
          <p:cNvPr name="Group 11" id="11"/>
          <p:cNvGrpSpPr/>
          <p:nvPr/>
        </p:nvGrpSpPr>
        <p:grpSpPr>
          <a:xfrm rot="0">
            <a:off x="519878" y="7453870"/>
            <a:ext cx="4017686" cy="626208"/>
            <a:chOff x="0" y="0"/>
            <a:chExt cx="4910671" cy="765391"/>
          </a:xfrm>
        </p:grpSpPr>
        <p:sp>
          <p:nvSpPr>
            <p:cNvPr name="Freeform 12" id="12"/>
            <p:cNvSpPr/>
            <p:nvPr/>
          </p:nvSpPr>
          <p:spPr>
            <a:xfrm flipH="false" flipV="false" rot="0">
              <a:off x="16891" y="16891"/>
              <a:ext cx="4876800" cy="731520"/>
            </a:xfrm>
            <a:custGeom>
              <a:avLst/>
              <a:gdLst/>
              <a:ahLst/>
              <a:cxnLst/>
              <a:rect r="r" b="b" t="t" l="l"/>
              <a:pathLst>
                <a:path h="731520" w="4876800">
                  <a:moveTo>
                    <a:pt x="0" y="0"/>
                  </a:moveTo>
                  <a:lnTo>
                    <a:pt x="4876800" y="0"/>
                  </a:lnTo>
                  <a:lnTo>
                    <a:pt x="4876800" y="731520"/>
                  </a:lnTo>
                  <a:lnTo>
                    <a:pt x="0" y="731520"/>
                  </a:lnTo>
                  <a:close/>
                </a:path>
              </a:pathLst>
            </a:custGeom>
            <a:solidFill>
              <a:srgbClr val="94A3B8">
                <a:alpha val="48627"/>
              </a:srgbClr>
            </a:solidFill>
          </p:spPr>
        </p:sp>
        <p:sp>
          <p:nvSpPr>
            <p:cNvPr name="Freeform 13" id="13"/>
            <p:cNvSpPr/>
            <p:nvPr/>
          </p:nvSpPr>
          <p:spPr>
            <a:xfrm flipH="false" flipV="false" rot="0">
              <a:off x="0" y="0"/>
              <a:ext cx="4910582" cy="765304"/>
            </a:xfrm>
            <a:custGeom>
              <a:avLst/>
              <a:gdLst/>
              <a:ahLst/>
              <a:cxnLst/>
              <a:rect r="r" b="b" t="t" l="l"/>
              <a:pathLst>
                <a:path h="765304" w="4910582">
                  <a:moveTo>
                    <a:pt x="16891" y="0"/>
                  </a:moveTo>
                  <a:lnTo>
                    <a:pt x="4893691" y="0"/>
                  </a:lnTo>
                  <a:cubicBezTo>
                    <a:pt x="4903089" y="0"/>
                    <a:pt x="4910582" y="7620"/>
                    <a:pt x="4910582" y="16891"/>
                  </a:cubicBezTo>
                  <a:lnTo>
                    <a:pt x="4910582" y="748411"/>
                  </a:lnTo>
                  <a:cubicBezTo>
                    <a:pt x="4910582" y="757809"/>
                    <a:pt x="4902962" y="765302"/>
                    <a:pt x="4893691" y="765302"/>
                  </a:cubicBezTo>
                  <a:lnTo>
                    <a:pt x="16891" y="765302"/>
                  </a:lnTo>
                  <a:cubicBezTo>
                    <a:pt x="7620" y="765429"/>
                    <a:pt x="0" y="757809"/>
                    <a:pt x="0" y="748411"/>
                  </a:cubicBezTo>
                  <a:lnTo>
                    <a:pt x="0" y="16891"/>
                  </a:lnTo>
                  <a:cubicBezTo>
                    <a:pt x="0" y="7620"/>
                    <a:pt x="7620" y="0"/>
                    <a:pt x="16891" y="0"/>
                  </a:cubicBezTo>
                  <a:moveTo>
                    <a:pt x="16891" y="33909"/>
                  </a:moveTo>
                  <a:lnTo>
                    <a:pt x="16891" y="16891"/>
                  </a:lnTo>
                  <a:lnTo>
                    <a:pt x="33909" y="16891"/>
                  </a:lnTo>
                  <a:lnTo>
                    <a:pt x="33909" y="748411"/>
                  </a:lnTo>
                  <a:lnTo>
                    <a:pt x="16891" y="748411"/>
                  </a:lnTo>
                  <a:lnTo>
                    <a:pt x="16891" y="731520"/>
                  </a:lnTo>
                  <a:lnTo>
                    <a:pt x="4893691" y="731520"/>
                  </a:lnTo>
                  <a:lnTo>
                    <a:pt x="4893691" y="748411"/>
                  </a:lnTo>
                  <a:lnTo>
                    <a:pt x="4876800" y="748411"/>
                  </a:lnTo>
                  <a:lnTo>
                    <a:pt x="4876800" y="16891"/>
                  </a:lnTo>
                  <a:lnTo>
                    <a:pt x="4893691" y="16891"/>
                  </a:lnTo>
                  <a:lnTo>
                    <a:pt x="4893691" y="33909"/>
                  </a:lnTo>
                  <a:lnTo>
                    <a:pt x="16891" y="33909"/>
                  </a:lnTo>
                  <a:close/>
                </a:path>
              </a:pathLst>
            </a:custGeom>
            <a:solidFill>
              <a:srgbClr val="0D9488"/>
            </a:solidFill>
          </p:spPr>
        </p:sp>
      </p:grpSp>
      <p:grpSp>
        <p:nvGrpSpPr>
          <p:cNvPr name="Group 14" id="14"/>
          <p:cNvGrpSpPr/>
          <p:nvPr/>
        </p:nvGrpSpPr>
        <p:grpSpPr>
          <a:xfrm rot="0">
            <a:off x="561951" y="7453870"/>
            <a:ext cx="3989975" cy="598496"/>
            <a:chOff x="0" y="0"/>
            <a:chExt cx="4876800" cy="731520"/>
          </a:xfrm>
        </p:grpSpPr>
        <p:sp>
          <p:nvSpPr>
            <p:cNvPr name="Freeform 15" id="15"/>
            <p:cNvSpPr/>
            <p:nvPr/>
          </p:nvSpPr>
          <p:spPr>
            <a:xfrm flipH="false" flipV="false" rot="0">
              <a:off x="0" y="0"/>
              <a:ext cx="4876800" cy="731520"/>
            </a:xfrm>
            <a:custGeom>
              <a:avLst/>
              <a:gdLst/>
              <a:ahLst/>
              <a:cxnLst/>
              <a:rect r="r" b="b" t="t" l="l"/>
              <a:pathLst>
                <a:path h="731520" w="4876800">
                  <a:moveTo>
                    <a:pt x="0" y="0"/>
                  </a:moveTo>
                  <a:lnTo>
                    <a:pt x="4876800" y="0"/>
                  </a:lnTo>
                  <a:lnTo>
                    <a:pt x="4876800" y="731520"/>
                  </a:lnTo>
                  <a:lnTo>
                    <a:pt x="0" y="731520"/>
                  </a:lnTo>
                  <a:close/>
                </a:path>
              </a:pathLst>
            </a:custGeom>
            <a:blipFill>
              <a:blip r:embed="rId3">
                <a:alphaModFix amt="0"/>
              </a:blip>
              <a:stretch>
                <a:fillRect l="0" t="-79900" r="0" b="-79900"/>
              </a:stretch>
            </a:blipFill>
          </p:spPr>
        </p:sp>
        <p:sp>
          <p:nvSpPr>
            <p:cNvPr name="TextBox 16" id="16"/>
            <p:cNvSpPr txBox="true"/>
            <p:nvPr/>
          </p:nvSpPr>
          <p:spPr>
            <a:xfrm>
              <a:off x="0" y="-38100"/>
              <a:ext cx="4876800" cy="76962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Encoder–Decoder</a:t>
              </a:r>
            </a:p>
          </p:txBody>
        </p:sp>
      </p:grpSp>
      <p:grpSp>
        <p:nvGrpSpPr>
          <p:cNvPr name="Group 17" id="17"/>
          <p:cNvGrpSpPr/>
          <p:nvPr/>
        </p:nvGrpSpPr>
        <p:grpSpPr>
          <a:xfrm rot="0">
            <a:off x="4809101" y="7453870"/>
            <a:ext cx="4017686" cy="626208"/>
            <a:chOff x="0" y="0"/>
            <a:chExt cx="4910671" cy="765391"/>
          </a:xfrm>
        </p:grpSpPr>
        <p:sp>
          <p:nvSpPr>
            <p:cNvPr name="Freeform 18" id="18"/>
            <p:cNvSpPr/>
            <p:nvPr/>
          </p:nvSpPr>
          <p:spPr>
            <a:xfrm flipH="false" flipV="false" rot="0">
              <a:off x="16891" y="16891"/>
              <a:ext cx="4876800" cy="731520"/>
            </a:xfrm>
            <a:custGeom>
              <a:avLst/>
              <a:gdLst/>
              <a:ahLst/>
              <a:cxnLst/>
              <a:rect r="r" b="b" t="t" l="l"/>
              <a:pathLst>
                <a:path h="731520" w="4876800">
                  <a:moveTo>
                    <a:pt x="0" y="0"/>
                  </a:moveTo>
                  <a:lnTo>
                    <a:pt x="4876800" y="0"/>
                  </a:lnTo>
                  <a:lnTo>
                    <a:pt x="4876800" y="731520"/>
                  </a:lnTo>
                  <a:lnTo>
                    <a:pt x="0" y="731520"/>
                  </a:lnTo>
                  <a:close/>
                </a:path>
              </a:pathLst>
            </a:custGeom>
            <a:solidFill>
              <a:srgbClr val="94A3B8">
                <a:alpha val="48627"/>
              </a:srgbClr>
            </a:solidFill>
          </p:spPr>
        </p:sp>
        <p:sp>
          <p:nvSpPr>
            <p:cNvPr name="Freeform 19" id="19"/>
            <p:cNvSpPr/>
            <p:nvPr/>
          </p:nvSpPr>
          <p:spPr>
            <a:xfrm flipH="false" flipV="false" rot="0">
              <a:off x="0" y="0"/>
              <a:ext cx="4910582" cy="765304"/>
            </a:xfrm>
            <a:custGeom>
              <a:avLst/>
              <a:gdLst/>
              <a:ahLst/>
              <a:cxnLst/>
              <a:rect r="r" b="b" t="t" l="l"/>
              <a:pathLst>
                <a:path h="765304" w="4910582">
                  <a:moveTo>
                    <a:pt x="16891" y="0"/>
                  </a:moveTo>
                  <a:lnTo>
                    <a:pt x="4893691" y="0"/>
                  </a:lnTo>
                  <a:cubicBezTo>
                    <a:pt x="4903089" y="0"/>
                    <a:pt x="4910582" y="7620"/>
                    <a:pt x="4910582" y="16891"/>
                  </a:cubicBezTo>
                  <a:lnTo>
                    <a:pt x="4910582" y="748411"/>
                  </a:lnTo>
                  <a:cubicBezTo>
                    <a:pt x="4910582" y="757809"/>
                    <a:pt x="4902962" y="765302"/>
                    <a:pt x="4893691" y="765302"/>
                  </a:cubicBezTo>
                  <a:lnTo>
                    <a:pt x="16891" y="765302"/>
                  </a:lnTo>
                  <a:cubicBezTo>
                    <a:pt x="7620" y="765429"/>
                    <a:pt x="0" y="757809"/>
                    <a:pt x="0" y="748411"/>
                  </a:cubicBezTo>
                  <a:lnTo>
                    <a:pt x="0" y="16891"/>
                  </a:lnTo>
                  <a:cubicBezTo>
                    <a:pt x="0" y="7620"/>
                    <a:pt x="7620" y="0"/>
                    <a:pt x="16891" y="0"/>
                  </a:cubicBezTo>
                  <a:moveTo>
                    <a:pt x="16891" y="33909"/>
                  </a:moveTo>
                  <a:lnTo>
                    <a:pt x="16891" y="16891"/>
                  </a:lnTo>
                  <a:lnTo>
                    <a:pt x="33909" y="16891"/>
                  </a:lnTo>
                  <a:lnTo>
                    <a:pt x="33909" y="748411"/>
                  </a:lnTo>
                  <a:lnTo>
                    <a:pt x="16891" y="748411"/>
                  </a:lnTo>
                  <a:lnTo>
                    <a:pt x="16891" y="731520"/>
                  </a:lnTo>
                  <a:lnTo>
                    <a:pt x="4893691" y="731520"/>
                  </a:lnTo>
                  <a:lnTo>
                    <a:pt x="4893691" y="748411"/>
                  </a:lnTo>
                  <a:lnTo>
                    <a:pt x="4876800" y="748411"/>
                  </a:lnTo>
                  <a:lnTo>
                    <a:pt x="4876800" y="16891"/>
                  </a:lnTo>
                  <a:lnTo>
                    <a:pt x="4893691" y="16891"/>
                  </a:lnTo>
                  <a:lnTo>
                    <a:pt x="4893691" y="33909"/>
                  </a:lnTo>
                  <a:lnTo>
                    <a:pt x="16891" y="33909"/>
                  </a:lnTo>
                  <a:close/>
                </a:path>
              </a:pathLst>
            </a:custGeom>
            <a:solidFill>
              <a:srgbClr val="6D28D9"/>
            </a:solidFill>
          </p:spPr>
        </p:sp>
      </p:grpSp>
      <p:grpSp>
        <p:nvGrpSpPr>
          <p:cNvPr name="Group 20" id="20"/>
          <p:cNvGrpSpPr/>
          <p:nvPr/>
        </p:nvGrpSpPr>
        <p:grpSpPr>
          <a:xfrm rot="0">
            <a:off x="4809101" y="7453870"/>
            <a:ext cx="3989975" cy="598496"/>
            <a:chOff x="0" y="0"/>
            <a:chExt cx="4876800" cy="731520"/>
          </a:xfrm>
        </p:grpSpPr>
        <p:sp>
          <p:nvSpPr>
            <p:cNvPr name="Freeform 21" id="21"/>
            <p:cNvSpPr/>
            <p:nvPr/>
          </p:nvSpPr>
          <p:spPr>
            <a:xfrm flipH="false" flipV="false" rot="0">
              <a:off x="0" y="0"/>
              <a:ext cx="4876800" cy="731520"/>
            </a:xfrm>
            <a:custGeom>
              <a:avLst/>
              <a:gdLst/>
              <a:ahLst/>
              <a:cxnLst/>
              <a:rect r="r" b="b" t="t" l="l"/>
              <a:pathLst>
                <a:path h="731520" w="4876800">
                  <a:moveTo>
                    <a:pt x="0" y="0"/>
                  </a:moveTo>
                  <a:lnTo>
                    <a:pt x="4876800" y="0"/>
                  </a:lnTo>
                  <a:lnTo>
                    <a:pt x="4876800" y="731520"/>
                  </a:lnTo>
                  <a:lnTo>
                    <a:pt x="0" y="731520"/>
                  </a:lnTo>
                  <a:close/>
                </a:path>
              </a:pathLst>
            </a:custGeom>
            <a:blipFill>
              <a:blip r:embed="rId3">
                <a:alphaModFix amt="0"/>
              </a:blip>
              <a:stretch>
                <a:fillRect l="0" t="-79900" r="0" b="-79900"/>
              </a:stretch>
            </a:blipFill>
          </p:spPr>
        </p:sp>
        <p:sp>
          <p:nvSpPr>
            <p:cNvPr name="TextBox 22" id="22"/>
            <p:cNvSpPr txBox="true"/>
            <p:nvPr/>
          </p:nvSpPr>
          <p:spPr>
            <a:xfrm>
              <a:off x="0" y="-38100"/>
              <a:ext cx="4876800" cy="76962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Attention Mechanisms</a:t>
              </a:r>
            </a:p>
          </p:txBody>
        </p:sp>
      </p:grpSp>
      <p:grpSp>
        <p:nvGrpSpPr>
          <p:cNvPr name="Group 23" id="23"/>
          <p:cNvGrpSpPr/>
          <p:nvPr/>
        </p:nvGrpSpPr>
        <p:grpSpPr>
          <a:xfrm rot="0">
            <a:off x="9098324" y="7453870"/>
            <a:ext cx="4017686" cy="626208"/>
            <a:chOff x="0" y="0"/>
            <a:chExt cx="4910671" cy="765391"/>
          </a:xfrm>
        </p:grpSpPr>
        <p:sp>
          <p:nvSpPr>
            <p:cNvPr name="Freeform 24" id="24"/>
            <p:cNvSpPr/>
            <p:nvPr/>
          </p:nvSpPr>
          <p:spPr>
            <a:xfrm flipH="false" flipV="false" rot="0">
              <a:off x="16891" y="16891"/>
              <a:ext cx="4876800" cy="731520"/>
            </a:xfrm>
            <a:custGeom>
              <a:avLst/>
              <a:gdLst/>
              <a:ahLst/>
              <a:cxnLst/>
              <a:rect r="r" b="b" t="t" l="l"/>
              <a:pathLst>
                <a:path h="731520" w="4876800">
                  <a:moveTo>
                    <a:pt x="0" y="0"/>
                  </a:moveTo>
                  <a:lnTo>
                    <a:pt x="4876800" y="0"/>
                  </a:lnTo>
                  <a:lnTo>
                    <a:pt x="4876800" y="731520"/>
                  </a:lnTo>
                  <a:lnTo>
                    <a:pt x="0" y="731520"/>
                  </a:lnTo>
                  <a:close/>
                </a:path>
              </a:pathLst>
            </a:custGeom>
            <a:solidFill>
              <a:srgbClr val="94A3B8">
                <a:alpha val="48627"/>
              </a:srgbClr>
            </a:solidFill>
          </p:spPr>
        </p:sp>
        <p:sp>
          <p:nvSpPr>
            <p:cNvPr name="Freeform 25" id="25"/>
            <p:cNvSpPr/>
            <p:nvPr/>
          </p:nvSpPr>
          <p:spPr>
            <a:xfrm flipH="false" flipV="false" rot="0">
              <a:off x="0" y="0"/>
              <a:ext cx="4910582" cy="765304"/>
            </a:xfrm>
            <a:custGeom>
              <a:avLst/>
              <a:gdLst/>
              <a:ahLst/>
              <a:cxnLst/>
              <a:rect r="r" b="b" t="t" l="l"/>
              <a:pathLst>
                <a:path h="765304" w="4910582">
                  <a:moveTo>
                    <a:pt x="16891" y="0"/>
                  </a:moveTo>
                  <a:lnTo>
                    <a:pt x="4893691" y="0"/>
                  </a:lnTo>
                  <a:cubicBezTo>
                    <a:pt x="4903089" y="0"/>
                    <a:pt x="4910582" y="7620"/>
                    <a:pt x="4910582" y="16891"/>
                  </a:cubicBezTo>
                  <a:lnTo>
                    <a:pt x="4910582" y="748411"/>
                  </a:lnTo>
                  <a:cubicBezTo>
                    <a:pt x="4910582" y="757809"/>
                    <a:pt x="4902962" y="765302"/>
                    <a:pt x="4893691" y="765302"/>
                  </a:cubicBezTo>
                  <a:lnTo>
                    <a:pt x="16891" y="765302"/>
                  </a:lnTo>
                  <a:cubicBezTo>
                    <a:pt x="7620" y="765429"/>
                    <a:pt x="0" y="757809"/>
                    <a:pt x="0" y="748411"/>
                  </a:cubicBezTo>
                  <a:lnTo>
                    <a:pt x="0" y="16891"/>
                  </a:lnTo>
                  <a:cubicBezTo>
                    <a:pt x="0" y="7620"/>
                    <a:pt x="7620" y="0"/>
                    <a:pt x="16891" y="0"/>
                  </a:cubicBezTo>
                  <a:moveTo>
                    <a:pt x="16891" y="33909"/>
                  </a:moveTo>
                  <a:lnTo>
                    <a:pt x="16891" y="16891"/>
                  </a:lnTo>
                  <a:lnTo>
                    <a:pt x="33909" y="16891"/>
                  </a:lnTo>
                  <a:lnTo>
                    <a:pt x="33909" y="748411"/>
                  </a:lnTo>
                  <a:lnTo>
                    <a:pt x="16891" y="748411"/>
                  </a:lnTo>
                  <a:lnTo>
                    <a:pt x="16891" y="731520"/>
                  </a:lnTo>
                  <a:lnTo>
                    <a:pt x="4893691" y="731520"/>
                  </a:lnTo>
                  <a:lnTo>
                    <a:pt x="4893691" y="748411"/>
                  </a:lnTo>
                  <a:lnTo>
                    <a:pt x="4876800" y="748411"/>
                  </a:lnTo>
                  <a:lnTo>
                    <a:pt x="4876800" y="16891"/>
                  </a:lnTo>
                  <a:lnTo>
                    <a:pt x="4893691" y="16891"/>
                  </a:lnTo>
                  <a:lnTo>
                    <a:pt x="4893691" y="33909"/>
                  </a:lnTo>
                  <a:lnTo>
                    <a:pt x="16891" y="33909"/>
                  </a:lnTo>
                  <a:close/>
                </a:path>
              </a:pathLst>
            </a:custGeom>
            <a:solidFill>
              <a:srgbClr val="E05B4B"/>
            </a:solidFill>
          </p:spPr>
        </p:sp>
      </p:grpSp>
      <p:grpSp>
        <p:nvGrpSpPr>
          <p:cNvPr name="Group 26" id="26"/>
          <p:cNvGrpSpPr/>
          <p:nvPr/>
        </p:nvGrpSpPr>
        <p:grpSpPr>
          <a:xfrm rot="0">
            <a:off x="9144000" y="7453870"/>
            <a:ext cx="3989975" cy="598496"/>
            <a:chOff x="0" y="0"/>
            <a:chExt cx="4876800" cy="731520"/>
          </a:xfrm>
        </p:grpSpPr>
        <p:sp>
          <p:nvSpPr>
            <p:cNvPr name="Freeform 27" id="27"/>
            <p:cNvSpPr/>
            <p:nvPr/>
          </p:nvSpPr>
          <p:spPr>
            <a:xfrm flipH="false" flipV="false" rot="0">
              <a:off x="0" y="0"/>
              <a:ext cx="4876800" cy="731520"/>
            </a:xfrm>
            <a:custGeom>
              <a:avLst/>
              <a:gdLst/>
              <a:ahLst/>
              <a:cxnLst/>
              <a:rect r="r" b="b" t="t" l="l"/>
              <a:pathLst>
                <a:path h="731520" w="4876800">
                  <a:moveTo>
                    <a:pt x="0" y="0"/>
                  </a:moveTo>
                  <a:lnTo>
                    <a:pt x="4876800" y="0"/>
                  </a:lnTo>
                  <a:lnTo>
                    <a:pt x="4876800" y="731520"/>
                  </a:lnTo>
                  <a:lnTo>
                    <a:pt x="0" y="731520"/>
                  </a:lnTo>
                  <a:close/>
                </a:path>
              </a:pathLst>
            </a:custGeom>
            <a:blipFill>
              <a:blip r:embed="rId3">
                <a:alphaModFix amt="0"/>
              </a:blip>
              <a:stretch>
                <a:fillRect l="0" t="-79900" r="0" b="-79900"/>
              </a:stretch>
            </a:blipFill>
          </p:spPr>
        </p:sp>
        <p:sp>
          <p:nvSpPr>
            <p:cNvPr name="TextBox 28" id="28"/>
            <p:cNvSpPr txBox="true"/>
            <p:nvPr/>
          </p:nvSpPr>
          <p:spPr>
            <a:xfrm>
              <a:off x="0" y="-38100"/>
              <a:ext cx="4876800" cy="76962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Multi-Scale Features</a:t>
              </a:r>
            </a:p>
          </p:txBody>
        </p:sp>
      </p:grpSp>
      <p:grpSp>
        <p:nvGrpSpPr>
          <p:cNvPr name="Group 29" id="29"/>
          <p:cNvGrpSpPr/>
          <p:nvPr/>
        </p:nvGrpSpPr>
        <p:grpSpPr>
          <a:xfrm rot="0">
            <a:off x="13387547" y="7453870"/>
            <a:ext cx="4017686" cy="626208"/>
            <a:chOff x="0" y="0"/>
            <a:chExt cx="4910671" cy="765391"/>
          </a:xfrm>
        </p:grpSpPr>
        <p:sp>
          <p:nvSpPr>
            <p:cNvPr name="Freeform 30" id="30"/>
            <p:cNvSpPr/>
            <p:nvPr/>
          </p:nvSpPr>
          <p:spPr>
            <a:xfrm flipH="false" flipV="false" rot="0">
              <a:off x="16891" y="16891"/>
              <a:ext cx="4876800" cy="731520"/>
            </a:xfrm>
            <a:custGeom>
              <a:avLst/>
              <a:gdLst/>
              <a:ahLst/>
              <a:cxnLst/>
              <a:rect r="r" b="b" t="t" l="l"/>
              <a:pathLst>
                <a:path h="731520" w="4876800">
                  <a:moveTo>
                    <a:pt x="0" y="0"/>
                  </a:moveTo>
                  <a:lnTo>
                    <a:pt x="4876800" y="0"/>
                  </a:lnTo>
                  <a:lnTo>
                    <a:pt x="4876800" y="731520"/>
                  </a:lnTo>
                  <a:lnTo>
                    <a:pt x="0" y="731520"/>
                  </a:lnTo>
                  <a:close/>
                </a:path>
              </a:pathLst>
            </a:custGeom>
            <a:solidFill>
              <a:srgbClr val="94A3B8">
                <a:alpha val="48627"/>
              </a:srgbClr>
            </a:solidFill>
          </p:spPr>
        </p:sp>
        <p:sp>
          <p:nvSpPr>
            <p:cNvPr name="Freeform 31" id="31"/>
            <p:cNvSpPr/>
            <p:nvPr/>
          </p:nvSpPr>
          <p:spPr>
            <a:xfrm flipH="false" flipV="false" rot="0">
              <a:off x="0" y="0"/>
              <a:ext cx="4910582" cy="765304"/>
            </a:xfrm>
            <a:custGeom>
              <a:avLst/>
              <a:gdLst/>
              <a:ahLst/>
              <a:cxnLst/>
              <a:rect r="r" b="b" t="t" l="l"/>
              <a:pathLst>
                <a:path h="765304" w="4910582">
                  <a:moveTo>
                    <a:pt x="16891" y="0"/>
                  </a:moveTo>
                  <a:lnTo>
                    <a:pt x="4893691" y="0"/>
                  </a:lnTo>
                  <a:cubicBezTo>
                    <a:pt x="4903089" y="0"/>
                    <a:pt x="4910582" y="7620"/>
                    <a:pt x="4910582" y="16891"/>
                  </a:cubicBezTo>
                  <a:lnTo>
                    <a:pt x="4910582" y="748411"/>
                  </a:lnTo>
                  <a:cubicBezTo>
                    <a:pt x="4910582" y="757809"/>
                    <a:pt x="4902962" y="765302"/>
                    <a:pt x="4893691" y="765302"/>
                  </a:cubicBezTo>
                  <a:lnTo>
                    <a:pt x="16891" y="765302"/>
                  </a:lnTo>
                  <a:cubicBezTo>
                    <a:pt x="7620" y="765429"/>
                    <a:pt x="0" y="757809"/>
                    <a:pt x="0" y="748411"/>
                  </a:cubicBezTo>
                  <a:lnTo>
                    <a:pt x="0" y="16891"/>
                  </a:lnTo>
                  <a:cubicBezTo>
                    <a:pt x="0" y="7620"/>
                    <a:pt x="7620" y="0"/>
                    <a:pt x="16891" y="0"/>
                  </a:cubicBezTo>
                  <a:moveTo>
                    <a:pt x="16891" y="33909"/>
                  </a:moveTo>
                  <a:lnTo>
                    <a:pt x="16891" y="16891"/>
                  </a:lnTo>
                  <a:lnTo>
                    <a:pt x="33909" y="16891"/>
                  </a:lnTo>
                  <a:lnTo>
                    <a:pt x="33909" y="748411"/>
                  </a:lnTo>
                  <a:lnTo>
                    <a:pt x="16891" y="748411"/>
                  </a:lnTo>
                  <a:lnTo>
                    <a:pt x="16891" y="731520"/>
                  </a:lnTo>
                  <a:lnTo>
                    <a:pt x="4893691" y="731520"/>
                  </a:lnTo>
                  <a:lnTo>
                    <a:pt x="4893691" y="748411"/>
                  </a:lnTo>
                  <a:lnTo>
                    <a:pt x="4876800" y="748411"/>
                  </a:lnTo>
                  <a:lnTo>
                    <a:pt x="4876800" y="16891"/>
                  </a:lnTo>
                  <a:lnTo>
                    <a:pt x="4893691" y="16891"/>
                  </a:lnTo>
                  <a:lnTo>
                    <a:pt x="4893691" y="33909"/>
                  </a:lnTo>
                  <a:lnTo>
                    <a:pt x="16891" y="33909"/>
                  </a:lnTo>
                  <a:close/>
                </a:path>
              </a:pathLst>
            </a:custGeom>
            <a:solidFill>
              <a:srgbClr val="D97706"/>
            </a:solidFill>
          </p:spPr>
        </p:sp>
      </p:grpSp>
      <p:grpSp>
        <p:nvGrpSpPr>
          <p:cNvPr name="Group 32" id="32"/>
          <p:cNvGrpSpPr/>
          <p:nvPr/>
        </p:nvGrpSpPr>
        <p:grpSpPr>
          <a:xfrm rot="0">
            <a:off x="13415258" y="7453870"/>
            <a:ext cx="3989975" cy="598496"/>
            <a:chOff x="0" y="0"/>
            <a:chExt cx="4876800" cy="731520"/>
          </a:xfrm>
        </p:grpSpPr>
        <p:sp>
          <p:nvSpPr>
            <p:cNvPr name="Freeform 33" id="33"/>
            <p:cNvSpPr/>
            <p:nvPr/>
          </p:nvSpPr>
          <p:spPr>
            <a:xfrm flipH="false" flipV="false" rot="0">
              <a:off x="0" y="0"/>
              <a:ext cx="4876800" cy="731520"/>
            </a:xfrm>
            <a:custGeom>
              <a:avLst/>
              <a:gdLst/>
              <a:ahLst/>
              <a:cxnLst/>
              <a:rect r="r" b="b" t="t" l="l"/>
              <a:pathLst>
                <a:path h="731520" w="4876800">
                  <a:moveTo>
                    <a:pt x="0" y="0"/>
                  </a:moveTo>
                  <a:lnTo>
                    <a:pt x="4876800" y="0"/>
                  </a:lnTo>
                  <a:lnTo>
                    <a:pt x="4876800" y="731520"/>
                  </a:lnTo>
                  <a:lnTo>
                    <a:pt x="0" y="731520"/>
                  </a:lnTo>
                  <a:close/>
                </a:path>
              </a:pathLst>
            </a:custGeom>
            <a:blipFill>
              <a:blip r:embed="rId3">
                <a:alphaModFix amt="0"/>
              </a:blip>
              <a:stretch>
                <a:fillRect l="0" t="-79900" r="0" b="-79900"/>
              </a:stretch>
            </a:blipFill>
          </p:spPr>
        </p:sp>
        <p:sp>
          <p:nvSpPr>
            <p:cNvPr name="TextBox 34" id="34"/>
            <p:cNvSpPr txBox="true"/>
            <p:nvPr/>
          </p:nvSpPr>
          <p:spPr>
            <a:xfrm>
              <a:off x="0" y="-38100"/>
              <a:ext cx="4876800" cy="76962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LSTM Decoder</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718823" y="316487"/>
            <a:ext cx="2951483" cy="574043"/>
            <a:chOff x="0" y="0"/>
            <a:chExt cx="3935311" cy="765391"/>
          </a:xfrm>
        </p:grpSpPr>
        <p:sp>
          <p:nvSpPr>
            <p:cNvPr name="Freeform 3" id="3"/>
            <p:cNvSpPr/>
            <p:nvPr/>
          </p:nvSpPr>
          <p:spPr>
            <a:xfrm flipH="false" flipV="false" rot="0">
              <a:off x="16891" y="16891"/>
              <a:ext cx="3901440" cy="731520"/>
            </a:xfrm>
            <a:custGeom>
              <a:avLst/>
              <a:gdLst/>
              <a:ahLst/>
              <a:cxnLst/>
              <a:rect r="r" b="b" t="t" l="l"/>
              <a:pathLst>
                <a:path h="731520" w="3901440">
                  <a:moveTo>
                    <a:pt x="0" y="0"/>
                  </a:moveTo>
                  <a:lnTo>
                    <a:pt x="3901440" y="0"/>
                  </a:lnTo>
                  <a:lnTo>
                    <a:pt x="3901440" y="731520"/>
                  </a:lnTo>
                  <a:lnTo>
                    <a:pt x="0" y="731520"/>
                  </a:lnTo>
                  <a:close/>
                </a:path>
              </a:pathLst>
            </a:custGeom>
            <a:solidFill>
              <a:srgbClr val="0D1B3E"/>
            </a:solidFill>
          </p:spPr>
        </p:sp>
        <p:sp>
          <p:nvSpPr>
            <p:cNvPr name="Freeform 4" id="4"/>
            <p:cNvSpPr/>
            <p:nvPr/>
          </p:nvSpPr>
          <p:spPr>
            <a:xfrm flipH="false" flipV="false" rot="0">
              <a:off x="0" y="0"/>
              <a:ext cx="3935222" cy="765304"/>
            </a:xfrm>
            <a:custGeom>
              <a:avLst/>
              <a:gdLst/>
              <a:ahLst/>
              <a:cxnLst/>
              <a:rect r="r" b="b" t="t" l="l"/>
              <a:pathLst>
                <a:path h="765304" w="3935222">
                  <a:moveTo>
                    <a:pt x="16891" y="0"/>
                  </a:moveTo>
                  <a:lnTo>
                    <a:pt x="3918331" y="0"/>
                  </a:lnTo>
                  <a:cubicBezTo>
                    <a:pt x="3927729" y="0"/>
                    <a:pt x="3935222" y="7620"/>
                    <a:pt x="3935222" y="16891"/>
                  </a:cubicBezTo>
                  <a:lnTo>
                    <a:pt x="3935222" y="748411"/>
                  </a:lnTo>
                  <a:cubicBezTo>
                    <a:pt x="3935222" y="757809"/>
                    <a:pt x="3927602" y="765302"/>
                    <a:pt x="3918331" y="765302"/>
                  </a:cubicBezTo>
                  <a:lnTo>
                    <a:pt x="16891" y="765302"/>
                  </a:lnTo>
                  <a:cubicBezTo>
                    <a:pt x="7620" y="765429"/>
                    <a:pt x="0" y="757809"/>
                    <a:pt x="0" y="748411"/>
                  </a:cubicBezTo>
                  <a:lnTo>
                    <a:pt x="0" y="16891"/>
                  </a:lnTo>
                  <a:cubicBezTo>
                    <a:pt x="0" y="7620"/>
                    <a:pt x="7620" y="0"/>
                    <a:pt x="16891" y="0"/>
                  </a:cubicBezTo>
                  <a:moveTo>
                    <a:pt x="16891" y="33909"/>
                  </a:moveTo>
                  <a:lnTo>
                    <a:pt x="16891" y="16891"/>
                  </a:lnTo>
                  <a:lnTo>
                    <a:pt x="33909" y="16891"/>
                  </a:lnTo>
                  <a:lnTo>
                    <a:pt x="33909" y="748411"/>
                  </a:lnTo>
                  <a:lnTo>
                    <a:pt x="16891" y="748411"/>
                  </a:lnTo>
                  <a:lnTo>
                    <a:pt x="16891" y="731520"/>
                  </a:lnTo>
                  <a:lnTo>
                    <a:pt x="3918331" y="731520"/>
                  </a:lnTo>
                  <a:lnTo>
                    <a:pt x="3918331" y="748411"/>
                  </a:lnTo>
                  <a:lnTo>
                    <a:pt x="3901440" y="748411"/>
                  </a:lnTo>
                  <a:lnTo>
                    <a:pt x="3901440" y="16891"/>
                  </a:lnTo>
                  <a:lnTo>
                    <a:pt x="3918331" y="16891"/>
                  </a:lnTo>
                  <a:lnTo>
                    <a:pt x="3918331" y="33909"/>
                  </a:lnTo>
                  <a:lnTo>
                    <a:pt x="16891" y="33909"/>
                  </a:lnTo>
                  <a:close/>
                </a:path>
              </a:pathLst>
            </a:custGeom>
            <a:solidFill>
              <a:srgbClr val="0D1B3E"/>
            </a:solidFill>
          </p:spPr>
        </p:sp>
      </p:grpSp>
      <p:grpSp>
        <p:nvGrpSpPr>
          <p:cNvPr name="Group 5" id="5"/>
          <p:cNvGrpSpPr/>
          <p:nvPr/>
        </p:nvGrpSpPr>
        <p:grpSpPr>
          <a:xfrm rot="0">
            <a:off x="731520" y="329184"/>
            <a:ext cx="2926080" cy="548640"/>
            <a:chOff x="0" y="0"/>
            <a:chExt cx="3901440" cy="731520"/>
          </a:xfrm>
        </p:grpSpPr>
        <p:sp>
          <p:nvSpPr>
            <p:cNvPr name="Freeform 6" id="6"/>
            <p:cNvSpPr/>
            <p:nvPr/>
          </p:nvSpPr>
          <p:spPr>
            <a:xfrm flipH="false" flipV="false" rot="0">
              <a:off x="0" y="0"/>
              <a:ext cx="3901440" cy="731520"/>
            </a:xfrm>
            <a:custGeom>
              <a:avLst/>
              <a:gdLst/>
              <a:ahLst/>
              <a:cxnLst/>
              <a:rect r="r" b="b" t="t" l="l"/>
              <a:pathLst>
                <a:path h="731520" w="3901440">
                  <a:moveTo>
                    <a:pt x="0" y="0"/>
                  </a:moveTo>
                  <a:lnTo>
                    <a:pt x="3901440" y="0"/>
                  </a:lnTo>
                  <a:lnTo>
                    <a:pt x="3901440" y="731520"/>
                  </a:lnTo>
                  <a:lnTo>
                    <a:pt x="0" y="731520"/>
                  </a:lnTo>
                  <a:close/>
                </a:path>
              </a:pathLst>
            </a:custGeom>
            <a:blipFill>
              <a:blip r:embed="rId3">
                <a:alphaModFix amt="0"/>
              </a:blip>
              <a:stretch>
                <a:fillRect l="0" t="-53920" r="0" b="-53920"/>
              </a:stretch>
            </a:blipFill>
          </p:spPr>
        </p:sp>
        <p:sp>
          <p:nvSpPr>
            <p:cNvPr name="TextBox 7" id="7"/>
            <p:cNvSpPr txBox="true"/>
            <p:nvPr/>
          </p:nvSpPr>
          <p:spPr>
            <a:xfrm>
              <a:off x="0" y="-38100"/>
              <a:ext cx="3901440" cy="76962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OVERVIEW</a:t>
              </a:r>
            </a:p>
          </p:txBody>
        </p:sp>
      </p:grpSp>
      <p:grpSp>
        <p:nvGrpSpPr>
          <p:cNvPr name="Group 8" id="8"/>
          <p:cNvGrpSpPr/>
          <p:nvPr/>
        </p:nvGrpSpPr>
        <p:grpSpPr>
          <a:xfrm rot="0">
            <a:off x="914400" y="1005840"/>
            <a:ext cx="16459200" cy="1188720"/>
            <a:chOff x="0" y="0"/>
            <a:chExt cx="21945600" cy="1584960"/>
          </a:xfrm>
        </p:grpSpPr>
        <p:sp>
          <p:nvSpPr>
            <p:cNvPr name="Freeform 9" id="9"/>
            <p:cNvSpPr/>
            <p:nvPr/>
          </p:nvSpPr>
          <p:spPr>
            <a:xfrm flipH="false" flipV="false" rot="0">
              <a:off x="0" y="0"/>
              <a:ext cx="21945600" cy="1584960"/>
            </a:xfrm>
            <a:custGeom>
              <a:avLst/>
              <a:gdLst/>
              <a:ahLst/>
              <a:cxnLst/>
              <a:rect r="r" b="b" t="t" l="l"/>
              <a:pathLst>
                <a:path h="1584960" w="21945600">
                  <a:moveTo>
                    <a:pt x="0" y="0"/>
                  </a:moveTo>
                  <a:lnTo>
                    <a:pt x="21945600" y="0"/>
                  </a:lnTo>
                  <a:lnTo>
                    <a:pt x="21945600" y="1584960"/>
                  </a:lnTo>
                  <a:lnTo>
                    <a:pt x="0" y="1584960"/>
                  </a:lnTo>
                  <a:close/>
                </a:path>
              </a:pathLst>
            </a:custGeom>
            <a:blipFill>
              <a:blip r:embed="rId3">
                <a:alphaModFix amt="0"/>
              </a:blip>
              <a:stretch>
                <a:fillRect l="0" t="-219792" r="0" b="-219792"/>
              </a:stretch>
            </a:blipFill>
          </p:spPr>
        </p:sp>
        <p:sp>
          <p:nvSpPr>
            <p:cNvPr name="TextBox 10" id="10"/>
            <p:cNvSpPr txBox="true"/>
            <p:nvPr/>
          </p:nvSpPr>
          <p:spPr>
            <a:xfrm>
              <a:off x="0" y="-104775"/>
              <a:ext cx="21945600" cy="1689735"/>
            </a:xfrm>
            <a:prstGeom prst="rect">
              <a:avLst/>
            </a:prstGeom>
          </p:spPr>
          <p:txBody>
            <a:bodyPr anchor="ctr" rtlCol="false" tIns="0" lIns="0" bIns="0" rIns="0"/>
            <a:lstStyle/>
            <a:p>
              <a:pPr algn="l">
                <a:lnSpc>
                  <a:spcPts val="6240"/>
                </a:lnSpc>
              </a:pPr>
              <a:r>
                <a:rPr lang="en-US" sz="5200" b="true">
                  <a:solidFill>
                    <a:srgbClr val="1E293B"/>
                  </a:solidFill>
                  <a:latin typeface="Calibri (MS) Bold"/>
                  <a:ea typeface="Calibri (MS) Bold"/>
                  <a:cs typeface="Calibri (MS) Bold"/>
                  <a:sym typeface="Calibri (MS) Bold"/>
                </a:rPr>
                <a:t>What We Will Cover</a:t>
              </a:r>
            </a:p>
          </p:txBody>
        </p:sp>
      </p:grpSp>
      <p:grpSp>
        <p:nvGrpSpPr>
          <p:cNvPr name="Group 11" id="11"/>
          <p:cNvGrpSpPr/>
          <p:nvPr/>
        </p:nvGrpSpPr>
        <p:grpSpPr>
          <a:xfrm rot="0">
            <a:off x="725167" y="2279647"/>
            <a:ext cx="16837657" cy="12697"/>
            <a:chOff x="0" y="0"/>
            <a:chExt cx="22450209" cy="16929"/>
          </a:xfrm>
        </p:grpSpPr>
        <p:sp>
          <p:nvSpPr>
            <p:cNvPr name="Freeform 12" id="12"/>
            <p:cNvSpPr/>
            <p:nvPr/>
          </p:nvSpPr>
          <p:spPr>
            <a:xfrm flipH="false" flipV="false" rot="0">
              <a:off x="8509" y="0"/>
              <a:ext cx="22433281" cy="16891"/>
            </a:xfrm>
            <a:custGeom>
              <a:avLst/>
              <a:gdLst/>
              <a:ahLst/>
              <a:cxnLst/>
              <a:rect r="r" b="b" t="t" l="l"/>
              <a:pathLst>
                <a:path h="16891" w="22433281">
                  <a:moveTo>
                    <a:pt x="0" y="0"/>
                  </a:moveTo>
                  <a:lnTo>
                    <a:pt x="22433281" y="0"/>
                  </a:lnTo>
                  <a:lnTo>
                    <a:pt x="22433281" y="16891"/>
                  </a:lnTo>
                  <a:lnTo>
                    <a:pt x="0" y="16891"/>
                  </a:lnTo>
                  <a:close/>
                </a:path>
              </a:pathLst>
            </a:custGeom>
            <a:solidFill>
              <a:srgbClr val="E2E8F0"/>
            </a:solidFill>
          </p:spPr>
        </p:sp>
      </p:grpSp>
      <p:grpSp>
        <p:nvGrpSpPr>
          <p:cNvPr name="Group 13" id="13"/>
          <p:cNvGrpSpPr/>
          <p:nvPr/>
        </p:nvGrpSpPr>
        <p:grpSpPr>
          <a:xfrm rot="0">
            <a:off x="725167" y="2553967"/>
            <a:ext cx="8242297" cy="1201417"/>
            <a:chOff x="0" y="0"/>
            <a:chExt cx="10989729" cy="1601889"/>
          </a:xfrm>
        </p:grpSpPr>
        <p:sp>
          <p:nvSpPr>
            <p:cNvPr name="Freeform 14" id="14"/>
            <p:cNvSpPr/>
            <p:nvPr/>
          </p:nvSpPr>
          <p:spPr>
            <a:xfrm flipH="false" flipV="false" rot="0">
              <a:off x="8509" y="8509"/>
              <a:ext cx="10972800" cy="1584960"/>
            </a:xfrm>
            <a:custGeom>
              <a:avLst/>
              <a:gdLst/>
              <a:ahLst/>
              <a:cxnLst/>
              <a:rect r="r" b="b" t="t" l="l"/>
              <a:pathLst>
                <a:path h="1584960" w="10972800">
                  <a:moveTo>
                    <a:pt x="0" y="0"/>
                  </a:moveTo>
                  <a:lnTo>
                    <a:pt x="10972800" y="0"/>
                  </a:lnTo>
                  <a:lnTo>
                    <a:pt x="10972800" y="1584960"/>
                  </a:lnTo>
                  <a:lnTo>
                    <a:pt x="0" y="1584960"/>
                  </a:lnTo>
                  <a:close/>
                </a:path>
              </a:pathLst>
            </a:custGeom>
            <a:solidFill>
              <a:srgbClr val="FFFFFF"/>
            </a:solidFill>
          </p:spPr>
        </p:sp>
        <p:sp>
          <p:nvSpPr>
            <p:cNvPr name="Freeform 15" id="15"/>
            <p:cNvSpPr/>
            <p:nvPr/>
          </p:nvSpPr>
          <p:spPr>
            <a:xfrm flipH="false" flipV="false" rot="0">
              <a:off x="0" y="0"/>
              <a:ext cx="10989818" cy="1601978"/>
            </a:xfrm>
            <a:custGeom>
              <a:avLst/>
              <a:gdLst/>
              <a:ahLst/>
              <a:cxnLst/>
              <a:rect r="r" b="b" t="t" l="l"/>
              <a:pathLst>
                <a:path h="1601978" w="10989818">
                  <a:moveTo>
                    <a:pt x="8509" y="0"/>
                  </a:moveTo>
                  <a:lnTo>
                    <a:pt x="10981309" y="0"/>
                  </a:lnTo>
                  <a:cubicBezTo>
                    <a:pt x="10986008" y="0"/>
                    <a:pt x="10989818" y="3810"/>
                    <a:pt x="10989818" y="8509"/>
                  </a:cubicBezTo>
                  <a:lnTo>
                    <a:pt x="10989818" y="1593469"/>
                  </a:lnTo>
                  <a:cubicBezTo>
                    <a:pt x="10989818" y="1598168"/>
                    <a:pt x="10986008" y="1601978"/>
                    <a:pt x="10981309" y="1601978"/>
                  </a:cubicBezTo>
                  <a:lnTo>
                    <a:pt x="8509" y="1601978"/>
                  </a:lnTo>
                  <a:cubicBezTo>
                    <a:pt x="3810" y="1601978"/>
                    <a:pt x="0" y="1598168"/>
                    <a:pt x="0" y="1593469"/>
                  </a:cubicBezTo>
                  <a:lnTo>
                    <a:pt x="0" y="8509"/>
                  </a:lnTo>
                  <a:cubicBezTo>
                    <a:pt x="0" y="3810"/>
                    <a:pt x="3810" y="0"/>
                    <a:pt x="8509" y="0"/>
                  </a:cubicBezTo>
                  <a:moveTo>
                    <a:pt x="8509" y="16891"/>
                  </a:moveTo>
                  <a:lnTo>
                    <a:pt x="8509" y="8509"/>
                  </a:lnTo>
                  <a:lnTo>
                    <a:pt x="17018" y="8509"/>
                  </a:lnTo>
                  <a:lnTo>
                    <a:pt x="17018" y="1593469"/>
                  </a:lnTo>
                  <a:lnTo>
                    <a:pt x="8509" y="1593469"/>
                  </a:lnTo>
                  <a:lnTo>
                    <a:pt x="8509" y="1584960"/>
                  </a:lnTo>
                  <a:lnTo>
                    <a:pt x="10981309" y="1584960"/>
                  </a:lnTo>
                  <a:lnTo>
                    <a:pt x="10981309" y="1593469"/>
                  </a:lnTo>
                  <a:lnTo>
                    <a:pt x="10972800" y="1593469"/>
                  </a:lnTo>
                  <a:lnTo>
                    <a:pt x="10972800" y="8509"/>
                  </a:lnTo>
                  <a:lnTo>
                    <a:pt x="10981309" y="8509"/>
                  </a:lnTo>
                  <a:lnTo>
                    <a:pt x="10981309" y="17018"/>
                  </a:lnTo>
                  <a:lnTo>
                    <a:pt x="8509" y="17018"/>
                  </a:lnTo>
                  <a:close/>
                </a:path>
              </a:pathLst>
            </a:custGeom>
            <a:solidFill>
              <a:srgbClr val="E2E8F0"/>
            </a:solidFill>
          </p:spPr>
        </p:sp>
      </p:grpSp>
      <p:grpSp>
        <p:nvGrpSpPr>
          <p:cNvPr name="Group 16" id="16"/>
          <p:cNvGrpSpPr/>
          <p:nvPr/>
        </p:nvGrpSpPr>
        <p:grpSpPr>
          <a:xfrm rot="0">
            <a:off x="718823" y="2547623"/>
            <a:ext cx="939803" cy="1214123"/>
            <a:chOff x="0" y="0"/>
            <a:chExt cx="1253071" cy="1618831"/>
          </a:xfrm>
        </p:grpSpPr>
        <p:sp>
          <p:nvSpPr>
            <p:cNvPr name="Freeform 17" id="17"/>
            <p:cNvSpPr/>
            <p:nvPr/>
          </p:nvSpPr>
          <p:spPr>
            <a:xfrm flipH="false" flipV="false" rot="0">
              <a:off x="16891" y="16891"/>
              <a:ext cx="1219200" cy="1584960"/>
            </a:xfrm>
            <a:custGeom>
              <a:avLst/>
              <a:gdLst/>
              <a:ahLst/>
              <a:cxnLst/>
              <a:rect r="r" b="b" t="t" l="l"/>
              <a:pathLst>
                <a:path h="1584960" w="1219200">
                  <a:moveTo>
                    <a:pt x="0" y="0"/>
                  </a:moveTo>
                  <a:lnTo>
                    <a:pt x="1219200" y="0"/>
                  </a:lnTo>
                  <a:lnTo>
                    <a:pt x="1219200" y="1584960"/>
                  </a:lnTo>
                  <a:lnTo>
                    <a:pt x="0" y="1584960"/>
                  </a:lnTo>
                  <a:close/>
                </a:path>
              </a:pathLst>
            </a:custGeom>
            <a:solidFill>
              <a:srgbClr val="0D9488"/>
            </a:solidFill>
          </p:spPr>
        </p:sp>
        <p:sp>
          <p:nvSpPr>
            <p:cNvPr name="Freeform 18" id="18"/>
            <p:cNvSpPr/>
            <p:nvPr/>
          </p:nvSpPr>
          <p:spPr>
            <a:xfrm flipH="false" flipV="false" rot="0">
              <a:off x="0" y="0"/>
              <a:ext cx="1252982" cy="1618742"/>
            </a:xfrm>
            <a:custGeom>
              <a:avLst/>
              <a:gdLst/>
              <a:ahLst/>
              <a:cxnLst/>
              <a:rect r="r" b="b" t="t" l="l"/>
              <a:pathLst>
                <a:path h="1618742" w="1252982">
                  <a:moveTo>
                    <a:pt x="16891" y="0"/>
                  </a:moveTo>
                  <a:lnTo>
                    <a:pt x="1236091" y="0"/>
                  </a:lnTo>
                  <a:cubicBezTo>
                    <a:pt x="1245489" y="0"/>
                    <a:pt x="1252982" y="7620"/>
                    <a:pt x="1252982" y="16891"/>
                  </a:cubicBezTo>
                  <a:lnTo>
                    <a:pt x="1252982" y="1601851"/>
                  </a:lnTo>
                  <a:cubicBezTo>
                    <a:pt x="1252982" y="1611249"/>
                    <a:pt x="1245362" y="1618742"/>
                    <a:pt x="1236091" y="1618742"/>
                  </a:cubicBezTo>
                  <a:lnTo>
                    <a:pt x="16891" y="1618742"/>
                  </a:lnTo>
                  <a:cubicBezTo>
                    <a:pt x="7493" y="1618742"/>
                    <a:pt x="0" y="1611122"/>
                    <a:pt x="0" y="1601851"/>
                  </a:cubicBezTo>
                  <a:lnTo>
                    <a:pt x="0" y="16891"/>
                  </a:lnTo>
                  <a:cubicBezTo>
                    <a:pt x="0" y="7620"/>
                    <a:pt x="7620" y="0"/>
                    <a:pt x="16891" y="0"/>
                  </a:cubicBezTo>
                  <a:moveTo>
                    <a:pt x="16891" y="33909"/>
                  </a:moveTo>
                  <a:lnTo>
                    <a:pt x="16891" y="16891"/>
                  </a:lnTo>
                  <a:lnTo>
                    <a:pt x="33909" y="16891"/>
                  </a:lnTo>
                  <a:lnTo>
                    <a:pt x="33909" y="1601851"/>
                  </a:lnTo>
                  <a:lnTo>
                    <a:pt x="16891" y="1601851"/>
                  </a:lnTo>
                  <a:lnTo>
                    <a:pt x="16891" y="1584960"/>
                  </a:lnTo>
                  <a:lnTo>
                    <a:pt x="1236091" y="1584960"/>
                  </a:lnTo>
                  <a:lnTo>
                    <a:pt x="1236091" y="1601851"/>
                  </a:lnTo>
                  <a:lnTo>
                    <a:pt x="1219200" y="1601851"/>
                  </a:lnTo>
                  <a:lnTo>
                    <a:pt x="1219200" y="16891"/>
                  </a:lnTo>
                  <a:lnTo>
                    <a:pt x="1236091" y="16891"/>
                  </a:lnTo>
                  <a:lnTo>
                    <a:pt x="1236091" y="33909"/>
                  </a:lnTo>
                  <a:lnTo>
                    <a:pt x="16891" y="33909"/>
                  </a:lnTo>
                  <a:close/>
                </a:path>
              </a:pathLst>
            </a:custGeom>
            <a:solidFill>
              <a:srgbClr val="0D9488"/>
            </a:solidFill>
          </p:spPr>
        </p:sp>
      </p:grpSp>
      <p:grpSp>
        <p:nvGrpSpPr>
          <p:cNvPr name="Group 19" id="19"/>
          <p:cNvGrpSpPr/>
          <p:nvPr/>
        </p:nvGrpSpPr>
        <p:grpSpPr>
          <a:xfrm rot="0">
            <a:off x="731520" y="2560320"/>
            <a:ext cx="914400" cy="1188720"/>
            <a:chOff x="0" y="0"/>
            <a:chExt cx="1219200" cy="1584960"/>
          </a:xfrm>
        </p:grpSpPr>
        <p:sp>
          <p:nvSpPr>
            <p:cNvPr name="Freeform 20" id="20"/>
            <p:cNvSpPr/>
            <p:nvPr/>
          </p:nvSpPr>
          <p:spPr>
            <a:xfrm flipH="false" flipV="false" rot="0">
              <a:off x="0" y="0"/>
              <a:ext cx="1219200" cy="1584960"/>
            </a:xfrm>
            <a:custGeom>
              <a:avLst/>
              <a:gdLst/>
              <a:ahLst/>
              <a:cxnLst/>
              <a:rect r="r" b="b" t="t" l="l"/>
              <a:pathLst>
                <a:path h="1584960" w="1219200">
                  <a:moveTo>
                    <a:pt x="0" y="0"/>
                  </a:moveTo>
                  <a:lnTo>
                    <a:pt x="1219200" y="0"/>
                  </a:lnTo>
                  <a:lnTo>
                    <a:pt x="1219200" y="1584960"/>
                  </a:lnTo>
                  <a:lnTo>
                    <a:pt x="0" y="1584960"/>
                  </a:lnTo>
                  <a:close/>
                </a:path>
              </a:pathLst>
            </a:custGeom>
            <a:blipFill>
              <a:blip r:embed="rId3">
                <a:alphaModFix amt="0"/>
              </a:blip>
              <a:stretch>
                <a:fillRect l="-116794" t="0" r="-116794" b="0"/>
              </a:stretch>
            </a:blipFill>
          </p:spPr>
        </p:sp>
        <p:sp>
          <p:nvSpPr>
            <p:cNvPr name="TextBox 21" id="21"/>
            <p:cNvSpPr txBox="true"/>
            <p:nvPr/>
          </p:nvSpPr>
          <p:spPr>
            <a:xfrm>
              <a:off x="0" y="-57150"/>
              <a:ext cx="1219200" cy="1642110"/>
            </a:xfrm>
            <a:prstGeom prst="rect">
              <a:avLst/>
            </a:prstGeom>
          </p:spPr>
          <p:txBody>
            <a:bodyPr anchor="ctr" rtlCol="false" tIns="0" lIns="0" bIns="0" rIns="0"/>
            <a:lstStyle/>
            <a:p>
              <a:pPr algn="ctr">
                <a:lnSpc>
                  <a:spcPts val="3120"/>
                </a:lnSpc>
              </a:pPr>
              <a:r>
                <a:rPr lang="en-US" sz="2600" b="true">
                  <a:solidFill>
                    <a:srgbClr val="FFFFFF"/>
                  </a:solidFill>
                  <a:latin typeface="Calibri (MS) Bold"/>
                  <a:ea typeface="Calibri (MS) Bold"/>
                  <a:cs typeface="Calibri (MS) Bold"/>
                  <a:sym typeface="Calibri (MS) Bold"/>
                </a:rPr>
                <a:t>01</a:t>
              </a:r>
            </a:p>
          </p:txBody>
        </p:sp>
      </p:grpSp>
      <p:grpSp>
        <p:nvGrpSpPr>
          <p:cNvPr name="Group 22" id="22"/>
          <p:cNvGrpSpPr/>
          <p:nvPr/>
        </p:nvGrpSpPr>
        <p:grpSpPr>
          <a:xfrm rot="0">
            <a:off x="1828800" y="2633472"/>
            <a:ext cx="6949440" cy="512064"/>
            <a:chOff x="0" y="0"/>
            <a:chExt cx="9265920" cy="682752"/>
          </a:xfrm>
        </p:grpSpPr>
        <p:sp>
          <p:nvSpPr>
            <p:cNvPr name="Freeform 23" id="23"/>
            <p:cNvSpPr/>
            <p:nvPr/>
          </p:nvSpPr>
          <p:spPr>
            <a:xfrm flipH="false" flipV="false" rot="0">
              <a:off x="0" y="0"/>
              <a:ext cx="9265920" cy="682752"/>
            </a:xfrm>
            <a:custGeom>
              <a:avLst/>
              <a:gdLst/>
              <a:ahLst/>
              <a:cxnLst/>
              <a:rect r="r" b="b" t="t" l="l"/>
              <a:pathLst>
                <a:path h="682752" w="9265920">
                  <a:moveTo>
                    <a:pt x="0" y="0"/>
                  </a:moveTo>
                  <a:lnTo>
                    <a:pt x="9265920" y="0"/>
                  </a:lnTo>
                  <a:lnTo>
                    <a:pt x="9265920" y="682752"/>
                  </a:lnTo>
                  <a:lnTo>
                    <a:pt x="0" y="682752"/>
                  </a:lnTo>
                  <a:close/>
                </a:path>
              </a:pathLst>
            </a:custGeom>
            <a:blipFill>
              <a:blip r:embed="rId3">
                <a:alphaModFix amt="0"/>
              </a:blip>
              <a:stretch>
                <a:fillRect l="0" t="-214439" r="0" b="-214439"/>
              </a:stretch>
            </a:blipFill>
          </p:spPr>
        </p:sp>
        <p:sp>
          <p:nvSpPr>
            <p:cNvPr name="TextBox 24" id="24"/>
            <p:cNvSpPr txBox="true"/>
            <p:nvPr/>
          </p:nvSpPr>
          <p:spPr>
            <a:xfrm>
              <a:off x="0" y="-38100"/>
              <a:ext cx="9265920" cy="720852"/>
            </a:xfrm>
            <a:prstGeom prst="rect">
              <a:avLst/>
            </a:prstGeom>
          </p:spPr>
          <p:txBody>
            <a:bodyPr anchor="ctr" rtlCol="false" tIns="0" lIns="0" bIns="0" rIns="0"/>
            <a:lstStyle/>
            <a:p>
              <a:pPr algn="l">
                <a:lnSpc>
                  <a:spcPts val="2879"/>
                </a:lnSpc>
              </a:pPr>
              <a:r>
                <a:rPr lang="en-US" sz="2400" b="true">
                  <a:solidFill>
                    <a:srgbClr val="1E293B"/>
                  </a:solidFill>
                  <a:latin typeface="Calibri (MS) Bold"/>
                  <a:ea typeface="Calibri (MS) Bold"/>
                  <a:cs typeface="Calibri (MS) Bold"/>
                  <a:sym typeface="Calibri (MS) Bold"/>
                </a:rPr>
                <a:t>The Problem</a:t>
              </a:r>
            </a:p>
          </p:txBody>
        </p:sp>
      </p:grpSp>
      <p:grpSp>
        <p:nvGrpSpPr>
          <p:cNvPr name="Group 25" id="25"/>
          <p:cNvGrpSpPr/>
          <p:nvPr/>
        </p:nvGrpSpPr>
        <p:grpSpPr>
          <a:xfrm rot="0">
            <a:off x="1828800" y="3163824"/>
            <a:ext cx="6949440" cy="512064"/>
            <a:chOff x="0" y="0"/>
            <a:chExt cx="9265920" cy="682752"/>
          </a:xfrm>
        </p:grpSpPr>
        <p:sp>
          <p:nvSpPr>
            <p:cNvPr name="Freeform 26" id="26"/>
            <p:cNvSpPr/>
            <p:nvPr/>
          </p:nvSpPr>
          <p:spPr>
            <a:xfrm flipH="false" flipV="false" rot="0">
              <a:off x="0" y="0"/>
              <a:ext cx="9265920" cy="682752"/>
            </a:xfrm>
            <a:custGeom>
              <a:avLst/>
              <a:gdLst/>
              <a:ahLst/>
              <a:cxnLst/>
              <a:rect r="r" b="b" t="t" l="l"/>
              <a:pathLst>
                <a:path h="682752" w="9265920">
                  <a:moveTo>
                    <a:pt x="0" y="0"/>
                  </a:moveTo>
                  <a:lnTo>
                    <a:pt x="9265920" y="0"/>
                  </a:lnTo>
                  <a:lnTo>
                    <a:pt x="9265920" y="682752"/>
                  </a:lnTo>
                  <a:lnTo>
                    <a:pt x="0" y="682752"/>
                  </a:lnTo>
                  <a:close/>
                </a:path>
              </a:pathLst>
            </a:custGeom>
            <a:blipFill>
              <a:blip r:embed="rId3">
                <a:alphaModFix amt="0"/>
              </a:blip>
              <a:stretch>
                <a:fillRect l="0" t="-214439" r="0" b="-214439"/>
              </a:stretch>
            </a:blipFill>
          </p:spPr>
        </p:sp>
        <p:sp>
          <p:nvSpPr>
            <p:cNvPr name="TextBox 27" id="27"/>
            <p:cNvSpPr txBox="true"/>
            <p:nvPr/>
          </p:nvSpPr>
          <p:spPr>
            <a:xfrm>
              <a:off x="0" y="-38100"/>
              <a:ext cx="9265920" cy="720852"/>
            </a:xfrm>
            <a:prstGeom prst="rect">
              <a:avLst/>
            </a:prstGeom>
          </p:spPr>
          <p:txBody>
            <a:bodyPr anchor="ctr" rtlCol="false" tIns="0" lIns="0" bIns="0" rIns="0"/>
            <a:lstStyle/>
            <a:p>
              <a:pPr algn="l">
                <a:lnSpc>
                  <a:spcPts val="2160"/>
                </a:lnSpc>
              </a:pPr>
              <a:r>
                <a:rPr lang="en-US" sz="1800">
                  <a:solidFill>
                    <a:srgbClr val="94A3B8"/>
                  </a:solidFill>
                  <a:latin typeface="Calibri (MS)"/>
                  <a:ea typeface="Calibri (MS)"/>
                  <a:cs typeface="Calibri (MS)"/>
                  <a:sym typeface="Calibri (MS)"/>
                </a:rPr>
                <a:t>What is Remote Sensing Image Captioning and why it is hard</a:t>
              </a:r>
            </a:p>
          </p:txBody>
        </p:sp>
      </p:grpSp>
      <p:grpSp>
        <p:nvGrpSpPr>
          <p:cNvPr name="Group 28" id="28"/>
          <p:cNvGrpSpPr/>
          <p:nvPr/>
        </p:nvGrpSpPr>
        <p:grpSpPr>
          <a:xfrm rot="0">
            <a:off x="725167" y="3980431"/>
            <a:ext cx="8242297" cy="1201417"/>
            <a:chOff x="0" y="0"/>
            <a:chExt cx="10989729" cy="1601889"/>
          </a:xfrm>
        </p:grpSpPr>
        <p:sp>
          <p:nvSpPr>
            <p:cNvPr name="Freeform 29" id="29"/>
            <p:cNvSpPr/>
            <p:nvPr/>
          </p:nvSpPr>
          <p:spPr>
            <a:xfrm flipH="false" flipV="false" rot="0">
              <a:off x="8509" y="8509"/>
              <a:ext cx="10972800" cy="1584960"/>
            </a:xfrm>
            <a:custGeom>
              <a:avLst/>
              <a:gdLst/>
              <a:ahLst/>
              <a:cxnLst/>
              <a:rect r="r" b="b" t="t" l="l"/>
              <a:pathLst>
                <a:path h="1584960" w="10972800">
                  <a:moveTo>
                    <a:pt x="0" y="0"/>
                  </a:moveTo>
                  <a:lnTo>
                    <a:pt x="10972800" y="0"/>
                  </a:lnTo>
                  <a:lnTo>
                    <a:pt x="10972800" y="1584960"/>
                  </a:lnTo>
                  <a:lnTo>
                    <a:pt x="0" y="1584960"/>
                  </a:lnTo>
                  <a:close/>
                </a:path>
              </a:pathLst>
            </a:custGeom>
            <a:solidFill>
              <a:srgbClr val="FFFFFF"/>
            </a:solidFill>
          </p:spPr>
        </p:sp>
        <p:sp>
          <p:nvSpPr>
            <p:cNvPr name="Freeform 30" id="30"/>
            <p:cNvSpPr/>
            <p:nvPr/>
          </p:nvSpPr>
          <p:spPr>
            <a:xfrm flipH="false" flipV="false" rot="0">
              <a:off x="0" y="0"/>
              <a:ext cx="10989818" cy="1601978"/>
            </a:xfrm>
            <a:custGeom>
              <a:avLst/>
              <a:gdLst/>
              <a:ahLst/>
              <a:cxnLst/>
              <a:rect r="r" b="b" t="t" l="l"/>
              <a:pathLst>
                <a:path h="1601978" w="10989818">
                  <a:moveTo>
                    <a:pt x="8509" y="0"/>
                  </a:moveTo>
                  <a:lnTo>
                    <a:pt x="10981309" y="0"/>
                  </a:lnTo>
                  <a:cubicBezTo>
                    <a:pt x="10986008" y="0"/>
                    <a:pt x="10989818" y="3810"/>
                    <a:pt x="10989818" y="8509"/>
                  </a:cubicBezTo>
                  <a:lnTo>
                    <a:pt x="10989818" y="1593469"/>
                  </a:lnTo>
                  <a:cubicBezTo>
                    <a:pt x="10989818" y="1598168"/>
                    <a:pt x="10986008" y="1601978"/>
                    <a:pt x="10981309" y="1601978"/>
                  </a:cubicBezTo>
                  <a:lnTo>
                    <a:pt x="8509" y="1601978"/>
                  </a:lnTo>
                  <a:cubicBezTo>
                    <a:pt x="3810" y="1601978"/>
                    <a:pt x="0" y="1598168"/>
                    <a:pt x="0" y="1593469"/>
                  </a:cubicBezTo>
                  <a:lnTo>
                    <a:pt x="0" y="8509"/>
                  </a:lnTo>
                  <a:cubicBezTo>
                    <a:pt x="0" y="3810"/>
                    <a:pt x="3810" y="0"/>
                    <a:pt x="8509" y="0"/>
                  </a:cubicBezTo>
                  <a:moveTo>
                    <a:pt x="8509" y="16891"/>
                  </a:moveTo>
                  <a:lnTo>
                    <a:pt x="8509" y="8509"/>
                  </a:lnTo>
                  <a:lnTo>
                    <a:pt x="17018" y="8509"/>
                  </a:lnTo>
                  <a:lnTo>
                    <a:pt x="17018" y="1593469"/>
                  </a:lnTo>
                  <a:lnTo>
                    <a:pt x="8509" y="1593469"/>
                  </a:lnTo>
                  <a:lnTo>
                    <a:pt x="8509" y="1584960"/>
                  </a:lnTo>
                  <a:lnTo>
                    <a:pt x="10981309" y="1584960"/>
                  </a:lnTo>
                  <a:lnTo>
                    <a:pt x="10981309" y="1593469"/>
                  </a:lnTo>
                  <a:lnTo>
                    <a:pt x="10972800" y="1593469"/>
                  </a:lnTo>
                  <a:lnTo>
                    <a:pt x="10972800" y="8509"/>
                  </a:lnTo>
                  <a:lnTo>
                    <a:pt x="10981309" y="8509"/>
                  </a:lnTo>
                  <a:lnTo>
                    <a:pt x="10981309" y="17018"/>
                  </a:lnTo>
                  <a:lnTo>
                    <a:pt x="8509" y="17018"/>
                  </a:lnTo>
                  <a:close/>
                </a:path>
              </a:pathLst>
            </a:custGeom>
            <a:solidFill>
              <a:srgbClr val="E2E8F0"/>
            </a:solidFill>
          </p:spPr>
        </p:sp>
      </p:grpSp>
      <p:grpSp>
        <p:nvGrpSpPr>
          <p:cNvPr name="Group 31" id="31"/>
          <p:cNvGrpSpPr/>
          <p:nvPr/>
        </p:nvGrpSpPr>
        <p:grpSpPr>
          <a:xfrm rot="0">
            <a:off x="718823" y="3974087"/>
            <a:ext cx="939803" cy="1214123"/>
            <a:chOff x="0" y="0"/>
            <a:chExt cx="1253071" cy="1618831"/>
          </a:xfrm>
        </p:grpSpPr>
        <p:sp>
          <p:nvSpPr>
            <p:cNvPr name="Freeform 32" id="32"/>
            <p:cNvSpPr/>
            <p:nvPr/>
          </p:nvSpPr>
          <p:spPr>
            <a:xfrm flipH="false" flipV="false" rot="0">
              <a:off x="16891" y="16891"/>
              <a:ext cx="1219200" cy="1584960"/>
            </a:xfrm>
            <a:custGeom>
              <a:avLst/>
              <a:gdLst/>
              <a:ahLst/>
              <a:cxnLst/>
              <a:rect r="r" b="b" t="t" l="l"/>
              <a:pathLst>
                <a:path h="1584960" w="1219200">
                  <a:moveTo>
                    <a:pt x="0" y="0"/>
                  </a:moveTo>
                  <a:lnTo>
                    <a:pt x="1219200" y="0"/>
                  </a:lnTo>
                  <a:lnTo>
                    <a:pt x="1219200" y="1584960"/>
                  </a:lnTo>
                  <a:lnTo>
                    <a:pt x="0" y="1584960"/>
                  </a:lnTo>
                  <a:close/>
                </a:path>
              </a:pathLst>
            </a:custGeom>
            <a:solidFill>
              <a:srgbClr val="6D28D9"/>
            </a:solidFill>
          </p:spPr>
        </p:sp>
        <p:sp>
          <p:nvSpPr>
            <p:cNvPr name="Freeform 33" id="33"/>
            <p:cNvSpPr/>
            <p:nvPr/>
          </p:nvSpPr>
          <p:spPr>
            <a:xfrm flipH="false" flipV="false" rot="0">
              <a:off x="0" y="0"/>
              <a:ext cx="1252982" cy="1618742"/>
            </a:xfrm>
            <a:custGeom>
              <a:avLst/>
              <a:gdLst/>
              <a:ahLst/>
              <a:cxnLst/>
              <a:rect r="r" b="b" t="t" l="l"/>
              <a:pathLst>
                <a:path h="1618742" w="1252982">
                  <a:moveTo>
                    <a:pt x="16891" y="0"/>
                  </a:moveTo>
                  <a:lnTo>
                    <a:pt x="1236091" y="0"/>
                  </a:lnTo>
                  <a:cubicBezTo>
                    <a:pt x="1245489" y="0"/>
                    <a:pt x="1252982" y="7620"/>
                    <a:pt x="1252982" y="16891"/>
                  </a:cubicBezTo>
                  <a:lnTo>
                    <a:pt x="1252982" y="1601851"/>
                  </a:lnTo>
                  <a:cubicBezTo>
                    <a:pt x="1252982" y="1611249"/>
                    <a:pt x="1245362" y="1618742"/>
                    <a:pt x="1236091" y="1618742"/>
                  </a:cubicBezTo>
                  <a:lnTo>
                    <a:pt x="16891" y="1618742"/>
                  </a:lnTo>
                  <a:cubicBezTo>
                    <a:pt x="7493" y="1618742"/>
                    <a:pt x="0" y="1611122"/>
                    <a:pt x="0" y="1601851"/>
                  </a:cubicBezTo>
                  <a:lnTo>
                    <a:pt x="0" y="16891"/>
                  </a:lnTo>
                  <a:cubicBezTo>
                    <a:pt x="0" y="7620"/>
                    <a:pt x="7620" y="0"/>
                    <a:pt x="16891" y="0"/>
                  </a:cubicBezTo>
                  <a:moveTo>
                    <a:pt x="16891" y="33909"/>
                  </a:moveTo>
                  <a:lnTo>
                    <a:pt x="16891" y="16891"/>
                  </a:lnTo>
                  <a:lnTo>
                    <a:pt x="33909" y="16891"/>
                  </a:lnTo>
                  <a:lnTo>
                    <a:pt x="33909" y="1601851"/>
                  </a:lnTo>
                  <a:lnTo>
                    <a:pt x="16891" y="1601851"/>
                  </a:lnTo>
                  <a:lnTo>
                    <a:pt x="16891" y="1584960"/>
                  </a:lnTo>
                  <a:lnTo>
                    <a:pt x="1236091" y="1584960"/>
                  </a:lnTo>
                  <a:lnTo>
                    <a:pt x="1236091" y="1601851"/>
                  </a:lnTo>
                  <a:lnTo>
                    <a:pt x="1219200" y="1601851"/>
                  </a:lnTo>
                  <a:lnTo>
                    <a:pt x="1219200" y="16891"/>
                  </a:lnTo>
                  <a:lnTo>
                    <a:pt x="1236091" y="16891"/>
                  </a:lnTo>
                  <a:lnTo>
                    <a:pt x="1236091" y="33909"/>
                  </a:lnTo>
                  <a:lnTo>
                    <a:pt x="16891" y="33909"/>
                  </a:lnTo>
                  <a:close/>
                </a:path>
              </a:pathLst>
            </a:custGeom>
            <a:solidFill>
              <a:srgbClr val="6D28D9"/>
            </a:solidFill>
          </p:spPr>
        </p:sp>
      </p:grpSp>
      <p:grpSp>
        <p:nvGrpSpPr>
          <p:cNvPr name="Group 34" id="34"/>
          <p:cNvGrpSpPr/>
          <p:nvPr/>
        </p:nvGrpSpPr>
        <p:grpSpPr>
          <a:xfrm rot="0">
            <a:off x="731520" y="3986784"/>
            <a:ext cx="914400" cy="1188720"/>
            <a:chOff x="0" y="0"/>
            <a:chExt cx="1219200" cy="1584960"/>
          </a:xfrm>
        </p:grpSpPr>
        <p:sp>
          <p:nvSpPr>
            <p:cNvPr name="Freeform 35" id="35"/>
            <p:cNvSpPr/>
            <p:nvPr/>
          </p:nvSpPr>
          <p:spPr>
            <a:xfrm flipH="false" flipV="false" rot="0">
              <a:off x="0" y="0"/>
              <a:ext cx="1219200" cy="1584960"/>
            </a:xfrm>
            <a:custGeom>
              <a:avLst/>
              <a:gdLst/>
              <a:ahLst/>
              <a:cxnLst/>
              <a:rect r="r" b="b" t="t" l="l"/>
              <a:pathLst>
                <a:path h="1584960" w="1219200">
                  <a:moveTo>
                    <a:pt x="0" y="0"/>
                  </a:moveTo>
                  <a:lnTo>
                    <a:pt x="1219200" y="0"/>
                  </a:lnTo>
                  <a:lnTo>
                    <a:pt x="1219200" y="1584960"/>
                  </a:lnTo>
                  <a:lnTo>
                    <a:pt x="0" y="1584960"/>
                  </a:lnTo>
                  <a:close/>
                </a:path>
              </a:pathLst>
            </a:custGeom>
            <a:blipFill>
              <a:blip r:embed="rId3">
                <a:alphaModFix amt="0"/>
              </a:blip>
              <a:stretch>
                <a:fillRect l="-116794" t="0" r="-116794" b="0"/>
              </a:stretch>
            </a:blipFill>
          </p:spPr>
        </p:sp>
        <p:sp>
          <p:nvSpPr>
            <p:cNvPr name="TextBox 36" id="36"/>
            <p:cNvSpPr txBox="true"/>
            <p:nvPr/>
          </p:nvSpPr>
          <p:spPr>
            <a:xfrm>
              <a:off x="0" y="-57150"/>
              <a:ext cx="1219200" cy="1642110"/>
            </a:xfrm>
            <a:prstGeom prst="rect">
              <a:avLst/>
            </a:prstGeom>
          </p:spPr>
          <p:txBody>
            <a:bodyPr anchor="ctr" rtlCol="false" tIns="0" lIns="0" bIns="0" rIns="0"/>
            <a:lstStyle/>
            <a:p>
              <a:pPr algn="ctr">
                <a:lnSpc>
                  <a:spcPts val="3120"/>
                </a:lnSpc>
              </a:pPr>
              <a:r>
                <a:rPr lang="en-US" sz="2600" b="true">
                  <a:solidFill>
                    <a:srgbClr val="FFFFFF"/>
                  </a:solidFill>
                  <a:latin typeface="Calibri (MS) Bold"/>
                  <a:ea typeface="Calibri (MS) Bold"/>
                  <a:cs typeface="Calibri (MS) Bold"/>
                  <a:sym typeface="Calibri (MS) Bold"/>
                </a:rPr>
                <a:t>02</a:t>
              </a:r>
            </a:p>
          </p:txBody>
        </p:sp>
      </p:grpSp>
      <p:grpSp>
        <p:nvGrpSpPr>
          <p:cNvPr name="Group 37" id="37"/>
          <p:cNvGrpSpPr/>
          <p:nvPr/>
        </p:nvGrpSpPr>
        <p:grpSpPr>
          <a:xfrm rot="0">
            <a:off x="1828800" y="4059936"/>
            <a:ext cx="6949440" cy="512064"/>
            <a:chOff x="0" y="0"/>
            <a:chExt cx="9265920" cy="682752"/>
          </a:xfrm>
        </p:grpSpPr>
        <p:sp>
          <p:nvSpPr>
            <p:cNvPr name="Freeform 38" id="38"/>
            <p:cNvSpPr/>
            <p:nvPr/>
          </p:nvSpPr>
          <p:spPr>
            <a:xfrm flipH="false" flipV="false" rot="0">
              <a:off x="0" y="0"/>
              <a:ext cx="9265920" cy="682752"/>
            </a:xfrm>
            <a:custGeom>
              <a:avLst/>
              <a:gdLst/>
              <a:ahLst/>
              <a:cxnLst/>
              <a:rect r="r" b="b" t="t" l="l"/>
              <a:pathLst>
                <a:path h="682752" w="9265920">
                  <a:moveTo>
                    <a:pt x="0" y="0"/>
                  </a:moveTo>
                  <a:lnTo>
                    <a:pt x="9265920" y="0"/>
                  </a:lnTo>
                  <a:lnTo>
                    <a:pt x="9265920" y="682752"/>
                  </a:lnTo>
                  <a:lnTo>
                    <a:pt x="0" y="682752"/>
                  </a:lnTo>
                  <a:close/>
                </a:path>
              </a:pathLst>
            </a:custGeom>
            <a:blipFill>
              <a:blip r:embed="rId3">
                <a:alphaModFix amt="0"/>
              </a:blip>
              <a:stretch>
                <a:fillRect l="0" t="-214439" r="0" b="-214439"/>
              </a:stretch>
            </a:blipFill>
          </p:spPr>
        </p:sp>
        <p:sp>
          <p:nvSpPr>
            <p:cNvPr name="TextBox 39" id="39"/>
            <p:cNvSpPr txBox="true"/>
            <p:nvPr/>
          </p:nvSpPr>
          <p:spPr>
            <a:xfrm>
              <a:off x="0" y="-38100"/>
              <a:ext cx="9265920" cy="720852"/>
            </a:xfrm>
            <a:prstGeom prst="rect">
              <a:avLst/>
            </a:prstGeom>
          </p:spPr>
          <p:txBody>
            <a:bodyPr anchor="ctr" rtlCol="false" tIns="0" lIns="0" bIns="0" rIns="0"/>
            <a:lstStyle/>
            <a:p>
              <a:pPr algn="l">
                <a:lnSpc>
                  <a:spcPts val="2879"/>
                </a:lnSpc>
              </a:pPr>
              <a:r>
                <a:rPr lang="en-US" sz="2400" b="true">
                  <a:solidFill>
                    <a:srgbClr val="1E293B"/>
                  </a:solidFill>
                  <a:latin typeface="Calibri (MS) Bold"/>
                  <a:ea typeface="Calibri (MS) Bold"/>
                  <a:cs typeface="Calibri (MS) Bold"/>
                  <a:sym typeface="Calibri (MS) Bold"/>
                </a:rPr>
                <a:t>Prior Work &amp; Limitations</a:t>
              </a:r>
            </a:p>
          </p:txBody>
        </p:sp>
      </p:grpSp>
      <p:grpSp>
        <p:nvGrpSpPr>
          <p:cNvPr name="Group 40" id="40"/>
          <p:cNvGrpSpPr/>
          <p:nvPr/>
        </p:nvGrpSpPr>
        <p:grpSpPr>
          <a:xfrm rot="0">
            <a:off x="1828800" y="4590288"/>
            <a:ext cx="6949440" cy="512064"/>
            <a:chOff x="0" y="0"/>
            <a:chExt cx="9265920" cy="682752"/>
          </a:xfrm>
        </p:grpSpPr>
        <p:sp>
          <p:nvSpPr>
            <p:cNvPr name="Freeform 41" id="41"/>
            <p:cNvSpPr/>
            <p:nvPr/>
          </p:nvSpPr>
          <p:spPr>
            <a:xfrm flipH="false" flipV="false" rot="0">
              <a:off x="0" y="0"/>
              <a:ext cx="9265920" cy="682752"/>
            </a:xfrm>
            <a:custGeom>
              <a:avLst/>
              <a:gdLst/>
              <a:ahLst/>
              <a:cxnLst/>
              <a:rect r="r" b="b" t="t" l="l"/>
              <a:pathLst>
                <a:path h="682752" w="9265920">
                  <a:moveTo>
                    <a:pt x="0" y="0"/>
                  </a:moveTo>
                  <a:lnTo>
                    <a:pt x="9265920" y="0"/>
                  </a:lnTo>
                  <a:lnTo>
                    <a:pt x="9265920" y="682752"/>
                  </a:lnTo>
                  <a:lnTo>
                    <a:pt x="0" y="682752"/>
                  </a:lnTo>
                  <a:close/>
                </a:path>
              </a:pathLst>
            </a:custGeom>
            <a:blipFill>
              <a:blip r:embed="rId3">
                <a:alphaModFix amt="0"/>
              </a:blip>
              <a:stretch>
                <a:fillRect l="0" t="-214439" r="0" b="-214439"/>
              </a:stretch>
            </a:blipFill>
          </p:spPr>
        </p:sp>
        <p:sp>
          <p:nvSpPr>
            <p:cNvPr name="TextBox 42" id="42"/>
            <p:cNvSpPr txBox="true"/>
            <p:nvPr/>
          </p:nvSpPr>
          <p:spPr>
            <a:xfrm>
              <a:off x="0" y="-38100"/>
              <a:ext cx="9265920" cy="720852"/>
            </a:xfrm>
            <a:prstGeom prst="rect">
              <a:avLst/>
            </a:prstGeom>
          </p:spPr>
          <p:txBody>
            <a:bodyPr anchor="ctr" rtlCol="false" tIns="0" lIns="0" bIns="0" rIns="0"/>
            <a:lstStyle/>
            <a:p>
              <a:pPr algn="l">
                <a:lnSpc>
                  <a:spcPts val="2160"/>
                </a:lnSpc>
              </a:pPr>
              <a:r>
                <a:rPr lang="en-US" sz="1800">
                  <a:solidFill>
                    <a:srgbClr val="94A3B8"/>
                  </a:solidFill>
                  <a:latin typeface="Calibri (MS)"/>
                  <a:ea typeface="Calibri (MS)"/>
                  <a:cs typeface="Calibri (MS)"/>
                  <a:sym typeface="Calibri (MS)"/>
                </a:rPr>
                <a:t>Single-stage methods, decoding strategies, and their gaps</a:t>
              </a:r>
            </a:p>
          </p:txBody>
        </p:sp>
      </p:grpSp>
      <p:grpSp>
        <p:nvGrpSpPr>
          <p:cNvPr name="Group 43" id="43"/>
          <p:cNvGrpSpPr/>
          <p:nvPr/>
        </p:nvGrpSpPr>
        <p:grpSpPr>
          <a:xfrm rot="0">
            <a:off x="725167" y="5406895"/>
            <a:ext cx="8242297" cy="1201417"/>
            <a:chOff x="0" y="0"/>
            <a:chExt cx="10989729" cy="1601889"/>
          </a:xfrm>
        </p:grpSpPr>
        <p:sp>
          <p:nvSpPr>
            <p:cNvPr name="Freeform 44" id="44"/>
            <p:cNvSpPr/>
            <p:nvPr/>
          </p:nvSpPr>
          <p:spPr>
            <a:xfrm flipH="false" flipV="false" rot="0">
              <a:off x="8509" y="8509"/>
              <a:ext cx="10972800" cy="1584960"/>
            </a:xfrm>
            <a:custGeom>
              <a:avLst/>
              <a:gdLst/>
              <a:ahLst/>
              <a:cxnLst/>
              <a:rect r="r" b="b" t="t" l="l"/>
              <a:pathLst>
                <a:path h="1584960" w="10972800">
                  <a:moveTo>
                    <a:pt x="0" y="0"/>
                  </a:moveTo>
                  <a:lnTo>
                    <a:pt x="10972800" y="0"/>
                  </a:lnTo>
                  <a:lnTo>
                    <a:pt x="10972800" y="1584960"/>
                  </a:lnTo>
                  <a:lnTo>
                    <a:pt x="0" y="1584960"/>
                  </a:lnTo>
                  <a:close/>
                </a:path>
              </a:pathLst>
            </a:custGeom>
            <a:solidFill>
              <a:srgbClr val="FFFFFF"/>
            </a:solidFill>
          </p:spPr>
        </p:sp>
        <p:sp>
          <p:nvSpPr>
            <p:cNvPr name="Freeform 45" id="45"/>
            <p:cNvSpPr/>
            <p:nvPr/>
          </p:nvSpPr>
          <p:spPr>
            <a:xfrm flipH="false" flipV="false" rot="0">
              <a:off x="0" y="0"/>
              <a:ext cx="10989818" cy="1601978"/>
            </a:xfrm>
            <a:custGeom>
              <a:avLst/>
              <a:gdLst/>
              <a:ahLst/>
              <a:cxnLst/>
              <a:rect r="r" b="b" t="t" l="l"/>
              <a:pathLst>
                <a:path h="1601978" w="10989818">
                  <a:moveTo>
                    <a:pt x="8509" y="0"/>
                  </a:moveTo>
                  <a:lnTo>
                    <a:pt x="10981309" y="0"/>
                  </a:lnTo>
                  <a:cubicBezTo>
                    <a:pt x="10986008" y="0"/>
                    <a:pt x="10989818" y="3810"/>
                    <a:pt x="10989818" y="8509"/>
                  </a:cubicBezTo>
                  <a:lnTo>
                    <a:pt x="10989818" y="1593469"/>
                  </a:lnTo>
                  <a:cubicBezTo>
                    <a:pt x="10989818" y="1598168"/>
                    <a:pt x="10986008" y="1601978"/>
                    <a:pt x="10981309" y="1601978"/>
                  </a:cubicBezTo>
                  <a:lnTo>
                    <a:pt x="8509" y="1601978"/>
                  </a:lnTo>
                  <a:cubicBezTo>
                    <a:pt x="3810" y="1601978"/>
                    <a:pt x="0" y="1598168"/>
                    <a:pt x="0" y="1593469"/>
                  </a:cubicBezTo>
                  <a:lnTo>
                    <a:pt x="0" y="8509"/>
                  </a:lnTo>
                  <a:cubicBezTo>
                    <a:pt x="0" y="3810"/>
                    <a:pt x="3810" y="0"/>
                    <a:pt x="8509" y="0"/>
                  </a:cubicBezTo>
                  <a:moveTo>
                    <a:pt x="8509" y="16891"/>
                  </a:moveTo>
                  <a:lnTo>
                    <a:pt x="8509" y="8509"/>
                  </a:lnTo>
                  <a:lnTo>
                    <a:pt x="17018" y="8509"/>
                  </a:lnTo>
                  <a:lnTo>
                    <a:pt x="17018" y="1593469"/>
                  </a:lnTo>
                  <a:lnTo>
                    <a:pt x="8509" y="1593469"/>
                  </a:lnTo>
                  <a:lnTo>
                    <a:pt x="8509" y="1584960"/>
                  </a:lnTo>
                  <a:lnTo>
                    <a:pt x="10981309" y="1584960"/>
                  </a:lnTo>
                  <a:lnTo>
                    <a:pt x="10981309" y="1593469"/>
                  </a:lnTo>
                  <a:lnTo>
                    <a:pt x="10972800" y="1593469"/>
                  </a:lnTo>
                  <a:lnTo>
                    <a:pt x="10972800" y="8509"/>
                  </a:lnTo>
                  <a:lnTo>
                    <a:pt x="10981309" y="8509"/>
                  </a:lnTo>
                  <a:lnTo>
                    <a:pt x="10981309" y="17018"/>
                  </a:lnTo>
                  <a:lnTo>
                    <a:pt x="8509" y="17018"/>
                  </a:lnTo>
                  <a:close/>
                </a:path>
              </a:pathLst>
            </a:custGeom>
            <a:solidFill>
              <a:srgbClr val="E2E8F0"/>
            </a:solidFill>
          </p:spPr>
        </p:sp>
      </p:grpSp>
      <p:grpSp>
        <p:nvGrpSpPr>
          <p:cNvPr name="Group 46" id="46"/>
          <p:cNvGrpSpPr/>
          <p:nvPr/>
        </p:nvGrpSpPr>
        <p:grpSpPr>
          <a:xfrm rot="0">
            <a:off x="718823" y="5400551"/>
            <a:ext cx="939803" cy="1214123"/>
            <a:chOff x="0" y="0"/>
            <a:chExt cx="1253071" cy="1618831"/>
          </a:xfrm>
        </p:grpSpPr>
        <p:sp>
          <p:nvSpPr>
            <p:cNvPr name="Freeform 47" id="47"/>
            <p:cNvSpPr/>
            <p:nvPr/>
          </p:nvSpPr>
          <p:spPr>
            <a:xfrm flipH="false" flipV="false" rot="0">
              <a:off x="16891" y="16891"/>
              <a:ext cx="1219200" cy="1584960"/>
            </a:xfrm>
            <a:custGeom>
              <a:avLst/>
              <a:gdLst/>
              <a:ahLst/>
              <a:cxnLst/>
              <a:rect r="r" b="b" t="t" l="l"/>
              <a:pathLst>
                <a:path h="1584960" w="1219200">
                  <a:moveTo>
                    <a:pt x="0" y="0"/>
                  </a:moveTo>
                  <a:lnTo>
                    <a:pt x="1219200" y="0"/>
                  </a:lnTo>
                  <a:lnTo>
                    <a:pt x="1219200" y="1584960"/>
                  </a:lnTo>
                  <a:lnTo>
                    <a:pt x="0" y="1584960"/>
                  </a:lnTo>
                  <a:close/>
                </a:path>
              </a:pathLst>
            </a:custGeom>
            <a:solidFill>
              <a:srgbClr val="0D1B3E"/>
            </a:solidFill>
          </p:spPr>
        </p:sp>
        <p:sp>
          <p:nvSpPr>
            <p:cNvPr name="Freeform 48" id="48"/>
            <p:cNvSpPr/>
            <p:nvPr/>
          </p:nvSpPr>
          <p:spPr>
            <a:xfrm flipH="false" flipV="false" rot="0">
              <a:off x="0" y="0"/>
              <a:ext cx="1252982" cy="1618742"/>
            </a:xfrm>
            <a:custGeom>
              <a:avLst/>
              <a:gdLst/>
              <a:ahLst/>
              <a:cxnLst/>
              <a:rect r="r" b="b" t="t" l="l"/>
              <a:pathLst>
                <a:path h="1618742" w="1252982">
                  <a:moveTo>
                    <a:pt x="16891" y="0"/>
                  </a:moveTo>
                  <a:lnTo>
                    <a:pt x="1236091" y="0"/>
                  </a:lnTo>
                  <a:cubicBezTo>
                    <a:pt x="1245489" y="0"/>
                    <a:pt x="1252982" y="7620"/>
                    <a:pt x="1252982" y="16891"/>
                  </a:cubicBezTo>
                  <a:lnTo>
                    <a:pt x="1252982" y="1601851"/>
                  </a:lnTo>
                  <a:cubicBezTo>
                    <a:pt x="1252982" y="1611249"/>
                    <a:pt x="1245362" y="1618742"/>
                    <a:pt x="1236091" y="1618742"/>
                  </a:cubicBezTo>
                  <a:lnTo>
                    <a:pt x="16891" y="1618742"/>
                  </a:lnTo>
                  <a:cubicBezTo>
                    <a:pt x="7493" y="1618742"/>
                    <a:pt x="0" y="1611122"/>
                    <a:pt x="0" y="1601851"/>
                  </a:cubicBezTo>
                  <a:lnTo>
                    <a:pt x="0" y="16891"/>
                  </a:lnTo>
                  <a:cubicBezTo>
                    <a:pt x="0" y="7620"/>
                    <a:pt x="7620" y="0"/>
                    <a:pt x="16891" y="0"/>
                  </a:cubicBezTo>
                  <a:moveTo>
                    <a:pt x="16891" y="33909"/>
                  </a:moveTo>
                  <a:lnTo>
                    <a:pt x="16891" y="16891"/>
                  </a:lnTo>
                  <a:lnTo>
                    <a:pt x="33909" y="16891"/>
                  </a:lnTo>
                  <a:lnTo>
                    <a:pt x="33909" y="1601851"/>
                  </a:lnTo>
                  <a:lnTo>
                    <a:pt x="16891" y="1601851"/>
                  </a:lnTo>
                  <a:lnTo>
                    <a:pt x="16891" y="1584960"/>
                  </a:lnTo>
                  <a:lnTo>
                    <a:pt x="1236091" y="1584960"/>
                  </a:lnTo>
                  <a:lnTo>
                    <a:pt x="1236091" y="1601851"/>
                  </a:lnTo>
                  <a:lnTo>
                    <a:pt x="1219200" y="1601851"/>
                  </a:lnTo>
                  <a:lnTo>
                    <a:pt x="1219200" y="16891"/>
                  </a:lnTo>
                  <a:lnTo>
                    <a:pt x="1236091" y="16891"/>
                  </a:lnTo>
                  <a:lnTo>
                    <a:pt x="1236091" y="33909"/>
                  </a:lnTo>
                  <a:lnTo>
                    <a:pt x="16891" y="33909"/>
                  </a:lnTo>
                  <a:close/>
                </a:path>
              </a:pathLst>
            </a:custGeom>
            <a:solidFill>
              <a:srgbClr val="0D1B3E"/>
            </a:solidFill>
          </p:spPr>
        </p:sp>
      </p:grpSp>
      <p:grpSp>
        <p:nvGrpSpPr>
          <p:cNvPr name="Group 49" id="49"/>
          <p:cNvGrpSpPr/>
          <p:nvPr/>
        </p:nvGrpSpPr>
        <p:grpSpPr>
          <a:xfrm rot="0">
            <a:off x="731520" y="5413248"/>
            <a:ext cx="914400" cy="1188720"/>
            <a:chOff x="0" y="0"/>
            <a:chExt cx="1219200" cy="1584960"/>
          </a:xfrm>
        </p:grpSpPr>
        <p:sp>
          <p:nvSpPr>
            <p:cNvPr name="Freeform 50" id="50"/>
            <p:cNvSpPr/>
            <p:nvPr/>
          </p:nvSpPr>
          <p:spPr>
            <a:xfrm flipH="false" flipV="false" rot="0">
              <a:off x="0" y="0"/>
              <a:ext cx="1219200" cy="1584960"/>
            </a:xfrm>
            <a:custGeom>
              <a:avLst/>
              <a:gdLst/>
              <a:ahLst/>
              <a:cxnLst/>
              <a:rect r="r" b="b" t="t" l="l"/>
              <a:pathLst>
                <a:path h="1584960" w="1219200">
                  <a:moveTo>
                    <a:pt x="0" y="0"/>
                  </a:moveTo>
                  <a:lnTo>
                    <a:pt x="1219200" y="0"/>
                  </a:lnTo>
                  <a:lnTo>
                    <a:pt x="1219200" y="1584960"/>
                  </a:lnTo>
                  <a:lnTo>
                    <a:pt x="0" y="1584960"/>
                  </a:lnTo>
                  <a:close/>
                </a:path>
              </a:pathLst>
            </a:custGeom>
            <a:blipFill>
              <a:blip r:embed="rId3">
                <a:alphaModFix amt="0"/>
              </a:blip>
              <a:stretch>
                <a:fillRect l="-116794" t="0" r="-116794" b="0"/>
              </a:stretch>
            </a:blipFill>
          </p:spPr>
        </p:sp>
        <p:sp>
          <p:nvSpPr>
            <p:cNvPr name="TextBox 51" id="51"/>
            <p:cNvSpPr txBox="true"/>
            <p:nvPr/>
          </p:nvSpPr>
          <p:spPr>
            <a:xfrm>
              <a:off x="0" y="-57150"/>
              <a:ext cx="1219200" cy="1642110"/>
            </a:xfrm>
            <a:prstGeom prst="rect">
              <a:avLst/>
            </a:prstGeom>
          </p:spPr>
          <p:txBody>
            <a:bodyPr anchor="ctr" rtlCol="false" tIns="0" lIns="0" bIns="0" rIns="0"/>
            <a:lstStyle/>
            <a:p>
              <a:pPr algn="ctr">
                <a:lnSpc>
                  <a:spcPts val="3120"/>
                </a:lnSpc>
              </a:pPr>
              <a:r>
                <a:rPr lang="en-US" sz="2600" b="true">
                  <a:solidFill>
                    <a:srgbClr val="FFFFFF"/>
                  </a:solidFill>
                  <a:latin typeface="Calibri (MS) Bold"/>
                  <a:ea typeface="Calibri (MS) Bold"/>
                  <a:cs typeface="Calibri (MS) Bold"/>
                  <a:sym typeface="Calibri (MS) Bold"/>
                </a:rPr>
                <a:t>03</a:t>
              </a:r>
            </a:p>
          </p:txBody>
        </p:sp>
      </p:grpSp>
      <p:grpSp>
        <p:nvGrpSpPr>
          <p:cNvPr name="Group 52" id="52"/>
          <p:cNvGrpSpPr/>
          <p:nvPr/>
        </p:nvGrpSpPr>
        <p:grpSpPr>
          <a:xfrm rot="0">
            <a:off x="1828800" y="5486400"/>
            <a:ext cx="6949440" cy="512064"/>
            <a:chOff x="0" y="0"/>
            <a:chExt cx="9265920" cy="682752"/>
          </a:xfrm>
        </p:grpSpPr>
        <p:sp>
          <p:nvSpPr>
            <p:cNvPr name="Freeform 53" id="53"/>
            <p:cNvSpPr/>
            <p:nvPr/>
          </p:nvSpPr>
          <p:spPr>
            <a:xfrm flipH="false" flipV="false" rot="0">
              <a:off x="0" y="0"/>
              <a:ext cx="9265920" cy="682752"/>
            </a:xfrm>
            <a:custGeom>
              <a:avLst/>
              <a:gdLst/>
              <a:ahLst/>
              <a:cxnLst/>
              <a:rect r="r" b="b" t="t" l="l"/>
              <a:pathLst>
                <a:path h="682752" w="9265920">
                  <a:moveTo>
                    <a:pt x="0" y="0"/>
                  </a:moveTo>
                  <a:lnTo>
                    <a:pt x="9265920" y="0"/>
                  </a:lnTo>
                  <a:lnTo>
                    <a:pt x="9265920" y="682752"/>
                  </a:lnTo>
                  <a:lnTo>
                    <a:pt x="0" y="682752"/>
                  </a:lnTo>
                  <a:close/>
                </a:path>
              </a:pathLst>
            </a:custGeom>
            <a:blipFill>
              <a:blip r:embed="rId3">
                <a:alphaModFix amt="0"/>
              </a:blip>
              <a:stretch>
                <a:fillRect l="0" t="-214439" r="0" b="-214439"/>
              </a:stretch>
            </a:blipFill>
          </p:spPr>
        </p:sp>
        <p:sp>
          <p:nvSpPr>
            <p:cNvPr name="TextBox 54" id="54"/>
            <p:cNvSpPr txBox="true"/>
            <p:nvPr/>
          </p:nvSpPr>
          <p:spPr>
            <a:xfrm>
              <a:off x="0" y="-38100"/>
              <a:ext cx="9265920" cy="720852"/>
            </a:xfrm>
            <a:prstGeom prst="rect">
              <a:avLst/>
            </a:prstGeom>
          </p:spPr>
          <p:txBody>
            <a:bodyPr anchor="ctr" rtlCol="false" tIns="0" lIns="0" bIns="0" rIns="0"/>
            <a:lstStyle/>
            <a:p>
              <a:pPr algn="l">
                <a:lnSpc>
                  <a:spcPts val="2879"/>
                </a:lnSpc>
              </a:pPr>
              <a:r>
                <a:rPr lang="en-US" sz="2400" b="true">
                  <a:solidFill>
                    <a:srgbClr val="1E293B"/>
                  </a:solidFill>
                  <a:latin typeface="Calibri (MS) Bold"/>
                  <a:ea typeface="Calibri (MS) Bold"/>
                  <a:cs typeface="Calibri (MS) Bold"/>
                  <a:sym typeface="Calibri (MS) Bold"/>
                </a:rPr>
                <a:t>TSFE Architecture</a:t>
              </a:r>
            </a:p>
          </p:txBody>
        </p:sp>
      </p:grpSp>
      <p:grpSp>
        <p:nvGrpSpPr>
          <p:cNvPr name="Group 55" id="55"/>
          <p:cNvGrpSpPr/>
          <p:nvPr/>
        </p:nvGrpSpPr>
        <p:grpSpPr>
          <a:xfrm rot="0">
            <a:off x="1828800" y="6016752"/>
            <a:ext cx="6949440" cy="512064"/>
            <a:chOff x="0" y="0"/>
            <a:chExt cx="9265920" cy="682752"/>
          </a:xfrm>
        </p:grpSpPr>
        <p:sp>
          <p:nvSpPr>
            <p:cNvPr name="Freeform 56" id="56"/>
            <p:cNvSpPr/>
            <p:nvPr/>
          </p:nvSpPr>
          <p:spPr>
            <a:xfrm flipH="false" flipV="false" rot="0">
              <a:off x="0" y="0"/>
              <a:ext cx="9265920" cy="682752"/>
            </a:xfrm>
            <a:custGeom>
              <a:avLst/>
              <a:gdLst/>
              <a:ahLst/>
              <a:cxnLst/>
              <a:rect r="r" b="b" t="t" l="l"/>
              <a:pathLst>
                <a:path h="682752" w="9265920">
                  <a:moveTo>
                    <a:pt x="0" y="0"/>
                  </a:moveTo>
                  <a:lnTo>
                    <a:pt x="9265920" y="0"/>
                  </a:lnTo>
                  <a:lnTo>
                    <a:pt x="9265920" y="682752"/>
                  </a:lnTo>
                  <a:lnTo>
                    <a:pt x="0" y="682752"/>
                  </a:lnTo>
                  <a:close/>
                </a:path>
              </a:pathLst>
            </a:custGeom>
            <a:blipFill>
              <a:blip r:embed="rId3">
                <a:alphaModFix amt="0"/>
              </a:blip>
              <a:stretch>
                <a:fillRect l="0" t="-214439" r="0" b="-214439"/>
              </a:stretch>
            </a:blipFill>
          </p:spPr>
        </p:sp>
        <p:sp>
          <p:nvSpPr>
            <p:cNvPr name="TextBox 57" id="57"/>
            <p:cNvSpPr txBox="true"/>
            <p:nvPr/>
          </p:nvSpPr>
          <p:spPr>
            <a:xfrm>
              <a:off x="0" y="-38100"/>
              <a:ext cx="9265920" cy="720852"/>
            </a:xfrm>
            <a:prstGeom prst="rect">
              <a:avLst/>
            </a:prstGeom>
          </p:spPr>
          <p:txBody>
            <a:bodyPr anchor="ctr" rtlCol="false" tIns="0" lIns="0" bIns="0" rIns="0"/>
            <a:lstStyle/>
            <a:p>
              <a:pPr algn="l">
                <a:lnSpc>
                  <a:spcPts val="2160"/>
                </a:lnSpc>
              </a:pPr>
              <a:r>
                <a:rPr lang="en-US" sz="1800">
                  <a:solidFill>
                    <a:srgbClr val="94A3B8"/>
                  </a:solidFill>
                  <a:latin typeface="Calibri (MS)"/>
                  <a:ea typeface="Calibri (MS)"/>
                  <a:cs typeface="Calibri (MS)"/>
                  <a:sym typeface="Calibri (MS)"/>
                </a:rPr>
                <a:t>Full pipeline: AMFF → LFSE → FID</a:t>
              </a:r>
            </a:p>
          </p:txBody>
        </p:sp>
      </p:grpSp>
      <p:grpSp>
        <p:nvGrpSpPr>
          <p:cNvPr name="Group 58" id="58"/>
          <p:cNvGrpSpPr/>
          <p:nvPr/>
        </p:nvGrpSpPr>
        <p:grpSpPr>
          <a:xfrm rot="0">
            <a:off x="725167" y="6833359"/>
            <a:ext cx="8242297" cy="1201417"/>
            <a:chOff x="0" y="0"/>
            <a:chExt cx="10989729" cy="1601889"/>
          </a:xfrm>
        </p:grpSpPr>
        <p:sp>
          <p:nvSpPr>
            <p:cNvPr name="Freeform 59" id="59"/>
            <p:cNvSpPr/>
            <p:nvPr/>
          </p:nvSpPr>
          <p:spPr>
            <a:xfrm flipH="false" flipV="false" rot="0">
              <a:off x="8509" y="8509"/>
              <a:ext cx="10972800" cy="1584960"/>
            </a:xfrm>
            <a:custGeom>
              <a:avLst/>
              <a:gdLst/>
              <a:ahLst/>
              <a:cxnLst/>
              <a:rect r="r" b="b" t="t" l="l"/>
              <a:pathLst>
                <a:path h="1584960" w="10972800">
                  <a:moveTo>
                    <a:pt x="0" y="0"/>
                  </a:moveTo>
                  <a:lnTo>
                    <a:pt x="10972800" y="0"/>
                  </a:lnTo>
                  <a:lnTo>
                    <a:pt x="10972800" y="1584960"/>
                  </a:lnTo>
                  <a:lnTo>
                    <a:pt x="0" y="1584960"/>
                  </a:lnTo>
                  <a:close/>
                </a:path>
              </a:pathLst>
            </a:custGeom>
            <a:solidFill>
              <a:srgbClr val="FFFFFF"/>
            </a:solidFill>
          </p:spPr>
        </p:sp>
        <p:sp>
          <p:nvSpPr>
            <p:cNvPr name="Freeform 60" id="60"/>
            <p:cNvSpPr/>
            <p:nvPr/>
          </p:nvSpPr>
          <p:spPr>
            <a:xfrm flipH="false" flipV="false" rot="0">
              <a:off x="0" y="0"/>
              <a:ext cx="10989818" cy="1601978"/>
            </a:xfrm>
            <a:custGeom>
              <a:avLst/>
              <a:gdLst/>
              <a:ahLst/>
              <a:cxnLst/>
              <a:rect r="r" b="b" t="t" l="l"/>
              <a:pathLst>
                <a:path h="1601978" w="10989818">
                  <a:moveTo>
                    <a:pt x="8509" y="0"/>
                  </a:moveTo>
                  <a:lnTo>
                    <a:pt x="10981309" y="0"/>
                  </a:lnTo>
                  <a:cubicBezTo>
                    <a:pt x="10986008" y="0"/>
                    <a:pt x="10989818" y="3810"/>
                    <a:pt x="10989818" y="8509"/>
                  </a:cubicBezTo>
                  <a:lnTo>
                    <a:pt x="10989818" y="1593469"/>
                  </a:lnTo>
                  <a:cubicBezTo>
                    <a:pt x="10989818" y="1598168"/>
                    <a:pt x="10986008" y="1601978"/>
                    <a:pt x="10981309" y="1601978"/>
                  </a:cubicBezTo>
                  <a:lnTo>
                    <a:pt x="8509" y="1601978"/>
                  </a:lnTo>
                  <a:cubicBezTo>
                    <a:pt x="3810" y="1601978"/>
                    <a:pt x="0" y="1598168"/>
                    <a:pt x="0" y="1593469"/>
                  </a:cubicBezTo>
                  <a:lnTo>
                    <a:pt x="0" y="8509"/>
                  </a:lnTo>
                  <a:cubicBezTo>
                    <a:pt x="0" y="3810"/>
                    <a:pt x="3810" y="0"/>
                    <a:pt x="8509" y="0"/>
                  </a:cubicBezTo>
                  <a:moveTo>
                    <a:pt x="8509" y="16891"/>
                  </a:moveTo>
                  <a:lnTo>
                    <a:pt x="8509" y="8509"/>
                  </a:lnTo>
                  <a:lnTo>
                    <a:pt x="17018" y="8509"/>
                  </a:lnTo>
                  <a:lnTo>
                    <a:pt x="17018" y="1593469"/>
                  </a:lnTo>
                  <a:lnTo>
                    <a:pt x="8509" y="1593469"/>
                  </a:lnTo>
                  <a:lnTo>
                    <a:pt x="8509" y="1584960"/>
                  </a:lnTo>
                  <a:lnTo>
                    <a:pt x="10981309" y="1584960"/>
                  </a:lnTo>
                  <a:lnTo>
                    <a:pt x="10981309" y="1593469"/>
                  </a:lnTo>
                  <a:lnTo>
                    <a:pt x="10972800" y="1593469"/>
                  </a:lnTo>
                  <a:lnTo>
                    <a:pt x="10972800" y="8509"/>
                  </a:lnTo>
                  <a:lnTo>
                    <a:pt x="10981309" y="8509"/>
                  </a:lnTo>
                  <a:lnTo>
                    <a:pt x="10981309" y="17018"/>
                  </a:lnTo>
                  <a:lnTo>
                    <a:pt x="8509" y="17018"/>
                  </a:lnTo>
                  <a:close/>
                </a:path>
              </a:pathLst>
            </a:custGeom>
            <a:solidFill>
              <a:srgbClr val="E2E8F0"/>
            </a:solidFill>
          </p:spPr>
        </p:sp>
      </p:grpSp>
      <p:grpSp>
        <p:nvGrpSpPr>
          <p:cNvPr name="Group 61" id="61"/>
          <p:cNvGrpSpPr/>
          <p:nvPr/>
        </p:nvGrpSpPr>
        <p:grpSpPr>
          <a:xfrm rot="0">
            <a:off x="718823" y="6827015"/>
            <a:ext cx="939803" cy="1214123"/>
            <a:chOff x="0" y="0"/>
            <a:chExt cx="1253071" cy="1618831"/>
          </a:xfrm>
        </p:grpSpPr>
        <p:sp>
          <p:nvSpPr>
            <p:cNvPr name="Freeform 62" id="62"/>
            <p:cNvSpPr/>
            <p:nvPr/>
          </p:nvSpPr>
          <p:spPr>
            <a:xfrm flipH="false" flipV="false" rot="0">
              <a:off x="16891" y="16891"/>
              <a:ext cx="1219200" cy="1584960"/>
            </a:xfrm>
            <a:custGeom>
              <a:avLst/>
              <a:gdLst/>
              <a:ahLst/>
              <a:cxnLst/>
              <a:rect r="r" b="b" t="t" l="l"/>
              <a:pathLst>
                <a:path h="1584960" w="1219200">
                  <a:moveTo>
                    <a:pt x="0" y="0"/>
                  </a:moveTo>
                  <a:lnTo>
                    <a:pt x="1219200" y="0"/>
                  </a:lnTo>
                  <a:lnTo>
                    <a:pt x="1219200" y="1584960"/>
                  </a:lnTo>
                  <a:lnTo>
                    <a:pt x="0" y="1584960"/>
                  </a:lnTo>
                  <a:close/>
                </a:path>
              </a:pathLst>
            </a:custGeom>
            <a:solidFill>
              <a:srgbClr val="0D9488"/>
            </a:solidFill>
          </p:spPr>
        </p:sp>
        <p:sp>
          <p:nvSpPr>
            <p:cNvPr name="Freeform 63" id="63"/>
            <p:cNvSpPr/>
            <p:nvPr/>
          </p:nvSpPr>
          <p:spPr>
            <a:xfrm flipH="false" flipV="false" rot="0">
              <a:off x="0" y="0"/>
              <a:ext cx="1252982" cy="1618742"/>
            </a:xfrm>
            <a:custGeom>
              <a:avLst/>
              <a:gdLst/>
              <a:ahLst/>
              <a:cxnLst/>
              <a:rect r="r" b="b" t="t" l="l"/>
              <a:pathLst>
                <a:path h="1618742" w="1252982">
                  <a:moveTo>
                    <a:pt x="16891" y="0"/>
                  </a:moveTo>
                  <a:lnTo>
                    <a:pt x="1236091" y="0"/>
                  </a:lnTo>
                  <a:cubicBezTo>
                    <a:pt x="1245489" y="0"/>
                    <a:pt x="1252982" y="7620"/>
                    <a:pt x="1252982" y="16891"/>
                  </a:cubicBezTo>
                  <a:lnTo>
                    <a:pt x="1252982" y="1601851"/>
                  </a:lnTo>
                  <a:cubicBezTo>
                    <a:pt x="1252982" y="1611249"/>
                    <a:pt x="1245362" y="1618742"/>
                    <a:pt x="1236091" y="1618742"/>
                  </a:cubicBezTo>
                  <a:lnTo>
                    <a:pt x="16891" y="1618742"/>
                  </a:lnTo>
                  <a:cubicBezTo>
                    <a:pt x="7493" y="1618742"/>
                    <a:pt x="0" y="1611122"/>
                    <a:pt x="0" y="1601851"/>
                  </a:cubicBezTo>
                  <a:lnTo>
                    <a:pt x="0" y="16891"/>
                  </a:lnTo>
                  <a:cubicBezTo>
                    <a:pt x="0" y="7620"/>
                    <a:pt x="7620" y="0"/>
                    <a:pt x="16891" y="0"/>
                  </a:cubicBezTo>
                  <a:moveTo>
                    <a:pt x="16891" y="33909"/>
                  </a:moveTo>
                  <a:lnTo>
                    <a:pt x="16891" y="16891"/>
                  </a:lnTo>
                  <a:lnTo>
                    <a:pt x="33909" y="16891"/>
                  </a:lnTo>
                  <a:lnTo>
                    <a:pt x="33909" y="1601851"/>
                  </a:lnTo>
                  <a:lnTo>
                    <a:pt x="16891" y="1601851"/>
                  </a:lnTo>
                  <a:lnTo>
                    <a:pt x="16891" y="1584960"/>
                  </a:lnTo>
                  <a:lnTo>
                    <a:pt x="1236091" y="1584960"/>
                  </a:lnTo>
                  <a:lnTo>
                    <a:pt x="1236091" y="1601851"/>
                  </a:lnTo>
                  <a:lnTo>
                    <a:pt x="1219200" y="1601851"/>
                  </a:lnTo>
                  <a:lnTo>
                    <a:pt x="1219200" y="16891"/>
                  </a:lnTo>
                  <a:lnTo>
                    <a:pt x="1236091" y="16891"/>
                  </a:lnTo>
                  <a:lnTo>
                    <a:pt x="1236091" y="33909"/>
                  </a:lnTo>
                  <a:lnTo>
                    <a:pt x="16891" y="33909"/>
                  </a:lnTo>
                  <a:close/>
                </a:path>
              </a:pathLst>
            </a:custGeom>
            <a:solidFill>
              <a:srgbClr val="0D9488"/>
            </a:solidFill>
          </p:spPr>
        </p:sp>
      </p:grpSp>
      <p:grpSp>
        <p:nvGrpSpPr>
          <p:cNvPr name="Group 64" id="64"/>
          <p:cNvGrpSpPr/>
          <p:nvPr/>
        </p:nvGrpSpPr>
        <p:grpSpPr>
          <a:xfrm rot="0">
            <a:off x="731520" y="6839712"/>
            <a:ext cx="914400" cy="1188720"/>
            <a:chOff x="0" y="0"/>
            <a:chExt cx="1219200" cy="1584960"/>
          </a:xfrm>
        </p:grpSpPr>
        <p:sp>
          <p:nvSpPr>
            <p:cNvPr name="Freeform 65" id="65"/>
            <p:cNvSpPr/>
            <p:nvPr/>
          </p:nvSpPr>
          <p:spPr>
            <a:xfrm flipH="false" flipV="false" rot="0">
              <a:off x="0" y="0"/>
              <a:ext cx="1219200" cy="1584960"/>
            </a:xfrm>
            <a:custGeom>
              <a:avLst/>
              <a:gdLst/>
              <a:ahLst/>
              <a:cxnLst/>
              <a:rect r="r" b="b" t="t" l="l"/>
              <a:pathLst>
                <a:path h="1584960" w="1219200">
                  <a:moveTo>
                    <a:pt x="0" y="0"/>
                  </a:moveTo>
                  <a:lnTo>
                    <a:pt x="1219200" y="0"/>
                  </a:lnTo>
                  <a:lnTo>
                    <a:pt x="1219200" y="1584960"/>
                  </a:lnTo>
                  <a:lnTo>
                    <a:pt x="0" y="1584960"/>
                  </a:lnTo>
                  <a:close/>
                </a:path>
              </a:pathLst>
            </a:custGeom>
            <a:blipFill>
              <a:blip r:embed="rId3">
                <a:alphaModFix amt="0"/>
              </a:blip>
              <a:stretch>
                <a:fillRect l="-116794" t="0" r="-116794" b="0"/>
              </a:stretch>
            </a:blipFill>
          </p:spPr>
        </p:sp>
        <p:sp>
          <p:nvSpPr>
            <p:cNvPr name="TextBox 66" id="66"/>
            <p:cNvSpPr txBox="true"/>
            <p:nvPr/>
          </p:nvSpPr>
          <p:spPr>
            <a:xfrm>
              <a:off x="0" y="-57150"/>
              <a:ext cx="1219200" cy="1642110"/>
            </a:xfrm>
            <a:prstGeom prst="rect">
              <a:avLst/>
            </a:prstGeom>
          </p:spPr>
          <p:txBody>
            <a:bodyPr anchor="ctr" rtlCol="false" tIns="0" lIns="0" bIns="0" rIns="0"/>
            <a:lstStyle/>
            <a:p>
              <a:pPr algn="ctr">
                <a:lnSpc>
                  <a:spcPts val="3120"/>
                </a:lnSpc>
              </a:pPr>
              <a:r>
                <a:rPr lang="en-US" sz="2600" b="true">
                  <a:solidFill>
                    <a:srgbClr val="FFFFFF"/>
                  </a:solidFill>
                  <a:latin typeface="Calibri (MS) Bold"/>
                  <a:ea typeface="Calibri (MS) Bold"/>
                  <a:cs typeface="Calibri (MS) Bold"/>
                  <a:sym typeface="Calibri (MS) Bold"/>
                </a:rPr>
                <a:t>04</a:t>
              </a:r>
            </a:p>
          </p:txBody>
        </p:sp>
      </p:grpSp>
      <p:grpSp>
        <p:nvGrpSpPr>
          <p:cNvPr name="Group 67" id="67"/>
          <p:cNvGrpSpPr/>
          <p:nvPr/>
        </p:nvGrpSpPr>
        <p:grpSpPr>
          <a:xfrm rot="0">
            <a:off x="1828800" y="6912864"/>
            <a:ext cx="6949440" cy="512064"/>
            <a:chOff x="0" y="0"/>
            <a:chExt cx="9265920" cy="682752"/>
          </a:xfrm>
        </p:grpSpPr>
        <p:sp>
          <p:nvSpPr>
            <p:cNvPr name="Freeform 68" id="68"/>
            <p:cNvSpPr/>
            <p:nvPr/>
          </p:nvSpPr>
          <p:spPr>
            <a:xfrm flipH="false" flipV="false" rot="0">
              <a:off x="0" y="0"/>
              <a:ext cx="9265920" cy="682752"/>
            </a:xfrm>
            <a:custGeom>
              <a:avLst/>
              <a:gdLst/>
              <a:ahLst/>
              <a:cxnLst/>
              <a:rect r="r" b="b" t="t" l="l"/>
              <a:pathLst>
                <a:path h="682752" w="9265920">
                  <a:moveTo>
                    <a:pt x="0" y="0"/>
                  </a:moveTo>
                  <a:lnTo>
                    <a:pt x="9265920" y="0"/>
                  </a:lnTo>
                  <a:lnTo>
                    <a:pt x="9265920" y="682752"/>
                  </a:lnTo>
                  <a:lnTo>
                    <a:pt x="0" y="682752"/>
                  </a:lnTo>
                  <a:close/>
                </a:path>
              </a:pathLst>
            </a:custGeom>
            <a:blipFill>
              <a:blip r:embed="rId3">
                <a:alphaModFix amt="0"/>
              </a:blip>
              <a:stretch>
                <a:fillRect l="0" t="-214439" r="0" b="-214439"/>
              </a:stretch>
            </a:blipFill>
          </p:spPr>
        </p:sp>
        <p:sp>
          <p:nvSpPr>
            <p:cNvPr name="TextBox 69" id="69"/>
            <p:cNvSpPr txBox="true"/>
            <p:nvPr/>
          </p:nvSpPr>
          <p:spPr>
            <a:xfrm>
              <a:off x="0" y="-38100"/>
              <a:ext cx="9265920" cy="720852"/>
            </a:xfrm>
            <a:prstGeom prst="rect">
              <a:avLst/>
            </a:prstGeom>
          </p:spPr>
          <p:txBody>
            <a:bodyPr anchor="ctr" rtlCol="false" tIns="0" lIns="0" bIns="0" rIns="0"/>
            <a:lstStyle/>
            <a:p>
              <a:pPr algn="l">
                <a:lnSpc>
                  <a:spcPts val="2879"/>
                </a:lnSpc>
              </a:pPr>
              <a:r>
                <a:rPr lang="en-US" sz="2400" b="true">
                  <a:solidFill>
                    <a:srgbClr val="1E293B"/>
                  </a:solidFill>
                  <a:latin typeface="Calibri (MS) Bold"/>
                  <a:ea typeface="Calibri (MS) Bold"/>
                  <a:cs typeface="Calibri (MS) Bold"/>
                  <a:sym typeface="Calibri (MS) Bold"/>
                </a:rPr>
                <a:t>Stage 1 · AMFF</a:t>
              </a:r>
            </a:p>
          </p:txBody>
        </p:sp>
      </p:grpSp>
      <p:grpSp>
        <p:nvGrpSpPr>
          <p:cNvPr name="Group 70" id="70"/>
          <p:cNvGrpSpPr/>
          <p:nvPr/>
        </p:nvGrpSpPr>
        <p:grpSpPr>
          <a:xfrm rot="0">
            <a:off x="1828800" y="7443216"/>
            <a:ext cx="6949440" cy="512064"/>
            <a:chOff x="0" y="0"/>
            <a:chExt cx="9265920" cy="682752"/>
          </a:xfrm>
        </p:grpSpPr>
        <p:sp>
          <p:nvSpPr>
            <p:cNvPr name="Freeform 71" id="71"/>
            <p:cNvSpPr/>
            <p:nvPr/>
          </p:nvSpPr>
          <p:spPr>
            <a:xfrm flipH="false" flipV="false" rot="0">
              <a:off x="0" y="0"/>
              <a:ext cx="9265920" cy="682752"/>
            </a:xfrm>
            <a:custGeom>
              <a:avLst/>
              <a:gdLst/>
              <a:ahLst/>
              <a:cxnLst/>
              <a:rect r="r" b="b" t="t" l="l"/>
              <a:pathLst>
                <a:path h="682752" w="9265920">
                  <a:moveTo>
                    <a:pt x="0" y="0"/>
                  </a:moveTo>
                  <a:lnTo>
                    <a:pt x="9265920" y="0"/>
                  </a:lnTo>
                  <a:lnTo>
                    <a:pt x="9265920" y="682752"/>
                  </a:lnTo>
                  <a:lnTo>
                    <a:pt x="0" y="682752"/>
                  </a:lnTo>
                  <a:close/>
                </a:path>
              </a:pathLst>
            </a:custGeom>
            <a:blipFill>
              <a:blip r:embed="rId3">
                <a:alphaModFix amt="0"/>
              </a:blip>
              <a:stretch>
                <a:fillRect l="0" t="-214439" r="0" b="-214439"/>
              </a:stretch>
            </a:blipFill>
          </p:spPr>
        </p:sp>
        <p:sp>
          <p:nvSpPr>
            <p:cNvPr name="TextBox 72" id="72"/>
            <p:cNvSpPr txBox="true"/>
            <p:nvPr/>
          </p:nvSpPr>
          <p:spPr>
            <a:xfrm>
              <a:off x="0" y="-38100"/>
              <a:ext cx="9265920" cy="720852"/>
            </a:xfrm>
            <a:prstGeom prst="rect">
              <a:avLst/>
            </a:prstGeom>
          </p:spPr>
          <p:txBody>
            <a:bodyPr anchor="ctr" rtlCol="false" tIns="0" lIns="0" bIns="0" rIns="0"/>
            <a:lstStyle/>
            <a:p>
              <a:pPr algn="l">
                <a:lnSpc>
                  <a:spcPts val="2160"/>
                </a:lnSpc>
              </a:pPr>
              <a:r>
                <a:rPr lang="en-US" sz="1800">
                  <a:solidFill>
                    <a:srgbClr val="94A3B8"/>
                  </a:solidFill>
                  <a:latin typeface="Calibri (MS)"/>
                  <a:ea typeface="Calibri (MS)"/>
                  <a:cs typeface="Calibri (MS)"/>
                  <a:sym typeface="Calibri (MS)"/>
                </a:rPr>
                <a:t>Adaptive multi-scale feature fusion using Swin Transformer + SENet</a:t>
              </a:r>
            </a:p>
          </p:txBody>
        </p:sp>
      </p:grpSp>
      <p:grpSp>
        <p:nvGrpSpPr>
          <p:cNvPr name="Group 73" id="73"/>
          <p:cNvGrpSpPr/>
          <p:nvPr/>
        </p:nvGrpSpPr>
        <p:grpSpPr>
          <a:xfrm rot="0">
            <a:off x="725167" y="8259823"/>
            <a:ext cx="8242297" cy="1201417"/>
            <a:chOff x="0" y="0"/>
            <a:chExt cx="10989729" cy="1601889"/>
          </a:xfrm>
        </p:grpSpPr>
        <p:sp>
          <p:nvSpPr>
            <p:cNvPr name="Freeform 74" id="74"/>
            <p:cNvSpPr/>
            <p:nvPr/>
          </p:nvSpPr>
          <p:spPr>
            <a:xfrm flipH="false" flipV="false" rot="0">
              <a:off x="8509" y="8509"/>
              <a:ext cx="10972800" cy="1584960"/>
            </a:xfrm>
            <a:custGeom>
              <a:avLst/>
              <a:gdLst/>
              <a:ahLst/>
              <a:cxnLst/>
              <a:rect r="r" b="b" t="t" l="l"/>
              <a:pathLst>
                <a:path h="1584960" w="10972800">
                  <a:moveTo>
                    <a:pt x="0" y="0"/>
                  </a:moveTo>
                  <a:lnTo>
                    <a:pt x="10972800" y="0"/>
                  </a:lnTo>
                  <a:lnTo>
                    <a:pt x="10972800" y="1584960"/>
                  </a:lnTo>
                  <a:lnTo>
                    <a:pt x="0" y="1584960"/>
                  </a:lnTo>
                  <a:close/>
                </a:path>
              </a:pathLst>
            </a:custGeom>
            <a:solidFill>
              <a:srgbClr val="FFFFFF"/>
            </a:solidFill>
          </p:spPr>
        </p:sp>
        <p:sp>
          <p:nvSpPr>
            <p:cNvPr name="Freeform 75" id="75"/>
            <p:cNvSpPr/>
            <p:nvPr/>
          </p:nvSpPr>
          <p:spPr>
            <a:xfrm flipH="false" flipV="false" rot="0">
              <a:off x="0" y="0"/>
              <a:ext cx="10989818" cy="1601978"/>
            </a:xfrm>
            <a:custGeom>
              <a:avLst/>
              <a:gdLst/>
              <a:ahLst/>
              <a:cxnLst/>
              <a:rect r="r" b="b" t="t" l="l"/>
              <a:pathLst>
                <a:path h="1601978" w="10989818">
                  <a:moveTo>
                    <a:pt x="8509" y="0"/>
                  </a:moveTo>
                  <a:lnTo>
                    <a:pt x="10981309" y="0"/>
                  </a:lnTo>
                  <a:cubicBezTo>
                    <a:pt x="10986008" y="0"/>
                    <a:pt x="10989818" y="3810"/>
                    <a:pt x="10989818" y="8509"/>
                  </a:cubicBezTo>
                  <a:lnTo>
                    <a:pt x="10989818" y="1593469"/>
                  </a:lnTo>
                  <a:cubicBezTo>
                    <a:pt x="10989818" y="1598168"/>
                    <a:pt x="10986008" y="1601978"/>
                    <a:pt x="10981309" y="1601978"/>
                  </a:cubicBezTo>
                  <a:lnTo>
                    <a:pt x="8509" y="1601978"/>
                  </a:lnTo>
                  <a:cubicBezTo>
                    <a:pt x="3810" y="1601978"/>
                    <a:pt x="0" y="1598168"/>
                    <a:pt x="0" y="1593469"/>
                  </a:cubicBezTo>
                  <a:lnTo>
                    <a:pt x="0" y="8509"/>
                  </a:lnTo>
                  <a:cubicBezTo>
                    <a:pt x="0" y="3810"/>
                    <a:pt x="3810" y="0"/>
                    <a:pt x="8509" y="0"/>
                  </a:cubicBezTo>
                  <a:moveTo>
                    <a:pt x="8509" y="16891"/>
                  </a:moveTo>
                  <a:lnTo>
                    <a:pt x="8509" y="8509"/>
                  </a:lnTo>
                  <a:lnTo>
                    <a:pt x="17018" y="8509"/>
                  </a:lnTo>
                  <a:lnTo>
                    <a:pt x="17018" y="1593469"/>
                  </a:lnTo>
                  <a:lnTo>
                    <a:pt x="8509" y="1593469"/>
                  </a:lnTo>
                  <a:lnTo>
                    <a:pt x="8509" y="1584960"/>
                  </a:lnTo>
                  <a:lnTo>
                    <a:pt x="10981309" y="1584960"/>
                  </a:lnTo>
                  <a:lnTo>
                    <a:pt x="10981309" y="1593469"/>
                  </a:lnTo>
                  <a:lnTo>
                    <a:pt x="10972800" y="1593469"/>
                  </a:lnTo>
                  <a:lnTo>
                    <a:pt x="10972800" y="8509"/>
                  </a:lnTo>
                  <a:lnTo>
                    <a:pt x="10981309" y="8509"/>
                  </a:lnTo>
                  <a:lnTo>
                    <a:pt x="10981309" y="17018"/>
                  </a:lnTo>
                  <a:lnTo>
                    <a:pt x="8509" y="17018"/>
                  </a:lnTo>
                  <a:close/>
                </a:path>
              </a:pathLst>
            </a:custGeom>
            <a:solidFill>
              <a:srgbClr val="E2E8F0"/>
            </a:solidFill>
          </p:spPr>
        </p:sp>
      </p:grpSp>
      <p:grpSp>
        <p:nvGrpSpPr>
          <p:cNvPr name="Group 76" id="76"/>
          <p:cNvGrpSpPr/>
          <p:nvPr/>
        </p:nvGrpSpPr>
        <p:grpSpPr>
          <a:xfrm rot="0">
            <a:off x="718823" y="8253479"/>
            <a:ext cx="939803" cy="1214123"/>
            <a:chOff x="0" y="0"/>
            <a:chExt cx="1253071" cy="1618831"/>
          </a:xfrm>
        </p:grpSpPr>
        <p:sp>
          <p:nvSpPr>
            <p:cNvPr name="Freeform 77" id="77"/>
            <p:cNvSpPr/>
            <p:nvPr/>
          </p:nvSpPr>
          <p:spPr>
            <a:xfrm flipH="false" flipV="false" rot="0">
              <a:off x="16891" y="16891"/>
              <a:ext cx="1219200" cy="1584960"/>
            </a:xfrm>
            <a:custGeom>
              <a:avLst/>
              <a:gdLst/>
              <a:ahLst/>
              <a:cxnLst/>
              <a:rect r="r" b="b" t="t" l="l"/>
              <a:pathLst>
                <a:path h="1584960" w="1219200">
                  <a:moveTo>
                    <a:pt x="0" y="0"/>
                  </a:moveTo>
                  <a:lnTo>
                    <a:pt x="1219200" y="0"/>
                  </a:lnTo>
                  <a:lnTo>
                    <a:pt x="1219200" y="1584960"/>
                  </a:lnTo>
                  <a:lnTo>
                    <a:pt x="0" y="1584960"/>
                  </a:lnTo>
                  <a:close/>
                </a:path>
              </a:pathLst>
            </a:custGeom>
            <a:solidFill>
              <a:srgbClr val="6D28D9"/>
            </a:solidFill>
          </p:spPr>
        </p:sp>
        <p:sp>
          <p:nvSpPr>
            <p:cNvPr name="Freeform 78" id="78"/>
            <p:cNvSpPr/>
            <p:nvPr/>
          </p:nvSpPr>
          <p:spPr>
            <a:xfrm flipH="false" flipV="false" rot="0">
              <a:off x="0" y="0"/>
              <a:ext cx="1252982" cy="1618742"/>
            </a:xfrm>
            <a:custGeom>
              <a:avLst/>
              <a:gdLst/>
              <a:ahLst/>
              <a:cxnLst/>
              <a:rect r="r" b="b" t="t" l="l"/>
              <a:pathLst>
                <a:path h="1618742" w="1252982">
                  <a:moveTo>
                    <a:pt x="16891" y="0"/>
                  </a:moveTo>
                  <a:lnTo>
                    <a:pt x="1236091" y="0"/>
                  </a:lnTo>
                  <a:cubicBezTo>
                    <a:pt x="1245489" y="0"/>
                    <a:pt x="1252982" y="7620"/>
                    <a:pt x="1252982" y="16891"/>
                  </a:cubicBezTo>
                  <a:lnTo>
                    <a:pt x="1252982" y="1601851"/>
                  </a:lnTo>
                  <a:cubicBezTo>
                    <a:pt x="1252982" y="1611249"/>
                    <a:pt x="1245362" y="1618742"/>
                    <a:pt x="1236091" y="1618742"/>
                  </a:cubicBezTo>
                  <a:lnTo>
                    <a:pt x="16891" y="1618742"/>
                  </a:lnTo>
                  <a:cubicBezTo>
                    <a:pt x="7493" y="1618742"/>
                    <a:pt x="0" y="1611122"/>
                    <a:pt x="0" y="1601851"/>
                  </a:cubicBezTo>
                  <a:lnTo>
                    <a:pt x="0" y="16891"/>
                  </a:lnTo>
                  <a:cubicBezTo>
                    <a:pt x="0" y="7620"/>
                    <a:pt x="7620" y="0"/>
                    <a:pt x="16891" y="0"/>
                  </a:cubicBezTo>
                  <a:moveTo>
                    <a:pt x="16891" y="33909"/>
                  </a:moveTo>
                  <a:lnTo>
                    <a:pt x="16891" y="16891"/>
                  </a:lnTo>
                  <a:lnTo>
                    <a:pt x="33909" y="16891"/>
                  </a:lnTo>
                  <a:lnTo>
                    <a:pt x="33909" y="1601851"/>
                  </a:lnTo>
                  <a:lnTo>
                    <a:pt x="16891" y="1601851"/>
                  </a:lnTo>
                  <a:lnTo>
                    <a:pt x="16891" y="1584960"/>
                  </a:lnTo>
                  <a:lnTo>
                    <a:pt x="1236091" y="1584960"/>
                  </a:lnTo>
                  <a:lnTo>
                    <a:pt x="1236091" y="1601851"/>
                  </a:lnTo>
                  <a:lnTo>
                    <a:pt x="1219200" y="1601851"/>
                  </a:lnTo>
                  <a:lnTo>
                    <a:pt x="1219200" y="16891"/>
                  </a:lnTo>
                  <a:lnTo>
                    <a:pt x="1236091" y="16891"/>
                  </a:lnTo>
                  <a:lnTo>
                    <a:pt x="1236091" y="33909"/>
                  </a:lnTo>
                  <a:lnTo>
                    <a:pt x="16891" y="33909"/>
                  </a:lnTo>
                  <a:close/>
                </a:path>
              </a:pathLst>
            </a:custGeom>
            <a:solidFill>
              <a:srgbClr val="6D28D9"/>
            </a:solidFill>
          </p:spPr>
        </p:sp>
      </p:grpSp>
      <p:grpSp>
        <p:nvGrpSpPr>
          <p:cNvPr name="Group 79" id="79"/>
          <p:cNvGrpSpPr/>
          <p:nvPr/>
        </p:nvGrpSpPr>
        <p:grpSpPr>
          <a:xfrm rot="0">
            <a:off x="731520" y="8266176"/>
            <a:ext cx="914400" cy="1188720"/>
            <a:chOff x="0" y="0"/>
            <a:chExt cx="1219200" cy="1584960"/>
          </a:xfrm>
        </p:grpSpPr>
        <p:sp>
          <p:nvSpPr>
            <p:cNvPr name="Freeform 80" id="80"/>
            <p:cNvSpPr/>
            <p:nvPr/>
          </p:nvSpPr>
          <p:spPr>
            <a:xfrm flipH="false" flipV="false" rot="0">
              <a:off x="0" y="0"/>
              <a:ext cx="1219200" cy="1584960"/>
            </a:xfrm>
            <a:custGeom>
              <a:avLst/>
              <a:gdLst/>
              <a:ahLst/>
              <a:cxnLst/>
              <a:rect r="r" b="b" t="t" l="l"/>
              <a:pathLst>
                <a:path h="1584960" w="1219200">
                  <a:moveTo>
                    <a:pt x="0" y="0"/>
                  </a:moveTo>
                  <a:lnTo>
                    <a:pt x="1219200" y="0"/>
                  </a:lnTo>
                  <a:lnTo>
                    <a:pt x="1219200" y="1584960"/>
                  </a:lnTo>
                  <a:lnTo>
                    <a:pt x="0" y="1584960"/>
                  </a:lnTo>
                  <a:close/>
                </a:path>
              </a:pathLst>
            </a:custGeom>
            <a:blipFill>
              <a:blip r:embed="rId3">
                <a:alphaModFix amt="0"/>
              </a:blip>
              <a:stretch>
                <a:fillRect l="-116794" t="0" r="-116794" b="0"/>
              </a:stretch>
            </a:blipFill>
          </p:spPr>
        </p:sp>
        <p:sp>
          <p:nvSpPr>
            <p:cNvPr name="TextBox 81" id="81"/>
            <p:cNvSpPr txBox="true"/>
            <p:nvPr/>
          </p:nvSpPr>
          <p:spPr>
            <a:xfrm>
              <a:off x="0" y="-57150"/>
              <a:ext cx="1219200" cy="1642110"/>
            </a:xfrm>
            <a:prstGeom prst="rect">
              <a:avLst/>
            </a:prstGeom>
          </p:spPr>
          <p:txBody>
            <a:bodyPr anchor="ctr" rtlCol="false" tIns="0" lIns="0" bIns="0" rIns="0"/>
            <a:lstStyle/>
            <a:p>
              <a:pPr algn="ctr">
                <a:lnSpc>
                  <a:spcPts val="3120"/>
                </a:lnSpc>
              </a:pPr>
              <a:r>
                <a:rPr lang="en-US" sz="2600" b="true">
                  <a:solidFill>
                    <a:srgbClr val="FFFFFF"/>
                  </a:solidFill>
                  <a:latin typeface="Calibri (MS) Bold"/>
                  <a:ea typeface="Calibri (MS) Bold"/>
                  <a:cs typeface="Calibri (MS) Bold"/>
                  <a:sym typeface="Calibri (MS) Bold"/>
                </a:rPr>
                <a:t>05</a:t>
              </a:r>
            </a:p>
          </p:txBody>
        </p:sp>
      </p:grpSp>
      <p:grpSp>
        <p:nvGrpSpPr>
          <p:cNvPr name="Group 82" id="82"/>
          <p:cNvGrpSpPr/>
          <p:nvPr/>
        </p:nvGrpSpPr>
        <p:grpSpPr>
          <a:xfrm rot="0">
            <a:off x="1828800" y="8339328"/>
            <a:ext cx="6949440" cy="512064"/>
            <a:chOff x="0" y="0"/>
            <a:chExt cx="9265920" cy="682752"/>
          </a:xfrm>
        </p:grpSpPr>
        <p:sp>
          <p:nvSpPr>
            <p:cNvPr name="Freeform 83" id="83"/>
            <p:cNvSpPr/>
            <p:nvPr/>
          </p:nvSpPr>
          <p:spPr>
            <a:xfrm flipH="false" flipV="false" rot="0">
              <a:off x="0" y="0"/>
              <a:ext cx="9265920" cy="682752"/>
            </a:xfrm>
            <a:custGeom>
              <a:avLst/>
              <a:gdLst/>
              <a:ahLst/>
              <a:cxnLst/>
              <a:rect r="r" b="b" t="t" l="l"/>
              <a:pathLst>
                <a:path h="682752" w="9265920">
                  <a:moveTo>
                    <a:pt x="0" y="0"/>
                  </a:moveTo>
                  <a:lnTo>
                    <a:pt x="9265920" y="0"/>
                  </a:lnTo>
                  <a:lnTo>
                    <a:pt x="9265920" y="682752"/>
                  </a:lnTo>
                  <a:lnTo>
                    <a:pt x="0" y="682752"/>
                  </a:lnTo>
                  <a:close/>
                </a:path>
              </a:pathLst>
            </a:custGeom>
            <a:blipFill>
              <a:blip r:embed="rId3">
                <a:alphaModFix amt="0"/>
              </a:blip>
              <a:stretch>
                <a:fillRect l="0" t="-214439" r="0" b="-214439"/>
              </a:stretch>
            </a:blipFill>
          </p:spPr>
        </p:sp>
        <p:sp>
          <p:nvSpPr>
            <p:cNvPr name="TextBox 84" id="84"/>
            <p:cNvSpPr txBox="true"/>
            <p:nvPr/>
          </p:nvSpPr>
          <p:spPr>
            <a:xfrm>
              <a:off x="0" y="-38100"/>
              <a:ext cx="9265920" cy="720852"/>
            </a:xfrm>
            <a:prstGeom prst="rect">
              <a:avLst/>
            </a:prstGeom>
          </p:spPr>
          <p:txBody>
            <a:bodyPr anchor="ctr" rtlCol="false" tIns="0" lIns="0" bIns="0" rIns="0"/>
            <a:lstStyle/>
            <a:p>
              <a:pPr algn="l">
                <a:lnSpc>
                  <a:spcPts val="2879"/>
                </a:lnSpc>
              </a:pPr>
              <a:r>
                <a:rPr lang="en-US" sz="2400" b="true">
                  <a:solidFill>
                    <a:srgbClr val="1E293B"/>
                  </a:solidFill>
                  <a:latin typeface="Calibri (MS) Bold"/>
                  <a:ea typeface="Calibri (MS) Bold"/>
                  <a:cs typeface="Calibri (MS) Bold"/>
                  <a:sym typeface="Calibri (MS) Bold"/>
                </a:rPr>
                <a:t>Stage 2 · LFSE</a:t>
              </a:r>
            </a:p>
          </p:txBody>
        </p:sp>
      </p:grpSp>
      <p:grpSp>
        <p:nvGrpSpPr>
          <p:cNvPr name="Group 85" id="85"/>
          <p:cNvGrpSpPr/>
          <p:nvPr/>
        </p:nvGrpSpPr>
        <p:grpSpPr>
          <a:xfrm rot="0">
            <a:off x="1828800" y="8869680"/>
            <a:ext cx="6949440" cy="512064"/>
            <a:chOff x="0" y="0"/>
            <a:chExt cx="9265920" cy="682752"/>
          </a:xfrm>
        </p:grpSpPr>
        <p:sp>
          <p:nvSpPr>
            <p:cNvPr name="Freeform 86" id="86"/>
            <p:cNvSpPr/>
            <p:nvPr/>
          </p:nvSpPr>
          <p:spPr>
            <a:xfrm flipH="false" flipV="false" rot="0">
              <a:off x="0" y="0"/>
              <a:ext cx="9265920" cy="682752"/>
            </a:xfrm>
            <a:custGeom>
              <a:avLst/>
              <a:gdLst/>
              <a:ahLst/>
              <a:cxnLst/>
              <a:rect r="r" b="b" t="t" l="l"/>
              <a:pathLst>
                <a:path h="682752" w="9265920">
                  <a:moveTo>
                    <a:pt x="0" y="0"/>
                  </a:moveTo>
                  <a:lnTo>
                    <a:pt x="9265920" y="0"/>
                  </a:lnTo>
                  <a:lnTo>
                    <a:pt x="9265920" y="682752"/>
                  </a:lnTo>
                  <a:lnTo>
                    <a:pt x="0" y="682752"/>
                  </a:lnTo>
                  <a:close/>
                </a:path>
              </a:pathLst>
            </a:custGeom>
            <a:blipFill>
              <a:blip r:embed="rId3">
                <a:alphaModFix amt="0"/>
              </a:blip>
              <a:stretch>
                <a:fillRect l="0" t="-214439" r="0" b="-214439"/>
              </a:stretch>
            </a:blipFill>
          </p:spPr>
        </p:sp>
        <p:sp>
          <p:nvSpPr>
            <p:cNvPr name="TextBox 87" id="87"/>
            <p:cNvSpPr txBox="true"/>
            <p:nvPr/>
          </p:nvSpPr>
          <p:spPr>
            <a:xfrm>
              <a:off x="0" y="-38100"/>
              <a:ext cx="9265920" cy="720852"/>
            </a:xfrm>
            <a:prstGeom prst="rect">
              <a:avLst/>
            </a:prstGeom>
          </p:spPr>
          <p:txBody>
            <a:bodyPr anchor="ctr" rtlCol="false" tIns="0" lIns="0" bIns="0" rIns="0"/>
            <a:lstStyle/>
            <a:p>
              <a:pPr algn="l">
                <a:lnSpc>
                  <a:spcPts val="2160"/>
                </a:lnSpc>
              </a:pPr>
              <a:r>
                <a:rPr lang="en-US" sz="1800">
                  <a:solidFill>
                    <a:srgbClr val="94A3B8"/>
                  </a:solidFill>
                  <a:latin typeface="Calibri (MS)"/>
                  <a:ea typeface="Calibri (MS)"/>
                  <a:cs typeface="Calibri (MS)"/>
                  <a:sym typeface="Calibri (MS)"/>
                </a:rPr>
                <a:t>Local feature squeeze and enhancement with multi-head attention</a:t>
              </a:r>
            </a:p>
          </p:txBody>
        </p:sp>
      </p:grpSp>
      <p:grpSp>
        <p:nvGrpSpPr>
          <p:cNvPr name="Group 88" id="88"/>
          <p:cNvGrpSpPr/>
          <p:nvPr/>
        </p:nvGrpSpPr>
        <p:grpSpPr>
          <a:xfrm rot="0">
            <a:off x="9320527" y="2553967"/>
            <a:ext cx="8242297" cy="1201417"/>
            <a:chOff x="0" y="0"/>
            <a:chExt cx="10989729" cy="1601889"/>
          </a:xfrm>
        </p:grpSpPr>
        <p:sp>
          <p:nvSpPr>
            <p:cNvPr name="Freeform 89" id="89"/>
            <p:cNvSpPr/>
            <p:nvPr/>
          </p:nvSpPr>
          <p:spPr>
            <a:xfrm flipH="false" flipV="false" rot="0">
              <a:off x="8509" y="8509"/>
              <a:ext cx="10972800" cy="1584960"/>
            </a:xfrm>
            <a:custGeom>
              <a:avLst/>
              <a:gdLst/>
              <a:ahLst/>
              <a:cxnLst/>
              <a:rect r="r" b="b" t="t" l="l"/>
              <a:pathLst>
                <a:path h="1584960" w="10972800">
                  <a:moveTo>
                    <a:pt x="0" y="0"/>
                  </a:moveTo>
                  <a:lnTo>
                    <a:pt x="10972800" y="0"/>
                  </a:lnTo>
                  <a:lnTo>
                    <a:pt x="10972800" y="1584960"/>
                  </a:lnTo>
                  <a:lnTo>
                    <a:pt x="0" y="1584960"/>
                  </a:lnTo>
                  <a:close/>
                </a:path>
              </a:pathLst>
            </a:custGeom>
            <a:solidFill>
              <a:srgbClr val="FFFFFF"/>
            </a:solidFill>
          </p:spPr>
        </p:sp>
        <p:sp>
          <p:nvSpPr>
            <p:cNvPr name="Freeform 90" id="90"/>
            <p:cNvSpPr/>
            <p:nvPr/>
          </p:nvSpPr>
          <p:spPr>
            <a:xfrm flipH="false" flipV="false" rot="0">
              <a:off x="0" y="0"/>
              <a:ext cx="10989818" cy="1601978"/>
            </a:xfrm>
            <a:custGeom>
              <a:avLst/>
              <a:gdLst/>
              <a:ahLst/>
              <a:cxnLst/>
              <a:rect r="r" b="b" t="t" l="l"/>
              <a:pathLst>
                <a:path h="1601978" w="10989818">
                  <a:moveTo>
                    <a:pt x="8509" y="0"/>
                  </a:moveTo>
                  <a:lnTo>
                    <a:pt x="10981309" y="0"/>
                  </a:lnTo>
                  <a:cubicBezTo>
                    <a:pt x="10986008" y="0"/>
                    <a:pt x="10989818" y="3810"/>
                    <a:pt x="10989818" y="8509"/>
                  </a:cubicBezTo>
                  <a:lnTo>
                    <a:pt x="10989818" y="1593469"/>
                  </a:lnTo>
                  <a:cubicBezTo>
                    <a:pt x="10989818" y="1598168"/>
                    <a:pt x="10986008" y="1601978"/>
                    <a:pt x="10981309" y="1601978"/>
                  </a:cubicBezTo>
                  <a:lnTo>
                    <a:pt x="8509" y="1601978"/>
                  </a:lnTo>
                  <a:cubicBezTo>
                    <a:pt x="3810" y="1601978"/>
                    <a:pt x="0" y="1598168"/>
                    <a:pt x="0" y="1593469"/>
                  </a:cubicBezTo>
                  <a:lnTo>
                    <a:pt x="0" y="8509"/>
                  </a:lnTo>
                  <a:cubicBezTo>
                    <a:pt x="0" y="3810"/>
                    <a:pt x="3810" y="0"/>
                    <a:pt x="8509" y="0"/>
                  </a:cubicBezTo>
                  <a:moveTo>
                    <a:pt x="8509" y="16891"/>
                  </a:moveTo>
                  <a:lnTo>
                    <a:pt x="8509" y="8509"/>
                  </a:lnTo>
                  <a:lnTo>
                    <a:pt x="17018" y="8509"/>
                  </a:lnTo>
                  <a:lnTo>
                    <a:pt x="17018" y="1593469"/>
                  </a:lnTo>
                  <a:lnTo>
                    <a:pt x="8509" y="1593469"/>
                  </a:lnTo>
                  <a:lnTo>
                    <a:pt x="8509" y="1584960"/>
                  </a:lnTo>
                  <a:lnTo>
                    <a:pt x="10981309" y="1584960"/>
                  </a:lnTo>
                  <a:lnTo>
                    <a:pt x="10981309" y="1593469"/>
                  </a:lnTo>
                  <a:lnTo>
                    <a:pt x="10972800" y="1593469"/>
                  </a:lnTo>
                  <a:lnTo>
                    <a:pt x="10972800" y="8509"/>
                  </a:lnTo>
                  <a:lnTo>
                    <a:pt x="10981309" y="8509"/>
                  </a:lnTo>
                  <a:lnTo>
                    <a:pt x="10981309" y="17018"/>
                  </a:lnTo>
                  <a:lnTo>
                    <a:pt x="8509" y="17018"/>
                  </a:lnTo>
                  <a:close/>
                </a:path>
              </a:pathLst>
            </a:custGeom>
            <a:solidFill>
              <a:srgbClr val="E2E8F0"/>
            </a:solidFill>
          </p:spPr>
        </p:sp>
      </p:grpSp>
      <p:grpSp>
        <p:nvGrpSpPr>
          <p:cNvPr name="Group 91" id="91"/>
          <p:cNvGrpSpPr/>
          <p:nvPr/>
        </p:nvGrpSpPr>
        <p:grpSpPr>
          <a:xfrm rot="0">
            <a:off x="9314183" y="2547623"/>
            <a:ext cx="939803" cy="1214123"/>
            <a:chOff x="0" y="0"/>
            <a:chExt cx="1253071" cy="1618831"/>
          </a:xfrm>
        </p:grpSpPr>
        <p:sp>
          <p:nvSpPr>
            <p:cNvPr name="Freeform 92" id="92"/>
            <p:cNvSpPr/>
            <p:nvPr/>
          </p:nvSpPr>
          <p:spPr>
            <a:xfrm flipH="false" flipV="false" rot="0">
              <a:off x="16891" y="16891"/>
              <a:ext cx="1219200" cy="1584960"/>
            </a:xfrm>
            <a:custGeom>
              <a:avLst/>
              <a:gdLst/>
              <a:ahLst/>
              <a:cxnLst/>
              <a:rect r="r" b="b" t="t" l="l"/>
              <a:pathLst>
                <a:path h="1584960" w="1219200">
                  <a:moveTo>
                    <a:pt x="0" y="0"/>
                  </a:moveTo>
                  <a:lnTo>
                    <a:pt x="1219200" y="0"/>
                  </a:lnTo>
                  <a:lnTo>
                    <a:pt x="1219200" y="1584960"/>
                  </a:lnTo>
                  <a:lnTo>
                    <a:pt x="0" y="1584960"/>
                  </a:lnTo>
                  <a:close/>
                </a:path>
              </a:pathLst>
            </a:custGeom>
            <a:solidFill>
              <a:srgbClr val="E05B4B"/>
            </a:solidFill>
          </p:spPr>
        </p:sp>
        <p:sp>
          <p:nvSpPr>
            <p:cNvPr name="Freeform 93" id="93"/>
            <p:cNvSpPr/>
            <p:nvPr/>
          </p:nvSpPr>
          <p:spPr>
            <a:xfrm flipH="false" flipV="false" rot="0">
              <a:off x="0" y="0"/>
              <a:ext cx="1252982" cy="1618742"/>
            </a:xfrm>
            <a:custGeom>
              <a:avLst/>
              <a:gdLst/>
              <a:ahLst/>
              <a:cxnLst/>
              <a:rect r="r" b="b" t="t" l="l"/>
              <a:pathLst>
                <a:path h="1618742" w="1252982">
                  <a:moveTo>
                    <a:pt x="16891" y="0"/>
                  </a:moveTo>
                  <a:lnTo>
                    <a:pt x="1236091" y="0"/>
                  </a:lnTo>
                  <a:cubicBezTo>
                    <a:pt x="1245489" y="0"/>
                    <a:pt x="1252982" y="7620"/>
                    <a:pt x="1252982" y="16891"/>
                  </a:cubicBezTo>
                  <a:lnTo>
                    <a:pt x="1252982" y="1601851"/>
                  </a:lnTo>
                  <a:cubicBezTo>
                    <a:pt x="1252982" y="1611249"/>
                    <a:pt x="1245362" y="1618742"/>
                    <a:pt x="1236091" y="1618742"/>
                  </a:cubicBezTo>
                  <a:lnTo>
                    <a:pt x="16891" y="1618742"/>
                  </a:lnTo>
                  <a:cubicBezTo>
                    <a:pt x="7493" y="1618742"/>
                    <a:pt x="0" y="1611122"/>
                    <a:pt x="0" y="1601851"/>
                  </a:cubicBezTo>
                  <a:lnTo>
                    <a:pt x="0" y="16891"/>
                  </a:lnTo>
                  <a:cubicBezTo>
                    <a:pt x="0" y="7620"/>
                    <a:pt x="7620" y="0"/>
                    <a:pt x="16891" y="0"/>
                  </a:cubicBezTo>
                  <a:moveTo>
                    <a:pt x="16891" y="33909"/>
                  </a:moveTo>
                  <a:lnTo>
                    <a:pt x="16891" y="16891"/>
                  </a:lnTo>
                  <a:lnTo>
                    <a:pt x="33909" y="16891"/>
                  </a:lnTo>
                  <a:lnTo>
                    <a:pt x="33909" y="1601851"/>
                  </a:lnTo>
                  <a:lnTo>
                    <a:pt x="16891" y="1601851"/>
                  </a:lnTo>
                  <a:lnTo>
                    <a:pt x="16891" y="1584960"/>
                  </a:lnTo>
                  <a:lnTo>
                    <a:pt x="1236091" y="1584960"/>
                  </a:lnTo>
                  <a:lnTo>
                    <a:pt x="1236091" y="1601851"/>
                  </a:lnTo>
                  <a:lnTo>
                    <a:pt x="1219200" y="1601851"/>
                  </a:lnTo>
                  <a:lnTo>
                    <a:pt x="1219200" y="16891"/>
                  </a:lnTo>
                  <a:lnTo>
                    <a:pt x="1236091" y="16891"/>
                  </a:lnTo>
                  <a:lnTo>
                    <a:pt x="1236091" y="33909"/>
                  </a:lnTo>
                  <a:lnTo>
                    <a:pt x="16891" y="33909"/>
                  </a:lnTo>
                  <a:close/>
                </a:path>
              </a:pathLst>
            </a:custGeom>
            <a:solidFill>
              <a:srgbClr val="E05B4B"/>
            </a:solidFill>
          </p:spPr>
        </p:sp>
      </p:grpSp>
      <p:grpSp>
        <p:nvGrpSpPr>
          <p:cNvPr name="Group 94" id="94"/>
          <p:cNvGrpSpPr/>
          <p:nvPr/>
        </p:nvGrpSpPr>
        <p:grpSpPr>
          <a:xfrm rot="0">
            <a:off x="9326880" y="2560320"/>
            <a:ext cx="914400" cy="1188720"/>
            <a:chOff x="0" y="0"/>
            <a:chExt cx="1219200" cy="1584960"/>
          </a:xfrm>
        </p:grpSpPr>
        <p:sp>
          <p:nvSpPr>
            <p:cNvPr name="Freeform 95" id="95"/>
            <p:cNvSpPr/>
            <p:nvPr/>
          </p:nvSpPr>
          <p:spPr>
            <a:xfrm flipH="false" flipV="false" rot="0">
              <a:off x="0" y="0"/>
              <a:ext cx="1219200" cy="1584960"/>
            </a:xfrm>
            <a:custGeom>
              <a:avLst/>
              <a:gdLst/>
              <a:ahLst/>
              <a:cxnLst/>
              <a:rect r="r" b="b" t="t" l="l"/>
              <a:pathLst>
                <a:path h="1584960" w="1219200">
                  <a:moveTo>
                    <a:pt x="0" y="0"/>
                  </a:moveTo>
                  <a:lnTo>
                    <a:pt x="1219200" y="0"/>
                  </a:lnTo>
                  <a:lnTo>
                    <a:pt x="1219200" y="1584960"/>
                  </a:lnTo>
                  <a:lnTo>
                    <a:pt x="0" y="1584960"/>
                  </a:lnTo>
                  <a:close/>
                </a:path>
              </a:pathLst>
            </a:custGeom>
            <a:blipFill>
              <a:blip r:embed="rId3">
                <a:alphaModFix amt="0"/>
              </a:blip>
              <a:stretch>
                <a:fillRect l="-116794" t="0" r="-116794" b="0"/>
              </a:stretch>
            </a:blipFill>
          </p:spPr>
        </p:sp>
        <p:sp>
          <p:nvSpPr>
            <p:cNvPr name="TextBox 96" id="96"/>
            <p:cNvSpPr txBox="true"/>
            <p:nvPr/>
          </p:nvSpPr>
          <p:spPr>
            <a:xfrm>
              <a:off x="0" y="-57150"/>
              <a:ext cx="1219200" cy="1642110"/>
            </a:xfrm>
            <a:prstGeom prst="rect">
              <a:avLst/>
            </a:prstGeom>
          </p:spPr>
          <p:txBody>
            <a:bodyPr anchor="ctr" rtlCol="false" tIns="0" lIns="0" bIns="0" rIns="0"/>
            <a:lstStyle/>
            <a:p>
              <a:pPr algn="ctr">
                <a:lnSpc>
                  <a:spcPts val="3120"/>
                </a:lnSpc>
              </a:pPr>
              <a:r>
                <a:rPr lang="en-US" sz="2600" b="true">
                  <a:solidFill>
                    <a:srgbClr val="FFFFFF"/>
                  </a:solidFill>
                  <a:latin typeface="Calibri (MS) Bold"/>
                  <a:ea typeface="Calibri (MS) Bold"/>
                  <a:cs typeface="Calibri (MS) Bold"/>
                  <a:sym typeface="Calibri (MS) Bold"/>
                </a:rPr>
                <a:t>06</a:t>
              </a:r>
            </a:p>
          </p:txBody>
        </p:sp>
      </p:grpSp>
      <p:grpSp>
        <p:nvGrpSpPr>
          <p:cNvPr name="Group 97" id="97"/>
          <p:cNvGrpSpPr/>
          <p:nvPr/>
        </p:nvGrpSpPr>
        <p:grpSpPr>
          <a:xfrm rot="0">
            <a:off x="10424160" y="2633472"/>
            <a:ext cx="6949440" cy="512064"/>
            <a:chOff x="0" y="0"/>
            <a:chExt cx="9265920" cy="682752"/>
          </a:xfrm>
        </p:grpSpPr>
        <p:sp>
          <p:nvSpPr>
            <p:cNvPr name="Freeform 98" id="98"/>
            <p:cNvSpPr/>
            <p:nvPr/>
          </p:nvSpPr>
          <p:spPr>
            <a:xfrm flipH="false" flipV="false" rot="0">
              <a:off x="0" y="0"/>
              <a:ext cx="9265920" cy="682752"/>
            </a:xfrm>
            <a:custGeom>
              <a:avLst/>
              <a:gdLst/>
              <a:ahLst/>
              <a:cxnLst/>
              <a:rect r="r" b="b" t="t" l="l"/>
              <a:pathLst>
                <a:path h="682752" w="9265920">
                  <a:moveTo>
                    <a:pt x="0" y="0"/>
                  </a:moveTo>
                  <a:lnTo>
                    <a:pt x="9265920" y="0"/>
                  </a:lnTo>
                  <a:lnTo>
                    <a:pt x="9265920" y="682752"/>
                  </a:lnTo>
                  <a:lnTo>
                    <a:pt x="0" y="682752"/>
                  </a:lnTo>
                  <a:close/>
                </a:path>
              </a:pathLst>
            </a:custGeom>
            <a:blipFill>
              <a:blip r:embed="rId3">
                <a:alphaModFix amt="0"/>
              </a:blip>
              <a:stretch>
                <a:fillRect l="0" t="-214439" r="0" b="-214439"/>
              </a:stretch>
            </a:blipFill>
          </p:spPr>
        </p:sp>
        <p:sp>
          <p:nvSpPr>
            <p:cNvPr name="TextBox 99" id="99"/>
            <p:cNvSpPr txBox="true"/>
            <p:nvPr/>
          </p:nvSpPr>
          <p:spPr>
            <a:xfrm>
              <a:off x="0" y="-38100"/>
              <a:ext cx="9265920" cy="720852"/>
            </a:xfrm>
            <a:prstGeom prst="rect">
              <a:avLst/>
            </a:prstGeom>
          </p:spPr>
          <p:txBody>
            <a:bodyPr anchor="ctr" rtlCol="false" tIns="0" lIns="0" bIns="0" rIns="0"/>
            <a:lstStyle/>
            <a:p>
              <a:pPr algn="l">
                <a:lnSpc>
                  <a:spcPts val="2879"/>
                </a:lnSpc>
              </a:pPr>
              <a:r>
                <a:rPr lang="en-US" sz="2400" b="true">
                  <a:solidFill>
                    <a:srgbClr val="1E293B"/>
                  </a:solidFill>
                  <a:latin typeface="Calibri (MS) Bold"/>
                  <a:ea typeface="Calibri (MS) Bold"/>
                  <a:cs typeface="Calibri (MS) Bold"/>
                  <a:sym typeface="Calibri (MS) Bold"/>
                </a:rPr>
                <a:t>Feature Interaction Decoder</a:t>
              </a:r>
            </a:p>
          </p:txBody>
        </p:sp>
      </p:grpSp>
      <p:grpSp>
        <p:nvGrpSpPr>
          <p:cNvPr name="Group 100" id="100"/>
          <p:cNvGrpSpPr/>
          <p:nvPr/>
        </p:nvGrpSpPr>
        <p:grpSpPr>
          <a:xfrm rot="0">
            <a:off x="10424160" y="3163824"/>
            <a:ext cx="6949440" cy="512064"/>
            <a:chOff x="0" y="0"/>
            <a:chExt cx="9265920" cy="682752"/>
          </a:xfrm>
        </p:grpSpPr>
        <p:sp>
          <p:nvSpPr>
            <p:cNvPr name="Freeform 101" id="101"/>
            <p:cNvSpPr/>
            <p:nvPr/>
          </p:nvSpPr>
          <p:spPr>
            <a:xfrm flipH="false" flipV="false" rot="0">
              <a:off x="0" y="0"/>
              <a:ext cx="9265920" cy="682752"/>
            </a:xfrm>
            <a:custGeom>
              <a:avLst/>
              <a:gdLst/>
              <a:ahLst/>
              <a:cxnLst/>
              <a:rect r="r" b="b" t="t" l="l"/>
              <a:pathLst>
                <a:path h="682752" w="9265920">
                  <a:moveTo>
                    <a:pt x="0" y="0"/>
                  </a:moveTo>
                  <a:lnTo>
                    <a:pt x="9265920" y="0"/>
                  </a:lnTo>
                  <a:lnTo>
                    <a:pt x="9265920" y="682752"/>
                  </a:lnTo>
                  <a:lnTo>
                    <a:pt x="0" y="682752"/>
                  </a:lnTo>
                  <a:close/>
                </a:path>
              </a:pathLst>
            </a:custGeom>
            <a:blipFill>
              <a:blip r:embed="rId3">
                <a:alphaModFix amt="0"/>
              </a:blip>
              <a:stretch>
                <a:fillRect l="0" t="-214439" r="0" b="-214439"/>
              </a:stretch>
            </a:blipFill>
          </p:spPr>
        </p:sp>
        <p:sp>
          <p:nvSpPr>
            <p:cNvPr name="TextBox 102" id="102"/>
            <p:cNvSpPr txBox="true"/>
            <p:nvPr/>
          </p:nvSpPr>
          <p:spPr>
            <a:xfrm>
              <a:off x="0" y="-38100"/>
              <a:ext cx="9265920" cy="720852"/>
            </a:xfrm>
            <a:prstGeom prst="rect">
              <a:avLst/>
            </a:prstGeom>
          </p:spPr>
          <p:txBody>
            <a:bodyPr anchor="ctr" rtlCol="false" tIns="0" lIns="0" bIns="0" rIns="0"/>
            <a:lstStyle/>
            <a:p>
              <a:pPr algn="l">
                <a:lnSpc>
                  <a:spcPts val="2160"/>
                </a:lnSpc>
              </a:pPr>
              <a:r>
                <a:rPr lang="en-US" sz="1800">
                  <a:solidFill>
                    <a:srgbClr val="94A3B8"/>
                  </a:solidFill>
                  <a:latin typeface="Calibri (MS)"/>
                  <a:ea typeface="Calibri (MS)"/>
                  <a:cs typeface="Calibri (MS)"/>
                  <a:sym typeface="Calibri (MS)"/>
                </a:rPr>
                <a:t>Global feature alignment, LSTM decoding, MLP fusion</a:t>
              </a:r>
            </a:p>
          </p:txBody>
        </p:sp>
      </p:grpSp>
      <p:grpSp>
        <p:nvGrpSpPr>
          <p:cNvPr name="Group 103" id="103"/>
          <p:cNvGrpSpPr/>
          <p:nvPr/>
        </p:nvGrpSpPr>
        <p:grpSpPr>
          <a:xfrm rot="0">
            <a:off x="9320527" y="3980431"/>
            <a:ext cx="8242297" cy="1201417"/>
            <a:chOff x="0" y="0"/>
            <a:chExt cx="10989729" cy="1601889"/>
          </a:xfrm>
        </p:grpSpPr>
        <p:sp>
          <p:nvSpPr>
            <p:cNvPr name="Freeform 104" id="104"/>
            <p:cNvSpPr/>
            <p:nvPr/>
          </p:nvSpPr>
          <p:spPr>
            <a:xfrm flipH="false" flipV="false" rot="0">
              <a:off x="8509" y="8509"/>
              <a:ext cx="10972800" cy="1584960"/>
            </a:xfrm>
            <a:custGeom>
              <a:avLst/>
              <a:gdLst/>
              <a:ahLst/>
              <a:cxnLst/>
              <a:rect r="r" b="b" t="t" l="l"/>
              <a:pathLst>
                <a:path h="1584960" w="10972800">
                  <a:moveTo>
                    <a:pt x="0" y="0"/>
                  </a:moveTo>
                  <a:lnTo>
                    <a:pt x="10972800" y="0"/>
                  </a:lnTo>
                  <a:lnTo>
                    <a:pt x="10972800" y="1584960"/>
                  </a:lnTo>
                  <a:lnTo>
                    <a:pt x="0" y="1584960"/>
                  </a:lnTo>
                  <a:close/>
                </a:path>
              </a:pathLst>
            </a:custGeom>
            <a:solidFill>
              <a:srgbClr val="FFFFFF"/>
            </a:solidFill>
          </p:spPr>
        </p:sp>
        <p:sp>
          <p:nvSpPr>
            <p:cNvPr name="Freeform 105" id="105"/>
            <p:cNvSpPr/>
            <p:nvPr/>
          </p:nvSpPr>
          <p:spPr>
            <a:xfrm flipH="false" flipV="false" rot="0">
              <a:off x="0" y="0"/>
              <a:ext cx="10989818" cy="1601978"/>
            </a:xfrm>
            <a:custGeom>
              <a:avLst/>
              <a:gdLst/>
              <a:ahLst/>
              <a:cxnLst/>
              <a:rect r="r" b="b" t="t" l="l"/>
              <a:pathLst>
                <a:path h="1601978" w="10989818">
                  <a:moveTo>
                    <a:pt x="8509" y="0"/>
                  </a:moveTo>
                  <a:lnTo>
                    <a:pt x="10981309" y="0"/>
                  </a:lnTo>
                  <a:cubicBezTo>
                    <a:pt x="10986008" y="0"/>
                    <a:pt x="10989818" y="3810"/>
                    <a:pt x="10989818" y="8509"/>
                  </a:cubicBezTo>
                  <a:lnTo>
                    <a:pt x="10989818" y="1593469"/>
                  </a:lnTo>
                  <a:cubicBezTo>
                    <a:pt x="10989818" y="1598168"/>
                    <a:pt x="10986008" y="1601978"/>
                    <a:pt x="10981309" y="1601978"/>
                  </a:cubicBezTo>
                  <a:lnTo>
                    <a:pt x="8509" y="1601978"/>
                  </a:lnTo>
                  <a:cubicBezTo>
                    <a:pt x="3810" y="1601978"/>
                    <a:pt x="0" y="1598168"/>
                    <a:pt x="0" y="1593469"/>
                  </a:cubicBezTo>
                  <a:lnTo>
                    <a:pt x="0" y="8509"/>
                  </a:lnTo>
                  <a:cubicBezTo>
                    <a:pt x="0" y="3810"/>
                    <a:pt x="3810" y="0"/>
                    <a:pt x="8509" y="0"/>
                  </a:cubicBezTo>
                  <a:moveTo>
                    <a:pt x="8509" y="16891"/>
                  </a:moveTo>
                  <a:lnTo>
                    <a:pt x="8509" y="8509"/>
                  </a:lnTo>
                  <a:lnTo>
                    <a:pt x="17018" y="8509"/>
                  </a:lnTo>
                  <a:lnTo>
                    <a:pt x="17018" y="1593469"/>
                  </a:lnTo>
                  <a:lnTo>
                    <a:pt x="8509" y="1593469"/>
                  </a:lnTo>
                  <a:lnTo>
                    <a:pt x="8509" y="1584960"/>
                  </a:lnTo>
                  <a:lnTo>
                    <a:pt x="10981309" y="1584960"/>
                  </a:lnTo>
                  <a:lnTo>
                    <a:pt x="10981309" y="1593469"/>
                  </a:lnTo>
                  <a:lnTo>
                    <a:pt x="10972800" y="1593469"/>
                  </a:lnTo>
                  <a:lnTo>
                    <a:pt x="10972800" y="8509"/>
                  </a:lnTo>
                  <a:lnTo>
                    <a:pt x="10981309" y="8509"/>
                  </a:lnTo>
                  <a:lnTo>
                    <a:pt x="10981309" y="17018"/>
                  </a:lnTo>
                  <a:lnTo>
                    <a:pt x="8509" y="17018"/>
                  </a:lnTo>
                  <a:close/>
                </a:path>
              </a:pathLst>
            </a:custGeom>
            <a:solidFill>
              <a:srgbClr val="E2E8F0"/>
            </a:solidFill>
          </p:spPr>
        </p:sp>
      </p:grpSp>
      <p:grpSp>
        <p:nvGrpSpPr>
          <p:cNvPr name="Group 106" id="106"/>
          <p:cNvGrpSpPr/>
          <p:nvPr/>
        </p:nvGrpSpPr>
        <p:grpSpPr>
          <a:xfrm rot="0">
            <a:off x="9314183" y="3974087"/>
            <a:ext cx="939803" cy="1214123"/>
            <a:chOff x="0" y="0"/>
            <a:chExt cx="1253071" cy="1618831"/>
          </a:xfrm>
        </p:grpSpPr>
        <p:sp>
          <p:nvSpPr>
            <p:cNvPr name="Freeform 107" id="107"/>
            <p:cNvSpPr/>
            <p:nvPr/>
          </p:nvSpPr>
          <p:spPr>
            <a:xfrm flipH="false" flipV="false" rot="0">
              <a:off x="16891" y="16891"/>
              <a:ext cx="1219200" cy="1584960"/>
            </a:xfrm>
            <a:custGeom>
              <a:avLst/>
              <a:gdLst/>
              <a:ahLst/>
              <a:cxnLst/>
              <a:rect r="r" b="b" t="t" l="l"/>
              <a:pathLst>
                <a:path h="1584960" w="1219200">
                  <a:moveTo>
                    <a:pt x="0" y="0"/>
                  </a:moveTo>
                  <a:lnTo>
                    <a:pt x="1219200" y="0"/>
                  </a:lnTo>
                  <a:lnTo>
                    <a:pt x="1219200" y="1584960"/>
                  </a:lnTo>
                  <a:lnTo>
                    <a:pt x="0" y="1584960"/>
                  </a:lnTo>
                  <a:close/>
                </a:path>
              </a:pathLst>
            </a:custGeom>
            <a:solidFill>
              <a:srgbClr val="D97706"/>
            </a:solidFill>
          </p:spPr>
        </p:sp>
        <p:sp>
          <p:nvSpPr>
            <p:cNvPr name="Freeform 108" id="108"/>
            <p:cNvSpPr/>
            <p:nvPr/>
          </p:nvSpPr>
          <p:spPr>
            <a:xfrm flipH="false" flipV="false" rot="0">
              <a:off x="0" y="0"/>
              <a:ext cx="1252982" cy="1618742"/>
            </a:xfrm>
            <a:custGeom>
              <a:avLst/>
              <a:gdLst/>
              <a:ahLst/>
              <a:cxnLst/>
              <a:rect r="r" b="b" t="t" l="l"/>
              <a:pathLst>
                <a:path h="1618742" w="1252982">
                  <a:moveTo>
                    <a:pt x="16891" y="0"/>
                  </a:moveTo>
                  <a:lnTo>
                    <a:pt x="1236091" y="0"/>
                  </a:lnTo>
                  <a:cubicBezTo>
                    <a:pt x="1245489" y="0"/>
                    <a:pt x="1252982" y="7620"/>
                    <a:pt x="1252982" y="16891"/>
                  </a:cubicBezTo>
                  <a:lnTo>
                    <a:pt x="1252982" y="1601851"/>
                  </a:lnTo>
                  <a:cubicBezTo>
                    <a:pt x="1252982" y="1611249"/>
                    <a:pt x="1245362" y="1618742"/>
                    <a:pt x="1236091" y="1618742"/>
                  </a:cubicBezTo>
                  <a:lnTo>
                    <a:pt x="16891" y="1618742"/>
                  </a:lnTo>
                  <a:cubicBezTo>
                    <a:pt x="7493" y="1618742"/>
                    <a:pt x="0" y="1611122"/>
                    <a:pt x="0" y="1601851"/>
                  </a:cubicBezTo>
                  <a:lnTo>
                    <a:pt x="0" y="16891"/>
                  </a:lnTo>
                  <a:cubicBezTo>
                    <a:pt x="0" y="7620"/>
                    <a:pt x="7620" y="0"/>
                    <a:pt x="16891" y="0"/>
                  </a:cubicBezTo>
                  <a:moveTo>
                    <a:pt x="16891" y="33909"/>
                  </a:moveTo>
                  <a:lnTo>
                    <a:pt x="16891" y="16891"/>
                  </a:lnTo>
                  <a:lnTo>
                    <a:pt x="33909" y="16891"/>
                  </a:lnTo>
                  <a:lnTo>
                    <a:pt x="33909" y="1601851"/>
                  </a:lnTo>
                  <a:lnTo>
                    <a:pt x="16891" y="1601851"/>
                  </a:lnTo>
                  <a:lnTo>
                    <a:pt x="16891" y="1584960"/>
                  </a:lnTo>
                  <a:lnTo>
                    <a:pt x="1236091" y="1584960"/>
                  </a:lnTo>
                  <a:lnTo>
                    <a:pt x="1236091" y="1601851"/>
                  </a:lnTo>
                  <a:lnTo>
                    <a:pt x="1219200" y="1601851"/>
                  </a:lnTo>
                  <a:lnTo>
                    <a:pt x="1219200" y="16891"/>
                  </a:lnTo>
                  <a:lnTo>
                    <a:pt x="1236091" y="16891"/>
                  </a:lnTo>
                  <a:lnTo>
                    <a:pt x="1236091" y="33909"/>
                  </a:lnTo>
                  <a:lnTo>
                    <a:pt x="16891" y="33909"/>
                  </a:lnTo>
                  <a:close/>
                </a:path>
              </a:pathLst>
            </a:custGeom>
            <a:solidFill>
              <a:srgbClr val="D97706"/>
            </a:solidFill>
          </p:spPr>
        </p:sp>
      </p:grpSp>
      <p:grpSp>
        <p:nvGrpSpPr>
          <p:cNvPr name="Group 109" id="109"/>
          <p:cNvGrpSpPr/>
          <p:nvPr/>
        </p:nvGrpSpPr>
        <p:grpSpPr>
          <a:xfrm rot="0">
            <a:off x="9326880" y="3986784"/>
            <a:ext cx="914400" cy="1188720"/>
            <a:chOff x="0" y="0"/>
            <a:chExt cx="1219200" cy="1584960"/>
          </a:xfrm>
        </p:grpSpPr>
        <p:sp>
          <p:nvSpPr>
            <p:cNvPr name="Freeform 110" id="110"/>
            <p:cNvSpPr/>
            <p:nvPr/>
          </p:nvSpPr>
          <p:spPr>
            <a:xfrm flipH="false" flipV="false" rot="0">
              <a:off x="0" y="0"/>
              <a:ext cx="1219200" cy="1584960"/>
            </a:xfrm>
            <a:custGeom>
              <a:avLst/>
              <a:gdLst/>
              <a:ahLst/>
              <a:cxnLst/>
              <a:rect r="r" b="b" t="t" l="l"/>
              <a:pathLst>
                <a:path h="1584960" w="1219200">
                  <a:moveTo>
                    <a:pt x="0" y="0"/>
                  </a:moveTo>
                  <a:lnTo>
                    <a:pt x="1219200" y="0"/>
                  </a:lnTo>
                  <a:lnTo>
                    <a:pt x="1219200" y="1584960"/>
                  </a:lnTo>
                  <a:lnTo>
                    <a:pt x="0" y="1584960"/>
                  </a:lnTo>
                  <a:close/>
                </a:path>
              </a:pathLst>
            </a:custGeom>
            <a:blipFill>
              <a:blip r:embed="rId3">
                <a:alphaModFix amt="0"/>
              </a:blip>
              <a:stretch>
                <a:fillRect l="-116794" t="0" r="-116794" b="0"/>
              </a:stretch>
            </a:blipFill>
          </p:spPr>
        </p:sp>
        <p:sp>
          <p:nvSpPr>
            <p:cNvPr name="TextBox 111" id="111"/>
            <p:cNvSpPr txBox="true"/>
            <p:nvPr/>
          </p:nvSpPr>
          <p:spPr>
            <a:xfrm>
              <a:off x="0" y="-57150"/>
              <a:ext cx="1219200" cy="1642110"/>
            </a:xfrm>
            <a:prstGeom prst="rect">
              <a:avLst/>
            </a:prstGeom>
          </p:spPr>
          <p:txBody>
            <a:bodyPr anchor="ctr" rtlCol="false" tIns="0" lIns="0" bIns="0" rIns="0"/>
            <a:lstStyle/>
            <a:p>
              <a:pPr algn="ctr">
                <a:lnSpc>
                  <a:spcPts val="3120"/>
                </a:lnSpc>
              </a:pPr>
              <a:r>
                <a:rPr lang="en-US" sz="2600" b="true">
                  <a:solidFill>
                    <a:srgbClr val="FFFFFF"/>
                  </a:solidFill>
                  <a:latin typeface="Calibri (MS) Bold"/>
                  <a:ea typeface="Calibri (MS) Bold"/>
                  <a:cs typeface="Calibri (MS) Bold"/>
                  <a:sym typeface="Calibri (MS) Bold"/>
                </a:rPr>
                <a:t>07</a:t>
              </a:r>
            </a:p>
          </p:txBody>
        </p:sp>
      </p:grpSp>
      <p:grpSp>
        <p:nvGrpSpPr>
          <p:cNvPr name="Group 112" id="112"/>
          <p:cNvGrpSpPr/>
          <p:nvPr/>
        </p:nvGrpSpPr>
        <p:grpSpPr>
          <a:xfrm rot="0">
            <a:off x="10424160" y="4059936"/>
            <a:ext cx="6949440" cy="512064"/>
            <a:chOff x="0" y="0"/>
            <a:chExt cx="9265920" cy="682752"/>
          </a:xfrm>
        </p:grpSpPr>
        <p:sp>
          <p:nvSpPr>
            <p:cNvPr name="Freeform 113" id="113"/>
            <p:cNvSpPr/>
            <p:nvPr/>
          </p:nvSpPr>
          <p:spPr>
            <a:xfrm flipH="false" flipV="false" rot="0">
              <a:off x="0" y="0"/>
              <a:ext cx="9265920" cy="682752"/>
            </a:xfrm>
            <a:custGeom>
              <a:avLst/>
              <a:gdLst/>
              <a:ahLst/>
              <a:cxnLst/>
              <a:rect r="r" b="b" t="t" l="l"/>
              <a:pathLst>
                <a:path h="682752" w="9265920">
                  <a:moveTo>
                    <a:pt x="0" y="0"/>
                  </a:moveTo>
                  <a:lnTo>
                    <a:pt x="9265920" y="0"/>
                  </a:lnTo>
                  <a:lnTo>
                    <a:pt x="9265920" y="682752"/>
                  </a:lnTo>
                  <a:lnTo>
                    <a:pt x="0" y="682752"/>
                  </a:lnTo>
                  <a:close/>
                </a:path>
              </a:pathLst>
            </a:custGeom>
            <a:blipFill>
              <a:blip r:embed="rId3">
                <a:alphaModFix amt="0"/>
              </a:blip>
              <a:stretch>
                <a:fillRect l="0" t="-214439" r="0" b="-214439"/>
              </a:stretch>
            </a:blipFill>
          </p:spPr>
        </p:sp>
        <p:sp>
          <p:nvSpPr>
            <p:cNvPr name="TextBox 114" id="114"/>
            <p:cNvSpPr txBox="true"/>
            <p:nvPr/>
          </p:nvSpPr>
          <p:spPr>
            <a:xfrm>
              <a:off x="0" y="-38100"/>
              <a:ext cx="9265920" cy="720852"/>
            </a:xfrm>
            <a:prstGeom prst="rect">
              <a:avLst/>
            </a:prstGeom>
          </p:spPr>
          <p:txBody>
            <a:bodyPr anchor="ctr" rtlCol="false" tIns="0" lIns="0" bIns="0" rIns="0"/>
            <a:lstStyle/>
            <a:p>
              <a:pPr algn="l">
                <a:lnSpc>
                  <a:spcPts val="2879"/>
                </a:lnSpc>
              </a:pPr>
              <a:r>
                <a:rPr lang="en-US" sz="2400" b="true">
                  <a:solidFill>
                    <a:srgbClr val="1E293B"/>
                  </a:solidFill>
                  <a:latin typeface="Calibri (MS) Bold"/>
                  <a:ea typeface="Calibri (MS) Bold"/>
                  <a:cs typeface="Calibri (MS) Bold"/>
                  <a:sym typeface="Calibri (MS) Bold"/>
                </a:rPr>
                <a:t>Training Strategy</a:t>
              </a:r>
            </a:p>
          </p:txBody>
        </p:sp>
      </p:grpSp>
      <p:grpSp>
        <p:nvGrpSpPr>
          <p:cNvPr name="Group 115" id="115"/>
          <p:cNvGrpSpPr/>
          <p:nvPr/>
        </p:nvGrpSpPr>
        <p:grpSpPr>
          <a:xfrm rot="0">
            <a:off x="10424160" y="4590288"/>
            <a:ext cx="6949440" cy="512064"/>
            <a:chOff x="0" y="0"/>
            <a:chExt cx="9265920" cy="682752"/>
          </a:xfrm>
        </p:grpSpPr>
        <p:sp>
          <p:nvSpPr>
            <p:cNvPr name="Freeform 116" id="116"/>
            <p:cNvSpPr/>
            <p:nvPr/>
          </p:nvSpPr>
          <p:spPr>
            <a:xfrm flipH="false" flipV="false" rot="0">
              <a:off x="0" y="0"/>
              <a:ext cx="9265920" cy="682752"/>
            </a:xfrm>
            <a:custGeom>
              <a:avLst/>
              <a:gdLst/>
              <a:ahLst/>
              <a:cxnLst/>
              <a:rect r="r" b="b" t="t" l="l"/>
              <a:pathLst>
                <a:path h="682752" w="9265920">
                  <a:moveTo>
                    <a:pt x="0" y="0"/>
                  </a:moveTo>
                  <a:lnTo>
                    <a:pt x="9265920" y="0"/>
                  </a:lnTo>
                  <a:lnTo>
                    <a:pt x="9265920" y="682752"/>
                  </a:lnTo>
                  <a:lnTo>
                    <a:pt x="0" y="682752"/>
                  </a:lnTo>
                  <a:close/>
                </a:path>
              </a:pathLst>
            </a:custGeom>
            <a:blipFill>
              <a:blip r:embed="rId3">
                <a:alphaModFix amt="0"/>
              </a:blip>
              <a:stretch>
                <a:fillRect l="0" t="-214439" r="0" b="-214439"/>
              </a:stretch>
            </a:blipFill>
          </p:spPr>
        </p:sp>
        <p:sp>
          <p:nvSpPr>
            <p:cNvPr name="TextBox 117" id="117"/>
            <p:cNvSpPr txBox="true"/>
            <p:nvPr/>
          </p:nvSpPr>
          <p:spPr>
            <a:xfrm>
              <a:off x="0" y="-38100"/>
              <a:ext cx="9265920" cy="720852"/>
            </a:xfrm>
            <a:prstGeom prst="rect">
              <a:avLst/>
            </a:prstGeom>
          </p:spPr>
          <p:txBody>
            <a:bodyPr anchor="ctr" rtlCol="false" tIns="0" lIns="0" bIns="0" rIns="0"/>
            <a:lstStyle/>
            <a:p>
              <a:pPr algn="l">
                <a:lnSpc>
                  <a:spcPts val="2160"/>
                </a:lnSpc>
              </a:pPr>
              <a:r>
                <a:rPr lang="en-US" sz="1800">
                  <a:solidFill>
                    <a:srgbClr val="94A3B8"/>
                  </a:solidFill>
                  <a:latin typeface="Calibri (MS)"/>
                  <a:ea typeface="Calibri (MS)"/>
                  <a:cs typeface="Calibri (MS)"/>
                  <a:sym typeface="Calibri (MS)"/>
                </a:rPr>
                <a:t>Fine-tuning task, SmoothL1 loss, GradNorm balancing</a:t>
              </a:r>
            </a:p>
          </p:txBody>
        </p:sp>
      </p:grpSp>
      <p:grpSp>
        <p:nvGrpSpPr>
          <p:cNvPr name="Group 118" id="118"/>
          <p:cNvGrpSpPr/>
          <p:nvPr/>
        </p:nvGrpSpPr>
        <p:grpSpPr>
          <a:xfrm rot="0">
            <a:off x="9320527" y="5406895"/>
            <a:ext cx="8242297" cy="1201417"/>
            <a:chOff x="0" y="0"/>
            <a:chExt cx="10989729" cy="1601889"/>
          </a:xfrm>
        </p:grpSpPr>
        <p:sp>
          <p:nvSpPr>
            <p:cNvPr name="Freeform 119" id="119"/>
            <p:cNvSpPr/>
            <p:nvPr/>
          </p:nvSpPr>
          <p:spPr>
            <a:xfrm flipH="false" flipV="false" rot="0">
              <a:off x="8509" y="8509"/>
              <a:ext cx="10972800" cy="1584960"/>
            </a:xfrm>
            <a:custGeom>
              <a:avLst/>
              <a:gdLst/>
              <a:ahLst/>
              <a:cxnLst/>
              <a:rect r="r" b="b" t="t" l="l"/>
              <a:pathLst>
                <a:path h="1584960" w="10972800">
                  <a:moveTo>
                    <a:pt x="0" y="0"/>
                  </a:moveTo>
                  <a:lnTo>
                    <a:pt x="10972800" y="0"/>
                  </a:lnTo>
                  <a:lnTo>
                    <a:pt x="10972800" y="1584960"/>
                  </a:lnTo>
                  <a:lnTo>
                    <a:pt x="0" y="1584960"/>
                  </a:lnTo>
                  <a:close/>
                </a:path>
              </a:pathLst>
            </a:custGeom>
            <a:solidFill>
              <a:srgbClr val="FFFFFF"/>
            </a:solidFill>
          </p:spPr>
        </p:sp>
        <p:sp>
          <p:nvSpPr>
            <p:cNvPr name="Freeform 120" id="120"/>
            <p:cNvSpPr/>
            <p:nvPr/>
          </p:nvSpPr>
          <p:spPr>
            <a:xfrm flipH="false" flipV="false" rot="0">
              <a:off x="0" y="0"/>
              <a:ext cx="10989818" cy="1601978"/>
            </a:xfrm>
            <a:custGeom>
              <a:avLst/>
              <a:gdLst/>
              <a:ahLst/>
              <a:cxnLst/>
              <a:rect r="r" b="b" t="t" l="l"/>
              <a:pathLst>
                <a:path h="1601978" w="10989818">
                  <a:moveTo>
                    <a:pt x="8509" y="0"/>
                  </a:moveTo>
                  <a:lnTo>
                    <a:pt x="10981309" y="0"/>
                  </a:lnTo>
                  <a:cubicBezTo>
                    <a:pt x="10986008" y="0"/>
                    <a:pt x="10989818" y="3810"/>
                    <a:pt x="10989818" y="8509"/>
                  </a:cubicBezTo>
                  <a:lnTo>
                    <a:pt x="10989818" y="1593469"/>
                  </a:lnTo>
                  <a:cubicBezTo>
                    <a:pt x="10989818" y="1598168"/>
                    <a:pt x="10986008" y="1601978"/>
                    <a:pt x="10981309" y="1601978"/>
                  </a:cubicBezTo>
                  <a:lnTo>
                    <a:pt x="8509" y="1601978"/>
                  </a:lnTo>
                  <a:cubicBezTo>
                    <a:pt x="3810" y="1601978"/>
                    <a:pt x="0" y="1598168"/>
                    <a:pt x="0" y="1593469"/>
                  </a:cubicBezTo>
                  <a:lnTo>
                    <a:pt x="0" y="8509"/>
                  </a:lnTo>
                  <a:cubicBezTo>
                    <a:pt x="0" y="3810"/>
                    <a:pt x="3810" y="0"/>
                    <a:pt x="8509" y="0"/>
                  </a:cubicBezTo>
                  <a:moveTo>
                    <a:pt x="8509" y="16891"/>
                  </a:moveTo>
                  <a:lnTo>
                    <a:pt x="8509" y="8509"/>
                  </a:lnTo>
                  <a:lnTo>
                    <a:pt x="17018" y="8509"/>
                  </a:lnTo>
                  <a:lnTo>
                    <a:pt x="17018" y="1593469"/>
                  </a:lnTo>
                  <a:lnTo>
                    <a:pt x="8509" y="1593469"/>
                  </a:lnTo>
                  <a:lnTo>
                    <a:pt x="8509" y="1584960"/>
                  </a:lnTo>
                  <a:lnTo>
                    <a:pt x="10981309" y="1584960"/>
                  </a:lnTo>
                  <a:lnTo>
                    <a:pt x="10981309" y="1593469"/>
                  </a:lnTo>
                  <a:lnTo>
                    <a:pt x="10972800" y="1593469"/>
                  </a:lnTo>
                  <a:lnTo>
                    <a:pt x="10972800" y="8509"/>
                  </a:lnTo>
                  <a:lnTo>
                    <a:pt x="10981309" y="8509"/>
                  </a:lnTo>
                  <a:lnTo>
                    <a:pt x="10981309" y="17018"/>
                  </a:lnTo>
                  <a:lnTo>
                    <a:pt x="8509" y="17018"/>
                  </a:lnTo>
                  <a:close/>
                </a:path>
              </a:pathLst>
            </a:custGeom>
            <a:solidFill>
              <a:srgbClr val="E2E8F0"/>
            </a:solidFill>
          </p:spPr>
        </p:sp>
      </p:grpSp>
      <p:grpSp>
        <p:nvGrpSpPr>
          <p:cNvPr name="Group 121" id="121"/>
          <p:cNvGrpSpPr/>
          <p:nvPr/>
        </p:nvGrpSpPr>
        <p:grpSpPr>
          <a:xfrm rot="0">
            <a:off x="9314183" y="5400551"/>
            <a:ext cx="939803" cy="1214123"/>
            <a:chOff x="0" y="0"/>
            <a:chExt cx="1253071" cy="1618831"/>
          </a:xfrm>
        </p:grpSpPr>
        <p:sp>
          <p:nvSpPr>
            <p:cNvPr name="Freeform 122" id="122"/>
            <p:cNvSpPr/>
            <p:nvPr/>
          </p:nvSpPr>
          <p:spPr>
            <a:xfrm flipH="false" flipV="false" rot="0">
              <a:off x="16891" y="16891"/>
              <a:ext cx="1219200" cy="1584960"/>
            </a:xfrm>
            <a:custGeom>
              <a:avLst/>
              <a:gdLst/>
              <a:ahLst/>
              <a:cxnLst/>
              <a:rect r="r" b="b" t="t" l="l"/>
              <a:pathLst>
                <a:path h="1584960" w="1219200">
                  <a:moveTo>
                    <a:pt x="0" y="0"/>
                  </a:moveTo>
                  <a:lnTo>
                    <a:pt x="1219200" y="0"/>
                  </a:lnTo>
                  <a:lnTo>
                    <a:pt x="1219200" y="1584960"/>
                  </a:lnTo>
                  <a:lnTo>
                    <a:pt x="0" y="1584960"/>
                  </a:lnTo>
                  <a:close/>
                </a:path>
              </a:pathLst>
            </a:custGeom>
            <a:solidFill>
              <a:srgbClr val="0D1B3E"/>
            </a:solidFill>
          </p:spPr>
        </p:sp>
        <p:sp>
          <p:nvSpPr>
            <p:cNvPr name="Freeform 123" id="123"/>
            <p:cNvSpPr/>
            <p:nvPr/>
          </p:nvSpPr>
          <p:spPr>
            <a:xfrm flipH="false" flipV="false" rot="0">
              <a:off x="0" y="0"/>
              <a:ext cx="1252982" cy="1618742"/>
            </a:xfrm>
            <a:custGeom>
              <a:avLst/>
              <a:gdLst/>
              <a:ahLst/>
              <a:cxnLst/>
              <a:rect r="r" b="b" t="t" l="l"/>
              <a:pathLst>
                <a:path h="1618742" w="1252982">
                  <a:moveTo>
                    <a:pt x="16891" y="0"/>
                  </a:moveTo>
                  <a:lnTo>
                    <a:pt x="1236091" y="0"/>
                  </a:lnTo>
                  <a:cubicBezTo>
                    <a:pt x="1245489" y="0"/>
                    <a:pt x="1252982" y="7620"/>
                    <a:pt x="1252982" y="16891"/>
                  </a:cubicBezTo>
                  <a:lnTo>
                    <a:pt x="1252982" y="1601851"/>
                  </a:lnTo>
                  <a:cubicBezTo>
                    <a:pt x="1252982" y="1611249"/>
                    <a:pt x="1245362" y="1618742"/>
                    <a:pt x="1236091" y="1618742"/>
                  </a:cubicBezTo>
                  <a:lnTo>
                    <a:pt x="16891" y="1618742"/>
                  </a:lnTo>
                  <a:cubicBezTo>
                    <a:pt x="7493" y="1618742"/>
                    <a:pt x="0" y="1611122"/>
                    <a:pt x="0" y="1601851"/>
                  </a:cubicBezTo>
                  <a:lnTo>
                    <a:pt x="0" y="16891"/>
                  </a:lnTo>
                  <a:cubicBezTo>
                    <a:pt x="0" y="7620"/>
                    <a:pt x="7620" y="0"/>
                    <a:pt x="16891" y="0"/>
                  </a:cubicBezTo>
                  <a:moveTo>
                    <a:pt x="16891" y="33909"/>
                  </a:moveTo>
                  <a:lnTo>
                    <a:pt x="16891" y="16891"/>
                  </a:lnTo>
                  <a:lnTo>
                    <a:pt x="33909" y="16891"/>
                  </a:lnTo>
                  <a:lnTo>
                    <a:pt x="33909" y="1601851"/>
                  </a:lnTo>
                  <a:lnTo>
                    <a:pt x="16891" y="1601851"/>
                  </a:lnTo>
                  <a:lnTo>
                    <a:pt x="16891" y="1584960"/>
                  </a:lnTo>
                  <a:lnTo>
                    <a:pt x="1236091" y="1584960"/>
                  </a:lnTo>
                  <a:lnTo>
                    <a:pt x="1236091" y="1601851"/>
                  </a:lnTo>
                  <a:lnTo>
                    <a:pt x="1219200" y="1601851"/>
                  </a:lnTo>
                  <a:lnTo>
                    <a:pt x="1219200" y="16891"/>
                  </a:lnTo>
                  <a:lnTo>
                    <a:pt x="1236091" y="16891"/>
                  </a:lnTo>
                  <a:lnTo>
                    <a:pt x="1236091" y="33909"/>
                  </a:lnTo>
                  <a:lnTo>
                    <a:pt x="16891" y="33909"/>
                  </a:lnTo>
                  <a:close/>
                </a:path>
              </a:pathLst>
            </a:custGeom>
            <a:solidFill>
              <a:srgbClr val="0D1B3E"/>
            </a:solidFill>
          </p:spPr>
        </p:sp>
      </p:grpSp>
      <p:grpSp>
        <p:nvGrpSpPr>
          <p:cNvPr name="Group 124" id="124"/>
          <p:cNvGrpSpPr/>
          <p:nvPr/>
        </p:nvGrpSpPr>
        <p:grpSpPr>
          <a:xfrm rot="0">
            <a:off x="9326880" y="5413248"/>
            <a:ext cx="914400" cy="1188720"/>
            <a:chOff x="0" y="0"/>
            <a:chExt cx="1219200" cy="1584960"/>
          </a:xfrm>
        </p:grpSpPr>
        <p:sp>
          <p:nvSpPr>
            <p:cNvPr name="Freeform 125" id="125"/>
            <p:cNvSpPr/>
            <p:nvPr/>
          </p:nvSpPr>
          <p:spPr>
            <a:xfrm flipH="false" flipV="false" rot="0">
              <a:off x="0" y="0"/>
              <a:ext cx="1219200" cy="1584960"/>
            </a:xfrm>
            <a:custGeom>
              <a:avLst/>
              <a:gdLst/>
              <a:ahLst/>
              <a:cxnLst/>
              <a:rect r="r" b="b" t="t" l="l"/>
              <a:pathLst>
                <a:path h="1584960" w="1219200">
                  <a:moveTo>
                    <a:pt x="0" y="0"/>
                  </a:moveTo>
                  <a:lnTo>
                    <a:pt x="1219200" y="0"/>
                  </a:lnTo>
                  <a:lnTo>
                    <a:pt x="1219200" y="1584960"/>
                  </a:lnTo>
                  <a:lnTo>
                    <a:pt x="0" y="1584960"/>
                  </a:lnTo>
                  <a:close/>
                </a:path>
              </a:pathLst>
            </a:custGeom>
            <a:blipFill>
              <a:blip r:embed="rId3">
                <a:alphaModFix amt="0"/>
              </a:blip>
              <a:stretch>
                <a:fillRect l="-116794" t="0" r="-116794" b="0"/>
              </a:stretch>
            </a:blipFill>
          </p:spPr>
        </p:sp>
        <p:sp>
          <p:nvSpPr>
            <p:cNvPr name="TextBox 126" id="126"/>
            <p:cNvSpPr txBox="true"/>
            <p:nvPr/>
          </p:nvSpPr>
          <p:spPr>
            <a:xfrm>
              <a:off x="0" y="-57150"/>
              <a:ext cx="1219200" cy="1642110"/>
            </a:xfrm>
            <a:prstGeom prst="rect">
              <a:avLst/>
            </a:prstGeom>
          </p:spPr>
          <p:txBody>
            <a:bodyPr anchor="ctr" rtlCol="false" tIns="0" lIns="0" bIns="0" rIns="0"/>
            <a:lstStyle/>
            <a:p>
              <a:pPr algn="ctr">
                <a:lnSpc>
                  <a:spcPts val="3120"/>
                </a:lnSpc>
              </a:pPr>
              <a:r>
                <a:rPr lang="en-US" sz="2600" b="true">
                  <a:solidFill>
                    <a:srgbClr val="FFFFFF"/>
                  </a:solidFill>
                  <a:latin typeface="Calibri (MS) Bold"/>
                  <a:ea typeface="Calibri (MS) Bold"/>
                  <a:cs typeface="Calibri (MS) Bold"/>
                  <a:sym typeface="Calibri (MS) Bold"/>
                </a:rPr>
                <a:t>08</a:t>
              </a:r>
            </a:p>
          </p:txBody>
        </p:sp>
      </p:grpSp>
      <p:grpSp>
        <p:nvGrpSpPr>
          <p:cNvPr name="Group 127" id="127"/>
          <p:cNvGrpSpPr/>
          <p:nvPr/>
        </p:nvGrpSpPr>
        <p:grpSpPr>
          <a:xfrm rot="0">
            <a:off x="10424160" y="5486400"/>
            <a:ext cx="6949440" cy="512064"/>
            <a:chOff x="0" y="0"/>
            <a:chExt cx="9265920" cy="682752"/>
          </a:xfrm>
        </p:grpSpPr>
        <p:sp>
          <p:nvSpPr>
            <p:cNvPr name="Freeform 128" id="128"/>
            <p:cNvSpPr/>
            <p:nvPr/>
          </p:nvSpPr>
          <p:spPr>
            <a:xfrm flipH="false" flipV="false" rot="0">
              <a:off x="0" y="0"/>
              <a:ext cx="9265920" cy="682752"/>
            </a:xfrm>
            <a:custGeom>
              <a:avLst/>
              <a:gdLst/>
              <a:ahLst/>
              <a:cxnLst/>
              <a:rect r="r" b="b" t="t" l="l"/>
              <a:pathLst>
                <a:path h="682752" w="9265920">
                  <a:moveTo>
                    <a:pt x="0" y="0"/>
                  </a:moveTo>
                  <a:lnTo>
                    <a:pt x="9265920" y="0"/>
                  </a:lnTo>
                  <a:lnTo>
                    <a:pt x="9265920" y="682752"/>
                  </a:lnTo>
                  <a:lnTo>
                    <a:pt x="0" y="682752"/>
                  </a:lnTo>
                  <a:close/>
                </a:path>
              </a:pathLst>
            </a:custGeom>
            <a:blipFill>
              <a:blip r:embed="rId3">
                <a:alphaModFix amt="0"/>
              </a:blip>
              <a:stretch>
                <a:fillRect l="0" t="-214439" r="0" b="-214439"/>
              </a:stretch>
            </a:blipFill>
          </p:spPr>
        </p:sp>
        <p:sp>
          <p:nvSpPr>
            <p:cNvPr name="TextBox 129" id="129"/>
            <p:cNvSpPr txBox="true"/>
            <p:nvPr/>
          </p:nvSpPr>
          <p:spPr>
            <a:xfrm>
              <a:off x="0" y="-38100"/>
              <a:ext cx="9265920" cy="720852"/>
            </a:xfrm>
            <a:prstGeom prst="rect">
              <a:avLst/>
            </a:prstGeom>
          </p:spPr>
          <p:txBody>
            <a:bodyPr anchor="ctr" rtlCol="false" tIns="0" lIns="0" bIns="0" rIns="0"/>
            <a:lstStyle/>
            <a:p>
              <a:pPr algn="l">
                <a:lnSpc>
                  <a:spcPts val="2879"/>
                </a:lnSpc>
              </a:pPr>
              <a:r>
                <a:rPr lang="en-US" sz="2400" b="true">
                  <a:solidFill>
                    <a:srgbClr val="1E293B"/>
                  </a:solidFill>
                  <a:latin typeface="Calibri (MS) Bold"/>
                  <a:ea typeface="Calibri (MS) Bold"/>
                  <a:cs typeface="Calibri (MS) Bold"/>
                  <a:sym typeface="Calibri (MS) Bold"/>
                </a:rPr>
                <a:t>Experiments &amp; Results</a:t>
              </a:r>
            </a:p>
          </p:txBody>
        </p:sp>
      </p:grpSp>
      <p:grpSp>
        <p:nvGrpSpPr>
          <p:cNvPr name="Group 130" id="130"/>
          <p:cNvGrpSpPr/>
          <p:nvPr/>
        </p:nvGrpSpPr>
        <p:grpSpPr>
          <a:xfrm rot="0">
            <a:off x="10424160" y="6016752"/>
            <a:ext cx="6949440" cy="512064"/>
            <a:chOff x="0" y="0"/>
            <a:chExt cx="9265920" cy="682752"/>
          </a:xfrm>
        </p:grpSpPr>
        <p:sp>
          <p:nvSpPr>
            <p:cNvPr name="Freeform 131" id="131"/>
            <p:cNvSpPr/>
            <p:nvPr/>
          </p:nvSpPr>
          <p:spPr>
            <a:xfrm flipH="false" flipV="false" rot="0">
              <a:off x="0" y="0"/>
              <a:ext cx="9265920" cy="682752"/>
            </a:xfrm>
            <a:custGeom>
              <a:avLst/>
              <a:gdLst/>
              <a:ahLst/>
              <a:cxnLst/>
              <a:rect r="r" b="b" t="t" l="l"/>
              <a:pathLst>
                <a:path h="682752" w="9265920">
                  <a:moveTo>
                    <a:pt x="0" y="0"/>
                  </a:moveTo>
                  <a:lnTo>
                    <a:pt x="9265920" y="0"/>
                  </a:lnTo>
                  <a:lnTo>
                    <a:pt x="9265920" y="682752"/>
                  </a:lnTo>
                  <a:lnTo>
                    <a:pt x="0" y="682752"/>
                  </a:lnTo>
                  <a:close/>
                </a:path>
              </a:pathLst>
            </a:custGeom>
            <a:blipFill>
              <a:blip r:embed="rId3">
                <a:alphaModFix amt="0"/>
              </a:blip>
              <a:stretch>
                <a:fillRect l="0" t="-214439" r="0" b="-214439"/>
              </a:stretch>
            </a:blipFill>
          </p:spPr>
        </p:sp>
        <p:sp>
          <p:nvSpPr>
            <p:cNvPr name="TextBox 132" id="132"/>
            <p:cNvSpPr txBox="true"/>
            <p:nvPr/>
          </p:nvSpPr>
          <p:spPr>
            <a:xfrm>
              <a:off x="0" y="-38100"/>
              <a:ext cx="9265920" cy="720852"/>
            </a:xfrm>
            <a:prstGeom prst="rect">
              <a:avLst/>
            </a:prstGeom>
          </p:spPr>
          <p:txBody>
            <a:bodyPr anchor="ctr" rtlCol="false" tIns="0" lIns="0" bIns="0" rIns="0"/>
            <a:lstStyle/>
            <a:p>
              <a:pPr algn="l">
                <a:lnSpc>
                  <a:spcPts val="2160"/>
                </a:lnSpc>
              </a:pPr>
              <a:r>
                <a:rPr lang="en-US" sz="1800">
                  <a:solidFill>
                    <a:srgbClr val="94A3B8"/>
                  </a:solidFill>
                  <a:latin typeface="Calibri (MS)"/>
                  <a:ea typeface="Calibri (MS)"/>
                  <a:cs typeface="Calibri (MS)"/>
                  <a:sym typeface="Calibri (MS)"/>
                </a:rPr>
                <a:t>Datasets, metrics, ablation study, qualitative analysis</a:t>
              </a:r>
            </a:p>
          </p:txBody>
        </p:sp>
      </p:grpSp>
      <p:grpSp>
        <p:nvGrpSpPr>
          <p:cNvPr name="Group 133" id="133"/>
          <p:cNvGrpSpPr/>
          <p:nvPr/>
        </p:nvGrpSpPr>
        <p:grpSpPr>
          <a:xfrm rot="0">
            <a:off x="9320527" y="6833359"/>
            <a:ext cx="8242297" cy="1201417"/>
            <a:chOff x="0" y="0"/>
            <a:chExt cx="10989729" cy="1601889"/>
          </a:xfrm>
        </p:grpSpPr>
        <p:sp>
          <p:nvSpPr>
            <p:cNvPr name="Freeform 134" id="134"/>
            <p:cNvSpPr/>
            <p:nvPr/>
          </p:nvSpPr>
          <p:spPr>
            <a:xfrm flipH="false" flipV="false" rot="0">
              <a:off x="8509" y="8509"/>
              <a:ext cx="10972800" cy="1584960"/>
            </a:xfrm>
            <a:custGeom>
              <a:avLst/>
              <a:gdLst/>
              <a:ahLst/>
              <a:cxnLst/>
              <a:rect r="r" b="b" t="t" l="l"/>
              <a:pathLst>
                <a:path h="1584960" w="10972800">
                  <a:moveTo>
                    <a:pt x="0" y="0"/>
                  </a:moveTo>
                  <a:lnTo>
                    <a:pt x="10972800" y="0"/>
                  </a:lnTo>
                  <a:lnTo>
                    <a:pt x="10972800" y="1584960"/>
                  </a:lnTo>
                  <a:lnTo>
                    <a:pt x="0" y="1584960"/>
                  </a:lnTo>
                  <a:close/>
                </a:path>
              </a:pathLst>
            </a:custGeom>
            <a:solidFill>
              <a:srgbClr val="FFFFFF"/>
            </a:solidFill>
          </p:spPr>
        </p:sp>
        <p:sp>
          <p:nvSpPr>
            <p:cNvPr name="Freeform 135" id="135"/>
            <p:cNvSpPr/>
            <p:nvPr/>
          </p:nvSpPr>
          <p:spPr>
            <a:xfrm flipH="false" flipV="false" rot="0">
              <a:off x="0" y="0"/>
              <a:ext cx="10989818" cy="1601978"/>
            </a:xfrm>
            <a:custGeom>
              <a:avLst/>
              <a:gdLst/>
              <a:ahLst/>
              <a:cxnLst/>
              <a:rect r="r" b="b" t="t" l="l"/>
              <a:pathLst>
                <a:path h="1601978" w="10989818">
                  <a:moveTo>
                    <a:pt x="8509" y="0"/>
                  </a:moveTo>
                  <a:lnTo>
                    <a:pt x="10981309" y="0"/>
                  </a:lnTo>
                  <a:cubicBezTo>
                    <a:pt x="10986008" y="0"/>
                    <a:pt x="10989818" y="3810"/>
                    <a:pt x="10989818" y="8509"/>
                  </a:cubicBezTo>
                  <a:lnTo>
                    <a:pt x="10989818" y="1593469"/>
                  </a:lnTo>
                  <a:cubicBezTo>
                    <a:pt x="10989818" y="1598168"/>
                    <a:pt x="10986008" y="1601978"/>
                    <a:pt x="10981309" y="1601978"/>
                  </a:cubicBezTo>
                  <a:lnTo>
                    <a:pt x="8509" y="1601978"/>
                  </a:lnTo>
                  <a:cubicBezTo>
                    <a:pt x="3810" y="1601978"/>
                    <a:pt x="0" y="1598168"/>
                    <a:pt x="0" y="1593469"/>
                  </a:cubicBezTo>
                  <a:lnTo>
                    <a:pt x="0" y="8509"/>
                  </a:lnTo>
                  <a:cubicBezTo>
                    <a:pt x="0" y="3810"/>
                    <a:pt x="3810" y="0"/>
                    <a:pt x="8509" y="0"/>
                  </a:cubicBezTo>
                  <a:moveTo>
                    <a:pt x="8509" y="16891"/>
                  </a:moveTo>
                  <a:lnTo>
                    <a:pt x="8509" y="8509"/>
                  </a:lnTo>
                  <a:lnTo>
                    <a:pt x="17018" y="8509"/>
                  </a:lnTo>
                  <a:lnTo>
                    <a:pt x="17018" y="1593469"/>
                  </a:lnTo>
                  <a:lnTo>
                    <a:pt x="8509" y="1593469"/>
                  </a:lnTo>
                  <a:lnTo>
                    <a:pt x="8509" y="1584960"/>
                  </a:lnTo>
                  <a:lnTo>
                    <a:pt x="10981309" y="1584960"/>
                  </a:lnTo>
                  <a:lnTo>
                    <a:pt x="10981309" y="1593469"/>
                  </a:lnTo>
                  <a:lnTo>
                    <a:pt x="10972800" y="1593469"/>
                  </a:lnTo>
                  <a:lnTo>
                    <a:pt x="10972800" y="8509"/>
                  </a:lnTo>
                  <a:lnTo>
                    <a:pt x="10981309" y="8509"/>
                  </a:lnTo>
                  <a:lnTo>
                    <a:pt x="10981309" y="17018"/>
                  </a:lnTo>
                  <a:lnTo>
                    <a:pt x="8509" y="17018"/>
                  </a:lnTo>
                  <a:close/>
                </a:path>
              </a:pathLst>
            </a:custGeom>
            <a:solidFill>
              <a:srgbClr val="E2E8F0"/>
            </a:solidFill>
          </p:spPr>
        </p:sp>
      </p:grpSp>
      <p:grpSp>
        <p:nvGrpSpPr>
          <p:cNvPr name="Group 136" id="136"/>
          <p:cNvGrpSpPr/>
          <p:nvPr/>
        </p:nvGrpSpPr>
        <p:grpSpPr>
          <a:xfrm rot="0">
            <a:off x="9314183" y="6827015"/>
            <a:ext cx="939803" cy="1214123"/>
            <a:chOff x="0" y="0"/>
            <a:chExt cx="1253071" cy="1618831"/>
          </a:xfrm>
        </p:grpSpPr>
        <p:sp>
          <p:nvSpPr>
            <p:cNvPr name="Freeform 137" id="137"/>
            <p:cNvSpPr/>
            <p:nvPr/>
          </p:nvSpPr>
          <p:spPr>
            <a:xfrm flipH="false" flipV="false" rot="0">
              <a:off x="16891" y="16891"/>
              <a:ext cx="1219200" cy="1584960"/>
            </a:xfrm>
            <a:custGeom>
              <a:avLst/>
              <a:gdLst/>
              <a:ahLst/>
              <a:cxnLst/>
              <a:rect r="r" b="b" t="t" l="l"/>
              <a:pathLst>
                <a:path h="1584960" w="1219200">
                  <a:moveTo>
                    <a:pt x="0" y="0"/>
                  </a:moveTo>
                  <a:lnTo>
                    <a:pt x="1219200" y="0"/>
                  </a:lnTo>
                  <a:lnTo>
                    <a:pt x="1219200" y="1584960"/>
                  </a:lnTo>
                  <a:lnTo>
                    <a:pt x="0" y="1584960"/>
                  </a:lnTo>
                  <a:close/>
                </a:path>
              </a:pathLst>
            </a:custGeom>
            <a:solidFill>
              <a:srgbClr val="0D9488"/>
            </a:solidFill>
          </p:spPr>
        </p:sp>
        <p:sp>
          <p:nvSpPr>
            <p:cNvPr name="Freeform 138" id="138"/>
            <p:cNvSpPr/>
            <p:nvPr/>
          </p:nvSpPr>
          <p:spPr>
            <a:xfrm flipH="false" flipV="false" rot="0">
              <a:off x="0" y="0"/>
              <a:ext cx="1252982" cy="1618742"/>
            </a:xfrm>
            <a:custGeom>
              <a:avLst/>
              <a:gdLst/>
              <a:ahLst/>
              <a:cxnLst/>
              <a:rect r="r" b="b" t="t" l="l"/>
              <a:pathLst>
                <a:path h="1618742" w="1252982">
                  <a:moveTo>
                    <a:pt x="16891" y="0"/>
                  </a:moveTo>
                  <a:lnTo>
                    <a:pt x="1236091" y="0"/>
                  </a:lnTo>
                  <a:cubicBezTo>
                    <a:pt x="1245489" y="0"/>
                    <a:pt x="1252982" y="7620"/>
                    <a:pt x="1252982" y="16891"/>
                  </a:cubicBezTo>
                  <a:lnTo>
                    <a:pt x="1252982" y="1601851"/>
                  </a:lnTo>
                  <a:cubicBezTo>
                    <a:pt x="1252982" y="1611249"/>
                    <a:pt x="1245362" y="1618742"/>
                    <a:pt x="1236091" y="1618742"/>
                  </a:cubicBezTo>
                  <a:lnTo>
                    <a:pt x="16891" y="1618742"/>
                  </a:lnTo>
                  <a:cubicBezTo>
                    <a:pt x="7493" y="1618742"/>
                    <a:pt x="0" y="1611122"/>
                    <a:pt x="0" y="1601851"/>
                  </a:cubicBezTo>
                  <a:lnTo>
                    <a:pt x="0" y="16891"/>
                  </a:lnTo>
                  <a:cubicBezTo>
                    <a:pt x="0" y="7620"/>
                    <a:pt x="7620" y="0"/>
                    <a:pt x="16891" y="0"/>
                  </a:cubicBezTo>
                  <a:moveTo>
                    <a:pt x="16891" y="33909"/>
                  </a:moveTo>
                  <a:lnTo>
                    <a:pt x="16891" y="16891"/>
                  </a:lnTo>
                  <a:lnTo>
                    <a:pt x="33909" y="16891"/>
                  </a:lnTo>
                  <a:lnTo>
                    <a:pt x="33909" y="1601851"/>
                  </a:lnTo>
                  <a:lnTo>
                    <a:pt x="16891" y="1601851"/>
                  </a:lnTo>
                  <a:lnTo>
                    <a:pt x="16891" y="1584960"/>
                  </a:lnTo>
                  <a:lnTo>
                    <a:pt x="1236091" y="1584960"/>
                  </a:lnTo>
                  <a:lnTo>
                    <a:pt x="1236091" y="1601851"/>
                  </a:lnTo>
                  <a:lnTo>
                    <a:pt x="1219200" y="1601851"/>
                  </a:lnTo>
                  <a:lnTo>
                    <a:pt x="1219200" y="16891"/>
                  </a:lnTo>
                  <a:lnTo>
                    <a:pt x="1236091" y="16891"/>
                  </a:lnTo>
                  <a:lnTo>
                    <a:pt x="1236091" y="33909"/>
                  </a:lnTo>
                  <a:lnTo>
                    <a:pt x="16891" y="33909"/>
                  </a:lnTo>
                  <a:close/>
                </a:path>
              </a:pathLst>
            </a:custGeom>
            <a:solidFill>
              <a:srgbClr val="0D9488"/>
            </a:solidFill>
          </p:spPr>
        </p:sp>
      </p:grpSp>
      <p:grpSp>
        <p:nvGrpSpPr>
          <p:cNvPr name="Group 139" id="139"/>
          <p:cNvGrpSpPr/>
          <p:nvPr/>
        </p:nvGrpSpPr>
        <p:grpSpPr>
          <a:xfrm rot="0">
            <a:off x="9326880" y="6839712"/>
            <a:ext cx="914400" cy="1188720"/>
            <a:chOff x="0" y="0"/>
            <a:chExt cx="1219200" cy="1584960"/>
          </a:xfrm>
        </p:grpSpPr>
        <p:sp>
          <p:nvSpPr>
            <p:cNvPr name="Freeform 140" id="140"/>
            <p:cNvSpPr/>
            <p:nvPr/>
          </p:nvSpPr>
          <p:spPr>
            <a:xfrm flipH="false" flipV="false" rot="0">
              <a:off x="0" y="0"/>
              <a:ext cx="1219200" cy="1584960"/>
            </a:xfrm>
            <a:custGeom>
              <a:avLst/>
              <a:gdLst/>
              <a:ahLst/>
              <a:cxnLst/>
              <a:rect r="r" b="b" t="t" l="l"/>
              <a:pathLst>
                <a:path h="1584960" w="1219200">
                  <a:moveTo>
                    <a:pt x="0" y="0"/>
                  </a:moveTo>
                  <a:lnTo>
                    <a:pt x="1219200" y="0"/>
                  </a:lnTo>
                  <a:lnTo>
                    <a:pt x="1219200" y="1584960"/>
                  </a:lnTo>
                  <a:lnTo>
                    <a:pt x="0" y="1584960"/>
                  </a:lnTo>
                  <a:close/>
                </a:path>
              </a:pathLst>
            </a:custGeom>
            <a:blipFill>
              <a:blip r:embed="rId3">
                <a:alphaModFix amt="0"/>
              </a:blip>
              <a:stretch>
                <a:fillRect l="-116794" t="0" r="-116794" b="0"/>
              </a:stretch>
            </a:blipFill>
          </p:spPr>
        </p:sp>
        <p:sp>
          <p:nvSpPr>
            <p:cNvPr name="TextBox 141" id="141"/>
            <p:cNvSpPr txBox="true"/>
            <p:nvPr/>
          </p:nvSpPr>
          <p:spPr>
            <a:xfrm>
              <a:off x="0" y="-57150"/>
              <a:ext cx="1219200" cy="1642110"/>
            </a:xfrm>
            <a:prstGeom prst="rect">
              <a:avLst/>
            </a:prstGeom>
          </p:spPr>
          <p:txBody>
            <a:bodyPr anchor="ctr" rtlCol="false" tIns="0" lIns="0" bIns="0" rIns="0"/>
            <a:lstStyle/>
            <a:p>
              <a:pPr algn="ctr">
                <a:lnSpc>
                  <a:spcPts val="3120"/>
                </a:lnSpc>
              </a:pPr>
              <a:r>
                <a:rPr lang="en-US" sz="2600" b="true">
                  <a:solidFill>
                    <a:srgbClr val="FFFFFF"/>
                  </a:solidFill>
                  <a:latin typeface="Calibri (MS) Bold"/>
                  <a:ea typeface="Calibri (MS) Bold"/>
                  <a:cs typeface="Calibri (MS) Bold"/>
                  <a:sym typeface="Calibri (MS) Bold"/>
                </a:rPr>
                <a:t>09</a:t>
              </a:r>
            </a:p>
          </p:txBody>
        </p:sp>
      </p:grpSp>
      <p:grpSp>
        <p:nvGrpSpPr>
          <p:cNvPr name="Group 142" id="142"/>
          <p:cNvGrpSpPr/>
          <p:nvPr/>
        </p:nvGrpSpPr>
        <p:grpSpPr>
          <a:xfrm rot="0">
            <a:off x="10424160" y="6912864"/>
            <a:ext cx="6949440" cy="512064"/>
            <a:chOff x="0" y="0"/>
            <a:chExt cx="9265920" cy="682752"/>
          </a:xfrm>
        </p:grpSpPr>
        <p:sp>
          <p:nvSpPr>
            <p:cNvPr name="Freeform 143" id="143"/>
            <p:cNvSpPr/>
            <p:nvPr/>
          </p:nvSpPr>
          <p:spPr>
            <a:xfrm flipH="false" flipV="false" rot="0">
              <a:off x="0" y="0"/>
              <a:ext cx="9265920" cy="682752"/>
            </a:xfrm>
            <a:custGeom>
              <a:avLst/>
              <a:gdLst/>
              <a:ahLst/>
              <a:cxnLst/>
              <a:rect r="r" b="b" t="t" l="l"/>
              <a:pathLst>
                <a:path h="682752" w="9265920">
                  <a:moveTo>
                    <a:pt x="0" y="0"/>
                  </a:moveTo>
                  <a:lnTo>
                    <a:pt x="9265920" y="0"/>
                  </a:lnTo>
                  <a:lnTo>
                    <a:pt x="9265920" y="682752"/>
                  </a:lnTo>
                  <a:lnTo>
                    <a:pt x="0" y="682752"/>
                  </a:lnTo>
                  <a:close/>
                </a:path>
              </a:pathLst>
            </a:custGeom>
            <a:blipFill>
              <a:blip r:embed="rId3">
                <a:alphaModFix amt="0"/>
              </a:blip>
              <a:stretch>
                <a:fillRect l="0" t="-214439" r="0" b="-214439"/>
              </a:stretch>
            </a:blipFill>
          </p:spPr>
        </p:sp>
        <p:sp>
          <p:nvSpPr>
            <p:cNvPr name="TextBox 144" id="144"/>
            <p:cNvSpPr txBox="true"/>
            <p:nvPr/>
          </p:nvSpPr>
          <p:spPr>
            <a:xfrm>
              <a:off x="0" y="-38100"/>
              <a:ext cx="9265920" cy="720852"/>
            </a:xfrm>
            <a:prstGeom prst="rect">
              <a:avLst/>
            </a:prstGeom>
          </p:spPr>
          <p:txBody>
            <a:bodyPr anchor="ctr" rtlCol="false" tIns="0" lIns="0" bIns="0" rIns="0"/>
            <a:lstStyle/>
            <a:p>
              <a:pPr algn="l">
                <a:lnSpc>
                  <a:spcPts val="2879"/>
                </a:lnSpc>
              </a:pPr>
              <a:r>
                <a:rPr lang="en-US" sz="2400" b="true">
                  <a:solidFill>
                    <a:srgbClr val="1E293B"/>
                  </a:solidFill>
                  <a:latin typeface="Calibri (MS) Bold"/>
                  <a:ea typeface="Calibri (MS) Bold"/>
                  <a:cs typeface="Calibri (MS) Bold"/>
                  <a:sym typeface="Calibri (MS) Bold"/>
                </a:rPr>
                <a:t>Key Takeaways</a:t>
              </a:r>
            </a:p>
          </p:txBody>
        </p:sp>
      </p:grpSp>
      <p:grpSp>
        <p:nvGrpSpPr>
          <p:cNvPr name="Group 145" id="145"/>
          <p:cNvGrpSpPr/>
          <p:nvPr/>
        </p:nvGrpSpPr>
        <p:grpSpPr>
          <a:xfrm rot="0">
            <a:off x="10424160" y="7443216"/>
            <a:ext cx="6949440" cy="512064"/>
            <a:chOff x="0" y="0"/>
            <a:chExt cx="9265920" cy="682752"/>
          </a:xfrm>
        </p:grpSpPr>
        <p:sp>
          <p:nvSpPr>
            <p:cNvPr name="Freeform 146" id="146"/>
            <p:cNvSpPr/>
            <p:nvPr/>
          </p:nvSpPr>
          <p:spPr>
            <a:xfrm flipH="false" flipV="false" rot="0">
              <a:off x="0" y="0"/>
              <a:ext cx="9265920" cy="682752"/>
            </a:xfrm>
            <a:custGeom>
              <a:avLst/>
              <a:gdLst/>
              <a:ahLst/>
              <a:cxnLst/>
              <a:rect r="r" b="b" t="t" l="l"/>
              <a:pathLst>
                <a:path h="682752" w="9265920">
                  <a:moveTo>
                    <a:pt x="0" y="0"/>
                  </a:moveTo>
                  <a:lnTo>
                    <a:pt x="9265920" y="0"/>
                  </a:lnTo>
                  <a:lnTo>
                    <a:pt x="9265920" y="682752"/>
                  </a:lnTo>
                  <a:lnTo>
                    <a:pt x="0" y="682752"/>
                  </a:lnTo>
                  <a:close/>
                </a:path>
              </a:pathLst>
            </a:custGeom>
            <a:blipFill>
              <a:blip r:embed="rId3">
                <a:alphaModFix amt="0"/>
              </a:blip>
              <a:stretch>
                <a:fillRect l="0" t="-214439" r="0" b="-214439"/>
              </a:stretch>
            </a:blipFill>
          </p:spPr>
        </p:sp>
        <p:sp>
          <p:nvSpPr>
            <p:cNvPr name="TextBox 147" id="147"/>
            <p:cNvSpPr txBox="true"/>
            <p:nvPr/>
          </p:nvSpPr>
          <p:spPr>
            <a:xfrm>
              <a:off x="0" y="-38100"/>
              <a:ext cx="9265920" cy="720852"/>
            </a:xfrm>
            <a:prstGeom prst="rect">
              <a:avLst/>
            </a:prstGeom>
          </p:spPr>
          <p:txBody>
            <a:bodyPr anchor="ctr" rtlCol="false" tIns="0" lIns="0" bIns="0" rIns="0"/>
            <a:lstStyle/>
            <a:p>
              <a:pPr algn="l">
                <a:lnSpc>
                  <a:spcPts val="2160"/>
                </a:lnSpc>
              </a:pPr>
              <a:r>
                <a:rPr lang="en-US" sz="1800">
                  <a:solidFill>
                    <a:srgbClr val="94A3B8"/>
                  </a:solidFill>
                  <a:latin typeface="Calibri (MS)"/>
                  <a:ea typeface="Calibri (MS)"/>
                  <a:cs typeface="Calibri (MS)"/>
                  <a:sym typeface="Calibri (MS)"/>
                </a:rPr>
                <a:t>Summary and future directions</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718823" y="316487"/>
            <a:ext cx="2951483" cy="574043"/>
            <a:chOff x="0" y="0"/>
            <a:chExt cx="3935311" cy="765391"/>
          </a:xfrm>
        </p:grpSpPr>
        <p:sp>
          <p:nvSpPr>
            <p:cNvPr name="Freeform 3" id="3"/>
            <p:cNvSpPr/>
            <p:nvPr/>
          </p:nvSpPr>
          <p:spPr>
            <a:xfrm flipH="false" flipV="false" rot="0">
              <a:off x="16891" y="16891"/>
              <a:ext cx="3901440" cy="731520"/>
            </a:xfrm>
            <a:custGeom>
              <a:avLst/>
              <a:gdLst/>
              <a:ahLst/>
              <a:cxnLst/>
              <a:rect r="r" b="b" t="t" l="l"/>
              <a:pathLst>
                <a:path h="731520" w="3901440">
                  <a:moveTo>
                    <a:pt x="0" y="0"/>
                  </a:moveTo>
                  <a:lnTo>
                    <a:pt x="3901440" y="0"/>
                  </a:lnTo>
                  <a:lnTo>
                    <a:pt x="3901440" y="731520"/>
                  </a:lnTo>
                  <a:lnTo>
                    <a:pt x="0" y="731520"/>
                  </a:lnTo>
                  <a:close/>
                </a:path>
              </a:pathLst>
            </a:custGeom>
            <a:solidFill>
              <a:srgbClr val="0D9488"/>
            </a:solidFill>
          </p:spPr>
        </p:sp>
        <p:sp>
          <p:nvSpPr>
            <p:cNvPr name="Freeform 4" id="4"/>
            <p:cNvSpPr/>
            <p:nvPr/>
          </p:nvSpPr>
          <p:spPr>
            <a:xfrm flipH="false" flipV="false" rot="0">
              <a:off x="0" y="0"/>
              <a:ext cx="3935222" cy="765304"/>
            </a:xfrm>
            <a:custGeom>
              <a:avLst/>
              <a:gdLst/>
              <a:ahLst/>
              <a:cxnLst/>
              <a:rect r="r" b="b" t="t" l="l"/>
              <a:pathLst>
                <a:path h="765304" w="3935222">
                  <a:moveTo>
                    <a:pt x="16891" y="0"/>
                  </a:moveTo>
                  <a:lnTo>
                    <a:pt x="3918331" y="0"/>
                  </a:lnTo>
                  <a:cubicBezTo>
                    <a:pt x="3927729" y="0"/>
                    <a:pt x="3935222" y="7620"/>
                    <a:pt x="3935222" y="16891"/>
                  </a:cubicBezTo>
                  <a:lnTo>
                    <a:pt x="3935222" y="748411"/>
                  </a:lnTo>
                  <a:cubicBezTo>
                    <a:pt x="3935222" y="757809"/>
                    <a:pt x="3927602" y="765302"/>
                    <a:pt x="3918331" y="765302"/>
                  </a:cubicBezTo>
                  <a:lnTo>
                    <a:pt x="16891" y="765302"/>
                  </a:lnTo>
                  <a:cubicBezTo>
                    <a:pt x="7620" y="765429"/>
                    <a:pt x="0" y="757809"/>
                    <a:pt x="0" y="748411"/>
                  </a:cubicBezTo>
                  <a:lnTo>
                    <a:pt x="0" y="16891"/>
                  </a:lnTo>
                  <a:cubicBezTo>
                    <a:pt x="0" y="7620"/>
                    <a:pt x="7620" y="0"/>
                    <a:pt x="16891" y="0"/>
                  </a:cubicBezTo>
                  <a:moveTo>
                    <a:pt x="16891" y="33909"/>
                  </a:moveTo>
                  <a:lnTo>
                    <a:pt x="16891" y="16891"/>
                  </a:lnTo>
                  <a:lnTo>
                    <a:pt x="33909" y="16891"/>
                  </a:lnTo>
                  <a:lnTo>
                    <a:pt x="33909" y="748411"/>
                  </a:lnTo>
                  <a:lnTo>
                    <a:pt x="16891" y="748411"/>
                  </a:lnTo>
                  <a:lnTo>
                    <a:pt x="16891" y="731520"/>
                  </a:lnTo>
                  <a:lnTo>
                    <a:pt x="3918331" y="731520"/>
                  </a:lnTo>
                  <a:lnTo>
                    <a:pt x="3918331" y="748411"/>
                  </a:lnTo>
                  <a:lnTo>
                    <a:pt x="3901440" y="748411"/>
                  </a:lnTo>
                  <a:lnTo>
                    <a:pt x="3901440" y="16891"/>
                  </a:lnTo>
                  <a:lnTo>
                    <a:pt x="3918331" y="16891"/>
                  </a:lnTo>
                  <a:lnTo>
                    <a:pt x="3918331" y="33909"/>
                  </a:lnTo>
                  <a:lnTo>
                    <a:pt x="16891" y="33909"/>
                  </a:lnTo>
                  <a:close/>
                </a:path>
              </a:pathLst>
            </a:custGeom>
            <a:solidFill>
              <a:srgbClr val="0D9488"/>
            </a:solidFill>
          </p:spPr>
        </p:sp>
      </p:grpSp>
      <p:grpSp>
        <p:nvGrpSpPr>
          <p:cNvPr name="Group 5" id="5"/>
          <p:cNvGrpSpPr/>
          <p:nvPr/>
        </p:nvGrpSpPr>
        <p:grpSpPr>
          <a:xfrm rot="0">
            <a:off x="731520" y="329184"/>
            <a:ext cx="2926080" cy="548640"/>
            <a:chOff x="0" y="0"/>
            <a:chExt cx="3901440" cy="731520"/>
          </a:xfrm>
        </p:grpSpPr>
        <p:sp>
          <p:nvSpPr>
            <p:cNvPr name="Freeform 6" id="6"/>
            <p:cNvSpPr/>
            <p:nvPr/>
          </p:nvSpPr>
          <p:spPr>
            <a:xfrm flipH="false" flipV="false" rot="0">
              <a:off x="0" y="0"/>
              <a:ext cx="3901440" cy="731520"/>
            </a:xfrm>
            <a:custGeom>
              <a:avLst/>
              <a:gdLst/>
              <a:ahLst/>
              <a:cxnLst/>
              <a:rect r="r" b="b" t="t" l="l"/>
              <a:pathLst>
                <a:path h="731520" w="3901440">
                  <a:moveTo>
                    <a:pt x="0" y="0"/>
                  </a:moveTo>
                  <a:lnTo>
                    <a:pt x="3901440" y="0"/>
                  </a:lnTo>
                  <a:lnTo>
                    <a:pt x="3901440" y="731520"/>
                  </a:lnTo>
                  <a:lnTo>
                    <a:pt x="0" y="731520"/>
                  </a:lnTo>
                  <a:close/>
                </a:path>
              </a:pathLst>
            </a:custGeom>
            <a:blipFill>
              <a:blip r:embed="rId3">
                <a:alphaModFix amt="0"/>
              </a:blip>
              <a:stretch>
                <a:fillRect l="0" t="-53920" r="0" b="-53920"/>
              </a:stretch>
            </a:blipFill>
          </p:spPr>
        </p:sp>
        <p:sp>
          <p:nvSpPr>
            <p:cNvPr name="TextBox 7" id="7"/>
            <p:cNvSpPr txBox="true"/>
            <p:nvPr/>
          </p:nvSpPr>
          <p:spPr>
            <a:xfrm>
              <a:off x="0" y="-38100"/>
              <a:ext cx="3901440" cy="76962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01 · THE PROBLEM</a:t>
              </a:r>
            </a:p>
          </p:txBody>
        </p:sp>
      </p:grpSp>
      <p:grpSp>
        <p:nvGrpSpPr>
          <p:cNvPr name="Group 8" id="8"/>
          <p:cNvGrpSpPr/>
          <p:nvPr/>
        </p:nvGrpSpPr>
        <p:grpSpPr>
          <a:xfrm rot="0">
            <a:off x="914400" y="1005840"/>
            <a:ext cx="16459200" cy="1188720"/>
            <a:chOff x="0" y="0"/>
            <a:chExt cx="21945600" cy="1584960"/>
          </a:xfrm>
        </p:grpSpPr>
        <p:sp>
          <p:nvSpPr>
            <p:cNvPr name="Freeform 9" id="9"/>
            <p:cNvSpPr/>
            <p:nvPr/>
          </p:nvSpPr>
          <p:spPr>
            <a:xfrm flipH="false" flipV="false" rot="0">
              <a:off x="0" y="0"/>
              <a:ext cx="21945600" cy="1584960"/>
            </a:xfrm>
            <a:custGeom>
              <a:avLst/>
              <a:gdLst/>
              <a:ahLst/>
              <a:cxnLst/>
              <a:rect r="r" b="b" t="t" l="l"/>
              <a:pathLst>
                <a:path h="1584960" w="21945600">
                  <a:moveTo>
                    <a:pt x="0" y="0"/>
                  </a:moveTo>
                  <a:lnTo>
                    <a:pt x="21945600" y="0"/>
                  </a:lnTo>
                  <a:lnTo>
                    <a:pt x="21945600" y="1584960"/>
                  </a:lnTo>
                  <a:lnTo>
                    <a:pt x="0" y="1584960"/>
                  </a:lnTo>
                  <a:close/>
                </a:path>
              </a:pathLst>
            </a:custGeom>
            <a:blipFill>
              <a:blip r:embed="rId3">
                <a:alphaModFix amt="0"/>
              </a:blip>
              <a:stretch>
                <a:fillRect l="0" t="-219792" r="0" b="-219792"/>
              </a:stretch>
            </a:blipFill>
          </p:spPr>
        </p:sp>
        <p:sp>
          <p:nvSpPr>
            <p:cNvPr name="TextBox 10" id="10"/>
            <p:cNvSpPr txBox="true"/>
            <p:nvPr/>
          </p:nvSpPr>
          <p:spPr>
            <a:xfrm>
              <a:off x="0" y="-104775"/>
              <a:ext cx="21945600" cy="1689735"/>
            </a:xfrm>
            <a:prstGeom prst="rect">
              <a:avLst/>
            </a:prstGeom>
          </p:spPr>
          <p:txBody>
            <a:bodyPr anchor="ctr" rtlCol="false" tIns="0" lIns="0" bIns="0" rIns="0"/>
            <a:lstStyle/>
            <a:p>
              <a:pPr algn="l">
                <a:lnSpc>
                  <a:spcPts val="6240"/>
                </a:lnSpc>
              </a:pPr>
              <a:r>
                <a:rPr lang="en-US" sz="5200" b="true">
                  <a:solidFill>
                    <a:srgbClr val="1E293B"/>
                  </a:solidFill>
                  <a:latin typeface="Calibri (MS) Bold"/>
                  <a:ea typeface="Calibri (MS) Bold"/>
                  <a:cs typeface="Calibri (MS) Bold"/>
                  <a:sym typeface="Calibri (MS) Bold"/>
                </a:rPr>
                <a:t>Remote Sensing Image Captioning (RSIC)</a:t>
              </a:r>
            </a:p>
          </p:txBody>
        </p:sp>
      </p:grpSp>
      <p:grpSp>
        <p:nvGrpSpPr>
          <p:cNvPr name="Group 11" id="11"/>
          <p:cNvGrpSpPr/>
          <p:nvPr/>
        </p:nvGrpSpPr>
        <p:grpSpPr>
          <a:xfrm rot="0">
            <a:off x="725167" y="2279647"/>
            <a:ext cx="16837657" cy="12697"/>
            <a:chOff x="0" y="0"/>
            <a:chExt cx="22450209" cy="16929"/>
          </a:xfrm>
        </p:grpSpPr>
        <p:sp>
          <p:nvSpPr>
            <p:cNvPr name="Freeform 12" id="12"/>
            <p:cNvSpPr/>
            <p:nvPr/>
          </p:nvSpPr>
          <p:spPr>
            <a:xfrm flipH="false" flipV="false" rot="0">
              <a:off x="8509" y="0"/>
              <a:ext cx="22433281" cy="16891"/>
            </a:xfrm>
            <a:custGeom>
              <a:avLst/>
              <a:gdLst/>
              <a:ahLst/>
              <a:cxnLst/>
              <a:rect r="r" b="b" t="t" l="l"/>
              <a:pathLst>
                <a:path h="16891" w="22433281">
                  <a:moveTo>
                    <a:pt x="0" y="0"/>
                  </a:moveTo>
                  <a:lnTo>
                    <a:pt x="22433281" y="0"/>
                  </a:lnTo>
                  <a:lnTo>
                    <a:pt x="22433281" y="16891"/>
                  </a:lnTo>
                  <a:lnTo>
                    <a:pt x="0" y="16891"/>
                  </a:lnTo>
                  <a:close/>
                </a:path>
              </a:pathLst>
            </a:custGeom>
            <a:solidFill>
              <a:srgbClr val="E2E8F0"/>
            </a:solidFill>
          </p:spPr>
        </p:sp>
      </p:grpSp>
      <p:grpSp>
        <p:nvGrpSpPr>
          <p:cNvPr name="Group 13" id="13"/>
          <p:cNvGrpSpPr/>
          <p:nvPr/>
        </p:nvGrpSpPr>
        <p:grpSpPr>
          <a:xfrm rot="0">
            <a:off x="725167" y="2462527"/>
            <a:ext cx="7693657" cy="2024377"/>
            <a:chOff x="0" y="0"/>
            <a:chExt cx="10258209" cy="2699169"/>
          </a:xfrm>
        </p:grpSpPr>
        <p:sp>
          <p:nvSpPr>
            <p:cNvPr name="Freeform 14" id="14"/>
            <p:cNvSpPr/>
            <p:nvPr/>
          </p:nvSpPr>
          <p:spPr>
            <a:xfrm flipH="false" flipV="false" rot="0">
              <a:off x="8509" y="8509"/>
              <a:ext cx="10241280" cy="2682240"/>
            </a:xfrm>
            <a:custGeom>
              <a:avLst/>
              <a:gdLst/>
              <a:ahLst/>
              <a:cxnLst/>
              <a:rect r="r" b="b" t="t" l="l"/>
              <a:pathLst>
                <a:path h="2682240" w="10241280">
                  <a:moveTo>
                    <a:pt x="0" y="0"/>
                  </a:moveTo>
                  <a:lnTo>
                    <a:pt x="10241280" y="0"/>
                  </a:lnTo>
                  <a:lnTo>
                    <a:pt x="10241280" y="2682240"/>
                  </a:lnTo>
                  <a:lnTo>
                    <a:pt x="0" y="2682240"/>
                  </a:lnTo>
                  <a:close/>
                </a:path>
              </a:pathLst>
            </a:custGeom>
            <a:solidFill>
              <a:srgbClr val="EFF6FF"/>
            </a:solidFill>
          </p:spPr>
        </p:sp>
        <p:sp>
          <p:nvSpPr>
            <p:cNvPr name="Freeform 15" id="15"/>
            <p:cNvSpPr/>
            <p:nvPr/>
          </p:nvSpPr>
          <p:spPr>
            <a:xfrm flipH="false" flipV="false" rot="0">
              <a:off x="0" y="0"/>
              <a:ext cx="10258299" cy="2699258"/>
            </a:xfrm>
            <a:custGeom>
              <a:avLst/>
              <a:gdLst/>
              <a:ahLst/>
              <a:cxnLst/>
              <a:rect r="r" b="b" t="t" l="l"/>
              <a:pathLst>
                <a:path h="2699258" w="10258299">
                  <a:moveTo>
                    <a:pt x="8509" y="0"/>
                  </a:moveTo>
                  <a:lnTo>
                    <a:pt x="10249789" y="0"/>
                  </a:lnTo>
                  <a:cubicBezTo>
                    <a:pt x="10254488" y="0"/>
                    <a:pt x="10258299" y="3810"/>
                    <a:pt x="10258299" y="8509"/>
                  </a:cubicBezTo>
                  <a:lnTo>
                    <a:pt x="10258299" y="2690749"/>
                  </a:lnTo>
                  <a:cubicBezTo>
                    <a:pt x="10258299" y="2695448"/>
                    <a:pt x="10254488" y="2699258"/>
                    <a:pt x="10249789" y="2699258"/>
                  </a:cubicBezTo>
                  <a:lnTo>
                    <a:pt x="8509" y="2699258"/>
                  </a:lnTo>
                  <a:cubicBezTo>
                    <a:pt x="3810" y="2699258"/>
                    <a:pt x="0" y="2695448"/>
                    <a:pt x="0" y="2690749"/>
                  </a:cubicBezTo>
                  <a:lnTo>
                    <a:pt x="0" y="8509"/>
                  </a:lnTo>
                  <a:cubicBezTo>
                    <a:pt x="0" y="3810"/>
                    <a:pt x="3810" y="0"/>
                    <a:pt x="8509" y="0"/>
                  </a:cubicBezTo>
                  <a:moveTo>
                    <a:pt x="8509" y="16891"/>
                  </a:moveTo>
                  <a:lnTo>
                    <a:pt x="8509" y="8509"/>
                  </a:lnTo>
                  <a:lnTo>
                    <a:pt x="17018" y="8509"/>
                  </a:lnTo>
                  <a:lnTo>
                    <a:pt x="17018" y="2690749"/>
                  </a:lnTo>
                  <a:lnTo>
                    <a:pt x="8509" y="2690749"/>
                  </a:lnTo>
                  <a:lnTo>
                    <a:pt x="8509" y="2682240"/>
                  </a:lnTo>
                  <a:lnTo>
                    <a:pt x="10249789" y="2682240"/>
                  </a:lnTo>
                  <a:lnTo>
                    <a:pt x="10249789" y="2690749"/>
                  </a:lnTo>
                  <a:lnTo>
                    <a:pt x="10241280" y="2690749"/>
                  </a:lnTo>
                  <a:lnTo>
                    <a:pt x="10241280" y="8509"/>
                  </a:lnTo>
                  <a:lnTo>
                    <a:pt x="10249789" y="8509"/>
                  </a:lnTo>
                  <a:lnTo>
                    <a:pt x="10249789" y="17018"/>
                  </a:lnTo>
                  <a:lnTo>
                    <a:pt x="8509" y="17018"/>
                  </a:lnTo>
                  <a:close/>
                </a:path>
              </a:pathLst>
            </a:custGeom>
            <a:solidFill>
              <a:srgbClr val="E2E8F0"/>
            </a:solidFill>
          </p:spPr>
        </p:sp>
      </p:grpSp>
      <p:grpSp>
        <p:nvGrpSpPr>
          <p:cNvPr name="Group 16" id="16"/>
          <p:cNvGrpSpPr/>
          <p:nvPr/>
        </p:nvGrpSpPr>
        <p:grpSpPr>
          <a:xfrm rot="0">
            <a:off x="718823" y="2456183"/>
            <a:ext cx="135131" cy="2037083"/>
            <a:chOff x="0" y="0"/>
            <a:chExt cx="180175" cy="2716111"/>
          </a:xfrm>
        </p:grpSpPr>
        <p:sp>
          <p:nvSpPr>
            <p:cNvPr name="Freeform 17" id="17"/>
            <p:cNvSpPr/>
            <p:nvPr/>
          </p:nvSpPr>
          <p:spPr>
            <a:xfrm flipH="false" flipV="false" rot="0">
              <a:off x="16891" y="16891"/>
              <a:ext cx="146304" cy="2682240"/>
            </a:xfrm>
            <a:custGeom>
              <a:avLst/>
              <a:gdLst/>
              <a:ahLst/>
              <a:cxnLst/>
              <a:rect r="r" b="b" t="t" l="l"/>
              <a:pathLst>
                <a:path h="2682240" w="146304">
                  <a:moveTo>
                    <a:pt x="0" y="0"/>
                  </a:moveTo>
                  <a:lnTo>
                    <a:pt x="146304" y="0"/>
                  </a:lnTo>
                  <a:lnTo>
                    <a:pt x="146304" y="2682240"/>
                  </a:lnTo>
                  <a:lnTo>
                    <a:pt x="0" y="2682240"/>
                  </a:lnTo>
                  <a:close/>
                </a:path>
              </a:pathLst>
            </a:custGeom>
            <a:solidFill>
              <a:srgbClr val="0D9488"/>
            </a:solidFill>
          </p:spPr>
        </p:sp>
        <p:sp>
          <p:nvSpPr>
            <p:cNvPr name="Freeform 18" id="18"/>
            <p:cNvSpPr/>
            <p:nvPr/>
          </p:nvSpPr>
          <p:spPr>
            <a:xfrm flipH="false" flipV="false" rot="0">
              <a:off x="0" y="0"/>
              <a:ext cx="180086" cy="2716022"/>
            </a:xfrm>
            <a:custGeom>
              <a:avLst/>
              <a:gdLst/>
              <a:ahLst/>
              <a:cxnLst/>
              <a:rect r="r" b="b" t="t" l="l"/>
              <a:pathLst>
                <a:path h="2716022" w="180086">
                  <a:moveTo>
                    <a:pt x="16891" y="0"/>
                  </a:moveTo>
                  <a:lnTo>
                    <a:pt x="163195" y="0"/>
                  </a:lnTo>
                  <a:cubicBezTo>
                    <a:pt x="172593" y="0"/>
                    <a:pt x="180086" y="7620"/>
                    <a:pt x="180086" y="16891"/>
                  </a:cubicBezTo>
                  <a:lnTo>
                    <a:pt x="180086" y="2699131"/>
                  </a:lnTo>
                  <a:cubicBezTo>
                    <a:pt x="180086" y="2708529"/>
                    <a:pt x="172466" y="2716022"/>
                    <a:pt x="163195" y="2716022"/>
                  </a:cubicBezTo>
                  <a:lnTo>
                    <a:pt x="16891" y="2716022"/>
                  </a:lnTo>
                  <a:cubicBezTo>
                    <a:pt x="7493" y="2716022"/>
                    <a:pt x="0" y="2708402"/>
                    <a:pt x="0" y="2699131"/>
                  </a:cubicBezTo>
                  <a:lnTo>
                    <a:pt x="0" y="16891"/>
                  </a:lnTo>
                  <a:cubicBezTo>
                    <a:pt x="0" y="7620"/>
                    <a:pt x="7620" y="0"/>
                    <a:pt x="16891" y="0"/>
                  </a:cubicBezTo>
                  <a:moveTo>
                    <a:pt x="16891" y="33909"/>
                  </a:moveTo>
                  <a:lnTo>
                    <a:pt x="16891" y="16891"/>
                  </a:lnTo>
                  <a:lnTo>
                    <a:pt x="33909" y="16891"/>
                  </a:lnTo>
                  <a:lnTo>
                    <a:pt x="33909" y="2699131"/>
                  </a:lnTo>
                  <a:lnTo>
                    <a:pt x="16891" y="2699131"/>
                  </a:lnTo>
                  <a:lnTo>
                    <a:pt x="16891" y="2682240"/>
                  </a:lnTo>
                  <a:lnTo>
                    <a:pt x="163195" y="2682240"/>
                  </a:lnTo>
                  <a:lnTo>
                    <a:pt x="163195" y="2699131"/>
                  </a:lnTo>
                  <a:lnTo>
                    <a:pt x="146304" y="2699131"/>
                  </a:lnTo>
                  <a:lnTo>
                    <a:pt x="146304" y="16891"/>
                  </a:lnTo>
                  <a:lnTo>
                    <a:pt x="163195" y="16891"/>
                  </a:lnTo>
                  <a:lnTo>
                    <a:pt x="163195" y="33909"/>
                  </a:lnTo>
                  <a:lnTo>
                    <a:pt x="16891" y="33909"/>
                  </a:lnTo>
                  <a:close/>
                </a:path>
              </a:pathLst>
            </a:custGeom>
            <a:solidFill>
              <a:srgbClr val="0D9488"/>
            </a:solidFill>
          </p:spPr>
        </p:sp>
      </p:grpSp>
      <p:grpSp>
        <p:nvGrpSpPr>
          <p:cNvPr name="Group 19" id="19"/>
          <p:cNvGrpSpPr/>
          <p:nvPr/>
        </p:nvGrpSpPr>
        <p:grpSpPr>
          <a:xfrm rot="0">
            <a:off x="1060704" y="2560320"/>
            <a:ext cx="7315200" cy="640080"/>
            <a:chOff x="0" y="0"/>
            <a:chExt cx="9753600" cy="853440"/>
          </a:xfrm>
        </p:grpSpPr>
        <p:sp>
          <p:nvSpPr>
            <p:cNvPr name="Freeform 20" id="20"/>
            <p:cNvSpPr/>
            <p:nvPr/>
          </p:nvSpPr>
          <p:spPr>
            <a:xfrm flipH="false" flipV="false" rot="0">
              <a:off x="0" y="0"/>
              <a:ext cx="9753600" cy="853440"/>
            </a:xfrm>
            <a:custGeom>
              <a:avLst/>
              <a:gdLst/>
              <a:ahLst/>
              <a:cxnLst/>
              <a:rect r="r" b="b" t="t" l="l"/>
              <a:pathLst>
                <a:path h="853440" w="9753600">
                  <a:moveTo>
                    <a:pt x="0" y="0"/>
                  </a:moveTo>
                  <a:lnTo>
                    <a:pt x="9753600" y="0"/>
                  </a:lnTo>
                  <a:lnTo>
                    <a:pt x="9753600" y="853440"/>
                  </a:lnTo>
                  <a:lnTo>
                    <a:pt x="0" y="853440"/>
                  </a:lnTo>
                  <a:close/>
                </a:path>
              </a:pathLst>
            </a:custGeom>
            <a:blipFill>
              <a:blip r:embed="rId3">
                <a:alphaModFix amt="0"/>
              </a:blip>
              <a:stretch>
                <a:fillRect l="0" t="-172686" r="0" b="-172686"/>
              </a:stretch>
            </a:blipFill>
          </p:spPr>
        </p:sp>
        <p:sp>
          <p:nvSpPr>
            <p:cNvPr name="TextBox 21" id="21"/>
            <p:cNvSpPr txBox="true"/>
            <p:nvPr/>
          </p:nvSpPr>
          <p:spPr>
            <a:xfrm>
              <a:off x="0" y="-38100"/>
              <a:ext cx="9753600" cy="891540"/>
            </a:xfrm>
            <a:prstGeom prst="rect">
              <a:avLst/>
            </a:prstGeom>
          </p:spPr>
          <p:txBody>
            <a:bodyPr anchor="ctr" rtlCol="false" tIns="0" lIns="0" bIns="0" rIns="0"/>
            <a:lstStyle/>
            <a:p>
              <a:pPr algn="l">
                <a:lnSpc>
                  <a:spcPts val="2879"/>
                </a:lnSpc>
              </a:pPr>
              <a:r>
                <a:rPr lang="en-US" sz="2400" b="true">
                  <a:solidFill>
                    <a:srgbClr val="0D9488"/>
                  </a:solidFill>
                  <a:latin typeface="Calibri (MS) Bold"/>
                  <a:ea typeface="Calibri (MS) Bold"/>
                  <a:cs typeface="Calibri (MS) Bold"/>
                  <a:sym typeface="Calibri (MS) Bold"/>
                </a:rPr>
                <a:t>What is RSIC?</a:t>
              </a:r>
            </a:p>
          </p:txBody>
        </p:sp>
      </p:grpSp>
      <p:grpSp>
        <p:nvGrpSpPr>
          <p:cNvPr name="Group 22" id="22"/>
          <p:cNvGrpSpPr/>
          <p:nvPr/>
        </p:nvGrpSpPr>
        <p:grpSpPr>
          <a:xfrm rot="0">
            <a:off x="1060704" y="3145536"/>
            <a:ext cx="7132320" cy="1188720"/>
            <a:chOff x="0" y="0"/>
            <a:chExt cx="9509760" cy="1584960"/>
          </a:xfrm>
        </p:grpSpPr>
        <p:sp>
          <p:nvSpPr>
            <p:cNvPr name="Freeform 23" id="23"/>
            <p:cNvSpPr/>
            <p:nvPr/>
          </p:nvSpPr>
          <p:spPr>
            <a:xfrm flipH="false" flipV="false" rot="0">
              <a:off x="0" y="0"/>
              <a:ext cx="9509760" cy="1584960"/>
            </a:xfrm>
            <a:custGeom>
              <a:avLst/>
              <a:gdLst/>
              <a:ahLst/>
              <a:cxnLst/>
              <a:rect r="r" b="b" t="t" l="l"/>
              <a:pathLst>
                <a:path h="1584960" w="9509760">
                  <a:moveTo>
                    <a:pt x="0" y="0"/>
                  </a:moveTo>
                  <a:lnTo>
                    <a:pt x="9509760" y="0"/>
                  </a:lnTo>
                  <a:lnTo>
                    <a:pt x="9509760" y="1584960"/>
                  </a:lnTo>
                  <a:lnTo>
                    <a:pt x="0" y="1584960"/>
                  </a:lnTo>
                  <a:close/>
                </a:path>
              </a:pathLst>
            </a:custGeom>
            <a:blipFill>
              <a:blip r:embed="rId3">
                <a:alphaModFix amt="0"/>
              </a:blip>
              <a:stretch>
                <a:fillRect l="0" t="-66910" r="0" b="-66910"/>
              </a:stretch>
            </a:blipFill>
          </p:spPr>
        </p:sp>
        <p:sp>
          <p:nvSpPr>
            <p:cNvPr name="TextBox 24" id="24"/>
            <p:cNvSpPr txBox="true"/>
            <p:nvPr/>
          </p:nvSpPr>
          <p:spPr>
            <a:xfrm>
              <a:off x="0" y="-47625"/>
              <a:ext cx="9509760" cy="1632585"/>
            </a:xfrm>
            <a:prstGeom prst="rect">
              <a:avLst/>
            </a:prstGeom>
          </p:spPr>
          <p:txBody>
            <a:bodyPr anchor="ctr" rtlCol="false" tIns="0" lIns="0" bIns="0" rIns="0"/>
            <a:lstStyle/>
            <a:p>
              <a:pPr algn="l">
                <a:lnSpc>
                  <a:spcPts val="2640"/>
                </a:lnSpc>
              </a:pPr>
              <a:r>
                <a:rPr lang="en-US" sz="2200">
                  <a:solidFill>
                    <a:srgbClr val="1E293B"/>
                  </a:solidFill>
                  <a:latin typeface="Calibri (MS)"/>
                  <a:ea typeface="Calibri (MS)"/>
                  <a:cs typeface="Calibri (MS)"/>
                  <a:sym typeface="Calibri (MS)"/>
                </a:rPr>
                <a:t>Given a satellite or aerial image, automatically generate a natural language sentence that describes its content, objects, and spatial relationships.</a:t>
              </a:r>
            </a:p>
          </p:txBody>
        </p:sp>
      </p:grpSp>
      <p:grpSp>
        <p:nvGrpSpPr>
          <p:cNvPr name="Group 25" id="25"/>
          <p:cNvGrpSpPr/>
          <p:nvPr/>
        </p:nvGrpSpPr>
        <p:grpSpPr>
          <a:xfrm rot="0">
            <a:off x="725167" y="4657087"/>
            <a:ext cx="7693657" cy="1658617"/>
            <a:chOff x="0" y="0"/>
            <a:chExt cx="10258209" cy="2211489"/>
          </a:xfrm>
        </p:grpSpPr>
        <p:sp>
          <p:nvSpPr>
            <p:cNvPr name="Freeform 26" id="26"/>
            <p:cNvSpPr/>
            <p:nvPr/>
          </p:nvSpPr>
          <p:spPr>
            <a:xfrm flipH="false" flipV="false" rot="0">
              <a:off x="8509" y="8509"/>
              <a:ext cx="10241280" cy="2194560"/>
            </a:xfrm>
            <a:custGeom>
              <a:avLst/>
              <a:gdLst/>
              <a:ahLst/>
              <a:cxnLst/>
              <a:rect r="r" b="b" t="t" l="l"/>
              <a:pathLst>
                <a:path h="2194560" w="10241280">
                  <a:moveTo>
                    <a:pt x="0" y="0"/>
                  </a:moveTo>
                  <a:lnTo>
                    <a:pt x="10241280" y="0"/>
                  </a:lnTo>
                  <a:lnTo>
                    <a:pt x="10241280" y="2194560"/>
                  </a:lnTo>
                  <a:lnTo>
                    <a:pt x="0" y="2194560"/>
                  </a:lnTo>
                  <a:close/>
                </a:path>
              </a:pathLst>
            </a:custGeom>
            <a:solidFill>
              <a:srgbClr val="FFF7ED"/>
            </a:solidFill>
          </p:spPr>
        </p:sp>
        <p:sp>
          <p:nvSpPr>
            <p:cNvPr name="Freeform 27" id="27"/>
            <p:cNvSpPr/>
            <p:nvPr/>
          </p:nvSpPr>
          <p:spPr>
            <a:xfrm flipH="false" flipV="false" rot="0">
              <a:off x="0" y="0"/>
              <a:ext cx="10258299" cy="2211578"/>
            </a:xfrm>
            <a:custGeom>
              <a:avLst/>
              <a:gdLst/>
              <a:ahLst/>
              <a:cxnLst/>
              <a:rect r="r" b="b" t="t" l="l"/>
              <a:pathLst>
                <a:path h="2211578" w="10258299">
                  <a:moveTo>
                    <a:pt x="8509" y="0"/>
                  </a:moveTo>
                  <a:lnTo>
                    <a:pt x="10249789" y="0"/>
                  </a:lnTo>
                  <a:cubicBezTo>
                    <a:pt x="10254488" y="0"/>
                    <a:pt x="10258299" y="3810"/>
                    <a:pt x="10258299" y="8509"/>
                  </a:cubicBezTo>
                  <a:lnTo>
                    <a:pt x="10258299" y="2203069"/>
                  </a:lnTo>
                  <a:cubicBezTo>
                    <a:pt x="10258299" y="2207768"/>
                    <a:pt x="10254488" y="2211578"/>
                    <a:pt x="10249789" y="2211578"/>
                  </a:cubicBezTo>
                  <a:lnTo>
                    <a:pt x="8509" y="2211578"/>
                  </a:lnTo>
                  <a:cubicBezTo>
                    <a:pt x="3810" y="2211578"/>
                    <a:pt x="0" y="2207768"/>
                    <a:pt x="0" y="2203069"/>
                  </a:cubicBezTo>
                  <a:lnTo>
                    <a:pt x="0" y="8509"/>
                  </a:lnTo>
                  <a:cubicBezTo>
                    <a:pt x="0" y="3810"/>
                    <a:pt x="3810" y="0"/>
                    <a:pt x="8509" y="0"/>
                  </a:cubicBezTo>
                  <a:moveTo>
                    <a:pt x="8509" y="16891"/>
                  </a:moveTo>
                  <a:lnTo>
                    <a:pt x="8509" y="8509"/>
                  </a:lnTo>
                  <a:lnTo>
                    <a:pt x="17018" y="8509"/>
                  </a:lnTo>
                  <a:lnTo>
                    <a:pt x="17018" y="2203069"/>
                  </a:lnTo>
                  <a:lnTo>
                    <a:pt x="8509" y="2203069"/>
                  </a:lnTo>
                  <a:lnTo>
                    <a:pt x="8509" y="2194560"/>
                  </a:lnTo>
                  <a:lnTo>
                    <a:pt x="10249789" y="2194560"/>
                  </a:lnTo>
                  <a:lnTo>
                    <a:pt x="10249789" y="2203069"/>
                  </a:lnTo>
                  <a:lnTo>
                    <a:pt x="10241280" y="2203069"/>
                  </a:lnTo>
                  <a:lnTo>
                    <a:pt x="10241280" y="8509"/>
                  </a:lnTo>
                  <a:lnTo>
                    <a:pt x="10249789" y="8509"/>
                  </a:lnTo>
                  <a:lnTo>
                    <a:pt x="10249789" y="17018"/>
                  </a:lnTo>
                  <a:lnTo>
                    <a:pt x="8509" y="17018"/>
                  </a:lnTo>
                  <a:close/>
                </a:path>
              </a:pathLst>
            </a:custGeom>
            <a:solidFill>
              <a:srgbClr val="E2E8F0"/>
            </a:solidFill>
          </p:spPr>
        </p:sp>
      </p:grpSp>
      <p:grpSp>
        <p:nvGrpSpPr>
          <p:cNvPr name="Group 28" id="28"/>
          <p:cNvGrpSpPr/>
          <p:nvPr/>
        </p:nvGrpSpPr>
        <p:grpSpPr>
          <a:xfrm rot="0">
            <a:off x="718823" y="4650743"/>
            <a:ext cx="135131" cy="1671323"/>
            <a:chOff x="0" y="0"/>
            <a:chExt cx="180175" cy="2228431"/>
          </a:xfrm>
        </p:grpSpPr>
        <p:sp>
          <p:nvSpPr>
            <p:cNvPr name="Freeform 29" id="29"/>
            <p:cNvSpPr/>
            <p:nvPr/>
          </p:nvSpPr>
          <p:spPr>
            <a:xfrm flipH="false" flipV="false" rot="0">
              <a:off x="16891" y="16891"/>
              <a:ext cx="146304" cy="2194560"/>
            </a:xfrm>
            <a:custGeom>
              <a:avLst/>
              <a:gdLst/>
              <a:ahLst/>
              <a:cxnLst/>
              <a:rect r="r" b="b" t="t" l="l"/>
              <a:pathLst>
                <a:path h="2194560" w="146304">
                  <a:moveTo>
                    <a:pt x="0" y="0"/>
                  </a:moveTo>
                  <a:lnTo>
                    <a:pt x="146304" y="0"/>
                  </a:lnTo>
                  <a:lnTo>
                    <a:pt x="146304" y="2194560"/>
                  </a:lnTo>
                  <a:lnTo>
                    <a:pt x="0" y="2194560"/>
                  </a:lnTo>
                  <a:close/>
                </a:path>
              </a:pathLst>
            </a:custGeom>
            <a:solidFill>
              <a:srgbClr val="D97706"/>
            </a:solidFill>
          </p:spPr>
        </p:sp>
        <p:sp>
          <p:nvSpPr>
            <p:cNvPr name="Freeform 30" id="30"/>
            <p:cNvSpPr/>
            <p:nvPr/>
          </p:nvSpPr>
          <p:spPr>
            <a:xfrm flipH="false" flipV="false" rot="0">
              <a:off x="0" y="0"/>
              <a:ext cx="180086" cy="2228342"/>
            </a:xfrm>
            <a:custGeom>
              <a:avLst/>
              <a:gdLst/>
              <a:ahLst/>
              <a:cxnLst/>
              <a:rect r="r" b="b" t="t" l="l"/>
              <a:pathLst>
                <a:path h="2228342" w="180086">
                  <a:moveTo>
                    <a:pt x="16891" y="0"/>
                  </a:moveTo>
                  <a:lnTo>
                    <a:pt x="163195" y="0"/>
                  </a:lnTo>
                  <a:cubicBezTo>
                    <a:pt x="172593" y="0"/>
                    <a:pt x="180086" y="7620"/>
                    <a:pt x="180086" y="16891"/>
                  </a:cubicBezTo>
                  <a:lnTo>
                    <a:pt x="180086" y="2211451"/>
                  </a:lnTo>
                  <a:cubicBezTo>
                    <a:pt x="180086" y="2220849"/>
                    <a:pt x="172466" y="2228342"/>
                    <a:pt x="163195" y="2228342"/>
                  </a:cubicBezTo>
                  <a:lnTo>
                    <a:pt x="16891" y="2228342"/>
                  </a:lnTo>
                  <a:cubicBezTo>
                    <a:pt x="7493" y="2228342"/>
                    <a:pt x="0" y="2220722"/>
                    <a:pt x="0" y="2211451"/>
                  </a:cubicBezTo>
                  <a:lnTo>
                    <a:pt x="0" y="16891"/>
                  </a:lnTo>
                  <a:cubicBezTo>
                    <a:pt x="0" y="7620"/>
                    <a:pt x="7620" y="0"/>
                    <a:pt x="16891" y="0"/>
                  </a:cubicBezTo>
                  <a:moveTo>
                    <a:pt x="16891" y="33909"/>
                  </a:moveTo>
                  <a:lnTo>
                    <a:pt x="16891" y="16891"/>
                  </a:lnTo>
                  <a:lnTo>
                    <a:pt x="33909" y="16891"/>
                  </a:lnTo>
                  <a:lnTo>
                    <a:pt x="33909" y="2211451"/>
                  </a:lnTo>
                  <a:lnTo>
                    <a:pt x="16891" y="2211451"/>
                  </a:lnTo>
                  <a:lnTo>
                    <a:pt x="16891" y="2194560"/>
                  </a:lnTo>
                  <a:lnTo>
                    <a:pt x="163195" y="2194560"/>
                  </a:lnTo>
                  <a:lnTo>
                    <a:pt x="163195" y="2211451"/>
                  </a:lnTo>
                  <a:lnTo>
                    <a:pt x="146304" y="2211451"/>
                  </a:lnTo>
                  <a:lnTo>
                    <a:pt x="146304" y="16891"/>
                  </a:lnTo>
                  <a:lnTo>
                    <a:pt x="163195" y="16891"/>
                  </a:lnTo>
                  <a:lnTo>
                    <a:pt x="163195" y="33909"/>
                  </a:lnTo>
                  <a:lnTo>
                    <a:pt x="16891" y="33909"/>
                  </a:lnTo>
                  <a:close/>
                </a:path>
              </a:pathLst>
            </a:custGeom>
            <a:solidFill>
              <a:srgbClr val="D97706"/>
            </a:solidFill>
          </p:spPr>
        </p:sp>
      </p:grpSp>
      <p:grpSp>
        <p:nvGrpSpPr>
          <p:cNvPr name="Group 31" id="31"/>
          <p:cNvGrpSpPr/>
          <p:nvPr/>
        </p:nvGrpSpPr>
        <p:grpSpPr>
          <a:xfrm rot="0">
            <a:off x="1060704" y="4718304"/>
            <a:ext cx="2743200" cy="512064"/>
            <a:chOff x="0" y="0"/>
            <a:chExt cx="3657600" cy="682752"/>
          </a:xfrm>
        </p:grpSpPr>
        <p:sp>
          <p:nvSpPr>
            <p:cNvPr name="Freeform 32" id="32"/>
            <p:cNvSpPr/>
            <p:nvPr/>
          </p:nvSpPr>
          <p:spPr>
            <a:xfrm flipH="false" flipV="false" rot="0">
              <a:off x="0" y="0"/>
              <a:ext cx="3657600" cy="682752"/>
            </a:xfrm>
            <a:custGeom>
              <a:avLst/>
              <a:gdLst/>
              <a:ahLst/>
              <a:cxnLst/>
              <a:rect r="r" b="b" t="t" l="l"/>
              <a:pathLst>
                <a:path h="682752" w="3657600">
                  <a:moveTo>
                    <a:pt x="0" y="0"/>
                  </a:moveTo>
                  <a:lnTo>
                    <a:pt x="3657600" y="0"/>
                  </a:lnTo>
                  <a:lnTo>
                    <a:pt x="3657600" y="682752"/>
                  </a:lnTo>
                  <a:lnTo>
                    <a:pt x="0" y="682752"/>
                  </a:lnTo>
                  <a:close/>
                </a:path>
              </a:pathLst>
            </a:custGeom>
            <a:blipFill>
              <a:blip r:embed="rId3">
                <a:alphaModFix amt="0"/>
              </a:blip>
              <a:stretch>
                <a:fillRect l="0" t="-54384" r="0" b="-54384"/>
              </a:stretch>
            </a:blipFill>
          </p:spPr>
        </p:sp>
        <p:sp>
          <p:nvSpPr>
            <p:cNvPr name="TextBox 33" id="33"/>
            <p:cNvSpPr txBox="true"/>
            <p:nvPr/>
          </p:nvSpPr>
          <p:spPr>
            <a:xfrm>
              <a:off x="0" y="-38100"/>
              <a:ext cx="3657600" cy="720852"/>
            </a:xfrm>
            <a:prstGeom prst="rect">
              <a:avLst/>
            </a:prstGeom>
          </p:spPr>
          <p:txBody>
            <a:bodyPr anchor="ctr" rtlCol="false" tIns="0" lIns="0" bIns="0" rIns="0"/>
            <a:lstStyle/>
            <a:p>
              <a:pPr algn="l">
                <a:lnSpc>
                  <a:spcPts val="2400"/>
                </a:lnSpc>
              </a:pPr>
              <a:r>
                <a:rPr lang="en-US" sz="2000" b="true">
                  <a:solidFill>
                    <a:srgbClr val="D97706"/>
                  </a:solidFill>
                  <a:latin typeface="Calibri (MS) Bold"/>
                  <a:ea typeface="Calibri (MS) Bold"/>
                  <a:cs typeface="Calibri (MS) Bold"/>
                  <a:sym typeface="Calibri (MS) Bold"/>
                </a:rPr>
                <a:t>Example output:</a:t>
              </a:r>
            </a:p>
          </p:txBody>
        </p:sp>
      </p:grpSp>
      <p:grpSp>
        <p:nvGrpSpPr>
          <p:cNvPr name="Group 34" id="34"/>
          <p:cNvGrpSpPr/>
          <p:nvPr/>
        </p:nvGrpSpPr>
        <p:grpSpPr>
          <a:xfrm rot="0">
            <a:off x="1060704" y="5175504"/>
            <a:ext cx="7132320" cy="1005840"/>
            <a:chOff x="0" y="0"/>
            <a:chExt cx="9509760" cy="1341120"/>
          </a:xfrm>
        </p:grpSpPr>
        <p:sp>
          <p:nvSpPr>
            <p:cNvPr name="Freeform 35" id="35"/>
            <p:cNvSpPr/>
            <p:nvPr/>
          </p:nvSpPr>
          <p:spPr>
            <a:xfrm flipH="false" flipV="false" rot="0">
              <a:off x="0" y="0"/>
              <a:ext cx="9509760" cy="1341120"/>
            </a:xfrm>
            <a:custGeom>
              <a:avLst/>
              <a:gdLst/>
              <a:ahLst/>
              <a:cxnLst/>
              <a:rect r="r" b="b" t="t" l="l"/>
              <a:pathLst>
                <a:path h="1341120" w="9509760">
                  <a:moveTo>
                    <a:pt x="0" y="0"/>
                  </a:moveTo>
                  <a:lnTo>
                    <a:pt x="9509760" y="0"/>
                  </a:lnTo>
                  <a:lnTo>
                    <a:pt x="9509760" y="1341120"/>
                  </a:lnTo>
                  <a:lnTo>
                    <a:pt x="0" y="1341120"/>
                  </a:lnTo>
                  <a:close/>
                </a:path>
              </a:pathLst>
            </a:custGeom>
            <a:blipFill>
              <a:blip r:embed="rId3">
                <a:alphaModFix amt="0"/>
              </a:blip>
              <a:stretch>
                <a:fillRect l="0" t="-88166" r="0" b="-88166"/>
              </a:stretch>
            </a:blipFill>
          </p:spPr>
        </p:sp>
        <p:sp>
          <p:nvSpPr>
            <p:cNvPr name="TextBox 36" id="36"/>
            <p:cNvSpPr txBox="true"/>
            <p:nvPr/>
          </p:nvSpPr>
          <p:spPr>
            <a:xfrm>
              <a:off x="0" y="-47625"/>
              <a:ext cx="9509760" cy="1388745"/>
            </a:xfrm>
            <a:prstGeom prst="rect">
              <a:avLst/>
            </a:prstGeom>
          </p:spPr>
          <p:txBody>
            <a:bodyPr anchor="ctr" rtlCol="false" tIns="0" lIns="0" bIns="0" rIns="0"/>
            <a:lstStyle/>
            <a:p>
              <a:pPr algn="l">
                <a:lnSpc>
                  <a:spcPts val="2640"/>
                </a:lnSpc>
              </a:pPr>
              <a:r>
                <a:rPr lang="en-US" sz="2200" i="true">
                  <a:solidFill>
                    <a:srgbClr val="1E293B"/>
                  </a:solidFill>
                  <a:latin typeface="Calibri (MS) Italics"/>
                  <a:ea typeface="Calibri (MS) Italics"/>
                  <a:cs typeface="Calibri (MS) Italics"/>
                  <a:sym typeface="Calibri (MS) Italics"/>
                </a:rPr>
                <a:t>"Three baseball fields are surrounded by many green trees."</a:t>
              </a:r>
            </a:p>
          </p:txBody>
        </p:sp>
      </p:grpSp>
      <p:grpSp>
        <p:nvGrpSpPr>
          <p:cNvPr name="Group 37" id="37"/>
          <p:cNvGrpSpPr/>
          <p:nvPr/>
        </p:nvGrpSpPr>
        <p:grpSpPr>
          <a:xfrm rot="0">
            <a:off x="725167" y="6485887"/>
            <a:ext cx="7693657" cy="3213097"/>
            <a:chOff x="0" y="0"/>
            <a:chExt cx="10258209" cy="4284129"/>
          </a:xfrm>
        </p:grpSpPr>
        <p:sp>
          <p:nvSpPr>
            <p:cNvPr name="Freeform 38" id="38"/>
            <p:cNvSpPr/>
            <p:nvPr/>
          </p:nvSpPr>
          <p:spPr>
            <a:xfrm flipH="false" flipV="false" rot="0">
              <a:off x="8509" y="8509"/>
              <a:ext cx="10241280" cy="4267200"/>
            </a:xfrm>
            <a:custGeom>
              <a:avLst/>
              <a:gdLst/>
              <a:ahLst/>
              <a:cxnLst/>
              <a:rect r="r" b="b" t="t" l="l"/>
              <a:pathLst>
                <a:path h="4267200" w="10241280">
                  <a:moveTo>
                    <a:pt x="0" y="0"/>
                  </a:moveTo>
                  <a:lnTo>
                    <a:pt x="10241280" y="0"/>
                  </a:lnTo>
                  <a:lnTo>
                    <a:pt x="10241280" y="4267200"/>
                  </a:lnTo>
                  <a:lnTo>
                    <a:pt x="0" y="4267200"/>
                  </a:lnTo>
                  <a:close/>
                </a:path>
              </a:pathLst>
            </a:custGeom>
            <a:solidFill>
              <a:srgbClr val="FFFFFF"/>
            </a:solidFill>
          </p:spPr>
        </p:sp>
        <p:sp>
          <p:nvSpPr>
            <p:cNvPr name="Freeform 39" id="39"/>
            <p:cNvSpPr/>
            <p:nvPr/>
          </p:nvSpPr>
          <p:spPr>
            <a:xfrm flipH="false" flipV="false" rot="0">
              <a:off x="0" y="0"/>
              <a:ext cx="10258299" cy="4284218"/>
            </a:xfrm>
            <a:custGeom>
              <a:avLst/>
              <a:gdLst/>
              <a:ahLst/>
              <a:cxnLst/>
              <a:rect r="r" b="b" t="t" l="l"/>
              <a:pathLst>
                <a:path h="4284218" w="10258299">
                  <a:moveTo>
                    <a:pt x="8509" y="0"/>
                  </a:moveTo>
                  <a:lnTo>
                    <a:pt x="10249789" y="0"/>
                  </a:lnTo>
                  <a:cubicBezTo>
                    <a:pt x="10254488" y="0"/>
                    <a:pt x="10258299" y="3810"/>
                    <a:pt x="10258299" y="8509"/>
                  </a:cubicBezTo>
                  <a:lnTo>
                    <a:pt x="10258299" y="4275709"/>
                  </a:lnTo>
                  <a:cubicBezTo>
                    <a:pt x="10258299" y="4280408"/>
                    <a:pt x="10254488" y="4284218"/>
                    <a:pt x="10249789" y="4284218"/>
                  </a:cubicBezTo>
                  <a:lnTo>
                    <a:pt x="8509" y="4284218"/>
                  </a:lnTo>
                  <a:cubicBezTo>
                    <a:pt x="3810" y="4284218"/>
                    <a:pt x="0" y="4280408"/>
                    <a:pt x="0" y="4275709"/>
                  </a:cubicBezTo>
                  <a:lnTo>
                    <a:pt x="0" y="8509"/>
                  </a:lnTo>
                  <a:cubicBezTo>
                    <a:pt x="0" y="3810"/>
                    <a:pt x="3810" y="0"/>
                    <a:pt x="8509" y="0"/>
                  </a:cubicBezTo>
                  <a:moveTo>
                    <a:pt x="8509" y="16891"/>
                  </a:moveTo>
                  <a:lnTo>
                    <a:pt x="8509" y="8509"/>
                  </a:lnTo>
                  <a:lnTo>
                    <a:pt x="17018" y="8509"/>
                  </a:lnTo>
                  <a:lnTo>
                    <a:pt x="17018" y="4275709"/>
                  </a:lnTo>
                  <a:lnTo>
                    <a:pt x="8509" y="4275709"/>
                  </a:lnTo>
                  <a:lnTo>
                    <a:pt x="8509" y="4267200"/>
                  </a:lnTo>
                  <a:lnTo>
                    <a:pt x="10249789" y="4267200"/>
                  </a:lnTo>
                  <a:lnTo>
                    <a:pt x="10249789" y="4275709"/>
                  </a:lnTo>
                  <a:lnTo>
                    <a:pt x="10241280" y="4275709"/>
                  </a:lnTo>
                  <a:lnTo>
                    <a:pt x="10241280" y="8509"/>
                  </a:lnTo>
                  <a:lnTo>
                    <a:pt x="10249789" y="8509"/>
                  </a:lnTo>
                  <a:lnTo>
                    <a:pt x="10249789" y="17018"/>
                  </a:lnTo>
                  <a:lnTo>
                    <a:pt x="8509" y="17018"/>
                  </a:lnTo>
                  <a:close/>
                </a:path>
              </a:pathLst>
            </a:custGeom>
            <a:solidFill>
              <a:srgbClr val="E2E8F0"/>
            </a:solidFill>
          </p:spPr>
        </p:sp>
      </p:grpSp>
      <p:grpSp>
        <p:nvGrpSpPr>
          <p:cNvPr name="Group 40" id="40"/>
          <p:cNvGrpSpPr/>
          <p:nvPr/>
        </p:nvGrpSpPr>
        <p:grpSpPr>
          <a:xfrm rot="0">
            <a:off x="718823" y="6479543"/>
            <a:ext cx="135131" cy="3225803"/>
            <a:chOff x="0" y="0"/>
            <a:chExt cx="180175" cy="4301071"/>
          </a:xfrm>
        </p:grpSpPr>
        <p:sp>
          <p:nvSpPr>
            <p:cNvPr name="Freeform 41" id="41"/>
            <p:cNvSpPr/>
            <p:nvPr/>
          </p:nvSpPr>
          <p:spPr>
            <a:xfrm flipH="false" flipV="false" rot="0">
              <a:off x="16891" y="16891"/>
              <a:ext cx="146304" cy="4267200"/>
            </a:xfrm>
            <a:custGeom>
              <a:avLst/>
              <a:gdLst/>
              <a:ahLst/>
              <a:cxnLst/>
              <a:rect r="r" b="b" t="t" l="l"/>
              <a:pathLst>
                <a:path h="4267200" w="146304">
                  <a:moveTo>
                    <a:pt x="0" y="0"/>
                  </a:moveTo>
                  <a:lnTo>
                    <a:pt x="146304" y="0"/>
                  </a:lnTo>
                  <a:lnTo>
                    <a:pt x="146304" y="4267200"/>
                  </a:lnTo>
                  <a:lnTo>
                    <a:pt x="0" y="4267200"/>
                  </a:lnTo>
                  <a:close/>
                </a:path>
              </a:pathLst>
            </a:custGeom>
            <a:solidFill>
              <a:srgbClr val="0D1B3E"/>
            </a:solidFill>
          </p:spPr>
        </p:sp>
        <p:sp>
          <p:nvSpPr>
            <p:cNvPr name="Freeform 42" id="42"/>
            <p:cNvSpPr/>
            <p:nvPr/>
          </p:nvSpPr>
          <p:spPr>
            <a:xfrm flipH="false" flipV="false" rot="0">
              <a:off x="0" y="0"/>
              <a:ext cx="180086" cy="4300982"/>
            </a:xfrm>
            <a:custGeom>
              <a:avLst/>
              <a:gdLst/>
              <a:ahLst/>
              <a:cxnLst/>
              <a:rect r="r" b="b" t="t" l="l"/>
              <a:pathLst>
                <a:path h="4300982" w="180086">
                  <a:moveTo>
                    <a:pt x="16891" y="0"/>
                  </a:moveTo>
                  <a:lnTo>
                    <a:pt x="163195" y="0"/>
                  </a:lnTo>
                  <a:cubicBezTo>
                    <a:pt x="172593" y="0"/>
                    <a:pt x="180086" y="7620"/>
                    <a:pt x="180086" y="16891"/>
                  </a:cubicBezTo>
                  <a:lnTo>
                    <a:pt x="180086" y="4284091"/>
                  </a:lnTo>
                  <a:cubicBezTo>
                    <a:pt x="180086" y="4293489"/>
                    <a:pt x="172466" y="4300982"/>
                    <a:pt x="163195" y="4300982"/>
                  </a:cubicBezTo>
                  <a:lnTo>
                    <a:pt x="16891" y="4300982"/>
                  </a:lnTo>
                  <a:cubicBezTo>
                    <a:pt x="7493" y="4300982"/>
                    <a:pt x="0" y="4293362"/>
                    <a:pt x="0" y="4284091"/>
                  </a:cubicBezTo>
                  <a:lnTo>
                    <a:pt x="0" y="16891"/>
                  </a:lnTo>
                  <a:cubicBezTo>
                    <a:pt x="0" y="7620"/>
                    <a:pt x="7620" y="0"/>
                    <a:pt x="16891" y="0"/>
                  </a:cubicBezTo>
                  <a:moveTo>
                    <a:pt x="16891" y="33909"/>
                  </a:moveTo>
                  <a:lnTo>
                    <a:pt x="16891" y="16891"/>
                  </a:lnTo>
                  <a:lnTo>
                    <a:pt x="33909" y="16891"/>
                  </a:lnTo>
                  <a:lnTo>
                    <a:pt x="33909" y="4284091"/>
                  </a:lnTo>
                  <a:lnTo>
                    <a:pt x="16891" y="4284091"/>
                  </a:lnTo>
                  <a:lnTo>
                    <a:pt x="16891" y="4267200"/>
                  </a:lnTo>
                  <a:lnTo>
                    <a:pt x="163195" y="4267200"/>
                  </a:lnTo>
                  <a:lnTo>
                    <a:pt x="163195" y="4284091"/>
                  </a:lnTo>
                  <a:lnTo>
                    <a:pt x="146304" y="4284091"/>
                  </a:lnTo>
                  <a:lnTo>
                    <a:pt x="146304" y="16891"/>
                  </a:lnTo>
                  <a:lnTo>
                    <a:pt x="163195" y="16891"/>
                  </a:lnTo>
                  <a:lnTo>
                    <a:pt x="163195" y="33909"/>
                  </a:lnTo>
                  <a:lnTo>
                    <a:pt x="16891" y="33909"/>
                  </a:lnTo>
                  <a:close/>
                </a:path>
              </a:pathLst>
            </a:custGeom>
            <a:solidFill>
              <a:srgbClr val="0D1B3E"/>
            </a:solidFill>
          </p:spPr>
        </p:sp>
      </p:grpSp>
      <p:grpSp>
        <p:nvGrpSpPr>
          <p:cNvPr name="Group 43" id="43"/>
          <p:cNvGrpSpPr/>
          <p:nvPr/>
        </p:nvGrpSpPr>
        <p:grpSpPr>
          <a:xfrm rot="0">
            <a:off x="1060704" y="6583680"/>
            <a:ext cx="7132320" cy="548640"/>
            <a:chOff x="0" y="0"/>
            <a:chExt cx="9509760" cy="731520"/>
          </a:xfrm>
        </p:grpSpPr>
        <p:sp>
          <p:nvSpPr>
            <p:cNvPr name="Freeform 44" id="44"/>
            <p:cNvSpPr/>
            <p:nvPr/>
          </p:nvSpPr>
          <p:spPr>
            <a:xfrm flipH="false" flipV="false" rot="0">
              <a:off x="0" y="0"/>
              <a:ext cx="9509760" cy="731520"/>
            </a:xfrm>
            <a:custGeom>
              <a:avLst/>
              <a:gdLst/>
              <a:ahLst/>
              <a:cxnLst/>
              <a:rect r="r" b="b" t="t" l="l"/>
              <a:pathLst>
                <a:path h="731520" w="9509760">
                  <a:moveTo>
                    <a:pt x="0" y="0"/>
                  </a:moveTo>
                  <a:lnTo>
                    <a:pt x="9509760" y="0"/>
                  </a:lnTo>
                  <a:lnTo>
                    <a:pt x="9509760" y="731520"/>
                  </a:lnTo>
                  <a:lnTo>
                    <a:pt x="0" y="731520"/>
                  </a:lnTo>
                  <a:close/>
                </a:path>
              </a:pathLst>
            </a:custGeom>
            <a:blipFill>
              <a:blip r:embed="rId3">
                <a:alphaModFix amt="0"/>
              </a:blip>
              <a:stretch>
                <a:fillRect l="0" t="-203305" r="0" b="-203305"/>
              </a:stretch>
            </a:blipFill>
          </p:spPr>
        </p:sp>
        <p:sp>
          <p:nvSpPr>
            <p:cNvPr name="TextBox 45" id="45"/>
            <p:cNvSpPr txBox="true"/>
            <p:nvPr/>
          </p:nvSpPr>
          <p:spPr>
            <a:xfrm>
              <a:off x="0" y="-38100"/>
              <a:ext cx="9509760" cy="769620"/>
            </a:xfrm>
            <a:prstGeom prst="rect">
              <a:avLst/>
            </a:prstGeom>
          </p:spPr>
          <p:txBody>
            <a:bodyPr anchor="ctr" rtlCol="false" tIns="0" lIns="0" bIns="0" rIns="0"/>
            <a:lstStyle/>
            <a:p>
              <a:pPr algn="l">
                <a:lnSpc>
                  <a:spcPts val="2879"/>
                </a:lnSpc>
              </a:pPr>
              <a:r>
                <a:rPr lang="en-US" sz="2400" b="true">
                  <a:solidFill>
                    <a:srgbClr val="0D1B3E"/>
                  </a:solidFill>
                  <a:latin typeface="Calibri (MS) Bold"/>
                  <a:ea typeface="Calibri (MS) Bold"/>
                  <a:cs typeface="Calibri (MS) Bold"/>
                  <a:sym typeface="Calibri (MS) Bold"/>
                </a:rPr>
                <a:t>Real-world applications</a:t>
              </a:r>
            </a:p>
          </p:txBody>
        </p:sp>
      </p:grpSp>
      <p:grpSp>
        <p:nvGrpSpPr>
          <p:cNvPr name="Group 46" id="46"/>
          <p:cNvGrpSpPr/>
          <p:nvPr/>
        </p:nvGrpSpPr>
        <p:grpSpPr>
          <a:xfrm rot="0">
            <a:off x="1097280" y="7223760"/>
            <a:ext cx="6949440" cy="512064"/>
            <a:chOff x="0" y="0"/>
            <a:chExt cx="9265920" cy="682752"/>
          </a:xfrm>
        </p:grpSpPr>
        <p:sp>
          <p:nvSpPr>
            <p:cNvPr name="Freeform 47" id="47"/>
            <p:cNvSpPr/>
            <p:nvPr/>
          </p:nvSpPr>
          <p:spPr>
            <a:xfrm flipH="false" flipV="false" rot="0">
              <a:off x="0" y="0"/>
              <a:ext cx="9265920" cy="682752"/>
            </a:xfrm>
            <a:custGeom>
              <a:avLst/>
              <a:gdLst/>
              <a:ahLst/>
              <a:cxnLst/>
              <a:rect r="r" b="b" t="t" l="l"/>
              <a:pathLst>
                <a:path h="682752" w="9265920">
                  <a:moveTo>
                    <a:pt x="0" y="0"/>
                  </a:moveTo>
                  <a:lnTo>
                    <a:pt x="9265920" y="0"/>
                  </a:lnTo>
                  <a:lnTo>
                    <a:pt x="9265920" y="682752"/>
                  </a:lnTo>
                  <a:lnTo>
                    <a:pt x="0" y="682752"/>
                  </a:lnTo>
                  <a:close/>
                </a:path>
              </a:pathLst>
            </a:custGeom>
            <a:blipFill>
              <a:blip r:embed="rId3">
                <a:alphaModFix amt="0"/>
              </a:blip>
              <a:stretch>
                <a:fillRect l="0" t="-214439" r="0" b="-214439"/>
              </a:stretch>
            </a:blipFill>
          </p:spPr>
        </p:sp>
        <p:sp>
          <p:nvSpPr>
            <p:cNvPr name="TextBox 48" id="48"/>
            <p:cNvSpPr txBox="true"/>
            <p:nvPr/>
          </p:nvSpPr>
          <p:spPr>
            <a:xfrm>
              <a:off x="0" y="-47625"/>
              <a:ext cx="9265920" cy="730377"/>
            </a:xfrm>
            <a:prstGeom prst="rect">
              <a:avLst/>
            </a:prstGeom>
          </p:spPr>
          <p:txBody>
            <a:bodyPr anchor="ctr" rtlCol="false" tIns="0" lIns="0" bIns="0" rIns="0"/>
            <a:lstStyle/>
            <a:p>
              <a:pPr algn="l">
                <a:lnSpc>
                  <a:spcPts val="2640"/>
                </a:lnSpc>
              </a:pPr>
              <a:r>
                <a:rPr lang="en-US" sz="2200" b="true">
                  <a:solidFill>
                    <a:srgbClr val="0D9488"/>
                  </a:solidFill>
                  <a:latin typeface="Calibri (MS) Bold"/>
                  <a:ea typeface="Calibri (MS) Bold"/>
                  <a:cs typeface="Calibri (MS) Bold"/>
                  <a:sym typeface="Calibri (MS) Bold"/>
                </a:rPr>
                <a:t>→  </a:t>
              </a:r>
              <a:r>
                <a:rPr lang="en-US" sz="2200">
                  <a:solidFill>
                    <a:srgbClr val="1E293B"/>
                  </a:solidFill>
                  <a:latin typeface="Calibri (MS)"/>
                  <a:ea typeface="Calibri (MS)"/>
                  <a:cs typeface="Calibri (MS)"/>
                  <a:sym typeface="Calibri (MS)"/>
                </a:rPr>
                <a:t>Environmental monitoring &amp; disaster detection</a:t>
              </a:r>
            </a:p>
          </p:txBody>
        </p:sp>
      </p:grpSp>
      <p:grpSp>
        <p:nvGrpSpPr>
          <p:cNvPr name="Group 49" id="49"/>
          <p:cNvGrpSpPr/>
          <p:nvPr/>
        </p:nvGrpSpPr>
        <p:grpSpPr>
          <a:xfrm rot="0">
            <a:off x="1097280" y="7808976"/>
            <a:ext cx="6949440" cy="512064"/>
            <a:chOff x="0" y="0"/>
            <a:chExt cx="9265920" cy="682752"/>
          </a:xfrm>
        </p:grpSpPr>
        <p:sp>
          <p:nvSpPr>
            <p:cNvPr name="Freeform 50" id="50"/>
            <p:cNvSpPr/>
            <p:nvPr/>
          </p:nvSpPr>
          <p:spPr>
            <a:xfrm flipH="false" flipV="false" rot="0">
              <a:off x="0" y="0"/>
              <a:ext cx="9265920" cy="682752"/>
            </a:xfrm>
            <a:custGeom>
              <a:avLst/>
              <a:gdLst/>
              <a:ahLst/>
              <a:cxnLst/>
              <a:rect r="r" b="b" t="t" l="l"/>
              <a:pathLst>
                <a:path h="682752" w="9265920">
                  <a:moveTo>
                    <a:pt x="0" y="0"/>
                  </a:moveTo>
                  <a:lnTo>
                    <a:pt x="9265920" y="0"/>
                  </a:lnTo>
                  <a:lnTo>
                    <a:pt x="9265920" y="682752"/>
                  </a:lnTo>
                  <a:lnTo>
                    <a:pt x="0" y="682752"/>
                  </a:lnTo>
                  <a:close/>
                </a:path>
              </a:pathLst>
            </a:custGeom>
            <a:blipFill>
              <a:blip r:embed="rId3">
                <a:alphaModFix amt="0"/>
              </a:blip>
              <a:stretch>
                <a:fillRect l="0" t="-214439" r="0" b="-214439"/>
              </a:stretch>
            </a:blipFill>
          </p:spPr>
        </p:sp>
        <p:sp>
          <p:nvSpPr>
            <p:cNvPr name="TextBox 51" id="51"/>
            <p:cNvSpPr txBox="true"/>
            <p:nvPr/>
          </p:nvSpPr>
          <p:spPr>
            <a:xfrm>
              <a:off x="0" y="-47625"/>
              <a:ext cx="9265920" cy="730377"/>
            </a:xfrm>
            <a:prstGeom prst="rect">
              <a:avLst/>
            </a:prstGeom>
          </p:spPr>
          <p:txBody>
            <a:bodyPr anchor="ctr" rtlCol="false" tIns="0" lIns="0" bIns="0" rIns="0"/>
            <a:lstStyle/>
            <a:p>
              <a:pPr algn="l">
                <a:lnSpc>
                  <a:spcPts val="2640"/>
                </a:lnSpc>
              </a:pPr>
              <a:r>
                <a:rPr lang="en-US" sz="2200" b="true">
                  <a:solidFill>
                    <a:srgbClr val="0D9488"/>
                  </a:solidFill>
                  <a:latin typeface="Calibri (MS) Bold"/>
                  <a:ea typeface="Calibri (MS) Bold"/>
                  <a:cs typeface="Calibri (MS) Bold"/>
                  <a:sym typeface="Calibri (MS) Bold"/>
                </a:rPr>
                <a:t>→  </a:t>
              </a:r>
              <a:r>
                <a:rPr lang="en-US" sz="2200">
                  <a:solidFill>
                    <a:srgbClr val="1E293B"/>
                  </a:solidFill>
                  <a:latin typeface="Calibri (MS)"/>
                  <a:ea typeface="Calibri (MS)"/>
                  <a:cs typeface="Calibri (MS)"/>
                  <a:sym typeface="Calibri (MS)"/>
                </a:rPr>
                <a:t>Land surveying &amp; urban planning</a:t>
              </a:r>
            </a:p>
          </p:txBody>
        </p:sp>
      </p:grpSp>
      <p:grpSp>
        <p:nvGrpSpPr>
          <p:cNvPr name="Group 52" id="52"/>
          <p:cNvGrpSpPr/>
          <p:nvPr/>
        </p:nvGrpSpPr>
        <p:grpSpPr>
          <a:xfrm rot="0">
            <a:off x="1097280" y="8394192"/>
            <a:ext cx="6949440" cy="512064"/>
            <a:chOff x="0" y="0"/>
            <a:chExt cx="9265920" cy="682752"/>
          </a:xfrm>
        </p:grpSpPr>
        <p:sp>
          <p:nvSpPr>
            <p:cNvPr name="Freeform 53" id="53"/>
            <p:cNvSpPr/>
            <p:nvPr/>
          </p:nvSpPr>
          <p:spPr>
            <a:xfrm flipH="false" flipV="false" rot="0">
              <a:off x="0" y="0"/>
              <a:ext cx="9265920" cy="682752"/>
            </a:xfrm>
            <a:custGeom>
              <a:avLst/>
              <a:gdLst/>
              <a:ahLst/>
              <a:cxnLst/>
              <a:rect r="r" b="b" t="t" l="l"/>
              <a:pathLst>
                <a:path h="682752" w="9265920">
                  <a:moveTo>
                    <a:pt x="0" y="0"/>
                  </a:moveTo>
                  <a:lnTo>
                    <a:pt x="9265920" y="0"/>
                  </a:lnTo>
                  <a:lnTo>
                    <a:pt x="9265920" y="682752"/>
                  </a:lnTo>
                  <a:lnTo>
                    <a:pt x="0" y="682752"/>
                  </a:lnTo>
                  <a:close/>
                </a:path>
              </a:pathLst>
            </a:custGeom>
            <a:blipFill>
              <a:blip r:embed="rId3">
                <a:alphaModFix amt="0"/>
              </a:blip>
              <a:stretch>
                <a:fillRect l="0" t="-214439" r="0" b="-214439"/>
              </a:stretch>
            </a:blipFill>
          </p:spPr>
        </p:sp>
        <p:sp>
          <p:nvSpPr>
            <p:cNvPr name="TextBox 54" id="54"/>
            <p:cNvSpPr txBox="true"/>
            <p:nvPr/>
          </p:nvSpPr>
          <p:spPr>
            <a:xfrm>
              <a:off x="0" y="-47625"/>
              <a:ext cx="9265920" cy="730377"/>
            </a:xfrm>
            <a:prstGeom prst="rect">
              <a:avLst/>
            </a:prstGeom>
          </p:spPr>
          <p:txBody>
            <a:bodyPr anchor="ctr" rtlCol="false" tIns="0" lIns="0" bIns="0" rIns="0"/>
            <a:lstStyle/>
            <a:p>
              <a:pPr algn="l">
                <a:lnSpc>
                  <a:spcPts val="2640"/>
                </a:lnSpc>
              </a:pPr>
              <a:r>
                <a:rPr lang="en-US" sz="2200" b="true">
                  <a:solidFill>
                    <a:srgbClr val="0D9488"/>
                  </a:solidFill>
                  <a:latin typeface="Calibri (MS) Bold"/>
                  <a:ea typeface="Calibri (MS) Bold"/>
                  <a:cs typeface="Calibri (MS) Bold"/>
                  <a:sym typeface="Calibri (MS) Bold"/>
                </a:rPr>
                <a:t>→  </a:t>
              </a:r>
              <a:r>
                <a:rPr lang="en-US" sz="2200">
                  <a:solidFill>
                    <a:srgbClr val="1E293B"/>
                  </a:solidFill>
                  <a:latin typeface="Calibri (MS)"/>
                  <a:ea typeface="Calibri (MS)"/>
                  <a:cs typeface="Calibri (MS)"/>
                  <a:sym typeface="Calibri (MS)"/>
                </a:rPr>
                <a:t>Traffic control &amp; infrastructure analysis</a:t>
              </a:r>
            </a:p>
          </p:txBody>
        </p:sp>
      </p:grpSp>
      <p:grpSp>
        <p:nvGrpSpPr>
          <p:cNvPr name="Group 55" id="55"/>
          <p:cNvGrpSpPr/>
          <p:nvPr/>
        </p:nvGrpSpPr>
        <p:grpSpPr>
          <a:xfrm rot="0">
            <a:off x="1097280" y="8979408"/>
            <a:ext cx="6949440" cy="512064"/>
            <a:chOff x="0" y="0"/>
            <a:chExt cx="9265920" cy="682752"/>
          </a:xfrm>
        </p:grpSpPr>
        <p:sp>
          <p:nvSpPr>
            <p:cNvPr name="Freeform 56" id="56"/>
            <p:cNvSpPr/>
            <p:nvPr/>
          </p:nvSpPr>
          <p:spPr>
            <a:xfrm flipH="false" flipV="false" rot="0">
              <a:off x="0" y="0"/>
              <a:ext cx="9265920" cy="682752"/>
            </a:xfrm>
            <a:custGeom>
              <a:avLst/>
              <a:gdLst/>
              <a:ahLst/>
              <a:cxnLst/>
              <a:rect r="r" b="b" t="t" l="l"/>
              <a:pathLst>
                <a:path h="682752" w="9265920">
                  <a:moveTo>
                    <a:pt x="0" y="0"/>
                  </a:moveTo>
                  <a:lnTo>
                    <a:pt x="9265920" y="0"/>
                  </a:lnTo>
                  <a:lnTo>
                    <a:pt x="9265920" y="682752"/>
                  </a:lnTo>
                  <a:lnTo>
                    <a:pt x="0" y="682752"/>
                  </a:lnTo>
                  <a:close/>
                </a:path>
              </a:pathLst>
            </a:custGeom>
            <a:blipFill>
              <a:blip r:embed="rId3">
                <a:alphaModFix amt="0"/>
              </a:blip>
              <a:stretch>
                <a:fillRect l="0" t="-214439" r="0" b="-214439"/>
              </a:stretch>
            </a:blipFill>
          </p:spPr>
        </p:sp>
        <p:sp>
          <p:nvSpPr>
            <p:cNvPr name="TextBox 57" id="57"/>
            <p:cNvSpPr txBox="true"/>
            <p:nvPr/>
          </p:nvSpPr>
          <p:spPr>
            <a:xfrm>
              <a:off x="0" y="-47625"/>
              <a:ext cx="9265920" cy="730377"/>
            </a:xfrm>
            <a:prstGeom prst="rect">
              <a:avLst/>
            </a:prstGeom>
          </p:spPr>
          <p:txBody>
            <a:bodyPr anchor="ctr" rtlCol="false" tIns="0" lIns="0" bIns="0" rIns="0"/>
            <a:lstStyle/>
            <a:p>
              <a:pPr algn="l">
                <a:lnSpc>
                  <a:spcPts val="2640"/>
                </a:lnSpc>
              </a:pPr>
              <a:r>
                <a:rPr lang="en-US" sz="2200" b="true">
                  <a:solidFill>
                    <a:srgbClr val="0D9488"/>
                  </a:solidFill>
                  <a:latin typeface="Calibri (MS) Bold"/>
                  <a:ea typeface="Calibri (MS) Bold"/>
                  <a:cs typeface="Calibri (MS) Bold"/>
                  <a:sym typeface="Calibri (MS) Bold"/>
                </a:rPr>
                <a:t>→  </a:t>
              </a:r>
              <a:r>
                <a:rPr lang="en-US" sz="2200">
                  <a:solidFill>
                    <a:srgbClr val="1E293B"/>
                  </a:solidFill>
                  <a:latin typeface="Calibri (MS)"/>
                  <a:ea typeface="Calibri (MS)"/>
                  <a:cs typeface="Calibri (MS)"/>
                  <a:sym typeface="Calibri (MS)"/>
                </a:rPr>
                <a:t>Military &amp; security intelligence</a:t>
              </a:r>
            </a:p>
          </p:txBody>
        </p:sp>
      </p:grpSp>
      <p:grpSp>
        <p:nvGrpSpPr>
          <p:cNvPr name="Group 58" id="58"/>
          <p:cNvGrpSpPr/>
          <p:nvPr/>
        </p:nvGrpSpPr>
        <p:grpSpPr>
          <a:xfrm rot="0">
            <a:off x="8863327" y="2462527"/>
            <a:ext cx="8699497" cy="7236457"/>
            <a:chOff x="0" y="0"/>
            <a:chExt cx="11599329" cy="9648609"/>
          </a:xfrm>
        </p:grpSpPr>
        <p:sp>
          <p:nvSpPr>
            <p:cNvPr name="Freeform 59" id="59"/>
            <p:cNvSpPr/>
            <p:nvPr/>
          </p:nvSpPr>
          <p:spPr>
            <a:xfrm flipH="false" flipV="false" rot="0">
              <a:off x="8509" y="8509"/>
              <a:ext cx="11582400" cy="9631680"/>
            </a:xfrm>
            <a:custGeom>
              <a:avLst/>
              <a:gdLst/>
              <a:ahLst/>
              <a:cxnLst/>
              <a:rect r="r" b="b" t="t" l="l"/>
              <a:pathLst>
                <a:path h="9631680" w="11582400">
                  <a:moveTo>
                    <a:pt x="0" y="0"/>
                  </a:moveTo>
                  <a:lnTo>
                    <a:pt x="11582400" y="0"/>
                  </a:lnTo>
                  <a:lnTo>
                    <a:pt x="11582400" y="9631680"/>
                  </a:lnTo>
                  <a:lnTo>
                    <a:pt x="0" y="9631680"/>
                  </a:lnTo>
                  <a:close/>
                </a:path>
              </a:pathLst>
            </a:custGeom>
            <a:solidFill>
              <a:srgbClr val="FFFFFF"/>
            </a:solidFill>
          </p:spPr>
        </p:sp>
        <p:sp>
          <p:nvSpPr>
            <p:cNvPr name="Freeform 60" id="60"/>
            <p:cNvSpPr/>
            <p:nvPr/>
          </p:nvSpPr>
          <p:spPr>
            <a:xfrm flipH="false" flipV="false" rot="0">
              <a:off x="0" y="0"/>
              <a:ext cx="11599418" cy="9648699"/>
            </a:xfrm>
            <a:custGeom>
              <a:avLst/>
              <a:gdLst/>
              <a:ahLst/>
              <a:cxnLst/>
              <a:rect r="r" b="b" t="t" l="l"/>
              <a:pathLst>
                <a:path h="9648699" w="11599418">
                  <a:moveTo>
                    <a:pt x="8509" y="0"/>
                  </a:moveTo>
                  <a:lnTo>
                    <a:pt x="11590909" y="0"/>
                  </a:lnTo>
                  <a:cubicBezTo>
                    <a:pt x="11595608" y="0"/>
                    <a:pt x="11599418" y="3810"/>
                    <a:pt x="11599418" y="8509"/>
                  </a:cubicBezTo>
                  <a:lnTo>
                    <a:pt x="11599418" y="9640189"/>
                  </a:lnTo>
                  <a:cubicBezTo>
                    <a:pt x="11599418" y="9644888"/>
                    <a:pt x="11595608" y="9648699"/>
                    <a:pt x="11590909" y="9648699"/>
                  </a:cubicBezTo>
                  <a:lnTo>
                    <a:pt x="8509" y="9648699"/>
                  </a:lnTo>
                  <a:cubicBezTo>
                    <a:pt x="3810" y="9648699"/>
                    <a:pt x="0" y="9644888"/>
                    <a:pt x="0" y="9640189"/>
                  </a:cubicBezTo>
                  <a:lnTo>
                    <a:pt x="0" y="8509"/>
                  </a:lnTo>
                  <a:cubicBezTo>
                    <a:pt x="0" y="3810"/>
                    <a:pt x="3810" y="0"/>
                    <a:pt x="8509" y="0"/>
                  </a:cubicBezTo>
                  <a:moveTo>
                    <a:pt x="8509" y="16891"/>
                  </a:moveTo>
                  <a:lnTo>
                    <a:pt x="8509" y="8509"/>
                  </a:lnTo>
                  <a:lnTo>
                    <a:pt x="17018" y="8509"/>
                  </a:lnTo>
                  <a:lnTo>
                    <a:pt x="17018" y="9640189"/>
                  </a:lnTo>
                  <a:lnTo>
                    <a:pt x="8509" y="9640189"/>
                  </a:lnTo>
                  <a:lnTo>
                    <a:pt x="8509" y="9631680"/>
                  </a:lnTo>
                  <a:lnTo>
                    <a:pt x="11590909" y="9631680"/>
                  </a:lnTo>
                  <a:lnTo>
                    <a:pt x="11590909" y="9640189"/>
                  </a:lnTo>
                  <a:lnTo>
                    <a:pt x="11582400" y="9640189"/>
                  </a:lnTo>
                  <a:lnTo>
                    <a:pt x="11582400" y="8509"/>
                  </a:lnTo>
                  <a:lnTo>
                    <a:pt x="11590909" y="8509"/>
                  </a:lnTo>
                  <a:lnTo>
                    <a:pt x="11590909" y="17018"/>
                  </a:lnTo>
                  <a:lnTo>
                    <a:pt x="8509" y="17018"/>
                  </a:lnTo>
                  <a:close/>
                </a:path>
              </a:pathLst>
            </a:custGeom>
            <a:solidFill>
              <a:srgbClr val="E2E8F0"/>
            </a:solidFill>
          </p:spPr>
        </p:sp>
      </p:grpSp>
      <p:grpSp>
        <p:nvGrpSpPr>
          <p:cNvPr name="Group 61" id="61"/>
          <p:cNvGrpSpPr/>
          <p:nvPr/>
        </p:nvGrpSpPr>
        <p:grpSpPr>
          <a:xfrm rot="0">
            <a:off x="8856983" y="2456183"/>
            <a:ext cx="135131" cy="7249163"/>
            <a:chOff x="0" y="0"/>
            <a:chExt cx="180175" cy="9665551"/>
          </a:xfrm>
        </p:grpSpPr>
        <p:sp>
          <p:nvSpPr>
            <p:cNvPr name="Freeform 62" id="62"/>
            <p:cNvSpPr/>
            <p:nvPr/>
          </p:nvSpPr>
          <p:spPr>
            <a:xfrm flipH="false" flipV="false" rot="0">
              <a:off x="16891" y="16891"/>
              <a:ext cx="146304" cy="9631681"/>
            </a:xfrm>
            <a:custGeom>
              <a:avLst/>
              <a:gdLst/>
              <a:ahLst/>
              <a:cxnLst/>
              <a:rect r="r" b="b" t="t" l="l"/>
              <a:pathLst>
                <a:path h="9631681" w="146304">
                  <a:moveTo>
                    <a:pt x="0" y="0"/>
                  </a:moveTo>
                  <a:lnTo>
                    <a:pt x="146304" y="0"/>
                  </a:lnTo>
                  <a:lnTo>
                    <a:pt x="146304" y="9631681"/>
                  </a:lnTo>
                  <a:lnTo>
                    <a:pt x="0" y="9631681"/>
                  </a:lnTo>
                  <a:close/>
                </a:path>
              </a:pathLst>
            </a:custGeom>
            <a:solidFill>
              <a:srgbClr val="E05B4B"/>
            </a:solidFill>
          </p:spPr>
        </p:sp>
        <p:sp>
          <p:nvSpPr>
            <p:cNvPr name="Freeform 63" id="63"/>
            <p:cNvSpPr/>
            <p:nvPr/>
          </p:nvSpPr>
          <p:spPr>
            <a:xfrm flipH="false" flipV="false" rot="0">
              <a:off x="0" y="0"/>
              <a:ext cx="180086" cy="9665462"/>
            </a:xfrm>
            <a:custGeom>
              <a:avLst/>
              <a:gdLst/>
              <a:ahLst/>
              <a:cxnLst/>
              <a:rect r="r" b="b" t="t" l="l"/>
              <a:pathLst>
                <a:path h="9665462" w="180086">
                  <a:moveTo>
                    <a:pt x="16891" y="0"/>
                  </a:moveTo>
                  <a:lnTo>
                    <a:pt x="163195" y="0"/>
                  </a:lnTo>
                  <a:cubicBezTo>
                    <a:pt x="172593" y="0"/>
                    <a:pt x="180086" y="7620"/>
                    <a:pt x="180086" y="16891"/>
                  </a:cubicBezTo>
                  <a:lnTo>
                    <a:pt x="180086" y="9648572"/>
                  </a:lnTo>
                  <a:cubicBezTo>
                    <a:pt x="180086" y="9657969"/>
                    <a:pt x="172466" y="9665462"/>
                    <a:pt x="163195" y="9665462"/>
                  </a:cubicBezTo>
                  <a:lnTo>
                    <a:pt x="16891" y="9665462"/>
                  </a:lnTo>
                  <a:cubicBezTo>
                    <a:pt x="7493" y="9665462"/>
                    <a:pt x="0" y="9657842"/>
                    <a:pt x="0" y="9648572"/>
                  </a:cubicBezTo>
                  <a:lnTo>
                    <a:pt x="0" y="16891"/>
                  </a:lnTo>
                  <a:cubicBezTo>
                    <a:pt x="0" y="7620"/>
                    <a:pt x="7620" y="0"/>
                    <a:pt x="16891" y="0"/>
                  </a:cubicBezTo>
                  <a:moveTo>
                    <a:pt x="16891" y="33909"/>
                  </a:moveTo>
                  <a:lnTo>
                    <a:pt x="16891" y="16891"/>
                  </a:lnTo>
                  <a:lnTo>
                    <a:pt x="33909" y="16891"/>
                  </a:lnTo>
                  <a:lnTo>
                    <a:pt x="33909" y="9648572"/>
                  </a:lnTo>
                  <a:lnTo>
                    <a:pt x="16891" y="9648572"/>
                  </a:lnTo>
                  <a:lnTo>
                    <a:pt x="16891" y="9631680"/>
                  </a:lnTo>
                  <a:lnTo>
                    <a:pt x="163195" y="9631680"/>
                  </a:lnTo>
                  <a:lnTo>
                    <a:pt x="163195" y="9648572"/>
                  </a:lnTo>
                  <a:lnTo>
                    <a:pt x="146304" y="9648572"/>
                  </a:lnTo>
                  <a:lnTo>
                    <a:pt x="146304" y="16891"/>
                  </a:lnTo>
                  <a:lnTo>
                    <a:pt x="163195" y="16891"/>
                  </a:lnTo>
                  <a:lnTo>
                    <a:pt x="163195" y="33909"/>
                  </a:lnTo>
                  <a:lnTo>
                    <a:pt x="16891" y="33909"/>
                  </a:lnTo>
                  <a:close/>
                </a:path>
              </a:pathLst>
            </a:custGeom>
            <a:solidFill>
              <a:srgbClr val="E05B4B"/>
            </a:solidFill>
          </p:spPr>
        </p:sp>
      </p:grpSp>
      <p:grpSp>
        <p:nvGrpSpPr>
          <p:cNvPr name="Group 64" id="64"/>
          <p:cNvGrpSpPr/>
          <p:nvPr/>
        </p:nvGrpSpPr>
        <p:grpSpPr>
          <a:xfrm rot="0">
            <a:off x="9198864" y="2560320"/>
            <a:ext cx="8046720" cy="640080"/>
            <a:chOff x="0" y="0"/>
            <a:chExt cx="10728960" cy="853440"/>
          </a:xfrm>
        </p:grpSpPr>
        <p:sp>
          <p:nvSpPr>
            <p:cNvPr name="Freeform 65" id="65"/>
            <p:cNvSpPr/>
            <p:nvPr/>
          </p:nvSpPr>
          <p:spPr>
            <a:xfrm flipH="false" flipV="false" rot="0">
              <a:off x="0" y="0"/>
              <a:ext cx="10728960" cy="853440"/>
            </a:xfrm>
            <a:custGeom>
              <a:avLst/>
              <a:gdLst/>
              <a:ahLst/>
              <a:cxnLst/>
              <a:rect r="r" b="b" t="t" l="l"/>
              <a:pathLst>
                <a:path h="853440" w="10728960">
                  <a:moveTo>
                    <a:pt x="0" y="0"/>
                  </a:moveTo>
                  <a:lnTo>
                    <a:pt x="10728960" y="0"/>
                  </a:lnTo>
                  <a:lnTo>
                    <a:pt x="10728960" y="853440"/>
                  </a:lnTo>
                  <a:lnTo>
                    <a:pt x="0" y="853440"/>
                  </a:lnTo>
                  <a:close/>
                </a:path>
              </a:pathLst>
            </a:custGeom>
            <a:blipFill>
              <a:blip r:embed="rId3">
                <a:alphaModFix amt="0"/>
              </a:blip>
              <a:stretch>
                <a:fillRect l="0" t="-194954" r="0" b="-194954"/>
              </a:stretch>
            </a:blipFill>
          </p:spPr>
        </p:sp>
        <p:sp>
          <p:nvSpPr>
            <p:cNvPr name="TextBox 66" id="66"/>
            <p:cNvSpPr txBox="true"/>
            <p:nvPr/>
          </p:nvSpPr>
          <p:spPr>
            <a:xfrm>
              <a:off x="0" y="-57150"/>
              <a:ext cx="10728960" cy="910590"/>
            </a:xfrm>
            <a:prstGeom prst="rect">
              <a:avLst/>
            </a:prstGeom>
          </p:spPr>
          <p:txBody>
            <a:bodyPr anchor="ctr" rtlCol="false" tIns="0" lIns="0" bIns="0" rIns="0"/>
            <a:lstStyle/>
            <a:p>
              <a:pPr algn="l">
                <a:lnSpc>
                  <a:spcPts val="3120"/>
                </a:lnSpc>
              </a:pPr>
              <a:r>
                <a:rPr lang="en-US" sz="2600" b="true">
                  <a:solidFill>
                    <a:srgbClr val="E05B4B"/>
                  </a:solidFill>
                  <a:latin typeface="Calibri (MS) Bold"/>
                  <a:ea typeface="Calibri (MS) Bold"/>
                  <a:cs typeface="Calibri (MS) Bold"/>
                  <a:sym typeface="Calibri (MS) Bold"/>
                </a:rPr>
                <a:t>Why is RSIC Challenging?</a:t>
              </a:r>
            </a:p>
          </p:txBody>
        </p:sp>
      </p:grpSp>
      <p:grpSp>
        <p:nvGrpSpPr>
          <p:cNvPr name="Group 67" id="67"/>
          <p:cNvGrpSpPr/>
          <p:nvPr/>
        </p:nvGrpSpPr>
        <p:grpSpPr>
          <a:xfrm rot="0">
            <a:off x="9186167" y="3370583"/>
            <a:ext cx="427739" cy="427739"/>
            <a:chOff x="0" y="0"/>
            <a:chExt cx="570319" cy="570319"/>
          </a:xfrm>
        </p:grpSpPr>
        <p:sp>
          <p:nvSpPr>
            <p:cNvPr name="Freeform 68" id="68"/>
            <p:cNvSpPr/>
            <p:nvPr/>
          </p:nvSpPr>
          <p:spPr>
            <a:xfrm flipH="false" flipV="false" rot="0">
              <a:off x="16891" y="16891"/>
              <a:ext cx="536448" cy="536448"/>
            </a:xfrm>
            <a:custGeom>
              <a:avLst/>
              <a:gdLst/>
              <a:ahLst/>
              <a:cxnLst/>
              <a:rect r="r" b="b" t="t" l="l"/>
              <a:pathLst>
                <a:path h="536448" w="536448">
                  <a:moveTo>
                    <a:pt x="0" y="0"/>
                  </a:moveTo>
                  <a:lnTo>
                    <a:pt x="536448" y="0"/>
                  </a:lnTo>
                  <a:lnTo>
                    <a:pt x="536448" y="536448"/>
                  </a:lnTo>
                  <a:lnTo>
                    <a:pt x="0" y="536448"/>
                  </a:lnTo>
                  <a:close/>
                </a:path>
              </a:pathLst>
            </a:custGeom>
            <a:solidFill>
              <a:srgbClr val="E05B4B"/>
            </a:solidFill>
          </p:spPr>
        </p:sp>
        <p:sp>
          <p:nvSpPr>
            <p:cNvPr name="Freeform 69" id="69"/>
            <p:cNvSpPr/>
            <p:nvPr/>
          </p:nvSpPr>
          <p:spPr>
            <a:xfrm flipH="false" flipV="false" rot="0">
              <a:off x="0" y="0"/>
              <a:ext cx="570230" cy="570232"/>
            </a:xfrm>
            <a:custGeom>
              <a:avLst/>
              <a:gdLst/>
              <a:ahLst/>
              <a:cxnLst/>
              <a:rect r="r" b="b" t="t" l="l"/>
              <a:pathLst>
                <a:path h="570232" w="570230">
                  <a:moveTo>
                    <a:pt x="16891" y="0"/>
                  </a:moveTo>
                  <a:lnTo>
                    <a:pt x="553339" y="0"/>
                  </a:lnTo>
                  <a:cubicBezTo>
                    <a:pt x="562737" y="0"/>
                    <a:pt x="570230" y="7620"/>
                    <a:pt x="570230" y="16891"/>
                  </a:cubicBezTo>
                  <a:lnTo>
                    <a:pt x="570230" y="553339"/>
                  </a:lnTo>
                  <a:cubicBezTo>
                    <a:pt x="570230" y="562737"/>
                    <a:pt x="562610" y="570230"/>
                    <a:pt x="553339" y="570230"/>
                  </a:cubicBezTo>
                  <a:lnTo>
                    <a:pt x="16891" y="570230"/>
                  </a:lnTo>
                  <a:cubicBezTo>
                    <a:pt x="7620" y="570357"/>
                    <a:pt x="0" y="562737"/>
                    <a:pt x="0" y="553339"/>
                  </a:cubicBezTo>
                  <a:lnTo>
                    <a:pt x="0" y="16891"/>
                  </a:lnTo>
                  <a:cubicBezTo>
                    <a:pt x="0" y="7620"/>
                    <a:pt x="7620" y="0"/>
                    <a:pt x="16891" y="0"/>
                  </a:cubicBezTo>
                  <a:moveTo>
                    <a:pt x="16891" y="33909"/>
                  </a:moveTo>
                  <a:lnTo>
                    <a:pt x="16891" y="16891"/>
                  </a:lnTo>
                  <a:lnTo>
                    <a:pt x="33909" y="16891"/>
                  </a:lnTo>
                  <a:lnTo>
                    <a:pt x="33909" y="553339"/>
                  </a:lnTo>
                  <a:lnTo>
                    <a:pt x="16891" y="553339"/>
                  </a:lnTo>
                  <a:lnTo>
                    <a:pt x="16891" y="536448"/>
                  </a:lnTo>
                  <a:lnTo>
                    <a:pt x="553339" y="536448"/>
                  </a:lnTo>
                  <a:lnTo>
                    <a:pt x="553339" y="553339"/>
                  </a:lnTo>
                  <a:lnTo>
                    <a:pt x="536448" y="553339"/>
                  </a:lnTo>
                  <a:lnTo>
                    <a:pt x="536448" y="16891"/>
                  </a:lnTo>
                  <a:lnTo>
                    <a:pt x="553339" y="16891"/>
                  </a:lnTo>
                  <a:lnTo>
                    <a:pt x="553339" y="33909"/>
                  </a:lnTo>
                  <a:lnTo>
                    <a:pt x="16891" y="33909"/>
                  </a:lnTo>
                  <a:close/>
                </a:path>
              </a:pathLst>
            </a:custGeom>
            <a:solidFill>
              <a:srgbClr val="E05B4B"/>
            </a:solidFill>
          </p:spPr>
        </p:sp>
      </p:grpSp>
      <p:grpSp>
        <p:nvGrpSpPr>
          <p:cNvPr name="Group 70" id="70"/>
          <p:cNvGrpSpPr/>
          <p:nvPr/>
        </p:nvGrpSpPr>
        <p:grpSpPr>
          <a:xfrm rot="0">
            <a:off x="9198864" y="3383280"/>
            <a:ext cx="402336" cy="402336"/>
            <a:chOff x="0" y="0"/>
            <a:chExt cx="536448" cy="536448"/>
          </a:xfrm>
        </p:grpSpPr>
        <p:sp>
          <p:nvSpPr>
            <p:cNvPr name="Freeform 71" id="71"/>
            <p:cNvSpPr/>
            <p:nvPr/>
          </p:nvSpPr>
          <p:spPr>
            <a:xfrm flipH="false" flipV="false" rot="0">
              <a:off x="0" y="0"/>
              <a:ext cx="536448" cy="536448"/>
            </a:xfrm>
            <a:custGeom>
              <a:avLst/>
              <a:gdLst/>
              <a:ahLst/>
              <a:cxnLst/>
              <a:rect r="r" b="b" t="t" l="l"/>
              <a:pathLst>
                <a:path h="536448" w="536448">
                  <a:moveTo>
                    <a:pt x="0" y="0"/>
                  </a:moveTo>
                  <a:lnTo>
                    <a:pt x="536448" y="0"/>
                  </a:lnTo>
                  <a:lnTo>
                    <a:pt x="536448" y="536448"/>
                  </a:lnTo>
                  <a:lnTo>
                    <a:pt x="0" y="536448"/>
                  </a:lnTo>
                  <a:close/>
                </a:path>
              </a:pathLst>
            </a:custGeom>
            <a:blipFill>
              <a:blip r:embed="rId3">
                <a:alphaModFix amt="0"/>
              </a:blip>
              <a:stretch>
                <a:fillRect l="-78303" t="0" r="-78303" b="0"/>
              </a:stretch>
            </a:blipFill>
          </p:spPr>
        </p:sp>
        <p:sp>
          <p:nvSpPr>
            <p:cNvPr name="TextBox 72" id="72"/>
            <p:cNvSpPr txBox="true"/>
            <p:nvPr/>
          </p:nvSpPr>
          <p:spPr>
            <a:xfrm>
              <a:off x="0" y="-38100"/>
              <a:ext cx="536448" cy="574548"/>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1</a:t>
              </a:r>
            </a:p>
          </p:txBody>
        </p:sp>
      </p:grpSp>
      <p:grpSp>
        <p:nvGrpSpPr>
          <p:cNvPr name="Group 73" id="73"/>
          <p:cNvGrpSpPr/>
          <p:nvPr/>
        </p:nvGrpSpPr>
        <p:grpSpPr>
          <a:xfrm rot="0">
            <a:off x="9729216" y="3383280"/>
            <a:ext cx="7498080" cy="402336"/>
            <a:chOff x="0" y="0"/>
            <a:chExt cx="9997440" cy="536448"/>
          </a:xfrm>
        </p:grpSpPr>
        <p:sp>
          <p:nvSpPr>
            <p:cNvPr name="Freeform 74" id="74"/>
            <p:cNvSpPr/>
            <p:nvPr/>
          </p:nvSpPr>
          <p:spPr>
            <a:xfrm flipH="false" flipV="false" rot="0">
              <a:off x="0" y="0"/>
              <a:ext cx="9997440" cy="536448"/>
            </a:xfrm>
            <a:custGeom>
              <a:avLst/>
              <a:gdLst/>
              <a:ahLst/>
              <a:cxnLst/>
              <a:rect r="r" b="b" t="t" l="l"/>
              <a:pathLst>
                <a:path h="536448" w="9997440">
                  <a:moveTo>
                    <a:pt x="0" y="0"/>
                  </a:moveTo>
                  <a:lnTo>
                    <a:pt x="9997440" y="0"/>
                  </a:lnTo>
                  <a:lnTo>
                    <a:pt x="9997440" y="536448"/>
                  </a:lnTo>
                  <a:lnTo>
                    <a:pt x="0" y="536448"/>
                  </a:lnTo>
                  <a:close/>
                </a:path>
              </a:pathLst>
            </a:custGeom>
            <a:blipFill>
              <a:blip r:embed="rId3">
                <a:alphaModFix amt="0"/>
              </a:blip>
              <a:stretch>
                <a:fillRect l="0" t="-313130" r="0" b="-313130"/>
              </a:stretch>
            </a:blipFill>
          </p:spPr>
        </p:sp>
        <p:sp>
          <p:nvSpPr>
            <p:cNvPr name="TextBox 75" id="75"/>
            <p:cNvSpPr txBox="true"/>
            <p:nvPr/>
          </p:nvSpPr>
          <p:spPr>
            <a:xfrm>
              <a:off x="0" y="-47625"/>
              <a:ext cx="9997440" cy="584073"/>
            </a:xfrm>
            <a:prstGeom prst="rect">
              <a:avLst/>
            </a:prstGeom>
          </p:spPr>
          <p:txBody>
            <a:bodyPr anchor="ctr" rtlCol="false" tIns="0" lIns="0" bIns="0" rIns="0"/>
            <a:lstStyle/>
            <a:p>
              <a:pPr algn="l">
                <a:lnSpc>
                  <a:spcPts val="2640"/>
                </a:lnSpc>
              </a:pPr>
              <a:r>
                <a:rPr lang="en-US" sz="2200" b="true">
                  <a:solidFill>
                    <a:srgbClr val="1E293B"/>
                  </a:solidFill>
                  <a:latin typeface="Calibri (MS) Bold"/>
                  <a:ea typeface="Calibri (MS) Bold"/>
                  <a:cs typeface="Calibri (MS) Bold"/>
                  <a:sym typeface="Calibri (MS) Bold"/>
                </a:rPr>
                <a:t>Scale diversity</a:t>
              </a:r>
            </a:p>
          </p:txBody>
        </p:sp>
      </p:grpSp>
      <p:grpSp>
        <p:nvGrpSpPr>
          <p:cNvPr name="Group 76" id="76"/>
          <p:cNvGrpSpPr/>
          <p:nvPr/>
        </p:nvGrpSpPr>
        <p:grpSpPr>
          <a:xfrm rot="0">
            <a:off x="9729216" y="3785616"/>
            <a:ext cx="7498080" cy="768096"/>
            <a:chOff x="0" y="0"/>
            <a:chExt cx="9997440" cy="1024128"/>
          </a:xfrm>
        </p:grpSpPr>
        <p:sp>
          <p:nvSpPr>
            <p:cNvPr name="Freeform 77" id="77"/>
            <p:cNvSpPr/>
            <p:nvPr/>
          </p:nvSpPr>
          <p:spPr>
            <a:xfrm flipH="false" flipV="false" rot="0">
              <a:off x="0" y="0"/>
              <a:ext cx="9997440" cy="1024128"/>
            </a:xfrm>
            <a:custGeom>
              <a:avLst/>
              <a:gdLst/>
              <a:ahLst/>
              <a:cxnLst/>
              <a:rect r="r" b="b" t="t" l="l"/>
              <a:pathLst>
                <a:path h="1024128" w="9997440">
                  <a:moveTo>
                    <a:pt x="0" y="0"/>
                  </a:moveTo>
                  <a:lnTo>
                    <a:pt x="9997440" y="0"/>
                  </a:lnTo>
                  <a:lnTo>
                    <a:pt x="9997440" y="1024128"/>
                  </a:lnTo>
                  <a:lnTo>
                    <a:pt x="0" y="1024128"/>
                  </a:lnTo>
                  <a:close/>
                </a:path>
              </a:pathLst>
            </a:custGeom>
            <a:blipFill>
              <a:blip r:embed="rId3">
                <a:alphaModFix amt="0"/>
              </a:blip>
              <a:stretch>
                <a:fillRect l="0" t="-140211" r="0" b="-140211"/>
              </a:stretch>
            </a:blipFill>
          </p:spPr>
        </p:sp>
        <p:sp>
          <p:nvSpPr>
            <p:cNvPr name="TextBox 78" id="78"/>
            <p:cNvSpPr txBox="true"/>
            <p:nvPr/>
          </p:nvSpPr>
          <p:spPr>
            <a:xfrm>
              <a:off x="0" y="-38100"/>
              <a:ext cx="9997440" cy="1062228"/>
            </a:xfrm>
            <a:prstGeom prst="rect">
              <a:avLst/>
            </a:prstGeom>
          </p:spPr>
          <p:txBody>
            <a:bodyPr anchor="ctr" rtlCol="false" tIns="0" lIns="0" bIns="0" rIns="0"/>
            <a:lstStyle/>
            <a:p>
              <a:pPr algn="l">
                <a:lnSpc>
                  <a:spcPts val="2400"/>
                </a:lnSpc>
              </a:pPr>
              <a:r>
                <a:rPr lang="en-US" sz="2000">
                  <a:solidFill>
                    <a:srgbClr val="94A3B8"/>
                  </a:solidFill>
                  <a:latin typeface="Calibri (MS)"/>
                  <a:ea typeface="Calibri (MS)"/>
                  <a:cs typeface="Calibri (MS)"/>
                  <a:sym typeface="Calibri (MS)"/>
                </a:rPr>
                <a:t>Objects range from cars (tiny) to airports (huge). One feature scale cannot capture all of them.</a:t>
              </a:r>
            </a:p>
          </p:txBody>
        </p:sp>
      </p:grpSp>
      <p:grpSp>
        <p:nvGrpSpPr>
          <p:cNvPr name="Group 79" id="79"/>
          <p:cNvGrpSpPr/>
          <p:nvPr/>
        </p:nvGrpSpPr>
        <p:grpSpPr>
          <a:xfrm rot="0">
            <a:off x="9186167" y="4687319"/>
            <a:ext cx="427739" cy="427739"/>
            <a:chOff x="0" y="0"/>
            <a:chExt cx="570319" cy="570319"/>
          </a:xfrm>
        </p:grpSpPr>
        <p:sp>
          <p:nvSpPr>
            <p:cNvPr name="Freeform 80" id="80"/>
            <p:cNvSpPr/>
            <p:nvPr/>
          </p:nvSpPr>
          <p:spPr>
            <a:xfrm flipH="false" flipV="false" rot="0">
              <a:off x="16891" y="16891"/>
              <a:ext cx="536448" cy="536448"/>
            </a:xfrm>
            <a:custGeom>
              <a:avLst/>
              <a:gdLst/>
              <a:ahLst/>
              <a:cxnLst/>
              <a:rect r="r" b="b" t="t" l="l"/>
              <a:pathLst>
                <a:path h="536448" w="536448">
                  <a:moveTo>
                    <a:pt x="0" y="0"/>
                  </a:moveTo>
                  <a:lnTo>
                    <a:pt x="536448" y="0"/>
                  </a:lnTo>
                  <a:lnTo>
                    <a:pt x="536448" y="536448"/>
                  </a:lnTo>
                  <a:lnTo>
                    <a:pt x="0" y="536448"/>
                  </a:lnTo>
                  <a:close/>
                </a:path>
              </a:pathLst>
            </a:custGeom>
            <a:solidFill>
              <a:srgbClr val="E05B4B"/>
            </a:solidFill>
          </p:spPr>
        </p:sp>
        <p:sp>
          <p:nvSpPr>
            <p:cNvPr name="Freeform 81" id="81"/>
            <p:cNvSpPr/>
            <p:nvPr/>
          </p:nvSpPr>
          <p:spPr>
            <a:xfrm flipH="false" flipV="false" rot="0">
              <a:off x="0" y="0"/>
              <a:ext cx="570230" cy="570232"/>
            </a:xfrm>
            <a:custGeom>
              <a:avLst/>
              <a:gdLst/>
              <a:ahLst/>
              <a:cxnLst/>
              <a:rect r="r" b="b" t="t" l="l"/>
              <a:pathLst>
                <a:path h="570232" w="570230">
                  <a:moveTo>
                    <a:pt x="16891" y="0"/>
                  </a:moveTo>
                  <a:lnTo>
                    <a:pt x="553339" y="0"/>
                  </a:lnTo>
                  <a:cubicBezTo>
                    <a:pt x="562737" y="0"/>
                    <a:pt x="570230" y="7620"/>
                    <a:pt x="570230" y="16891"/>
                  </a:cubicBezTo>
                  <a:lnTo>
                    <a:pt x="570230" y="553339"/>
                  </a:lnTo>
                  <a:cubicBezTo>
                    <a:pt x="570230" y="562737"/>
                    <a:pt x="562610" y="570230"/>
                    <a:pt x="553339" y="570230"/>
                  </a:cubicBezTo>
                  <a:lnTo>
                    <a:pt x="16891" y="570230"/>
                  </a:lnTo>
                  <a:cubicBezTo>
                    <a:pt x="7620" y="570357"/>
                    <a:pt x="0" y="562737"/>
                    <a:pt x="0" y="553339"/>
                  </a:cubicBezTo>
                  <a:lnTo>
                    <a:pt x="0" y="16891"/>
                  </a:lnTo>
                  <a:cubicBezTo>
                    <a:pt x="0" y="7620"/>
                    <a:pt x="7620" y="0"/>
                    <a:pt x="16891" y="0"/>
                  </a:cubicBezTo>
                  <a:moveTo>
                    <a:pt x="16891" y="33909"/>
                  </a:moveTo>
                  <a:lnTo>
                    <a:pt x="16891" y="16891"/>
                  </a:lnTo>
                  <a:lnTo>
                    <a:pt x="33909" y="16891"/>
                  </a:lnTo>
                  <a:lnTo>
                    <a:pt x="33909" y="553339"/>
                  </a:lnTo>
                  <a:lnTo>
                    <a:pt x="16891" y="553339"/>
                  </a:lnTo>
                  <a:lnTo>
                    <a:pt x="16891" y="536448"/>
                  </a:lnTo>
                  <a:lnTo>
                    <a:pt x="553339" y="536448"/>
                  </a:lnTo>
                  <a:lnTo>
                    <a:pt x="553339" y="553339"/>
                  </a:lnTo>
                  <a:lnTo>
                    <a:pt x="536448" y="553339"/>
                  </a:lnTo>
                  <a:lnTo>
                    <a:pt x="536448" y="16891"/>
                  </a:lnTo>
                  <a:lnTo>
                    <a:pt x="553339" y="16891"/>
                  </a:lnTo>
                  <a:lnTo>
                    <a:pt x="553339" y="33909"/>
                  </a:lnTo>
                  <a:lnTo>
                    <a:pt x="16891" y="33909"/>
                  </a:lnTo>
                  <a:close/>
                </a:path>
              </a:pathLst>
            </a:custGeom>
            <a:solidFill>
              <a:srgbClr val="E05B4B"/>
            </a:solidFill>
          </p:spPr>
        </p:sp>
      </p:grpSp>
      <p:grpSp>
        <p:nvGrpSpPr>
          <p:cNvPr name="Group 82" id="82"/>
          <p:cNvGrpSpPr/>
          <p:nvPr/>
        </p:nvGrpSpPr>
        <p:grpSpPr>
          <a:xfrm rot="0">
            <a:off x="9198864" y="4700016"/>
            <a:ext cx="402336" cy="402336"/>
            <a:chOff x="0" y="0"/>
            <a:chExt cx="536448" cy="536448"/>
          </a:xfrm>
        </p:grpSpPr>
        <p:sp>
          <p:nvSpPr>
            <p:cNvPr name="Freeform 83" id="83"/>
            <p:cNvSpPr/>
            <p:nvPr/>
          </p:nvSpPr>
          <p:spPr>
            <a:xfrm flipH="false" flipV="false" rot="0">
              <a:off x="0" y="0"/>
              <a:ext cx="536448" cy="536448"/>
            </a:xfrm>
            <a:custGeom>
              <a:avLst/>
              <a:gdLst/>
              <a:ahLst/>
              <a:cxnLst/>
              <a:rect r="r" b="b" t="t" l="l"/>
              <a:pathLst>
                <a:path h="536448" w="536448">
                  <a:moveTo>
                    <a:pt x="0" y="0"/>
                  </a:moveTo>
                  <a:lnTo>
                    <a:pt x="536448" y="0"/>
                  </a:lnTo>
                  <a:lnTo>
                    <a:pt x="536448" y="536448"/>
                  </a:lnTo>
                  <a:lnTo>
                    <a:pt x="0" y="536448"/>
                  </a:lnTo>
                  <a:close/>
                </a:path>
              </a:pathLst>
            </a:custGeom>
            <a:blipFill>
              <a:blip r:embed="rId3">
                <a:alphaModFix amt="0"/>
              </a:blip>
              <a:stretch>
                <a:fillRect l="-78303" t="0" r="-78303" b="0"/>
              </a:stretch>
            </a:blipFill>
          </p:spPr>
        </p:sp>
        <p:sp>
          <p:nvSpPr>
            <p:cNvPr name="TextBox 84" id="84"/>
            <p:cNvSpPr txBox="true"/>
            <p:nvPr/>
          </p:nvSpPr>
          <p:spPr>
            <a:xfrm>
              <a:off x="0" y="-38100"/>
              <a:ext cx="536448" cy="574548"/>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2</a:t>
              </a:r>
            </a:p>
          </p:txBody>
        </p:sp>
      </p:grpSp>
      <p:grpSp>
        <p:nvGrpSpPr>
          <p:cNvPr name="Group 85" id="85"/>
          <p:cNvGrpSpPr/>
          <p:nvPr/>
        </p:nvGrpSpPr>
        <p:grpSpPr>
          <a:xfrm rot="0">
            <a:off x="9729216" y="4700016"/>
            <a:ext cx="7498080" cy="402336"/>
            <a:chOff x="0" y="0"/>
            <a:chExt cx="9997440" cy="536448"/>
          </a:xfrm>
        </p:grpSpPr>
        <p:sp>
          <p:nvSpPr>
            <p:cNvPr name="Freeform 86" id="86"/>
            <p:cNvSpPr/>
            <p:nvPr/>
          </p:nvSpPr>
          <p:spPr>
            <a:xfrm flipH="false" flipV="false" rot="0">
              <a:off x="0" y="0"/>
              <a:ext cx="9997440" cy="536448"/>
            </a:xfrm>
            <a:custGeom>
              <a:avLst/>
              <a:gdLst/>
              <a:ahLst/>
              <a:cxnLst/>
              <a:rect r="r" b="b" t="t" l="l"/>
              <a:pathLst>
                <a:path h="536448" w="9997440">
                  <a:moveTo>
                    <a:pt x="0" y="0"/>
                  </a:moveTo>
                  <a:lnTo>
                    <a:pt x="9997440" y="0"/>
                  </a:lnTo>
                  <a:lnTo>
                    <a:pt x="9997440" y="536448"/>
                  </a:lnTo>
                  <a:lnTo>
                    <a:pt x="0" y="536448"/>
                  </a:lnTo>
                  <a:close/>
                </a:path>
              </a:pathLst>
            </a:custGeom>
            <a:blipFill>
              <a:blip r:embed="rId3">
                <a:alphaModFix amt="0"/>
              </a:blip>
              <a:stretch>
                <a:fillRect l="0" t="-313130" r="0" b="-313130"/>
              </a:stretch>
            </a:blipFill>
          </p:spPr>
        </p:sp>
        <p:sp>
          <p:nvSpPr>
            <p:cNvPr name="TextBox 87" id="87"/>
            <p:cNvSpPr txBox="true"/>
            <p:nvPr/>
          </p:nvSpPr>
          <p:spPr>
            <a:xfrm>
              <a:off x="0" y="-47625"/>
              <a:ext cx="9997440" cy="584073"/>
            </a:xfrm>
            <a:prstGeom prst="rect">
              <a:avLst/>
            </a:prstGeom>
          </p:spPr>
          <p:txBody>
            <a:bodyPr anchor="ctr" rtlCol="false" tIns="0" lIns="0" bIns="0" rIns="0"/>
            <a:lstStyle/>
            <a:p>
              <a:pPr algn="l">
                <a:lnSpc>
                  <a:spcPts val="2640"/>
                </a:lnSpc>
              </a:pPr>
              <a:r>
                <a:rPr lang="en-US" sz="2200" b="true">
                  <a:solidFill>
                    <a:srgbClr val="1E293B"/>
                  </a:solidFill>
                  <a:latin typeface="Calibri (MS) Bold"/>
                  <a:ea typeface="Calibri (MS) Bold"/>
                  <a:cs typeface="Calibri (MS) Bold"/>
                  <a:sym typeface="Calibri (MS) Bold"/>
                </a:rPr>
                <a:t>Spatial relationships</a:t>
              </a:r>
            </a:p>
          </p:txBody>
        </p:sp>
      </p:grpSp>
      <p:grpSp>
        <p:nvGrpSpPr>
          <p:cNvPr name="Group 88" id="88"/>
          <p:cNvGrpSpPr/>
          <p:nvPr/>
        </p:nvGrpSpPr>
        <p:grpSpPr>
          <a:xfrm rot="0">
            <a:off x="9729216" y="5102352"/>
            <a:ext cx="7498080" cy="768096"/>
            <a:chOff x="0" y="0"/>
            <a:chExt cx="9997440" cy="1024128"/>
          </a:xfrm>
        </p:grpSpPr>
        <p:sp>
          <p:nvSpPr>
            <p:cNvPr name="Freeform 89" id="89"/>
            <p:cNvSpPr/>
            <p:nvPr/>
          </p:nvSpPr>
          <p:spPr>
            <a:xfrm flipH="false" flipV="false" rot="0">
              <a:off x="0" y="0"/>
              <a:ext cx="9997440" cy="1024128"/>
            </a:xfrm>
            <a:custGeom>
              <a:avLst/>
              <a:gdLst/>
              <a:ahLst/>
              <a:cxnLst/>
              <a:rect r="r" b="b" t="t" l="l"/>
              <a:pathLst>
                <a:path h="1024128" w="9997440">
                  <a:moveTo>
                    <a:pt x="0" y="0"/>
                  </a:moveTo>
                  <a:lnTo>
                    <a:pt x="9997440" y="0"/>
                  </a:lnTo>
                  <a:lnTo>
                    <a:pt x="9997440" y="1024128"/>
                  </a:lnTo>
                  <a:lnTo>
                    <a:pt x="0" y="1024128"/>
                  </a:lnTo>
                  <a:close/>
                </a:path>
              </a:pathLst>
            </a:custGeom>
            <a:blipFill>
              <a:blip r:embed="rId3">
                <a:alphaModFix amt="0"/>
              </a:blip>
              <a:stretch>
                <a:fillRect l="0" t="-140211" r="0" b="-140211"/>
              </a:stretch>
            </a:blipFill>
          </p:spPr>
        </p:sp>
        <p:sp>
          <p:nvSpPr>
            <p:cNvPr name="TextBox 90" id="90"/>
            <p:cNvSpPr txBox="true"/>
            <p:nvPr/>
          </p:nvSpPr>
          <p:spPr>
            <a:xfrm>
              <a:off x="0" y="-38100"/>
              <a:ext cx="9997440" cy="1062228"/>
            </a:xfrm>
            <a:prstGeom prst="rect">
              <a:avLst/>
            </a:prstGeom>
          </p:spPr>
          <p:txBody>
            <a:bodyPr anchor="ctr" rtlCol="false" tIns="0" lIns="0" bIns="0" rIns="0"/>
            <a:lstStyle/>
            <a:p>
              <a:pPr algn="l">
                <a:lnSpc>
                  <a:spcPts val="2400"/>
                </a:lnSpc>
              </a:pPr>
              <a:r>
                <a:rPr lang="en-US" sz="2000">
                  <a:solidFill>
                    <a:srgbClr val="94A3B8"/>
                  </a:solidFill>
                  <a:latin typeface="Calibri (MS)"/>
                  <a:ea typeface="Calibri (MS)"/>
                  <a:cs typeface="Calibri (MS)"/>
                  <a:sym typeface="Calibri (MS)"/>
                </a:rPr>
                <a:t>The relative position of objects matters: 'trees on both sides of a river' ≠ 'trees near a river'.</a:t>
              </a:r>
            </a:p>
          </p:txBody>
        </p:sp>
      </p:grpSp>
      <p:grpSp>
        <p:nvGrpSpPr>
          <p:cNvPr name="Group 91" id="91"/>
          <p:cNvGrpSpPr/>
          <p:nvPr/>
        </p:nvGrpSpPr>
        <p:grpSpPr>
          <a:xfrm rot="0">
            <a:off x="9186167" y="6004055"/>
            <a:ext cx="427739" cy="427739"/>
            <a:chOff x="0" y="0"/>
            <a:chExt cx="570319" cy="570319"/>
          </a:xfrm>
        </p:grpSpPr>
        <p:sp>
          <p:nvSpPr>
            <p:cNvPr name="Freeform 92" id="92"/>
            <p:cNvSpPr/>
            <p:nvPr/>
          </p:nvSpPr>
          <p:spPr>
            <a:xfrm flipH="false" flipV="false" rot="0">
              <a:off x="16891" y="16891"/>
              <a:ext cx="536448" cy="536448"/>
            </a:xfrm>
            <a:custGeom>
              <a:avLst/>
              <a:gdLst/>
              <a:ahLst/>
              <a:cxnLst/>
              <a:rect r="r" b="b" t="t" l="l"/>
              <a:pathLst>
                <a:path h="536448" w="536448">
                  <a:moveTo>
                    <a:pt x="0" y="0"/>
                  </a:moveTo>
                  <a:lnTo>
                    <a:pt x="536448" y="0"/>
                  </a:lnTo>
                  <a:lnTo>
                    <a:pt x="536448" y="536448"/>
                  </a:lnTo>
                  <a:lnTo>
                    <a:pt x="0" y="536448"/>
                  </a:lnTo>
                  <a:close/>
                </a:path>
              </a:pathLst>
            </a:custGeom>
            <a:solidFill>
              <a:srgbClr val="E05B4B"/>
            </a:solidFill>
          </p:spPr>
        </p:sp>
        <p:sp>
          <p:nvSpPr>
            <p:cNvPr name="Freeform 93" id="93"/>
            <p:cNvSpPr/>
            <p:nvPr/>
          </p:nvSpPr>
          <p:spPr>
            <a:xfrm flipH="false" flipV="false" rot="0">
              <a:off x="0" y="0"/>
              <a:ext cx="570230" cy="570232"/>
            </a:xfrm>
            <a:custGeom>
              <a:avLst/>
              <a:gdLst/>
              <a:ahLst/>
              <a:cxnLst/>
              <a:rect r="r" b="b" t="t" l="l"/>
              <a:pathLst>
                <a:path h="570232" w="570230">
                  <a:moveTo>
                    <a:pt x="16891" y="0"/>
                  </a:moveTo>
                  <a:lnTo>
                    <a:pt x="553339" y="0"/>
                  </a:lnTo>
                  <a:cubicBezTo>
                    <a:pt x="562737" y="0"/>
                    <a:pt x="570230" y="7620"/>
                    <a:pt x="570230" y="16891"/>
                  </a:cubicBezTo>
                  <a:lnTo>
                    <a:pt x="570230" y="553339"/>
                  </a:lnTo>
                  <a:cubicBezTo>
                    <a:pt x="570230" y="562737"/>
                    <a:pt x="562610" y="570230"/>
                    <a:pt x="553339" y="570230"/>
                  </a:cubicBezTo>
                  <a:lnTo>
                    <a:pt x="16891" y="570230"/>
                  </a:lnTo>
                  <a:cubicBezTo>
                    <a:pt x="7620" y="570357"/>
                    <a:pt x="0" y="562737"/>
                    <a:pt x="0" y="553339"/>
                  </a:cubicBezTo>
                  <a:lnTo>
                    <a:pt x="0" y="16891"/>
                  </a:lnTo>
                  <a:cubicBezTo>
                    <a:pt x="0" y="7620"/>
                    <a:pt x="7620" y="0"/>
                    <a:pt x="16891" y="0"/>
                  </a:cubicBezTo>
                  <a:moveTo>
                    <a:pt x="16891" y="33909"/>
                  </a:moveTo>
                  <a:lnTo>
                    <a:pt x="16891" y="16891"/>
                  </a:lnTo>
                  <a:lnTo>
                    <a:pt x="33909" y="16891"/>
                  </a:lnTo>
                  <a:lnTo>
                    <a:pt x="33909" y="553339"/>
                  </a:lnTo>
                  <a:lnTo>
                    <a:pt x="16891" y="553339"/>
                  </a:lnTo>
                  <a:lnTo>
                    <a:pt x="16891" y="536448"/>
                  </a:lnTo>
                  <a:lnTo>
                    <a:pt x="553339" y="536448"/>
                  </a:lnTo>
                  <a:lnTo>
                    <a:pt x="553339" y="553339"/>
                  </a:lnTo>
                  <a:lnTo>
                    <a:pt x="536448" y="553339"/>
                  </a:lnTo>
                  <a:lnTo>
                    <a:pt x="536448" y="16891"/>
                  </a:lnTo>
                  <a:lnTo>
                    <a:pt x="553339" y="16891"/>
                  </a:lnTo>
                  <a:lnTo>
                    <a:pt x="553339" y="33909"/>
                  </a:lnTo>
                  <a:lnTo>
                    <a:pt x="16891" y="33909"/>
                  </a:lnTo>
                  <a:close/>
                </a:path>
              </a:pathLst>
            </a:custGeom>
            <a:solidFill>
              <a:srgbClr val="E05B4B"/>
            </a:solidFill>
          </p:spPr>
        </p:sp>
      </p:grpSp>
      <p:grpSp>
        <p:nvGrpSpPr>
          <p:cNvPr name="Group 94" id="94"/>
          <p:cNvGrpSpPr/>
          <p:nvPr/>
        </p:nvGrpSpPr>
        <p:grpSpPr>
          <a:xfrm rot="0">
            <a:off x="9198864" y="6016752"/>
            <a:ext cx="402336" cy="402336"/>
            <a:chOff x="0" y="0"/>
            <a:chExt cx="536448" cy="536448"/>
          </a:xfrm>
        </p:grpSpPr>
        <p:sp>
          <p:nvSpPr>
            <p:cNvPr name="Freeform 95" id="95"/>
            <p:cNvSpPr/>
            <p:nvPr/>
          </p:nvSpPr>
          <p:spPr>
            <a:xfrm flipH="false" flipV="false" rot="0">
              <a:off x="0" y="0"/>
              <a:ext cx="536448" cy="536448"/>
            </a:xfrm>
            <a:custGeom>
              <a:avLst/>
              <a:gdLst/>
              <a:ahLst/>
              <a:cxnLst/>
              <a:rect r="r" b="b" t="t" l="l"/>
              <a:pathLst>
                <a:path h="536448" w="536448">
                  <a:moveTo>
                    <a:pt x="0" y="0"/>
                  </a:moveTo>
                  <a:lnTo>
                    <a:pt x="536448" y="0"/>
                  </a:lnTo>
                  <a:lnTo>
                    <a:pt x="536448" y="536448"/>
                  </a:lnTo>
                  <a:lnTo>
                    <a:pt x="0" y="536448"/>
                  </a:lnTo>
                  <a:close/>
                </a:path>
              </a:pathLst>
            </a:custGeom>
            <a:blipFill>
              <a:blip r:embed="rId3">
                <a:alphaModFix amt="0"/>
              </a:blip>
              <a:stretch>
                <a:fillRect l="-78303" t="0" r="-78303" b="0"/>
              </a:stretch>
            </a:blipFill>
          </p:spPr>
        </p:sp>
        <p:sp>
          <p:nvSpPr>
            <p:cNvPr name="TextBox 96" id="96"/>
            <p:cNvSpPr txBox="true"/>
            <p:nvPr/>
          </p:nvSpPr>
          <p:spPr>
            <a:xfrm>
              <a:off x="0" y="-38100"/>
              <a:ext cx="536448" cy="574548"/>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3</a:t>
              </a:r>
            </a:p>
          </p:txBody>
        </p:sp>
      </p:grpSp>
      <p:grpSp>
        <p:nvGrpSpPr>
          <p:cNvPr name="Group 97" id="97"/>
          <p:cNvGrpSpPr/>
          <p:nvPr/>
        </p:nvGrpSpPr>
        <p:grpSpPr>
          <a:xfrm rot="0">
            <a:off x="9729216" y="6016752"/>
            <a:ext cx="7498080" cy="402336"/>
            <a:chOff x="0" y="0"/>
            <a:chExt cx="9997440" cy="536448"/>
          </a:xfrm>
        </p:grpSpPr>
        <p:sp>
          <p:nvSpPr>
            <p:cNvPr name="Freeform 98" id="98"/>
            <p:cNvSpPr/>
            <p:nvPr/>
          </p:nvSpPr>
          <p:spPr>
            <a:xfrm flipH="false" flipV="false" rot="0">
              <a:off x="0" y="0"/>
              <a:ext cx="9997440" cy="536448"/>
            </a:xfrm>
            <a:custGeom>
              <a:avLst/>
              <a:gdLst/>
              <a:ahLst/>
              <a:cxnLst/>
              <a:rect r="r" b="b" t="t" l="l"/>
              <a:pathLst>
                <a:path h="536448" w="9997440">
                  <a:moveTo>
                    <a:pt x="0" y="0"/>
                  </a:moveTo>
                  <a:lnTo>
                    <a:pt x="9997440" y="0"/>
                  </a:lnTo>
                  <a:lnTo>
                    <a:pt x="9997440" y="536448"/>
                  </a:lnTo>
                  <a:lnTo>
                    <a:pt x="0" y="536448"/>
                  </a:lnTo>
                  <a:close/>
                </a:path>
              </a:pathLst>
            </a:custGeom>
            <a:blipFill>
              <a:blip r:embed="rId3">
                <a:alphaModFix amt="0"/>
              </a:blip>
              <a:stretch>
                <a:fillRect l="0" t="-313130" r="0" b="-313130"/>
              </a:stretch>
            </a:blipFill>
          </p:spPr>
        </p:sp>
        <p:sp>
          <p:nvSpPr>
            <p:cNvPr name="TextBox 99" id="99"/>
            <p:cNvSpPr txBox="true"/>
            <p:nvPr/>
          </p:nvSpPr>
          <p:spPr>
            <a:xfrm>
              <a:off x="0" y="-47625"/>
              <a:ext cx="9997440" cy="584073"/>
            </a:xfrm>
            <a:prstGeom prst="rect">
              <a:avLst/>
            </a:prstGeom>
          </p:spPr>
          <p:txBody>
            <a:bodyPr anchor="ctr" rtlCol="false" tIns="0" lIns="0" bIns="0" rIns="0"/>
            <a:lstStyle/>
            <a:p>
              <a:pPr algn="l">
                <a:lnSpc>
                  <a:spcPts val="2640"/>
                </a:lnSpc>
              </a:pPr>
              <a:r>
                <a:rPr lang="en-US" sz="2200" b="true">
                  <a:solidFill>
                    <a:srgbClr val="1E293B"/>
                  </a:solidFill>
                  <a:latin typeface="Calibri (MS) Bold"/>
                  <a:ea typeface="Calibri (MS) Bold"/>
                  <a:cs typeface="Calibri (MS) Bold"/>
                  <a:sym typeface="Calibri (MS) Bold"/>
                </a:rPr>
                <a:t>Global vs local tension</a:t>
              </a:r>
            </a:p>
          </p:txBody>
        </p:sp>
      </p:grpSp>
      <p:grpSp>
        <p:nvGrpSpPr>
          <p:cNvPr name="Group 100" id="100"/>
          <p:cNvGrpSpPr/>
          <p:nvPr/>
        </p:nvGrpSpPr>
        <p:grpSpPr>
          <a:xfrm rot="0">
            <a:off x="9729216" y="6419088"/>
            <a:ext cx="7498080" cy="768096"/>
            <a:chOff x="0" y="0"/>
            <a:chExt cx="9997440" cy="1024128"/>
          </a:xfrm>
        </p:grpSpPr>
        <p:sp>
          <p:nvSpPr>
            <p:cNvPr name="Freeform 101" id="101"/>
            <p:cNvSpPr/>
            <p:nvPr/>
          </p:nvSpPr>
          <p:spPr>
            <a:xfrm flipH="false" flipV="false" rot="0">
              <a:off x="0" y="0"/>
              <a:ext cx="9997440" cy="1024128"/>
            </a:xfrm>
            <a:custGeom>
              <a:avLst/>
              <a:gdLst/>
              <a:ahLst/>
              <a:cxnLst/>
              <a:rect r="r" b="b" t="t" l="l"/>
              <a:pathLst>
                <a:path h="1024128" w="9997440">
                  <a:moveTo>
                    <a:pt x="0" y="0"/>
                  </a:moveTo>
                  <a:lnTo>
                    <a:pt x="9997440" y="0"/>
                  </a:lnTo>
                  <a:lnTo>
                    <a:pt x="9997440" y="1024128"/>
                  </a:lnTo>
                  <a:lnTo>
                    <a:pt x="0" y="1024128"/>
                  </a:lnTo>
                  <a:close/>
                </a:path>
              </a:pathLst>
            </a:custGeom>
            <a:blipFill>
              <a:blip r:embed="rId3">
                <a:alphaModFix amt="0"/>
              </a:blip>
              <a:stretch>
                <a:fillRect l="0" t="-140211" r="0" b="-140211"/>
              </a:stretch>
            </a:blipFill>
          </p:spPr>
        </p:sp>
        <p:sp>
          <p:nvSpPr>
            <p:cNvPr name="TextBox 102" id="102"/>
            <p:cNvSpPr txBox="true"/>
            <p:nvPr/>
          </p:nvSpPr>
          <p:spPr>
            <a:xfrm>
              <a:off x="0" y="-38100"/>
              <a:ext cx="9997440" cy="1062228"/>
            </a:xfrm>
            <a:prstGeom prst="rect">
              <a:avLst/>
            </a:prstGeom>
          </p:spPr>
          <p:txBody>
            <a:bodyPr anchor="ctr" rtlCol="false" tIns="0" lIns="0" bIns="0" rIns="0"/>
            <a:lstStyle/>
            <a:p>
              <a:pPr algn="l">
                <a:lnSpc>
                  <a:spcPts val="2400"/>
                </a:lnSpc>
              </a:pPr>
              <a:r>
                <a:rPr lang="en-US" sz="2000">
                  <a:solidFill>
                    <a:srgbClr val="94A3B8"/>
                  </a:solidFill>
                  <a:latin typeface="Calibri (MS)"/>
                  <a:ea typeface="Calibri (MS)"/>
                  <a:cs typeface="Calibri (MS)"/>
                  <a:sym typeface="Calibri (MS)"/>
                </a:rPr>
                <a:t>Captions need both fine-grained detail AND overall scene understanding simultaneously.</a:t>
              </a:r>
            </a:p>
          </p:txBody>
        </p:sp>
      </p:grpSp>
      <p:grpSp>
        <p:nvGrpSpPr>
          <p:cNvPr name="Group 103" id="103"/>
          <p:cNvGrpSpPr/>
          <p:nvPr/>
        </p:nvGrpSpPr>
        <p:grpSpPr>
          <a:xfrm rot="0">
            <a:off x="9186167" y="7320791"/>
            <a:ext cx="427739" cy="427739"/>
            <a:chOff x="0" y="0"/>
            <a:chExt cx="570319" cy="570319"/>
          </a:xfrm>
        </p:grpSpPr>
        <p:sp>
          <p:nvSpPr>
            <p:cNvPr name="Freeform 104" id="104"/>
            <p:cNvSpPr/>
            <p:nvPr/>
          </p:nvSpPr>
          <p:spPr>
            <a:xfrm flipH="false" flipV="false" rot="0">
              <a:off x="16891" y="16891"/>
              <a:ext cx="536448" cy="536448"/>
            </a:xfrm>
            <a:custGeom>
              <a:avLst/>
              <a:gdLst/>
              <a:ahLst/>
              <a:cxnLst/>
              <a:rect r="r" b="b" t="t" l="l"/>
              <a:pathLst>
                <a:path h="536448" w="536448">
                  <a:moveTo>
                    <a:pt x="0" y="0"/>
                  </a:moveTo>
                  <a:lnTo>
                    <a:pt x="536448" y="0"/>
                  </a:lnTo>
                  <a:lnTo>
                    <a:pt x="536448" y="536448"/>
                  </a:lnTo>
                  <a:lnTo>
                    <a:pt x="0" y="536448"/>
                  </a:lnTo>
                  <a:close/>
                </a:path>
              </a:pathLst>
            </a:custGeom>
            <a:solidFill>
              <a:srgbClr val="E05B4B"/>
            </a:solidFill>
          </p:spPr>
        </p:sp>
        <p:sp>
          <p:nvSpPr>
            <p:cNvPr name="Freeform 105" id="105"/>
            <p:cNvSpPr/>
            <p:nvPr/>
          </p:nvSpPr>
          <p:spPr>
            <a:xfrm flipH="false" flipV="false" rot="0">
              <a:off x="0" y="0"/>
              <a:ext cx="570230" cy="570232"/>
            </a:xfrm>
            <a:custGeom>
              <a:avLst/>
              <a:gdLst/>
              <a:ahLst/>
              <a:cxnLst/>
              <a:rect r="r" b="b" t="t" l="l"/>
              <a:pathLst>
                <a:path h="570232" w="570230">
                  <a:moveTo>
                    <a:pt x="16891" y="0"/>
                  </a:moveTo>
                  <a:lnTo>
                    <a:pt x="553339" y="0"/>
                  </a:lnTo>
                  <a:cubicBezTo>
                    <a:pt x="562737" y="0"/>
                    <a:pt x="570230" y="7620"/>
                    <a:pt x="570230" y="16891"/>
                  </a:cubicBezTo>
                  <a:lnTo>
                    <a:pt x="570230" y="553339"/>
                  </a:lnTo>
                  <a:cubicBezTo>
                    <a:pt x="570230" y="562737"/>
                    <a:pt x="562610" y="570230"/>
                    <a:pt x="553339" y="570230"/>
                  </a:cubicBezTo>
                  <a:lnTo>
                    <a:pt x="16891" y="570230"/>
                  </a:lnTo>
                  <a:cubicBezTo>
                    <a:pt x="7620" y="570357"/>
                    <a:pt x="0" y="562737"/>
                    <a:pt x="0" y="553339"/>
                  </a:cubicBezTo>
                  <a:lnTo>
                    <a:pt x="0" y="16891"/>
                  </a:lnTo>
                  <a:cubicBezTo>
                    <a:pt x="0" y="7620"/>
                    <a:pt x="7620" y="0"/>
                    <a:pt x="16891" y="0"/>
                  </a:cubicBezTo>
                  <a:moveTo>
                    <a:pt x="16891" y="33909"/>
                  </a:moveTo>
                  <a:lnTo>
                    <a:pt x="16891" y="16891"/>
                  </a:lnTo>
                  <a:lnTo>
                    <a:pt x="33909" y="16891"/>
                  </a:lnTo>
                  <a:lnTo>
                    <a:pt x="33909" y="553339"/>
                  </a:lnTo>
                  <a:lnTo>
                    <a:pt x="16891" y="553339"/>
                  </a:lnTo>
                  <a:lnTo>
                    <a:pt x="16891" y="536448"/>
                  </a:lnTo>
                  <a:lnTo>
                    <a:pt x="553339" y="536448"/>
                  </a:lnTo>
                  <a:lnTo>
                    <a:pt x="553339" y="553339"/>
                  </a:lnTo>
                  <a:lnTo>
                    <a:pt x="536448" y="553339"/>
                  </a:lnTo>
                  <a:lnTo>
                    <a:pt x="536448" y="16891"/>
                  </a:lnTo>
                  <a:lnTo>
                    <a:pt x="553339" y="16891"/>
                  </a:lnTo>
                  <a:lnTo>
                    <a:pt x="553339" y="33909"/>
                  </a:lnTo>
                  <a:lnTo>
                    <a:pt x="16891" y="33909"/>
                  </a:lnTo>
                  <a:close/>
                </a:path>
              </a:pathLst>
            </a:custGeom>
            <a:solidFill>
              <a:srgbClr val="E05B4B"/>
            </a:solidFill>
          </p:spPr>
        </p:sp>
      </p:grpSp>
      <p:grpSp>
        <p:nvGrpSpPr>
          <p:cNvPr name="Group 106" id="106"/>
          <p:cNvGrpSpPr/>
          <p:nvPr/>
        </p:nvGrpSpPr>
        <p:grpSpPr>
          <a:xfrm rot="0">
            <a:off x="9198864" y="7333488"/>
            <a:ext cx="402336" cy="402336"/>
            <a:chOff x="0" y="0"/>
            <a:chExt cx="536448" cy="536448"/>
          </a:xfrm>
        </p:grpSpPr>
        <p:sp>
          <p:nvSpPr>
            <p:cNvPr name="Freeform 107" id="107"/>
            <p:cNvSpPr/>
            <p:nvPr/>
          </p:nvSpPr>
          <p:spPr>
            <a:xfrm flipH="false" flipV="false" rot="0">
              <a:off x="0" y="0"/>
              <a:ext cx="536448" cy="536448"/>
            </a:xfrm>
            <a:custGeom>
              <a:avLst/>
              <a:gdLst/>
              <a:ahLst/>
              <a:cxnLst/>
              <a:rect r="r" b="b" t="t" l="l"/>
              <a:pathLst>
                <a:path h="536448" w="536448">
                  <a:moveTo>
                    <a:pt x="0" y="0"/>
                  </a:moveTo>
                  <a:lnTo>
                    <a:pt x="536448" y="0"/>
                  </a:lnTo>
                  <a:lnTo>
                    <a:pt x="536448" y="536448"/>
                  </a:lnTo>
                  <a:lnTo>
                    <a:pt x="0" y="536448"/>
                  </a:lnTo>
                  <a:close/>
                </a:path>
              </a:pathLst>
            </a:custGeom>
            <a:blipFill>
              <a:blip r:embed="rId3">
                <a:alphaModFix amt="0"/>
              </a:blip>
              <a:stretch>
                <a:fillRect l="-78303" t="0" r="-78303" b="0"/>
              </a:stretch>
            </a:blipFill>
          </p:spPr>
        </p:sp>
        <p:sp>
          <p:nvSpPr>
            <p:cNvPr name="TextBox 108" id="108"/>
            <p:cNvSpPr txBox="true"/>
            <p:nvPr/>
          </p:nvSpPr>
          <p:spPr>
            <a:xfrm>
              <a:off x="0" y="-38100"/>
              <a:ext cx="536448" cy="574548"/>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4</a:t>
              </a:r>
            </a:p>
          </p:txBody>
        </p:sp>
      </p:grpSp>
      <p:grpSp>
        <p:nvGrpSpPr>
          <p:cNvPr name="Group 109" id="109"/>
          <p:cNvGrpSpPr/>
          <p:nvPr/>
        </p:nvGrpSpPr>
        <p:grpSpPr>
          <a:xfrm rot="0">
            <a:off x="9729216" y="7333488"/>
            <a:ext cx="7498080" cy="402336"/>
            <a:chOff x="0" y="0"/>
            <a:chExt cx="9997440" cy="536448"/>
          </a:xfrm>
        </p:grpSpPr>
        <p:sp>
          <p:nvSpPr>
            <p:cNvPr name="Freeform 110" id="110"/>
            <p:cNvSpPr/>
            <p:nvPr/>
          </p:nvSpPr>
          <p:spPr>
            <a:xfrm flipH="false" flipV="false" rot="0">
              <a:off x="0" y="0"/>
              <a:ext cx="9997440" cy="536448"/>
            </a:xfrm>
            <a:custGeom>
              <a:avLst/>
              <a:gdLst/>
              <a:ahLst/>
              <a:cxnLst/>
              <a:rect r="r" b="b" t="t" l="l"/>
              <a:pathLst>
                <a:path h="536448" w="9997440">
                  <a:moveTo>
                    <a:pt x="0" y="0"/>
                  </a:moveTo>
                  <a:lnTo>
                    <a:pt x="9997440" y="0"/>
                  </a:lnTo>
                  <a:lnTo>
                    <a:pt x="9997440" y="536448"/>
                  </a:lnTo>
                  <a:lnTo>
                    <a:pt x="0" y="536448"/>
                  </a:lnTo>
                  <a:close/>
                </a:path>
              </a:pathLst>
            </a:custGeom>
            <a:blipFill>
              <a:blip r:embed="rId3">
                <a:alphaModFix amt="0"/>
              </a:blip>
              <a:stretch>
                <a:fillRect l="0" t="-313130" r="0" b="-313130"/>
              </a:stretch>
            </a:blipFill>
          </p:spPr>
        </p:sp>
        <p:sp>
          <p:nvSpPr>
            <p:cNvPr name="TextBox 111" id="111"/>
            <p:cNvSpPr txBox="true"/>
            <p:nvPr/>
          </p:nvSpPr>
          <p:spPr>
            <a:xfrm>
              <a:off x="0" y="-47625"/>
              <a:ext cx="9997440" cy="584073"/>
            </a:xfrm>
            <a:prstGeom prst="rect">
              <a:avLst/>
            </a:prstGeom>
          </p:spPr>
          <p:txBody>
            <a:bodyPr anchor="ctr" rtlCol="false" tIns="0" lIns="0" bIns="0" rIns="0"/>
            <a:lstStyle/>
            <a:p>
              <a:pPr algn="l">
                <a:lnSpc>
                  <a:spcPts val="2640"/>
                </a:lnSpc>
              </a:pPr>
              <a:r>
                <a:rPr lang="en-US" sz="2200" b="true">
                  <a:solidFill>
                    <a:srgbClr val="1E293B"/>
                  </a:solidFill>
                  <a:latin typeface="Calibri (MS) Bold"/>
                  <a:ea typeface="Calibri (MS) Bold"/>
                  <a:cs typeface="Calibri (MS) Bold"/>
                  <a:sym typeface="Calibri (MS) Bold"/>
                </a:rPr>
                <a:t>Domain gap</a:t>
              </a:r>
            </a:p>
          </p:txBody>
        </p:sp>
      </p:grpSp>
      <p:grpSp>
        <p:nvGrpSpPr>
          <p:cNvPr name="Group 112" id="112"/>
          <p:cNvGrpSpPr/>
          <p:nvPr/>
        </p:nvGrpSpPr>
        <p:grpSpPr>
          <a:xfrm rot="0">
            <a:off x="9729216" y="7735824"/>
            <a:ext cx="7498080" cy="768096"/>
            <a:chOff x="0" y="0"/>
            <a:chExt cx="9997440" cy="1024128"/>
          </a:xfrm>
        </p:grpSpPr>
        <p:sp>
          <p:nvSpPr>
            <p:cNvPr name="Freeform 113" id="113"/>
            <p:cNvSpPr/>
            <p:nvPr/>
          </p:nvSpPr>
          <p:spPr>
            <a:xfrm flipH="false" flipV="false" rot="0">
              <a:off x="0" y="0"/>
              <a:ext cx="9997440" cy="1024128"/>
            </a:xfrm>
            <a:custGeom>
              <a:avLst/>
              <a:gdLst/>
              <a:ahLst/>
              <a:cxnLst/>
              <a:rect r="r" b="b" t="t" l="l"/>
              <a:pathLst>
                <a:path h="1024128" w="9997440">
                  <a:moveTo>
                    <a:pt x="0" y="0"/>
                  </a:moveTo>
                  <a:lnTo>
                    <a:pt x="9997440" y="0"/>
                  </a:lnTo>
                  <a:lnTo>
                    <a:pt x="9997440" y="1024128"/>
                  </a:lnTo>
                  <a:lnTo>
                    <a:pt x="0" y="1024128"/>
                  </a:lnTo>
                  <a:close/>
                </a:path>
              </a:pathLst>
            </a:custGeom>
            <a:blipFill>
              <a:blip r:embed="rId3">
                <a:alphaModFix amt="0"/>
              </a:blip>
              <a:stretch>
                <a:fillRect l="0" t="-140211" r="0" b="-140211"/>
              </a:stretch>
            </a:blipFill>
          </p:spPr>
        </p:sp>
        <p:sp>
          <p:nvSpPr>
            <p:cNvPr name="TextBox 114" id="114"/>
            <p:cNvSpPr txBox="true"/>
            <p:nvPr/>
          </p:nvSpPr>
          <p:spPr>
            <a:xfrm>
              <a:off x="0" y="-38100"/>
              <a:ext cx="9997440" cy="1062228"/>
            </a:xfrm>
            <a:prstGeom prst="rect">
              <a:avLst/>
            </a:prstGeom>
          </p:spPr>
          <p:txBody>
            <a:bodyPr anchor="ctr" rtlCol="false" tIns="0" lIns="0" bIns="0" rIns="0"/>
            <a:lstStyle/>
            <a:p>
              <a:pPr algn="l">
                <a:lnSpc>
                  <a:spcPts val="2400"/>
                </a:lnSpc>
              </a:pPr>
              <a:r>
                <a:rPr lang="en-US" sz="2000">
                  <a:solidFill>
                    <a:srgbClr val="94A3B8"/>
                  </a:solidFill>
                  <a:latin typeface="Calibri (MS)"/>
                  <a:ea typeface="Calibri (MS)"/>
                  <a:cs typeface="Calibri (MS)"/>
                  <a:sym typeface="Calibri (MS)"/>
                </a:rPr>
                <a:t>Satellite imagery looks very different from natural photos used to pre-train most vision models.</a:t>
              </a:r>
            </a:p>
          </p:txBody>
        </p:sp>
      </p:grpSp>
      <p:grpSp>
        <p:nvGrpSpPr>
          <p:cNvPr name="Group 115" id="115"/>
          <p:cNvGrpSpPr/>
          <p:nvPr/>
        </p:nvGrpSpPr>
        <p:grpSpPr>
          <a:xfrm rot="0">
            <a:off x="9186167" y="8637527"/>
            <a:ext cx="427739" cy="427739"/>
            <a:chOff x="0" y="0"/>
            <a:chExt cx="570319" cy="570319"/>
          </a:xfrm>
        </p:grpSpPr>
        <p:sp>
          <p:nvSpPr>
            <p:cNvPr name="Freeform 116" id="116"/>
            <p:cNvSpPr/>
            <p:nvPr/>
          </p:nvSpPr>
          <p:spPr>
            <a:xfrm flipH="false" flipV="false" rot="0">
              <a:off x="16891" y="16891"/>
              <a:ext cx="536448" cy="536448"/>
            </a:xfrm>
            <a:custGeom>
              <a:avLst/>
              <a:gdLst/>
              <a:ahLst/>
              <a:cxnLst/>
              <a:rect r="r" b="b" t="t" l="l"/>
              <a:pathLst>
                <a:path h="536448" w="536448">
                  <a:moveTo>
                    <a:pt x="0" y="0"/>
                  </a:moveTo>
                  <a:lnTo>
                    <a:pt x="536448" y="0"/>
                  </a:lnTo>
                  <a:lnTo>
                    <a:pt x="536448" y="536448"/>
                  </a:lnTo>
                  <a:lnTo>
                    <a:pt x="0" y="536448"/>
                  </a:lnTo>
                  <a:close/>
                </a:path>
              </a:pathLst>
            </a:custGeom>
            <a:solidFill>
              <a:srgbClr val="E05B4B"/>
            </a:solidFill>
          </p:spPr>
        </p:sp>
        <p:sp>
          <p:nvSpPr>
            <p:cNvPr name="Freeform 117" id="117"/>
            <p:cNvSpPr/>
            <p:nvPr/>
          </p:nvSpPr>
          <p:spPr>
            <a:xfrm flipH="false" flipV="false" rot="0">
              <a:off x="0" y="0"/>
              <a:ext cx="570230" cy="570232"/>
            </a:xfrm>
            <a:custGeom>
              <a:avLst/>
              <a:gdLst/>
              <a:ahLst/>
              <a:cxnLst/>
              <a:rect r="r" b="b" t="t" l="l"/>
              <a:pathLst>
                <a:path h="570232" w="570230">
                  <a:moveTo>
                    <a:pt x="16891" y="0"/>
                  </a:moveTo>
                  <a:lnTo>
                    <a:pt x="553339" y="0"/>
                  </a:lnTo>
                  <a:cubicBezTo>
                    <a:pt x="562737" y="0"/>
                    <a:pt x="570230" y="7620"/>
                    <a:pt x="570230" y="16891"/>
                  </a:cubicBezTo>
                  <a:lnTo>
                    <a:pt x="570230" y="553339"/>
                  </a:lnTo>
                  <a:cubicBezTo>
                    <a:pt x="570230" y="562737"/>
                    <a:pt x="562610" y="570230"/>
                    <a:pt x="553339" y="570230"/>
                  </a:cubicBezTo>
                  <a:lnTo>
                    <a:pt x="16891" y="570230"/>
                  </a:lnTo>
                  <a:cubicBezTo>
                    <a:pt x="7620" y="570357"/>
                    <a:pt x="0" y="562737"/>
                    <a:pt x="0" y="553339"/>
                  </a:cubicBezTo>
                  <a:lnTo>
                    <a:pt x="0" y="16891"/>
                  </a:lnTo>
                  <a:cubicBezTo>
                    <a:pt x="0" y="7620"/>
                    <a:pt x="7620" y="0"/>
                    <a:pt x="16891" y="0"/>
                  </a:cubicBezTo>
                  <a:moveTo>
                    <a:pt x="16891" y="33909"/>
                  </a:moveTo>
                  <a:lnTo>
                    <a:pt x="16891" y="16891"/>
                  </a:lnTo>
                  <a:lnTo>
                    <a:pt x="33909" y="16891"/>
                  </a:lnTo>
                  <a:lnTo>
                    <a:pt x="33909" y="553339"/>
                  </a:lnTo>
                  <a:lnTo>
                    <a:pt x="16891" y="553339"/>
                  </a:lnTo>
                  <a:lnTo>
                    <a:pt x="16891" y="536448"/>
                  </a:lnTo>
                  <a:lnTo>
                    <a:pt x="553339" y="536448"/>
                  </a:lnTo>
                  <a:lnTo>
                    <a:pt x="553339" y="553339"/>
                  </a:lnTo>
                  <a:lnTo>
                    <a:pt x="536448" y="553339"/>
                  </a:lnTo>
                  <a:lnTo>
                    <a:pt x="536448" y="16891"/>
                  </a:lnTo>
                  <a:lnTo>
                    <a:pt x="553339" y="16891"/>
                  </a:lnTo>
                  <a:lnTo>
                    <a:pt x="553339" y="33909"/>
                  </a:lnTo>
                  <a:lnTo>
                    <a:pt x="16891" y="33909"/>
                  </a:lnTo>
                  <a:close/>
                </a:path>
              </a:pathLst>
            </a:custGeom>
            <a:solidFill>
              <a:srgbClr val="E05B4B"/>
            </a:solidFill>
          </p:spPr>
        </p:sp>
      </p:grpSp>
      <p:grpSp>
        <p:nvGrpSpPr>
          <p:cNvPr name="Group 118" id="118"/>
          <p:cNvGrpSpPr/>
          <p:nvPr/>
        </p:nvGrpSpPr>
        <p:grpSpPr>
          <a:xfrm rot="0">
            <a:off x="9198864" y="8650224"/>
            <a:ext cx="402336" cy="402336"/>
            <a:chOff x="0" y="0"/>
            <a:chExt cx="536448" cy="536448"/>
          </a:xfrm>
        </p:grpSpPr>
        <p:sp>
          <p:nvSpPr>
            <p:cNvPr name="Freeform 119" id="119"/>
            <p:cNvSpPr/>
            <p:nvPr/>
          </p:nvSpPr>
          <p:spPr>
            <a:xfrm flipH="false" flipV="false" rot="0">
              <a:off x="0" y="0"/>
              <a:ext cx="536448" cy="536448"/>
            </a:xfrm>
            <a:custGeom>
              <a:avLst/>
              <a:gdLst/>
              <a:ahLst/>
              <a:cxnLst/>
              <a:rect r="r" b="b" t="t" l="l"/>
              <a:pathLst>
                <a:path h="536448" w="536448">
                  <a:moveTo>
                    <a:pt x="0" y="0"/>
                  </a:moveTo>
                  <a:lnTo>
                    <a:pt x="536448" y="0"/>
                  </a:lnTo>
                  <a:lnTo>
                    <a:pt x="536448" y="536448"/>
                  </a:lnTo>
                  <a:lnTo>
                    <a:pt x="0" y="536448"/>
                  </a:lnTo>
                  <a:close/>
                </a:path>
              </a:pathLst>
            </a:custGeom>
            <a:blipFill>
              <a:blip r:embed="rId3">
                <a:alphaModFix amt="0"/>
              </a:blip>
              <a:stretch>
                <a:fillRect l="-78303" t="0" r="-78303" b="0"/>
              </a:stretch>
            </a:blipFill>
          </p:spPr>
        </p:sp>
        <p:sp>
          <p:nvSpPr>
            <p:cNvPr name="TextBox 120" id="120"/>
            <p:cNvSpPr txBox="true"/>
            <p:nvPr/>
          </p:nvSpPr>
          <p:spPr>
            <a:xfrm>
              <a:off x="0" y="-38100"/>
              <a:ext cx="536448" cy="574548"/>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5</a:t>
              </a:r>
            </a:p>
          </p:txBody>
        </p:sp>
      </p:grpSp>
      <p:grpSp>
        <p:nvGrpSpPr>
          <p:cNvPr name="Group 121" id="121"/>
          <p:cNvGrpSpPr/>
          <p:nvPr/>
        </p:nvGrpSpPr>
        <p:grpSpPr>
          <a:xfrm rot="0">
            <a:off x="9729216" y="8650224"/>
            <a:ext cx="7498080" cy="402336"/>
            <a:chOff x="0" y="0"/>
            <a:chExt cx="9997440" cy="536448"/>
          </a:xfrm>
        </p:grpSpPr>
        <p:sp>
          <p:nvSpPr>
            <p:cNvPr name="Freeform 122" id="122"/>
            <p:cNvSpPr/>
            <p:nvPr/>
          </p:nvSpPr>
          <p:spPr>
            <a:xfrm flipH="false" flipV="false" rot="0">
              <a:off x="0" y="0"/>
              <a:ext cx="9997440" cy="536448"/>
            </a:xfrm>
            <a:custGeom>
              <a:avLst/>
              <a:gdLst/>
              <a:ahLst/>
              <a:cxnLst/>
              <a:rect r="r" b="b" t="t" l="l"/>
              <a:pathLst>
                <a:path h="536448" w="9997440">
                  <a:moveTo>
                    <a:pt x="0" y="0"/>
                  </a:moveTo>
                  <a:lnTo>
                    <a:pt x="9997440" y="0"/>
                  </a:lnTo>
                  <a:lnTo>
                    <a:pt x="9997440" y="536448"/>
                  </a:lnTo>
                  <a:lnTo>
                    <a:pt x="0" y="536448"/>
                  </a:lnTo>
                  <a:close/>
                </a:path>
              </a:pathLst>
            </a:custGeom>
            <a:blipFill>
              <a:blip r:embed="rId3">
                <a:alphaModFix amt="0"/>
              </a:blip>
              <a:stretch>
                <a:fillRect l="0" t="-313130" r="0" b="-313130"/>
              </a:stretch>
            </a:blipFill>
          </p:spPr>
        </p:sp>
        <p:sp>
          <p:nvSpPr>
            <p:cNvPr name="TextBox 123" id="123"/>
            <p:cNvSpPr txBox="true"/>
            <p:nvPr/>
          </p:nvSpPr>
          <p:spPr>
            <a:xfrm>
              <a:off x="0" y="-47625"/>
              <a:ext cx="9997440" cy="584073"/>
            </a:xfrm>
            <a:prstGeom prst="rect">
              <a:avLst/>
            </a:prstGeom>
          </p:spPr>
          <p:txBody>
            <a:bodyPr anchor="ctr" rtlCol="false" tIns="0" lIns="0" bIns="0" rIns="0"/>
            <a:lstStyle/>
            <a:p>
              <a:pPr algn="l">
                <a:lnSpc>
                  <a:spcPts val="2640"/>
                </a:lnSpc>
              </a:pPr>
              <a:r>
                <a:rPr lang="en-US" sz="2200" b="true">
                  <a:solidFill>
                    <a:srgbClr val="1E293B"/>
                  </a:solidFill>
                  <a:latin typeface="Calibri (MS) Bold"/>
                  <a:ea typeface="Calibri (MS) Bold"/>
                  <a:cs typeface="Calibri (MS) Bold"/>
                  <a:sym typeface="Calibri (MS) Bold"/>
                </a:rPr>
                <a:t>Modality mismatch</a:t>
              </a:r>
            </a:p>
          </p:txBody>
        </p:sp>
      </p:grpSp>
      <p:grpSp>
        <p:nvGrpSpPr>
          <p:cNvPr name="Group 124" id="124"/>
          <p:cNvGrpSpPr/>
          <p:nvPr/>
        </p:nvGrpSpPr>
        <p:grpSpPr>
          <a:xfrm rot="0">
            <a:off x="9729216" y="9052560"/>
            <a:ext cx="7498080" cy="768096"/>
            <a:chOff x="0" y="0"/>
            <a:chExt cx="9997440" cy="1024128"/>
          </a:xfrm>
        </p:grpSpPr>
        <p:sp>
          <p:nvSpPr>
            <p:cNvPr name="Freeform 125" id="125"/>
            <p:cNvSpPr/>
            <p:nvPr/>
          </p:nvSpPr>
          <p:spPr>
            <a:xfrm flipH="false" flipV="false" rot="0">
              <a:off x="0" y="0"/>
              <a:ext cx="9997440" cy="1024128"/>
            </a:xfrm>
            <a:custGeom>
              <a:avLst/>
              <a:gdLst/>
              <a:ahLst/>
              <a:cxnLst/>
              <a:rect r="r" b="b" t="t" l="l"/>
              <a:pathLst>
                <a:path h="1024128" w="9997440">
                  <a:moveTo>
                    <a:pt x="0" y="0"/>
                  </a:moveTo>
                  <a:lnTo>
                    <a:pt x="9997440" y="0"/>
                  </a:lnTo>
                  <a:lnTo>
                    <a:pt x="9997440" y="1024128"/>
                  </a:lnTo>
                  <a:lnTo>
                    <a:pt x="0" y="1024128"/>
                  </a:lnTo>
                  <a:close/>
                </a:path>
              </a:pathLst>
            </a:custGeom>
            <a:blipFill>
              <a:blip r:embed="rId3">
                <a:alphaModFix amt="0"/>
              </a:blip>
              <a:stretch>
                <a:fillRect l="0" t="-140211" r="0" b="-140211"/>
              </a:stretch>
            </a:blipFill>
          </p:spPr>
        </p:sp>
        <p:sp>
          <p:nvSpPr>
            <p:cNvPr name="TextBox 126" id="126"/>
            <p:cNvSpPr txBox="true"/>
            <p:nvPr/>
          </p:nvSpPr>
          <p:spPr>
            <a:xfrm>
              <a:off x="0" y="-38100"/>
              <a:ext cx="9997440" cy="1062228"/>
            </a:xfrm>
            <a:prstGeom prst="rect">
              <a:avLst/>
            </a:prstGeom>
          </p:spPr>
          <p:txBody>
            <a:bodyPr anchor="ctr" rtlCol="false" tIns="0" lIns="0" bIns="0" rIns="0"/>
            <a:lstStyle/>
            <a:p>
              <a:pPr algn="l">
                <a:lnSpc>
                  <a:spcPts val="2400"/>
                </a:lnSpc>
              </a:pPr>
              <a:r>
                <a:rPr lang="en-US" sz="2000">
                  <a:solidFill>
                    <a:srgbClr val="94A3B8"/>
                  </a:solidFill>
                  <a:latin typeface="Calibri (MS)"/>
                  <a:ea typeface="Calibri (MS)"/>
                  <a:cs typeface="Calibri (MS)"/>
                  <a:sym typeface="Calibri (MS)"/>
                </a:rPr>
                <a:t>Visual feature vectors and text embedding vectors live in different semantic spaces.</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718823" y="316487"/>
            <a:ext cx="2951483" cy="574043"/>
            <a:chOff x="0" y="0"/>
            <a:chExt cx="3935311" cy="765391"/>
          </a:xfrm>
        </p:grpSpPr>
        <p:sp>
          <p:nvSpPr>
            <p:cNvPr name="Freeform 3" id="3"/>
            <p:cNvSpPr/>
            <p:nvPr/>
          </p:nvSpPr>
          <p:spPr>
            <a:xfrm flipH="false" flipV="false" rot="0">
              <a:off x="16891" y="16891"/>
              <a:ext cx="3901440" cy="731520"/>
            </a:xfrm>
            <a:custGeom>
              <a:avLst/>
              <a:gdLst/>
              <a:ahLst/>
              <a:cxnLst/>
              <a:rect r="r" b="b" t="t" l="l"/>
              <a:pathLst>
                <a:path h="731520" w="3901440">
                  <a:moveTo>
                    <a:pt x="0" y="0"/>
                  </a:moveTo>
                  <a:lnTo>
                    <a:pt x="3901440" y="0"/>
                  </a:lnTo>
                  <a:lnTo>
                    <a:pt x="3901440" y="731520"/>
                  </a:lnTo>
                  <a:lnTo>
                    <a:pt x="0" y="731520"/>
                  </a:lnTo>
                  <a:close/>
                </a:path>
              </a:pathLst>
            </a:custGeom>
            <a:solidFill>
              <a:srgbClr val="6D28D9"/>
            </a:solidFill>
          </p:spPr>
        </p:sp>
        <p:sp>
          <p:nvSpPr>
            <p:cNvPr name="Freeform 4" id="4"/>
            <p:cNvSpPr/>
            <p:nvPr/>
          </p:nvSpPr>
          <p:spPr>
            <a:xfrm flipH="false" flipV="false" rot="0">
              <a:off x="0" y="0"/>
              <a:ext cx="3935222" cy="765304"/>
            </a:xfrm>
            <a:custGeom>
              <a:avLst/>
              <a:gdLst/>
              <a:ahLst/>
              <a:cxnLst/>
              <a:rect r="r" b="b" t="t" l="l"/>
              <a:pathLst>
                <a:path h="765304" w="3935222">
                  <a:moveTo>
                    <a:pt x="16891" y="0"/>
                  </a:moveTo>
                  <a:lnTo>
                    <a:pt x="3918331" y="0"/>
                  </a:lnTo>
                  <a:cubicBezTo>
                    <a:pt x="3927729" y="0"/>
                    <a:pt x="3935222" y="7620"/>
                    <a:pt x="3935222" y="16891"/>
                  </a:cubicBezTo>
                  <a:lnTo>
                    <a:pt x="3935222" y="748411"/>
                  </a:lnTo>
                  <a:cubicBezTo>
                    <a:pt x="3935222" y="757809"/>
                    <a:pt x="3927602" y="765302"/>
                    <a:pt x="3918331" y="765302"/>
                  </a:cubicBezTo>
                  <a:lnTo>
                    <a:pt x="16891" y="765302"/>
                  </a:lnTo>
                  <a:cubicBezTo>
                    <a:pt x="7620" y="765429"/>
                    <a:pt x="0" y="757809"/>
                    <a:pt x="0" y="748411"/>
                  </a:cubicBezTo>
                  <a:lnTo>
                    <a:pt x="0" y="16891"/>
                  </a:lnTo>
                  <a:cubicBezTo>
                    <a:pt x="0" y="7620"/>
                    <a:pt x="7620" y="0"/>
                    <a:pt x="16891" y="0"/>
                  </a:cubicBezTo>
                  <a:moveTo>
                    <a:pt x="16891" y="33909"/>
                  </a:moveTo>
                  <a:lnTo>
                    <a:pt x="16891" y="16891"/>
                  </a:lnTo>
                  <a:lnTo>
                    <a:pt x="33909" y="16891"/>
                  </a:lnTo>
                  <a:lnTo>
                    <a:pt x="33909" y="748411"/>
                  </a:lnTo>
                  <a:lnTo>
                    <a:pt x="16891" y="748411"/>
                  </a:lnTo>
                  <a:lnTo>
                    <a:pt x="16891" y="731520"/>
                  </a:lnTo>
                  <a:lnTo>
                    <a:pt x="3918331" y="731520"/>
                  </a:lnTo>
                  <a:lnTo>
                    <a:pt x="3918331" y="748411"/>
                  </a:lnTo>
                  <a:lnTo>
                    <a:pt x="3901440" y="748411"/>
                  </a:lnTo>
                  <a:lnTo>
                    <a:pt x="3901440" y="16891"/>
                  </a:lnTo>
                  <a:lnTo>
                    <a:pt x="3918331" y="16891"/>
                  </a:lnTo>
                  <a:lnTo>
                    <a:pt x="3918331" y="33909"/>
                  </a:lnTo>
                  <a:lnTo>
                    <a:pt x="16891" y="33909"/>
                  </a:lnTo>
                  <a:close/>
                </a:path>
              </a:pathLst>
            </a:custGeom>
            <a:solidFill>
              <a:srgbClr val="6D28D9"/>
            </a:solidFill>
          </p:spPr>
        </p:sp>
      </p:grpSp>
      <p:grpSp>
        <p:nvGrpSpPr>
          <p:cNvPr name="Group 5" id="5"/>
          <p:cNvGrpSpPr/>
          <p:nvPr/>
        </p:nvGrpSpPr>
        <p:grpSpPr>
          <a:xfrm rot="0">
            <a:off x="731520" y="329184"/>
            <a:ext cx="2926080" cy="548640"/>
            <a:chOff x="0" y="0"/>
            <a:chExt cx="3901440" cy="731520"/>
          </a:xfrm>
        </p:grpSpPr>
        <p:sp>
          <p:nvSpPr>
            <p:cNvPr name="Freeform 6" id="6"/>
            <p:cNvSpPr/>
            <p:nvPr/>
          </p:nvSpPr>
          <p:spPr>
            <a:xfrm flipH="false" flipV="false" rot="0">
              <a:off x="0" y="0"/>
              <a:ext cx="3901440" cy="731520"/>
            </a:xfrm>
            <a:custGeom>
              <a:avLst/>
              <a:gdLst/>
              <a:ahLst/>
              <a:cxnLst/>
              <a:rect r="r" b="b" t="t" l="l"/>
              <a:pathLst>
                <a:path h="731520" w="3901440">
                  <a:moveTo>
                    <a:pt x="0" y="0"/>
                  </a:moveTo>
                  <a:lnTo>
                    <a:pt x="3901440" y="0"/>
                  </a:lnTo>
                  <a:lnTo>
                    <a:pt x="3901440" y="731520"/>
                  </a:lnTo>
                  <a:lnTo>
                    <a:pt x="0" y="731520"/>
                  </a:lnTo>
                  <a:close/>
                </a:path>
              </a:pathLst>
            </a:custGeom>
            <a:blipFill>
              <a:blip r:embed="rId3">
                <a:alphaModFix amt="0"/>
              </a:blip>
              <a:stretch>
                <a:fillRect l="0" t="-53920" r="0" b="-53920"/>
              </a:stretch>
            </a:blipFill>
          </p:spPr>
        </p:sp>
        <p:sp>
          <p:nvSpPr>
            <p:cNvPr name="TextBox 7" id="7"/>
            <p:cNvSpPr txBox="true"/>
            <p:nvPr/>
          </p:nvSpPr>
          <p:spPr>
            <a:xfrm>
              <a:off x="0" y="-38100"/>
              <a:ext cx="3901440" cy="76962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02 · PRIOR WORK</a:t>
              </a:r>
            </a:p>
          </p:txBody>
        </p:sp>
      </p:grpSp>
      <p:grpSp>
        <p:nvGrpSpPr>
          <p:cNvPr name="Group 8" id="8"/>
          <p:cNvGrpSpPr/>
          <p:nvPr/>
        </p:nvGrpSpPr>
        <p:grpSpPr>
          <a:xfrm rot="0">
            <a:off x="914400" y="1005840"/>
            <a:ext cx="16459200" cy="1188720"/>
            <a:chOff x="0" y="0"/>
            <a:chExt cx="21945600" cy="1584960"/>
          </a:xfrm>
        </p:grpSpPr>
        <p:sp>
          <p:nvSpPr>
            <p:cNvPr name="Freeform 9" id="9"/>
            <p:cNvSpPr/>
            <p:nvPr/>
          </p:nvSpPr>
          <p:spPr>
            <a:xfrm flipH="false" flipV="false" rot="0">
              <a:off x="0" y="0"/>
              <a:ext cx="21945600" cy="1584960"/>
            </a:xfrm>
            <a:custGeom>
              <a:avLst/>
              <a:gdLst/>
              <a:ahLst/>
              <a:cxnLst/>
              <a:rect r="r" b="b" t="t" l="l"/>
              <a:pathLst>
                <a:path h="1584960" w="21945600">
                  <a:moveTo>
                    <a:pt x="0" y="0"/>
                  </a:moveTo>
                  <a:lnTo>
                    <a:pt x="21945600" y="0"/>
                  </a:lnTo>
                  <a:lnTo>
                    <a:pt x="21945600" y="1584960"/>
                  </a:lnTo>
                  <a:lnTo>
                    <a:pt x="0" y="1584960"/>
                  </a:lnTo>
                  <a:close/>
                </a:path>
              </a:pathLst>
            </a:custGeom>
            <a:blipFill>
              <a:blip r:embed="rId3">
                <a:alphaModFix amt="0"/>
              </a:blip>
              <a:stretch>
                <a:fillRect l="0" t="-219792" r="0" b="-219792"/>
              </a:stretch>
            </a:blipFill>
          </p:spPr>
        </p:sp>
        <p:sp>
          <p:nvSpPr>
            <p:cNvPr name="TextBox 10" id="10"/>
            <p:cNvSpPr txBox="true"/>
            <p:nvPr/>
          </p:nvSpPr>
          <p:spPr>
            <a:xfrm>
              <a:off x="0" y="-104775"/>
              <a:ext cx="21945600" cy="1689735"/>
            </a:xfrm>
            <a:prstGeom prst="rect">
              <a:avLst/>
            </a:prstGeom>
          </p:spPr>
          <p:txBody>
            <a:bodyPr anchor="ctr" rtlCol="false" tIns="0" lIns="0" bIns="0" rIns="0"/>
            <a:lstStyle/>
            <a:p>
              <a:pPr algn="l">
                <a:lnSpc>
                  <a:spcPts val="6240"/>
                </a:lnSpc>
              </a:pPr>
              <a:r>
                <a:rPr lang="en-US" sz="5200" b="true">
                  <a:solidFill>
                    <a:srgbClr val="1E293B"/>
                  </a:solidFill>
                  <a:latin typeface="Calibri (MS) Bold"/>
                  <a:ea typeface="Calibri (MS) Bold"/>
                  <a:cs typeface="Calibri (MS) Bold"/>
                  <a:sym typeface="Calibri (MS) Bold"/>
                </a:rPr>
                <a:t>Existing Methods and Their Limitations</a:t>
              </a:r>
            </a:p>
          </p:txBody>
        </p:sp>
      </p:grpSp>
      <p:grpSp>
        <p:nvGrpSpPr>
          <p:cNvPr name="Group 11" id="11"/>
          <p:cNvGrpSpPr/>
          <p:nvPr/>
        </p:nvGrpSpPr>
        <p:grpSpPr>
          <a:xfrm rot="0">
            <a:off x="725167" y="2279647"/>
            <a:ext cx="16837657" cy="12697"/>
            <a:chOff x="0" y="0"/>
            <a:chExt cx="22450209" cy="16929"/>
          </a:xfrm>
        </p:grpSpPr>
        <p:sp>
          <p:nvSpPr>
            <p:cNvPr name="Freeform 12" id="12"/>
            <p:cNvSpPr/>
            <p:nvPr/>
          </p:nvSpPr>
          <p:spPr>
            <a:xfrm flipH="false" flipV="false" rot="0">
              <a:off x="8509" y="0"/>
              <a:ext cx="22433281" cy="16891"/>
            </a:xfrm>
            <a:custGeom>
              <a:avLst/>
              <a:gdLst/>
              <a:ahLst/>
              <a:cxnLst/>
              <a:rect r="r" b="b" t="t" l="l"/>
              <a:pathLst>
                <a:path h="16891" w="22433281">
                  <a:moveTo>
                    <a:pt x="0" y="0"/>
                  </a:moveTo>
                  <a:lnTo>
                    <a:pt x="22433281" y="0"/>
                  </a:lnTo>
                  <a:lnTo>
                    <a:pt x="22433281" y="16891"/>
                  </a:lnTo>
                  <a:lnTo>
                    <a:pt x="0" y="16891"/>
                  </a:lnTo>
                  <a:close/>
                </a:path>
              </a:pathLst>
            </a:custGeom>
            <a:solidFill>
              <a:srgbClr val="E2E8F0"/>
            </a:solidFill>
          </p:spPr>
        </p:sp>
      </p:grpSp>
      <p:grpSp>
        <p:nvGrpSpPr>
          <p:cNvPr name="Group 13" id="13"/>
          <p:cNvGrpSpPr/>
          <p:nvPr/>
        </p:nvGrpSpPr>
        <p:grpSpPr>
          <a:xfrm rot="0">
            <a:off x="725167" y="2517391"/>
            <a:ext cx="16837657" cy="1366009"/>
            <a:chOff x="0" y="0"/>
            <a:chExt cx="22450209" cy="1821345"/>
          </a:xfrm>
        </p:grpSpPr>
        <p:sp>
          <p:nvSpPr>
            <p:cNvPr name="Freeform 14" id="14"/>
            <p:cNvSpPr/>
            <p:nvPr/>
          </p:nvSpPr>
          <p:spPr>
            <a:xfrm flipH="false" flipV="false" rot="0">
              <a:off x="8509" y="8509"/>
              <a:ext cx="22433281" cy="1804416"/>
            </a:xfrm>
            <a:custGeom>
              <a:avLst/>
              <a:gdLst/>
              <a:ahLst/>
              <a:cxnLst/>
              <a:rect r="r" b="b" t="t" l="l"/>
              <a:pathLst>
                <a:path h="1804416" w="22433281">
                  <a:moveTo>
                    <a:pt x="0" y="0"/>
                  </a:moveTo>
                  <a:lnTo>
                    <a:pt x="22433281" y="0"/>
                  </a:lnTo>
                  <a:lnTo>
                    <a:pt x="22433281" y="1804416"/>
                  </a:lnTo>
                  <a:lnTo>
                    <a:pt x="0" y="1804416"/>
                  </a:lnTo>
                  <a:close/>
                </a:path>
              </a:pathLst>
            </a:custGeom>
            <a:solidFill>
              <a:srgbClr val="FFFFFF"/>
            </a:solidFill>
          </p:spPr>
        </p:sp>
        <p:sp>
          <p:nvSpPr>
            <p:cNvPr name="Freeform 15" id="15"/>
            <p:cNvSpPr/>
            <p:nvPr/>
          </p:nvSpPr>
          <p:spPr>
            <a:xfrm flipH="false" flipV="false" rot="0">
              <a:off x="0" y="0"/>
              <a:ext cx="22450298" cy="1821434"/>
            </a:xfrm>
            <a:custGeom>
              <a:avLst/>
              <a:gdLst/>
              <a:ahLst/>
              <a:cxnLst/>
              <a:rect r="r" b="b" t="t" l="l"/>
              <a:pathLst>
                <a:path h="1821434" w="22450298">
                  <a:moveTo>
                    <a:pt x="8509" y="0"/>
                  </a:moveTo>
                  <a:lnTo>
                    <a:pt x="22441790" y="0"/>
                  </a:lnTo>
                  <a:cubicBezTo>
                    <a:pt x="22446489" y="0"/>
                    <a:pt x="22450298" y="3810"/>
                    <a:pt x="22450298" y="8509"/>
                  </a:cubicBezTo>
                  <a:lnTo>
                    <a:pt x="22450298" y="1812925"/>
                  </a:lnTo>
                  <a:cubicBezTo>
                    <a:pt x="22450298" y="1817624"/>
                    <a:pt x="22446489" y="1821434"/>
                    <a:pt x="22441790" y="1821434"/>
                  </a:cubicBezTo>
                  <a:lnTo>
                    <a:pt x="8509" y="1821434"/>
                  </a:lnTo>
                  <a:cubicBezTo>
                    <a:pt x="3810" y="1821434"/>
                    <a:pt x="0" y="1817624"/>
                    <a:pt x="0" y="1812925"/>
                  </a:cubicBezTo>
                  <a:lnTo>
                    <a:pt x="0" y="8509"/>
                  </a:lnTo>
                  <a:cubicBezTo>
                    <a:pt x="0" y="3810"/>
                    <a:pt x="3810" y="0"/>
                    <a:pt x="8509" y="0"/>
                  </a:cubicBezTo>
                  <a:moveTo>
                    <a:pt x="8509" y="16891"/>
                  </a:moveTo>
                  <a:lnTo>
                    <a:pt x="8509" y="8509"/>
                  </a:lnTo>
                  <a:lnTo>
                    <a:pt x="17018" y="8509"/>
                  </a:lnTo>
                  <a:lnTo>
                    <a:pt x="17018" y="1812925"/>
                  </a:lnTo>
                  <a:lnTo>
                    <a:pt x="8509" y="1812925"/>
                  </a:lnTo>
                  <a:lnTo>
                    <a:pt x="8509" y="1804416"/>
                  </a:lnTo>
                  <a:lnTo>
                    <a:pt x="22441790" y="1804416"/>
                  </a:lnTo>
                  <a:lnTo>
                    <a:pt x="22441790" y="1812925"/>
                  </a:lnTo>
                  <a:lnTo>
                    <a:pt x="22433280" y="1812925"/>
                  </a:lnTo>
                  <a:lnTo>
                    <a:pt x="22433280" y="8509"/>
                  </a:lnTo>
                  <a:lnTo>
                    <a:pt x="22441790" y="8509"/>
                  </a:lnTo>
                  <a:lnTo>
                    <a:pt x="22441790" y="17018"/>
                  </a:lnTo>
                  <a:lnTo>
                    <a:pt x="8509" y="17018"/>
                  </a:lnTo>
                  <a:close/>
                </a:path>
              </a:pathLst>
            </a:custGeom>
            <a:solidFill>
              <a:srgbClr val="E2E8F0"/>
            </a:solidFill>
          </p:spPr>
        </p:sp>
      </p:grpSp>
      <p:grpSp>
        <p:nvGrpSpPr>
          <p:cNvPr name="Group 16" id="16"/>
          <p:cNvGrpSpPr/>
          <p:nvPr/>
        </p:nvGrpSpPr>
        <p:grpSpPr>
          <a:xfrm rot="0">
            <a:off x="718823" y="2511047"/>
            <a:ext cx="135131" cy="1378715"/>
            <a:chOff x="0" y="0"/>
            <a:chExt cx="180175" cy="1838287"/>
          </a:xfrm>
        </p:grpSpPr>
        <p:sp>
          <p:nvSpPr>
            <p:cNvPr name="Freeform 17" id="17"/>
            <p:cNvSpPr/>
            <p:nvPr/>
          </p:nvSpPr>
          <p:spPr>
            <a:xfrm flipH="false" flipV="false" rot="0">
              <a:off x="16891" y="16891"/>
              <a:ext cx="146304" cy="1804416"/>
            </a:xfrm>
            <a:custGeom>
              <a:avLst/>
              <a:gdLst/>
              <a:ahLst/>
              <a:cxnLst/>
              <a:rect r="r" b="b" t="t" l="l"/>
              <a:pathLst>
                <a:path h="1804416" w="146304">
                  <a:moveTo>
                    <a:pt x="0" y="0"/>
                  </a:moveTo>
                  <a:lnTo>
                    <a:pt x="146304" y="0"/>
                  </a:lnTo>
                  <a:lnTo>
                    <a:pt x="146304" y="1804416"/>
                  </a:lnTo>
                  <a:lnTo>
                    <a:pt x="0" y="1804416"/>
                  </a:lnTo>
                  <a:close/>
                </a:path>
              </a:pathLst>
            </a:custGeom>
            <a:solidFill>
              <a:srgbClr val="94A3B8"/>
            </a:solidFill>
          </p:spPr>
        </p:sp>
        <p:sp>
          <p:nvSpPr>
            <p:cNvPr name="Freeform 18" id="18"/>
            <p:cNvSpPr/>
            <p:nvPr/>
          </p:nvSpPr>
          <p:spPr>
            <a:xfrm flipH="false" flipV="false" rot="0">
              <a:off x="0" y="0"/>
              <a:ext cx="180086" cy="1838198"/>
            </a:xfrm>
            <a:custGeom>
              <a:avLst/>
              <a:gdLst/>
              <a:ahLst/>
              <a:cxnLst/>
              <a:rect r="r" b="b" t="t" l="l"/>
              <a:pathLst>
                <a:path h="1838198" w="180086">
                  <a:moveTo>
                    <a:pt x="16891" y="0"/>
                  </a:moveTo>
                  <a:lnTo>
                    <a:pt x="163195" y="0"/>
                  </a:lnTo>
                  <a:cubicBezTo>
                    <a:pt x="172593" y="0"/>
                    <a:pt x="180086" y="7620"/>
                    <a:pt x="180086" y="16891"/>
                  </a:cubicBezTo>
                  <a:lnTo>
                    <a:pt x="180086" y="1821307"/>
                  </a:lnTo>
                  <a:cubicBezTo>
                    <a:pt x="180086" y="1830705"/>
                    <a:pt x="172466" y="1838198"/>
                    <a:pt x="163195" y="1838198"/>
                  </a:cubicBezTo>
                  <a:lnTo>
                    <a:pt x="16891" y="1838198"/>
                  </a:lnTo>
                  <a:cubicBezTo>
                    <a:pt x="7493" y="1838198"/>
                    <a:pt x="0" y="1830578"/>
                    <a:pt x="0" y="1821307"/>
                  </a:cubicBezTo>
                  <a:lnTo>
                    <a:pt x="0" y="16891"/>
                  </a:lnTo>
                  <a:cubicBezTo>
                    <a:pt x="0" y="7620"/>
                    <a:pt x="7620" y="0"/>
                    <a:pt x="16891" y="0"/>
                  </a:cubicBezTo>
                  <a:moveTo>
                    <a:pt x="16891" y="33909"/>
                  </a:moveTo>
                  <a:lnTo>
                    <a:pt x="16891" y="16891"/>
                  </a:lnTo>
                  <a:lnTo>
                    <a:pt x="33909" y="16891"/>
                  </a:lnTo>
                  <a:lnTo>
                    <a:pt x="33909" y="1821307"/>
                  </a:lnTo>
                  <a:lnTo>
                    <a:pt x="16891" y="1821307"/>
                  </a:lnTo>
                  <a:lnTo>
                    <a:pt x="16891" y="1804416"/>
                  </a:lnTo>
                  <a:lnTo>
                    <a:pt x="163195" y="1804416"/>
                  </a:lnTo>
                  <a:lnTo>
                    <a:pt x="163195" y="1821307"/>
                  </a:lnTo>
                  <a:lnTo>
                    <a:pt x="146304" y="1821307"/>
                  </a:lnTo>
                  <a:lnTo>
                    <a:pt x="146304" y="16891"/>
                  </a:lnTo>
                  <a:lnTo>
                    <a:pt x="163195" y="16891"/>
                  </a:lnTo>
                  <a:lnTo>
                    <a:pt x="163195" y="33909"/>
                  </a:lnTo>
                  <a:lnTo>
                    <a:pt x="16891" y="33909"/>
                  </a:lnTo>
                  <a:close/>
                </a:path>
              </a:pathLst>
            </a:custGeom>
            <a:solidFill>
              <a:srgbClr val="94A3B8"/>
            </a:solidFill>
          </p:spPr>
        </p:sp>
      </p:grpSp>
      <p:grpSp>
        <p:nvGrpSpPr>
          <p:cNvPr name="Group 19" id="19"/>
          <p:cNvGrpSpPr/>
          <p:nvPr/>
        </p:nvGrpSpPr>
        <p:grpSpPr>
          <a:xfrm rot="0">
            <a:off x="1048007" y="2657351"/>
            <a:ext cx="2037083" cy="391163"/>
            <a:chOff x="0" y="0"/>
            <a:chExt cx="2716111" cy="521551"/>
          </a:xfrm>
        </p:grpSpPr>
        <p:sp>
          <p:nvSpPr>
            <p:cNvPr name="Freeform 20" id="20"/>
            <p:cNvSpPr/>
            <p:nvPr/>
          </p:nvSpPr>
          <p:spPr>
            <a:xfrm flipH="false" flipV="false" rot="0">
              <a:off x="16891" y="16891"/>
              <a:ext cx="2682240" cy="487680"/>
            </a:xfrm>
            <a:custGeom>
              <a:avLst/>
              <a:gdLst/>
              <a:ahLst/>
              <a:cxnLst/>
              <a:rect r="r" b="b" t="t" l="l"/>
              <a:pathLst>
                <a:path h="487680" w="2682240">
                  <a:moveTo>
                    <a:pt x="0" y="0"/>
                  </a:moveTo>
                  <a:lnTo>
                    <a:pt x="2682240" y="0"/>
                  </a:lnTo>
                  <a:lnTo>
                    <a:pt x="2682240" y="487680"/>
                  </a:lnTo>
                  <a:lnTo>
                    <a:pt x="0" y="487680"/>
                  </a:lnTo>
                  <a:close/>
                </a:path>
              </a:pathLst>
            </a:custGeom>
            <a:solidFill>
              <a:srgbClr val="94A3B8">
                <a:alpha val="35686"/>
              </a:srgbClr>
            </a:solidFill>
          </p:spPr>
        </p:sp>
        <p:sp>
          <p:nvSpPr>
            <p:cNvPr name="Freeform 21" id="21"/>
            <p:cNvSpPr/>
            <p:nvPr/>
          </p:nvSpPr>
          <p:spPr>
            <a:xfrm flipH="false" flipV="false" rot="0">
              <a:off x="0" y="0"/>
              <a:ext cx="2716022" cy="521464"/>
            </a:xfrm>
            <a:custGeom>
              <a:avLst/>
              <a:gdLst/>
              <a:ahLst/>
              <a:cxnLst/>
              <a:rect r="r" b="b" t="t" l="l"/>
              <a:pathLst>
                <a:path h="521464" w="2716022">
                  <a:moveTo>
                    <a:pt x="16891" y="0"/>
                  </a:moveTo>
                  <a:lnTo>
                    <a:pt x="2699131" y="0"/>
                  </a:lnTo>
                  <a:cubicBezTo>
                    <a:pt x="2708529" y="0"/>
                    <a:pt x="2716022" y="7620"/>
                    <a:pt x="2716022" y="16891"/>
                  </a:cubicBezTo>
                  <a:lnTo>
                    <a:pt x="2716022" y="504571"/>
                  </a:lnTo>
                  <a:cubicBezTo>
                    <a:pt x="2716022" y="513969"/>
                    <a:pt x="2708402" y="521462"/>
                    <a:pt x="2699131" y="521462"/>
                  </a:cubicBezTo>
                  <a:lnTo>
                    <a:pt x="16891" y="521462"/>
                  </a:lnTo>
                  <a:cubicBezTo>
                    <a:pt x="7620" y="521589"/>
                    <a:pt x="0" y="513969"/>
                    <a:pt x="0" y="504571"/>
                  </a:cubicBezTo>
                  <a:lnTo>
                    <a:pt x="0" y="16891"/>
                  </a:lnTo>
                  <a:cubicBezTo>
                    <a:pt x="0" y="7620"/>
                    <a:pt x="7620" y="0"/>
                    <a:pt x="16891" y="0"/>
                  </a:cubicBezTo>
                  <a:moveTo>
                    <a:pt x="16891" y="33909"/>
                  </a:moveTo>
                  <a:lnTo>
                    <a:pt x="16891" y="16891"/>
                  </a:lnTo>
                  <a:lnTo>
                    <a:pt x="33909" y="16891"/>
                  </a:lnTo>
                  <a:lnTo>
                    <a:pt x="33909" y="504571"/>
                  </a:lnTo>
                  <a:lnTo>
                    <a:pt x="16891" y="504571"/>
                  </a:lnTo>
                  <a:lnTo>
                    <a:pt x="16891" y="487680"/>
                  </a:lnTo>
                  <a:lnTo>
                    <a:pt x="2699131" y="487680"/>
                  </a:lnTo>
                  <a:lnTo>
                    <a:pt x="2699131" y="504571"/>
                  </a:lnTo>
                  <a:lnTo>
                    <a:pt x="2682240" y="504571"/>
                  </a:lnTo>
                  <a:lnTo>
                    <a:pt x="2682240" y="16891"/>
                  </a:lnTo>
                  <a:lnTo>
                    <a:pt x="2699131" y="16891"/>
                  </a:lnTo>
                  <a:lnTo>
                    <a:pt x="2699131" y="33909"/>
                  </a:lnTo>
                  <a:lnTo>
                    <a:pt x="16891" y="33909"/>
                  </a:lnTo>
                  <a:close/>
                </a:path>
              </a:pathLst>
            </a:custGeom>
            <a:solidFill>
              <a:srgbClr val="94A3B8"/>
            </a:solidFill>
          </p:spPr>
        </p:sp>
      </p:grpSp>
      <p:grpSp>
        <p:nvGrpSpPr>
          <p:cNvPr name="Group 22" id="22"/>
          <p:cNvGrpSpPr/>
          <p:nvPr/>
        </p:nvGrpSpPr>
        <p:grpSpPr>
          <a:xfrm rot="0">
            <a:off x="1060704" y="2670048"/>
            <a:ext cx="2011680" cy="365760"/>
            <a:chOff x="0" y="0"/>
            <a:chExt cx="2682240" cy="487680"/>
          </a:xfrm>
        </p:grpSpPr>
        <p:sp>
          <p:nvSpPr>
            <p:cNvPr name="Freeform 23" id="23"/>
            <p:cNvSpPr/>
            <p:nvPr/>
          </p:nvSpPr>
          <p:spPr>
            <a:xfrm flipH="false" flipV="false" rot="0">
              <a:off x="0" y="0"/>
              <a:ext cx="2682240" cy="487680"/>
            </a:xfrm>
            <a:custGeom>
              <a:avLst/>
              <a:gdLst/>
              <a:ahLst/>
              <a:cxnLst/>
              <a:rect r="r" b="b" t="t" l="l"/>
              <a:pathLst>
                <a:path h="487680" w="2682240">
                  <a:moveTo>
                    <a:pt x="0" y="0"/>
                  </a:moveTo>
                  <a:lnTo>
                    <a:pt x="2682240" y="0"/>
                  </a:lnTo>
                  <a:lnTo>
                    <a:pt x="2682240" y="487680"/>
                  </a:lnTo>
                  <a:lnTo>
                    <a:pt x="0" y="487680"/>
                  </a:lnTo>
                  <a:close/>
                </a:path>
              </a:pathLst>
            </a:custGeom>
            <a:blipFill>
              <a:blip r:embed="rId3">
                <a:alphaModFix amt="0"/>
              </a:blip>
              <a:stretch>
                <a:fillRect l="0" t="-57167" r="0" b="-57167"/>
              </a:stretch>
            </a:blipFill>
          </p:spPr>
        </p:sp>
        <p:sp>
          <p:nvSpPr>
            <p:cNvPr name="TextBox 24" id="24"/>
            <p:cNvSpPr txBox="true"/>
            <p:nvPr/>
          </p:nvSpPr>
          <p:spPr>
            <a:xfrm>
              <a:off x="0" y="-28575"/>
              <a:ext cx="2682240" cy="516255"/>
            </a:xfrm>
            <a:prstGeom prst="rect">
              <a:avLst/>
            </a:prstGeom>
          </p:spPr>
          <p:txBody>
            <a:bodyPr anchor="ctr" rtlCol="false" tIns="0" lIns="0" bIns="0" rIns="0"/>
            <a:lstStyle/>
            <a:p>
              <a:pPr algn="ctr">
                <a:lnSpc>
                  <a:spcPts val="1679"/>
                </a:lnSpc>
              </a:pPr>
              <a:r>
                <a:rPr lang="en-US" sz="1399" b="true">
                  <a:solidFill>
                    <a:srgbClr val="FFFFFF"/>
                  </a:solidFill>
                  <a:latin typeface="Calibri (MS) Bold"/>
                  <a:ea typeface="Calibri (MS) Bold"/>
                  <a:cs typeface="Calibri (MS) Bold"/>
                  <a:sym typeface="Calibri (MS) Bold"/>
                </a:rPr>
                <a:t>TRADITIONAL</a:t>
              </a:r>
            </a:p>
          </p:txBody>
        </p:sp>
      </p:grpSp>
      <p:grpSp>
        <p:nvGrpSpPr>
          <p:cNvPr name="Group 25" id="25"/>
          <p:cNvGrpSpPr/>
          <p:nvPr/>
        </p:nvGrpSpPr>
        <p:grpSpPr>
          <a:xfrm rot="0">
            <a:off x="3255264" y="2615184"/>
            <a:ext cx="4572000" cy="548640"/>
            <a:chOff x="0" y="0"/>
            <a:chExt cx="6096000" cy="731520"/>
          </a:xfrm>
        </p:grpSpPr>
        <p:sp>
          <p:nvSpPr>
            <p:cNvPr name="Freeform 26" id="26"/>
            <p:cNvSpPr/>
            <p:nvPr/>
          </p:nvSpPr>
          <p:spPr>
            <a:xfrm flipH="false" flipV="false" rot="0">
              <a:off x="0" y="0"/>
              <a:ext cx="6096000" cy="731520"/>
            </a:xfrm>
            <a:custGeom>
              <a:avLst/>
              <a:gdLst/>
              <a:ahLst/>
              <a:cxnLst/>
              <a:rect r="r" b="b" t="t" l="l"/>
              <a:pathLst>
                <a:path h="731520" w="6096000">
                  <a:moveTo>
                    <a:pt x="0" y="0"/>
                  </a:moveTo>
                  <a:lnTo>
                    <a:pt x="6096000" y="0"/>
                  </a:lnTo>
                  <a:lnTo>
                    <a:pt x="6096000" y="731520"/>
                  </a:lnTo>
                  <a:lnTo>
                    <a:pt x="0" y="731520"/>
                  </a:lnTo>
                  <a:close/>
                </a:path>
              </a:pathLst>
            </a:custGeom>
            <a:blipFill>
              <a:blip r:embed="rId3">
                <a:alphaModFix amt="0"/>
              </a:blip>
              <a:stretch>
                <a:fillRect l="0" t="-112375" r="0" b="-112375"/>
              </a:stretch>
            </a:blipFill>
          </p:spPr>
        </p:sp>
        <p:sp>
          <p:nvSpPr>
            <p:cNvPr name="TextBox 27" id="27"/>
            <p:cNvSpPr txBox="true"/>
            <p:nvPr/>
          </p:nvSpPr>
          <p:spPr>
            <a:xfrm>
              <a:off x="0" y="-38100"/>
              <a:ext cx="6096000" cy="769620"/>
            </a:xfrm>
            <a:prstGeom prst="rect">
              <a:avLst/>
            </a:prstGeom>
          </p:spPr>
          <p:txBody>
            <a:bodyPr anchor="ctr" rtlCol="false" tIns="0" lIns="0" bIns="0" rIns="0"/>
            <a:lstStyle/>
            <a:p>
              <a:pPr algn="l">
                <a:lnSpc>
                  <a:spcPts val="2879"/>
                </a:lnSpc>
              </a:pPr>
              <a:r>
                <a:rPr lang="en-US" sz="2400" b="true">
                  <a:solidFill>
                    <a:srgbClr val="1E293B"/>
                  </a:solidFill>
                  <a:latin typeface="Calibri (MS) Bold"/>
                  <a:ea typeface="Calibri (MS) Bold"/>
                  <a:cs typeface="Calibri (MS) Bold"/>
                  <a:sym typeface="Calibri (MS) Bold"/>
                </a:rPr>
                <a:t>Template-based</a:t>
              </a:r>
            </a:p>
          </p:txBody>
        </p:sp>
      </p:grpSp>
      <p:grpSp>
        <p:nvGrpSpPr>
          <p:cNvPr name="Group 28" id="28"/>
          <p:cNvGrpSpPr/>
          <p:nvPr/>
        </p:nvGrpSpPr>
        <p:grpSpPr>
          <a:xfrm rot="0">
            <a:off x="3255264" y="3218688"/>
            <a:ext cx="6400800" cy="548640"/>
            <a:chOff x="0" y="0"/>
            <a:chExt cx="8534400" cy="731520"/>
          </a:xfrm>
        </p:grpSpPr>
        <p:sp>
          <p:nvSpPr>
            <p:cNvPr name="Freeform 29" id="29"/>
            <p:cNvSpPr/>
            <p:nvPr/>
          </p:nvSpPr>
          <p:spPr>
            <a:xfrm flipH="false" flipV="false" rot="0">
              <a:off x="0" y="0"/>
              <a:ext cx="8534400" cy="731520"/>
            </a:xfrm>
            <a:custGeom>
              <a:avLst/>
              <a:gdLst/>
              <a:ahLst/>
              <a:cxnLst/>
              <a:rect r="r" b="b" t="t" l="l"/>
              <a:pathLst>
                <a:path h="731520" w="8534400">
                  <a:moveTo>
                    <a:pt x="0" y="0"/>
                  </a:moveTo>
                  <a:lnTo>
                    <a:pt x="8534400" y="0"/>
                  </a:lnTo>
                  <a:lnTo>
                    <a:pt x="8534400" y="731520"/>
                  </a:lnTo>
                  <a:lnTo>
                    <a:pt x="0" y="731520"/>
                  </a:lnTo>
                  <a:close/>
                </a:path>
              </a:pathLst>
            </a:custGeom>
            <a:blipFill>
              <a:blip r:embed="rId3">
                <a:alphaModFix amt="0"/>
              </a:blip>
              <a:stretch>
                <a:fillRect l="0" t="-177325" r="0" b="-177325"/>
              </a:stretch>
            </a:blipFill>
          </p:spPr>
        </p:sp>
        <p:sp>
          <p:nvSpPr>
            <p:cNvPr name="TextBox 30" id="30"/>
            <p:cNvSpPr txBox="true"/>
            <p:nvPr/>
          </p:nvSpPr>
          <p:spPr>
            <a:xfrm>
              <a:off x="0" y="-38100"/>
              <a:ext cx="8534400" cy="769620"/>
            </a:xfrm>
            <a:prstGeom prst="rect">
              <a:avLst/>
            </a:prstGeom>
          </p:spPr>
          <p:txBody>
            <a:bodyPr anchor="ctr" rtlCol="false" tIns="0" lIns="0" bIns="0" rIns="0"/>
            <a:lstStyle/>
            <a:p>
              <a:pPr algn="l">
                <a:lnSpc>
                  <a:spcPts val="2400"/>
                </a:lnSpc>
              </a:pPr>
              <a:r>
                <a:rPr lang="en-US" sz="2000">
                  <a:solidFill>
                    <a:srgbClr val="94A3B8"/>
                  </a:solidFill>
                  <a:latin typeface="Calibri (MS)"/>
                  <a:ea typeface="Calibri (MS)"/>
                  <a:cs typeface="Calibri (MS)"/>
                  <a:sym typeface="Calibri (MS)"/>
                </a:rPr>
                <a:t>Extract key words from image, insert into fixed sentence templates.</a:t>
              </a:r>
            </a:p>
          </p:txBody>
        </p:sp>
      </p:grpSp>
      <p:grpSp>
        <p:nvGrpSpPr>
          <p:cNvPr name="Group 31" id="31"/>
          <p:cNvGrpSpPr/>
          <p:nvPr/>
        </p:nvGrpSpPr>
        <p:grpSpPr>
          <a:xfrm rot="0">
            <a:off x="9960607" y="2700271"/>
            <a:ext cx="12697" cy="1018537"/>
            <a:chOff x="0" y="0"/>
            <a:chExt cx="16929" cy="1358049"/>
          </a:xfrm>
        </p:grpSpPr>
        <p:sp>
          <p:nvSpPr>
            <p:cNvPr name="Freeform 32" id="32"/>
            <p:cNvSpPr/>
            <p:nvPr/>
          </p:nvSpPr>
          <p:spPr>
            <a:xfrm flipH="false" flipV="false" rot="0">
              <a:off x="0" y="8509"/>
              <a:ext cx="16891" cy="1341120"/>
            </a:xfrm>
            <a:custGeom>
              <a:avLst/>
              <a:gdLst/>
              <a:ahLst/>
              <a:cxnLst/>
              <a:rect r="r" b="b" t="t" l="l"/>
              <a:pathLst>
                <a:path h="1341120" w="16891">
                  <a:moveTo>
                    <a:pt x="16891" y="0"/>
                  </a:moveTo>
                  <a:lnTo>
                    <a:pt x="16891" y="1341120"/>
                  </a:lnTo>
                  <a:lnTo>
                    <a:pt x="0" y="1341120"/>
                  </a:lnTo>
                  <a:lnTo>
                    <a:pt x="0" y="0"/>
                  </a:lnTo>
                  <a:close/>
                </a:path>
              </a:pathLst>
            </a:custGeom>
            <a:solidFill>
              <a:srgbClr val="E2E8F0"/>
            </a:solidFill>
          </p:spPr>
        </p:sp>
      </p:grpSp>
      <p:grpSp>
        <p:nvGrpSpPr>
          <p:cNvPr name="Group 33" id="33"/>
          <p:cNvGrpSpPr/>
          <p:nvPr/>
        </p:nvGrpSpPr>
        <p:grpSpPr>
          <a:xfrm rot="0">
            <a:off x="10149840" y="2670048"/>
            <a:ext cx="2560320" cy="402336"/>
            <a:chOff x="0" y="0"/>
            <a:chExt cx="3413760" cy="536448"/>
          </a:xfrm>
        </p:grpSpPr>
        <p:sp>
          <p:nvSpPr>
            <p:cNvPr name="Freeform 34" id="34"/>
            <p:cNvSpPr/>
            <p:nvPr/>
          </p:nvSpPr>
          <p:spPr>
            <a:xfrm flipH="false" flipV="false" rot="0">
              <a:off x="0" y="0"/>
              <a:ext cx="3413760" cy="536448"/>
            </a:xfrm>
            <a:custGeom>
              <a:avLst/>
              <a:gdLst/>
              <a:ahLst/>
              <a:cxnLst/>
              <a:rect r="r" b="b" t="t" l="l"/>
              <a:pathLst>
                <a:path h="536448" w="3413760">
                  <a:moveTo>
                    <a:pt x="0" y="0"/>
                  </a:moveTo>
                  <a:lnTo>
                    <a:pt x="3413760" y="0"/>
                  </a:lnTo>
                  <a:lnTo>
                    <a:pt x="3413760" y="536448"/>
                  </a:lnTo>
                  <a:lnTo>
                    <a:pt x="0" y="536448"/>
                  </a:lnTo>
                  <a:close/>
                </a:path>
              </a:pathLst>
            </a:custGeom>
            <a:blipFill>
              <a:blip r:embed="rId3">
                <a:alphaModFix amt="0"/>
              </a:blip>
              <a:stretch>
                <a:fillRect l="0" t="-73995" r="0" b="-73995"/>
              </a:stretch>
            </a:blipFill>
          </p:spPr>
        </p:sp>
        <p:sp>
          <p:nvSpPr>
            <p:cNvPr name="TextBox 35" id="35"/>
            <p:cNvSpPr txBox="true"/>
            <p:nvPr/>
          </p:nvSpPr>
          <p:spPr>
            <a:xfrm>
              <a:off x="0" y="-38100"/>
              <a:ext cx="3413760" cy="574548"/>
            </a:xfrm>
            <a:prstGeom prst="rect">
              <a:avLst/>
            </a:prstGeom>
          </p:spPr>
          <p:txBody>
            <a:bodyPr anchor="ctr" rtlCol="false" tIns="0" lIns="0" bIns="0" rIns="0"/>
            <a:lstStyle/>
            <a:p>
              <a:pPr algn="l">
                <a:lnSpc>
                  <a:spcPts val="2160"/>
                </a:lnSpc>
              </a:pPr>
              <a:r>
                <a:rPr lang="en-US" sz="1800" b="true">
                  <a:solidFill>
                    <a:srgbClr val="E05B4B"/>
                  </a:solidFill>
                  <a:latin typeface="Calibri (MS) Bold"/>
                  <a:ea typeface="Calibri (MS) Bold"/>
                  <a:cs typeface="Calibri (MS) Bold"/>
                  <a:sym typeface="Calibri (MS) Bold"/>
                </a:rPr>
                <a:t>⚠  Limitation</a:t>
              </a:r>
            </a:p>
          </p:txBody>
        </p:sp>
      </p:grpSp>
      <p:grpSp>
        <p:nvGrpSpPr>
          <p:cNvPr name="Group 36" id="36"/>
          <p:cNvGrpSpPr/>
          <p:nvPr/>
        </p:nvGrpSpPr>
        <p:grpSpPr>
          <a:xfrm rot="0">
            <a:off x="10149840" y="3072384"/>
            <a:ext cx="7132320" cy="694944"/>
            <a:chOff x="0" y="0"/>
            <a:chExt cx="9509760" cy="926592"/>
          </a:xfrm>
        </p:grpSpPr>
        <p:sp>
          <p:nvSpPr>
            <p:cNvPr name="Freeform 37" id="37"/>
            <p:cNvSpPr/>
            <p:nvPr/>
          </p:nvSpPr>
          <p:spPr>
            <a:xfrm flipH="false" flipV="false" rot="0">
              <a:off x="0" y="0"/>
              <a:ext cx="9509760" cy="926592"/>
            </a:xfrm>
            <a:custGeom>
              <a:avLst/>
              <a:gdLst/>
              <a:ahLst/>
              <a:cxnLst/>
              <a:rect r="r" b="b" t="t" l="l"/>
              <a:pathLst>
                <a:path h="926592" w="9509760">
                  <a:moveTo>
                    <a:pt x="0" y="0"/>
                  </a:moveTo>
                  <a:lnTo>
                    <a:pt x="9509760" y="0"/>
                  </a:lnTo>
                  <a:lnTo>
                    <a:pt x="9509760" y="926592"/>
                  </a:lnTo>
                  <a:lnTo>
                    <a:pt x="0" y="926592"/>
                  </a:lnTo>
                  <a:close/>
                </a:path>
              </a:pathLst>
            </a:custGeom>
            <a:blipFill>
              <a:blip r:embed="rId3">
                <a:alphaModFix amt="0"/>
              </a:blip>
              <a:stretch>
                <a:fillRect l="0" t="-149978" r="0" b="-149978"/>
              </a:stretch>
            </a:blipFill>
          </p:spPr>
        </p:sp>
        <p:sp>
          <p:nvSpPr>
            <p:cNvPr name="TextBox 38" id="38"/>
            <p:cNvSpPr txBox="true"/>
            <p:nvPr/>
          </p:nvSpPr>
          <p:spPr>
            <a:xfrm>
              <a:off x="0" y="-38100"/>
              <a:ext cx="9509760" cy="964692"/>
            </a:xfrm>
            <a:prstGeom prst="rect">
              <a:avLst/>
            </a:prstGeom>
          </p:spPr>
          <p:txBody>
            <a:bodyPr anchor="ctr" rtlCol="false" tIns="0" lIns="0" bIns="0" rIns="0"/>
            <a:lstStyle/>
            <a:p>
              <a:pPr algn="l">
                <a:lnSpc>
                  <a:spcPts val="2400"/>
                </a:lnSpc>
              </a:pPr>
              <a:r>
                <a:rPr lang="en-US" sz="2000">
                  <a:solidFill>
                    <a:srgbClr val="1E293B"/>
                  </a:solidFill>
                  <a:latin typeface="Calibri (MS)"/>
                  <a:ea typeface="Calibri (MS)"/>
                  <a:cs typeface="Calibri (MS)"/>
                  <a:sym typeface="Calibri (MS)"/>
                </a:rPr>
                <a:t>Fixed templates → rigid, repetitive, low diversity output.</a:t>
              </a:r>
            </a:p>
          </p:txBody>
        </p:sp>
      </p:grpSp>
      <p:grpSp>
        <p:nvGrpSpPr>
          <p:cNvPr name="Group 39" id="39"/>
          <p:cNvGrpSpPr/>
          <p:nvPr/>
        </p:nvGrpSpPr>
        <p:grpSpPr>
          <a:xfrm rot="0">
            <a:off x="725167" y="4017007"/>
            <a:ext cx="16837657" cy="1366009"/>
            <a:chOff x="0" y="0"/>
            <a:chExt cx="22450209" cy="1821345"/>
          </a:xfrm>
        </p:grpSpPr>
        <p:sp>
          <p:nvSpPr>
            <p:cNvPr name="Freeform 40" id="40"/>
            <p:cNvSpPr/>
            <p:nvPr/>
          </p:nvSpPr>
          <p:spPr>
            <a:xfrm flipH="false" flipV="false" rot="0">
              <a:off x="8509" y="8509"/>
              <a:ext cx="22433281" cy="1804416"/>
            </a:xfrm>
            <a:custGeom>
              <a:avLst/>
              <a:gdLst/>
              <a:ahLst/>
              <a:cxnLst/>
              <a:rect r="r" b="b" t="t" l="l"/>
              <a:pathLst>
                <a:path h="1804416" w="22433281">
                  <a:moveTo>
                    <a:pt x="0" y="0"/>
                  </a:moveTo>
                  <a:lnTo>
                    <a:pt x="22433281" y="0"/>
                  </a:lnTo>
                  <a:lnTo>
                    <a:pt x="22433281" y="1804416"/>
                  </a:lnTo>
                  <a:lnTo>
                    <a:pt x="0" y="1804416"/>
                  </a:lnTo>
                  <a:close/>
                </a:path>
              </a:pathLst>
            </a:custGeom>
            <a:solidFill>
              <a:srgbClr val="FFFFFF"/>
            </a:solidFill>
          </p:spPr>
        </p:sp>
        <p:sp>
          <p:nvSpPr>
            <p:cNvPr name="Freeform 41" id="41"/>
            <p:cNvSpPr/>
            <p:nvPr/>
          </p:nvSpPr>
          <p:spPr>
            <a:xfrm flipH="false" flipV="false" rot="0">
              <a:off x="0" y="0"/>
              <a:ext cx="22450298" cy="1821434"/>
            </a:xfrm>
            <a:custGeom>
              <a:avLst/>
              <a:gdLst/>
              <a:ahLst/>
              <a:cxnLst/>
              <a:rect r="r" b="b" t="t" l="l"/>
              <a:pathLst>
                <a:path h="1821434" w="22450298">
                  <a:moveTo>
                    <a:pt x="8509" y="0"/>
                  </a:moveTo>
                  <a:lnTo>
                    <a:pt x="22441790" y="0"/>
                  </a:lnTo>
                  <a:cubicBezTo>
                    <a:pt x="22446489" y="0"/>
                    <a:pt x="22450298" y="3810"/>
                    <a:pt x="22450298" y="8509"/>
                  </a:cubicBezTo>
                  <a:lnTo>
                    <a:pt x="22450298" y="1812925"/>
                  </a:lnTo>
                  <a:cubicBezTo>
                    <a:pt x="22450298" y="1817624"/>
                    <a:pt x="22446489" y="1821434"/>
                    <a:pt x="22441790" y="1821434"/>
                  </a:cubicBezTo>
                  <a:lnTo>
                    <a:pt x="8509" y="1821434"/>
                  </a:lnTo>
                  <a:cubicBezTo>
                    <a:pt x="3810" y="1821434"/>
                    <a:pt x="0" y="1817624"/>
                    <a:pt x="0" y="1812925"/>
                  </a:cubicBezTo>
                  <a:lnTo>
                    <a:pt x="0" y="8509"/>
                  </a:lnTo>
                  <a:cubicBezTo>
                    <a:pt x="0" y="3810"/>
                    <a:pt x="3810" y="0"/>
                    <a:pt x="8509" y="0"/>
                  </a:cubicBezTo>
                  <a:moveTo>
                    <a:pt x="8509" y="16891"/>
                  </a:moveTo>
                  <a:lnTo>
                    <a:pt x="8509" y="8509"/>
                  </a:lnTo>
                  <a:lnTo>
                    <a:pt x="17018" y="8509"/>
                  </a:lnTo>
                  <a:lnTo>
                    <a:pt x="17018" y="1812925"/>
                  </a:lnTo>
                  <a:lnTo>
                    <a:pt x="8509" y="1812925"/>
                  </a:lnTo>
                  <a:lnTo>
                    <a:pt x="8509" y="1804416"/>
                  </a:lnTo>
                  <a:lnTo>
                    <a:pt x="22441790" y="1804416"/>
                  </a:lnTo>
                  <a:lnTo>
                    <a:pt x="22441790" y="1812925"/>
                  </a:lnTo>
                  <a:lnTo>
                    <a:pt x="22433280" y="1812925"/>
                  </a:lnTo>
                  <a:lnTo>
                    <a:pt x="22433280" y="8509"/>
                  </a:lnTo>
                  <a:lnTo>
                    <a:pt x="22441790" y="8509"/>
                  </a:lnTo>
                  <a:lnTo>
                    <a:pt x="22441790" y="17018"/>
                  </a:lnTo>
                  <a:lnTo>
                    <a:pt x="8509" y="17018"/>
                  </a:lnTo>
                  <a:close/>
                </a:path>
              </a:pathLst>
            </a:custGeom>
            <a:solidFill>
              <a:srgbClr val="E2E8F0"/>
            </a:solidFill>
          </p:spPr>
        </p:sp>
      </p:grpSp>
      <p:grpSp>
        <p:nvGrpSpPr>
          <p:cNvPr name="Group 42" id="42"/>
          <p:cNvGrpSpPr/>
          <p:nvPr/>
        </p:nvGrpSpPr>
        <p:grpSpPr>
          <a:xfrm rot="0">
            <a:off x="718823" y="4010663"/>
            <a:ext cx="135131" cy="1378715"/>
            <a:chOff x="0" y="0"/>
            <a:chExt cx="180175" cy="1838287"/>
          </a:xfrm>
        </p:grpSpPr>
        <p:sp>
          <p:nvSpPr>
            <p:cNvPr name="Freeform 43" id="43"/>
            <p:cNvSpPr/>
            <p:nvPr/>
          </p:nvSpPr>
          <p:spPr>
            <a:xfrm flipH="false" flipV="false" rot="0">
              <a:off x="16891" y="16891"/>
              <a:ext cx="146304" cy="1804416"/>
            </a:xfrm>
            <a:custGeom>
              <a:avLst/>
              <a:gdLst/>
              <a:ahLst/>
              <a:cxnLst/>
              <a:rect r="r" b="b" t="t" l="l"/>
              <a:pathLst>
                <a:path h="1804416" w="146304">
                  <a:moveTo>
                    <a:pt x="0" y="0"/>
                  </a:moveTo>
                  <a:lnTo>
                    <a:pt x="146304" y="0"/>
                  </a:lnTo>
                  <a:lnTo>
                    <a:pt x="146304" y="1804416"/>
                  </a:lnTo>
                  <a:lnTo>
                    <a:pt x="0" y="1804416"/>
                  </a:lnTo>
                  <a:close/>
                </a:path>
              </a:pathLst>
            </a:custGeom>
            <a:solidFill>
              <a:srgbClr val="94A3B8"/>
            </a:solidFill>
          </p:spPr>
        </p:sp>
        <p:sp>
          <p:nvSpPr>
            <p:cNvPr name="Freeform 44" id="44"/>
            <p:cNvSpPr/>
            <p:nvPr/>
          </p:nvSpPr>
          <p:spPr>
            <a:xfrm flipH="false" flipV="false" rot="0">
              <a:off x="0" y="0"/>
              <a:ext cx="180086" cy="1838198"/>
            </a:xfrm>
            <a:custGeom>
              <a:avLst/>
              <a:gdLst/>
              <a:ahLst/>
              <a:cxnLst/>
              <a:rect r="r" b="b" t="t" l="l"/>
              <a:pathLst>
                <a:path h="1838198" w="180086">
                  <a:moveTo>
                    <a:pt x="16891" y="0"/>
                  </a:moveTo>
                  <a:lnTo>
                    <a:pt x="163195" y="0"/>
                  </a:lnTo>
                  <a:cubicBezTo>
                    <a:pt x="172593" y="0"/>
                    <a:pt x="180086" y="7620"/>
                    <a:pt x="180086" y="16891"/>
                  </a:cubicBezTo>
                  <a:lnTo>
                    <a:pt x="180086" y="1821307"/>
                  </a:lnTo>
                  <a:cubicBezTo>
                    <a:pt x="180086" y="1830705"/>
                    <a:pt x="172466" y="1838198"/>
                    <a:pt x="163195" y="1838198"/>
                  </a:cubicBezTo>
                  <a:lnTo>
                    <a:pt x="16891" y="1838198"/>
                  </a:lnTo>
                  <a:cubicBezTo>
                    <a:pt x="7493" y="1838198"/>
                    <a:pt x="0" y="1830578"/>
                    <a:pt x="0" y="1821307"/>
                  </a:cubicBezTo>
                  <a:lnTo>
                    <a:pt x="0" y="16891"/>
                  </a:lnTo>
                  <a:cubicBezTo>
                    <a:pt x="0" y="7620"/>
                    <a:pt x="7620" y="0"/>
                    <a:pt x="16891" y="0"/>
                  </a:cubicBezTo>
                  <a:moveTo>
                    <a:pt x="16891" y="33909"/>
                  </a:moveTo>
                  <a:lnTo>
                    <a:pt x="16891" y="16891"/>
                  </a:lnTo>
                  <a:lnTo>
                    <a:pt x="33909" y="16891"/>
                  </a:lnTo>
                  <a:lnTo>
                    <a:pt x="33909" y="1821307"/>
                  </a:lnTo>
                  <a:lnTo>
                    <a:pt x="16891" y="1821307"/>
                  </a:lnTo>
                  <a:lnTo>
                    <a:pt x="16891" y="1804416"/>
                  </a:lnTo>
                  <a:lnTo>
                    <a:pt x="163195" y="1804416"/>
                  </a:lnTo>
                  <a:lnTo>
                    <a:pt x="163195" y="1821307"/>
                  </a:lnTo>
                  <a:lnTo>
                    <a:pt x="146304" y="1821307"/>
                  </a:lnTo>
                  <a:lnTo>
                    <a:pt x="146304" y="16891"/>
                  </a:lnTo>
                  <a:lnTo>
                    <a:pt x="163195" y="16891"/>
                  </a:lnTo>
                  <a:lnTo>
                    <a:pt x="163195" y="33909"/>
                  </a:lnTo>
                  <a:lnTo>
                    <a:pt x="16891" y="33909"/>
                  </a:lnTo>
                  <a:close/>
                </a:path>
              </a:pathLst>
            </a:custGeom>
            <a:solidFill>
              <a:srgbClr val="94A3B8"/>
            </a:solidFill>
          </p:spPr>
        </p:sp>
      </p:grpSp>
      <p:grpSp>
        <p:nvGrpSpPr>
          <p:cNvPr name="Group 45" id="45"/>
          <p:cNvGrpSpPr/>
          <p:nvPr/>
        </p:nvGrpSpPr>
        <p:grpSpPr>
          <a:xfrm rot="0">
            <a:off x="1048007" y="4156967"/>
            <a:ext cx="2037083" cy="391163"/>
            <a:chOff x="0" y="0"/>
            <a:chExt cx="2716111" cy="521551"/>
          </a:xfrm>
        </p:grpSpPr>
        <p:sp>
          <p:nvSpPr>
            <p:cNvPr name="Freeform 46" id="46"/>
            <p:cNvSpPr/>
            <p:nvPr/>
          </p:nvSpPr>
          <p:spPr>
            <a:xfrm flipH="false" flipV="false" rot="0">
              <a:off x="16891" y="16891"/>
              <a:ext cx="2682240" cy="487680"/>
            </a:xfrm>
            <a:custGeom>
              <a:avLst/>
              <a:gdLst/>
              <a:ahLst/>
              <a:cxnLst/>
              <a:rect r="r" b="b" t="t" l="l"/>
              <a:pathLst>
                <a:path h="487680" w="2682240">
                  <a:moveTo>
                    <a:pt x="0" y="0"/>
                  </a:moveTo>
                  <a:lnTo>
                    <a:pt x="2682240" y="0"/>
                  </a:lnTo>
                  <a:lnTo>
                    <a:pt x="2682240" y="487680"/>
                  </a:lnTo>
                  <a:lnTo>
                    <a:pt x="0" y="487680"/>
                  </a:lnTo>
                  <a:close/>
                </a:path>
              </a:pathLst>
            </a:custGeom>
            <a:solidFill>
              <a:srgbClr val="94A3B8">
                <a:alpha val="35686"/>
              </a:srgbClr>
            </a:solidFill>
          </p:spPr>
        </p:sp>
        <p:sp>
          <p:nvSpPr>
            <p:cNvPr name="Freeform 47" id="47"/>
            <p:cNvSpPr/>
            <p:nvPr/>
          </p:nvSpPr>
          <p:spPr>
            <a:xfrm flipH="false" flipV="false" rot="0">
              <a:off x="0" y="0"/>
              <a:ext cx="2716022" cy="521464"/>
            </a:xfrm>
            <a:custGeom>
              <a:avLst/>
              <a:gdLst/>
              <a:ahLst/>
              <a:cxnLst/>
              <a:rect r="r" b="b" t="t" l="l"/>
              <a:pathLst>
                <a:path h="521464" w="2716022">
                  <a:moveTo>
                    <a:pt x="16891" y="0"/>
                  </a:moveTo>
                  <a:lnTo>
                    <a:pt x="2699131" y="0"/>
                  </a:lnTo>
                  <a:cubicBezTo>
                    <a:pt x="2708529" y="0"/>
                    <a:pt x="2716022" y="7620"/>
                    <a:pt x="2716022" y="16891"/>
                  </a:cubicBezTo>
                  <a:lnTo>
                    <a:pt x="2716022" y="504571"/>
                  </a:lnTo>
                  <a:cubicBezTo>
                    <a:pt x="2716022" y="513969"/>
                    <a:pt x="2708402" y="521462"/>
                    <a:pt x="2699131" y="521462"/>
                  </a:cubicBezTo>
                  <a:lnTo>
                    <a:pt x="16891" y="521462"/>
                  </a:lnTo>
                  <a:cubicBezTo>
                    <a:pt x="7620" y="521589"/>
                    <a:pt x="0" y="513969"/>
                    <a:pt x="0" y="504571"/>
                  </a:cubicBezTo>
                  <a:lnTo>
                    <a:pt x="0" y="16891"/>
                  </a:lnTo>
                  <a:cubicBezTo>
                    <a:pt x="0" y="7620"/>
                    <a:pt x="7620" y="0"/>
                    <a:pt x="16891" y="0"/>
                  </a:cubicBezTo>
                  <a:moveTo>
                    <a:pt x="16891" y="33909"/>
                  </a:moveTo>
                  <a:lnTo>
                    <a:pt x="16891" y="16891"/>
                  </a:lnTo>
                  <a:lnTo>
                    <a:pt x="33909" y="16891"/>
                  </a:lnTo>
                  <a:lnTo>
                    <a:pt x="33909" y="504571"/>
                  </a:lnTo>
                  <a:lnTo>
                    <a:pt x="16891" y="504571"/>
                  </a:lnTo>
                  <a:lnTo>
                    <a:pt x="16891" y="487680"/>
                  </a:lnTo>
                  <a:lnTo>
                    <a:pt x="2699131" y="487680"/>
                  </a:lnTo>
                  <a:lnTo>
                    <a:pt x="2699131" y="504571"/>
                  </a:lnTo>
                  <a:lnTo>
                    <a:pt x="2682240" y="504571"/>
                  </a:lnTo>
                  <a:lnTo>
                    <a:pt x="2682240" y="16891"/>
                  </a:lnTo>
                  <a:lnTo>
                    <a:pt x="2699131" y="16891"/>
                  </a:lnTo>
                  <a:lnTo>
                    <a:pt x="2699131" y="33909"/>
                  </a:lnTo>
                  <a:lnTo>
                    <a:pt x="16891" y="33909"/>
                  </a:lnTo>
                  <a:close/>
                </a:path>
              </a:pathLst>
            </a:custGeom>
            <a:solidFill>
              <a:srgbClr val="94A3B8"/>
            </a:solidFill>
          </p:spPr>
        </p:sp>
      </p:grpSp>
      <p:grpSp>
        <p:nvGrpSpPr>
          <p:cNvPr name="Group 48" id="48"/>
          <p:cNvGrpSpPr/>
          <p:nvPr/>
        </p:nvGrpSpPr>
        <p:grpSpPr>
          <a:xfrm rot="0">
            <a:off x="1060704" y="4169664"/>
            <a:ext cx="2011680" cy="365760"/>
            <a:chOff x="0" y="0"/>
            <a:chExt cx="2682240" cy="487680"/>
          </a:xfrm>
        </p:grpSpPr>
        <p:sp>
          <p:nvSpPr>
            <p:cNvPr name="Freeform 49" id="49"/>
            <p:cNvSpPr/>
            <p:nvPr/>
          </p:nvSpPr>
          <p:spPr>
            <a:xfrm flipH="false" flipV="false" rot="0">
              <a:off x="0" y="0"/>
              <a:ext cx="2682240" cy="487680"/>
            </a:xfrm>
            <a:custGeom>
              <a:avLst/>
              <a:gdLst/>
              <a:ahLst/>
              <a:cxnLst/>
              <a:rect r="r" b="b" t="t" l="l"/>
              <a:pathLst>
                <a:path h="487680" w="2682240">
                  <a:moveTo>
                    <a:pt x="0" y="0"/>
                  </a:moveTo>
                  <a:lnTo>
                    <a:pt x="2682240" y="0"/>
                  </a:lnTo>
                  <a:lnTo>
                    <a:pt x="2682240" y="487680"/>
                  </a:lnTo>
                  <a:lnTo>
                    <a:pt x="0" y="487680"/>
                  </a:lnTo>
                  <a:close/>
                </a:path>
              </a:pathLst>
            </a:custGeom>
            <a:blipFill>
              <a:blip r:embed="rId3">
                <a:alphaModFix amt="0"/>
              </a:blip>
              <a:stretch>
                <a:fillRect l="0" t="-57167" r="0" b="-57167"/>
              </a:stretch>
            </a:blipFill>
          </p:spPr>
        </p:sp>
        <p:sp>
          <p:nvSpPr>
            <p:cNvPr name="TextBox 50" id="50"/>
            <p:cNvSpPr txBox="true"/>
            <p:nvPr/>
          </p:nvSpPr>
          <p:spPr>
            <a:xfrm>
              <a:off x="0" y="-28575"/>
              <a:ext cx="2682240" cy="516255"/>
            </a:xfrm>
            <a:prstGeom prst="rect">
              <a:avLst/>
            </a:prstGeom>
          </p:spPr>
          <p:txBody>
            <a:bodyPr anchor="ctr" rtlCol="false" tIns="0" lIns="0" bIns="0" rIns="0"/>
            <a:lstStyle/>
            <a:p>
              <a:pPr algn="ctr">
                <a:lnSpc>
                  <a:spcPts val="1679"/>
                </a:lnSpc>
              </a:pPr>
              <a:r>
                <a:rPr lang="en-US" sz="1399" b="true">
                  <a:solidFill>
                    <a:srgbClr val="FFFFFF"/>
                  </a:solidFill>
                  <a:latin typeface="Calibri (MS) Bold"/>
                  <a:ea typeface="Calibri (MS) Bold"/>
                  <a:cs typeface="Calibri (MS) Bold"/>
                  <a:sym typeface="Calibri (MS) Bold"/>
                </a:rPr>
                <a:t>TRADITIONAL</a:t>
              </a:r>
            </a:p>
          </p:txBody>
        </p:sp>
      </p:grpSp>
      <p:grpSp>
        <p:nvGrpSpPr>
          <p:cNvPr name="Group 51" id="51"/>
          <p:cNvGrpSpPr/>
          <p:nvPr/>
        </p:nvGrpSpPr>
        <p:grpSpPr>
          <a:xfrm rot="0">
            <a:off x="3255264" y="4114800"/>
            <a:ext cx="4572000" cy="548640"/>
            <a:chOff x="0" y="0"/>
            <a:chExt cx="6096000" cy="731520"/>
          </a:xfrm>
        </p:grpSpPr>
        <p:sp>
          <p:nvSpPr>
            <p:cNvPr name="Freeform 52" id="52"/>
            <p:cNvSpPr/>
            <p:nvPr/>
          </p:nvSpPr>
          <p:spPr>
            <a:xfrm flipH="false" flipV="false" rot="0">
              <a:off x="0" y="0"/>
              <a:ext cx="6096000" cy="731520"/>
            </a:xfrm>
            <a:custGeom>
              <a:avLst/>
              <a:gdLst/>
              <a:ahLst/>
              <a:cxnLst/>
              <a:rect r="r" b="b" t="t" l="l"/>
              <a:pathLst>
                <a:path h="731520" w="6096000">
                  <a:moveTo>
                    <a:pt x="0" y="0"/>
                  </a:moveTo>
                  <a:lnTo>
                    <a:pt x="6096000" y="0"/>
                  </a:lnTo>
                  <a:lnTo>
                    <a:pt x="6096000" y="731520"/>
                  </a:lnTo>
                  <a:lnTo>
                    <a:pt x="0" y="731520"/>
                  </a:lnTo>
                  <a:close/>
                </a:path>
              </a:pathLst>
            </a:custGeom>
            <a:blipFill>
              <a:blip r:embed="rId3">
                <a:alphaModFix amt="0"/>
              </a:blip>
              <a:stretch>
                <a:fillRect l="0" t="-112375" r="0" b="-112375"/>
              </a:stretch>
            </a:blipFill>
          </p:spPr>
        </p:sp>
        <p:sp>
          <p:nvSpPr>
            <p:cNvPr name="TextBox 53" id="53"/>
            <p:cNvSpPr txBox="true"/>
            <p:nvPr/>
          </p:nvSpPr>
          <p:spPr>
            <a:xfrm>
              <a:off x="0" y="-38100"/>
              <a:ext cx="6096000" cy="769620"/>
            </a:xfrm>
            <a:prstGeom prst="rect">
              <a:avLst/>
            </a:prstGeom>
          </p:spPr>
          <p:txBody>
            <a:bodyPr anchor="ctr" rtlCol="false" tIns="0" lIns="0" bIns="0" rIns="0"/>
            <a:lstStyle/>
            <a:p>
              <a:pPr algn="l">
                <a:lnSpc>
                  <a:spcPts val="2879"/>
                </a:lnSpc>
              </a:pPr>
              <a:r>
                <a:rPr lang="en-US" sz="2400" b="true">
                  <a:solidFill>
                    <a:srgbClr val="1E293B"/>
                  </a:solidFill>
                  <a:latin typeface="Calibri (MS) Bold"/>
                  <a:ea typeface="Calibri (MS) Bold"/>
                  <a:cs typeface="Calibri (MS) Bold"/>
                  <a:sym typeface="Calibri (MS) Bold"/>
                </a:rPr>
                <a:t>Retrieval-based</a:t>
              </a:r>
            </a:p>
          </p:txBody>
        </p:sp>
      </p:grpSp>
      <p:grpSp>
        <p:nvGrpSpPr>
          <p:cNvPr name="Group 54" id="54"/>
          <p:cNvGrpSpPr/>
          <p:nvPr/>
        </p:nvGrpSpPr>
        <p:grpSpPr>
          <a:xfrm rot="0">
            <a:off x="3255264" y="4718304"/>
            <a:ext cx="6400800" cy="548640"/>
            <a:chOff x="0" y="0"/>
            <a:chExt cx="8534400" cy="731520"/>
          </a:xfrm>
        </p:grpSpPr>
        <p:sp>
          <p:nvSpPr>
            <p:cNvPr name="Freeform 55" id="55"/>
            <p:cNvSpPr/>
            <p:nvPr/>
          </p:nvSpPr>
          <p:spPr>
            <a:xfrm flipH="false" flipV="false" rot="0">
              <a:off x="0" y="0"/>
              <a:ext cx="8534400" cy="731520"/>
            </a:xfrm>
            <a:custGeom>
              <a:avLst/>
              <a:gdLst/>
              <a:ahLst/>
              <a:cxnLst/>
              <a:rect r="r" b="b" t="t" l="l"/>
              <a:pathLst>
                <a:path h="731520" w="8534400">
                  <a:moveTo>
                    <a:pt x="0" y="0"/>
                  </a:moveTo>
                  <a:lnTo>
                    <a:pt x="8534400" y="0"/>
                  </a:lnTo>
                  <a:lnTo>
                    <a:pt x="8534400" y="731520"/>
                  </a:lnTo>
                  <a:lnTo>
                    <a:pt x="0" y="731520"/>
                  </a:lnTo>
                  <a:close/>
                </a:path>
              </a:pathLst>
            </a:custGeom>
            <a:blipFill>
              <a:blip r:embed="rId3">
                <a:alphaModFix amt="0"/>
              </a:blip>
              <a:stretch>
                <a:fillRect l="0" t="-177325" r="0" b="-177325"/>
              </a:stretch>
            </a:blipFill>
          </p:spPr>
        </p:sp>
        <p:sp>
          <p:nvSpPr>
            <p:cNvPr name="TextBox 56" id="56"/>
            <p:cNvSpPr txBox="true"/>
            <p:nvPr/>
          </p:nvSpPr>
          <p:spPr>
            <a:xfrm>
              <a:off x="0" y="-38100"/>
              <a:ext cx="8534400" cy="769620"/>
            </a:xfrm>
            <a:prstGeom prst="rect">
              <a:avLst/>
            </a:prstGeom>
          </p:spPr>
          <p:txBody>
            <a:bodyPr anchor="ctr" rtlCol="false" tIns="0" lIns="0" bIns="0" rIns="0"/>
            <a:lstStyle/>
            <a:p>
              <a:pPr algn="l">
                <a:lnSpc>
                  <a:spcPts val="2400"/>
                </a:lnSpc>
              </a:pPr>
              <a:r>
                <a:rPr lang="en-US" sz="2000">
                  <a:solidFill>
                    <a:srgbClr val="94A3B8"/>
                  </a:solidFill>
                  <a:latin typeface="Calibri (MS)"/>
                  <a:ea typeface="Calibri (MS)"/>
                  <a:cs typeface="Calibri (MS)"/>
                  <a:sym typeface="Calibri (MS)"/>
                </a:rPr>
                <a:t>Compute similarity between image and all sentences in a dataset, return the best match.</a:t>
              </a:r>
            </a:p>
          </p:txBody>
        </p:sp>
      </p:grpSp>
      <p:grpSp>
        <p:nvGrpSpPr>
          <p:cNvPr name="Group 57" id="57"/>
          <p:cNvGrpSpPr/>
          <p:nvPr/>
        </p:nvGrpSpPr>
        <p:grpSpPr>
          <a:xfrm rot="0">
            <a:off x="9960607" y="4199887"/>
            <a:ext cx="12697" cy="1018537"/>
            <a:chOff x="0" y="0"/>
            <a:chExt cx="16929" cy="1358049"/>
          </a:xfrm>
        </p:grpSpPr>
        <p:sp>
          <p:nvSpPr>
            <p:cNvPr name="Freeform 58" id="58"/>
            <p:cNvSpPr/>
            <p:nvPr/>
          </p:nvSpPr>
          <p:spPr>
            <a:xfrm flipH="false" flipV="false" rot="0">
              <a:off x="0" y="8509"/>
              <a:ext cx="16891" cy="1341120"/>
            </a:xfrm>
            <a:custGeom>
              <a:avLst/>
              <a:gdLst/>
              <a:ahLst/>
              <a:cxnLst/>
              <a:rect r="r" b="b" t="t" l="l"/>
              <a:pathLst>
                <a:path h="1341120" w="16891">
                  <a:moveTo>
                    <a:pt x="16891" y="0"/>
                  </a:moveTo>
                  <a:lnTo>
                    <a:pt x="16891" y="1341120"/>
                  </a:lnTo>
                  <a:lnTo>
                    <a:pt x="0" y="1341120"/>
                  </a:lnTo>
                  <a:lnTo>
                    <a:pt x="0" y="0"/>
                  </a:lnTo>
                  <a:close/>
                </a:path>
              </a:pathLst>
            </a:custGeom>
            <a:solidFill>
              <a:srgbClr val="E2E8F0"/>
            </a:solidFill>
          </p:spPr>
        </p:sp>
      </p:grpSp>
      <p:grpSp>
        <p:nvGrpSpPr>
          <p:cNvPr name="Group 59" id="59"/>
          <p:cNvGrpSpPr/>
          <p:nvPr/>
        </p:nvGrpSpPr>
        <p:grpSpPr>
          <a:xfrm rot="0">
            <a:off x="10149840" y="4169664"/>
            <a:ext cx="2560320" cy="402336"/>
            <a:chOff x="0" y="0"/>
            <a:chExt cx="3413760" cy="536448"/>
          </a:xfrm>
        </p:grpSpPr>
        <p:sp>
          <p:nvSpPr>
            <p:cNvPr name="Freeform 60" id="60"/>
            <p:cNvSpPr/>
            <p:nvPr/>
          </p:nvSpPr>
          <p:spPr>
            <a:xfrm flipH="false" flipV="false" rot="0">
              <a:off x="0" y="0"/>
              <a:ext cx="3413760" cy="536448"/>
            </a:xfrm>
            <a:custGeom>
              <a:avLst/>
              <a:gdLst/>
              <a:ahLst/>
              <a:cxnLst/>
              <a:rect r="r" b="b" t="t" l="l"/>
              <a:pathLst>
                <a:path h="536448" w="3413760">
                  <a:moveTo>
                    <a:pt x="0" y="0"/>
                  </a:moveTo>
                  <a:lnTo>
                    <a:pt x="3413760" y="0"/>
                  </a:lnTo>
                  <a:lnTo>
                    <a:pt x="3413760" y="536448"/>
                  </a:lnTo>
                  <a:lnTo>
                    <a:pt x="0" y="536448"/>
                  </a:lnTo>
                  <a:close/>
                </a:path>
              </a:pathLst>
            </a:custGeom>
            <a:blipFill>
              <a:blip r:embed="rId3">
                <a:alphaModFix amt="0"/>
              </a:blip>
              <a:stretch>
                <a:fillRect l="0" t="-73995" r="0" b="-73995"/>
              </a:stretch>
            </a:blipFill>
          </p:spPr>
        </p:sp>
        <p:sp>
          <p:nvSpPr>
            <p:cNvPr name="TextBox 61" id="61"/>
            <p:cNvSpPr txBox="true"/>
            <p:nvPr/>
          </p:nvSpPr>
          <p:spPr>
            <a:xfrm>
              <a:off x="0" y="-38100"/>
              <a:ext cx="3413760" cy="574548"/>
            </a:xfrm>
            <a:prstGeom prst="rect">
              <a:avLst/>
            </a:prstGeom>
          </p:spPr>
          <p:txBody>
            <a:bodyPr anchor="ctr" rtlCol="false" tIns="0" lIns="0" bIns="0" rIns="0"/>
            <a:lstStyle/>
            <a:p>
              <a:pPr algn="l">
                <a:lnSpc>
                  <a:spcPts val="2160"/>
                </a:lnSpc>
              </a:pPr>
              <a:r>
                <a:rPr lang="en-US" sz="1800" b="true">
                  <a:solidFill>
                    <a:srgbClr val="E05B4B"/>
                  </a:solidFill>
                  <a:latin typeface="Calibri (MS) Bold"/>
                  <a:ea typeface="Calibri (MS) Bold"/>
                  <a:cs typeface="Calibri (MS) Bold"/>
                  <a:sym typeface="Calibri (MS) Bold"/>
                </a:rPr>
                <a:t>⚠  Limitation</a:t>
              </a:r>
            </a:p>
          </p:txBody>
        </p:sp>
      </p:grpSp>
      <p:grpSp>
        <p:nvGrpSpPr>
          <p:cNvPr name="Group 62" id="62"/>
          <p:cNvGrpSpPr/>
          <p:nvPr/>
        </p:nvGrpSpPr>
        <p:grpSpPr>
          <a:xfrm rot="0">
            <a:off x="10149840" y="4572000"/>
            <a:ext cx="7132320" cy="694944"/>
            <a:chOff x="0" y="0"/>
            <a:chExt cx="9509760" cy="926592"/>
          </a:xfrm>
        </p:grpSpPr>
        <p:sp>
          <p:nvSpPr>
            <p:cNvPr name="Freeform 63" id="63"/>
            <p:cNvSpPr/>
            <p:nvPr/>
          </p:nvSpPr>
          <p:spPr>
            <a:xfrm flipH="false" flipV="false" rot="0">
              <a:off x="0" y="0"/>
              <a:ext cx="9509760" cy="926592"/>
            </a:xfrm>
            <a:custGeom>
              <a:avLst/>
              <a:gdLst/>
              <a:ahLst/>
              <a:cxnLst/>
              <a:rect r="r" b="b" t="t" l="l"/>
              <a:pathLst>
                <a:path h="926592" w="9509760">
                  <a:moveTo>
                    <a:pt x="0" y="0"/>
                  </a:moveTo>
                  <a:lnTo>
                    <a:pt x="9509760" y="0"/>
                  </a:lnTo>
                  <a:lnTo>
                    <a:pt x="9509760" y="926592"/>
                  </a:lnTo>
                  <a:lnTo>
                    <a:pt x="0" y="926592"/>
                  </a:lnTo>
                  <a:close/>
                </a:path>
              </a:pathLst>
            </a:custGeom>
            <a:blipFill>
              <a:blip r:embed="rId3">
                <a:alphaModFix amt="0"/>
              </a:blip>
              <a:stretch>
                <a:fillRect l="0" t="-149978" r="0" b="-149978"/>
              </a:stretch>
            </a:blipFill>
          </p:spPr>
        </p:sp>
        <p:sp>
          <p:nvSpPr>
            <p:cNvPr name="TextBox 64" id="64"/>
            <p:cNvSpPr txBox="true"/>
            <p:nvPr/>
          </p:nvSpPr>
          <p:spPr>
            <a:xfrm>
              <a:off x="0" y="-38100"/>
              <a:ext cx="9509760" cy="964692"/>
            </a:xfrm>
            <a:prstGeom prst="rect">
              <a:avLst/>
            </a:prstGeom>
          </p:spPr>
          <p:txBody>
            <a:bodyPr anchor="ctr" rtlCol="false" tIns="0" lIns="0" bIns="0" rIns="0"/>
            <a:lstStyle/>
            <a:p>
              <a:pPr algn="l">
                <a:lnSpc>
                  <a:spcPts val="2400"/>
                </a:lnSpc>
              </a:pPr>
              <a:r>
                <a:rPr lang="en-US" sz="2000">
                  <a:solidFill>
                    <a:srgbClr val="1E293B"/>
                  </a:solidFill>
                  <a:latin typeface="Calibri (MS)"/>
                  <a:ea typeface="Calibri (MS)"/>
                  <a:cs typeface="Calibri (MS)"/>
                  <a:sym typeface="Calibri (MS)"/>
                </a:rPr>
                <a:t>Limited to pre-collected sentences; fails on novel scenes.</a:t>
              </a:r>
            </a:p>
          </p:txBody>
        </p:sp>
      </p:grpSp>
      <p:grpSp>
        <p:nvGrpSpPr>
          <p:cNvPr name="Group 65" id="65"/>
          <p:cNvGrpSpPr/>
          <p:nvPr/>
        </p:nvGrpSpPr>
        <p:grpSpPr>
          <a:xfrm rot="0">
            <a:off x="725167" y="5516623"/>
            <a:ext cx="16837657" cy="1366009"/>
            <a:chOff x="0" y="0"/>
            <a:chExt cx="22450209" cy="1821345"/>
          </a:xfrm>
        </p:grpSpPr>
        <p:sp>
          <p:nvSpPr>
            <p:cNvPr name="Freeform 66" id="66"/>
            <p:cNvSpPr/>
            <p:nvPr/>
          </p:nvSpPr>
          <p:spPr>
            <a:xfrm flipH="false" flipV="false" rot="0">
              <a:off x="8509" y="8509"/>
              <a:ext cx="22433281" cy="1804416"/>
            </a:xfrm>
            <a:custGeom>
              <a:avLst/>
              <a:gdLst/>
              <a:ahLst/>
              <a:cxnLst/>
              <a:rect r="r" b="b" t="t" l="l"/>
              <a:pathLst>
                <a:path h="1804416" w="22433281">
                  <a:moveTo>
                    <a:pt x="0" y="0"/>
                  </a:moveTo>
                  <a:lnTo>
                    <a:pt x="22433281" y="0"/>
                  </a:lnTo>
                  <a:lnTo>
                    <a:pt x="22433281" y="1804416"/>
                  </a:lnTo>
                  <a:lnTo>
                    <a:pt x="0" y="1804416"/>
                  </a:lnTo>
                  <a:close/>
                </a:path>
              </a:pathLst>
            </a:custGeom>
            <a:solidFill>
              <a:srgbClr val="FFFFFF"/>
            </a:solidFill>
          </p:spPr>
        </p:sp>
        <p:sp>
          <p:nvSpPr>
            <p:cNvPr name="Freeform 67" id="67"/>
            <p:cNvSpPr/>
            <p:nvPr/>
          </p:nvSpPr>
          <p:spPr>
            <a:xfrm flipH="false" flipV="false" rot="0">
              <a:off x="0" y="0"/>
              <a:ext cx="22450298" cy="1821434"/>
            </a:xfrm>
            <a:custGeom>
              <a:avLst/>
              <a:gdLst/>
              <a:ahLst/>
              <a:cxnLst/>
              <a:rect r="r" b="b" t="t" l="l"/>
              <a:pathLst>
                <a:path h="1821434" w="22450298">
                  <a:moveTo>
                    <a:pt x="8509" y="0"/>
                  </a:moveTo>
                  <a:lnTo>
                    <a:pt x="22441790" y="0"/>
                  </a:lnTo>
                  <a:cubicBezTo>
                    <a:pt x="22446489" y="0"/>
                    <a:pt x="22450298" y="3810"/>
                    <a:pt x="22450298" y="8509"/>
                  </a:cubicBezTo>
                  <a:lnTo>
                    <a:pt x="22450298" y="1812925"/>
                  </a:lnTo>
                  <a:cubicBezTo>
                    <a:pt x="22450298" y="1817624"/>
                    <a:pt x="22446489" y="1821434"/>
                    <a:pt x="22441790" y="1821434"/>
                  </a:cubicBezTo>
                  <a:lnTo>
                    <a:pt x="8509" y="1821434"/>
                  </a:lnTo>
                  <a:cubicBezTo>
                    <a:pt x="3810" y="1821434"/>
                    <a:pt x="0" y="1817624"/>
                    <a:pt x="0" y="1812925"/>
                  </a:cubicBezTo>
                  <a:lnTo>
                    <a:pt x="0" y="8509"/>
                  </a:lnTo>
                  <a:cubicBezTo>
                    <a:pt x="0" y="3810"/>
                    <a:pt x="3810" y="0"/>
                    <a:pt x="8509" y="0"/>
                  </a:cubicBezTo>
                  <a:moveTo>
                    <a:pt x="8509" y="16891"/>
                  </a:moveTo>
                  <a:lnTo>
                    <a:pt x="8509" y="8509"/>
                  </a:lnTo>
                  <a:lnTo>
                    <a:pt x="17018" y="8509"/>
                  </a:lnTo>
                  <a:lnTo>
                    <a:pt x="17018" y="1812925"/>
                  </a:lnTo>
                  <a:lnTo>
                    <a:pt x="8509" y="1812925"/>
                  </a:lnTo>
                  <a:lnTo>
                    <a:pt x="8509" y="1804416"/>
                  </a:lnTo>
                  <a:lnTo>
                    <a:pt x="22441790" y="1804416"/>
                  </a:lnTo>
                  <a:lnTo>
                    <a:pt x="22441790" y="1812925"/>
                  </a:lnTo>
                  <a:lnTo>
                    <a:pt x="22433280" y="1812925"/>
                  </a:lnTo>
                  <a:lnTo>
                    <a:pt x="22433280" y="8509"/>
                  </a:lnTo>
                  <a:lnTo>
                    <a:pt x="22441790" y="8509"/>
                  </a:lnTo>
                  <a:lnTo>
                    <a:pt x="22441790" y="17018"/>
                  </a:lnTo>
                  <a:lnTo>
                    <a:pt x="8509" y="17018"/>
                  </a:lnTo>
                  <a:close/>
                </a:path>
              </a:pathLst>
            </a:custGeom>
            <a:solidFill>
              <a:srgbClr val="E2E8F0"/>
            </a:solidFill>
          </p:spPr>
        </p:sp>
      </p:grpSp>
      <p:grpSp>
        <p:nvGrpSpPr>
          <p:cNvPr name="Group 68" id="68"/>
          <p:cNvGrpSpPr/>
          <p:nvPr/>
        </p:nvGrpSpPr>
        <p:grpSpPr>
          <a:xfrm rot="0">
            <a:off x="718823" y="5510279"/>
            <a:ext cx="135131" cy="1378715"/>
            <a:chOff x="0" y="0"/>
            <a:chExt cx="180175" cy="1838287"/>
          </a:xfrm>
        </p:grpSpPr>
        <p:sp>
          <p:nvSpPr>
            <p:cNvPr name="Freeform 69" id="69"/>
            <p:cNvSpPr/>
            <p:nvPr/>
          </p:nvSpPr>
          <p:spPr>
            <a:xfrm flipH="false" flipV="false" rot="0">
              <a:off x="16891" y="16891"/>
              <a:ext cx="146304" cy="1804416"/>
            </a:xfrm>
            <a:custGeom>
              <a:avLst/>
              <a:gdLst/>
              <a:ahLst/>
              <a:cxnLst/>
              <a:rect r="r" b="b" t="t" l="l"/>
              <a:pathLst>
                <a:path h="1804416" w="146304">
                  <a:moveTo>
                    <a:pt x="0" y="0"/>
                  </a:moveTo>
                  <a:lnTo>
                    <a:pt x="146304" y="0"/>
                  </a:lnTo>
                  <a:lnTo>
                    <a:pt x="146304" y="1804416"/>
                  </a:lnTo>
                  <a:lnTo>
                    <a:pt x="0" y="1804416"/>
                  </a:lnTo>
                  <a:close/>
                </a:path>
              </a:pathLst>
            </a:custGeom>
            <a:solidFill>
              <a:srgbClr val="0D9488"/>
            </a:solidFill>
          </p:spPr>
        </p:sp>
        <p:sp>
          <p:nvSpPr>
            <p:cNvPr name="Freeform 70" id="70"/>
            <p:cNvSpPr/>
            <p:nvPr/>
          </p:nvSpPr>
          <p:spPr>
            <a:xfrm flipH="false" flipV="false" rot="0">
              <a:off x="0" y="0"/>
              <a:ext cx="180086" cy="1838198"/>
            </a:xfrm>
            <a:custGeom>
              <a:avLst/>
              <a:gdLst/>
              <a:ahLst/>
              <a:cxnLst/>
              <a:rect r="r" b="b" t="t" l="l"/>
              <a:pathLst>
                <a:path h="1838198" w="180086">
                  <a:moveTo>
                    <a:pt x="16891" y="0"/>
                  </a:moveTo>
                  <a:lnTo>
                    <a:pt x="163195" y="0"/>
                  </a:lnTo>
                  <a:cubicBezTo>
                    <a:pt x="172593" y="0"/>
                    <a:pt x="180086" y="7620"/>
                    <a:pt x="180086" y="16891"/>
                  </a:cubicBezTo>
                  <a:lnTo>
                    <a:pt x="180086" y="1821307"/>
                  </a:lnTo>
                  <a:cubicBezTo>
                    <a:pt x="180086" y="1830705"/>
                    <a:pt x="172466" y="1838198"/>
                    <a:pt x="163195" y="1838198"/>
                  </a:cubicBezTo>
                  <a:lnTo>
                    <a:pt x="16891" y="1838198"/>
                  </a:lnTo>
                  <a:cubicBezTo>
                    <a:pt x="7493" y="1838198"/>
                    <a:pt x="0" y="1830578"/>
                    <a:pt x="0" y="1821307"/>
                  </a:cubicBezTo>
                  <a:lnTo>
                    <a:pt x="0" y="16891"/>
                  </a:lnTo>
                  <a:cubicBezTo>
                    <a:pt x="0" y="7620"/>
                    <a:pt x="7620" y="0"/>
                    <a:pt x="16891" y="0"/>
                  </a:cubicBezTo>
                  <a:moveTo>
                    <a:pt x="16891" y="33909"/>
                  </a:moveTo>
                  <a:lnTo>
                    <a:pt x="16891" y="16891"/>
                  </a:lnTo>
                  <a:lnTo>
                    <a:pt x="33909" y="16891"/>
                  </a:lnTo>
                  <a:lnTo>
                    <a:pt x="33909" y="1821307"/>
                  </a:lnTo>
                  <a:lnTo>
                    <a:pt x="16891" y="1821307"/>
                  </a:lnTo>
                  <a:lnTo>
                    <a:pt x="16891" y="1804416"/>
                  </a:lnTo>
                  <a:lnTo>
                    <a:pt x="163195" y="1804416"/>
                  </a:lnTo>
                  <a:lnTo>
                    <a:pt x="163195" y="1821307"/>
                  </a:lnTo>
                  <a:lnTo>
                    <a:pt x="146304" y="1821307"/>
                  </a:lnTo>
                  <a:lnTo>
                    <a:pt x="146304" y="16891"/>
                  </a:lnTo>
                  <a:lnTo>
                    <a:pt x="163195" y="16891"/>
                  </a:lnTo>
                  <a:lnTo>
                    <a:pt x="163195" y="33909"/>
                  </a:lnTo>
                  <a:lnTo>
                    <a:pt x="16891" y="33909"/>
                  </a:lnTo>
                  <a:close/>
                </a:path>
              </a:pathLst>
            </a:custGeom>
            <a:solidFill>
              <a:srgbClr val="0D9488"/>
            </a:solidFill>
          </p:spPr>
        </p:sp>
      </p:grpSp>
      <p:grpSp>
        <p:nvGrpSpPr>
          <p:cNvPr name="Group 71" id="71"/>
          <p:cNvGrpSpPr/>
          <p:nvPr/>
        </p:nvGrpSpPr>
        <p:grpSpPr>
          <a:xfrm rot="0">
            <a:off x="1048007" y="5656583"/>
            <a:ext cx="2037083" cy="391163"/>
            <a:chOff x="0" y="0"/>
            <a:chExt cx="2716111" cy="521551"/>
          </a:xfrm>
        </p:grpSpPr>
        <p:sp>
          <p:nvSpPr>
            <p:cNvPr name="Freeform 72" id="72"/>
            <p:cNvSpPr/>
            <p:nvPr/>
          </p:nvSpPr>
          <p:spPr>
            <a:xfrm flipH="false" flipV="false" rot="0">
              <a:off x="16891" y="16891"/>
              <a:ext cx="2682240" cy="487680"/>
            </a:xfrm>
            <a:custGeom>
              <a:avLst/>
              <a:gdLst/>
              <a:ahLst/>
              <a:cxnLst/>
              <a:rect r="r" b="b" t="t" l="l"/>
              <a:pathLst>
                <a:path h="487680" w="2682240">
                  <a:moveTo>
                    <a:pt x="0" y="0"/>
                  </a:moveTo>
                  <a:lnTo>
                    <a:pt x="2682240" y="0"/>
                  </a:lnTo>
                  <a:lnTo>
                    <a:pt x="2682240" y="487680"/>
                  </a:lnTo>
                  <a:lnTo>
                    <a:pt x="0" y="487680"/>
                  </a:lnTo>
                  <a:close/>
                </a:path>
              </a:pathLst>
            </a:custGeom>
            <a:solidFill>
              <a:srgbClr val="0D1B3E">
                <a:alpha val="35686"/>
              </a:srgbClr>
            </a:solidFill>
          </p:spPr>
        </p:sp>
        <p:sp>
          <p:nvSpPr>
            <p:cNvPr name="Freeform 73" id="73"/>
            <p:cNvSpPr/>
            <p:nvPr/>
          </p:nvSpPr>
          <p:spPr>
            <a:xfrm flipH="false" flipV="false" rot="0">
              <a:off x="0" y="0"/>
              <a:ext cx="2716022" cy="521464"/>
            </a:xfrm>
            <a:custGeom>
              <a:avLst/>
              <a:gdLst/>
              <a:ahLst/>
              <a:cxnLst/>
              <a:rect r="r" b="b" t="t" l="l"/>
              <a:pathLst>
                <a:path h="521464" w="2716022">
                  <a:moveTo>
                    <a:pt x="16891" y="0"/>
                  </a:moveTo>
                  <a:lnTo>
                    <a:pt x="2699131" y="0"/>
                  </a:lnTo>
                  <a:cubicBezTo>
                    <a:pt x="2708529" y="0"/>
                    <a:pt x="2716022" y="7620"/>
                    <a:pt x="2716022" y="16891"/>
                  </a:cubicBezTo>
                  <a:lnTo>
                    <a:pt x="2716022" y="504571"/>
                  </a:lnTo>
                  <a:cubicBezTo>
                    <a:pt x="2716022" y="513969"/>
                    <a:pt x="2708402" y="521462"/>
                    <a:pt x="2699131" y="521462"/>
                  </a:cubicBezTo>
                  <a:lnTo>
                    <a:pt x="16891" y="521462"/>
                  </a:lnTo>
                  <a:cubicBezTo>
                    <a:pt x="7620" y="521589"/>
                    <a:pt x="0" y="513969"/>
                    <a:pt x="0" y="504571"/>
                  </a:cubicBezTo>
                  <a:lnTo>
                    <a:pt x="0" y="16891"/>
                  </a:lnTo>
                  <a:cubicBezTo>
                    <a:pt x="0" y="7620"/>
                    <a:pt x="7620" y="0"/>
                    <a:pt x="16891" y="0"/>
                  </a:cubicBezTo>
                  <a:moveTo>
                    <a:pt x="16891" y="33909"/>
                  </a:moveTo>
                  <a:lnTo>
                    <a:pt x="16891" y="16891"/>
                  </a:lnTo>
                  <a:lnTo>
                    <a:pt x="33909" y="16891"/>
                  </a:lnTo>
                  <a:lnTo>
                    <a:pt x="33909" y="504571"/>
                  </a:lnTo>
                  <a:lnTo>
                    <a:pt x="16891" y="504571"/>
                  </a:lnTo>
                  <a:lnTo>
                    <a:pt x="16891" y="487680"/>
                  </a:lnTo>
                  <a:lnTo>
                    <a:pt x="2699131" y="487680"/>
                  </a:lnTo>
                  <a:lnTo>
                    <a:pt x="2699131" y="504571"/>
                  </a:lnTo>
                  <a:lnTo>
                    <a:pt x="2682240" y="504571"/>
                  </a:lnTo>
                  <a:lnTo>
                    <a:pt x="2682240" y="16891"/>
                  </a:lnTo>
                  <a:lnTo>
                    <a:pt x="2699131" y="16891"/>
                  </a:lnTo>
                  <a:lnTo>
                    <a:pt x="2699131" y="33909"/>
                  </a:lnTo>
                  <a:lnTo>
                    <a:pt x="16891" y="33909"/>
                  </a:lnTo>
                  <a:close/>
                </a:path>
              </a:pathLst>
            </a:custGeom>
            <a:solidFill>
              <a:srgbClr val="0D1B3E"/>
            </a:solidFill>
          </p:spPr>
        </p:sp>
      </p:grpSp>
      <p:grpSp>
        <p:nvGrpSpPr>
          <p:cNvPr name="Group 74" id="74"/>
          <p:cNvGrpSpPr/>
          <p:nvPr/>
        </p:nvGrpSpPr>
        <p:grpSpPr>
          <a:xfrm rot="0">
            <a:off x="1060704" y="5669280"/>
            <a:ext cx="2011680" cy="365760"/>
            <a:chOff x="0" y="0"/>
            <a:chExt cx="2682240" cy="487680"/>
          </a:xfrm>
        </p:grpSpPr>
        <p:sp>
          <p:nvSpPr>
            <p:cNvPr name="Freeform 75" id="75"/>
            <p:cNvSpPr/>
            <p:nvPr/>
          </p:nvSpPr>
          <p:spPr>
            <a:xfrm flipH="false" flipV="false" rot="0">
              <a:off x="0" y="0"/>
              <a:ext cx="2682240" cy="487680"/>
            </a:xfrm>
            <a:custGeom>
              <a:avLst/>
              <a:gdLst/>
              <a:ahLst/>
              <a:cxnLst/>
              <a:rect r="r" b="b" t="t" l="l"/>
              <a:pathLst>
                <a:path h="487680" w="2682240">
                  <a:moveTo>
                    <a:pt x="0" y="0"/>
                  </a:moveTo>
                  <a:lnTo>
                    <a:pt x="2682240" y="0"/>
                  </a:lnTo>
                  <a:lnTo>
                    <a:pt x="2682240" y="487680"/>
                  </a:lnTo>
                  <a:lnTo>
                    <a:pt x="0" y="487680"/>
                  </a:lnTo>
                  <a:close/>
                </a:path>
              </a:pathLst>
            </a:custGeom>
            <a:blipFill>
              <a:blip r:embed="rId3">
                <a:alphaModFix amt="0"/>
              </a:blip>
              <a:stretch>
                <a:fillRect l="0" t="-57167" r="0" b="-57167"/>
              </a:stretch>
            </a:blipFill>
          </p:spPr>
        </p:sp>
        <p:sp>
          <p:nvSpPr>
            <p:cNvPr name="TextBox 76" id="76"/>
            <p:cNvSpPr txBox="true"/>
            <p:nvPr/>
          </p:nvSpPr>
          <p:spPr>
            <a:xfrm>
              <a:off x="0" y="-28575"/>
              <a:ext cx="2682240" cy="516255"/>
            </a:xfrm>
            <a:prstGeom prst="rect">
              <a:avLst/>
            </a:prstGeom>
          </p:spPr>
          <p:txBody>
            <a:bodyPr anchor="ctr" rtlCol="false" tIns="0" lIns="0" bIns="0" rIns="0"/>
            <a:lstStyle/>
            <a:p>
              <a:pPr algn="ctr">
                <a:lnSpc>
                  <a:spcPts val="1679"/>
                </a:lnSpc>
              </a:pPr>
              <a:r>
                <a:rPr lang="en-US" sz="1399" b="true">
                  <a:solidFill>
                    <a:srgbClr val="FFFFFF"/>
                  </a:solidFill>
                  <a:latin typeface="Calibri (MS) Bold"/>
                  <a:ea typeface="Calibri (MS) Bold"/>
                  <a:cs typeface="Calibri (MS) Bold"/>
                  <a:sym typeface="Calibri (MS) Bold"/>
                </a:rPr>
                <a:t>DEEP LEARNING</a:t>
              </a:r>
            </a:p>
          </p:txBody>
        </p:sp>
      </p:grpSp>
      <p:grpSp>
        <p:nvGrpSpPr>
          <p:cNvPr name="Group 77" id="77"/>
          <p:cNvGrpSpPr/>
          <p:nvPr/>
        </p:nvGrpSpPr>
        <p:grpSpPr>
          <a:xfrm rot="0">
            <a:off x="3255264" y="5614416"/>
            <a:ext cx="4572000" cy="548640"/>
            <a:chOff x="0" y="0"/>
            <a:chExt cx="6096000" cy="731520"/>
          </a:xfrm>
        </p:grpSpPr>
        <p:sp>
          <p:nvSpPr>
            <p:cNvPr name="Freeform 78" id="78"/>
            <p:cNvSpPr/>
            <p:nvPr/>
          </p:nvSpPr>
          <p:spPr>
            <a:xfrm flipH="false" flipV="false" rot="0">
              <a:off x="0" y="0"/>
              <a:ext cx="6096000" cy="731520"/>
            </a:xfrm>
            <a:custGeom>
              <a:avLst/>
              <a:gdLst/>
              <a:ahLst/>
              <a:cxnLst/>
              <a:rect r="r" b="b" t="t" l="l"/>
              <a:pathLst>
                <a:path h="731520" w="6096000">
                  <a:moveTo>
                    <a:pt x="0" y="0"/>
                  </a:moveTo>
                  <a:lnTo>
                    <a:pt x="6096000" y="0"/>
                  </a:lnTo>
                  <a:lnTo>
                    <a:pt x="6096000" y="731520"/>
                  </a:lnTo>
                  <a:lnTo>
                    <a:pt x="0" y="731520"/>
                  </a:lnTo>
                  <a:close/>
                </a:path>
              </a:pathLst>
            </a:custGeom>
            <a:blipFill>
              <a:blip r:embed="rId3">
                <a:alphaModFix amt="0"/>
              </a:blip>
              <a:stretch>
                <a:fillRect l="0" t="-112375" r="0" b="-112375"/>
              </a:stretch>
            </a:blipFill>
          </p:spPr>
        </p:sp>
        <p:sp>
          <p:nvSpPr>
            <p:cNvPr name="TextBox 79" id="79"/>
            <p:cNvSpPr txBox="true"/>
            <p:nvPr/>
          </p:nvSpPr>
          <p:spPr>
            <a:xfrm>
              <a:off x="0" y="-38100"/>
              <a:ext cx="6096000" cy="769620"/>
            </a:xfrm>
            <a:prstGeom prst="rect">
              <a:avLst/>
            </a:prstGeom>
          </p:spPr>
          <p:txBody>
            <a:bodyPr anchor="ctr" rtlCol="false" tIns="0" lIns="0" bIns="0" rIns="0"/>
            <a:lstStyle/>
            <a:p>
              <a:pPr algn="l">
                <a:lnSpc>
                  <a:spcPts val="2879"/>
                </a:lnSpc>
              </a:pPr>
              <a:r>
                <a:rPr lang="en-US" sz="2400" b="true">
                  <a:solidFill>
                    <a:srgbClr val="1E293B"/>
                  </a:solidFill>
                  <a:latin typeface="Calibri (MS) Bold"/>
                  <a:ea typeface="Calibri (MS) Bold"/>
                  <a:cs typeface="Calibri (MS) Bold"/>
                  <a:sym typeface="Calibri (MS) Bold"/>
                </a:rPr>
                <a:t>CNN + LSTM</a:t>
              </a:r>
            </a:p>
          </p:txBody>
        </p:sp>
      </p:grpSp>
      <p:grpSp>
        <p:nvGrpSpPr>
          <p:cNvPr name="Group 80" id="80"/>
          <p:cNvGrpSpPr/>
          <p:nvPr/>
        </p:nvGrpSpPr>
        <p:grpSpPr>
          <a:xfrm rot="0">
            <a:off x="3255264" y="6217920"/>
            <a:ext cx="6400800" cy="548640"/>
            <a:chOff x="0" y="0"/>
            <a:chExt cx="8534400" cy="731520"/>
          </a:xfrm>
        </p:grpSpPr>
        <p:sp>
          <p:nvSpPr>
            <p:cNvPr name="Freeform 81" id="81"/>
            <p:cNvSpPr/>
            <p:nvPr/>
          </p:nvSpPr>
          <p:spPr>
            <a:xfrm flipH="false" flipV="false" rot="0">
              <a:off x="0" y="0"/>
              <a:ext cx="8534400" cy="731520"/>
            </a:xfrm>
            <a:custGeom>
              <a:avLst/>
              <a:gdLst/>
              <a:ahLst/>
              <a:cxnLst/>
              <a:rect r="r" b="b" t="t" l="l"/>
              <a:pathLst>
                <a:path h="731520" w="8534400">
                  <a:moveTo>
                    <a:pt x="0" y="0"/>
                  </a:moveTo>
                  <a:lnTo>
                    <a:pt x="8534400" y="0"/>
                  </a:lnTo>
                  <a:lnTo>
                    <a:pt x="8534400" y="731520"/>
                  </a:lnTo>
                  <a:lnTo>
                    <a:pt x="0" y="731520"/>
                  </a:lnTo>
                  <a:close/>
                </a:path>
              </a:pathLst>
            </a:custGeom>
            <a:blipFill>
              <a:blip r:embed="rId3">
                <a:alphaModFix amt="0"/>
              </a:blip>
              <a:stretch>
                <a:fillRect l="0" t="-177325" r="0" b="-177325"/>
              </a:stretch>
            </a:blipFill>
          </p:spPr>
        </p:sp>
        <p:sp>
          <p:nvSpPr>
            <p:cNvPr name="TextBox 82" id="82"/>
            <p:cNvSpPr txBox="true"/>
            <p:nvPr/>
          </p:nvSpPr>
          <p:spPr>
            <a:xfrm>
              <a:off x="0" y="-38100"/>
              <a:ext cx="8534400" cy="769620"/>
            </a:xfrm>
            <a:prstGeom prst="rect">
              <a:avLst/>
            </a:prstGeom>
          </p:spPr>
          <p:txBody>
            <a:bodyPr anchor="ctr" rtlCol="false" tIns="0" lIns="0" bIns="0" rIns="0"/>
            <a:lstStyle/>
            <a:p>
              <a:pPr algn="l">
                <a:lnSpc>
                  <a:spcPts val="2400"/>
                </a:lnSpc>
              </a:pPr>
              <a:r>
                <a:rPr lang="en-US" sz="2000">
                  <a:solidFill>
                    <a:srgbClr val="94A3B8"/>
                  </a:solidFill>
                  <a:latin typeface="Calibri (MS)"/>
                  <a:ea typeface="Calibri (MS)"/>
                  <a:cs typeface="Calibri (MS)"/>
                  <a:sym typeface="Calibri (MS)"/>
                </a:rPr>
                <a:t>Convolutional Neural Network encodes the image; Long Short-Term Memory network decodes to text.</a:t>
              </a:r>
            </a:p>
          </p:txBody>
        </p:sp>
      </p:grpSp>
      <p:grpSp>
        <p:nvGrpSpPr>
          <p:cNvPr name="Group 83" id="83"/>
          <p:cNvGrpSpPr/>
          <p:nvPr/>
        </p:nvGrpSpPr>
        <p:grpSpPr>
          <a:xfrm rot="0">
            <a:off x="9960607" y="5699503"/>
            <a:ext cx="12697" cy="1018537"/>
            <a:chOff x="0" y="0"/>
            <a:chExt cx="16929" cy="1358049"/>
          </a:xfrm>
        </p:grpSpPr>
        <p:sp>
          <p:nvSpPr>
            <p:cNvPr name="Freeform 84" id="84"/>
            <p:cNvSpPr/>
            <p:nvPr/>
          </p:nvSpPr>
          <p:spPr>
            <a:xfrm flipH="false" flipV="false" rot="0">
              <a:off x="0" y="8509"/>
              <a:ext cx="16891" cy="1341120"/>
            </a:xfrm>
            <a:custGeom>
              <a:avLst/>
              <a:gdLst/>
              <a:ahLst/>
              <a:cxnLst/>
              <a:rect r="r" b="b" t="t" l="l"/>
              <a:pathLst>
                <a:path h="1341120" w="16891">
                  <a:moveTo>
                    <a:pt x="16891" y="0"/>
                  </a:moveTo>
                  <a:lnTo>
                    <a:pt x="16891" y="1341120"/>
                  </a:lnTo>
                  <a:lnTo>
                    <a:pt x="0" y="1341120"/>
                  </a:lnTo>
                  <a:lnTo>
                    <a:pt x="0" y="0"/>
                  </a:lnTo>
                  <a:close/>
                </a:path>
              </a:pathLst>
            </a:custGeom>
            <a:solidFill>
              <a:srgbClr val="E2E8F0"/>
            </a:solidFill>
          </p:spPr>
        </p:sp>
      </p:grpSp>
      <p:grpSp>
        <p:nvGrpSpPr>
          <p:cNvPr name="Group 85" id="85"/>
          <p:cNvGrpSpPr/>
          <p:nvPr/>
        </p:nvGrpSpPr>
        <p:grpSpPr>
          <a:xfrm rot="0">
            <a:off x="10149840" y="5669280"/>
            <a:ext cx="2560320" cy="402336"/>
            <a:chOff x="0" y="0"/>
            <a:chExt cx="3413760" cy="536448"/>
          </a:xfrm>
        </p:grpSpPr>
        <p:sp>
          <p:nvSpPr>
            <p:cNvPr name="Freeform 86" id="86"/>
            <p:cNvSpPr/>
            <p:nvPr/>
          </p:nvSpPr>
          <p:spPr>
            <a:xfrm flipH="false" flipV="false" rot="0">
              <a:off x="0" y="0"/>
              <a:ext cx="3413760" cy="536448"/>
            </a:xfrm>
            <a:custGeom>
              <a:avLst/>
              <a:gdLst/>
              <a:ahLst/>
              <a:cxnLst/>
              <a:rect r="r" b="b" t="t" l="l"/>
              <a:pathLst>
                <a:path h="536448" w="3413760">
                  <a:moveTo>
                    <a:pt x="0" y="0"/>
                  </a:moveTo>
                  <a:lnTo>
                    <a:pt x="3413760" y="0"/>
                  </a:lnTo>
                  <a:lnTo>
                    <a:pt x="3413760" y="536448"/>
                  </a:lnTo>
                  <a:lnTo>
                    <a:pt x="0" y="536448"/>
                  </a:lnTo>
                  <a:close/>
                </a:path>
              </a:pathLst>
            </a:custGeom>
            <a:blipFill>
              <a:blip r:embed="rId3">
                <a:alphaModFix amt="0"/>
              </a:blip>
              <a:stretch>
                <a:fillRect l="0" t="-73995" r="0" b="-73995"/>
              </a:stretch>
            </a:blipFill>
          </p:spPr>
        </p:sp>
        <p:sp>
          <p:nvSpPr>
            <p:cNvPr name="TextBox 87" id="87"/>
            <p:cNvSpPr txBox="true"/>
            <p:nvPr/>
          </p:nvSpPr>
          <p:spPr>
            <a:xfrm>
              <a:off x="0" y="-38100"/>
              <a:ext cx="3413760" cy="574548"/>
            </a:xfrm>
            <a:prstGeom prst="rect">
              <a:avLst/>
            </a:prstGeom>
          </p:spPr>
          <p:txBody>
            <a:bodyPr anchor="ctr" rtlCol="false" tIns="0" lIns="0" bIns="0" rIns="0"/>
            <a:lstStyle/>
            <a:p>
              <a:pPr algn="l">
                <a:lnSpc>
                  <a:spcPts val="2160"/>
                </a:lnSpc>
              </a:pPr>
              <a:r>
                <a:rPr lang="en-US" sz="1800" b="true">
                  <a:solidFill>
                    <a:srgbClr val="E05B4B"/>
                  </a:solidFill>
                  <a:latin typeface="Calibri (MS) Bold"/>
                  <a:ea typeface="Calibri (MS) Bold"/>
                  <a:cs typeface="Calibri (MS) Bold"/>
                  <a:sym typeface="Calibri (MS) Bold"/>
                </a:rPr>
                <a:t>⚠  Limitation</a:t>
              </a:r>
            </a:p>
          </p:txBody>
        </p:sp>
      </p:grpSp>
      <p:grpSp>
        <p:nvGrpSpPr>
          <p:cNvPr name="Group 88" id="88"/>
          <p:cNvGrpSpPr/>
          <p:nvPr/>
        </p:nvGrpSpPr>
        <p:grpSpPr>
          <a:xfrm rot="0">
            <a:off x="10149840" y="6071616"/>
            <a:ext cx="7132320" cy="694944"/>
            <a:chOff x="0" y="0"/>
            <a:chExt cx="9509760" cy="926592"/>
          </a:xfrm>
        </p:grpSpPr>
        <p:sp>
          <p:nvSpPr>
            <p:cNvPr name="Freeform 89" id="89"/>
            <p:cNvSpPr/>
            <p:nvPr/>
          </p:nvSpPr>
          <p:spPr>
            <a:xfrm flipH="false" flipV="false" rot="0">
              <a:off x="0" y="0"/>
              <a:ext cx="9509760" cy="926592"/>
            </a:xfrm>
            <a:custGeom>
              <a:avLst/>
              <a:gdLst/>
              <a:ahLst/>
              <a:cxnLst/>
              <a:rect r="r" b="b" t="t" l="l"/>
              <a:pathLst>
                <a:path h="926592" w="9509760">
                  <a:moveTo>
                    <a:pt x="0" y="0"/>
                  </a:moveTo>
                  <a:lnTo>
                    <a:pt x="9509760" y="0"/>
                  </a:lnTo>
                  <a:lnTo>
                    <a:pt x="9509760" y="926592"/>
                  </a:lnTo>
                  <a:lnTo>
                    <a:pt x="0" y="926592"/>
                  </a:lnTo>
                  <a:close/>
                </a:path>
              </a:pathLst>
            </a:custGeom>
            <a:blipFill>
              <a:blip r:embed="rId3">
                <a:alphaModFix amt="0"/>
              </a:blip>
              <a:stretch>
                <a:fillRect l="0" t="-149978" r="0" b="-149978"/>
              </a:stretch>
            </a:blipFill>
          </p:spPr>
        </p:sp>
        <p:sp>
          <p:nvSpPr>
            <p:cNvPr name="TextBox 90" id="90"/>
            <p:cNvSpPr txBox="true"/>
            <p:nvPr/>
          </p:nvSpPr>
          <p:spPr>
            <a:xfrm>
              <a:off x="0" y="-38100"/>
              <a:ext cx="9509760" cy="964692"/>
            </a:xfrm>
            <a:prstGeom prst="rect">
              <a:avLst/>
            </a:prstGeom>
          </p:spPr>
          <p:txBody>
            <a:bodyPr anchor="ctr" rtlCol="false" tIns="0" lIns="0" bIns="0" rIns="0"/>
            <a:lstStyle/>
            <a:p>
              <a:pPr algn="l">
                <a:lnSpc>
                  <a:spcPts val="2400"/>
                </a:lnSpc>
              </a:pPr>
              <a:r>
                <a:rPr lang="en-US" sz="2000">
                  <a:solidFill>
                    <a:srgbClr val="1E293B"/>
                  </a:solidFill>
                  <a:latin typeface="Calibri (MS)"/>
                  <a:ea typeface="Calibri (MS)"/>
                  <a:cs typeface="Calibri (MS)"/>
                  <a:sym typeface="Calibri (MS)"/>
                </a:rPr>
                <a:t>Single-scale features; no spatial relationship modeling.</a:t>
              </a:r>
            </a:p>
          </p:txBody>
        </p:sp>
      </p:grpSp>
      <p:grpSp>
        <p:nvGrpSpPr>
          <p:cNvPr name="Group 91" id="91"/>
          <p:cNvGrpSpPr/>
          <p:nvPr/>
        </p:nvGrpSpPr>
        <p:grpSpPr>
          <a:xfrm rot="0">
            <a:off x="725167" y="7016239"/>
            <a:ext cx="16837657" cy="1366009"/>
            <a:chOff x="0" y="0"/>
            <a:chExt cx="22450209" cy="1821345"/>
          </a:xfrm>
        </p:grpSpPr>
        <p:sp>
          <p:nvSpPr>
            <p:cNvPr name="Freeform 92" id="92"/>
            <p:cNvSpPr/>
            <p:nvPr/>
          </p:nvSpPr>
          <p:spPr>
            <a:xfrm flipH="false" flipV="false" rot="0">
              <a:off x="8509" y="8509"/>
              <a:ext cx="22433281" cy="1804416"/>
            </a:xfrm>
            <a:custGeom>
              <a:avLst/>
              <a:gdLst/>
              <a:ahLst/>
              <a:cxnLst/>
              <a:rect r="r" b="b" t="t" l="l"/>
              <a:pathLst>
                <a:path h="1804416" w="22433281">
                  <a:moveTo>
                    <a:pt x="0" y="0"/>
                  </a:moveTo>
                  <a:lnTo>
                    <a:pt x="22433281" y="0"/>
                  </a:lnTo>
                  <a:lnTo>
                    <a:pt x="22433281" y="1804416"/>
                  </a:lnTo>
                  <a:lnTo>
                    <a:pt x="0" y="1804416"/>
                  </a:lnTo>
                  <a:close/>
                </a:path>
              </a:pathLst>
            </a:custGeom>
            <a:solidFill>
              <a:srgbClr val="FFFFFF"/>
            </a:solidFill>
          </p:spPr>
        </p:sp>
        <p:sp>
          <p:nvSpPr>
            <p:cNvPr name="Freeform 93" id="93"/>
            <p:cNvSpPr/>
            <p:nvPr/>
          </p:nvSpPr>
          <p:spPr>
            <a:xfrm flipH="false" flipV="false" rot="0">
              <a:off x="0" y="0"/>
              <a:ext cx="22450298" cy="1821434"/>
            </a:xfrm>
            <a:custGeom>
              <a:avLst/>
              <a:gdLst/>
              <a:ahLst/>
              <a:cxnLst/>
              <a:rect r="r" b="b" t="t" l="l"/>
              <a:pathLst>
                <a:path h="1821434" w="22450298">
                  <a:moveTo>
                    <a:pt x="8509" y="0"/>
                  </a:moveTo>
                  <a:lnTo>
                    <a:pt x="22441790" y="0"/>
                  </a:lnTo>
                  <a:cubicBezTo>
                    <a:pt x="22446489" y="0"/>
                    <a:pt x="22450298" y="3810"/>
                    <a:pt x="22450298" y="8509"/>
                  </a:cubicBezTo>
                  <a:lnTo>
                    <a:pt x="22450298" y="1812925"/>
                  </a:lnTo>
                  <a:cubicBezTo>
                    <a:pt x="22450298" y="1817624"/>
                    <a:pt x="22446489" y="1821434"/>
                    <a:pt x="22441790" y="1821434"/>
                  </a:cubicBezTo>
                  <a:lnTo>
                    <a:pt x="8509" y="1821434"/>
                  </a:lnTo>
                  <a:cubicBezTo>
                    <a:pt x="3810" y="1821434"/>
                    <a:pt x="0" y="1817624"/>
                    <a:pt x="0" y="1812925"/>
                  </a:cubicBezTo>
                  <a:lnTo>
                    <a:pt x="0" y="8509"/>
                  </a:lnTo>
                  <a:cubicBezTo>
                    <a:pt x="0" y="3810"/>
                    <a:pt x="3810" y="0"/>
                    <a:pt x="8509" y="0"/>
                  </a:cubicBezTo>
                  <a:moveTo>
                    <a:pt x="8509" y="16891"/>
                  </a:moveTo>
                  <a:lnTo>
                    <a:pt x="8509" y="8509"/>
                  </a:lnTo>
                  <a:lnTo>
                    <a:pt x="17018" y="8509"/>
                  </a:lnTo>
                  <a:lnTo>
                    <a:pt x="17018" y="1812925"/>
                  </a:lnTo>
                  <a:lnTo>
                    <a:pt x="8509" y="1812925"/>
                  </a:lnTo>
                  <a:lnTo>
                    <a:pt x="8509" y="1804416"/>
                  </a:lnTo>
                  <a:lnTo>
                    <a:pt x="22441790" y="1804416"/>
                  </a:lnTo>
                  <a:lnTo>
                    <a:pt x="22441790" y="1812925"/>
                  </a:lnTo>
                  <a:lnTo>
                    <a:pt x="22433280" y="1812925"/>
                  </a:lnTo>
                  <a:lnTo>
                    <a:pt x="22433280" y="8509"/>
                  </a:lnTo>
                  <a:lnTo>
                    <a:pt x="22441790" y="8509"/>
                  </a:lnTo>
                  <a:lnTo>
                    <a:pt x="22441790" y="17018"/>
                  </a:lnTo>
                  <a:lnTo>
                    <a:pt x="8509" y="17018"/>
                  </a:lnTo>
                  <a:close/>
                </a:path>
              </a:pathLst>
            </a:custGeom>
            <a:solidFill>
              <a:srgbClr val="E2E8F0"/>
            </a:solidFill>
          </p:spPr>
        </p:sp>
      </p:grpSp>
      <p:grpSp>
        <p:nvGrpSpPr>
          <p:cNvPr name="Group 94" id="94"/>
          <p:cNvGrpSpPr/>
          <p:nvPr/>
        </p:nvGrpSpPr>
        <p:grpSpPr>
          <a:xfrm rot="0">
            <a:off x="718823" y="7009895"/>
            <a:ext cx="135131" cy="1378715"/>
            <a:chOff x="0" y="0"/>
            <a:chExt cx="180175" cy="1838287"/>
          </a:xfrm>
        </p:grpSpPr>
        <p:sp>
          <p:nvSpPr>
            <p:cNvPr name="Freeform 95" id="95"/>
            <p:cNvSpPr/>
            <p:nvPr/>
          </p:nvSpPr>
          <p:spPr>
            <a:xfrm flipH="false" flipV="false" rot="0">
              <a:off x="16891" y="16891"/>
              <a:ext cx="146304" cy="1804416"/>
            </a:xfrm>
            <a:custGeom>
              <a:avLst/>
              <a:gdLst/>
              <a:ahLst/>
              <a:cxnLst/>
              <a:rect r="r" b="b" t="t" l="l"/>
              <a:pathLst>
                <a:path h="1804416" w="146304">
                  <a:moveTo>
                    <a:pt x="0" y="0"/>
                  </a:moveTo>
                  <a:lnTo>
                    <a:pt x="146304" y="0"/>
                  </a:lnTo>
                  <a:lnTo>
                    <a:pt x="146304" y="1804416"/>
                  </a:lnTo>
                  <a:lnTo>
                    <a:pt x="0" y="1804416"/>
                  </a:lnTo>
                  <a:close/>
                </a:path>
              </a:pathLst>
            </a:custGeom>
            <a:solidFill>
              <a:srgbClr val="6D28D9"/>
            </a:solidFill>
          </p:spPr>
        </p:sp>
        <p:sp>
          <p:nvSpPr>
            <p:cNvPr name="Freeform 96" id="96"/>
            <p:cNvSpPr/>
            <p:nvPr/>
          </p:nvSpPr>
          <p:spPr>
            <a:xfrm flipH="false" flipV="false" rot="0">
              <a:off x="0" y="0"/>
              <a:ext cx="180086" cy="1838198"/>
            </a:xfrm>
            <a:custGeom>
              <a:avLst/>
              <a:gdLst/>
              <a:ahLst/>
              <a:cxnLst/>
              <a:rect r="r" b="b" t="t" l="l"/>
              <a:pathLst>
                <a:path h="1838198" w="180086">
                  <a:moveTo>
                    <a:pt x="16891" y="0"/>
                  </a:moveTo>
                  <a:lnTo>
                    <a:pt x="163195" y="0"/>
                  </a:lnTo>
                  <a:cubicBezTo>
                    <a:pt x="172593" y="0"/>
                    <a:pt x="180086" y="7620"/>
                    <a:pt x="180086" y="16891"/>
                  </a:cubicBezTo>
                  <a:lnTo>
                    <a:pt x="180086" y="1821307"/>
                  </a:lnTo>
                  <a:cubicBezTo>
                    <a:pt x="180086" y="1830705"/>
                    <a:pt x="172466" y="1838198"/>
                    <a:pt x="163195" y="1838198"/>
                  </a:cubicBezTo>
                  <a:lnTo>
                    <a:pt x="16891" y="1838198"/>
                  </a:lnTo>
                  <a:cubicBezTo>
                    <a:pt x="7493" y="1838198"/>
                    <a:pt x="0" y="1830578"/>
                    <a:pt x="0" y="1821307"/>
                  </a:cubicBezTo>
                  <a:lnTo>
                    <a:pt x="0" y="16891"/>
                  </a:lnTo>
                  <a:cubicBezTo>
                    <a:pt x="0" y="7620"/>
                    <a:pt x="7620" y="0"/>
                    <a:pt x="16891" y="0"/>
                  </a:cubicBezTo>
                  <a:moveTo>
                    <a:pt x="16891" y="33909"/>
                  </a:moveTo>
                  <a:lnTo>
                    <a:pt x="16891" y="16891"/>
                  </a:lnTo>
                  <a:lnTo>
                    <a:pt x="33909" y="16891"/>
                  </a:lnTo>
                  <a:lnTo>
                    <a:pt x="33909" y="1821307"/>
                  </a:lnTo>
                  <a:lnTo>
                    <a:pt x="16891" y="1821307"/>
                  </a:lnTo>
                  <a:lnTo>
                    <a:pt x="16891" y="1804416"/>
                  </a:lnTo>
                  <a:lnTo>
                    <a:pt x="163195" y="1804416"/>
                  </a:lnTo>
                  <a:lnTo>
                    <a:pt x="163195" y="1821307"/>
                  </a:lnTo>
                  <a:lnTo>
                    <a:pt x="146304" y="1821307"/>
                  </a:lnTo>
                  <a:lnTo>
                    <a:pt x="146304" y="16891"/>
                  </a:lnTo>
                  <a:lnTo>
                    <a:pt x="163195" y="16891"/>
                  </a:lnTo>
                  <a:lnTo>
                    <a:pt x="163195" y="33909"/>
                  </a:lnTo>
                  <a:lnTo>
                    <a:pt x="16891" y="33909"/>
                  </a:lnTo>
                  <a:close/>
                </a:path>
              </a:pathLst>
            </a:custGeom>
            <a:solidFill>
              <a:srgbClr val="6D28D9"/>
            </a:solidFill>
          </p:spPr>
        </p:sp>
      </p:grpSp>
      <p:grpSp>
        <p:nvGrpSpPr>
          <p:cNvPr name="Group 97" id="97"/>
          <p:cNvGrpSpPr/>
          <p:nvPr/>
        </p:nvGrpSpPr>
        <p:grpSpPr>
          <a:xfrm rot="0">
            <a:off x="1048007" y="7156199"/>
            <a:ext cx="2037083" cy="391163"/>
            <a:chOff x="0" y="0"/>
            <a:chExt cx="2716111" cy="521551"/>
          </a:xfrm>
        </p:grpSpPr>
        <p:sp>
          <p:nvSpPr>
            <p:cNvPr name="Freeform 98" id="98"/>
            <p:cNvSpPr/>
            <p:nvPr/>
          </p:nvSpPr>
          <p:spPr>
            <a:xfrm flipH="false" flipV="false" rot="0">
              <a:off x="16891" y="16891"/>
              <a:ext cx="2682240" cy="487680"/>
            </a:xfrm>
            <a:custGeom>
              <a:avLst/>
              <a:gdLst/>
              <a:ahLst/>
              <a:cxnLst/>
              <a:rect r="r" b="b" t="t" l="l"/>
              <a:pathLst>
                <a:path h="487680" w="2682240">
                  <a:moveTo>
                    <a:pt x="0" y="0"/>
                  </a:moveTo>
                  <a:lnTo>
                    <a:pt x="2682240" y="0"/>
                  </a:lnTo>
                  <a:lnTo>
                    <a:pt x="2682240" y="487680"/>
                  </a:lnTo>
                  <a:lnTo>
                    <a:pt x="0" y="487680"/>
                  </a:lnTo>
                  <a:close/>
                </a:path>
              </a:pathLst>
            </a:custGeom>
            <a:solidFill>
              <a:srgbClr val="0D1B3E">
                <a:alpha val="35686"/>
              </a:srgbClr>
            </a:solidFill>
          </p:spPr>
        </p:sp>
        <p:sp>
          <p:nvSpPr>
            <p:cNvPr name="Freeform 99" id="99"/>
            <p:cNvSpPr/>
            <p:nvPr/>
          </p:nvSpPr>
          <p:spPr>
            <a:xfrm flipH="false" flipV="false" rot="0">
              <a:off x="0" y="0"/>
              <a:ext cx="2716022" cy="521464"/>
            </a:xfrm>
            <a:custGeom>
              <a:avLst/>
              <a:gdLst/>
              <a:ahLst/>
              <a:cxnLst/>
              <a:rect r="r" b="b" t="t" l="l"/>
              <a:pathLst>
                <a:path h="521464" w="2716022">
                  <a:moveTo>
                    <a:pt x="16891" y="0"/>
                  </a:moveTo>
                  <a:lnTo>
                    <a:pt x="2699131" y="0"/>
                  </a:lnTo>
                  <a:cubicBezTo>
                    <a:pt x="2708529" y="0"/>
                    <a:pt x="2716022" y="7620"/>
                    <a:pt x="2716022" y="16891"/>
                  </a:cubicBezTo>
                  <a:lnTo>
                    <a:pt x="2716022" y="504571"/>
                  </a:lnTo>
                  <a:cubicBezTo>
                    <a:pt x="2716022" y="513969"/>
                    <a:pt x="2708402" y="521462"/>
                    <a:pt x="2699131" y="521462"/>
                  </a:cubicBezTo>
                  <a:lnTo>
                    <a:pt x="16891" y="521462"/>
                  </a:lnTo>
                  <a:cubicBezTo>
                    <a:pt x="7620" y="521589"/>
                    <a:pt x="0" y="513969"/>
                    <a:pt x="0" y="504571"/>
                  </a:cubicBezTo>
                  <a:lnTo>
                    <a:pt x="0" y="16891"/>
                  </a:lnTo>
                  <a:cubicBezTo>
                    <a:pt x="0" y="7620"/>
                    <a:pt x="7620" y="0"/>
                    <a:pt x="16891" y="0"/>
                  </a:cubicBezTo>
                  <a:moveTo>
                    <a:pt x="16891" y="33909"/>
                  </a:moveTo>
                  <a:lnTo>
                    <a:pt x="16891" y="16891"/>
                  </a:lnTo>
                  <a:lnTo>
                    <a:pt x="33909" y="16891"/>
                  </a:lnTo>
                  <a:lnTo>
                    <a:pt x="33909" y="504571"/>
                  </a:lnTo>
                  <a:lnTo>
                    <a:pt x="16891" y="504571"/>
                  </a:lnTo>
                  <a:lnTo>
                    <a:pt x="16891" y="487680"/>
                  </a:lnTo>
                  <a:lnTo>
                    <a:pt x="2699131" y="487680"/>
                  </a:lnTo>
                  <a:lnTo>
                    <a:pt x="2699131" y="504571"/>
                  </a:lnTo>
                  <a:lnTo>
                    <a:pt x="2682240" y="504571"/>
                  </a:lnTo>
                  <a:lnTo>
                    <a:pt x="2682240" y="16891"/>
                  </a:lnTo>
                  <a:lnTo>
                    <a:pt x="2699131" y="16891"/>
                  </a:lnTo>
                  <a:lnTo>
                    <a:pt x="2699131" y="33909"/>
                  </a:lnTo>
                  <a:lnTo>
                    <a:pt x="16891" y="33909"/>
                  </a:lnTo>
                  <a:close/>
                </a:path>
              </a:pathLst>
            </a:custGeom>
            <a:solidFill>
              <a:srgbClr val="0D1B3E"/>
            </a:solidFill>
          </p:spPr>
        </p:sp>
      </p:grpSp>
      <p:grpSp>
        <p:nvGrpSpPr>
          <p:cNvPr name="Group 100" id="100"/>
          <p:cNvGrpSpPr/>
          <p:nvPr/>
        </p:nvGrpSpPr>
        <p:grpSpPr>
          <a:xfrm rot="0">
            <a:off x="1060704" y="7168896"/>
            <a:ext cx="2011680" cy="365760"/>
            <a:chOff x="0" y="0"/>
            <a:chExt cx="2682240" cy="487680"/>
          </a:xfrm>
        </p:grpSpPr>
        <p:sp>
          <p:nvSpPr>
            <p:cNvPr name="Freeform 101" id="101"/>
            <p:cNvSpPr/>
            <p:nvPr/>
          </p:nvSpPr>
          <p:spPr>
            <a:xfrm flipH="false" flipV="false" rot="0">
              <a:off x="0" y="0"/>
              <a:ext cx="2682240" cy="487680"/>
            </a:xfrm>
            <a:custGeom>
              <a:avLst/>
              <a:gdLst/>
              <a:ahLst/>
              <a:cxnLst/>
              <a:rect r="r" b="b" t="t" l="l"/>
              <a:pathLst>
                <a:path h="487680" w="2682240">
                  <a:moveTo>
                    <a:pt x="0" y="0"/>
                  </a:moveTo>
                  <a:lnTo>
                    <a:pt x="2682240" y="0"/>
                  </a:lnTo>
                  <a:lnTo>
                    <a:pt x="2682240" y="487680"/>
                  </a:lnTo>
                  <a:lnTo>
                    <a:pt x="0" y="487680"/>
                  </a:lnTo>
                  <a:close/>
                </a:path>
              </a:pathLst>
            </a:custGeom>
            <a:blipFill>
              <a:blip r:embed="rId3">
                <a:alphaModFix amt="0"/>
              </a:blip>
              <a:stretch>
                <a:fillRect l="0" t="-57167" r="0" b="-57167"/>
              </a:stretch>
            </a:blipFill>
          </p:spPr>
        </p:sp>
        <p:sp>
          <p:nvSpPr>
            <p:cNvPr name="TextBox 102" id="102"/>
            <p:cNvSpPr txBox="true"/>
            <p:nvPr/>
          </p:nvSpPr>
          <p:spPr>
            <a:xfrm>
              <a:off x="0" y="-28575"/>
              <a:ext cx="2682240" cy="516255"/>
            </a:xfrm>
            <a:prstGeom prst="rect">
              <a:avLst/>
            </a:prstGeom>
          </p:spPr>
          <p:txBody>
            <a:bodyPr anchor="ctr" rtlCol="false" tIns="0" lIns="0" bIns="0" rIns="0"/>
            <a:lstStyle/>
            <a:p>
              <a:pPr algn="ctr">
                <a:lnSpc>
                  <a:spcPts val="1679"/>
                </a:lnSpc>
              </a:pPr>
              <a:r>
                <a:rPr lang="en-US" sz="1399" b="true">
                  <a:solidFill>
                    <a:srgbClr val="FFFFFF"/>
                  </a:solidFill>
                  <a:latin typeface="Calibri (MS) Bold"/>
                  <a:ea typeface="Calibri (MS) Bold"/>
                  <a:cs typeface="Calibri (MS) Bold"/>
                  <a:sym typeface="Calibri (MS) Bold"/>
                </a:rPr>
                <a:t>DEEP LEARNING</a:t>
              </a:r>
            </a:p>
          </p:txBody>
        </p:sp>
      </p:grpSp>
      <p:grpSp>
        <p:nvGrpSpPr>
          <p:cNvPr name="Group 103" id="103"/>
          <p:cNvGrpSpPr/>
          <p:nvPr/>
        </p:nvGrpSpPr>
        <p:grpSpPr>
          <a:xfrm rot="0">
            <a:off x="3255264" y="7114032"/>
            <a:ext cx="4572000" cy="548640"/>
            <a:chOff x="0" y="0"/>
            <a:chExt cx="6096000" cy="731520"/>
          </a:xfrm>
        </p:grpSpPr>
        <p:sp>
          <p:nvSpPr>
            <p:cNvPr name="Freeform 104" id="104"/>
            <p:cNvSpPr/>
            <p:nvPr/>
          </p:nvSpPr>
          <p:spPr>
            <a:xfrm flipH="false" flipV="false" rot="0">
              <a:off x="0" y="0"/>
              <a:ext cx="6096000" cy="731520"/>
            </a:xfrm>
            <a:custGeom>
              <a:avLst/>
              <a:gdLst/>
              <a:ahLst/>
              <a:cxnLst/>
              <a:rect r="r" b="b" t="t" l="l"/>
              <a:pathLst>
                <a:path h="731520" w="6096000">
                  <a:moveTo>
                    <a:pt x="0" y="0"/>
                  </a:moveTo>
                  <a:lnTo>
                    <a:pt x="6096000" y="0"/>
                  </a:lnTo>
                  <a:lnTo>
                    <a:pt x="6096000" y="731520"/>
                  </a:lnTo>
                  <a:lnTo>
                    <a:pt x="0" y="731520"/>
                  </a:lnTo>
                  <a:close/>
                </a:path>
              </a:pathLst>
            </a:custGeom>
            <a:blipFill>
              <a:blip r:embed="rId3">
                <a:alphaModFix amt="0"/>
              </a:blip>
              <a:stretch>
                <a:fillRect l="0" t="-112375" r="0" b="-112375"/>
              </a:stretch>
            </a:blipFill>
          </p:spPr>
        </p:sp>
        <p:sp>
          <p:nvSpPr>
            <p:cNvPr name="TextBox 105" id="105"/>
            <p:cNvSpPr txBox="true"/>
            <p:nvPr/>
          </p:nvSpPr>
          <p:spPr>
            <a:xfrm>
              <a:off x="0" y="-38100"/>
              <a:ext cx="6096000" cy="769620"/>
            </a:xfrm>
            <a:prstGeom prst="rect">
              <a:avLst/>
            </a:prstGeom>
          </p:spPr>
          <p:txBody>
            <a:bodyPr anchor="ctr" rtlCol="false" tIns="0" lIns="0" bIns="0" rIns="0"/>
            <a:lstStyle/>
            <a:p>
              <a:pPr algn="l">
                <a:lnSpc>
                  <a:spcPts val="2879"/>
                </a:lnSpc>
              </a:pPr>
              <a:r>
                <a:rPr lang="en-US" sz="2400" b="true">
                  <a:solidFill>
                    <a:srgbClr val="1E293B"/>
                  </a:solidFill>
                  <a:latin typeface="Calibri (MS) Bold"/>
                  <a:ea typeface="Calibri (MS) Bold"/>
                  <a:cs typeface="Calibri (MS) Bold"/>
                  <a:sym typeface="Calibri (MS) Bold"/>
                </a:rPr>
                <a:t>Vision Transformer (ViT)</a:t>
              </a:r>
            </a:p>
          </p:txBody>
        </p:sp>
      </p:grpSp>
      <p:grpSp>
        <p:nvGrpSpPr>
          <p:cNvPr name="Group 106" id="106"/>
          <p:cNvGrpSpPr/>
          <p:nvPr/>
        </p:nvGrpSpPr>
        <p:grpSpPr>
          <a:xfrm rot="0">
            <a:off x="3255264" y="7717536"/>
            <a:ext cx="6400800" cy="548640"/>
            <a:chOff x="0" y="0"/>
            <a:chExt cx="8534400" cy="731520"/>
          </a:xfrm>
        </p:grpSpPr>
        <p:sp>
          <p:nvSpPr>
            <p:cNvPr name="Freeform 107" id="107"/>
            <p:cNvSpPr/>
            <p:nvPr/>
          </p:nvSpPr>
          <p:spPr>
            <a:xfrm flipH="false" flipV="false" rot="0">
              <a:off x="0" y="0"/>
              <a:ext cx="8534400" cy="731520"/>
            </a:xfrm>
            <a:custGeom>
              <a:avLst/>
              <a:gdLst/>
              <a:ahLst/>
              <a:cxnLst/>
              <a:rect r="r" b="b" t="t" l="l"/>
              <a:pathLst>
                <a:path h="731520" w="8534400">
                  <a:moveTo>
                    <a:pt x="0" y="0"/>
                  </a:moveTo>
                  <a:lnTo>
                    <a:pt x="8534400" y="0"/>
                  </a:lnTo>
                  <a:lnTo>
                    <a:pt x="8534400" y="731520"/>
                  </a:lnTo>
                  <a:lnTo>
                    <a:pt x="0" y="731520"/>
                  </a:lnTo>
                  <a:close/>
                </a:path>
              </a:pathLst>
            </a:custGeom>
            <a:blipFill>
              <a:blip r:embed="rId3">
                <a:alphaModFix amt="0"/>
              </a:blip>
              <a:stretch>
                <a:fillRect l="0" t="-177325" r="0" b="-177325"/>
              </a:stretch>
            </a:blipFill>
          </p:spPr>
        </p:sp>
        <p:sp>
          <p:nvSpPr>
            <p:cNvPr name="TextBox 108" id="108"/>
            <p:cNvSpPr txBox="true"/>
            <p:nvPr/>
          </p:nvSpPr>
          <p:spPr>
            <a:xfrm>
              <a:off x="0" y="-38100"/>
              <a:ext cx="8534400" cy="769620"/>
            </a:xfrm>
            <a:prstGeom prst="rect">
              <a:avLst/>
            </a:prstGeom>
          </p:spPr>
          <p:txBody>
            <a:bodyPr anchor="ctr" rtlCol="false" tIns="0" lIns="0" bIns="0" rIns="0"/>
            <a:lstStyle/>
            <a:p>
              <a:pPr algn="l">
                <a:lnSpc>
                  <a:spcPts val="2400"/>
                </a:lnSpc>
              </a:pPr>
              <a:r>
                <a:rPr lang="en-US" sz="2000">
                  <a:solidFill>
                    <a:srgbClr val="94A3B8"/>
                  </a:solidFill>
                  <a:latin typeface="Calibri (MS)"/>
                  <a:ea typeface="Calibri (MS)"/>
                  <a:cs typeface="Calibri (MS)"/>
                  <a:sym typeface="Calibri (MS)"/>
                </a:rPr>
                <a:t>Flatten the 2-D feature map into a 1-D sequence, apply transformer self-attention.</a:t>
              </a:r>
            </a:p>
          </p:txBody>
        </p:sp>
      </p:grpSp>
      <p:grpSp>
        <p:nvGrpSpPr>
          <p:cNvPr name="Group 109" id="109"/>
          <p:cNvGrpSpPr/>
          <p:nvPr/>
        </p:nvGrpSpPr>
        <p:grpSpPr>
          <a:xfrm rot="0">
            <a:off x="9960607" y="7199119"/>
            <a:ext cx="12697" cy="1018537"/>
            <a:chOff x="0" y="0"/>
            <a:chExt cx="16929" cy="1358049"/>
          </a:xfrm>
        </p:grpSpPr>
        <p:sp>
          <p:nvSpPr>
            <p:cNvPr name="Freeform 110" id="110"/>
            <p:cNvSpPr/>
            <p:nvPr/>
          </p:nvSpPr>
          <p:spPr>
            <a:xfrm flipH="false" flipV="false" rot="0">
              <a:off x="0" y="8509"/>
              <a:ext cx="16891" cy="1341120"/>
            </a:xfrm>
            <a:custGeom>
              <a:avLst/>
              <a:gdLst/>
              <a:ahLst/>
              <a:cxnLst/>
              <a:rect r="r" b="b" t="t" l="l"/>
              <a:pathLst>
                <a:path h="1341120" w="16891">
                  <a:moveTo>
                    <a:pt x="16891" y="0"/>
                  </a:moveTo>
                  <a:lnTo>
                    <a:pt x="16891" y="1341120"/>
                  </a:lnTo>
                  <a:lnTo>
                    <a:pt x="0" y="1341120"/>
                  </a:lnTo>
                  <a:lnTo>
                    <a:pt x="0" y="0"/>
                  </a:lnTo>
                  <a:close/>
                </a:path>
              </a:pathLst>
            </a:custGeom>
            <a:solidFill>
              <a:srgbClr val="E2E8F0"/>
            </a:solidFill>
          </p:spPr>
        </p:sp>
      </p:grpSp>
      <p:grpSp>
        <p:nvGrpSpPr>
          <p:cNvPr name="Group 111" id="111"/>
          <p:cNvGrpSpPr/>
          <p:nvPr/>
        </p:nvGrpSpPr>
        <p:grpSpPr>
          <a:xfrm rot="0">
            <a:off x="10149840" y="7168896"/>
            <a:ext cx="2560320" cy="402336"/>
            <a:chOff x="0" y="0"/>
            <a:chExt cx="3413760" cy="536448"/>
          </a:xfrm>
        </p:grpSpPr>
        <p:sp>
          <p:nvSpPr>
            <p:cNvPr name="Freeform 112" id="112"/>
            <p:cNvSpPr/>
            <p:nvPr/>
          </p:nvSpPr>
          <p:spPr>
            <a:xfrm flipH="false" flipV="false" rot="0">
              <a:off x="0" y="0"/>
              <a:ext cx="3413760" cy="536448"/>
            </a:xfrm>
            <a:custGeom>
              <a:avLst/>
              <a:gdLst/>
              <a:ahLst/>
              <a:cxnLst/>
              <a:rect r="r" b="b" t="t" l="l"/>
              <a:pathLst>
                <a:path h="536448" w="3413760">
                  <a:moveTo>
                    <a:pt x="0" y="0"/>
                  </a:moveTo>
                  <a:lnTo>
                    <a:pt x="3413760" y="0"/>
                  </a:lnTo>
                  <a:lnTo>
                    <a:pt x="3413760" y="536448"/>
                  </a:lnTo>
                  <a:lnTo>
                    <a:pt x="0" y="536448"/>
                  </a:lnTo>
                  <a:close/>
                </a:path>
              </a:pathLst>
            </a:custGeom>
            <a:blipFill>
              <a:blip r:embed="rId3">
                <a:alphaModFix amt="0"/>
              </a:blip>
              <a:stretch>
                <a:fillRect l="0" t="-73995" r="0" b="-73995"/>
              </a:stretch>
            </a:blipFill>
          </p:spPr>
        </p:sp>
        <p:sp>
          <p:nvSpPr>
            <p:cNvPr name="TextBox 113" id="113"/>
            <p:cNvSpPr txBox="true"/>
            <p:nvPr/>
          </p:nvSpPr>
          <p:spPr>
            <a:xfrm>
              <a:off x="0" y="-38100"/>
              <a:ext cx="3413760" cy="574548"/>
            </a:xfrm>
            <a:prstGeom prst="rect">
              <a:avLst/>
            </a:prstGeom>
          </p:spPr>
          <p:txBody>
            <a:bodyPr anchor="ctr" rtlCol="false" tIns="0" lIns="0" bIns="0" rIns="0"/>
            <a:lstStyle/>
            <a:p>
              <a:pPr algn="l">
                <a:lnSpc>
                  <a:spcPts val="2160"/>
                </a:lnSpc>
              </a:pPr>
              <a:r>
                <a:rPr lang="en-US" sz="1800" b="true">
                  <a:solidFill>
                    <a:srgbClr val="E05B4B"/>
                  </a:solidFill>
                  <a:latin typeface="Calibri (MS) Bold"/>
                  <a:ea typeface="Calibri (MS) Bold"/>
                  <a:cs typeface="Calibri (MS) Bold"/>
                  <a:sym typeface="Calibri (MS) Bold"/>
                </a:rPr>
                <a:t>⚠  Limitation</a:t>
              </a:r>
            </a:p>
          </p:txBody>
        </p:sp>
      </p:grpSp>
      <p:grpSp>
        <p:nvGrpSpPr>
          <p:cNvPr name="Group 114" id="114"/>
          <p:cNvGrpSpPr/>
          <p:nvPr/>
        </p:nvGrpSpPr>
        <p:grpSpPr>
          <a:xfrm rot="0">
            <a:off x="10149840" y="7571232"/>
            <a:ext cx="7132320" cy="694944"/>
            <a:chOff x="0" y="0"/>
            <a:chExt cx="9509760" cy="926592"/>
          </a:xfrm>
        </p:grpSpPr>
        <p:sp>
          <p:nvSpPr>
            <p:cNvPr name="Freeform 115" id="115"/>
            <p:cNvSpPr/>
            <p:nvPr/>
          </p:nvSpPr>
          <p:spPr>
            <a:xfrm flipH="false" flipV="false" rot="0">
              <a:off x="0" y="0"/>
              <a:ext cx="9509760" cy="926592"/>
            </a:xfrm>
            <a:custGeom>
              <a:avLst/>
              <a:gdLst/>
              <a:ahLst/>
              <a:cxnLst/>
              <a:rect r="r" b="b" t="t" l="l"/>
              <a:pathLst>
                <a:path h="926592" w="9509760">
                  <a:moveTo>
                    <a:pt x="0" y="0"/>
                  </a:moveTo>
                  <a:lnTo>
                    <a:pt x="9509760" y="0"/>
                  </a:lnTo>
                  <a:lnTo>
                    <a:pt x="9509760" y="926592"/>
                  </a:lnTo>
                  <a:lnTo>
                    <a:pt x="0" y="926592"/>
                  </a:lnTo>
                  <a:close/>
                </a:path>
              </a:pathLst>
            </a:custGeom>
            <a:blipFill>
              <a:blip r:embed="rId3">
                <a:alphaModFix amt="0"/>
              </a:blip>
              <a:stretch>
                <a:fillRect l="0" t="-149978" r="0" b="-149978"/>
              </a:stretch>
            </a:blipFill>
          </p:spPr>
        </p:sp>
        <p:sp>
          <p:nvSpPr>
            <p:cNvPr name="TextBox 116" id="116"/>
            <p:cNvSpPr txBox="true"/>
            <p:nvPr/>
          </p:nvSpPr>
          <p:spPr>
            <a:xfrm>
              <a:off x="0" y="-38100"/>
              <a:ext cx="9509760" cy="964692"/>
            </a:xfrm>
            <a:prstGeom prst="rect">
              <a:avLst/>
            </a:prstGeom>
          </p:spPr>
          <p:txBody>
            <a:bodyPr anchor="ctr" rtlCol="false" tIns="0" lIns="0" bIns="0" rIns="0"/>
            <a:lstStyle/>
            <a:p>
              <a:pPr algn="l">
                <a:lnSpc>
                  <a:spcPts val="2400"/>
                </a:lnSpc>
              </a:pPr>
              <a:r>
                <a:rPr lang="en-US" sz="2000">
                  <a:solidFill>
                    <a:srgbClr val="1E293B"/>
                  </a:solidFill>
                  <a:latin typeface="Calibri (MS)"/>
                  <a:ea typeface="Calibri (MS)"/>
                  <a:cs typeface="Calibri (MS)"/>
                  <a:sym typeface="Calibri (MS)"/>
                </a:rPr>
                <a:t>Flattening destroys 2-D spatial structure; O(N²) attention cost.</a:t>
              </a:r>
            </a:p>
          </p:txBody>
        </p:sp>
      </p:grpSp>
      <p:grpSp>
        <p:nvGrpSpPr>
          <p:cNvPr name="Group 117" id="117"/>
          <p:cNvGrpSpPr/>
          <p:nvPr/>
        </p:nvGrpSpPr>
        <p:grpSpPr>
          <a:xfrm rot="0">
            <a:off x="725167" y="8515855"/>
            <a:ext cx="16837657" cy="1366009"/>
            <a:chOff x="0" y="0"/>
            <a:chExt cx="22450209" cy="1821345"/>
          </a:xfrm>
        </p:grpSpPr>
        <p:sp>
          <p:nvSpPr>
            <p:cNvPr name="Freeform 118" id="118"/>
            <p:cNvSpPr/>
            <p:nvPr/>
          </p:nvSpPr>
          <p:spPr>
            <a:xfrm flipH="false" flipV="false" rot="0">
              <a:off x="8509" y="8509"/>
              <a:ext cx="22433281" cy="1804416"/>
            </a:xfrm>
            <a:custGeom>
              <a:avLst/>
              <a:gdLst/>
              <a:ahLst/>
              <a:cxnLst/>
              <a:rect r="r" b="b" t="t" l="l"/>
              <a:pathLst>
                <a:path h="1804416" w="22433281">
                  <a:moveTo>
                    <a:pt x="0" y="0"/>
                  </a:moveTo>
                  <a:lnTo>
                    <a:pt x="22433281" y="0"/>
                  </a:lnTo>
                  <a:lnTo>
                    <a:pt x="22433281" y="1804416"/>
                  </a:lnTo>
                  <a:lnTo>
                    <a:pt x="0" y="1804416"/>
                  </a:lnTo>
                  <a:close/>
                </a:path>
              </a:pathLst>
            </a:custGeom>
            <a:solidFill>
              <a:srgbClr val="FFFFFF"/>
            </a:solidFill>
          </p:spPr>
        </p:sp>
        <p:sp>
          <p:nvSpPr>
            <p:cNvPr name="Freeform 119" id="119"/>
            <p:cNvSpPr/>
            <p:nvPr/>
          </p:nvSpPr>
          <p:spPr>
            <a:xfrm flipH="false" flipV="false" rot="0">
              <a:off x="0" y="0"/>
              <a:ext cx="22450298" cy="1821434"/>
            </a:xfrm>
            <a:custGeom>
              <a:avLst/>
              <a:gdLst/>
              <a:ahLst/>
              <a:cxnLst/>
              <a:rect r="r" b="b" t="t" l="l"/>
              <a:pathLst>
                <a:path h="1821434" w="22450298">
                  <a:moveTo>
                    <a:pt x="8509" y="0"/>
                  </a:moveTo>
                  <a:lnTo>
                    <a:pt x="22441790" y="0"/>
                  </a:lnTo>
                  <a:cubicBezTo>
                    <a:pt x="22446489" y="0"/>
                    <a:pt x="22450298" y="3810"/>
                    <a:pt x="22450298" y="8509"/>
                  </a:cubicBezTo>
                  <a:lnTo>
                    <a:pt x="22450298" y="1812925"/>
                  </a:lnTo>
                  <a:cubicBezTo>
                    <a:pt x="22450298" y="1817624"/>
                    <a:pt x="22446489" y="1821434"/>
                    <a:pt x="22441790" y="1821434"/>
                  </a:cubicBezTo>
                  <a:lnTo>
                    <a:pt x="8509" y="1821434"/>
                  </a:lnTo>
                  <a:cubicBezTo>
                    <a:pt x="3810" y="1821434"/>
                    <a:pt x="0" y="1817624"/>
                    <a:pt x="0" y="1812925"/>
                  </a:cubicBezTo>
                  <a:lnTo>
                    <a:pt x="0" y="8509"/>
                  </a:lnTo>
                  <a:cubicBezTo>
                    <a:pt x="0" y="3810"/>
                    <a:pt x="3810" y="0"/>
                    <a:pt x="8509" y="0"/>
                  </a:cubicBezTo>
                  <a:moveTo>
                    <a:pt x="8509" y="16891"/>
                  </a:moveTo>
                  <a:lnTo>
                    <a:pt x="8509" y="8509"/>
                  </a:lnTo>
                  <a:lnTo>
                    <a:pt x="17018" y="8509"/>
                  </a:lnTo>
                  <a:lnTo>
                    <a:pt x="17018" y="1812925"/>
                  </a:lnTo>
                  <a:lnTo>
                    <a:pt x="8509" y="1812925"/>
                  </a:lnTo>
                  <a:lnTo>
                    <a:pt x="8509" y="1804416"/>
                  </a:lnTo>
                  <a:lnTo>
                    <a:pt x="22441790" y="1804416"/>
                  </a:lnTo>
                  <a:lnTo>
                    <a:pt x="22441790" y="1812925"/>
                  </a:lnTo>
                  <a:lnTo>
                    <a:pt x="22433280" y="1812925"/>
                  </a:lnTo>
                  <a:lnTo>
                    <a:pt x="22433280" y="8509"/>
                  </a:lnTo>
                  <a:lnTo>
                    <a:pt x="22441790" y="8509"/>
                  </a:lnTo>
                  <a:lnTo>
                    <a:pt x="22441790" y="17018"/>
                  </a:lnTo>
                  <a:lnTo>
                    <a:pt x="8509" y="17018"/>
                  </a:lnTo>
                  <a:close/>
                </a:path>
              </a:pathLst>
            </a:custGeom>
            <a:solidFill>
              <a:srgbClr val="E2E8F0"/>
            </a:solidFill>
          </p:spPr>
        </p:sp>
      </p:grpSp>
      <p:grpSp>
        <p:nvGrpSpPr>
          <p:cNvPr name="Group 120" id="120"/>
          <p:cNvGrpSpPr/>
          <p:nvPr/>
        </p:nvGrpSpPr>
        <p:grpSpPr>
          <a:xfrm rot="0">
            <a:off x="718823" y="8509511"/>
            <a:ext cx="135131" cy="1378715"/>
            <a:chOff x="0" y="0"/>
            <a:chExt cx="180175" cy="1838287"/>
          </a:xfrm>
        </p:grpSpPr>
        <p:sp>
          <p:nvSpPr>
            <p:cNvPr name="Freeform 121" id="121"/>
            <p:cNvSpPr/>
            <p:nvPr/>
          </p:nvSpPr>
          <p:spPr>
            <a:xfrm flipH="false" flipV="false" rot="0">
              <a:off x="16891" y="16891"/>
              <a:ext cx="146304" cy="1804416"/>
            </a:xfrm>
            <a:custGeom>
              <a:avLst/>
              <a:gdLst/>
              <a:ahLst/>
              <a:cxnLst/>
              <a:rect r="r" b="b" t="t" l="l"/>
              <a:pathLst>
                <a:path h="1804416" w="146304">
                  <a:moveTo>
                    <a:pt x="0" y="0"/>
                  </a:moveTo>
                  <a:lnTo>
                    <a:pt x="146304" y="0"/>
                  </a:lnTo>
                  <a:lnTo>
                    <a:pt x="146304" y="1804416"/>
                  </a:lnTo>
                  <a:lnTo>
                    <a:pt x="0" y="1804416"/>
                  </a:lnTo>
                  <a:close/>
                </a:path>
              </a:pathLst>
            </a:custGeom>
            <a:solidFill>
              <a:srgbClr val="E05B4B"/>
            </a:solidFill>
          </p:spPr>
        </p:sp>
        <p:sp>
          <p:nvSpPr>
            <p:cNvPr name="Freeform 122" id="122"/>
            <p:cNvSpPr/>
            <p:nvPr/>
          </p:nvSpPr>
          <p:spPr>
            <a:xfrm flipH="false" flipV="false" rot="0">
              <a:off x="0" y="0"/>
              <a:ext cx="180086" cy="1838198"/>
            </a:xfrm>
            <a:custGeom>
              <a:avLst/>
              <a:gdLst/>
              <a:ahLst/>
              <a:cxnLst/>
              <a:rect r="r" b="b" t="t" l="l"/>
              <a:pathLst>
                <a:path h="1838198" w="180086">
                  <a:moveTo>
                    <a:pt x="16891" y="0"/>
                  </a:moveTo>
                  <a:lnTo>
                    <a:pt x="163195" y="0"/>
                  </a:lnTo>
                  <a:cubicBezTo>
                    <a:pt x="172593" y="0"/>
                    <a:pt x="180086" y="7620"/>
                    <a:pt x="180086" y="16891"/>
                  </a:cubicBezTo>
                  <a:lnTo>
                    <a:pt x="180086" y="1821307"/>
                  </a:lnTo>
                  <a:cubicBezTo>
                    <a:pt x="180086" y="1830705"/>
                    <a:pt x="172466" y="1838198"/>
                    <a:pt x="163195" y="1838198"/>
                  </a:cubicBezTo>
                  <a:lnTo>
                    <a:pt x="16891" y="1838198"/>
                  </a:lnTo>
                  <a:cubicBezTo>
                    <a:pt x="7493" y="1838198"/>
                    <a:pt x="0" y="1830578"/>
                    <a:pt x="0" y="1821307"/>
                  </a:cubicBezTo>
                  <a:lnTo>
                    <a:pt x="0" y="16891"/>
                  </a:lnTo>
                  <a:cubicBezTo>
                    <a:pt x="0" y="7620"/>
                    <a:pt x="7620" y="0"/>
                    <a:pt x="16891" y="0"/>
                  </a:cubicBezTo>
                  <a:moveTo>
                    <a:pt x="16891" y="33909"/>
                  </a:moveTo>
                  <a:lnTo>
                    <a:pt x="16891" y="16891"/>
                  </a:lnTo>
                  <a:lnTo>
                    <a:pt x="33909" y="16891"/>
                  </a:lnTo>
                  <a:lnTo>
                    <a:pt x="33909" y="1821307"/>
                  </a:lnTo>
                  <a:lnTo>
                    <a:pt x="16891" y="1821307"/>
                  </a:lnTo>
                  <a:lnTo>
                    <a:pt x="16891" y="1804416"/>
                  </a:lnTo>
                  <a:lnTo>
                    <a:pt x="163195" y="1804416"/>
                  </a:lnTo>
                  <a:lnTo>
                    <a:pt x="163195" y="1821307"/>
                  </a:lnTo>
                  <a:lnTo>
                    <a:pt x="146304" y="1821307"/>
                  </a:lnTo>
                  <a:lnTo>
                    <a:pt x="146304" y="16891"/>
                  </a:lnTo>
                  <a:lnTo>
                    <a:pt x="163195" y="16891"/>
                  </a:lnTo>
                  <a:lnTo>
                    <a:pt x="163195" y="33909"/>
                  </a:lnTo>
                  <a:lnTo>
                    <a:pt x="16891" y="33909"/>
                  </a:lnTo>
                  <a:close/>
                </a:path>
              </a:pathLst>
            </a:custGeom>
            <a:solidFill>
              <a:srgbClr val="E05B4B"/>
            </a:solidFill>
          </p:spPr>
        </p:sp>
      </p:grpSp>
      <p:grpSp>
        <p:nvGrpSpPr>
          <p:cNvPr name="Group 123" id="123"/>
          <p:cNvGrpSpPr/>
          <p:nvPr/>
        </p:nvGrpSpPr>
        <p:grpSpPr>
          <a:xfrm rot="0">
            <a:off x="1048007" y="8655815"/>
            <a:ext cx="2037083" cy="391163"/>
            <a:chOff x="0" y="0"/>
            <a:chExt cx="2716111" cy="521551"/>
          </a:xfrm>
        </p:grpSpPr>
        <p:sp>
          <p:nvSpPr>
            <p:cNvPr name="Freeform 124" id="124"/>
            <p:cNvSpPr/>
            <p:nvPr/>
          </p:nvSpPr>
          <p:spPr>
            <a:xfrm flipH="false" flipV="false" rot="0">
              <a:off x="16891" y="16891"/>
              <a:ext cx="2682240" cy="487680"/>
            </a:xfrm>
            <a:custGeom>
              <a:avLst/>
              <a:gdLst/>
              <a:ahLst/>
              <a:cxnLst/>
              <a:rect r="r" b="b" t="t" l="l"/>
              <a:pathLst>
                <a:path h="487680" w="2682240">
                  <a:moveTo>
                    <a:pt x="0" y="0"/>
                  </a:moveTo>
                  <a:lnTo>
                    <a:pt x="2682240" y="0"/>
                  </a:lnTo>
                  <a:lnTo>
                    <a:pt x="2682240" y="487680"/>
                  </a:lnTo>
                  <a:lnTo>
                    <a:pt x="0" y="487680"/>
                  </a:lnTo>
                  <a:close/>
                </a:path>
              </a:pathLst>
            </a:custGeom>
            <a:solidFill>
              <a:srgbClr val="0D1B3E">
                <a:alpha val="35686"/>
              </a:srgbClr>
            </a:solidFill>
          </p:spPr>
        </p:sp>
        <p:sp>
          <p:nvSpPr>
            <p:cNvPr name="Freeform 125" id="125"/>
            <p:cNvSpPr/>
            <p:nvPr/>
          </p:nvSpPr>
          <p:spPr>
            <a:xfrm flipH="false" flipV="false" rot="0">
              <a:off x="0" y="0"/>
              <a:ext cx="2716022" cy="521464"/>
            </a:xfrm>
            <a:custGeom>
              <a:avLst/>
              <a:gdLst/>
              <a:ahLst/>
              <a:cxnLst/>
              <a:rect r="r" b="b" t="t" l="l"/>
              <a:pathLst>
                <a:path h="521464" w="2716022">
                  <a:moveTo>
                    <a:pt x="16891" y="0"/>
                  </a:moveTo>
                  <a:lnTo>
                    <a:pt x="2699131" y="0"/>
                  </a:lnTo>
                  <a:cubicBezTo>
                    <a:pt x="2708529" y="0"/>
                    <a:pt x="2716022" y="7620"/>
                    <a:pt x="2716022" y="16891"/>
                  </a:cubicBezTo>
                  <a:lnTo>
                    <a:pt x="2716022" y="504571"/>
                  </a:lnTo>
                  <a:cubicBezTo>
                    <a:pt x="2716022" y="513969"/>
                    <a:pt x="2708402" y="521462"/>
                    <a:pt x="2699131" y="521462"/>
                  </a:cubicBezTo>
                  <a:lnTo>
                    <a:pt x="16891" y="521462"/>
                  </a:lnTo>
                  <a:cubicBezTo>
                    <a:pt x="7620" y="521589"/>
                    <a:pt x="0" y="513969"/>
                    <a:pt x="0" y="504571"/>
                  </a:cubicBezTo>
                  <a:lnTo>
                    <a:pt x="0" y="16891"/>
                  </a:lnTo>
                  <a:cubicBezTo>
                    <a:pt x="0" y="7620"/>
                    <a:pt x="7620" y="0"/>
                    <a:pt x="16891" y="0"/>
                  </a:cubicBezTo>
                  <a:moveTo>
                    <a:pt x="16891" y="33909"/>
                  </a:moveTo>
                  <a:lnTo>
                    <a:pt x="16891" y="16891"/>
                  </a:lnTo>
                  <a:lnTo>
                    <a:pt x="33909" y="16891"/>
                  </a:lnTo>
                  <a:lnTo>
                    <a:pt x="33909" y="504571"/>
                  </a:lnTo>
                  <a:lnTo>
                    <a:pt x="16891" y="504571"/>
                  </a:lnTo>
                  <a:lnTo>
                    <a:pt x="16891" y="487680"/>
                  </a:lnTo>
                  <a:lnTo>
                    <a:pt x="2699131" y="487680"/>
                  </a:lnTo>
                  <a:lnTo>
                    <a:pt x="2699131" y="504571"/>
                  </a:lnTo>
                  <a:lnTo>
                    <a:pt x="2682240" y="504571"/>
                  </a:lnTo>
                  <a:lnTo>
                    <a:pt x="2682240" y="16891"/>
                  </a:lnTo>
                  <a:lnTo>
                    <a:pt x="2699131" y="16891"/>
                  </a:lnTo>
                  <a:lnTo>
                    <a:pt x="2699131" y="33909"/>
                  </a:lnTo>
                  <a:lnTo>
                    <a:pt x="16891" y="33909"/>
                  </a:lnTo>
                  <a:close/>
                </a:path>
              </a:pathLst>
            </a:custGeom>
            <a:solidFill>
              <a:srgbClr val="0D1B3E"/>
            </a:solidFill>
          </p:spPr>
        </p:sp>
      </p:grpSp>
      <p:grpSp>
        <p:nvGrpSpPr>
          <p:cNvPr name="Group 126" id="126"/>
          <p:cNvGrpSpPr/>
          <p:nvPr/>
        </p:nvGrpSpPr>
        <p:grpSpPr>
          <a:xfrm rot="0">
            <a:off x="1060704" y="8668512"/>
            <a:ext cx="2011680" cy="365760"/>
            <a:chOff x="0" y="0"/>
            <a:chExt cx="2682240" cy="487680"/>
          </a:xfrm>
        </p:grpSpPr>
        <p:sp>
          <p:nvSpPr>
            <p:cNvPr name="Freeform 127" id="127"/>
            <p:cNvSpPr/>
            <p:nvPr/>
          </p:nvSpPr>
          <p:spPr>
            <a:xfrm flipH="false" flipV="false" rot="0">
              <a:off x="0" y="0"/>
              <a:ext cx="2682240" cy="487680"/>
            </a:xfrm>
            <a:custGeom>
              <a:avLst/>
              <a:gdLst/>
              <a:ahLst/>
              <a:cxnLst/>
              <a:rect r="r" b="b" t="t" l="l"/>
              <a:pathLst>
                <a:path h="487680" w="2682240">
                  <a:moveTo>
                    <a:pt x="0" y="0"/>
                  </a:moveTo>
                  <a:lnTo>
                    <a:pt x="2682240" y="0"/>
                  </a:lnTo>
                  <a:lnTo>
                    <a:pt x="2682240" y="487680"/>
                  </a:lnTo>
                  <a:lnTo>
                    <a:pt x="0" y="487680"/>
                  </a:lnTo>
                  <a:close/>
                </a:path>
              </a:pathLst>
            </a:custGeom>
            <a:blipFill>
              <a:blip r:embed="rId3">
                <a:alphaModFix amt="0"/>
              </a:blip>
              <a:stretch>
                <a:fillRect l="0" t="-57167" r="0" b="-57167"/>
              </a:stretch>
            </a:blipFill>
          </p:spPr>
        </p:sp>
        <p:sp>
          <p:nvSpPr>
            <p:cNvPr name="TextBox 128" id="128"/>
            <p:cNvSpPr txBox="true"/>
            <p:nvPr/>
          </p:nvSpPr>
          <p:spPr>
            <a:xfrm>
              <a:off x="0" y="-28575"/>
              <a:ext cx="2682240" cy="516255"/>
            </a:xfrm>
            <a:prstGeom prst="rect">
              <a:avLst/>
            </a:prstGeom>
          </p:spPr>
          <p:txBody>
            <a:bodyPr anchor="ctr" rtlCol="false" tIns="0" lIns="0" bIns="0" rIns="0"/>
            <a:lstStyle/>
            <a:p>
              <a:pPr algn="ctr">
                <a:lnSpc>
                  <a:spcPts val="1679"/>
                </a:lnSpc>
              </a:pPr>
              <a:r>
                <a:rPr lang="en-US" sz="1399" b="true">
                  <a:solidFill>
                    <a:srgbClr val="FFFFFF"/>
                  </a:solidFill>
                  <a:latin typeface="Calibri (MS) Bold"/>
                  <a:ea typeface="Calibri (MS) Bold"/>
                  <a:cs typeface="Calibri (MS) Bold"/>
                  <a:sym typeface="Calibri (MS) Bold"/>
                </a:rPr>
                <a:t>DEEP LEARNING</a:t>
              </a:r>
            </a:p>
          </p:txBody>
        </p:sp>
      </p:grpSp>
      <p:grpSp>
        <p:nvGrpSpPr>
          <p:cNvPr name="Group 129" id="129"/>
          <p:cNvGrpSpPr/>
          <p:nvPr/>
        </p:nvGrpSpPr>
        <p:grpSpPr>
          <a:xfrm rot="0">
            <a:off x="3255264" y="8613648"/>
            <a:ext cx="4572000" cy="548640"/>
            <a:chOff x="0" y="0"/>
            <a:chExt cx="6096000" cy="731520"/>
          </a:xfrm>
        </p:grpSpPr>
        <p:sp>
          <p:nvSpPr>
            <p:cNvPr name="Freeform 130" id="130"/>
            <p:cNvSpPr/>
            <p:nvPr/>
          </p:nvSpPr>
          <p:spPr>
            <a:xfrm flipH="false" flipV="false" rot="0">
              <a:off x="0" y="0"/>
              <a:ext cx="6096000" cy="731520"/>
            </a:xfrm>
            <a:custGeom>
              <a:avLst/>
              <a:gdLst/>
              <a:ahLst/>
              <a:cxnLst/>
              <a:rect r="r" b="b" t="t" l="l"/>
              <a:pathLst>
                <a:path h="731520" w="6096000">
                  <a:moveTo>
                    <a:pt x="0" y="0"/>
                  </a:moveTo>
                  <a:lnTo>
                    <a:pt x="6096000" y="0"/>
                  </a:lnTo>
                  <a:lnTo>
                    <a:pt x="6096000" y="731520"/>
                  </a:lnTo>
                  <a:lnTo>
                    <a:pt x="0" y="731520"/>
                  </a:lnTo>
                  <a:close/>
                </a:path>
              </a:pathLst>
            </a:custGeom>
            <a:blipFill>
              <a:blip r:embed="rId3">
                <a:alphaModFix amt="0"/>
              </a:blip>
              <a:stretch>
                <a:fillRect l="0" t="-112375" r="0" b="-112375"/>
              </a:stretch>
            </a:blipFill>
          </p:spPr>
        </p:sp>
        <p:sp>
          <p:nvSpPr>
            <p:cNvPr name="TextBox 131" id="131"/>
            <p:cNvSpPr txBox="true"/>
            <p:nvPr/>
          </p:nvSpPr>
          <p:spPr>
            <a:xfrm>
              <a:off x="0" y="-38100"/>
              <a:ext cx="6096000" cy="769620"/>
            </a:xfrm>
            <a:prstGeom prst="rect">
              <a:avLst/>
            </a:prstGeom>
          </p:spPr>
          <p:txBody>
            <a:bodyPr anchor="ctr" rtlCol="false" tIns="0" lIns="0" bIns="0" rIns="0"/>
            <a:lstStyle/>
            <a:p>
              <a:pPr algn="l">
                <a:lnSpc>
                  <a:spcPts val="2879"/>
                </a:lnSpc>
              </a:pPr>
              <a:r>
                <a:rPr lang="en-US" sz="2400" b="true">
                  <a:solidFill>
                    <a:srgbClr val="1E293B"/>
                  </a:solidFill>
                  <a:latin typeface="Calibri (MS) Bold"/>
                  <a:ea typeface="Calibri (MS) Bold"/>
                  <a:cs typeface="Calibri (MS) Bold"/>
                  <a:sym typeface="Calibri (MS) Bold"/>
                </a:rPr>
                <a:t>Single-stage fusion</a:t>
              </a:r>
            </a:p>
          </p:txBody>
        </p:sp>
      </p:grpSp>
      <p:grpSp>
        <p:nvGrpSpPr>
          <p:cNvPr name="Group 132" id="132"/>
          <p:cNvGrpSpPr/>
          <p:nvPr/>
        </p:nvGrpSpPr>
        <p:grpSpPr>
          <a:xfrm rot="0">
            <a:off x="3255264" y="9217152"/>
            <a:ext cx="6400800" cy="548640"/>
            <a:chOff x="0" y="0"/>
            <a:chExt cx="8534400" cy="731520"/>
          </a:xfrm>
        </p:grpSpPr>
        <p:sp>
          <p:nvSpPr>
            <p:cNvPr name="Freeform 133" id="133"/>
            <p:cNvSpPr/>
            <p:nvPr/>
          </p:nvSpPr>
          <p:spPr>
            <a:xfrm flipH="false" flipV="false" rot="0">
              <a:off x="0" y="0"/>
              <a:ext cx="8534400" cy="731520"/>
            </a:xfrm>
            <a:custGeom>
              <a:avLst/>
              <a:gdLst/>
              <a:ahLst/>
              <a:cxnLst/>
              <a:rect r="r" b="b" t="t" l="l"/>
              <a:pathLst>
                <a:path h="731520" w="8534400">
                  <a:moveTo>
                    <a:pt x="0" y="0"/>
                  </a:moveTo>
                  <a:lnTo>
                    <a:pt x="8534400" y="0"/>
                  </a:lnTo>
                  <a:lnTo>
                    <a:pt x="8534400" y="731520"/>
                  </a:lnTo>
                  <a:lnTo>
                    <a:pt x="0" y="731520"/>
                  </a:lnTo>
                  <a:close/>
                </a:path>
              </a:pathLst>
            </a:custGeom>
            <a:blipFill>
              <a:blip r:embed="rId3">
                <a:alphaModFix amt="0"/>
              </a:blip>
              <a:stretch>
                <a:fillRect l="0" t="-177325" r="0" b="-177325"/>
              </a:stretch>
            </a:blipFill>
          </p:spPr>
        </p:sp>
        <p:sp>
          <p:nvSpPr>
            <p:cNvPr name="TextBox 134" id="134"/>
            <p:cNvSpPr txBox="true"/>
            <p:nvPr/>
          </p:nvSpPr>
          <p:spPr>
            <a:xfrm>
              <a:off x="0" y="-38100"/>
              <a:ext cx="8534400" cy="769620"/>
            </a:xfrm>
            <a:prstGeom prst="rect">
              <a:avLst/>
            </a:prstGeom>
          </p:spPr>
          <p:txBody>
            <a:bodyPr anchor="ctr" rtlCol="false" tIns="0" lIns="0" bIns="0" rIns="0"/>
            <a:lstStyle/>
            <a:p>
              <a:pPr algn="l">
                <a:lnSpc>
                  <a:spcPts val="2400"/>
                </a:lnSpc>
              </a:pPr>
              <a:r>
                <a:rPr lang="en-US" sz="2000">
                  <a:solidFill>
                    <a:srgbClr val="94A3B8"/>
                  </a:solidFill>
                  <a:latin typeface="Calibri (MS)"/>
                  <a:ea typeface="Calibri (MS)"/>
                  <a:cs typeface="Calibri (MS)"/>
                  <a:sym typeface="Calibri (MS)"/>
                </a:rPr>
                <a:t>Concatenate feature maps from multiple CNN layers before decoding (e.g., MLAT, GVFGA, RASG).</a:t>
              </a:r>
            </a:p>
          </p:txBody>
        </p:sp>
      </p:grpSp>
      <p:grpSp>
        <p:nvGrpSpPr>
          <p:cNvPr name="Group 135" id="135"/>
          <p:cNvGrpSpPr/>
          <p:nvPr/>
        </p:nvGrpSpPr>
        <p:grpSpPr>
          <a:xfrm rot="0">
            <a:off x="9960607" y="8698735"/>
            <a:ext cx="12697" cy="1018537"/>
            <a:chOff x="0" y="0"/>
            <a:chExt cx="16929" cy="1358049"/>
          </a:xfrm>
        </p:grpSpPr>
        <p:sp>
          <p:nvSpPr>
            <p:cNvPr name="Freeform 136" id="136"/>
            <p:cNvSpPr/>
            <p:nvPr/>
          </p:nvSpPr>
          <p:spPr>
            <a:xfrm flipH="false" flipV="false" rot="0">
              <a:off x="0" y="8509"/>
              <a:ext cx="16891" cy="1341120"/>
            </a:xfrm>
            <a:custGeom>
              <a:avLst/>
              <a:gdLst/>
              <a:ahLst/>
              <a:cxnLst/>
              <a:rect r="r" b="b" t="t" l="l"/>
              <a:pathLst>
                <a:path h="1341120" w="16891">
                  <a:moveTo>
                    <a:pt x="16891" y="0"/>
                  </a:moveTo>
                  <a:lnTo>
                    <a:pt x="16891" y="1341120"/>
                  </a:lnTo>
                  <a:lnTo>
                    <a:pt x="0" y="1341120"/>
                  </a:lnTo>
                  <a:lnTo>
                    <a:pt x="0" y="0"/>
                  </a:lnTo>
                  <a:close/>
                </a:path>
              </a:pathLst>
            </a:custGeom>
            <a:solidFill>
              <a:srgbClr val="E2E8F0"/>
            </a:solidFill>
          </p:spPr>
        </p:sp>
      </p:grpSp>
      <p:grpSp>
        <p:nvGrpSpPr>
          <p:cNvPr name="Group 137" id="137"/>
          <p:cNvGrpSpPr/>
          <p:nvPr/>
        </p:nvGrpSpPr>
        <p:grpSpPr>
          <a:xfrm rot="0">
            <a:off x="10149840" y="8668512"/>
            <a:ext cx="2560320" cy="402336"/>
            <a:chOff x="0" y="0"/>
            <a:chExt cx="3413760" cy="536448"/>
          </a:xfrm>
        </p:grpSpPr>
        <p:sp>
          <p:nvSpPr>
            <p:cNvPr name="Freeform 138" id="138"/>
            <p:cNvSpPr/>
            <p:nvPr/>
          </p:nvSpPr>
          <p:spPr>
            <a:xfrm flipH="false" flipV="false" rot="0">
              <a:off x="0" y="0"/>
              <a:ext cx="3413760" cy="536448"/>
            </a:xfrm>
            <a:custGeom>
              <a:avLst/>
              <a:gdLst/>
              <a:ahLst/>
              <a:cxnLst/>
              <a:rect r="r" b="b" t="t" l="l"/>
              <a:pathLst>
                <a:path h="536448" w="3413760">
                  <a:moveTo>
                    <a:pt x="0" y="0"/>
                  </a:moveTo>
                  <a:lnTo>
                    <a:pt x="3413760" y="0"/>
                  </a:lnTo>
                  <a:lnTo>
                    <a:pt x="3413760" y="536448"/>
                  </a:lnTo>
                  <a:lnTo>
                    <a:pt x="0" y="536448"/>
                  </a:lnTo>
                  <a:close/>
                </a:path>
              </a:pathLst>
            </a:custGeom>
            <a:blipFill>
              <a:blip r:embed="rId3">
                <a:alphaModFix amt="0"/>
              </a:blip>
              <a:stretch>
                <a:fillRect l="0" t="-73995" r="0" b="-73995"/>
              </a:stretch>
            </a:blipFill>
          </p:spPr>
        </p:sp>
        <p:sp>
          <p:nvSpPr>
            <p:cNvPr name="TextBox 139" id="139"/>
            <p:cNvSpPr txBox="true"/>
            <p:nvPr/>
          </p:nvSpPr>
          <p:spPr>
            <a:xfrm>
              <a:off x="0" y="-38100"/>
              <a:ext cx="3413760" cy="574548"/>
            </a:xfrm>
            <a:prstGeom prst="rect">
              <a:avLst/>
            </a:prstGeom>
          </p:spPr>
          <p:txBody>
            <a:bodyPr anchor="ctr" rtlCol="false" tIns="0" lIns="0" bIns="0" rIns="0"/>
            <a:lstStyle/>
            <a:p>
              <a:pPr algn="l">
                <a:lnSpc>
                  <a:spcPts val="2160"/>
                </a:lnSpc>
              </a:pPr>
              <a:r>
                <a:rPr lang="en-US" sz="1800" b="true">
                  <a:solidFill>
                    <a:srgbClr val="E05B4B"/>
                  </a:solidFill>
                  <a:latin typeface="Calibri (MS) Bold"/>
                  <a:ea typeface="Calibri (MS) Bold"/>
                  <a:cs typeface="Calibri (MS) Bold"/>
                  <a:sym typeface="Calibri (MS) Bold"/>
                </a:rPr>
                <a:t>⚠  Limitation</a:t>
              </a:r>
            </a:p>
          </p:txBody>
        </p:sp>
      </p:grpSp>
      <p:grpSp>
        <p:nvGrpSpPr>
          <p:cNvPr name="Group 140" id="140"/>
          <p:cNvGrpSpPr/>
          <p:nvPr/>
        </p:nvGrpSpPr>
        <p:grpSpPr>
          <a:xfrm rot="0">
            <a:off x="10149840" y="9070848"/>
            <a:ext cx="7132320" cy="694944"/>
            <a:chOff x="0" y="0"/>
            <a:chExt cx="9509760" cy="926592"/>
          </a:xfrm>
        </p:grpSpPr>
        <p:sp>
          <p:nvSpPr>
            <p:cNvPr name="Freeform 141" id="141"/>
            <p:cNvSpPr/>
            <p:nvPr/>
          </p:nvSpPr>
          <p:spPr>
            <a:xfrm flipH="false" flipV="false" rot="0">
              <a:off x="0" y="0"/>
              <a:ext cx="9509760" cy="926592"/>
            </a:xfrm>
            <a:custGeom>
              <a:avLst/>
              <a:gdLst/>
              <a:ahLst/>
              <a:cxnLst/>
              <a:rect r="r" b="b" t="t" l="l"/>
              <a:pathLst>
                <a:path h="926592" w="9509760">
                  <a:moveTo>
                    <a:pt x="0" y="0"/>
                  </a:moveTo>
                  <a:lnTo>
                    <a:pt x="9509760" y="0"/>
                  </a:lnTo>
                  <a:lnTo>
                    <a:pt x="9509760" y="926592"/>
                  </a:lnTo>
                  <a:lnTo>
                    <a:pt x="0" y="926592"/>
                  </a:lnTo>
                  <a:close/>
                </a:path>
              </a:pathLst>
            </a:custGeom>
            <a:blipFill>
              <a:blip r:embed="rId3">
                <a:alphaModFix amt="0"/>
              </a:blip>
              <a:stretch>
                <a:fillRect l="0" t="-149978" r="0" b="-149978"/>
              </a:stretch>
            </a:blipFill>
          </p:spPr>
        </p:sp>
        <p:sp>
          <p:nvSpPr>
            <p:cNvPr name="TextBox 142" id="142"/>
            <p:cNvSpPr txBox="true"/>
            <p:nvPr/>
          </p:nvSpPr>
          <p:spPr>
            <a:xfrm>
              <a:off x="0" y="-38100"/>
              <a:ext cx="9509760" cy="964692"/>
            </a:xfrm>
            <a:prstGeom prst="rect">
              <a:avLst/>
            </a:prstGeom>
          </p:spPr>
          <p:txBody>
            <a:bodyPr anchor="ctr" rtlCol="false" tIns="0" lIns="0" bIns="0" rIns="0"/>
            <a:lstStyle/>
            <a:p>
              <a:pPr algn="l">
                <a:lnSpc>
                  <a:spcPts val="2400"/>
                </a:lnSpc>
              </a:pPr>
              <a:r>
                <a:rPr lang="en-US" sz="2000">
                  <a:solidFill>
                    <a:srgbClr val="1E293B"/>
                  </a:solidFill>
                  <a:latin typeface="Calibri (MS)"/>
                  <a:ea typeface="Calibri (MS)"/>
                  <a:cs typeface="Calibri (MS)"/>
                  <a:sym typeface="Calibri (MS)"/>
                </a:rPr>
                <a:t>Channel imbalance; no region-to-region relationship modeling.</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190"/>
            <a:ext cx="15622000" cy="10082620"/>
          </a:xfrm>
          <a:custGeom>
            <a:avLst/>
            <a:gdLst/>
            <a:ahLst/>
            <a:cxnLst/>
            <a:rect r="r" b="b" t="t" l="l"/>
            <a:pathLst>
              <a:path h="10082620" w="15622000">
                <a:moveTo>
                  <a:pt x="0" y="0"/>
                </a:moveTo>
                <a:lnTo>
                  <a:pt x="15622000" y="0"/>
                </a:lnTo>
                <a:lnTo>
                  <a:pt x="15622000" y="10082620"/>
                </a:lnTo>
                <a:lnTo>
                  <a:pt x="0" y="10082620"/>
                </a:lnTo>
                <a:lnTo>
                  <a:pt x="0" y="0"/>
                </a:lnTo>
                <a:close/>
              </a:path>
            </a:pathLst>
          </a:custGeom>
          <a:blipFill>
            <a:blip r:embed="rId2"/>
            <a:stretch>
              <a:fillRect l="0" t="-9167" r="0" b="-9167"/>
            </a:stretch>
          </a:blipFill>
        </p:spPr>
      </p:sp>
      <p:grpSp>
        <p:nvGrpSpPr>
          <p:cNvPr name="Group 3" id="3"/>
          <p:cNvGrpSpPr/>
          <p:nvPr/>
        </p:nvGrpSpPr>
        <p:grpSpPr>
          <a:xfrm rot="0">
            <a:off x="718823" y="316487"/>
            <a:ext cx="2951483" cy="574043"/>
            <a:chOff x="0" y="0"/>
            <a:chExt cx="3935311" cy="765391"/>
          </a:xfrm>
        </p:grpSpPr>
        <p:sp>
          <p:nvSpPr>
            <p:cNvPr name="Freeform 4" id="4"/>
            <p:cNvSpPr/>
            <p:nvPr/>
          </p:nvSpPr>
          <p:spPr>
            <a:xfrm flipH="false" flipV="false" rot="0">
              <a:off x="16891" y="16891"/>
              <a:ext cx="3901440" cy="731520"/>
            </a:xfrm>
            <a:custGeom>
              <a:avLst/>
              <a:gdLst/>
              <a:ahLst/>
              <a:cxnLst/>
              <a:rect r="r" b="b" t="t" l="l"/>
              <a:pathLst>
                <a:path h="731520" w="3901440">
                  <a:moveTo>
                    <a:pt x="0" y="0"/>
                  </a:moveTo>
                  <a:lnTo>
                    <a:pt x="3901440" y="0"/>
                  </a:lnTo>
                  <a:lnTo>
                    <a:pt x="3901440" y="731520"/>
                  </a:lnTo>
                  <a:lnTo>
                    <a:pt x="0" y="731520"/>
                  </a:lnTo>
                  <a:close/>
                </a:path>
              </a:pathLst>
            </a:custGeom>
            <a:solidFill>
              <a:srgbClr val="0D1B3E"/>
            </a:solidFill>
          </p:spPr>
        </p:sp>
        <p:sp>
          <p:nvSpPr>
            <p:cNvPr name="Freeform 5" id="5"/>
            <p:cNvSpPr/>
            <p:nvPr/>
          </p:nvSpPr>
          <p:spPr>
            <a:xfrm flipH="false" flipV="false" rot="0">
              <a:off x="0" y="0"/>
              <a:ext cx="3935222" cy="765304"/>
            </a:xfrm>
            <a:custGeom>
              <a:avLst/>
              <a:gdLst/>
              <a:ahLst/>
              <a:cxnLst/>
              <a:rect r="r" b="b" t="t" l="l"/>
              <a:pathLst>
                <a:path h="765304" w="3935222">
                  <a:moveTo>
                    <a:pt x="16891" y="0"/>
                  </a:moveTo>
                  <a:lnTo>
                    <a:pt x="3918331" y="0"/>
                  </a:lnTo>
                  <a:cubicBezTo>
                    <a:pt x="3927729" y="0"/>
                    <a:pt x="3935222" y="7620"/>
                    <a:pt x="3935222" y="16891"/>
                  </a:cubicBezTo>
                  <a:lnTo>
                    <a:pt x="3935222" y="748411"/>
                  </a:lnTo>
                  <a:cubicBezTo>
                    <a:pt x="3935222" y="757809"/>
                    <a:pt x="3927602" y="765302"/>
                    <a:pt x="3918331" y="765302"/>
                  </a:cubicBezTo>
                  <a:lnTo>
                    <a:pt x="16891" y="765302"/>
                  </a:lnTo>
                  <a:cubicBezTo>
                    <a:pt x="7620" y="765429"/>
                    <a:pt x="0" y="757809"/>
                    <a:pt x="0" y="748411"/>
                  </a:cubicBezTo>
                  <a:lnTo>
                    <a:pt x="0" y="16891"/>
                  </a:lnTo>
                  <a:cubicBezTo>
                    <a:pt x="0" y="7620"/>
                    <a:pt x="7620" y="0"/>
                    <a:pt x="16891" y="0"/>
                  </a:cubicBezTo>
                  <a:moveTo>
                    <a:pt x="16891" y="33909"/>
                  </a:moveTo>
                  <a:lnTo>
                    <a:pt x="16891" y="16891"/>
                  </a:lnTo>
                  <a:lnTo>
                    <a:pt x="33909" y="16891"/>
                  </a:lnTo>
                  <a:lnTo>
                    <a:pt x="33909" y="748411"/>
                  </a:lnTo>
                  <a:lnTo>
                    <a:pt x="16891" y="748411"/>
                  </a:lnTo>
                  <a:lnTo>
                    <a:pt x="16891" y="731520"/>
                  </a:lnTo>
                  <a:lnTo>
                    <a:pt x="3918331" y="731520"/>
                  </a:lnTo>
                  <a:lnTo>
                    <a:pt x="3918331" y="748411"/>
                  </a:lnTo>
                  <a:lnTo>
                    <a:pt x="3901440" y="748411"/>
                  </a:lnTo>
                  <a:lnTo>
                    <a:pt x="3901440" y="16891"/>
                  </a:lnTo>
                  <a:lnTo>
                    <a:pt x="3918331" y="16891"/>
                  </a:lnTo>
                  <a:lnTo>
                    <a:pt x="3918331" y="33909"/>
                  </a:lnTo>
                  <a:lnTo>
                    <a:pt x="16891" y="33909"/>
                  </a:lnTo>
                  <a:close/>
                </a:path>
              </a:pathLst>
            </a:custGeom>
            <a:solidFill>
              <a:srgbClr val="0D1B3E"/>
            </a:solidFill>
          </p:spPr>
        </p:sp>
      </p:grpSp>
      <p:grpSp>
        <p:nvGrpSpPr>
          <p:cNvPr name="Group 6" id="6"/>
          <p:cNvGrpSpPr/>
          <p:nvPr/>
        </p:nvGrpSpPr>
        <p:grpSpPr>
          <a:xfrm rot="0">
            <a:off x="731520" y="329184"/>
            <a:ext cx="2926080" cy="548640"/>
            <a:chOff x="0" y="0"/>
            <a:chExt cx="3901440" cy="731520"/>
          </a:xfrm>
        </p:grpSpPr>
        <p:sp>
          <p:nvSpPr>
            <p:cNvPr name="Freeform 7" id="7"/>
            <p:cNvSpPr/>
            <p:nvPr/>
          </p:nvSpPr>
          <p:spPr>
            <a:xfrm flipH="false" flipV="false" rot="0">
              <a:off x="0" y="0"/>
              <a:ext cx="3901440" cy="731520"/>
            </a:xfrm>
            <a:custGeom>
              <a:avLst/>
              <a:gdLst/>
              <a:ahLst/>
              <a:cxnLst/>
              <a:rect r="r" b="b" t="t" l="l"/>
              <a:pathLst>
                <a:path h="731520" w="3901440">
                  <a:moveTo>
                    <a:pt x="0" y="0"/>
                  </a:moveTo>
                  <a:lnTo>
                    <a:pt x="3901440" y="0"/>
                  </a:lnTo>
                  <a:lnTo>
                    <a:pt x="3901440" y="731520"/>
                  </a:lnTo>
                  <a:lnTo>
                    <a:pt x="0" y="731520"/>
                  </a:lnTo>
                  <a:close/>
                </a:path>
              </a:pathLst>
            </a:custGeom>
            <a:blipFill>
              <a:blip r:embed="rId3">
                <a:alphaModFix amt="0"/>
              </a:blip>
              <a:stretch>
                <a:fillRect l="0" t="-53920" r="0" b="-53920"/>
              </a:stretch>
            </a:blipFill>
          </p:spPr>
        </p:sp>
        <p:sp>
          <p:nvSpPr>
            <p:cNvPr name="TextBox 8" id="8"/>
            <p:cNvSpPr txBox="true"/>
            <p:nvPr/>
          </p:nvSpPr>
          <p:spPr>
            <a:xfrm>
              <a:off x="0" y="-38100"/>
              <a:ext cx="3901440" cy="76962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03 · ARCHITECTURE</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718823" y="316487"/>
            <a:ext cx="2951483" cy="574043"/>
            <a:chOff x="0" y="0"/>
            <a:chExt cx="3935311" cy="765391"/>
          </a:xfrm>
        </p:grpSpPr>
        <p:sp>
          <p:nvSpPr>
            <p:cNvPr name="Freeform 3" id="3"/>
            <p:cNvSpPr/>
            <p:nvPr/>
          </p:nvSpPr>
          <p:spPr>
            <a:xfrm flipH="false" flipV="false" rot="0">
              <a:off x="16891" y="16891"/>
              <a:ext cx="3901440" cy="731520"/>
            </a:xfrm>
            <a:custGeom>
              <a:avLst/>
              <a:gdLst/>
              <a:ahLst/>
              <a:cxnLst/>
              <a:rect r="r" b="b" t="t" l="l"/>
              <a:pathLst>
                <a:path h="731520" w="3901440">
                  <a:moveTo>
                    <a:pt x="0" y="0"/>
                  </a:moveTo>
                  <a:lnTo>
                    <a:pt x="3901440" y="0"/>
                  </a:lnTo>
                  <a:lnTo>
                    <a:pt x="3901440" y="731520"/>
                  </a:lnTo>
                  <a:lnTo>
                    <a:pt x="0" y="731520"/>
                  </a:lnTo>
                  <a:close/>
                </a:path>
              </a:pathLst>
            </a:custGeom>
            <a:solidFill>
              <a:srgbClr val="0D9488"/>
            </a:solidFill>
          </p:spPr>
        </p:sp>
        <p:sp>
          <p:nvSpPr>
            <p:cNvPr name="Freeform 4" id="4"/>
            <p:cNvSpPr/>
            <p:nvPr/>
          </p:nvSpPr>
          <p:spPr>
            <a:xfrm flipH="false" flipV="false" rot="0">
              <a:off x="0" y="0"/>
              <a:ext cx="3935222" cy="765304"/>
            </a:xfrm>
            <a:custGeom>
              <a:avLst/>
              <a:gdLst/>
              <a:ahLst/>
              <a:cxnLst/>
              <a:rect r="r" b="b" t="t" l="l"/>
              <a:pathLst>
                <a:path h="765304" w="3935222">
                  <a:moveTo>
                    <a:pt x="16891" y="0"/>
                  </a:moveTo>
                  <a:lnTo>
                    <a:pt x="3918331" y="0"/>
                  </a:lnTo>
                  <a:cubicBezTo>
                    <a:pt x="3927729" y="0"/>
                    <a:pt x="3935222" y="7620"/>
                    <a:pt x="3935222" y="16891"/>
                  </a:cubicBezTo>
                  <a:lnTo>
                    <a:pt x="3935222" y="748411"/>
                  </a:lnTo>
                  <a:cubicBezTo>
                    <a:pt x="3935222" y="757809"/>
                    <a:pt x="3927602" y="765302"/>
                    <a:pt x="3918331" y="765302"/>
                  </a:cubicBezTo>
                  <a:lnTo>
                    <a:pt x="16891" y="765302"/>
                  </a:lnTo>
                  <a:cubicBezTo>
                    <a:pt x="7620" y="765429"/>
                    <a:pt x="0" y="757809"/>
                    <a:pt x="0" y="748411"/>
                  </a:cubicBezTo>
                  <a:lnTo>
                    <a:pt x="0" y="16891"/>
                  </a:lnTo>
                  <a:cubicBezTo>
                    <a:pt x="0" y="7620"/>
                    <a:pt x="7620" y="0"/>
                    <a:pt x="16891" y="0"/>
                  </a:cubicBezTo>
                  <a:moveTo>
                    <a:pt x="16891" y="33909"/>
                  </a:moveTo>
                  <a:lnTo>
                    <a:pt x="16891" y="16891"/>
                  </a:lnTo>
                  <a:lnTo>
                    <a:pt x="33909" y="16891"/>
                  </a:lnTo>
                  <a:lnTo>
                    <a:pt x="33909" y="748411"/>
                  </a:lnTo>
                  <a:lnTo>
                    <a:pt x="16891" y="748411"/>
                  </a:lnTo>
                  <a:lnTo>
                    <a:pt x="16891" y="731520"/>
                  </a:lnTo>
                  <a:lnTo>
                    <a:pt x="3918331" y="731520"/>
                  </a:lnTo>
                  <a:lnTo>
                    <a:pt x="3918331" y="748411"/>
                  </a:lnTo>
                  <a:lnTo>
                    <a:pt x="3901440" y="748411"/>
                  </a:lnTo>
                  <a:lnTo>
                    <a:pt x="3901440" y="16891"/>
                  </a:lnTo>
                  <a:lnTo>
                    <a:pt x="3918331" y="16891"/>
                  </a:lnTo>
                  <a:lnTo>
                    <a:pt x="3918331" y="33909"/>
                  </a:lnTo>
                  <a:lnTo>
                    <a:pt x="16891" y="33909"/>
                  </a:lnTo>
                  <a:close/>
                </a:path>
              </a:pathLst>
            </a:custGeom>
            <a:solidFill>
              <a:srgbClr val="0D9488"/>
            </a:solidFill>
          </p:spPr>
        </p:sp>
      </p:grpSp>
      <p:grpSp>
        <p:nvGrpSpPr>
          <p:cNvPr name="Group 5" id="5"/>
          <p:cNvGrpSpPr/>
          <p:nvPr/>
        </p:nvGrpSpPr>
        <p:grpSpPr>
          <a:xfrm rot="0">
            <a:off x="731520" y="329184"/>
            <a:ext cx="2926080" cy="548640"/>
            <a:chOff x="0" y="0"/>
            <a:chExt cx="3901440" cy="731520"/>
          </a:xfrm>
        </p:grpSpPr>
        <p:sp>
          <p:nvSpPr>
            <p:cNvPr name="Freeform 6" id="6"/>
            <p:cNvSpPr/>
            <p:nvPr/>
          </p:nvSpPr>
          <p:spPr>
            <a:xfrm flipH="false" flipV="false" rot="0">
              <a:off x="0" y="0"/>
              <a:ext cx="3901440" cy="731520"/>
            </a:xfrm>
            <a:custGeom>
              <a:avLst/>
              <a:gdLst/>
              <a:ahLst/>
              <a:cxnLst/>
              <a:rect r="r" b="b" t="t" l="l"/>
              <a:pathLst>
                <a:path h="731520" w="3901440">
                  <a:moveTo>
                    <a:pt x="0" y="0"/>
                  </a:moveTo>
                  <a:lnTo>
                    <a:pt x="3901440" y="0"/>
                  </a:lnTo>
                  <a:lnTo>
                    <a:pt x="3901440" y="731520"/>
                  </a:lnTo>
                  <a:lnTo>
                    <a:pt x="0" y="731520"/>
                  </a:lnTo>
                  <a:close/>
                </a:path>
              </a:pathLst>
            </a:custGeom>
            <a:blipFill>
              <a:blip r:embed="rId3">
                <a:alphaModFix amt="0"/>
              </a:blip>
              <a:stretch>
                <a:fillRect l="0" t="-53920" r="0" b="-53920"/>
              </a:stretch>
            </a:blipFill>
          </p:spPr>
        </p:sp>
        <p:sp>
          <p:nvSpPr>
            <p:cNvPr name="TextBox 7" id="7"/>
            <p:cNvSpPr txBox="true"/>
            <p:nvPr/>
          </p:nvSpPr>
          <p:spPr>
            <a:xfrm>
              <a:off x="0" y="-38100"/>
              <a:ext cx="3901440" cy="76962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04 · AMFF MODULE</a:t>
              </a:r>
            </a:p>
          </p:txBody>
        </p:sp>
      </p:grpSp>
      <p:grpSp>
        <p:nvGrpSpPr>
          <p:cNvPr name="Group 8" id="8"/>
          <p:cNvGrpSpPr/>
          <p:nvPr/>
        </p:nvGrpSpPr>
        <p:grpSpPr>
          <a:xfrm rot="0">
            <a:off x="914400" y="1005840"/>
            <a:ext cx="16459200" cy="1188720"/>
            <a:chOff x="0" y="0"/>
            <a:chExt cx="21945600" cy="1584960"/>
          </a:xfrm>
        </p:grpSpPr>
        <p:sp>
          <p:nvSpPr>
            <p:cNvPr name="Freeform 9" id="9"/>
            <p:cNvSpPr/>
            <p:nvPr/>
          </p:nvSpPr>
          <p:spPr>
            <a:xfrm flipH="false" flipV="false" rot="0">
              <a:off x="0" y="0"/>
              <a:ext cx="21945600" cy="1584960"/>
            </a:xfrm>
            <a:custGeom>
              <a:avLst/>
              <a:gdLst/>
              <a:ahLst/>
              <a:cxnLst/>
              <a:rect r="r" b="b" t="t" l="l"/>
              <a:pathLst>
                <a:path h="1584960" w="21945600">
                  <a:moveTo>
                    <a:pt x="0" y="0"/>
                  </a:moveTo>
                  <a:lnTo>
                    <a:pt x="21945600" y="0"/>
                  </a:lnTo>
                  <a:lnTo>
                    <a:pt x="21945600" y="1584960"/>
                  </a:lnTo>
                  <a:lnTo>
                    <a:pt x="0" y="1584960"/>
                  </a:lnTo>
                  <a:close/>
                </a:path>
              </a:pathLst>
            </a:custGeom>
            <a:blipFill>
              <a:blip r:embed="rId3">
                <a:alphaModFix amt="0"/>
              </a:blip>
              <a:stretch>
                <a:fillRect l="0" t="-219792" r="0" b="-219792"/>
              </a:stretch>
            </a:blipFill>
          </p:spPr>
        </p:sp>
        <p:sp>
          <p:nvSpPr>
            <p:cNvPr name="TextBox 10" id="10"/>
            <p:cNvSpPr txBox="true"/>
            <p:nvPr/>
          </p:nvSpPr>
          <p:spPr>
            <a:xfrm>
              <a:off x="0" y="-104775"/>
              <a:ext cx="21945600" cy="1689735"/>
            </a:xfrm>
            <a:prstGeom prst="rect">
              <a:avLst/>
            </a:prstGeom>
          </p:spPr>
          <p:txBody>
            <a:bodyPr anchor="ctr" rtlCol="false" tIns="0" lIns="0" bIns="0" rIns="0"/>
            <a:lstStyle/>
            <a:p>
              <a:pPr algn="l">
                <a:lnSpc>
                  <a:spcPts val="6240"/>
                </a:lnSpc>
              </a:pPr>
              <a:r>
                <a:rPr lang="en-US" sz="5200" b="true">
                  <a:solidFill>
                    <a:srgbClr val="1E293B"/>
                  </a:solidFill>
                  <a:latin typeface="Calibri (MS) Bold"/>
                  <a:ea typeface="Calibri (MS) Bold"/>
                  <a:cs typeface="Calibri (MS) Bold"/>
                  <a:sym typeface="Calibri (MS) Bold"/>
                </a:rPr>
                <a:t>Stage 1: Adaptive Multi-Scale Feature Fusion</a:t>
              </a:r>
            </a:p>
          </p:txBody>
        </p:sp>
      </p:grpSp>
      <p:grpSp>
        <p:nvGrpSpPr>
          <p:cNvPr name="Group 11" id="11"/>
          <p:cNvGrpSpPr/>
          <p:nvPr/>
        </p:nvGrpSpPr>
        <p:grpSpPr>
          <a:xfrm rot="0">
            <a:off x="725167" y="2279647"/>
            <a:ext cx="16837657" cy="12697"/>
            <a:chOff x="0" y="0"/>
            <a:chExt cx="22450209" cy="16929"/>
          </a:xfrm>
        </p:grpSpPr>
        <p:sp>
          <p:nvSpPr>
            <p:cNvPr name="Freeform 12" id="12"/>
            <p:cNvSpPr/>
            <p:nvPr/>
          </p:nvSpPr>
          <p:spPr>
            <a:xfrm flipH="false" flipV="false" rot="0">
              <a:off x="8509" y="0"/>
              <a:ext cx="22433281" cy="16891"/>
            </a:xfrm>
            <a:custGeom>
              <a:avLst/>
              <a:gdLst/>
              <a:ahLst/>
              <a:cxnLst/>
              <a:rect r="r" b="b" t="t" l="l"/>
              <a:pathLst>
                <a:path h="16891" w="22433281">
                  <a:moveTo>
                    <a:pt x="0" y="0"/>
                  </a:moveTo>
                  <a:lnTo>
                    <a:pt x="22433281" y="0"/>
                  </a:lnTo>
                  <a:lnTo>
                    <a:pt x="22433281" y="16891"/>
                  </a:lnTo>
                  <a:lnTo>
                    <a:pt x="0" y="16891"/>
                  </a:lnTo>
                  <a:close/>
                </a:path>
              </a:pathLst>
            </a:custGeom>
            <a:solidFill>
              <a:srgbClr val="E2E8F0"/>
            </a:solidFill>
          </p:spPr>
        </p:sp>
      </p:grpSp>
      <p:grpSp>
        <p:nvGrpSpPr>
          <p:cNvPr name="Group 13" id="13"/>
          <p:cNvGrpSpPr/>
          <p:nvPr/>
        </p:nvGrpSpPr>
        <p:grpSpPr>
          <a:xfrm rot="0">
            <a:off x="426215" y="2127643"/>
            <a:ext cx="9156697" cy="7678911"/>
            <a:chOff x="0" y="0"/>
            <a:chExt cx="12208929" cy="10238548"/>
          </a:xfrm>
        </p:grpSpPr>
        <p:sp>
          <p:nvSpPr>
            <p:cNvPr name="Freeform 14" id="14"/>
            <p:cNvSpPr/>
            <p:nvPr/>
          </p:nvSpPr>
          <p:spPr>
            <a:xfrm flipH="false" flipV="false" rot="0">
              <a:off x="8509" y="9029"/>
              <a:ext cx="12192000" cy="10220584"/>
            </a:xfrm>
            <a:custGeom>
              <a:avLst/>
              <a:gdLst/>
              <a:ahLst/>
              <a:cxnLst/>
              <a:rect r="r" b="b" t="t" l="l"/>
              <a:pathLst>
                <a:path h="10220584" w="12192000">
                  <a:moveTo>
                    <a:pt x="0" y="0"/>
                  </a:moveTo>
                  <a:lnTo>
                    <a:pt x="12192000" y="0"/>
                  </a:lnTo>
                  <a:lnTo>
                    <a:pt x="12192000" y="10220584"/>
                  </a:lnTo>
                  <a:lnTo>
                    <a:pt x="0" y="10220584"/>
                  </a:lnTo>
                  <a:close/>
                </a:path>
              </a:pathLst>
            </a:custGeom>
            <a:solidFill>
              <a:srgbClr val="FFFFFF"/>
            </a:solidFill>
          </p:spPr>
        </p:sp>
        <p:sp>
          <p:nvSpPr>
            <p:cNvPr name="Freeform 15" id="15"/>
            <p:cNvSpPr/>
            <p:nvPr/>
          </p:nvSpPr>
          <p:spPr>
            <a:xfrm flipH="false" flipV="false" rot="0">
              <a:off x="0" y="0"/>
              <a:ext cx="12209018" cy="10238637"/>
            </a:xfrm>
            <a:custGeom>
              <a:avLst/>
              <a:gdLst/>
              <a:ahLst/>
              <a:cxnLst/>
              <a:rect r="r" b="b" t="t" l="l"/>
              <a:pathLst>
                <a:path h="10238637" w="12209018">
                  <a:moveTo>
                    <a:pt x="8509" y="0"/>
                  </a:moveTo>
                  <a:lnTo>
                    <a:pt x="12200509" y="0"/>
                  </a:lnTo>
                  <a:cubicBezTo>
                    <a:pt x="12205208" y="0"/>
                    <a:pt x="12209018" y="4043"/>
                    <a:pt x="12209018" y="9029"/>
                  </a:cubicBezTo>
                  <a:lnTo>
                    <a:pt x="12209018" y="10229613"/>
                  </a:lnTo>
                  <a:cubicBezTo>
                    <a:pt x="12209018" y="10234599"/>
                    <a:pt x="12205208" y="10238637"/>
                    <a:pt x="12200509" y="10238637"/>
                  </a:cubicBezTo>
                  <a:lnTo>
                    <a:pt x="8509" y="10238637"/>
                  </a:lnTo>
                  <a:cubicBezTo>
                    <a:pt x="3810" y="10238637"/>
                    <a:pt x="0" y="10234599"/>
                    <a:pt x="0" y="10229613"/>
                  </a:cubicBezTo>
                  <a:lnTo>
                    <a:pt x="0" y="9029"/>
                  </a:lnTo>
                  <a:cubicBezTo>
                    <a:pt x="0" y="4043"/>
                    <a:pt x="3810" y="0"/>
                    <a:pt x="8509" y="0"/>
                  </a:cubicBezTo>
                  <a:moveTo>
                    <a:pt x="8509" y="17924"/>
                  </a:moveTo>
                  <a:lnTo>
                    <a:pt x="8509" y="9029"/>
                  </a:lnTo>
                  <a:lnTo>
                    <a:pt x="17018" y="9029"/>
                  </a:lnTo>
                  <a:lnTo>
                    <a:pt x="17018" y="10229613"/>
                  </a:lnTo>
                  <a:lnTo>
                    <a:pt x="8509" y="10229613"/>
                  </a:lnTo>
                  <a:lnTo>
                    <a:pt x="8509" y="10220584"/>
                  </a:lnTo>
                  <a:lnTo>
                    <a:pt x="12200509" y="10220584"/>
                  </a:lnTo>
                  <a:lnTo>
                    <a:pt x="12200509" y="10229613"/>
                  </a:lnTo>
                  <a:lnTo>
                    <a:pt x="12192000" y="10229613"/>
                  </a:lnTo>
                  <a:lnTo>
                    <a:pt x="12192000" y="9029"/>
                  </a:lnTo>
                  <a:lnTo>
                    <a:pt x="12200509" y="9029"/>
                  </a:lnTo>
                  <a:lnTo>
                    <a:pt x="12200509" y="18059"/>
                  </a:lnTo>
                  <a:lnTo>
                    <a:pt x="8509" y="18059"/>
                  </a:lnTo>
                  <a:close/>
                </a:path>
              </a:pathLst>
            </a:custGeom>
            <a:solidFill>
              <a:srgbClr val="E2E8F0"/>
            </a:solidFill>
          </p:spPr>
        </p:sp>
      </p:grpSp>
      <p:grpSp>
        <p:nvGrpSpPr>
          <p:cNvPr name="Group 16" id="16"/>
          <p:cNvGrpSpPr/>
          <p:nvPr/>
        </p:nvGrpSpPr>
        <p:grpSpPr>
          <a:xfrm rot="0">
            <a:off x="718823" y="2456183"/>
            <a:ext cx="135131" cy="7249163"/>
            <a:chOff x="0" y="0"/>
            <a:chExt cx="180175" cy="9665551"/>
          </a:xfrm>
        </p:grpSpPr>
        <p:sp>
          <p:nvSpPr>
            <p:cNvPr name="Freeform 17" id="17"/>
            <p:cNvSpPr/>
            <p:nvPr/>
          </p:nvSpPr>
          <p:spPr>
            <a:xfrm flipH="false" flipV="false" rot="0">
              <a:off x="16891" y="16891"/>
              <a:ext cx="146304" cy="9631681"/>
            </a:xfrm>
            <a:custGeom>
              <a:avLst/>
              <a:gdLst/>
              <a:ahLst/>
              <a:cxnLst/>
              <a:rect r="r" b="b" t="t" l="l"/>
              <a:pathLst>
                <a:path h="9631681" w="146304">
                  <a:moveTo>
                    <a:pt x="0" y="0"/>
                  </a:moveTo>
                  <a:lnTo>
                    <a:pt x="146304" y="0"/>
                  </a:lnTo>
                  <a:lnTo>
                    <a:pt x="146304" y="9631681"/>
                  </a:lnTo>
                  <a:lnTo>
                    <a:pt x="0" y="9631681"/>
                  </a:lnTo>
                  <a:close/>
                </a:path>
              </a:pathLst>
            </a:custGeom>
            <a:solidFill>
              <a:srgbClr val="0D9488"/>
            </a:solidFill>
          </p:spPr>
        </p:sp>
        <p:sp>
          <p:nvSpPr>
            <p:cNvPr name="Freeform 18" id="18"/>
            <p:cNvSpPr/>
            <p:nvPr/>
          </p:nvSpPr>
          <p:spPr>
            <a:xfrm flipH="false" flipV="false" rot="0">
              <a:off x="0" y="0"/>
              <a:ext cx="180086" cy="9665462"/>
            </a:xfrm>
            <a:custGeom>
              <a:avLst/>
              <a:gdLst/>
              <a:ahLst/>
              <a:cxnLst/>
              <a:rect r="r" b="b" t="t" l="l"/>
              <a:pathLst>
                <a:path h="9665462" w="180086">
                  <a:moveTo>
                    <a:pt x="16891" y="0"/>
                  </a:moveTo>
                  <a:lnTo>
                    <a:pt x="163195" y="0"/>
                  </a:lnTo>
                  <a:cubicBezTo>
                    <a:pt x="172593" y="0"/>
                    <a:pt x="180086" y="7620"/>
                    <a:pt x="180086" y="16891"/>
                  </a:cubicBezTo>
                  <a:lnTo>
                    <a:pt x="180086" y="9648572"/>
                  </a:lnTo>
                  <a:cubicBezTo>
                    <a:pt x="180086" y="9657969"/>
                    <a:pt x="172466" y="9665462"/>
                    <a:pt x="163195" y="9665462"/>
                  </a:cubicBezTo>
                  <a:lnTo>
                    <a:pt x="16891" y="9665462"/>
                  </a:lnTo>
                  <a:cubicBezTo>
                    <a:pt x="7493" y="9665462"/>
                    <a:pt x="0" y="9657842"/>
                    <a:pt x="0" y="9648572"/>
                  </a:cubicBezTo>
                  <a:lnTo>
                    <a:pt x="0" y="16891"/>
                  </a:lnTo>
                  <a:cubicBezTo>
                    <a:pt x="0" y="7620"/>
                    <a:pt x="7620" y="0"/>
                    <a:pt x="16891" y="0"/>
                  </a:cubicBezTo>
                  <a:moveTo>
                    <a:pt x="16891" y="33909"/>
                  </a:moveTo>
                  <a:lnTo>
                    <a:pt x="16891" y="16891"/>
                  </a:lnTo>
                  <a:lnTo>
                    <a:pt x="33909" y="16891"/>
                  </a:lnTo>
                  <a:lnTo>
                    <a:pt x="33909" y="9648572"/>
                  </a:lnTo>
                  <a:lnTo>
                    <a:pt x="16891" y="9648572"/>
                  </a:lnTo>
                  <a:lnTo>
                    <a:pt x="16891" y="9631680"/>
                  </a:lnTo>
                  <a:lnTo>
                    <a:pt x="163195" y="9631680"/>
                  </a:lnTo>
                  <a:lnTo>
                    <a:pt x="163195" y="9648572"/>
                  </a:lnTo>
                  <a:lnTo>
                    <a:pt x="146304" y="9648572"/>
                  </a:lnTo>
                  <a:lnTo>
                    <a:pt x="146304" y="16891"/>
                  </a:lnTo>
                  <a:lnTo>
                    <a:pt x="163195" y="16891"/>
                  </a:lnTo>
                  <a:lnTo>
                    <a:pt x="163195" y="33909"/>
                  </a:lnTo>
                  <a:lnTo>
                    <a:pt x="16891" y="33909"/>
                  </a:lnTo>
                  <a:close/>
                </a:path>
              </a:pathLst>
            </a:custGeom>
            <a:solidFill>
              <a:srgbClr val="0D9488"/>
            </a:solidFill>
          </p:spPr>
        </p:sp>
      </p:grpSp>
      <p:grpSp>
        <p:nvGrpSpPr>
          <p:cNvPr name="Group 19" id="19"/>
          <p:cNvGrpSpPr/>
          <p:nvPr/>
        </p:nvGrpSpPr>
        <p:grpSpPr>
          <a:xfrm rot="0">
            <a:off x="1048007" y="2321057"/>
            <a:ext cx="500891" cy="500891"/>
            <a:chOff x="0" y="0"/>
            <a:chExt cx="667855" cy="667855"/>
          </a:xfrm>
        </p:grpSpPr>
        <p:sp>
          <p:nvSpPr>
            <p:cNvPr name="Freeform 20" id="20"/>
            <p:cNvSpPr/>
            <p:nvPr/>
          </p:nvSpPr>
          <p:spPr>
            <a:xfrm flipH="false" flipV="false" rot="0">
              <a:off x="16891" y="16891"/>
              <a:ext cx="633984" cy="633984"/>
            </a:xfrm>
            <a:custGeom>
              <a:avLst/>
              <a:gdLst/>
              <a:ahLst/>
              <a:cxnLst/>
              <a:rect r="r" b="b" t="t" l="l"/>
              <a:pathLst>
                <a:path h="633984" w="633984">
                  <a:moveTo>
                    <a:pt x="0" y="0"/>
                  </a:moveTo>
                  <a:lnTo>
                    <a:pt x="633984" y="0"/>
                  </a:lnTo>
                  <a:lnTo>
                    <a:pt x="633984" y="633984"/>
                  </a:lnTo>
                  <a:lnTo>
                    <a:pt x="0" y="633984"/>
                  </a:lnTo>
                  <a:close/>
                </a:path>
              </a:pathLst>
            </a:custGeom>
            <a:solidFill>
              <a:srgbClr val="0D9488"/>
            </a:solidFill>
          </p:spPr>
        </p:sp>
        <p:sp>
          <p:nvSpPr>
            <p:cNvPr name="Freeform 21" id="21"/>
            <p:cNvSpPr/>
            <p:nvPr/>
          </p:nvSpPr>
          <p:spPr>
            <a:xfrm flipH="false" flipV="false" rot="0">
              <a:off x="0" y="0"/>
              <a:ext cx="667766" cy="667768"/>
            </a:xfrm>
            <a:custGeom>
              <a:avLst/>
              <a:gdLst/>
              <a:ahLst/>
              <a:cxnLst/>
              <a:rect r="r" b="b" t="t" l="l"/>
              <a:pathLst>
                <a:path h="667768" w="667766">
                  <a:moveTo>
                    <a:pt x="16891" y="0"/>
                  </a:moveTo>
                  <a:lnTo>
                    <a:pt x="650875" y="0"/>
                  </a:lnTo>
                  <a:cubicBezTo>
                    <a:pt x="660273" y="0"/>
                    <a:pt x="667766" y="7620"/>
                    <a:pt x="667766" y="16891"/>
                  </a:cubicBezTo>
                  <a:lnTo>
                    <a:pt x="667766" y="650875"/>
                  </a:lnTo>
                  <a:cubicBezTo>
                    <a:pt x="667766" y="660273"/>
                    <a:pt x="660146" y="667766"/>
                    <a:pt x="650875" y="667766"/>
                  </a:cubicBezTo>
                  <a:lnTo>
                    <a:pt x="16891" y="667766"/>
                  </a:lnTo>
                  <a:cubicBezTo>
                    <a:pt x="7620" y="667893"/>
                    <a:pt x="0" y="660273"/>
                    <a:pt x="0" y="650875"/>
                  </a:cubicBezTo>
                  <a:lnTo>
                    <a:pt x="0" y="16891"/>
                  </a:lnTo>
                  <a:cubicBezTo>
                    <a:pt x="0" y="7620"/>
                    <a:pt x="7620" y="0"/>
                    <a:pt x="16891" y="0"/>
                  </a:cubicBezTo>
                  <a:moveTo>
                    <a:pt x="16891" y="33909"/>
                  </a:moveTo>
                  <a:lnTo>
                    <a:pt x="16891" y="16891"/>
                  </a:lnTo>
                  <a:lnTo>
                    <a:pt x="33909" y="16891"/>
                  </a:lnTo>
                  <a:lnTo>
                    <a:pt x="33909" y="650875"/>
                  </a:lnTo>
                  <a:lnTo>
                    <a:pt x="16891" y="650875"/>
                  </a:lnTo>
                  <a:lnTo>
                    <a:pt x="16891" y="633984"/>
                  </a:lnTo>
                  <a:lnTo>
                    <a:pt x="650875" y="633984"/>
                  </a:lnTo>
                  <a:lnTo>
                    <a:pt x="650875" y="650875"/>
                  </a:lnTo>
                  <a:lnTo>
                    <a:pt x="633984" y="650875"/>
                  </a:lnTo>
                  <a:lnTo>
                    <a:pt x="633984" y="16891"/>
                  </a:lnTo>
                  <a:lnTo>
                    <a:pt x="650875" y="16891"/>
                  </a:lnTo>
                  <a:lnTo>
                    <a:pt x="650875" y="33909"/>
                  </a:lnTo>
                  <a:lnTo>
                    <a:pt x="16891" y="33909"/>
                  </a:lnTo>
                  <a:close/>
                </a:path>
              </a:pathLst>
            </a:custGeom>
            <a:solidFill>
              <a:srgbClr val="0D9488"/>
            </a:solidFill>
          </p:spPr>
        </p:sp>
      </p:grpSp>
      <p:grpSp>
        <p:nvGrpSpPr>
          <p:cNvPr name="Group 22" id="22"/>
          <p:cNvGrpSpPr/>
          <p:nvPr/>
        </p:nvGrpSpPr>
        <p:grpSpPr>
          <a:xfrm rot="0">
            <a:off x="1060704" y="2333754"/>
            <a:ext cx="475488" cy="475488"/>
            <a:chOff x="0" y="0"/>
            <a:chExt cx="633984" cy="633984"/>
          </a:xfrm>
        </p:grpSpPr>
        <p:sp>
          <p:nvSpPr>
            <p:cNvPr name="Freeform 23" id="23"/>
            <p:cNvSpPr/>
            <p:nvPr/>
          </p:nvSpPr>
          <p:spPr>
            <a:xfrm flipH="false" flipV="false" rot="0">
              <a:off x="0" y="0"/>
              <a:ext cx="633984" cy="633984"/>
            </a:xfrm>
            <a:custGeom>
              <a:avLst/>
              <a:gdLst/>
              <a:ahLst/>
              <a:cxnLst/>
              <a:rect r="r" b="b" t="t" l="l"/>
              <a:pathLst>
                <a:path h="633984" w="633984">
                  <a:moveTo>
                    <a:pt x="0" y="0"/>
                  </a:moveTo>
                  <a:lnTo>
                    <a:pt x="633984" y="0"/>
                  </a:lnTo>
                  <a:lnTo>
                    <a:pt x="633984" y="633984"/>
                  </a:lnTo>
                  <a:lnTo>
                    <a:pt x="0" y="633984"/>
                  </a:lnTo>
                  <a:close/>
                </a:path>
              </a:pathLst>
            </a:custGeom>
            <a:blipFill>
              <a:blip r:embed="rId3">
                <a:alphaModFix amt="0"/>
              </a:blip>
              <a:stretch>
                <a:fillRect l="-78303" t="0" r="-78303" b="0"/>
              </a:stretch>
            </a:blipFill>
          </p:spPr>
        </p:sp>
        <p:sp>
          <p:nvSpPr>
            <p:cNvPr name="TextBox 24" id="24"/>
            <p:cNvSpPr txBox="true"/>
            <p:nvPr/>
          </p:nvSpPr>
          <p:spPr>
            <a:xfrm>
              <a:off x="0" y="-38100"/>
              <a:ext cx="633984" cy="672084"/>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1</a:t>
              </a:r>
            </a:p>
          </p:txBody>
        </p:sp>
      </p:grpSp>
      <p:grpSp>
        <p:nvGrpSpPr>
          <p:cNvPr name="Group 25" id="25"/>
          <p:cNvGrpSpPr/>
          <p:nvPr/>
        </p:nvGrpSpPr>
        <p:grpSpPr>
          <a:xfrm rot="0">
            <a:off x="1682496" y="2333754"/>
            <a:ext cx="7863840" cy="475488"/>
            <a:chOff x="0" y="0"/>
            <a:chExt cx="10485120" cy="633984"/>
          </a:xfrm>
        </p:grpSpPr>
        <p:sp>
          <p:nvSpPr>
            <p:cNvPr name="Freeform 26" id="26"/>
            <p:cNvSpPr/>
            <p:nvPr/>
          </p:nvSpPr>
          <p:spPr>
            <a:xfrm flipH="false" flipV="false" rot="0">
              <a:off x="0" y="0"/>
              <a:ext cx="10485120" cy="633984"/>
            </a:xfrm>
            <a:custGeom>
              <a:avLst/>
              <a:gdLst/>
              <a:ahLst/>
              <a:cxnLst/>
              <a:rect r="r" b="b" t="t" l="l"/>
              <a:pathLst>
                <a:path h="633984" w="10485120">
                  <a:moveTo>
                    <a:pt x="0" y="0"/>
                  </a:moveTo>
                  <a:lnTo>
                    <a:pt x="10485120" y="0"/>
                  </a:lnTo>
                  <a:lnTo>
                    <a:pt x="10485120" y="633984"/>
                  </a:lnTo>
                  <a:lnTo>
                    <a:pt x="0" y="633984"/>
                  </a:lnTo>
                  <a:close/>
                </a:path>
              </a:pathLst>
            </a:custGeom>
            <a:blipFill>
              <a:blip r:embed="rId3">
                <a:alphaModFix amt="0"/>
              </a:blip>
              <a:stretch>
                <a:fillRect l="0" t="-272252" r="0" b="-272252"/>
              </a:stretch>
            </a:blipFill>
          </p:spPr>
        </p:sp>
        <p:sp>
          <p:nvSpPr>
            <p:cNvPr name="TextBox 27" id="27"/>
            <p:cNvSpPr txBox="true"/>
            <p:nvPr/>
          </p:nvSpPr>
          <p:spPr>
            <a:xfrm>
              <a:off x="0" y="-47625"/>
              <a:ext cx="10485120" cy="681609"/>
            </a:xfrm>
            <a:prstGeom prst="rect">
              <a:avLst/>
            </a:prstGeom>
          </p:spPr>
          <p:txBody>
            <a:bodyPr anchor="ctr" rtlCol="false" tIns="0" lIns="0" bIns="0" rIns="0"/>
            <a:lstStyle/>
            <a:p>
              <a:pPr algn="l">
                <a:lnSpc>
                  <a:spcPts val="2640"/>
                </a:lnSpc>
              </a:pPr>
              <a:r>
                <a:rPr lang="en-US" sz="2200" b="true">
                  <a:solidFill>
                    <a:srgbClr val="1E293B"/>
                  </a:solidFill>
                  <a:latin typeface="Calibri (MS) Bold"/>
                  <a:ea typeface="Calibri (MS) Bold"/>
                  <a:cs typeface="Calibri (MS) Bold"/>
                  <a:sym typeface="Calibri (MS) Bold"/>
                </a:rPr>
                <a:t>Step 1: Feature extraction</a:t>
              </a:r>
            </a:p>
          </p:txBody>
        </p:sp>
      </p:grpSp>
      <p:grpSp>
        <p:nvGrpSpPr>
          <p:cNvPr name="Group 28" id="28"/>
          <p:cNvGrpSpPr/>
          <p:nvPr/>
        </p:nvGrpSpPr>
        <p:grpSpPr>
          <a:xfrm rot="0">
            <a:off x="1682496" y="2809242"/>
            <a:ext cx="7900416" cy="841248"/>
            <a:chOff x="0" y="0"/>
            <a:chExt cx="10533888" cy="1121664"/>
          </a:xfrm>
        </p:grpSpPr>
        <p:sp>
          <p:nvSpPr>
            <p:cNvPr name="Freeform 29" id="29"/>
            <p:cNvSpPr/>
            <p:nvPr/>
          </p:nvSpPr>
          <p:spPr>
            <a:xfrm flipH="false" flipV="false" rot="0">
              <a:off x="0" y="0"/>
              <a:ext cx="10533888" cy="1121664"/>
            </a:xfrm>
            <a:custGeom>
              <a:avLst/>
              <a:gdLst/>
              <a:ahLst/>
              <a:cxnLst/>
              <a:rect r="r" b="b" t="t" l="l"/>
              <a:pathLst>
                <a:path h="1121664" w="10533888">
                  <a:moveTo>
                    <a:pt x="0" y="0"/>
                  </a:moveTo>
                  <a:lnTo>
                    <a:pt x="10533888" y="0"/>
                  </a:lnTo>
                  <a:lnTo>
                    <a:pt x="10533888" y="1121664"/>
                  </a:lnTo>
                  <a:lnTo>
                    <a:pt x="0" y="1121664"/>
                  </a:lnTo>
                  <a:close/>
                </a:path>
              </a:pathLst>
            </a:custGeom>
            <a:blipFill>
              <a:blip r:embed="rId3">
                <a:alphaModFix amt="0"/>
              </a:blip>
              <a:stretch>
                <a:fillRect l="0" t="-132989" r="0" b="-132989"/>
              </a:stretch>
            </a:blipFill>
          </p:spPr>
        </p:sp>
        <p:sp>
          <p:nvSpPr>
            <p:cNvPr name="TextBox 30" id="30"/>
            <p:cNvSpPr txBox="true"/>
            <p:nvPr/>
          </p:nvSpPr>
          <p:spPr>
            <a:xfrm>
              <a:off x="0" y="-38100"/>
              <a:ext cx="10533888" cy="1159764"/>
            </a:xfrm>
            <a:prstGeom prst="rect">
              <a:avLst/>
            </a:prstGeom>
          </p:spPr>
          <p:txBody>
            <a:bodyPr anchor="ctr" rtlCol="false" tIns="0" lIns="0" bIns="0" rIns="0"/>
            <a:lstStyle/>
            <a:p>
              <a:pPr algn="l">
                <a:lnSpc>
                  <a:spcPts val="2280"/>
                </a:lnSpc>
              </a:pPr>
              <a:r>
                <a:rPr lang="en-US" sz="1900">
                  <a:solidFill>
                    <a:srgbClr val="94A3B8"/>
                  </a:solidFill>
                  <a:latin typeface="Calibri (MS)"/>
                  <a:ea typeface="Calibri (MS)"/>
                  <a:cs typeface="Calibri (MS)"/>
                  <a:sym typeface="Calibri (MS)"/>
                </a:rPr>
                <a:t>Swin Transformer (ST) processes the image and produces 4 hierarchical feature maps: F1, F2, F3, F4. F1 is discarded (too low-level). F2 has medium detail, F4 has global semantics.</a:t>
              </a:r>
            </a:p>
          </p:txBody>
        </p:sp>
      </p:grpSp>
      <p:grpSp>
        <p:nvGrpSpPr>
          <p:cNvPr name="Group 31" id="31"/>
          <p:cNvGrpSpPr/>
          <p:nvPr/>
        </p:nvGrpSpPr>
        <p:grpSpPr>
          <a:xfrm rot="0">
            <a:off x="1048007" y="3716531"/>
            <a:ext cx="500891" cy="500891"/>
            <a:chOff x="0" y="0"/>
            <a:chExt cx="667855" cy="667855"/>
          </a:xfrm>
        </p:grpSpPr>
        <p:sp>
          <p:nvSpPr>
            <p:cNvPr name="Freeform 32" id="32"/>
            <p:cNvSpPr/>
            <p:nvPr/>
          </p:nvSpPr>
          <p:spPr>
            <a:xfrm flipH="false" flipV="false" rot="0">
              <a:off x="16891" y="16891"/>
              <a:ext cx="633984" cy="633984"/>
            </a:xfrm>
            <a:custGeom>
              <a:avLst/>
              <a:gdLst/>
              <a:ahLst/>
              <a:cxnLst/>
              <a:rect r="r" b="b" t="t" l="l"/>
              <a:pathLst>
                <a:path h="633984" w="633984">
                  <a:moveTo>
                    <a:pt x="0" y="0"/>
                  </a:moveTo>
                  <a:lnTo>
                    <a:pt x="633984" y="0"/>
                  </a:lnTo>
                  <a:lnTo>
                    <a:pt x="633984" y="633984"/>
                  </a:lnTo>
                  <a:lnTo>
                    <a:pt x="0" y="633984"/>
                  </a:lnTo>
                  <a:close/>
                </a:path>
              </a:pathLst>
            </a:custGeom>
            <a:solidFill>
              <a:srgbClr val="0D1B3E"/>
            </a:solidFill>
          </p:spPr>
        </p:sp>
        <p:sp>
          <p:nvSpPr>
            <p:cNvPr name="Freeform 33" id="33"/>
            <p:cNvSpPr/>
            <p:nvPr/>
          </p:nvSpPr>
          <p:spPr>
            <a:xfrm flipH="false" flipV="false" rot="0">
              <a:off x="0" y="0"/>
              <a:ext cx="667766" cy="667768"/>
            </a:xfrm>
            <a:custGeom>
              <a:avLst/>
              <a:gdLst/>
              <a:ahLst/>
              <a:cxnLst/>
              <a:rect r="r" b="b" t="t" l="l"/>
              <a:pathLst>
                <a:path h="667768" w="667766">
                  <a:moveTo>
                    <a:pt x="16891" y="0"/>
                  </a:moveTo>
                  <a:lnTo>
                    <a:pt x="650875" y="0"/>
                  </a:lnTo>
                  <a:cubicBezTo>
                    <a:pt x="660273" y="0"/>
                    <a:pt x="667766" y="7620"/>
                    <a:pt x="667766" y="16891"/>
                  </a:cubicBezTo>
                  <a:lnTo>
                    <a:pt x="667766" y="650875"/>
                  </a:lnTo>
                  <a:cubicBezTo>
                    <a:pt x="667766" y="660273"/>
                    <a:pt x="660146" y="667766"/>
                    <a:pt x="650875" y="667766"/>
                  </a:cubicBezTo>
                  <a:lnTo>
                    <a:pt x="16891" y="667766"/>
                  </a:lnTo>
                  <a:cubicBezTo>
                    <a:pt x="7620" y="667893"/>
                    <a:pt x="0" y="660273"/>
                    <a:pt x="0" y="650875"/>
                  </a:cubicBezTo>
                  <a:lnTo>
                    <a:pt x="0" y="16891"/>
                  </a:lnTo>
                  <a:cubicBezTo>
                    <a:pt x="0" y="7620"/>
                    <a:pt x="7620" y="0"/>
                    <a:pt x="16891" y="0"/>
                  </a:cubicBezTo>
                  <a:moveTo>
                    <a:pt x="16891" y="33909"/>
                  </a:moveTo>
                  <a:lnTo>
                    <a:pt x="16891" y="16891"/>
                  </a:lnTo>
                  <a:lnTo>
                    <a:pt x="33909" y="16891"/>
                  </a:lnTo>
                  <a:lnTo>
                    <a:pt x="33909" y="650875"/>
                  </a:lnTo>
                  <a:lnTo>
                    <a:pt x="16891" y="650875"/>
                  </a:lnTo>
                  <a:lnTo>
                    <a:pt x="16891" y="633984"/>
                  </a:lnTo>
                  <a:lnTo>
                    <a:pt x="650875" y="633984"/>
                  </a:lnTo>
                  <a:lnTo>
                    <a:pt x="650875" y="650875"/>
                  </a:lnTo>
                  <a:lnTo>
                    <a:pt x="633984" y="650875"/>
                  </a:lnTo>
                  <a:lnTo>
                    <a:pt x="633984" y="16891"/>
                  </a:lnTo>
                  <a:lnTo>
                    <a:pt x="650875" y="16891"/>
                  </a:lnTo>
                  <a:lnTo>
                    <a:pt x="650875" y="33909"/>
                  </a:lnTo>
                  <a:lnTo>
                    <a:pt x="16891" y="33909"/>
                  </a:lnTo>
                  <a:close/>
                </a:path>
              </a:pathLst>
            </a:custGeom>
            <a:solidFill>
              <a:srgbClr val="0D1B3E"/>
            </a:solidFill>
          </p:spPr>
        </p:sp>
      </p:grpSp>
      <p:grpSp>
        <p:nvGrpSpPr>
          <p:cNvPr name="Group 34" id="34"/>
          <p:cNvGrpSpPr/>
          <p:nvPr/>
        </p:nvGrpSpPr>
        <p:grpSpPr>
          <a:xfrm rot="0">
            <a:off x="1060704" y="3695443"/>
            <a:ext cx="475488" cy="475488"/>
            <a:chOff x="0" y="0"/>
            <a:chExt cx="633984" cy="633984"/>
          </a:xfrm>
        </p:grpSpPr>
        <p:sp>
          <p:nvSpPr>
            <p:cNvPr name="Freeform 35" id="35"/>
            <p:cNvSpPr/>
            <p:nvPr/>
          </p:nvSpPr>
          <p:spPr>
            <a:xfrm flipH="false" flipV="false" rot="0">
              <a:off x="0" y="0"/>
              <a:ext cx="633984" cy="633984"/>
            </a:xfrm>
            <a:custGeom>
              <a:avLst/>
              <a:gdLst/>
              <a:ahLst/>
              <a:cxnLst/>
              <a:rect r="r" b="b" t="t" l="l"/>
              <a:pathLst>
                <a:path h="633984" w="633984">
                  <a:moveTo>
                    <a:pt x="0" y="0"/>
                  </a:moveTo>
                  <a:lnTo>
                    <a:pt x="633984" y="0"/>
                  </a:lnTo>
                  <a:lnTo>
                    <a:pt x="633984" y="633984"/>
                  </a:lnTo>
                  <a:lnTo>
                    <a:pt x="0" y="633984"/>
                  </a:lnTo>
                  <a:close/>
                </a:path>
              </a:pathLst>
            </a:custGeom>
            <a:blipFill>
              <a:blip r:embed="rId3">
                <a:alphaModFix amt="0"/>
              </a:blip>
              <a:stretch>
                <a:fillRect l="-78303" t="0" r="-78303" b="0"/>
              </a:stretch>
            </a:blipFill>
          </p:spPr>
        </p:sp>
        <p:sp>
          <p:nvSpPr>
            <p:cNvPr name="TextBox 36" id="36"/>
            <p:cNvSpPr txBox="true"/>
            <p:nvPr/>
          </p:nvSpPr>
          <p:spPr>
            <a:xfrm>
              <a:off x="0" y="-38100"/>
              <a:ext cx="633984" cy="672084"/>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2</a:t>
              </a:r>
            </a:p>
          </p:txBody>
        </p:sp>
      </p:grpSp>
      <p:grpSp>
        <p:nvGrpSpPr>
          <p:cNvPr name="Group 37" id="37"/>
          <p:cNvGrpSpPr/>
          <p:nvPr/>
        </p:nvGrpSpPr>
        <p:grpSpPr>
          <a:xfrm rot="0">
            <a:off x="1682496" y="3704968"/>
            <a:ext cx="7863840" cy="475488"/>
            <a:chOff x="0" y="0"/>
            <a:chExt cx="10485120" cy="633984"/>
          </a:xfrm>
        </p:grpSpPr>
        <p:sp>
          <p:nvSpPr>
            <p:cNvPr name="Freeform 38" id="38"/>
            <p:cNvSpPr/>
            <p:nvPr/>
          </p:nvSpPr>
          <p:spPr>
            <a:xfrm flipH="false" flipV="false" rot="0">
              <a:off x="0" y="0"/>
              <a:ext cx="10485120" cy="633984"/>
            </a:xfrm>
            <a:custGeom>
              <a:avLst/>
              <a:gdLst/>
              <a:ahLst/>
              <a:cxnLst/>
              <a:rect r="r" b="b" t="t" l="l"/>
              <a:pathLst>
                <a:path h="633984" w="10485120">
                  <a:moveTo>
                    <a:pt x="0" y="0"/>
                  </a:moveTo>
                  <a:lnTo>
                    <a:pt x="10485120" y="0"/>
                  </a:lnTo>
                  <a:lnTo>
                    <a:pt x="10485120" y="633984"/>
                  </a:lnTo>
                  <a:lnTo>
                    <a:pt x="0" y="633984"/>
                  </a:lnTo>
                  <a:close/>
                </a:path>
              </a:pathLst>
            </a:custGeom>
            <a:blipFill>
              <a:blip r:embed="rId3">
                <a:alphaModFix amt="0"/>
              </a:blip>
              <a:stretch>
                <a:fillRect l="0" t="-272252" r="0" b="-272252"/>
              </a:stretch>
            </a:blipFill>
          </p:spPr>
        </p:sp>
        <p:sp>
          <p:nvSpPr>
            <p:cNvPr name="TextBox 39" id="39"/>
            <p:cNvSpPr txBox="true"/>
            <p:nvPr/>
          </p:nvSpPr>
          <p:spPr>
            <a:xfrm>
              <a:off x="0" y="-47625"/>
              <a:ext cx="10485120" cy="681609"/>
            </a:xfrm>
            <a:prstGeom prst="rect">
              <a:avLst/>
            </a:prstGeom>
          </p:spPr>
          <p:txBody>
            <a:bodyPr anchor="ctr" rtlCol="false" tIns="0" lIns="0" bIns="0" rIns="0"/>
            <a:lstStyle/>
            <a:p>
              <a:pPr algn="l">
                <a:lnSpc>
                  <a:spcPts val="2640"/>
                </a:lnSpc>
              </a:pPr>
              <a:r>
                <a:rPr lang="en-US" sz="2200" b="true">
                  <a:solidFill>
                    <a:srgbClr val="1E293B"/>
                  </a:solidFill>
                  <a:latin typeface="Calibri (MS) Bold"/>
                  <a:ea typeface="Calibri (MS) Bold"/>
                  <a:cs typeface="Calibri (MS) Bold"/>
                  <a:sym typeface="Calibri (MS) Bold"/>
                </a:rPr>
                <a:t>Step 2: Multi-scale concatenation</a:t>
              </a:r>
            </a:p>
          </p:txBody>
        </p:sp>
      </p:grpSp>
      <p:grpSp>
        <p:nvGrpSpPr>
          <p:cNvPr name="Group 40" id="40"/>
          <p:cNvGrpSpPr/>
          <p:nvPr/>
        </p:nvGrpSpPr>
        <p:grpSpPr>
          <a:xfrm rot="0">
            <a:off x="1682496" y="4170931"/>
            <a:ext cx="7900416" cy="841248"/>
            <a:chOff x="0" y="0"/>
            <a:chExt cx="10533888" cy="1121664"/>
          </a:xfrm>
        </p:grpSpPr>
        <p:sp>
          <p:nvSpPr>
            <p:cNvPr name="Freeform 41" id="41"/>
            <p:cNvSpPr/>
            <p:nvPr/>
          </p:nvSpPr>
          <p:spPr>
            <a:xfrm flipH="false" flipV="false" rot="0">
              <a:off x="0" y="0"/>
              <a:ext cx="10533888" cy="1121664"/>
            </a:xfrm>
            <a:custGeom>
              <a:avLst/>
              <a:gdLst/>
              <a:ahLst/>
              <a:cxnLst/>
              <a:rect r="r" b="b" t="t" l="l"/>
              <a:pathLst>
                <a:path h="1121664" w="10533888">
                  <a:moveTo>
                    <a:pt x="0" y="0"/>
                  </a:moveTo>
                  <a:lnTo>
                    <a:pt x="10533888" y="0"/>
                  </a:lnTo>
                  <a:lnTo>
                    <a:pt x="10533888" y="1121664"/>
                  </a:lnTo>
                  <a:lnTo>
                    <a:pt x="0" y="1121664"/>
                  </a:lnTo>
                  <a:close/>
                </a:path>
              </a:pathLst>
            </a:custGeom>
            <a:blipFill>
              <a:blip r:embed="rId3">
                <a:alphaModFix amt="0"/>
              </a:blip>
              <a:stretch>
                <a:fillRect l="0" t="-132989" r="0" b="-132989"/>
              </a:stretch>
            </a:blipFill>
          </p:spPr>
        </p:sp>
        <p:sp>
          <p:nvSpPr>
            <p:cNvPr name="TextBox 42" id="42"/>
            <p:cNvSpPr txBox="true"/>
            <p:nvPr/>
          </p:nvSpPr>
          <p:spPr>
            <a:xfrm>
              <a:off x="0" y="-38100"/>
              <a:ext cx="10533888" cy="1159764"/>
            </a:xfrm>
            <a:prstGeom prst="rect">
              <a:avLst/>
            </a:prstGeom>
          </p:spPr>
          <p:txBody>
            <a:bodyPr anchor="ctr" rtlCol="false" tIns="0" lIns="0" bIns="0" rIns="0"/>
            <a:lstStyle/>
            <a:p>
              <a:pPr algn="l">
                <a:lnSpc>
                  <a:spcPts val="2280"/>
                </a:lnSpc>
              </a:pPr>
              <a:r>
                <a:rPr lang="en-US" sz="1900">
                  <a:solidFill>
                    <a:srgbClr val="94A3B8"/>
                  </a:solidFill>
                  <a:latin typeface="Calibri (MS)"/>
                  <a:ea typeface="Calibri (MS)"/>
                  <a:cs typeface="Calibri (MS)"/>
                  <a:sym typeface="Calibri (MS)"/>
                </a:rPr>
                <a:t>F2, F3, F4 are stacked along the channel dimension:</a:t>
              </a:r>
            </a:p>
            <a:p>
              <a:pPr algn="l">
                <a:lnSpc>
                  <a:spcPts val="2280"/>
                </a:lnSpc>
              </a:pPr>
              <a:r>
                <a:rPr lang="en-US" sz="1900">
                  <a:solidFill>
                    <a:srgbClr val="94A3B8"/>
                  </a:solidFill>
                  <a:latin typeface="Calibri (MS)"/>
                  <a:ea typeface="Calibri (MS)"/>
                  <a:cs typeface="Calibri (MS)"/>
                  <a:sym typeface="Calibri (MS)"/>
                </a:rPr>
                <a:t>   F = c(F2, F3, F4)</a:t>
              </a:r>
            </a:p>
            <a:p>
              <a:pPr algn="l">
                <a:lnSpc>
                  <a:spcPts val="2280"/>
                </a:lnSpc>
              </a:pPr>
              <a:r>
                <a:rPr lang="en-US" sz="1900">
                  <a:solidFill>
                    <a:srgbClr val="94A3B8"/>
                  </a:solidFill>
                  <a:latin typeface="Calibri (MS)"/>
                  <a:ea typeface="Calibri (MS)"/>
                  <a:cs typeface="Calibri (MS)"/>
                  <a:sym typeface="Calibri (MS)"/>
                </a:rPr>
                <a:t>where c = concatenation. This merges detail at 3 scales.</a:t>
              </a:r>
            </a:p>
          </p:txBody>
        </p:sp>
      </p:grpSp>
      <p:grpSp>
        <p:nvGrpSpPr>
          <p:cNvPr name="Group 43" id="43"/>
          <p:cNvGrpSpPr/>
          <p:nvPr/>
        </p:nvGrpSpPr>
        <p:grpSpPr>
          <a:xfrm rot="0">
            <a:off x="1038482" y="5012179"/>
            <a:ext cx="500891" cy="500891"/>
            <a:chOff x="0" y="0"/>
            <a:chExt cx="667855" cy="667855"/>
          </a:xfrm>
        </p:grpSpPr>
        <p:sp>
          <p:nvSpPr>
            <p:cNvPr name="Freeform 44" id="44"/>
            <p:cNvSpPr/>
            <p:nvPr/>
          </p:nvSpPr>
          <p:spPr>
            <a:xfrm flipH="false" flipV="false" rot="0">
              <a:off x="16891" y="16891"/>
              <a:ext cx="633984" cy="633984"/>
            </a:xfrm>
            <a:custGeom>
              <a:avLst/>
              <a:gdLst/>
              <a:ahLst/>
              <a:cxnLst/>
              <a:rect r="r" b="b" t="t" l="l"/>
              <a:pathLst>
                <a:path h="633984" w="633984">
                  <a:moveTo>
                    <a:pt x="0" y="0"/>
                  </a:moveTo>
                  <a:lnTo>
                    <a:pt x="633984" y="0"/>
                  </a:lnTo>
                  <a:lnTo>
                    <a:pt x="633984" y="633984"/>
                  </a:lnTo>
                  <a:lnTo>
                    <a:pt x="0" y="633984"/>
                  </a:lnTo>
                  <a:close/>
                </a:path>
              </a:pathLst>
            </a:custGeom>
            <a:solidFill>
              <a:srgbClr val="6D28D9"/>
            </a:solidFill>
          </p:spPr>
        </p:sp>
        <p:sp>
          <p:nvSpPr>
            <p:cNvPr name="Freeform 45" id="45"/>
            <p:cNvSpPr/>
            <p:nvPr/>
          </p:nvSpPr>
          <p:spPr>
            <a:xfrm flipH="false" flipV="false" rot="0">
              <a:off x="0" y="0"/>
              <a:ext cx="667766" cy="667768"/>
            </a:xfrm>
            <a:custGeom>
              <a:avLst/>
              <a:gdLst/>
              <a:ahLst/>
              <a:cxnLst/>
              <a:rect r="r" b="b" t="t" l="l"/>
              <a:pathLst>
                <a:path h="667768" w="667766">
                  <a:moveTo>
                    <a:pt x="16891" y="0"/>
                  </a:moveTo>
                  <a:lnTo>
                    <a:pt x="650875" y="0"/>
                  </a:lnTo>
                  <a:cubicBezTo>
                    <a:pt x="660273" y="0"/>
                    <a:pt x="667766" y="7620"/>
                    <a:pt x="667766" y="16891"/>
                  </a:cubicBezTo>
                  <a:lnTo>
                    <a:pt x="667766" y="650875"/>
                  </a:lnTo>
                  <a:cubicBezTo>
                    <a:pt x="667766" y="660273"/>
                    <a:pt x="660146" y="667766"/>
                    <a:pt x="650875" y="667766"/>
                  </a:cubicBezTo>
                  <a:lnTo>
                    <a:pt x="16891" y="667766"/>
                  </a:lnTo>
                  <a:cubicBezTo>
                    <a:pt x="7620" y="667893"/>
                    <a:pt x="0" y="660273"/>
                    <a:pt x="0" y="650875"/>
                  </a:cubicBezTo>
                  <a:lnTo>
                    <a:pt x="0" y="16891"/>
                  </a:lnTo>
                  <a:cubicBezTo>
                    <a:pt x="0" y="7620"/>
                    <a:pt x="7620" y="0"/>
                    <a:pt x="16891" y="0"/>
                  </a:cubicBezTo>
                  <a:moveTo>
                    <a:pt x="16891" y="33909"/>
                  </a:moveTo>
                  <a:lnTo>
                    <a:pt x="16891" y="16891"/>
                  </a:lnTo>
                  <a:lnTo>
                    <a:pt x="33909" y="16891"/>
                  </a:lnTo>
                  <a:lnTo>
                    <a:pt x="33909" y="650875"/>
                  </a:lnTo>
                  <a:lnTo>
                    <a:pt x="16891" y="650875"/>
                  </a:lnTo>
                  <a:lnTo>
                    <a:pt x="16891" y="633984"/>
                  </a:lnTo>
                  <a:lnTo>
                    <a:pt x="650875" y="633984"/>
                  </a:lnTo>
                  <a:lnTo>
                    <a:pt x="650875" y="650875"/>
                  </a:lnTo>
                  <a:lnTo>
                    <a:pt x="633984" y="650875"/>
                  </a:lnTo>
                  <a:lnTo>
                    <a:pt x="633984" y="16891"/>
                  </a:lnTo>
                  <a:lnTo>
                    <a:pt x="650875" y="16891"/>
                  </a:lnTo>
                  <a:lnTo>
                    <a:pt x="650875" y="33909"/>
                  </a:lnTo>
                  <a:lnTo>
                    <a:pt x="16891" y="33909"/>
                  </a:lnTo>
                  <a:close/>
                </a:path>
              </a:pathLst>
            </a:custGeom>
            <a:solidFill>
              <a:srgbClr val="6D28D9"/>
            </a:solidFill>
          </p:spPr>
        </p:sp>
      </p:grpSp>
      <p:grpSp>
        <p:nvGrpSpPr>
          <p:cNvPr name="Group 46" id="46"/>
          <p:cNvGrpSpPr/>
          <p:nvPr/>
        </p:nvGrpSpPr>
        <p:grpSpPr>
          <a:xfrm rot="0">
            <a:off x="1051179" y="5024876"/>
            <a:ext cx="475488" cy="475488"/>
            <a:chOff x="0" y="0"/>
            <a:chExt cx="633984" cy="633984"/>
          </a:xfrm>
        </p:grpSpPr>
        <p:sp>
          <p:nvSpPr>
            <p:cNvPr name="Freeform 47" id="47"/>
            <p:cNvSpPr/>
            <p:nvPr/>
          </p:nvSpPr>
          <p:spPr>
            <a:xfrm flipH="false" flipV="false" rot="0">
              <a:off x="0" y="0"/>
              <a:ext cx="633984" cy="633984"/>
            </a:xfrm>
            <a:custGeom>
              <a:avLst/>
              <a:gdLst/>
              <a:ahLst/>
              <a:cxnLst/>
              <a:rect r="r" b="b" t="t" l="l"/>
              <a:pathLst>
                <a:path h="633984" w="633984">
                  <a:moveTo>
                    <a:pt x="0" y="0"/>
                  </a:moveTo>
                  <a:lnTo>
                    <a:pt x="633984" y="0"/>
                  </a:lnTo>
                  <a:lnTo>
                    <a:pt x="633984" y="633984"/>
                  </a:lnTo>
                  <a:lnTo>
                    <a:pt x="0" y="633984"/>
                  </a:lnTo>
                  <a:close/>
                </a:path>
              </a:pathLst>
            </a:custGeom>
            <a:blipFill>
              <a:blip r:embed="rId3">
                <a:alphaModFix amt="0"/>
              </a:blip>
              <a:stretch>
                <a:fillRect l="-78303" t="0" r="-78303" b="0"/>
              </a:stretch>
            </a:blipFill>
          </p:spPr>
        </p:sp>
        <p:sp>
          <p:nvSpPr>
            <p:cNvPr name="TextBox 48" id="48"/>
            <p:cNvSpPr txBox="true"/>
            <p:nvPr/>
          </p:nvSpPr>
          <p:spPr>
            <a:xfrm>
              <a:off x="0" y="-38100"/>
              <a:ext cx="633984" cy="672084"/>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3</a:t>
              </a:r>
            </a:p>
          </p:txBody>
        </p:sp>
      </p:grpSp>
      <p:grpSp>
        <p:nvGrpSpPr>
          <p:cNvPr name="Group 49" id="49"/>
          <p:cNvGrpSpPr/>
          <p:nvPr/>
        </p:nvGrpSpPr>
        <p:grpSpPr>
          <a:xfrm rot="0">
            <a:off x="1672971" y="5024876"/>
            <a:ext cx="7863840" cy="475488"/>
            <a:chOff x="0" y="0"/>
            <a:chExt cx="10485120" cy="633984"/>
          </a:xfrm>
        </p:grpSpPr>
        <p:sp>
          <p:nvSpPr>
            <p:cNvPr name="Freeform 50" id="50"/>
            <p:cNvSpPr/>
            <p:nvPr/>
          </p:nvSpPr>
          <p:spPr>
            <a:xfrm flipH="false" flipV="false" rot="0">
              <a:off x="0" y="0"/>
              <a:ext cx="10485120" cy="633984"/>
            </a:xfrm>
            <a:custGeom>
              <a:avLst/>
              <a:gdLst/>
              <a:ahLst/>
              <a:cxnLst/>
              <a:rect r="r" b="b" t="t" l="l"/>
              <a:pathLst>
                <a:path h="633984" w="10485120">
                  <a:moveTo>
                    <a:pt x="0" y="0"/>
                  </a:moveTo>
                  <a:lnTo>
                    <a:pt x="10485120" y="0"/>
                  </a:lnTo>
                  <a:lnTo>
                    <a:pt x="10485120" y="633984"/>
                  </a:lnTo>
                  <a:lnTo>
                    <a:pt x="0" y="633984"/>
                  </a:lnTo>
                  <a:close/>
                </a:path>
              </a:pathLst>
            </a:custGeom>
            <a:blipFill>
              <a:blip r:embed="rId3">
                <a:alphaModFix amt="0"/>
              </a:blip>
              <a:stretch>
                <a:fillRect l="0" t="-272252" r="0" b="-272252"/>
              </a:stretch>
            </a:blipFill>
          </p:spPr>
        </p:sp>
        <p:sp>
          <p:nvSpPr>
            <p:cNvPr name="TextBox 51" id="51"/>
            <p:cNvSpPr txBox="true"/>
            <p:nvPr/>
          </p:nvSpPr>
          <p:spPr>
            <a:xfrm>
              <a:off x="0" y="-47625"/>
              <a:ext cx="10485120" cy="681609"/>
            </a:xfrm>
            <a:prstGeom prst="rect">
              <a:avLst/>
            </a:prstGeom>
          </p:spPr>
          <p:txBody>
            <a:bodyPr anchor="ctr" rtlCol="false" tIns="0" lIns="0" bIns="0" rIns="0"/>
            <a:lstStyle/>
            <a:p>
              <a:pPr algn="l">
                <a:lnSpc>
                  <a:spcPts val="2640"/>
                </a:lnSpc>
              </a:pPr>
              <a:r>
                <a:rPr lang="en-US" sz="2200" b="true">
                  <a:solidFill>
                    <a:srgbClr val="1E293B"/>
                  </a:solidFill>
                  <a:latin typeface="Calibri (MS) Bold"/>
                  <a:ea typeface="Calibri (MS) Bold"/>
                  <a:cs typeface="Calibri (MS) Bold"/>
                  <a:sym typeface="Calibri (MS) Bold"/>
                </a:rPr>
                <a:t>Step 3: Channel attention (SENet)</a:t>
              </a:r>
            </a:p>
          </p:txBody>
        </p:sp>
      </p:grpSp>
      <p:grpSp>
        <p:nvGrpSpPr>
          <p:cNvPr name="Group 52" id="52"/>
          <p:cNvGrpSpPr/>
          <p:nvPr/>
        </p:nvGrpSpPr>
        <p:grpSpPr>
          <a:xfrm rot="0">
            <a:off x="1672971" y="5500364"/>
            <a:ext cx="7900416" cy="1236669"/>
            <a:chOff x="0" y="0"/>
            <a:chExt cx="10533888" cy="1648892"/>
          </a:xfrm>
        </p:grpSpPr>
        <p:sp>
          <p:nvSpPr>
            <p:cNvPr name="Freeform 53" id="53"/>
            <p:cNvSpPr/>
            <p:nvPr/>
          </p:nvSpPr>
          <p:spPr>
            <a:xfrm flipH="false" flipV="false" rot="0">
              <a:off x="0" y="0"/>
              <a:ext cx="10533888" cy="1648892"/>
            </a:xfrm>
            <a:custGeom>
              <a:avLst/>
              <a:gdLst/>
              <a:ahLst/>
              <a:cxnLst/>
              <a:rect r="r" b="b" t="t" l="l"/>
              <a:pathLst>
                <a:path h="1648892" w="10533888">
                  <a:moveTo>
                    <a:pt x="0" y="0"/>
                  </a:moveTo>
                  <a:lnTo>
                    <a:pt x="10533888" y="0"/>
                  </a:lnTo>
                  <a:lnTo>
                    <a:pt x="10533888" y="1648892"/>
                  </a:lnTo>
                  <a:lnTo>
                    <a:pt x="0" y="1648892"/>
                  </a:lnTo>
                  <a:close/>
                </a:path>
              </a:pathLst>
            </a:custGeom>
            <a:blipFill>
              <a:blip r:embed="rId3">
                <a:alphaModFix amt="0"/>
              </a:blip>
              <a:stretch>
                <a:fillRect l="0" t="-90466" r="0" b="-58492"/>
              </a:stretch>
            </a:blipFill>
          </p:spPr>
        </p:sp>
        <p:sp>
          <p:nvSpPr>
            <p:cNvPr name="TextBox 54" id="54"/>
            <p:cNvSpPr txBox="true"/>
            <p:nvPr/>
          </p:nvSpPr>
          <p:spPr>
            <a:xfrm>
              <a:off x="0" y="-38100"/>
              <a:ext cx="10533888" cy="1686992"/>
            </a:xfrm>
            <a:prstGeom prst="rect">
              <a:avLst/>
            </a:prstGeom>
          </p:spPr>
          <p:txBody>
            <a:bodyPr anchor="ctr" rtlCol="false" tIns="0" lIns="0" bIns="0" rIns="0"/>
            <a:lstStyle/>
            <a:p>
              <a:pPr algn="l">
                <a:lnSpc>
                  <a:spcPts val="2280"/>
                </a:lnSpc>
              </a:pPr>
              <a:r>
                <a:rPr lang="en-US" sz="1900">
                  <a:solidFill>
                    <a:srgbClr val="94A3B8"/>
                  </a:solidFill>
                  <a:latin typeface="Calibri (MS)"/>
                  <a:ea typeface="Calibri (MS)"/>
                  <a:cs typeface="Calibri (MS)"/>
                  <a:sym typeface="Calibri (MS)"/>
                </a:rPr>
                <a:t>Squeeze-and-Excitation Network recalibrates channel weights. It globally average-pools each channel to a scalar, then uses two FC layers + sigmoid to produce per-channel weights ω. This suppresses redundant channels and amplifies important ones.</a:t>
              </a:r>
            </a:p>
          </p:txBody>
        </p:sp>
      </p:grpSp>
      <p:grpSp>
        <p:nvGrpSpPr>
          <p:cNvPr name="Group 55" id="55"/>
          <p:cNvGrpSpPr/>
          <p:nvPr/>
        </p:nvGrpSpPr>
        <p:grpSpPr>
          <a:xfrm rot="0">
            <a:off x="1019175" y="6664195"/>
            <a:ext cx="500891" cy="500891"/>
            <a:chOff x="0" y="0"/>
            <a:chExt cx="667855" cy="667855"/>
          </a:xfrm>
        </p:grpSpPr>
        <p:sp>
          <p:nvSpPr>
            <p:cNvPr name="Freeform 56" id="56"/>
            <p:cNvSpPr/>
            <p:nvPr/>
          </p:nvSpPr>
          <p:spPr>
            <a:xfrm flipH="false" flipV="false" rot="0">
              <a:off x="16891" y="16891"/>
              <a:ext cx="633984" cy="633984"/>
            </a:xfrm>
            <a:custGeom>
              <a:avLst/>
              <a:gdLst/>
              <a:ahLst/>
              <a:cxnLst/>
              <a:rect r="r" b="b" t="t" l="l"/>
              <a:pathLst>
                <a:path h="633984" w="633984">
                  <a:moveTo>
                    <a:pt x="0" y="0"/>
                  </a:moveTo>
                  <a:lnTo>
                    <a:pt x="633984" y="0"/>
                  </a:lnTo>
                  <a:lnTo>
                    <a:pt x="633984" y="633984"/>
                  </a:lnTo>
                  <a:lnTo>
                    <a:pt x="0" y="633984"/>
                  </a:lnTo>
                  <a:close/>
                </a:path>
              </a:pathLst>
            </a:custGeom>
            <a:solidFill>
              <a:srgbClr val="E05B4B"/>
            </a:solidFill>
          </p:spPr>
        </p:sp>
        <p:sp>
          <p:nvSpPr>
            <p:cNvPr name="Freeform 57" id="57"/>
            <p:cNvSpPr/>
            <p:nvPr/>
          </p:nvSpPr>
          <p:spPr>
            <a:xfrm flipH="false" flipV="false" rot="0">
              <a:off x="0" y="0"/>
              <a:ext cx="667766" cy="667768"/>
            </a:xfrm>
            <a:custGeom>
              <a:avLst/>
              <a:gdLst/>
              <a:ahLst/>
              <a:cxnLst/>
              <a:rect r="r" b="b" t="t" l="l"/>
              <a:pathLst>
                <a:path h="667768" w="667766">
                  <a:moveTo>
                    <a:pt x="16891" y="0"/>
                  </a:moveTo>
                  <a:lnTo>
                    <a:pt x="650875" y="0"/>
                  </a:lnTo>
                  <a:cubicBezTo>
                    <a:pt x="660273" y="0"/>
                    <a:pt x="667766" y="7620"/>
                    <a:pt x="667766" y="16891"/>
                  </a:cubicBezTo>
                  <a:lnTo>
                    <a:pt x="667766" y="650875"/>
                  </a:lnTo>
                  <a:cubicBezTo>
                    <a:pt x="667766" y="660273"/>
                    <a:pt x="660146" y="667766"/>
                    <a:pt x="650875" y="667766"/>
                  </a:cubicBezTo>
                  <a:lnTo>
                    <a:pt x="16891" y="667766"/>
                  </a:lnTo>
                  <a:cubicBezTo>
                    <a:pt x="7620" y="667893"/>
                    <a:pt x="0" y="660273"/>
                    <a:pt x="0" y="650875"/>
                  </a:cubicBezTo>
                  <a:lnTo>
                    <a:pt x="0" y="16891"/>
                  </a:lnTo>
                  <a:cubicBezTo>
                    <a:pt x="0" y="7620"/>
                    <a:pt x="7620" y="0"/>
                    <a:pt x="16891" y="0"/>
                  </a:cubicBezTo>
                  <a:moveTo>
                    <a:pt x="16891" y="33909"/>
                  </a:moveTo>
                  <a:lnTo>
                    <a:pt x="16891" y="16891"/>
                  </a:lnTo>
                  <a:lnTo>
                    <a:pt x="33909" y="16891"/>
                  </a:lnTo>
                  <a:lnTo>
                    <a:pt x="33909" y="650875"/>
                  </a:lnTo>
                  <a:lnTo>
                    <a:pt x="16891" y="650875"/>
                  </a:lnTo>
                  <a:lnTo>
                    <a:pt x="16891" y="633984"/>
                  </a:lnTo>
                  <a:lnTo>
                    <a:pt x="650875" y="633984"/>
                  </a:lnTo>
                  <a:lnTo>
                    <a:pt x="650875" y="650875"/>
                  </a:lnTo>
                  <a:lnTo>
                    <a:pt x="633984" y="650875"/>
                  </a:lnTo>
                  <a:lnTo>
                    <a:pt x="633984" y="16891"/>
                  </a:lnTo>
                  <a:lnTo>
                    <a:pt x="650875" y="16891"/>
                  </a:lnTo>
                  <a:lnTo>
                    <a:pt x="650875" y="33909"/>
                  </a:lnTo>
                  <a:lnTo>
                    <a:pt x="16891" y="33909"/>
                  </a:lnTo>
                  <a:close/>
                </a:path>
              </a:pathLst>
            </a:custGeom>
            <a:solidFill>
              <a:srgbClr val="E05B4B"/>
            </a:solidFill>
          </p:spPr>
        </p:sp>
      </p:grpSp>
      <p:grpSp>
        <p:nvGrpSpPr>
          <p:cNvPr name="Group 58" id="58"/>
          <p:cNvGrpSpPr/>
          <p:nvPr/>
        </p:nvGrpSpPr>
        <p:grpSpPr>
          <a:xfrm rot="0">
            <a:off x="1031872" y="6676892"/>
            <a:ext cx="475488" cy="475488"/>
            <a:chOff x="0" y="0"/>
            <a:chExt cx="633984" cy="633984"/>
          </a:xfrm>
        </p:grpSpPr>
        <p:sp>
          <p:nvSpPr>
            <p:cNvPr name="Freeform 59" id="59"/>
            <p:cNvSpPr/>
            <p:nvPr/>
          </p:nvSpPr>
          <p:spPr>
            <a:xfrm flipH="false" flipV="false" rot="0">
              <a:off x="0" y="0"/>
              <a:ext cx="633984" cy="633984"/>
            </a:xfrm>
            <a:custGeom>
              <a:avLst/>
              <a:gdLst/>
              <a:ahLst/>
              <a:cxnLst/>
              <a:rect r="r" b="b" t="t" l="l"/>
              <a:pathLst>
                <a:path h="633984" w="633984">
                  <a:moveTo>
                    <a:pt x="0" y="0"/>
                  </a:moveTo>
                  <a:lnTo>
                    <a:pt x="633984" y="0"/>
                  </a:lnTo>
                  <a:lnTo>
                    <a:pt x="633984" y="633984"/>
                  </a:lnTo>
                  <a:lnTo>
                    <a:pt x="0" y="633984"/>
                  </a:lnTo>
                  <a:close/>
                </a:path>
              </a:pathLst>
            </a:custGeom>
            <a:blipFill>
              <a:blip r:embed="rId3">
                <a:alphaModFix amt="0"/>
              </a:blip>
              <a:stretch>
                <a:fillRect l="-78303" t="0" r="-78303" b="0"/>
              </a:stretch>
            </a:blipFill>
          </p:spPr>
        </p:sp>
        <p:sp>
          <p:nvSpPr>
            <p:cNvPr name="TextBox 60" id="60"/>
            <p:cNvSpPr txBox="true"/>
            <p:nvPr/>
          </p:nvSpPr>
          <p:spPr>
            <a:xfrm>
              <a:off x="0" y="-38100"/>
              <a:ext cx="633984" cy="672084"/>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4</a:t>
              </a:r>
            </a:p>
          </p:txBody>
        </p:sp>
      </p:grpSp>
      <p:grpSp>
        <p:nvGrpSpPr>
          <p:cNvPr name="Group 61" id="61"/>
          <p:cNvGrpSpPr/>
          <p:nvPr/>
        </p:nvGrpSpPr>
        <p:grpSpPr>
          <a:xfrm rot="0">
            <a:off x="1682496" y="6689598"/>
            <a:ext cx="7863840" cy="475488"/>
            <a:chOff x="0" y="0"/>
            <a:chExt cx="10485120" cy="633984"/>
          </a:xfrm>
        </p:grpSpPr>
        <p:sp>
          <p:nvSpPr>
            <p:cNvPr name="Freeform 62" id="62"/>
            <p:cNvSpPr/>
            <p:nvPr/>
          </p:nvSpPr>
          <p:spPr>
            <a:xfrm flipH="false" flipV="false" rot="0">
              <a:off x="0" y="0"/>
              <a:ext cx="10485120" cy="633984"/>
            </a:xfrm>
            <a:custGeom>
              <a:avLst/>
              <a:gdLst/>
              <a:ahLst/>
              <a:cxnLst/>
              <a:rect r="r" b="b" t="t" l="l"/>
              <a:pathLst>
                <a:path h="633984" w="10485120">
                  <a:moveTo>
                    <a:pt x="0" y="0"/>
                  </a:moveTo>
                  <a:lnTo>
                    <a:pt x="10485120" y="0"/>
                  </a:lnTo>
                  <a:lnTo>
                    <a:pt x="10485120" y="633984"/>
                  </a:lnTo>
                  <a:lnTo>
                    <a:pt x="0" y="633984"/>
                  </a:lnTo>
                  <a:close/>
                </a:path>
              </a:pathLst>
            </a:custGeom>
            <a:blipFill>
              <a:blip r:embed="rId3">
                <a:alphaModFix amt="0"/>
              </a:blip>
              <a:stretch>
                <a:fillRect l="0" t="-272252" r="0" b="-272252"/>
              </a:stretch>
            </a:blipFill>
          </p:spPr>
        </p:sp>
        <p:sp>
          <p:nvSpPr>
            <p:cNvPr name="TextBox 63" id="63"/>
            <p:cNvSpPr txBox="true"/>
            <p:nvPr/>
          </p:nvSpPr>
          <p:spPr>
            <a:xfrm>
              <a:off x="0" y="-47625"/>
              <a:ext cx="10485120" cy="681609"/>
            </a:xfrm>
            <a:prstGeom prst="rect">
              <a:avLst/>
            </a:prstGeom>
          </p:spPr>
          <p:txBody>
            <a:bodyPr anchor="ctr" rtlCol="false" tIns="0" lIns="0" bIns="0" rIns="0"/>
            <a:lstStyle/>
            <a:p>
              <a:pPr algn="l">
                <a:lnSpc>
                  <a:spcPts val="2640"/>
                </a:lnSpc>
              </a:pPr>
              <a:r>
                <a:rPr lang="en-US" sz="2200" b="true">
                  <a:solidFill>
                    <a:srgbClr val="1E293B"/>
                  </a:solidFill>
                  <a:latin typeface="Calibri (MS) Bold"/>
                  <a:ea typeface="Calibri (MS) Bold"/>
                  <a:cs typeface="Calibri (MS) Bold"/>
                  <a:sym typeface="Calibri (MS) Bold"/>
                </a:rPr>
                <a:t>Step 4: Learnable weighted fusion</a:t>
              </a:r>
            </a:p>
          </p:txBody>
        </p:sp>
      </p:grpSp>
      <p:grpSp>
        <p:nvGrpSpPr>
          <p:cNvPr name="Group 64" id="64"/>
          <p:cNvGrpSpPr/>
          <p:nvPr/>
        </p:nvGrpSpPr>
        <p:grpSpPr>
          <a:xfrm rot="0">
            <a:off x="1664208" y="7146731"/>
            <a:ext cx="7900416" cy="1236669"/>
            <a:chOff x="0" y="0"/>
            <a:chExt cx="10533888" cy="1648892"/>
          </a:xfrm>
        </p:grpSpPr>
        <p:sp>
          <p:nvSpPr>
            <p:cNvPr name="Freeform 65" id="65"/>
            <p:cNvSpPr/>
            <p:nvPr/>
          </p:nvSpPr>
          <p:spPr>
            <a:xfrm flipH="false" flipV="false" rot="0">
              <a:off x="0" y="0"/>
              <a:ext cx="10533888" cy="1648892"/>
            </a:xfrm>
            <a:custGeom>
              <a:avLst/>
              <a:gdLst/>
              <a:ahLst/>
              <a:cxnLst/>
              <a:rect r="r" b="b" t="t" l="l"/>
              <a:pathLst>
                <a:path h="1648892" w="10533888">
                  <a:moveTo>
                    <a:pt x="0" y="0"/>
                  </a:moveTo>
                  <a:lnTo>
                    <a:pt x="10533888" y="0"/>
                  </a:lnTo>
                  <a:lnTo>
                    <a:pt x="10533888" y="1648892"/>
                  </a:lnTo>
                  <a:lnTo>
                    <a:pt x="0" y="1648892"/>
                  </a:lnTo>
                  <a:close/>
                </a:path>
              </a:pathLst>
            </a:custGeom>
            <a:blipFill>
              <a:blip r:embed="rId3">
                <a:alphaModFix amt="0"/>
              </a:blip>
              <a:stretch>
                <a:fillRect l="0" t="-90466" r="0" b="-58492"/>
              </a:stretch>
            </a:blipFill>
          </p:spPr>
        </p:sp>
        <p:sp>
          <p:nvSpPr>
            <p:cNvPr name="TextBox 66" id="66"/>
            <p:cNvSpPr txBox="true"/>
            <p:nvPr/>
          </p:nvSpPr>
          <p:spPr>
            <a:xfrm>
              <a:off x="0" y="-38100"/>
              <a:ext cx="10533888" cy="1686992"/>
            </a:xfrm>
            <a:prstGeom prst="rect">
              <a:avLst/>
            </a:prstGeom>
          </p:spPr>
          <p:txBody>
            <a:bodyPr anchor="ctr" rtlCol="false" tIns="0" lIns="0" bIns="0" rIns="0"/>
            <a:lstStyle/>
            <a:p>
              <a:pPr algn="l">
                <a:lnSpc>
                  <a:spcPts val="2280"/>
                </a:lnSpc>
              </a:pPr>
              <a:r>
                <a:rPr lang="en-US" sz="1900">
                  <a:solidFill>
                    <a:srgbClr val="94A3B8"/>
                  </a:solidFill>
                  <a:latin typeface="Calibri (MS)"/>
                  <a:ea typeface="Calibri (MS)"/>
                  <a:cs typeface="Calibri (MS)"/>
                  <a:sym typeface="Calibri (MS)"/>
                </a:rPr>
                <a:t>Two trainable scalars w1 and w2 (init = 1, updated via backprop) blend the SENet output Fs with the deepest map F4:</a:t>
              </a:r>
            </a:p>
            <a:p>
              <a:pPr algn="l">
                <a:lnSpc>
                  <a:spcPts val="2280"/>
                </a:lnSpc>
              </a:pPr>
              <a:r>
                <a:rPr lang="en-US" sz="1900">
                  <a:solidFill>
                    <a:srgbClr val="94A3B8"/>
                  </a:solidFill>
                  <a:latin typeface="Calibri (MS)"/>
                  <a:ea typeface="Calibri (MS)"/>
                  <a:cs typeface="Calibri (MS)"/>
                  <a:sym typeface="Calibri (MS)"/>
                </a:rPr>
                <a:t>   V_local = w1·F4 + w2·Fs</a:t>
              </a:r>
            </a:p>
            <a:p>
              <a:pPr algn="l">
                <a:lnSpc>
                  <a:spcPts val="2280"/>
                </a:lnSpc>
              </a:pPr>
              <a:r>
                <a:rPr lang="en-US" sz="1900">
                  <a:solidFill>
                    <a:srgbClr val="94A3B8"/>
                  </a:solidFill>
                  <a:latin typeface="Calibri (MS)"/>
                  <a:ea typeface="Calibri (MS)"/>
                  <a:cs typeface="Calibri (MS)"/>
                  <a:sym typeface="Calibri (MS)"/>
                </a:rPr>
                <a:t>F4 anchors global structure; Fs adds balanced multi-scale detail.</a:t>
              </a:r>
            </a:p>
          </p:txBody>
        </p:sp>
      </p:grpSp>
      <p:grpSp>
        <p:nvGrpSpPr>
          <p:cNvPr name="Group 67" id="67"/>
          <p:cNvGrpSpPr/>
          <p:nvPr/>
        </p:nvGrpSpPr>
        <p:grpSpPr>
          <a:xfrm rot="0">
            <a:off x="1006469" y="8343009"/>
            <a:ext cx="500891" cy="500891"/>
            <a:chOff x="0" y="0"/>
            <a:chExt cx="667855" cy="667855"/>
          </a:xfrm>
        </p:grpSpPr>
        <p:sp>
          <p:nvSpPr>
            <p:cNvPr name="Freeform 68" id="68"/>
            <p:cNvSpPr/>
            <p:nvPr/>
          </p:nvSpPr>
          <p:spPr>
            <a:xfrm flipH="false" flipV="false" rot="0">
              <a:off x="16891" y="16891"/>
              <a:ext cx="633984" cy="633984"/>
            </a:xfrm>
            <a:custGeom>
              <a:avLst/>
              <a:gdLst/>
              <a:ahLst/>
              <a:cxnLst/>
              <a:rect r="r" b="b" t="t" l="l"/>
              <a:pathLst>
                <a:path h="633984" w="633984">
                  <a:moveTo>
                    <a:pt x="0" y="0"/>
                  </a:moveTo>
                  <a:lnTo>
                    <a:pt x="633984" y="0"/>
                  </a:lnTo>
                  <a:lnTo>
                    <a:pt x="633984" y="633984"/>
                  </a:lnTo>
                  <a:lnTo>
                    <a:pt x="0" y="633984"/>
                  </a:lnTo>
                  <a:close/>
                </a:path>
              </a:pathLst>
            </a:custGeom>
            <a:solidFill>
              <a:srgbClr val="D97706"/>
            </a:solidFill>
          </p:spPr>
        </p:sp>
        <p:sp>
          <p:nvSpPr>
            <p:cNvPr name="Freeform 69" id="69"/>
            <p:cNvSpPr/>
            <p:nvPr/>
          </p:nvSpPr>
          <p:spPr>
            <a:xfrm flipH="false" flipV="false" rot="0">
              <a:off x="0" y="0"/>
              <a:ext cx="667766" cy="667768"/>
            </a:xfrm>
            <a:custGeom>
              <a:avLst/>
              <a:gdLst/>
              <a:ahLst/>
              <a:cxnLst/>
              <a:rect r="r" b="b" t="t" l="l"/>
              <a:pathLst>
                <a:path h="667768" w="667766">
                  <a:moveTo>
                    <a:pt x="16891" y="0"/>
                  </a:moveTo>
                  <a:lnTo>
                    <a:pt x="650875" y="0"/>
                  </a:lnTo>
                  <a:cubicBezTo>
                    <a:pt x="660273" y="0"/>
                    <a:pt x="667766" y="7620"/>
                    <a:pt x="667766" y="16891"/>
                  </a:cubicBezTo>
                  <a:lnTo>
                    <a:pt x="667766" y="650875"/>
                  </a:lnTo>
                  <a:cubicBezTo>
                    <a:pt x="667766" y="660273"/>
                    <a:pt x="660146" y="667766"/>
                    <a:pt x="650875" y="667766"/>
                  </a:cubicBezTo>
                  <a:lnTo>
                    <a:pt x="16891" y="667766"/>
                  </a:lnTo>
                  <a:cubicBezTo>
                    <a:pt x="7620" y="667893"/>
                    <a:pt x="0" y="660273"/>
                    <a:pt x="0" y="650875"/>
                  </a:cubicBezTo>
                  <a:lnTo>
                    <a:pt x="0" y="16891"/>
                  </a:lnTo>
                  <a:cubicBezTo>
                    <a:pt x="0" y="7620"/>
                    <a:pt x="7620" y="0"/>
                    <a:pt x="16891" y="0"/>
                  </a:cubicBezTo>
                  <a:moveTo>
                    <a:pt x="16891" y="33909"/>
                  </a:moveTo>
                  <a:lnTo>
                    <a:pt x="16891" y="16891"/>
                  </a:lnTo>
                  <a:lnTo>
                    <a:pt x="33909" y="16891"/>
                  </a:lnTo>
                  <a:lnTo>
                    <a:pt x="33909" y="650875"/>
                  </a:lnTo>
                  <a:lnTo>
                    <a:pt x="16891" y="650875"/>
                  </a:lnTo>
                  <a:lnTo>
                    <a:pt x="16891" y="633984"/>
                  </a:lnTo>
                  <a:lnTo>
                    <a:pt x="650875" y="633984"/>
                  </a:lnTo>
                  <a:lnTo>
                    <a:pt x="650875" y="650875"/>
                  </a:lnTo>
                  <a:lnTo>
                    <a:pt x="633984" y="650875"/>
                  </a:lnTo>
                  <a:lnTo>
                    <a:pt x="633984" y="16891"/>
                  </a:lnTo>
                  <a:lnTo>
                    <a:pt x="650875" y="16891"/>
                  </a:lnTo>
                  <a:lnTo>
                    <a:pt x="650875" y="33909"/>
                  </a:lnTo>
                  <a:lnTo>
                    <a:pt x="16891" y="33909"/>
                  </a:lnTo>
                  <a:close/>
                </a:path>
              </a:pathLst>
            </a:custGeom>
            <a:solidFill>
              <a:srgbClr val="D97706"/>
            </a:solidFill>
          </p:spPr>
        </p:sp>
      </p:grpSp>
      <p:grpSp>
        <p:nvGrpSpPr>
          <p:cNvPr name="Group 70" id="70"/>
          <p:cNvGrpSpPr/>
          <p:nvPr/>
        </p:nvGrpSpPr>
        <p:grpSpPr>
          <a:xfrm rot="0">
            <a:off x="1006469" y="8355711"/>
            <a:ext cx="475488" cy="475488"/>
            <a:chOff x="0" y="0"/>
            <a:chExt cx="633984" cy="633984"/>
          </a:xfrm>
        </p:grpSpPr>
        <p:sp>
          <p:nvSpPr>
            <p:cNvPr name="Freeform 71" id="71"/>
            <p:cNvSpPr/>
            <p:nvPr/>
          </p:nvSpPr>
          <p:spPr>
            <a:xfrm flipH="false" flipV="false" rot="0">
              <a:off x="0" y="0"/>
              <a:ext cx="633984" cy="633984"/>
            </a:xfrm>
            <a:custGeom>
              <a:avLst/>
              <a:gdLst/>
              <a:ahLst/>
              <a:cxnLst/>
              <a:rect r="r" b="b" t="t" l="l"/>
              <a:pathLst>
                <a:path h="633984" w="633984">
                  <a:moveTo>
                    <a:pt x="0" y="0"/>
                  </a:moveTo>
                  <a:lnTo>
                    <a:pt x="633984" y="0"/>
                  </a:lnTo>
                  <a:lnTo>
                    <a:pt x="633984" y="633984"/>
                  </a:lnTo>
                  <a:lnTo>
                    <a:pt x="0" y="633984"/>
                  </a:lnTo>
                  <a:close/>
                </a:path>
              </a:pathLst>
            </a:custGeom>
            <a:blipFill>
              <a:blip r:embed="rId3">
                <a:alphaModFix amt="0"/>
              </a:blip>
              <a:stretch>
                <a:fillRect l="-78303" t="0" r="-78303" b="0"/>
              </a:stretch>
            </a:blipFill>
          </p:spPr>
        </p:sp>
        <p:sp>
          <p:nvSpPr>
            <p:cNvPr name="TextBox 72" id="72"/>
            <p:cNvSpPr txBox="true"/>
            <p:nvPr/>
          </p:nvSpPr>
          <p:spPr>
            <a:xfrm>
              <a:off x="0" y="-38100"/>
              <a:ext cx="633984" cy="672084"/>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5</a:t>
              </a:r>
            </a:p>
          </p:txBody>
        </p:sp>
      </p:grpSp>
      <p:grpSp>
        <p:nvGrpSpPr>
          <p:cNvPr name="Group 73" id="73"/>
          <p:cNvGrpSpPr/>
          <p:nvPr/>
        </p:nvGrpSpPr>
        <p:grpSpPr>
          <a:xfrm rot="0">
            <a:off x="1682496" y="8355711"/>
            <a:ext cx="7863840" cy="475488"/>
            <a:chOff x="0" y="0"/>
            <a:chExt cx="10485120" cy="633984"/>
          </a:xfrm>
        </p:grpSpPr>
        <p:sp>
          <p:nvSpPr>
            <p:cNvPr name="Freeform 74" id="74"/>
            <p:cNvSpPr/>
            <p:nvPr/>
          </p:nvSpPr>
          <p:spPr>
            <a:xfrm flipH="false" flipV="false" rot="0">
              <a:off x="0" y="0"/>
              <a:ext cx="10485120" cy="633984"/>
            </a:xfrm>
            <a:custGeom>
              <a:avLst/>
              <a:gdLst/>
              <a:ahLst/>
              <a:cxnLst/>
              <a:rect r="r" b="b" t="t" l="l"/>
              <a:pathLst>
                <a:path h="633984" w="10485120">
                  <a:moveTo>
                    <a:pt x="0" y="0"/>
                  </a:moveTo>
                  <a:lnTo>
                    <a:pt x="10485120" y="0"/>
                  </a:lnTo>
                  <a:lnTo>
                    <a:pt x="10485120" y="633984"/>
                  </a:lnTo>
                  <a:lnTo>
                    <a:pt x="0" y="633984"/>
                  </a:lnTo>
                  <a:close/>
                </a:path>
              </a:pathLst>
            </a:custGeom>
            <a:blipFill>
              <a:blip r:embed="rId3">
                <a:alphaModFix amt="0"/>
              </a:blip>
              <a:stretch>
                <a:fillRect l="0" t="-272252" r="0" b="-272252"/>
              </a:stretch>
            </a:blipFill>
          </p:spPr>
        </p:sp>
        <p:sp>
          <p:nvSpPr>
            <p:cNvPr name="TextBox 75" id="75"/>
            <p:cNvSpPr txBox="true"/>
            <p:nvPr/>
          </p:nvSpPr>
          <p:spPr>
            <a:xfrm>
              <a:off x="0" y="-47625"/>
              <a:ext cx="10485120" cy="681609"/>
            </a:xfrm>
            <a:prstGeom prst="rect">
              <a:avLst/>
            </a:prstGeom>
          </p:spPr>
          <p:txBody>
            <a:bodyPr anchor="ctr" rtlCol="false" tIns="0" lIns="0" bIns="0" rIns="0"/>
            <a:lstStyle/>
            <a:p>
              <a:pPr algn="l">
                <a:lnSpc>
                  <a:spcPts val="2640"/>
                </a:lnSpc>
              </a:pPr>
              <a:r>
                <a:rPr lang="en-US" sz="2200" b="true">
                  <a:solidFill>
                    <a:srgbClr val="1E293B"/>
                  </a:solidFill>
                  <a:latin typeface="Calibri (MS) Bold"/>
                  <a:ea typeface="Calibri (MS) Bold"/>
                  <a:cs typeface="Calibri (MS) Bold"/>
                  <a:sym typeface="Calibri (MS) Bold"/>
                </a:rPr>
                <a:t>Step 5: Global average pooling</a:t>
              </a:r>
            </a:p>
          </p:txBody>
        </p:sp>
      </p:grpSp>
      <p:grpSp>
        <p:nvGrpSpPr>
          <p:cNvPr name="Group 76" id="76"/>
          <p:cNvGrpSpPr/>
          <p:nvPr/>
        </p:nvGrpSpPr>
        <p:grpSpPr>
          <a:xfrm rot="0">
            <a:off x="1682496" y="8793099"/>
            <a:ext cx="7900416" cy="841248"/>
            <a:chOff x="0" y="0"/>
            <a:chExt cx="10533888" cy="1121664"/>
          </a:xfrm>
        </p:grpSpPr>
        <p:sp>
          <p:nvSpPr>
            <p:cNvPr name="Freeform 77" id="77"/>
            <p:cNvSpPr/>
            <p:nvPr/>
          </p:nvSpPr>
          <p:spPr>
            <a:xfrm flipH="false" flipV="false" rot="0">
              <a:off x="0" y="0"/>
              <a:ext cx="10533888" cy="1121664"/>
            </a:xfrm>
            <a:custGeom>
              <a:avLst/>
              <a:gdLst/>
              <a:ahLst/>
              <a:cxnLst/>
              <a:rect r="r" b="b" t="t" l="l"/>
              <a:pathLst>
                <a:path h="1121664" w="10533888">
                  <a:moveTo>
                    <a:pt x="0" y="0"/>
                  </a:moveTo>
                  <a:lnTo>
                    <a:pt x="10533888" y="0"/>
                  </a:lnTo>
                  <a:lnTo>
                    <a:pt x="10533888" y="1121664"/>
                  </a:lnTo>
                  <a:lnTo>
                    <a:pt x="0" y="1121664"/>
                  </a:lnTo>
                  <a:close/>
                </a:path>
              </a:pathLst>
            </a:custGeom>
            <a:blipFill>
              <a:blip r:embed="rId3">
                <a:alphaModFix amt="0"/>
              </a:blip>
              <a:stretch>
                <a:fillRect l="0" t="-132989" r="0" b="-132989"/>
              </a:stretch>
            </a:blipFill>
          </p:spPr>
        </p:sp>
        <p:sp>
          <p:nvSpPr>
            <p:cNvPr name="TextBox 78" id="78"/>
            <p:cNvSpPr txBox="true"/>
            <p:nvPr/>
          </p:nvSpPr>
          <p:spPr>
            <a:xfrm>
              <a:off x="0" y="-38100"/>
              <a:ext cx="10533888" cy="1159764"/>
            </a:xfrm>
            <a:prstGeom prst="rect">
              <a:avLst/>
            </a:prstGeom>
          </p:spPr>
          <p:txBody>
            <a:bodyPr anchor="ctr" rtlCol="false" tIns="0" lIns="0" bIns="0" rIns="0"/>
            <a:lstStyle/>
            <a:p>
              <a:pPr algn="l">
                <a:lnSpc>
                  <a:spcPts val="2280"/>
                </a:lnSpc>
              </a:pPr>
              <a:r>
                <a:rPr lang="en-US" sz="1900">
                  <a:solidFill>
                    <a:srgbClr val="94A3B8"/>
                  </a:solidFill>
                  <a:latin typeface="Calibri (MS)"/>
                  <a:ea typeface="Calibri (MS)"/>
                  <a:cs typeface="Calibri (MS)"/>
                  <a:sym typeface="Calibri (MS)"/>
                </a:rPr>
                <a:t>V_global = mean over all spatial positions in V_local.</a:t>
              </a:r>
            </a:p>
            <a:p>
              <a:pPr algn="l">
                <a:lnSpc>
                  <a:spcPts val="2280"/>
                </a:lnSpc>
              </a:pPr>
              <a:r>
                <a:rPr lang="en-US" sz="1900">
                  <a:solidFill>
                    <a:srgbClr val="94A3B8"/>
                  </a:solidFill>
                  <a:latin typeface="Calibri (MS)"/>
                  <a:ea typeface="Calibri (MS)"/>
                  <a:cs typeface="Calibri (MS)"/>
                  <a:sym typeface="Calibri (MS)"/>
                </a:rPr>
                <a:t>Since V_local already contains multi-scale info, V_global captures complete scene context — not just the deepest layer's semantics.</a:t>
              </a:r>
            </a:p>
          </p:txBody>
        </p:sp>
      </p:grpSp>
      <p:grpSp>
        <p:nvGrpSpPr>
          <p:cNvPr name="Group 79" id="79"/>
          <p:cNvGrpSpPr/>
          <p:nvPr/>
        </p:nvGrpSpPr>
        <p:grpSpPr>
          <a:xfrm rot="0">
            <a:off x="10234927" y="2462527"/>
            <a:ext cx="7327897" cy="2207257"/>
            <a:chOff x="0" y="0"/>
            <a:chExt cx="9770529" cy="2943009"/>
          </a:xfrm>
        </p:grpSpPr>
        <p:sp>
          <p:nvSpPr>
            <p:cNvPr name="Freeform 80" id="80"/>
            <p:cNvSpPr/>
            <p:nvPr/>
          </p:nvSpPr>
          <p:spPr>
            <a:xfrm flipH="false" flipV="false" rot="0">
              <a:off x="8509" y="8509"/>
              <a:ext cx="9753600" cy="2926080"/>
            </a:xfrm>
            <a:custGeom>
              <a:avLst/>
              <a:gdLst/>
              <a:ahLst/>
              <a:cxnLst/>
              <a:rect r="r" b="b" t="t" l="l"/>
              <a:pathLst>
                <a:path h="2926080" w="9753600">
                  <a:moveTo>
                    <a:pt x="0" y="0"/>
                  </a:moveTo>
                  <a:lnTo>
                    <a:pt x="9753600" y="0"/>
                  </a:lnTo>
                  <a:lnTo>
                    <a:pt x="9753600" y="2926080"/>
                  </a:lnTo>
                  <a:lnTo>
                    <a:pt x="0" y="2926080"/>
                  </a:lnTo>
                  <a:close/>
                </a:path>
              </a:pathLst>
            </a:custGeom>
            <a:solidFill>
              <a:srgbClr val="CCFBF1"/>
            </a:solidFill>
          </p:spPr>
        </p:sp>
        <p:sp>
          <p:nvSpPr>
            <p:cNvPr name="Freeform 81" id="81"/>
            <p:cNvSpPr/>
            <p:nvPr/>
          </p:nvSpPr>
          <p:spPr>
            <a:xfrm flipH="false" flipV="false" rot="0">
              <a:off x="0" y="0"/>
              <a:ext cx="9770618" cy="2943098"/>
            </a:xfrm>
            <a:custGeom>
              <a:avLst/>
              <a:gdLst/>
              <a:ahLst/>
              <a:cxnLst/>
              <a:rect r="r" b="b" t="t" l="l"/>
              <a:pathLst>
                <a:path h="2943098" w="9770618">
                  <a:moveTo>
                    <a:pt x="8509" y="0"/>
                  </a:moveTo>
                  <a:lnTo>
                    <a:pt x="9762109" y="0"/>
                  </a:lnTo>
                  <a:cubicBezTo>
                    <a:pt x="9766808" y="0"/>
                    <a:pt x="9770618" y="3810"/>
                    <a:pt x="9770618" y="8509"/>
                  </a:cubicBezTo>
                  <a:lnTo>
                    <a:pt x="9770618" y="2934589"/>
                  </a:lnTo>
                  <a:cubicBezTo>
                    <a:pt x="9770618" y="2939288"/>
                    <a:pt x="9766808" y="2943098"/>
                    <a:pt x="9762109" y="2943098"/>
                  </a:cubicBezTo>
                  <a:lnTo>
                    <a:pt x="8509" y="2943098"/>
                  </a:lnTo>
                  <a:cubicBezTo>
                    <a:pt x="3810" y="2943098"/>
                    <a:pt x="0" y="2939288"/>
                    <a:pt x="0" y="2934589"/>
                  </a:cubicBezTo>
                  <a:lnTo>
                    <a:pt x="0" y="8509"/>
                  </a:lnTo>
                  <a:cubicBezTo>
                    <a:pt x="0" y="3810"/>
                    <a:pt x="3810" y="0"/>
                    <a:pt x="8509" y="0"/>
                  </a:cubicBezTo>
                  <a:moveTo>
                    <a:pt x="8509" y="16891"/>
                  </a:moveTo>
                  <a:lnTo>
                    <a:pt x="8509" y="8509"/>
                  </a:lnTo>
                  <a:lnTo>
                    <a:pt x="17018" y="8509"/>
                  </a:lnTo>
                  <a:lnTo>
                    <a:pt x="17018" y="2934589"/>
                  </a:lnTo>
                  <a:lnTo>
                    <a:pt x="8509" y="2934589"/>
                  </a:lnTo>
                  <a:lnTo>
                    <a:pt x="8509" y="2926080"/>
                  </a:lnTo>
                  <a:lnTo>
                    <a:pt x="9762109" y="2926080"/>
                  </a:lnTo>
                  <a:lnTo>
                    <a:pt x="9762109" y="2934589"/>
                  </a:lnTo>
                  <a:lnTo>
                    <a:pt x="9753600" y="2934589"/>
                  </a:lnTo>
                  <a:lnTo>
                    <a:pt x="9753600" y="8509"/>
                  </a:lnTo>
                  <a:lnTo>
                    <a:pt x="9762109" y="8509"/>
                  </a:lnTo>
                  <a:lnTo>
                    <a:pt x="9762109" y="17018"/>
                  </a:lnTo>
                  <a:lnTo>
                    <a:pt x="8509" y="17018"/>
                  </a:lnTo>
                  <a:close/>
                </a:path>
              </a:pathLst>
            </a:custGeom>
            <a:solidFill>
              <a:srgbClr val="E2E8F0"/>
            </a:solidFill>
          </p:spPr>
        </p:sp>
      </p:grpSp>
      <p:grpSp>
        <p:nvGrpSpPr>
          <p:cNvPr name="Group 82" id="82"/>
          <p:cNvGrpSpPr/>
          <p:nvPr/>
        </p:nvGrpSpPr>
        <p:grpSpPr>
          <a:xfrm rot="0">
            <a:off x="10496550" y="2456183"/>
            <a:ext cx="6949440" cy="548640"/>
            <a:chOff x="0" y="0"/>
            <a:chExt cx="9265920" cy="731520"/>
          </a:xfrm>
        </p:grpSpPr>
        <p:sp>
          <p:nvSpPr>
            <p:cNvPr name="Freeform 83" id="83"/>
            <p:cNvSpPr/>
            <p:nvPr/>
          </p:nvSpPr>
          <p:spPr>
            <a:xfrm flipH="false" flipV="false" rot="0">
              <a:off x="0" y="0"/>
              <a:ext cx="9265920" cy="731520"/>
            </a:xfrm>
            <a:custGeom>
              <a:avLst/>
              <a:gdLst/>
              <a:ahLst/>
              <a:cxnLst/>
              <a:rect r="r" b="b" t="t" l="l"/>
              <a:pathLst>
                <a:path h="731520" w="9265920">
                  <a:moveTo>
                    <a:pt x="0" y="0"/>
                  </a:moveTo>
                  <a:lnTo>
                    <a:pt x="9265920" y="0"/>
                  </a:lnTo>
                  <a:lnTo>
                    <a:pt x="9265920" y="731520"/>
                  </a:lnTo>
                  <a:lnTo>
                    <a:pt x="0" y="731520"/>
                  </a:lnTo>
                  <a:close/>
                </a:path>
              </a:pathLst>
            </a:custGeom>
            <a:blipFill>
              <a:blip r:embed="rId3">
                <a:alphaModFix amt="0"/>
              </a:blip>
              <a:stretch>
                <a:fillRect l="0" t="-196810" r="0" b="-196810"/>
              </a:stretch>
            </a:blipFill>
          </p:spPr>
        </p:sp>
        <p:sp>
          <p:nvSpPr>
            <p:cNvPr name="TextBox 84" id="84"/>
            <p:cNvSpPr txBox="true"/>
            <p:nvPr/>
          </p:nvSpPr>
          <p:spPr>
            <a:xfrm>
              <a:off x="0" y="-47625"/>
              <a:ext cx="9265920" cy="779145"/>
            </a:xfrm>
            <a:prstGeom prst="rect">
              <a:avLst/>
            </a:prstGeom>
          </p:spPr>
          <p:txBody>
            <a:bodyPr anchor="ctr" rtlCol="false" tIns="0" lIns="0" bIns="0" rIns="0"/>
            <a:lstStyle/>
            <a:p>
              <a:pPr algn="l">
                <a:lnSpc>
                  <a:spcPts val="2640"/>
                </a:lnSpc>
              </a:pPr>
              <a:r>
                <a:rPr lang="en-US" sz="2200" b="true">
                  <a:solidFill>
                    <a:srgbClr val="0D9488"/>
                  </a:solidFill>
                  <a:latin typeface="Calibri (MS) Bold"/>
                  <a:ea typeface="Calibri (MS) Bold"/>
                  <a:cs typeface="Calibri (MS) Bold"/>
                  <a:sym typeface="Calibri (MS) Bold"/>
                </a:rPr>
                <a:t>Key equations</a:t>
              </a:r>
            </a:p>
          </p:txBody>
        </p:sp>
      </p:grpSp>
      <p:grpSp>
        <p:nvGrpSpPr>
          <p:cNvPr name="Group 85" id="85"/>
          <p:cNvGrpSpPr/>
          <p:nvPr/>
        </p:nvGrpSpPr>
        <p:grpSpPr>
          <a:xfrm rot="0">
            <a:off x="10515600" y="2925699"/>
            <a:ext cx="6949440" cy="402336"/>
            <a:chOff x="0" y="0"/>
            <a:chExt cx="9265920" cy="536448"/>
          </a:xfrm>
        </p:grpSpPr>
        <p:sp>
          <p:nvSpPr>
            <p:cNvPr name="Freeform 86" id="86"/>
            <p:cNvSpPr/>
            <p:nvPr/>
          </p:nvSpPr>
          <p:spPr>
            <a:xfrm flipH="false" flipV="false" rot="0">
              <a:off x="0" y="0"/>
              <a:ext cx="9265920" cy="536448"/>
            </a:xfrm>
            <a:custGeom>
              <a:avLst/>
              <a:gdLst/>
              <a:ahLst/>
              <a:cxnLst/>
              <a:rect r="r" b="b" t="t" l="l"/>
              <a:pathLst>
                <a:path h="536448" w="9265920">
                  <a:moveTo>
                    <a:pt x="0" y="0"/>
                  </a:moveTo>
                  <a:lnTo>
                    <a:pt x="9265920" y="0"/>
                  </a:lnTo>
                  <a:lnTo>
                    <a:pt x="9265920" y="536448"/>
                  </a:lnTo>
                  <a:lnTo>
                    <a:pt x="0" y="536448"/>
                  </a:lnTo>
                  <a:close/>
                </a:path>
              </a:pathLst>
            </a:custGeom>
            <a:blipFill>
              <a:blip r:embed="rId3">
                <a:alphaModFix amt="0"/>
              </a:blip>
              <a:stretch>
                <a:fillRect l="0" t="-286559" r="0" b="-286559"/>
              </a:stretch>
            </a:blipFill>
          </p:spPr>
        </p:sp>
        <p:sp>
          <p:nvSpPr>
            <p:cNvPr name="TextBox 87" id="87"/>
            <p:cNvSpPr txBox="true"/>
            <p:nvPr/>
          </p:nvSpPr>
          <p:spPr>
            <a:xfrm>
              <a:off x="0" y="-38100"/>
              <a:ext cx="9265920" cy="574548"/>
            </a:xfrm>
            <a:prstGeom prst="rect">
              <a:avLst/>
            </a:prstGeom>
          </p:spPr>
          <p:txBody>
            <a:bodyPr anchor="ctr" rtlCol="false" tIns="0" lIns="0" bIns="0" rIns="0"/>
            <a:lstStyle/>
            <a:p>
              <a:pPr algn="l">
                <a:lnSpc>
                  <a:spcPts val="2280"/>
                </a:lnSpc>
              </a:pPr>
              <a:r>
                <a:rPr lang="en-US" sz="1900">
                  <a:solidFill>
                    <a:srgbClr val="1E293B"/>
                  </a:solidFill>
                  <a:latin typeface="Consolas"/>
                  <a:ea typeface="Consolas"/>
                  <a:cs typeface="Consolas"/>
                  <a:sym typeface="Consolas"/>
                </a:rPr>
                <a:t>F = c(F2, F3, F4)   [concatenation]</a:t>
              </a:r>
            </a:p>
          </p:txBody>
        </p:sp>
      </p:grpSp>
      <p:grpSp>
        <p:nvGrpSpPr>
          <p:cNvPr name="Group 88" id="88"/>
          <p:cNvGrpSpPr/>
          <p:nvPr/>
        </p:nvGrpSpPr>
        <p:grpSpPr>
          <a:xfrm rot="0">
            <a:off x="10515600" y="3364987"/>
            <a:ext cx="6949440" cy="402336"/>
            <a:chOff x="0" y="0"/>
            <a:chExt cx="9265920" cy="536448"/>
          </a:xfrm>
        </p:grpSpPr>
        <p:sp>
          <p:nvSpPr>
            <p:cNvPr name="Freeform 89" id="89"/>
            <p:cNvSpPr/>
            <p:nvPr/>
          </p:nvSpPr>
          <p:spPr>
            <a:xfrm flipH="false" flipV="false" rot="0">
              <a:off x="0" y="0"/>
              <a:ext cx="9265920" cy="536448"/>
            </a:xfrm>
            <a:custGeom>
              <a:avLst/>
              <a:gdLst/>
              <a:ahLst/>
              <a:cxnLst/>
              <a:rect r="r" b="b" t="t" l="l"/>
              <a:pathLst>
                <a:path h="536448" w="9265920">
                  <a:moveTo>
                    <a:pt x="0" y="0"/>
                  </a:moveTo>
                  <a:lnTo>
                    <a:pt x="9265920" y="0"/>
                  </a:lnTo>
                  <a:lnTo>
                    <a:pt x="9265920" y="536448"/>
                  </a:lnTo>
                  <a:lnTo>
                    <a:pt x="0" y="536448"/>
                  </a:lnTo>
                  <a:close/>
                </a:path>
              </a:pathLst>
            </a:custGeom>
            <a:blipFill>
              <a:blip r:embed="rId3">
                <a:alphaModFix amt="0"/>
              </a:blip>
              <a:stretch>
                <a:fillRect l="0" t="-286559" r="0" b="-286559"/>
              </a:stretch>
            </a:blipFill>
          </p:spPr>
        </p:sp>
        <p:sp>
          <p:nvSpPr>
            <p:cNvPr name="TextBox 90" id="90"/>
            <p:cNvSpPr txBox="true"/>
            <p:nvPr/>
          </p:nvSpPr>
          <p:spPr>
            <a:xfrm>
              <a:off x="0" y="-38100"/>
              <a:ext cx="9265920" cy="574548"/>
            </a:xfrm>
            <a:prstGeom prst="rect">
              <a:avLst/>
            </a:prstGeom>
          </p:spPr>
          <p:txBody>
            <a:bodyPr anchor="ctr" rtlCol="false" tIns="0" lIns="0" bIns="0" rIns="0"/>
            <a:lstStyle/>
            <a:p>
              <a:pPr algn="l">
                <a:lnSpc>
                  <a:spcPts val="2280"/>
                </a:lnSpc>
              </a:pPr>
              <a:r>
                <a:rPr lang="en-US" sz="1900">
                  <a:solidFill>
                    <a:srgbClr val="1E293B"/>
                  </a:solidFill>
                  <a:latin typeface="Consolas"/>
                  <a:ea typeface="Consolas"/>
                  <a:cs typeface="Consolas"/>
                  <a:sym typeface="Consolas"/>
                </a:rPr>
                <a:t>Fs = SENet(F, θ)   [channel attention]</a:t>
              </a:r>
            </a:p>
          </p:txBody>
        </p:sp>
      </p:grpSp>
      <p:grpSp>
        <p:nvGrpSpPr>
          <p:cNvPr name="Group 91" id="91"/>
          <p:cNvGrpSpPr/>
          <p:nvPr/>
        </p:nvGrpSpPr>
        <p:grpSpPr>
          <a:xfrm rot="0">
            <a:off x="10515600" y="3748273"/>
            <a:ext cx="6949440" cy="402336"/>
            <a:chOff x="0" y="0"/>
            <a:chExt cx="9265920" cy="536448"/>
          </a:xfrm>
        </p:grpSpPr>
        <p:sp>
          <p:nvSpPr>
            <p:cNvPr name="Freeform 92" id="92"/>
            <p:cNvSpPr/>
            <p:nvPr/>
          </p:nvSpPr>
          <p:spPr>
            <a:xfrm flipH="false" flipV="false" rot="0">
              <a:off x="0" y="0"/>
              <a:ext cx="9265920" cy="536448"/>
            </a:xfrm>
            <a:custGeom>
              <a:avLst/>
              <a:gdLst/>
              <a:ahLst/>
              <a:cxnLst/>
              <a:rect r="r" b="b" t="t" l="l"/>
              <a:pathLst>
                <a:path h="536448" w="9265920">
                  <a:moveTo>
                    <a:pt x="0" y="0"/>
                  </a:moveTo>
                  <a:lnTo>
                    <a:pt x="9265920" y="0"/>
                  </a:lnTo>
                  <a:lnTo>
                    <a:pt x="9265920" y="536448"/>
                  </a:lnTo>
                  <a:lnTo>
                    <a:pt x="0" y="536448"/>
                  </a:lnTo>
                  <a:close/>
                </a:path>
              </a:pathLst>
            </a:custGeom>
            <a:blipFill>
              <a:blip r:embed="rId3">
                <a:alphaModFix amt="0"/>
              </a:blip>
              <a:stretch>
                <a:fillRect l="0" t="-286559" r="0" b="-286559"/>
              </a:stretch>
            </a:blipFill>
          </p:spPr>
        </p:sp>
        <p:sp>
          <p:nvSpPr>
            <p:cNvPr name="TextBox 93" id="93"/>
            <p:cNvSpPr txBox="true"/>
            <p:nvPr/>
          </p:nvSpPr>
          <p:spPr>
            <a:xfrm>
              <a:off x="0" y="-38100"/>
              <a:ext cx="9265920" cy="574548"/>
            </a:xfrm>
            <a:prstGeom prst="rect">
              <a:avLst/>
            </a:prstGeom>
          </p:spPr>
          <p:txBody>
            <a:bodyPr anchor="ctr" rtlCol="false" tIns="0" lIns="0" bIns="0" rIns="0"/>
            <a:lstStyle/>
            <a:p>
              <a:pPr algn="l">
                <a:lnSpc>
                  <a:spcPts val="2280"/>
                </a:lnSpc>
              </a:pPr>
              <a:r>
                <a:rPr lang="en-US" sz="1900">
                  <a:solidFill>
                    <a:srgbClr val="1E293B"/>
                  </a:solidFill>
                  <a:latin typeface="Consolas"/>
                  <a:ea typeface="Consolas"/>
                  <a:cs typeface="Consolas"/>
                  <a:sym typeface="Consolas"/>
                </a:rPr>
                <a:t>V_local = w1·F4 + w2·Fs   [fusion]</a:t>
              </a:r>
            </a:p>
          </p:txBody>
        </p:sp>
      </p:grpSp>
      <p:grpSp>
        <p:nvGrpSpPr>
          <p:cNvPr name="Group 94" id="94"/>
          <p:cNvGrpSpPr/>
          <p:nvPr/>
        </p:nvGrpSpPr>
        <p:grpSpPr>
          <a:xfrm rot="0">
            <a:off x="10515600" y="4189981"/>
            <a:ext cx="6949440" cy="402336"/>
            <a:chOff x="0" y="0"/>
            <a:chExt cx="9265920" cy="536448"/>
          </a:xfrm>
        </p:grpSpPr>
        <p:sp>
          <p:nvSpPr>
            <p:cNvPr name="Freeform 95" id="95"/>
            <p:cNvSpPr/>
            <p:nvPr/>
          </p:nvSpPr>
          <p:spPr>
            <a:xfrm flipH="false" flipV="false" rot="0">
              <a:off x="0" y="0"/>
              <a:ext cx="9265920" cy="536448"/>
            </a:xfrm>
            <a:custGeom>
              <a:avLst/>
              <a:gdLst/>
              <a:ahLst/>
              <a:cxnLst/>
              <a:rect r="r" b="b" t="t" l="l"/>
              <a:pathLst>
                <a:path h="536448" w="9265920">
                  <a:moveTo>
                    <a:pt x="0" y="0"/>
                  </a:moveTo>
                  <a:lnTo>
                    <a:pt x="9265920" y="0"/>
                  </a:lnTo>
                  <a:lnTo>
                    <a:pt x="9265920" y="536448"/>
                  </a:lnTo>
                  <a:lnTo>
                    <a:pt x="0" y="536448"/>
                  </a:lnTo>
                  <a:close/>
                </a:path>
              </a:pathLst>
            </a:custGeom>
            <a:blipFill>
              <a:blip r:embed="rId3">
                <a:alphaModFix amt="0"/>
              </a:blip>
              <a:stretch>
                <a:fillRect l="0" t="-286559" r="0" b="-286559"/>
              </a:stretch>
            </a:blipFill>
          </p:spPr>
        </p:sp>
        <p:sp>
          <p:nvSpPr>
            <p:cNvPr name="TextBox 96" id="96"/>
            <p:cNvSpPr txBox="true"/>
            <p:nvPr/>
          </p:nvSpPr>
          <p:spPr>
            <a:xfrm>
              <a:off x="0" y="-38100"/>
              <a:ext cx="9265920" cy="574548"/>
            </a:xfrm>
            <a:prstGeom prst="rect">
              <a:avLst/>
            </a:prstGeom>
          </p:spPr>
          <p:txBody>
            <a:bodyPr anchor="ctr" rtlCol="false" tIns="0" lIns="0" bIns="0" rIns="0"/>
            <a:lstStyle/>
            <a:p>
              <a:pPr algn="l">
                <a:lnSpc>
                  <a:spcPts val="2280"/>
                </a:lnSpc>
              </a:pPr>
              <a:r>
                <a:rPr lang="en-US" sz="1900">
                  <a:solidFill>
                    <a:srgbClr val="1E293B"/>
                  </a:solidFill>
                  <a:latin typeface="Consolas"/>
                  <a:ea typeface="Consolas"/>
                  <a:cs typeface="Consolas"/>
                  <a:sym typeface="Consolas"/>
                </a:rPr>
                <a:t>V_global = (1/H·W) Σ V_local[i,j]   [GAP]</a:t>
              </a:r>
            </a:p>
          </p:txBody>
        </p:sp>
      </p:grpSp>
      <p:grpSp>
        <p:nvGrpSpPr>
          <p:cNvPr name="Group 97" id="97"/>
          <p:cNvGrpSpPr/>
          <p:nvPr/>
        </p:nvGrpSpPr>
        <p:grpSpPr>
          <a:xfrm rot="0">
            <a:off x="10234927" y="4839967"/>
            <a:ext cx="7327897" cy="1932937"/>
            <a:chOff x="0" y="0"/>
            <a:chExt cx="9770529" cy="2577249"/>
          </a:xfrm>
        </p:grpSpPr>
        <p:sp>
          <p:nvSpPr>
            <p:cNvPr name="Freeform 98" id="98"/>
            <p:cNvSpPr/>
            <p:nvPr/>
          </p:nvSpPr>
          <p:spPr>
            <a:xfrm flipH="false" flipV="false" rot="0">
              <a:off x="8509" y="8509"/>
              <a:ext cx="9753600" cy="2560320"/>
            </a:xfrm>
            <a:custGeom>
              <a:avLst/>
              <a:gdLst/>
              <a:ahLst/>
              <a:cxnLst/>
              <a:rect r="r" b="b" t="t" l="l"/>
              <a:pathLst>
                <a:path h="2560320" w="9753600">
                  <a:moveTo>
                    <a:pt x="0" y="0"/>
                  </a:moveTo>
                  <a:lnTo>
                    <a:pt x="9753600" y="0"/>
                  </a:lnTo>
                  <a:lnTo>
                    <a:pt x="9753600" y="2560320"/>
                  </a:lnTo>
                  <a:lnTo>
                    <a:pt x="0" y="2560320"/>
                  </a:lnTo>
                  <a:close/>
                </a:path>
              </a:pathLst>
            </a:custGeom>
            <a:solidFill>
              <a:srgbClr val="FEF3C7"/>
            </a:solidFill>
          </p:spPr>
        </p:sp>
        <p:sp>
          <p:nvSpPr>
            <p:cNvPr name="Freeform 99" id="99"/>
            <p:cNvSpPr/>
            <p:nvPr/>
          </p:nvSpPr>
          <p:spPr>
            <a:xfrm flipH="false" flipV="false" rot="0">
              <a:off x="0" y="0"/>
              <a:ext cx="9770618" cy="2577338"/>
            </a:xfrm>
            <a:custGeom>
              <a:avLst/>
              <a:gdLst/>
              <a:ahLst/>
              <a:cxnLst/>
              <a:rect r="r" b="b" t="t" l="l"/>
              <a:pathLst>
                <a:path h="2577338" w="9770618">
                  <a:moveTo>
                    <a:pt x="8509" y="0"/>
                  </a:moveTo>
                  <a:lnTo>
                    <a:pt x="9762109" y="0"/>
                  </a:lnTo>
                  <a:cubicBezTo>
                    <a:pt x="9766808" y="0"/>
                    <a:pt x="9770618" y="3810"/>
                    <a:pt x="9770618" y="8509"/>
                  </a:cubicBezTo>
                  <a:lnTo>
                    <a:pt x="9770618" y="2568829"/>
                  </a:lnTo>
                  <a:cubicBezTo>
                    <a:pt x="9770618" y="2573528"/>
                    <a:pt x="9766808" y="2577338"/>
                    <a:pt x="9762109" y="2577338"/>
                  </a:cubicBezTo>
                  <a:lnTo>
                    <a:pt x="8509" y="2577338"/>
                  </a:lnTo>
                  <a:cubicBezTo>
                    <a:pt x="3810" y="2577338"/>
                    <a:pt x="0" y="2573528"/>
                    <a:pt x="0" y="2568829"/>
                  </a:cubicBezTo>
                  <a:lnTo>
                    <a:pt x="0" y="8509"/>
                  </a:lnTo>
                  <a:cubicBezTo>
                    <a:pt x="0" y="3810"/>
                    <a:pt x="3810" y="0"/>
                    <a:pt x="8509" y="0"/>
                  </a:cubicBezTo>
                  <a:moveTo>
                    <a:pt x="8509" y="16891"/>
                  </a:moveTo>
                  <a:lnTo>
                    <a:pt x="8509" y="8509"/>
                  </a:lnTo>
                  <a:lnTo>
                    <a:pt x="17018" y="8509"/>
                  </a:lnTo>
                  <a:lnTo>
                    <a:pt x="17018" y="2568829"/>
                  </a:lnTo>
                  <a:lnTo>
                    <a:pt x="8509" y="2568829"/>
                  </a:lnTo>
                  <a:lnTo>
                    <a:pt x="8509" y="2560320"/>
                  </a:lnTo>
                  <a:lnTo>
                    <a:pt x="9762109" y="2560320"/>
                  </a:lnTo>
                  <a:lnTo>
                    <a:pt x="9762109" y="2568829"/>
                  </a:lnTo>
                  <a:lnTo>
                    <a:pt x="9753600" y="2568829"/>
                  </a:lnTo>
                  <a:lnTo>
                    <a:pt x="9753600" y="8509"/>
                  </a:lnTo>
                  <a:lnTo>
                    <a:pt x="9762109" y="8509"/>
                  </a:lnTo>
                  <a:lnTo>
                    <a:pt x="9762109" y="17018"/>
                  </a:lnTo>
                  <a:lnTo>
                    <a:pt x="8509" y="17018"/>
                  </a:lnTo>
                  <a:close/>
                </a:path>
              </a:pathLst>
            </a:custGeom>
            <a:solidFill>
              <a:srgbClr val="E2E8F0"/>
            </a:solidFill>
          </p:spPr>
        </p:sp>
      </p:grpSp>
      <p:grpSp>
        <p:nvGrpSpPr>
          <p:cNvPr name="Group 100" id="100"/>
          <p:cNvGrpSpPr/>
          <p:nvPr/>
        </p:nvGrpSpPr>
        <p:grpSpPr>
          <a:xfrm rot="0">
            <a:off x="10515600" y="4965059"/>
            <a:ext cx="6766560" cy="512064"/>
            <a:chOff x="0" y="0"/>
            <a:chExt cx="9022080" cy="682752"/>
          </a:xfrm>
        </p:grpSpPr>
        <p:sp>
          <p:nvSpPr>
            <p:cNvPr name="Freeform 101" id="101"/>
            <p:cNvSpPr/>
            <p:nvPr/>
          </p:nvSpPr>
          <p:spPr>
            <a:xfrm flipH="false" flipV="false" rot="0">
              <a:off x="0" y="0"/>
              <a:ext cx="9022080" cy="682752"/>
            </a:xfrm>
            <a:custGeom>
              <a:avLst/>
              <a:gdLst/>
              <a:ahLst/>
              <a:cxnLst/>
              <a:rect r="r" b="b" t="t" l="l"/>
              <a:pathLst>
                <a:path h="682752" w="9022080">
                  <a:moveTo>
                    <a:pt x="0" y="0"/>
                  </a:moveTo>
                  <a:lnTo>
                    <a:pt x="9022080" y="0"/>
                  </a:lnTo>
                  <a:lnTo>
                    <a:pt x="9022080" y="682752"/>
                  </a:lnTo>
                  <a:lnTo>
                    <a:pt x="0" y="682752"/>
                  </a:lnTo>
                  <a:close/>
                </a:path>
              </a:pathLst>
            </a:custGeom>
            <a:blipFill>
              <a:blip r:embed="rId3">
                <a:alphaModFix amt="0"/>
              </a:blip>
              <a:stretch>
                <a:fillRect l="0" t="-207480" r="0" b="-207480"/>
              </a:stretch>
            </a:blipFill>
          </p:spPr>
        </p:sp>
        <p:sp>
          <p:nvSpPr>
            <p:cNvPr name="TextBox 102" id="102"/>
            <p:cNvSpPr txBox="true"/>
            <p:nvPr/>
          </p:nvSpPr>
          <p:spPr>
            <a:xfrm>
              <a:off x="0" y="-47625"/>
              <a:ext cx="9022080" cy="730377"/>
            </a:xfrm>
            <a:prstGeom prst="rect">
              <a:avLst/>
            </a:prstGeom>
          </p:spPr>
          <p:txBody>
            <a:bodyPr anchor="ctr" rtlCol="false" tIns="0" lIns="0" bIns="0" rIns="0"/>
            <a:lstStyle/>
            <a:p>
              <a:pPr algn="l">
                <a:lnSpc>
                  <a:spcPts val="2640"/>
                </a:lnSpc>
              </a:pPr>
              <a:r>
                <a:rPr lang="en-US" sz="2200" b="true">
                  <a:solidFill>
                    <a:srgbClr val="D97706"/>
                  </a:solidFill>
                  <a:latin typeface="Calibri (MS) Bold"/>
                  <a:ea typeface="Calibri (MS) Bold"/>
                  <a:cs typeface="Calibri (MS) Bold"/>
                  <a:sym typeface="Calibri (MS) Bold"/>
                </a:rPr>
                <a:t>Why SENet matters</a:t>
              </a:r>
            </a:p>
          </p:txBody>
        </p:sp>
      </p:grpSp>
      <p:grpSp>
        <p:nvGrpSpPr>
          <p:cNvPr name="Group 103" id="103"/>
          <p:cNvGrpSpPr/>
          <p:nvPr/>
        </p:nvGrpSpPr>
        <p:grpSpPr>
          <a:xfrm rot="0">
            <a:off x="10515600" y="5372738"/>
            <a:ext cx="6766560" cy="1188720"/>
            <a:chOff x="0" y="0"/>
            <a:chExt cx="9022080" cy="1584960"/>
          </a:xfrm>
        </p:grpSpPr>
        <p:sp>
          <p:nvSpPr>
            <p:cNvPr name="Freeform 104" id="104"/>
            <p:cNvSpPr/>
            <p:nvPr/>
          </p:nvSpPr>
          <p:spPr>
            <a:xfrm flipH="false" flipV="false" rot="0">
              <a:off x="0" y="0"/>
              <a:ext cx="9022080" cy="1584960"/>
            </a:xfrm>
            <a:custGeom>
              <a:avLst/>
              <a:gdLst/>
              <a:ahLst/>
              <a:cxnLst/>
              <a:rect r="r" b="b" t="t" l="l"/>
              <a:pathLst>
                <a:path h="1584960" w="9022080">
                  <a:moveTo>
                    <a:pt x="0" y="0"/>
                  </a:moveTo>
                  <a:lnTo>
                    <a:pt x="9022080" y="0"/>
                  </a:lnTo>
                  <a:lnTo>
                    <a:pt x="9022080" y="1584960"/>
                  </a:lnTo>
                  <a:lnTo>
                    <a:pt x="0" y="1584960"/>
                  </a:lnTo>
                  <a:close/>
                </a:path>
              </a:pathLst>
            </a:custGeom>
            <a:blipFill>
              <a:blip r:embed="rId3">
                <a:alphaModFix amt="0"/>
              </a:blip>
              <a:stretch>
                <a:fillRect l="0" t="-60914" r="0" b="-60914"/>
              </a:stretch>
            </a:blipFill>
          </p:spPr>
        </p:sp>
        <p:sp>
          <p:nvSpPr>
            <p:cNvPr name="TextBox 105" id="105"/>
            <p:cNvSpPr txBox="true"/>
            <p:nvPr/>
          </p:nvSpPr>
          <p:spPr>
            <a:xfrm>
              <a:off x="0" y="-38100"/>
              <a:ext cx="9022080" cy="1623060"/>
            </a:xfrm>
            <a:prstGeom prst="rect">
              <a:avLst/>
            </a:prstGeom>
          </p:spPr>
          <p:txBody>
            <a:bodyPr anchor="ctr" rtlCol="false" tIns="0" lIns="0" bIns="0" rIns="0"/>
            <a:lstStyle/>
            <a:p>
              <a:pPr algn="l">
                <a:lnSpc>
                  <a:spcPts val="2400"/>
                </a:lnSpc>
              </a:pPr>
              <a:r>
                <a:rPr lang="en-US" sz="2000">
                  <a:solidFill>
                    <a:srgbClr val="1E293B"/>
                  </a:solidFill>
                  <a:latin typeface="Calibri (MS)"/>
                  <a:ea typeface="Calibri (MS)"/>
                  <a:cs typeface="Calibri (MS)"/>
                  <a:sym typeface="Calibri (MS)"/>
                </a:rPr>
                <a:t>Without SENet: F4 (768 channels) dominates over F2 (192 channels). SENet normalises importance across all channels so no single scale drowns out the others.</a:t>
              </a:r>
            </a:p>
          </p:txBody>
        </p:sp>
      </p:grpSp>
      <p:grpSp>
        <p:nvGrpSpPr>
          <p:cNvPr name="Group 106" id="106"/>
          <p:cNvGrpSpPr/>
          <p:nvPr/>
        </p:nvGrpSpPr>
        <p:grpSpPr>
          <a:xfrm rot="0">
            <a:off x="10234927" y="6943087"/>
            <a:ext cx="7327897" cy="1658617"/>
            <a:chOff x="0" y="0"/>
            <a:chExt cx="9770529" cy="2211489"/>
          </a:xfrm>
        </p:grpSpPr>
        <p:sp>
          <p:nvSpPr>
            <p:cNvPr name="Freeform 107" id="107"/>
            <p:cNvSpPr/>
            <p:nvPr/>
          </p:nvSpPr>
          <p:spPr>
            <a:xfrm flipH="false" flipV="false" rot="0">
              <a:off x="8509" y="8509"/>
              <a:ext cx="9753600" cy="2194560"/>
            </a:xfrm>
            <a:custGeom>
              <a:avLst/>
              <a:gdLst/>
              <a:ahLst/>
              <a:cxnLst/>
              <a:rect r="r" b="b" t="t" l="l"/>
              <a:pathLst>
                <a:path h="2194560" w="9753600">
                  <a:moveTo>
                    <a:pt x="0" y="0"/>
                  </a:moveTo>
                  <a:lnTo>
                    <a:pt x="9753600" y="0"/>
                  </a:lnTo>
                  <a:lnTo>
                    <a:pt x="9753600" y="2194560"/>
                  </a:lnTo>
                  <a:lnTo>
                    <a:pt x="0" y="2194560"/>
                  </a:lnTo>
                  <a:close/>
                </a:path>
              </a:pathLst>
            </a:custGeom>
            <a:solidFill>
              <a:srgbClr val="FFFFFF"/>
            </a:solidFill>
          </p:spPr>
        </p:sp>
        <p:sp>
          <p:nvSpPr>
            <p:cNvPr name="Freeform 108" id="108"/>
            <p:cNvSpPr/>
            <p:nvPr/>
          </p:nvSpPr>
          <p:spPr>
            <a:xfrm flipH="false" flipV="false" rot="0">
              <a:off x="0" y="0"/>
              <a:ext cx="9770618" cy="2211578"/>
            </a:xfrm>
            <a:custGeom>
              <a:avLst/>
              <a:gdLst/>
              <a:ahLst/>
              <a:cxnLst/>
              <a:rect r="r" b="b" t="t" l="l"/>
              <a:pathLst>
                <a:path h="2211578" w="9770618">
                  <a:moveTo>
                    <a:pt x="8509" y="0"/>
                  </a:moveTo>
                  <a:lnTo>
                    <a:pt x="9762109" y="0"/>
                  </a:lnTo>
                  <a:cubicBezTo>
                    <a:pt x="9766808" y="0"/>
                    <a:pt x="9770618" y="3810"/>
                    <a:pt x="9770618" y="8509"/>
                  </a:cubicBezTo>
                  <a:lnTo>
                    <a:pt x="9770618" y="2203069"/>
                  </a:lnTo>
                  <a:cubicBezTo>
                    <a:pt x="9770618" y="2207768"/>
                    <a:pt x="9766808" y="2211578"/>
                    <a:pt x="9762109" y="2211578"/>
                  </a:cubicBezTo>
                  <a:lnTo>
                    <a:pt x="8509" y="2211578"/>
                  </a:lnTo>
                  <a:cubicBezTo>
                    <a:pt x="3810" y="2211578"/>
                    <a:pt x="0" y="2207768"/>
                    <a:pt x="0" y="2203069"/>
                  </a:cubicBezTo>
                  <a:lnTo>
                    <a:pt x="0" y="8509"/>
                  </a:lnTo>
                  <a:cubicBezTo>
                    <a:pt x="0" y="3810"/>
                    <a:pt x="3810" y="0"/>
                    <a:pt x="8509" y="0"/>
                  </a:cubicBezTo>
                  <a:moveTo>
                    <a:pt x="8509" y="16891"/>
                  </a:moveTo>
                  <a:lnTo>
                    <a:pt x="8509" y="8509"/>
                  </a:lnTo>
                  <a:lnTo>
                    <a:pt x="17018" y="8509"/>
                  </a:lnTo>
                  <a:lnTo>
                    <a:pt x="17018" y="2203069"/>
                  </a:lnTo>
                  <a:lnTo>
                    <a:pt x="8509" y="2203069"/>
                  </a:lnTo>
                  <a:lnTo>
                    <a:pt x="8509" y="2194560"/>
                  </a:lnTo>
                  <a:lnTo>
                    <a:pt x="9762109" y="2194560"/>
                  </a:lnTo>
                  <a:lnTo>
                    <a:pt x="9762109" y="2203069"/>
                  </a:lnTo>
                  <a:lnTo>
                    <a:pt x="9753600" y="2203069"/>
                  </a:lnTo>
                  <a:lnTo>
                    <a:pt x="9753600" y="8509"/>
                  </a:lnTo>
                  <a:lnTo>
                    <a:pt x="9762109" y="8509"/>
                  </a:lnTo>
                  <a:lnTo>
                    <a:pt x="9762109" y="17018"/>
                  </a:lnTo>
                  <a:lnTo>
                    <a:pt x="8509" y="17018"/>
                  </a:lnTo>
                  <a:close/>
                </a:path>
              </a:pathLst>
            </a:custGeom>
            <a:solidFill>
              <a:srgbClr val="E2E8F0"/>
            </a:solidFill>
          </p:spPr>
        </p:sp>
      </p:grpSp>
      <p:grpSp>
        <p:nvGrpSpPr>
          <p:cNvPr name="Group 109" id="109"/>
          <p:cNvGrpSpPr/>
          <p:nvPr/>
        </p:nvGrpSpPr>
        <p:grpSpPr>
          <a:xfrm rot="0">
            <a:off x="10515600" y="7040880"/>
            <a:ext cx="6766560" cy="512064"/>
            <a:chOff x="0" y="0"/>
            <a:chExt cx="9022080" cy="682752"/>
          </a:xfrm>
        </p:grpSpPr>
        <p:sp>
          <p:nvSpPr>
            <p:cNvPr name="Freeform 110" id="110"/>
            <p:cNvSpPr/>
            <p:nvPr/>
          </p:nvSpPr>
          <p:spPr>
            <a:xfrm flipH="false" flipV="false" rot="0">
              <a:off x="0" y="0"/>
              <a:ext cx="9022080" cy="682752"/>
            </a:xfrm>
            <a:custGeom>
              <a:avLst/>
              <a:gdLst/>
              <a:ahLst/>
              <a:cxnLst/>
              <a:rect r="r" b="b" t="t" l="l"/>
              <a:pathLst>
                <a:path h="682752" w="9022080">
                  <a:moveTo>
                    <a:pt x="0" y="0"/>
                  </a:moveTo>
                  <a:lnTo>
                    <a:pt x="9022080" y="0"/>
                  </a:lnTo>
                  <a:lnTo>
                    <a:pt x="9022080" y="682752"/>
                  </a:lnTo>
                  <a:lnTo>
                    <a:pt x="0" y="682752"/>
                  </a:lnTo>
                  <a:close/>
                </a:path>
              </a:pathLst>
            </a:custGeom>
            <a:blipFill>
              <a:blip r:embed="rId3">
                <a:alphaModFix amt="0"/>
              </a:blip>
              <a:stretch>
                <a:fillRect l="0" t="-207480" r="0" b="-207480"/>
              </a:stretch>
            </a:blipFill>
          </p:spPr>
        </p:sp>
        <p:sp>
          <p:nvSpPr>
            <p:cNvPr name="TextBox 111" id="111"/>
            <p:cNvSpPr txBox="true"/>
            <p:nvPr/>
          </p:nvSpPr>
          <p:spPr>
            <a:xfrm>
              <a:off x="0" y="-47625"/>
              <a:ext cx="9022080" cy="730377"/>
            </a:xfrm>
            <a:prstGeom prst="rect">
              <a:avLst/>
            </a:prstGeom>
          </p:spPr>
          <p:txBody>
            <a:bodyPr anchor="ctr" rtlCol="false" tIns="0" lIns="0" bIns="0" rIns="0"/>
            <a:lstStyle/>
            <a:p>
              <a:pPr algn="l">
                <a:lnSpc>
                  <a:spcPts val="2640"/>
                </a:lnSpc>
              </a:pPr>
              <a:r>
                <a:rPr lang="en-US" sz="2200" b="true">
                  <a:solidFill>
                    <a:srgbClr val="0D1B3E"/>
                  </a:solidFill>
                  <a:latin typeface="Calibri (MS) Bold"/>
                  <a:ea typeface="Calibri (MS) Bold"/>
                  <a:cs typeface="Calibri (MS) Bold"/>
                  <a:sym typeface="Calibri (MS) Bold"/>
                </a:rPr>
                <a:t>Outputs of AMFF</a:t>
              </a:r>
            </a:p>
          </p:txBody>
        </p:sp>
      </p:grpSp>
      <p:grpSp>
        <p:nvGrpSpPr>
          <p:cNvPr name="Group 112" id="112"/>
          <p:cNvGrpSpPr/>
          <p:nvPr/>
        </p:nvGrpSpPr>
        <p:grpSpPr>
          <a:xfrm rot="0">
            <a:off x="10515600" y="7496804"/>
            <a:ext cx="6766560" cy="950976"/>
            <a:chOff x="0" y="0"/>
            <a:chExt cx="9022080" cy="1267968"/>
          </a:xfrm>
        </p:grpSpPr>
        <p:sp>
          <p:nvSpPr>
            <p:cNvPr name="Freeform 113" id="113"/>
            <p:cNvSpPr/>
            <p:nvPr/>
          </p:nvSpPr>
          <p:spPr>
            <a:xfrm flipH="false" flipV="false" rot="0">
              <a:off x="0" y="0"/>
              <a:ext cx="9022080" cy="1267968"/>
            </a:xfrm>
            <a:custGeom>
              <a:avLst/>
              <a:gdLst/>
              <a:ahLst/>
              <a:cxnLst/>
              <a:rect r="r" b="b" t="t" l="l"/>
              <a:pathLst>
                <a:path h="1267968" w="9022080">
                  <a:moveTo>
                    <a:pt x="0" y="0"/>
                  </a:moveTo>
                  <a:lnTo>
                    <a:pt x="9022080" y="0"/>
                  </a:lnTo>
                  <a:lnTo>
                    <a:pt x="9022080" y="1267968"/>
                  </a:lnTo>
                  <a:lnTo>
                    <a:pt x="0" y="1267968"/>
                  </a:lnTo>
                  <a:close/>
                </a:path>
              </a:pathLst>
            </a:custGeom>
            <a:blipFill>
              <a:blip r:embed="rId3">
                <a:alphaModFix amt="0"/>
              </a:blip>
              <a:stretch>
                <a:fillRect l="0" t="-88643" r="0" b="-88643"/>
              </a:stretch>
            </a:blipFill>
          </p:spPr>
        </p:sp>
        <p:sp>
          <p:nvSpPr>
            <p:cNvPr name="TextBox 114" id="114"/>
            <p:cNvSpPr txBox="true"/>
            <p:nvPr/>
          </p:nvSpPr>
          <p:spPr>
            <a:xfrm>
              <a:off x="0" y="-38100"/>
              <a:ext cx="9022080" cy="1306068"/>
            </a:xfrm>
            <a:prstGeom prst="rect">
              <a:avLst/>
            </a:prstGeom>
          </p:spPr>
          <p:txBody>
            <a:bodyPr anchor="ctr" rtlCol="false" tIns="0" lIns="0" bIns="0" rIns="0"/>
            <a:lstStyle/>
            <a:p>
              <a:pPr algn="l">
                <a:lnSpc>
                  <a:spcPts val="2400"/>
                </a:lnSpc>
              </a:pPr>
              <a:r>
                <a:rPr lang="en-US" sz="2000" b="true">
                  <a:solidFill>
                    <a:srgbClr val="0D9488"/>
                  </a:solidFill>
                  <a:latin typeface="Calibri (MS) Bold"/>
                  <a:ea typeface="Calibri (MS) Bold"/>
                  <a:cs typeface="Calibri (MS) Bold"/>
                  <a:sym typeface="Calibri (MS) Bold"/>
                </a:rPr>
                <a:t>V_local  </a:t>
              </a:r>
              <a:r>
                <a:rPr lang="en-US" sz="2000">
                  <a:solidFill>
                    <a:srgbClr val="1E293B"/>
                  </a:solidFill>
                  <a:latin typeface="Calibri (MS)"/>
                  <a:ea typeface="Calibri (MS)"/>
                  <a:cs typeface="Calibri (MS)"/>
                  <a:sym typeface="Calibri (MS)"/>
                </a:rPr>
                <a:t>— detailed local features (H × W × 2048)</a:t>
              </a:r>
            </a:p>
            <a:p>
              <a:pPr algn="l">
                <a:lnSpc>
                  <a:spcPts val="2400"/>
                </a:lnSpc>
              </a:pPr>
              <a:r>
                <a:rPr lang="en-US" sz="2000" b="true">
                  <a:solidFill>
                    <a:srgbClr val="6D28D9"/>
                  </a:solidFill>
                  <a:latin typeface="Calibri (MS) Bold"/>
                  <a:ea typeface="Calibri (MS) Bold"/>
                  <a:cs typeface="Calibri (MS) Bold"/>
                  <a:sym typeface="Calibri (MS) Bold"/>
                </a:rPr>
                <a:t>V_global  </a:t>
              </a:r>
              <a:r>
                <a:rPr lang="en-US" sz="2000">
                  <a:solidFill>
                    <a:srgbClr val="1E293B"/>
                  </a:solidFill>
                  <a:latin typeface="Calibri (MS)"/>
                  <a:ea typeface="Calibri (MS)"/>
                  <a:cs typeface="Calibri (MS)"/>
                  <a:sym typeface="Calibri (MS)"/>
                </a:rPr>
                <a:t>— scene-level context vector (dim 300)</a:t>
              </a:r>
            </a:p>
          </p:txBody>
        </p:sp>
      </p:grpSp>
      <p:grpSp>
        <p:nvGrpSpPr>
          <p:cNvPr name="Group 115" id="115"/>
          <p:cNvGrpSpPr/>
          <p:nvPr/>
        </p:nvGrpSpPr>
        <p:grpSpPr>
          <a:xfrm rot="0">
            <a:off x="10234927" y="8771887"/>
            <a:ext cx="7327897" cy="835657"/>
            <a:chOff x="0" y="0"/>
            <a:chExt cx="9770529" cy="1114209"/>
          </a:xfrm>
        </p:grpSpPr>
        <p:sp>
          <p:nvSpPr>
            <p:cNvPr name="Freeform 116" id="116"/>
            <p:cNvSpPr/>
            <p:nvPr/>
          </p:nvSpPr>
          <p:spPr>
            <a:xfrm flipH="false" flipV="false" rot="0">
              <a:off x="8509" y="8509"/>
              <a:ext cx="9753600" cy="1097280"/>
            </a:xfrm>
            <a:custGeom>
              <a:avLst/>
              <a:gdLst/>
              <a:ahLst/>
              <a:cxnLst/>
              <a:rect r="r" b="b" t="t" l="l"/>
              <a:pathLst>
                <a:path h="1097280" w="9753600">
                  <a:moveTo>
                    <a:pt x="0" y="0"/>
                  </a:moveTo>
                  <a:lnTo>
                    <a:pt x="9753600" y="0"/>
                  </a:lnTo>
                  <a:lnTo>
                    <a:pt x="9753600" y="1097280"/>
                  </a:lnTo>
                  <a:lnTo>
                    <a:pt x="0" y="1097280"/>
                  </a:lnTo>
                  <a:close/>
                </a:path>
              </a:pathLst>
            </a:custGeom>
            <a:solidFill>
              <a:srgbClr val="EFF6FF"/>
            </a:solidFill>
          </p:spPr>
        </p:sp>
        <p:sp>
          <p:nvSpPr>
            <p:cNvPr name="Freeform 117" id="117"/>
            <p:cNvSpPr/>
            <p:nvPr/>
          </p:nvSpPr>
          <p:spPr>
            <a:xfrm flipH="false" flipV="false" rot="0">
              <a:off x="0" y="0"/>
              <a:ext cx="9770618" cy="1114298"/>
            </a:xfrm>
            <a:custGeom>
              <a:avLst/>
              <a:gdLst/>
              <a:ahLst/>
              <a:cxnLst/>
              <a:rect r="r" b="b" t="t" l="l"/>
              <a:pathLst>
                <a:path h="1114298" w="9770618">
                  <a:moveTo>
                    <a:pt x="8509" y="0"/>
                  </a:moveTo>
                  <a:lnTo>
                    <a:pt x="9762109" y="0"/>
                  </a:lnTo>
                  <a:cubicBezTo>
                    <a:pt x="9766808" y="0"/>
                    <a:pt x="9770618" y="3810"/>
                    <a:pt x="9770618" y="8509"/>
                  </a:cubicBezTo>
                  <a:lnTo>
                    <a:pt x="9770618" y="1105789"/>
                  </a:lnTo>
                  <a:cubicBezTo>
                    <a:pt x="9770618" y="1110488"/>
                    <a:pt x="9766808" y="1114298"/>
                    <a:pt x="9762109" y="1114298"/>
                  </a:cubicBezTo>
                  <a:lnTo>
                    <a:pt x="8509" y="1114298"/>
                  </a:lnTo>
                  <a:cubicBezTo>
                    <a:pt x="3810" y="1114298"/>
                    <a:pt x="0" y="1110488"/>
                    <a:pt x="0" y="1105789"/>
                  </a:cubicBezTo>
                  <a:lnTo>
                    <a:pt x="0" y="8509"/>
                  </a:lnTo>
                  <a:cubicBezTo>
                    <a:pt x="0" y="3810"/>
                    <a:pt x="3810" y="0"/>
                    <a:pt x="8509" y="0"/>
                  </a:cubicBezTo>
                  <a:moveTo>
                    <a:pt x="8509" y="16891"/>
                  </a:moveTo>
                  <a:lnTo>
                    <a:pt x="8509" y="8509"/>
                  </a:lnTo>
                  <a:lnTo>
                    <a:pt x="17018" y="8509"/>
                  </a:lnTo>
                  <a:lnTo>
                    <a:pt x="17018" y="1105789"/>
                  </a:lnTo>
                  <a:lnTo>
                    <a:pt x="8509" y="1105789"/>
                  </a:lnTo>
                  <a:lnTo>
                    <a:pt x="8509" y="1097280"/>
                  </a:lnTo>
                  <a:lnTo>
                    <a:pt x="9762109" y="1097280"/>
                  </a:lnTo>
                  <a:lnTo>
                    <a:pt x="9762109" y="1105789"/>
                  </a:lnTo>
                  <a:lnTo>
                    <a:pt x="9753600" y="1105789"/>
                  </a:lnTo>
                  <a:lnTo>
                    <a:pt x="9753600" y="8509"/>
                  </a:lnTo>
                  <a:lnTo>
                    <a:pt x="9762109" y="8509"/>
                  </a:lnTo>
                  <a:lnTo>
                    <a:pt x="9762109" y="17018"/>
                  </a:lnTo>
                  <a:lnTo>
                    <a:pt x="8509" y="17018"/>
                  </a:lnTo>
                  <a:close/>
                </a:path>
              </a:pathLst>
            </a:custGeom>
            <a:solidFill>
              <a:srgbClr val="E2E8F0"/>
            </a:solidFill>
          </p:spPr>
        </p:sp>
      </p:grpSp>
      <p:grpSp>
        <p:nvGrpSpPr>
          <p:cNvPr name="Group 118" id="118"/>
          <p:cNvGrpSpPr/>
          <p:nvPr/>
        </p:nvGrpSpPr>
        <p:grpSpPr>
          <a:xfrm rot="0">
            <a:off x="10460736" y="8833104"/>
            <a:ext cx="6949440" cy="694944"/>
            <a:chOff x="0" y="0"/>
            <a:chExt cx="9265920" cy="926592"/>
          </a:xfrm>
        </p:grpSpPr>
        <p:sp>
          <p:nvSpPr>
            <p:cNvPr name="Freeform 119" id="119"/>
            <p:cNvSpPr/>
            <p:nvPr/>
          </p:nvSpPr>
          <p:spPr>
            <a:xfrm flipH="false" flipV="false" rot="0">
              <a:off x="0" y="0"/>
              <a:ext cx="9265920" cy="926592"/>
            </a:xfrm>
            <a:custGeom>
              <a:avLst/>
              <a:gdLst/>
              <a:ahLst/>
              <a:cxnLst/>
              <a:rect r="r" b="b" t="t" l="l"/>
              <a:pathLst>
                <a:path h="926592" w="9265920">
                  <a:moveTo>
                    <a:pt x="0" y="0"/>
                  </a:moveTo>
                  <a:lnTo>
                    <a:pt x="9265920" y="0"/>
                  </a:lnTo>
                  <a:lnTo>
                    <a:pt x="9265920" y="926592"/>
                  </a:lnTo>
                  <a:lnTo>
                    <a:pt x="0" y="926592"/>
                  </a:lnTo>
                  <a:close/>
                </a:path>
              </a:pathLst>
            </a:custGeom>
            <a:blipFill>
              <a:blip r:embed="rId3">
                <a:alphaModFix amt="0"/>
              </a:blip>
              <a:stretch>
                <a:fillRect l="0" t="-144850" r="0" b="-144850"/>
              </a:stretch>
            </a:blipFill>
          </p:spPr>
        </p:sp>
        <p:sp>
          <p:nvSpPr>
            <p:cNvPr name="TextBox 120" id="120"/>
            <p:cNvSpPr txBox="true"/>
            <p:nvPr/>
          </p:nvSpPr>
          <p:spPr>
            <a:xfrm>
              <a:off x="0" y="-38100"/>
              <a:ext cx="9265920" cy="964692"/>
            </a:xfrm>
            <a:prstGeom prst="rect">
              <a:avLst/>
            </a:prstGeom>
          </p:spPr>
          <p:txBody>
            <a:bodyPr anchor="ctr" rtlCol="false" tIns="0" lIns="0" bIns="0" rIns="0"/>
            <a:lstStyle/>
            <a:p>
              <a:pPr algn="l">
                <a:lnSpc>
                  <a:spcPts val="2160"/>
                </a:lnSpc>
              </a:pPr>
              <a:r>
                <a:rPr lang="en-US" sz="1800">
                  <a:solidFill>
                    <a:srgbClr val="0D1B3E"/>
                  </a:solidFill>
                  <a:latin typeface="Calibri (MS)"/>
                  <a:ea typeface="Calibri (MS)"/>
                  <a:cs typeface="Calibri (MS)"/>
                  <a:sym typeface="Calibri (MS)"/>
                </a:rPr>
                <a:t>Swin Transformer (ST) — Hierarchical vision transformer using shifted windows. Unlike ViT, it preserves spatial 2-D structure through windowed attention across 4 resolution stages.</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718823" y="316487"/>
            <a:ext cx="2951483" cy="574043"/>
            <a:chOff x="0" y="0"/>
            <a:chExt cx="3935311" cy="765391"/>
          </a:xfrm>
        </p:grpSpPr>
        <p:sp>
          <p:nvSpPr>
            <p:cNvPr name="Freeform 3" id="3"/>
            <p:cNvSpPr/>
            <p:nvPr/>
          </p:nvSpPr>
          <p:spPr>
            <a:xfrm flipH="false" flipV="false" rot="0">
              <a:off x="16891" y="16891"/>
              <a:ext cx="3901440" cy="731520"/>
            </a:xfrm>
            <a:custGeom>
              <a:avLst/>
              <a:gdLst/>
              <a:ahLst/>
              <a:cxnLst/>
              <a:rect r="r" b="b" t="t" l="l"/>
              <a:pathLst>
                <a:path h="731520" w="3901440">
                  <a:moveTo>
                    <a:pt x="0" y="0"/>
                  </a:moveTo>
                  <a:lnTo>
                    <a:pt x="3901440" y="0"/>
                  </a:lnTo>
                  <a:lnTo>
                    <a:pt x="3901440" y="731520"/>
                  </a:lnTo>
                  <a:lnTo>
                    <a:pt x="0" y="731520"/>
                  </a:lnTo>
                  <a:close/>
                </a:path>
              </a:pathLst>
            </a:custGeom>
            <a:solidFill>
              <a:srgbClr val="6D28D9"/>
            </a:solidFill>
          </p:spPr>
        </p:sp>
        <p:sp>
          <p:nvSpPr>
            <p:cNvPr name="Freeform 4" id="4"/>
            <p:cNvSpPr/>
            <p:nvPr/>
          </p:nvSpPr>
          <p:spPr>
            <a:xfrm flipH="false" flipV="false" rot="0">
              <a:off x="0" y="0"/>
              <a:ext cx="3935222" cy="765304"/>
            </a:xfrm>
            <a:custGeom>
              <a:avLst/>
              <a:gdLst/>
              <a:ahLst/>
              <a:cxnLst/>
              <a:rect r="r" b="b" t="t" l="l"/>
              <a:pathLst>
                <a:path h="765304" w="3935222">
                  <a:moveTo>
                    <a:pt x="16891" y="0"/>
                  </a:moveTo>
                  <a:lnTo>
                    <a:pt x="3918331" y="0"/>
                  </a:lnTo>
                  <a:cubicBezTo>
                    <a:pt x="3927729" y="0"/>
                    <a:pt x="3935222" y="7620"/>
                    <a:pt x="3935222" y="16891"/>
                  </a:cubicBezTo>
                  <a:lnTo>
                    <a:pt x="3935222" y="748411"/>
                  </a:lnTo>
                  <a:cubicBezTo>
                    <a:pt x="3935222" y="757809"/>
                    <a:pt x="3927602" y="765302"/>
                    <a:pt x="3918331" y="765302"/>
                  </a:cubicBezTo>
                  <a:lnTo>
                    <a:pt x="16891" y="765302"/>
                  </a:lnTo>
                  <a:cubicBezTo>
                    <a:pt x="7620" y="765429"/>
                    <a:pt x="0" y="757809"/>
                    <a:pt x="0" y="748411"/>
                  </a:cubicBezTo>
                  <a:lnTo>
                    <a:pt x="0" y="16891"/>
                  </a:lnTo>
                  <a:cubicBezTo>
                    <a:pt x="0" y="7620"/>
                    <a:pt x="7620" y="0"/>
                    <a:pt x="16891" y="0"/>
                  </a:cubicBezTo>
                  <a:moveTo>
                    <a:pt x="16891" y="33909"/>
                  </a:moveTo>
                  <a:lnTo>
                    <a:pt x="16891" y="16891"/>
                  </a:lnTo>
                  <a:lnTo>
                    <a:pt x="33909" y="16891"/>
                  </a:lnTo>
                  <a:lnTo>
                    <a:pt x="33909" y="748411"/>
                  </a:lnTo>
                  <a:lnTo>
                    <a:pt x="16891" y="748411"/>
                  </a:lnTo>
                  <a:lnTo>
                    <a:pt x="16891" y="731520"/>
                  </a:lnTo>
                  <a:lnTo>
                    <a:pt x="3918331" y="731520"/>
                  </a:lnTo>
                  <a:lnTo>
                    <a:pt x="3918331" y="748411"/>
                  </a:lnTo>
                  <a:lnTo>
                    <a:pt x="3901440" y="748411"/>
                  </a:lnTo>
                  <a:lnTo>
                    <a:pt x="3901440" y="16891"/>
                  </a:lnTo>
                  <a:lnTo>
                    <a:pt x="3918331" y="16891"/>
                  </a:lnTo>
                  <a:lnTo>
                    <a:pt x="3918331" y="33909"/>
                  </a:lnTo>
                  <a:lnTo>
                    <a:pt x="16891" y="33909"/>
                  </a:lnTo>
                  <a:close/>
                </a:path>
              </a:pathLst>
            </a:custGeom>
            <a:solidFill>
              <a:srgbClr val="6D28D9"/>
            </a:solidFill>
          </p:spPr>
        </p:sp>
      </p:grpSp>
      <p:grpSp>
        <p:nvGrpSpPr>
          <p:cNvPr name="Group 5" id="5"/>
          <p:cNvGrpSpPr/>
          <p:nvPr/>
        </p:nvGrpSpPr>
        <p:grpSpPr>
          <a:xfrm rot="0">
            <a:off x="731520" y="329184"/>
            <a:ext cx="2926080" cy="548640"/>
            <a:chOff x="0" y="0"/>
            <a:chExt cx="3901440" cy="731520"/>
          </a:xfrm>
        </p:grpSpPr>
        <p:sp>
          <p:nvSpPr>
            <p:cNvPr name="Freeform 6" id="6"/>
            <p:cNvSpPr/>
            <p:nvPr/>
          </p:nvSpPr>
          <p:spPr>
            <a:xfrm flipH="false" flipV="false" rot="0">
              <a:off x="0" y="0"/>
              <a:ext cx="3901440" cy="731520"/>
            </a:xfrm>
            <a:custGeom>
              <a:avLst/>
              <a:gdLst/>
              <a:ahLst/>
              <a:cxnLst/>
              <a:rect r="r" b="b" t="t" l="l"/>
              <a:pathLst>
                <a:path h="731520" w="3901440">
                  <a:moveTo>
                    <a:pt x="0" y="0"/>
                  </a:moveTo>
                  <a:lnTo>
                    <a:pt x="3901440" y="0"/>
                  </a:lnTo>
                  <a:lnTo>
                    <a:pt x="3901440" y="731520"/>
                  </a:lnTo>
                  <a:lnTo>
                    <a:pt x="0" y="731520"/>
                  </a:lnTo>
                  <a:close/>
                </a:path>
              </a:pathLst>
            </a:custGeom>
            <a:blipFill>
              <a:blip r:embed="rId3">
                <a:alphaModFix amt="0"/>
              </a:blip>
              <a:stretch>
                <a:fillRect l="0" t="-53920" r="0" b="-53920"/>
              </a:stretch>
            </a:blipFill>
          </p:spPr>
        </p:sp>
        <p:sp>
          <p:nvSpPr>
            <p:cNvPr name="TextBox 7" id="7"/>
            <p:cNvSpPr txBox="true"/>
            <p:nvPr/>
          </p:nvSpPr>
          <p:spPr>
            <a:xfrm>
              <a:off x="0" y="-38100"/>
              <a:ext cx="3901440" cy="76962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05 · LFSE MODULE</a:t>
              </a:r>
            </a:p>
          </p:txBody>
        </p:sp>
      </p:grpSp>
      <p:grpSp>
        <p:nvGrpSpPr>
          <p:cNvPr name="Group 8" id="8"/>
          <p:cNvGrpSpPr/>
          <p:nvPr/>
        </p:nvGrpSpPr>
        <p:grpSpPr>
          <a:xfrm rot="0">
            <a:off x="914400" y="1005840"/>
            <a:ext cx="16459200" cy="1188720"/>
            <a:chOff x="0" y="0"/>
            <a:chExt cx="21945600" cy="1584960"/>
          </a:xfrm>
        </p:grpSpPr>
        <p:sp>
          <p:nvSpPr>
            <p:cNvPr name="Freeform 9" id="9"/>
            <p:cNvSpPr/>
            <p:nvPr/>
          </p:nvSpPr>
          <p:spPr>
            <a:xfrm flipH="false" flipV="false" rot="0">
              <a:off x="0" y="0"/>
              <a:ext cx="21945600" cy="1584960"/>
            </a:xfrm>
            <a:custGeom>
              <a:avLst/>
              <a:gdLst/>
              <a:ahLst/>
              <a:cxnLst/>
              <a:rect r="r" b="b" t="t" l="l"/>
              <a:pathLst>
                <a:path h="1584960" w="21945600">
                  <a:moveTo>
                    <a:pt x="0" y="0"/>
                  </a:moveTo>
                  <a:lnTo>
                    <a:pt x="21945600" y="0"/>
                  </a:lnTo>
                  <a:lnTo>
                    <a:pt x="21945600" y="1584960"/>
                  </a:lnTo>
                  <a:lnTo>
                    <a:pt x="0" y="1584960"/>
                  </a:lnTo>
                  <a:close/>
                </a:path>
              </a:pathLst>
            </a:custGeom>
            <a:blipFill>
              <a:blip r:embed="rId3">
                <a:alphaModFix amt="0"/>
              </a:blip>
              <a:stretch>
                <a:fillRect l="0" t="-219792" r="0" b="-219792"/>
              </a:stretch>
            </a:blipFill>
          </p:spPr>
        </p:sp>
        <p:sp>
          <p:nvSpPr>
            <p:cNvPr name="TextBox 10" id="10"/>
            <p:cNvSpPr txBox="true"/>
            <p:nvPr/>
          </p:nvSpPr>
          <p:spPr>
            <a:xfrm>
              <a:off x="0" y="-104775"/>
              <a:ext cx="21945600" cy="1689735"/>
            </a:xfrm>
            <a:prstGeom prst="rect">
              <a:avLst/>
            </a:prstGeom>
          </p:spPr>
          <p:txBody>
            <a:bodyPr anchor="ctr" rtlCol="false" tIns="0" lIns="0" bIns="0" rIns="0"/>
            <a:lstStyle/>
            <a:p>
              <a:pPr algn="l">
                <a:lnSpc>
                  <a:spcPts val="6240"/>
                </a:lnSpc>
              </a:pPr>
              <a:r>
                <a:rPr lang="en-US" sz="5200" b="true">
                  <a:solidFill>
                    <a:srgbClr val="1E293B"/>
                  </a:solidFill>
                  <a:latin typeface="Calibri (MS) Bold"/>
                  <a:ea typeface="Calibri (MS) Bold"/>
                  <a:cs typeface="Calibri (MS) Bold"/>
                  <a:sym typeface="Calibri (MS) Bold"/>
                </a:rPr>
                <a:t>Stage 2: Local Feature Squeeze and Enhancement</a:t>
              </a:r>
            </a:p>
          </p:txBody>
        </p:sp>
      </p:grpSp>
      <p:grpSp>
        <p:nvGrpSpPr>
          <p:cNvPr name="Group 11" id="11"/>
          <p:cNvGrpSpPr/>
          <p:nvPr/>
        </p:nvGrpSpPr>
        <p:grpSpPr>
          <a:xfrm rot="0">
            <a:off x="725167" y="2279647"/>
            <a:ext cx="16837657" cy="12697"/>
            <a:chOff x="0" y="0"/>
            <a:chExt cx="22450209" cy="16929"/>
          </a:xfrm>
        </p:grpSpPr>
        <p:sp>
          <p:nvSpPr>
            <p:cNvPr name="Freeform 12" id="12"/>
            <p:cNvSpPr/>
            <p:nvPr/>
          </p:nvSpPr>
          <p:spPr>
            <a:xfrm flipH="false" flipV="false" rot="0">
              <a:off x="8509" y="0"/>
              <a:ext cx="22433281" cy="16891"/>
            </a:xfrm>
            <a:custGeom>
              <a:avLst/>
              <a:gdLst/>
              <a:ahLst/>
              <a:cxnLst/>
              <a:rect r="r" b="b" t="t" l="l"/>
              <a:pathLst>
                <a:path h="16891" w="22433281">
                  <a:moveTo>
                    <a:pt x="0" y="0"/>
                  </a:moveTo>
                  <a:lnTo>
                    <a:pt x="22433281" y="0"/>
                  </a:lnTo>
                  <a:lnTo>
                    <a:pt x="22433281" y="16891"/>
                  </a:lnTo>
                  <a:lnTo>
                    <a:pt x="0" y="16891"/>
                  </a:lnTo>
                  <a:close/>
                </a:path>
              </a:pathLst>
            </a:custGeom>
            <a:solidFill>
              <a:srgbClr val="E2E8F0"/>
            </a:solidFill>
          </p:spPr>
        </p:sp>
      </p:grpSp>
      <p:grpSp>
        <p:nvGrpSpPr>
          <p:cNvPr name="Group 13" id="13"/>
          <p:cNvGrpSpPr/>
          <p:nvPr/>
        </p:nvGrpSpPr>
        <p:grpSpPr>
          <a:xfrm rot="0">
            <a:off x="535943" y="1975828"/>
            <a:ext cx="16837657" cy="1018537"/>
            <a:chOff x="0" y="0"/>
            <a:chExt cx="22450209" cy="1358049"/>
          </a:xfrm>
        </p:grpSpPr>
        <p:sp>
          <p:nvSpPr>
            <p:cNvPr name="Freeform 14" id="14"/>
            <p:cNvSpPr/>
            <p:nvPr/>
          </p:nvSpPr>
          <p:spPr>
            <a:xfrm flipH="false" flipV="false" rot="0">
              <a:off x="8509" y="8509"/>
              <a:ext cx="22433281" cy="1341120"/>
            </a:xfrm>
            <a:custGeom>
              <a:avLst/>
              <a:gdLst/>
              <a:ahLst/>
              <a:cxnLst/>
              <a:rect r="r" b="b" t="t" l="l"/>
              <a:pathLst>
                <a:path h="1341120" w="22433281">
                  <a:moveTo>
                    <a:pt x="0" y="0"/>
                  </a:moveTo>
                  <a:lnTo>
                    <a:pt x="22433281" y="0"/>
                  </a:lnTo>
                  <a:lnTo>
                    <a:pt x="22433281" y="1341120"/>
                  </a:lnTo>
                  <a:lnTo>
                    <a:pt x="0" y="1341120"/>
                  </a:lnTo>
                  <a:close/>
                </a:path>
              </a:pathLst>
            </a:custGeom>
            <a:solidFill>
              <a:srgbClr val="EDE9FE"/>
            </a:solidFill>
          </p:spPr>
        </p:sp>
        <p:sp>
          <p:nvSpPr>
            <p:cNvPr name="Freeform 15" id="15"/>
            <p:cNvSpPr/>
            <p:nvPr/>
          </p:nvSpPr>
          <p:spPr>
            <a:xfrm flipH="false" flipV="false" rot="0">
              <a:off x="0" y="0"/>
              <a:ext cx="22450298" cy="1358138"/>
            </a:xfrm>
            <a:custGeom>
              <a:avLst/>
              <a:gdLst/>
              <a:ahLst/>
              <a:cxnLst/>
              <a:rect r="r" b="b" t="t" l="l"/>
              <a:pathLst>
                <a:path h="1358138" w="22450298">
                  <a:moveTo>
                    <a:pt x="8509" y="0"/>
                  </a:moveTo>
                  <a:lnTo>
                    <a:pt x="22441790" y="0"/>
                  </a:lnTo>
                  <a:cubicBezTo>
                    <a:pt x="22446489" y="0"/>
                    <a:pt x="22450298" y="3810"/>
                    <a:pt x="22450298" y="8509"/>
                  </a:cubicBezTo>
                  <a:lnTo>
                    <a:pt x="22450298" y="1349629"/>
                  </a:lnTo>
                  <a:cubicBezTo>
                    <a:pt x="22450298" y="1354328"/>
                    <a:pt x="22446489" y="1358138"/>
                    <a:pt x="22441790" y="1358138"/>
                  </a:cubicBezTo>
                  <a:lnTo>
                    <a:pt x="8509" y="1358138"/>
                  </a:lnTo>
                  <a:cubicBezTo>
                    <a:pt x="3810" y="1358138"/>
                    <a:pt x="0" y="1354328"/>
                    <a:pt x="0" y="1349629"/>
                  </a:cubicBezTo>
                  <a:lnTo>
                    <a:pt x="0" y="8509"/>
                  </a:lnTo>
                  <a:cubicBezTo>
                    <a:pt x="0" y="3810"/>
                    <a:pt x="3810" y="0"/>
                    <a:pt x="8509" y="0"/>
                  </a:cubicBezTo>
                  <a:moveTo>
                    <a:pt x="8509" y="16891"/>
                  </a:moveTo>
                  <a:lnTo>
                    <a:pt x="8509" y="8509"/>
                  </a:lnTo>
                  <a:lnTo>
                    <a:pt x="17018" y="8509"/>
                  </a:lnTo>
                  <a:lnTo>
                    <a:pt x="17018" y="1349629"/>
                  </a:lnTo>
                  <a:lnTo>
                    <a:pt x="8509" y="1349629"/>
                  </a:lnTo>
                  <a:lnTo>
                    <a:pt x="8509" y="1341120"/>
                  </a:lnTo>
                  <a:lnTo>
                    <a:pt x="22441790" y="1341120"/>
                  </a:lnTo>
                  <a:lnTo>
                    <a:pt x="22441790" y="1349629"/>
                  </a:lnTo>
                  <a:lnTo>
                    <a:pt x="22433280" y="1349629"/>
                  </a:lnTo>
                  <a:lnTo>
                    <a:pt x="22433280" y="8509"/>
                  </a:lnTo>
                  <a:lnTo>
                    <a:pt x="22441790" y="8509"/>
                  </a:lnTo>
                  <a:lnTo>
                    <a:pt x="22441790" y="17018"/>
                  </a:lnTo>
                  <a:lnTo>
                    <a:pt x="8509" y="17018"/>
                  </a:lnTo>
                  <a:close/>
                </a:path>
              </a:pathLst>
            </a:custGeom>
            <a:solidFill>
              <a:srgbClr val="E2E8F0"/>
            </a:solidFill>
          </p:spPr>
        </p:sp>
      </p:grpSp>
      <p:grpSp>
        <p:nvGrpSpPr>
          <p:cNvPr name="Group 16" id="16"/>
          <p:cNvGrpSpPr/>
          <p:nvPr/>
        </p:nvGrpSpPr>
        <p:grpSpPr>
          <a:xfrm rot="0">
            <a:off x="816616" y="2073621"/>
            <a:ext cx="16459200" cy="804672"/>
            <a:chOff x="0" y="0"/>
            <a:chExt cx="21945600" cy="1072896"/>
          </a:xfrm>
        </p:grpSpPr>
        <p:sp>
          <p:nvSpPr>
            <p:cNvPr name="Freeform 17" id="17"/>
            <p:cNvSpPr/>
            <p:nvPr/>
          </p:nvSpPr>
          <p:spPr>
            <a:xfrm flipH="false" flipV="false" rot="0">
              <a:off x="0" y="0"/>
              <a:ext cx="21945600" cy="1072896"/>
            </a:xfrm>
            <a:custGeom>
              <a:avLst/>
              <a:gdLst/>
              <a:ahLst/>
              <a:cxnLst/>
              <a:rect r="r" b="b" t="t" l="l"/>
              <a:pathLst>
                <a:path h="1072896" w="21945600">
                  <a:moveTo>
                    <a:pt x="0" y="0"/>
                  </a:moveTo>
                  <a:lnTo>
                    <a:pt x="21945600" y="0"/>
                  </a:lnTo>
                  <a:lnTo>
                    <a:pt x="21945600" y="1072896"/>
                  </a:lnTo>
                  <a:lnTo>
                    <a:pt x="0" y="1072896"/>
                  </a:lnTo>
                  <a:close/>
                </a:path>
              </a:pathLst>
            </a:custGeom>
            <a:blipFill>
              <a:blip r:embed="rId3">
                <a:alphaModFix amt="0"/>
              </a:blip>
              <a:stretch>
                <a:fillRect l="0" t="-348557" r="0" b="-348557"/>
              </a:stretch>
            </a:blipFill>
          </p:spPr>
        </p:sp>
        <p:sp>
          <p:nvSpPr>
            <p:cNvPr name="TextBox 18" id="18"/>
            <p:cNvSpPr txBox="true"/>
            <p:nvPr/>
          </p:nvSpPr>
          <p:spPr>
            <a:xfrm>
              <a:off x="0" y="-47625"/>
              <a:ext cx="21945600" cy="1120521"/>
            </a:xfrm>
            <a:prstGeom prst="rect">
              <a:avLst/>
            </a:prstGeom>
          </p:spPr>
          <p:txBody>
            <a:bodyPr anchor="ctr" rtlCol="false" tIns="0" lIns="0" bIns="0" rIns="0"/>
            <a:lstStyle/>
            <a:p>
              <a:pPr algn="l">
                <a:lnSpc>
                  <a:spcPts val="2640"/>
                </a:lnSpc>
              </a:pPr>
              <a:r>
                <a:rPr lang="en-US" sz="2200" b="true">
                  <a:solidFill>
                    <a:srgbClr val="6D28D9"/>
                  </a:solidFill>
                  <a:latin typeface="Calibri (MS) Bold"/>
                  <a:ea typeface="Calibri (MS) Bold"/>
                  <a:cs typeface="Calibri (MS) Bold"/>
                  <a:sym typeface="Calibri (MS) Bold"/>
                </a:rPr>
                <a:t>Motivation: </a:t>
              </a:r>
              <a:r>
                <a:rPr lang="en-US" sz="2200">
                  <a:solidFill>
                    <a:srgbClr val="1E293B"/>
                  </a:solidFill>
                  <a:latin typeface="Calibri (MS)"/>
                  <a:ea typeface="Calibri (MS)"/>
                  <a:cs typeface="Calibri (MS)"/>
                  <a:sym typeface="Calibri (MS)"/>
                </a:rPr>
                <a:t>V_local contains rich multi-scale features but treats every spatial position independently. To describe </a:t>
              </a:r>
              <a:r>
                <a:rPr lang="en-US" sz="2200" i="true">
                  <a:solidFill>
                    <a:srgbClr val="6D28D9"/>
                  </a:solidFill>
                  <a:latin typeface="Calibri (MS) Italics"/>
                  <a:ea typeface="Calibri (MS) Italics"/>
                  <a:cs typeface="Calibri (MS) Italics"/>
                  <a:sym typeface="Calibri (MS) Italics"/>
                </a:rPr>
                <a:t>"trees on both sides of a river"</a:t>
              </a:r>
              <a:r>
                <a:rPr lang="en-US" sz="2200">
                  <a:solidFill>
                    <a:srgbClr val="1E293B"/>
                  </a:solidFill>
                  <a:latin typeface="Calibri (MS)"/>
                  <a:ea typeface="Calibri (MS)"/>
                  <a:cs typeface="Calibri (MS)"/>
                  <a:sym typeface="Calibri (MS)"/>
                </a:rPr>
                <a:t>, the model must understand how regions relate to each other across the full image.</a:t>
              </a:r>
            </a:p>
          </p:txBody>
        </p:sp>
      </p:grpSp>
      <p:grpSp>
        <p:nvGrpSpPr>
          <p:cNvPr name="Group 19" id="19"/>
          <p:cNvGrpSpPr/>
          <p:nvPr/>
        </p:nvGrpSpPr>
        <p:grpSpPr>
          <a:xfrm rot="0">
            <a:off x="621020" y="3124533"/>
            <a:ext cx="5407657" cy="6047737"/>
            <a:chOff x="0" y="0"/>
            <a:chExt cx="7210209" cy="8063649"/>
          </a:xfrm>
        </p:grpSpPr>
        <p:sp>
          <p:nvSpPr>
            <p:cNvPr name="Freeform 20" id="20"/>
            <p:cNvSpPr/>
            <p:nvPr/>
          </p:nvSpPr>
          <p:spPr>
            <a:xfrm flipH="false" flipV="false" rot="0">
              <a:off x="8509" y="8509"/>
              <a:ext cx="7193280" cy="8046719"/>
            </a:xfrm>
            <a:custGeom>
              <a:avLst/>
              <a:gdLst/>
              <a:ahLst/>
              <a:cxnLst/>
              <a:rect r="r" b="b" t="t" l="l"/>
              <a:pathLst>
                <a:path h="8046719" w="7193280">
                  <a:moveTo>
                    <a:pt x="0" y="0"/>
                  </a:moveTo>
                  <a:lnTo>
                    <a:pt x="7193280" y="0"/>
                  </a:lnTo>
                  <a:lnTo>
                    <a:pt x="7193280" y="8046719"/>
                  </a:lnTo>
                  <a:lnTo>
                    <a:pt x="0" y="8046719"/>
                  </a:lnTo>
                  <a:close/>
                </a:path>
              </a:pathLst>
            </a:custGeom>
            <a:solidFill>
              <a:srgbClr val="FFFFFF"/>
            </a:solidFill>
          </p:spPr>
        </p:sp>
        <p:sp>
          <p:nvSpPr>
            <p:cNvPr name="Freeform 21" id="21"/>
            <p:cNvSpPr/>
            <p:nvPr/>
          </p:nvSpPr>
          <p:spPr>
            <a:xfrm flipH="false" flipV="false" rot="0">
              <a:off x="0" y="0"/>
              <a:ext cx="7210299" cy="8063738"/>
            </a:xfrm>
            <a:custGeom>
              <a:avLst/>
              <a:gdLst/>
              <a:ahLst/>
              <a:cxnLst/>
              <a:rect r="r" b="b" t="t" l="l"/>
              <a:pathLst>
                <a:path h="8063738" w="7210299">
                  <a:moveTo>
                    <a:pt x="8509" y="0"/>
                  </a:moveTo>
                  <a:lnTo>
                    <a:pt x="7201789" y="0"/>
                  </a:lnTo>
                  <a:cubicBezTo>
                    <a:pt x="7206488" y="0"/>
                    <a:pt x="7210299" y="3810"/>
                    <a:pt x="7210299" y="8509"/>
                  </a:cubicBezTo>
                  <a:lnTo>
                    <a:pt x="7210299" y="8055228"/>
                  </a:lnTo>
                  <a:cubicBezTo>
                    <a:pt x="7210299" y="8059927"/>
                    <a:pt x="7206488" y="8063738"/>
                    <a:pt x="7201789" y="8063738"/>
                  </a:cubicBezTo>
                  <a:lnTo>
                    <a:pt x="8509" y="8063738"/>
                  </a:lnTo>
                  <a:cubicBezTo>
                    <a:pt x="3810" y="8063738"/>
                    <a:pt x="0" y="8059927"/>
                    <a:pt x="0" y="8055228"/>
                  </a:cubicBezTo>
                  <a:lnTo>
                    <a:pt x="0" y="8509"/>
                  </a:lnTo>
                  <a:cubicBezTo>
                    <a:pt x="0" y="3810"/>
                    <a:pt x="3810" y="0"/>
                    <a:pt x="8509" y="0"/>
                  </a:cubicBezTo>
                  <a:moveTo>
                    <a:pt x="8509" y="16891"/>
                  </a:moveTo>
                  <a:lnTo>
                    <a:pt x="8509" y="8509"/>
                  </a:lnTo>
                  <a:lnTo>
                    <a:pt x="17018" y="8509"/>
                  </a:lnTo>
                  <a:lnTo>
                    <a:pt x="17018" y="8055228"/>
                  </a:lnTo>
                  <a:lnTo>
                    <a:pt x="8509" y="8055228"/>
                  </a:lnTo>
                  <a:lnTo>
                    <a:pt x="8509" y="8046720"/>
                  </a:lnTo>
                  <a:lnTo>
                    <a:pt x="7201789" y="8046720"/>
                  </a:lnTo>
                  <a:lnTo>
                    <a:pt x="7201789" y="8055228"/>
                  </a:lnTo>
                  <a:lnTo>
                    <a:pt x="7193280" y="8055228"/>
                  </a:lnTo>
                  <a:lnTo>
                    <a:pt x="7193280" y="8509"/>
                  </a:lnTo>
                  <a:lnTo>
                    <a:pt x="7201789" y="8509"/>
                  </a:lnTo>
                  <a:lnTo>
                    <a:pt x="7201789" y="17018"/>
                  </a:lnTo>
                  <a:lnTo>
                    <a:pt x="8509" y="17018"/>
                  </a:lnTo>
                  <a:close/>
                </a:path>
              </a:pathLst>
            </a:custGeom>
            <a:solidFill>
              <a:srgbClr val="E2E8F0"/>
            </a:solidFill>
          </p:spPr>
        </p:sp>
      </p:grpSp>
      <p:grpSp>
        <p:nvGrpSpPr>
          <p:cNvPr name="Group 22" id="22"/>
          <p:cNvGrpSpPr/>
          <p:nvPr/>
        </p:nvGrpSpPr>
        <p:grpSpPr>
          <a:xfrm rot="0">
            <a:off x="614677" y="3118189"/>
            <a:ext cx="5420363" cy="793499"/>
            <a:chOff x="0" y="0"/>
            <a:chExt cx="7227151" cy="1057999"/>
          </a:xfrm>
        </p:grpSpPr>
        <p:sp>
          <p:nvSpPr>
            <p:cNvPr name="Freeform 23" id="23"/>
            <p:cNvSpPr/>
            <p:nvPr/>
          </p:nvSpPr>
          <p:spPr>
            <a:xfrm flipH="false" flipV="false" rot="0">
              <a:off x="16891" y="16891"/>
              <a:ext cx="7193281" cy="1024128"/>
            </a:xfrm>
            <a:custGeom>
              <a:avLst/>
              <a:gdLst/>
              <a:ahLst/>
              <a:cxnLst/>
              <a:rect r="r" b="b" t="t" l="l"/>
              <a:pathLst>
                <a:path h="1024128" w="7193281">
                  <a:moveTo>
                    <a:pt x="0" y="0"/>
                  </a:moveTo>
                  <a:lnTo>
                    <a:pt x="7193281" y="0"/>
                  </a:lnTo>
                  <a:lnTo>
                    <a:pt x="7193281" y="1024128"/>
                  </a:lnTo>
                  <a:lnTo>
                    <a:pt x="0" y="1024128"/>
                  </a:lnTo>
                  <a:close/>
                </a:path>
              </a:pathLst>
            </a:custGeom>
            <a:solidFill>
              <a:srgbClr val="6D28D9"/>
            </a:solidFill>
          </p:spPr>
        </p:sp>
        <p:sp>
          <p:nvSpPr>
            <p:cNvPr name="Freeform 24" id="24"/>
            <p:cNvSpPr/>
            <p:nvPr/>
          </p:nvSpPr>
          <p:spPr>
            <a:xfrm flipH="false" flipV="false" rot="0">
              <a:off x="0" y="0"/>
              <a:ext cx="7227062" cy="1057912"/>
            </a:xfrm>
            <a:custGeom>
              <a:avLst/>
              <a:gdLst/>
              <a:ahLst/>
              <a:cxnLst/>
              <a:rect r="r" b="b" t="t" l="l"/>
              <a:pathLst>
                <a:path h="1057912" w="7227062">
                  <a:moveTo>
                    <a:pt x="16891" y="0"/>
                  </a:moveTo>
                  <a:lnTo>
                    <a:pt x="7210172" y="0"/>
                  </a:lnTo>
                  <a:cubicBezTo>
                    <a:pt x="7219569" y="0"/>
                    <a:pt x="7227062" y="7620"/>
                    <a:pt x="7227062" y="16891"/>
                  </a:cubicBezTo>
                  <a:lnTo>
                    <a:pt x="7227062" y="1041019"/>
                  </a:lnTo>
                  <a:cubicBezTo>
                    <a:pt x="7227062" y="1050417"/>
                    <a:pt x="7219442" y="1057910"/>
                    <a:pt x="7210172" y="1057910"/>
                  </a:cubicBezTo>
                  <a:lnTo>
                    <a:pt x="16891" y="1057910"/>
                  </a:lnTo>
                  <a:cubicBezTo>
                    <a:pt x="7620" y="1058037"/>
                    <a:pt x="0" y="1050417"/>
                    <a:pt x="0" y="1041019"/>
                  </a:cubicBezTo>
                  <a:lnTo>
                    <a:pt x="0" y="16891"/>
                  </a:lnTo>
                  <a:cubicBezTo>
                    <a:pt x="0" y="7620"/>
                    <a:pt x="7620" y="0"/>
                    <a:pt x="16891" y="0"/>
                  </a:cubicBezTo>
                  <a:moveTo>
                    <a:pt x="16891" y="33909"/>
                  </a:moveTo>
                  <a:lnTo>
                    <a:pt x="16891" y="16891"/>
                  </a:lnTo>
                  <a:lnTo>
                    <a:pt x="33909" y="16891"/>
                  </a:lnTo>
                  <a:lnTo>
                    <a:pt x="33909" y="1041019"/>
                  </a:lnTo>
                  <a:lnTo>
                    <a:pt x="16891" y="1041019"/>
                  </a:lnTo>
                  <a:lnTo>
                    <a:pt x="16891" y="1024128"/>
                  </a:lnTo>
                  <a:lnTo>
                    <a:pt x="7210172" y="1024128"/>
                  </a:lnTo>
                  <a:lnTo>
                    <a:pt x="7210172" y="1041019"/>
                  </a:lnTo>
                  <a:lnTo>
                    <a:pt x="7193280" y="1041019"/>
                  </a:lnTo>
                  <a:lnTo>
                    <a:pt x="7193280" y="16891"/>
                  </a:lnTo>
                  <a:lnTo>
                    <a:pt x="7210172" y="16891"/>
                  </a:lnTo>
                  <a:lnTo>
                    <a:pt x="7210172" y="33909"/>
                  </a:lnTo>
                  <a:lnTo>
                    <a:pt x="16891" y="33909"/>
                  </a:lnTo>
                  <a:close/>
                </a:path>
              </a:pathLst>
            </a:custGeom>
            <a:solidFill>
              <a:srgbClr val="6D28D9"/>
            </a:solidFill>
          </p:spPr>
        </p:sp>
      </p:grpSp>
      <p:grpSp>
        <p:nvGrpSpPr>
          <p:cNvPr name="Group 25" id="25"/>
          <p:cNvGrpSpPr/>
          <p:nvPr/>
        </p:nvGrpSpPr>
        <p:grpSpPr>
          <a:xfrm rot="0">
            <a:off x="810254" y="3130886"/>
            <a:ext cx="5120640" cy="768096"/>
            <a:chOff x="0" y="0"/>
            <a:chExt cx="6827520" cy="1024128"/>
          </a:xfrm>
        </p:grpSpPr>
        <p:sp>
          <p:nvSpPr>
            <p:cNvPr name="Freeform 26" id="26"/>
            <p:cNvSpPr/>
            <p:nvPr/>
          </p:nvSpPr>
          <p:spPr>
            <a:xfrm flipH="false" flipV="false" rot="0">
              <a:off x="0" y="0"/>
              <a:ext cx="6827520" cy="1024128"/>
            </a:xfrm>
            <a:custGeom>
              <a:avLst/>
              <a:gdLst/>
              <a:ahLst/>
              <a:cxnLst/>
              <a:rect r="r" b="b" t="t" l="l"/>
              <a:pathLst>
                <a:path h="1024128" w="6827520">
                  <a:moveTo>
                    <a:pt x="0" y="0"/>
                  </a:moveTo>
                  <a:lnTo>
                    <a:pt x="6827520" y="0"/>
                  </a:lnTo>
                  <a:lnTo>
                    <a:pt x="6827520" y="1024128"/>
                  </a:lnTo>
                  <a:lnTo>
                    <a:pt x="0" y="1024128"/>
                  </a:lnTo>
                  <a:close/>
                </a:path>
              </a:pathLst>
            </a:custGeom>
            <a:blipFill>
              <a:blip r:embed="rId3">
                <a:alphaModFix amt="0"/>
              </a:blip>
              <a:stretch>
                <a:fillRect l="0" t="-79900" r="0" b="-79900"/>
              </a:stretch>
            </a:blipFill>
          </p:spPr>
        </p:sp>
        <p:sp>
          <p:nvSpPr>
            <p:cNvPr name="TextBox 27" id="27"/>
            <p:cNvSpPr txBox="true"/>
            <p:nvPr/>
          </p:nvSpPr>
          <p:spPr>
            <a:xfrm>
              <a:off x="0" y="-47625"/>
              <a:ext cx="6827520" cy="1071753"/>
            </a:xfrm>
            <a:prstGeom prst="rect">
              <a:avLst/>
            </a:prstGeom>
          </p:spPr>
          <p:txBody>
            <a:bodyPr anchor="ctr" rtlCol="false" tIns="0" lIns="0" bIns="0" rIns="0"/>
            <a:lstStyle/>
            <a:p>
              <a:pPr algn="l">
                <a:lnSpc>
                  <a:spcPts val="2640"/>
                </a:lnSpc>
              </a:pPr>
              <a:r>
                <a:rPr lang="en-US" sz="2200" b="true">
                  <a:solidFill>
                    <a:srgbClr val="FFFFFF"/>
                  </a:solidFill>
                  <a:latin typeface="Calibri (MS) Bold"/>
                  <a:ea typeface="Calibri (MS) Bold"/>
                  <a:cs typeface="Calibri (MS) Bold"/>
                  <a:sym typeface="Calibri (MS) Bold"/>
                </a:rPr>
                <a:t>Horizontal &amp; Vertical Squeeze</a:t>
              </a:r>
            </a:p>
          </p:txBody>
        </p:sp>
      </p:grpSp>
      <p:grpSp>
        <p:nvGrpSpPr>
          <p:cNvPr name="Group 28" id="28"/>
          <p:cNvGrpSpPr/>
          <p:nvPr/>
        </p:nvGrpSpPr>
        <p:grpSpPr>
          <a:xfrm rot="0">
            <a:off x="718823" y="3935558"/>
            <a:ext cx="5193782" cy="5157216"/>
            <a:chOff x="0" y="0"/>
            <a:chExt cx="6925043" cy="6876288"/>
          </a:xfrm>
        </p:grpSpPr>
        <p:sp>
          <p:nvSpPr>
            <p:cNvPr name="Freeform 29" id="29"/>
            <p:cNvSpPr/>
            <p:nvPr/>
          </p:nvSpPr>
          <p:spPr>
            <a:xfrm flipH="false" flipV="false" rot="0">
              <a:off x="0" y="0"/>
              <a:ext cx="6925044" cy="6876288"/>
            </a:xfrm>
            <a:custGeom>
              <a:avLst/>
              <a:gdLst/>
              <a:ahLst/>
              <a:cxnLst/>
              <a:rect r="r" b="b" t="t" l="l"/>
              <a:pathLst>
                <a:path h="6876288" w="6925044">
                  <a:moveTo>
                    <a:pt x="0" y="0"/>
                  </a:moveTo>
                  <a:lnTo>
                    <a:pt x="6925044" y="0"/>
                  </a:lnTo>
                  <a:lnTo>
                    <a:pt x="6925044" y="6876288"/>
                  </a:lnTo>
                  <a:lnTo>
                    <a:pt x="0" y="6876288"/>
                  </a:lnTo>
                  <a:close/>
                </a:path>
              </a:pathLst>
            </a:custGeom>
            <a:blipFill>
              <a:blip r:embed="rId3">
                <a:alphaModFix amt="0"/>
              </a:blip>
              <a:stretch>
                <a:fillRect l="-78632" t="0" r="-76167" b="0"/>
              </a:stretch>
            </a:blipFill>
          </p:spPr>
        </p:sp>
        <p:sp>
          <p:nvSpPr>
            <p:cNvPr name="TextBox 30" id="30"/>
            <p:cNvSpPr txBox="true"/>
            <p:nvPr/>
          </p:nvSpPr>
          <p:spPr>
            <a:xfrm>
              <a:off x="0" y="-38100"/>
              <a:ext cx="6925043" cy="6914388"/>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Multi-head attention on the full H×W sequence costs O(H²·W²) — too slow.</a:t>
              </a:r>
            </a:p>
            <a:p>
              <a:pPr algn="l">
                <a:lnSpc>
                  <a:spcPts val="2280"/>
                </a:lnSpc>
              </a:pPr>
            </a:p>
            <a:p>
              <a:pPr algn="l">
                <a:lnSpc>
                  <a:spcPts val="2280"/>
                </a:lnSpc>
              </a:pPr>
              <a:r>
                <a:rPr lang="en-US" sz="1900">
                  <a:solidFill>
                    <a:srgbClr val="1E293B"/>
                  </a:solidFill>
                  <a:latin typeface="Calibri (MS)"/>
                  <a:ea typeface="Calibri (MS)"/>
                  <a:cs typeface="Calibri (MS)"/>
                  <a:sym typeface="Calibri (MS)"/>
                </a:rPr>
                <a:t>Instead, compress:</a:t>
              </a:r>
            </a:p>
            <a:p>
              <a:pPr algn="l">
                <a:lnSpc>
                  <a:spcPts val="2280"/>
                </a:lnSpc>
              </a:pPr>
              <a:r>
                <a:rPr lang="en-US" sz="1900">
                  <a:solidFill>
                    <a:srgbClr val="1E293B"/>
                  </a:solidFill>
                  <a:latin typeface="Calibri (MS)"/>
                  <a:ea typeface="Calibri (MS)"/>
                  <a:cs typeface="Calibri (MS)"/>
                  <a:sym typeface="Calibri (MS)"/>
                </a:rPr>
                <a:t>• Horizontally: average all columns → row strip (W × C)</a:t>
              </a:r>
            </a:p>
            <a:p>
              <a:pPr algn="l">
                <a:lnSpc>
                  <a:spcPts val="2280"/>
                </a:lnSpc>
              </a:pPr>
              <a:r>
                <a:rPr lang="en-US" sz="1900">
                  <a:solidFill>
                    <a:srgbClr val="1E293B"/>
                  </a:solidFill>
                  <a:latin typeface="Calibri (MS)"/>
                  <a:ea typeface="Calibri (MS)"/>
                  <a:cs typeface="Calibri (MS)"/>
                  <a:sym typeface="Calibri (MS)"/>
                </a:rPr>
                <a:t>• Vertically: average all rows → column strip (H × C)</a:t>
              </a:r>
            </a:p>
            <a:p>
              <a:pPr algn="l">
                <a:lnSpc>
                  <a:spcPts val="2280"/>
                </a:lnSpc>
              </a:pPr>
            </a:p>
            <a:p>
              <a:pPr algn="l">
                <a:lnSpc>
                  <a:spcPts val="2280"/>
                </a:lnSpc>
              </a:pPr>
              <a:r>
                <a:rPr lang="en-US" sz="1900">
                  <a:solidFill>
                    <a:srgbClr val="1E293B"/>
                  </a:solidFill>
                  <a:latin typeface="Calibri (MS)"/>
                  <a:ea typeface="Calibri (MS)"/>
                  <a:cs typeface="Calibri (MS)"/>
                  <a:sym typeface="Calibri (MS)"/>
                </a:rPr>
                <a:t>Attention runs on these 1-D strips separately, then results are summed:</a:t>
              </a:r>
            </a:p>
            <a:p>
              <a:pPr algn="l">
                <a:lnSpc>
                  <a:spcPts val="2280"/>
                </a:lnSpc>
              </a:pPr>
              <a:r>
                <a:rPr lang="en-US" sz="1900">
                  <a:solidFill>
                    <a:srgbClr val="1E293B"/>
                  </a:solidFill>
                  <a:latin typeface="Calibri (MS)"/>
                  <a:ea typeface="Calibri (MS)"/>
                  <a:cs typeface="Calibri (MS)"/>
                  <a:sym typeface="Calibri (MS)"/>
                </a:rPr>
                <a:t>  Va(i,j) = Σ softmax(q(h)ᵀk(h)) · v(h)</a:t>
              </a:r>
            </a:p>
            <a:p>
              <a:pPr algn="l">
                <a:lnSpc>
                  <a:spcPts val="2280"/>
                </a:lnSpc>
              </a:pPr>
              <a:r>
                <a:rPr lang="en-US" sz="1900">
                  <a:solidFill>
                    <a:srgbClr val="1E293B"/>
                  </a:solidFill>
                  <a:latin typeface="Calibri (MS)"/>
                  <a:ea typeface="Calibri (MS)"/>
                  <a:cs typeface="Calibri (MS)"/>
                  <a:sym typeface="Calibri (MS)"/>
                </a:rPr>
                <a:t>           + Σ softmax(q(v)ᵀk(v)) · v(v)</a:t>
              </a:r>
            </a:p>
            <a:p>
              <a:pPr algn="l">
                <a:lnSpc>
                  <a:spcPts val="2280"/>
                </a:lnSpc>
              </a:pPr>
            </a:p>
            <a:p>
              <a:pPr algn="l">
                <a:lnSpc>
                  <a:spcPts val="2280"/>
                </a:lnSpc>
              </a:pPr>
              <a:r>
                <a:rPr lang="en-US" sz="1900">
                  <a:solidFill>
                    <a:srgbClr val="1E293B"/>
                  </a:solidFill>
                  <a:latin typeface="Calibri (MS)"/>
                  <a:ea typeface="Calibri (MS)"/>
                  <a:cs typeface="Calibri (MS)"/>
                  <a:sym typeface="Calibri (MS)"/>
                </a:rPr>
                <a:t>Models which rows and which columns are related — at a fraction of the cost.</a:t>
              </a:r>
            </a:p>
          </p:txBody>
        </p:sp>
      </p:grpSp>
      <p:grpSp>
        <p:nvGrpSpPr>
          <p:cNvPr name="Group 31" id="31"/>
          <p:cNvGrpSpPr/>
          <p:nvPr/>
        </p:nvGrpSpPr>
        <p:grpSpPr>
          <a:xfrm rot="0">
            <a:off x="6345164" y="3124533"/>
            <a:ext cx="5407657" cy="6047737"/>
            <a:chOff x="0" y="0"/>
            <a:chExt cx="7210209" cy="8063649"/>
          </a:xfrm>
        </p:grpSpPr>
        <p:sp>
          <p:nvSpPr>
            <p:cNvPr name="Freeform 32" id="32"/>
            <p:cNvSpPr/>
            <p:nvPr/>
          </p:nvSpPr>
          <p:spPr>
            <a:xfrm flipH="false" flipV="false" rot="0">
              <a:off x="8509" y="8509"/>
              <a:ext cx="7193280" cy="8046719"/>
            </a:xfrm>
            <a:custGeom>
              <a:avLst/>
              <a:gdLst/>
              <a:ahLst/>
              <a:cxnLst/>
              <a:rect r="r" b="b" t="t" l="l"/>
              <a:pathLst>
                <a:path h="8046719" w="7193280">
                  <a:moveTo>
                    <a:pt x="0" y="0"/>
                  </a:moveTo>
                  <a:lnTo>
                    <a:pt x="7193280" y="0"/>
                  </a:lnTo>
                  <a:lnTo>
                    <a:pt x="7193280" y="8046719"/>
                  </a:lnTo>
                  <a:lnTo>
                    <a:pt x="0" y="8046719"/>
                  </a:lnTo>
                  <a:close/>
                </a:path>
              </a:pathLst>
            </a:custGeom>
            <a:solidFill>
              <a:srgbClr val="FFFFFF"/>
            </a:solidFill>
          </p:spPr>
        </p:sp>
        <p:sp>
          <p:nvSpPr>
            <p:cNvPr name="Freeform 33" id="33"/>
            <p:cNvSpPr/>
            <p:nvPr/>
          </p:nvSpPr>
          <p:spPr>
            <a:xfrm flipH="false" flipV="false" rot="0">
              <a:off x="0" y="0"/>
              <a:ext cx="7210299" cy="8063738"/>
            </a:xfrm>
            <a:custGeom>
              <a:avLst/>
              <a:gdLst/>
              <a:ahLst/>
              <a:cxnLst/>
              <a:rect r="r" b="b" t="t" l="l"/>
              <a:pathLst>
                <a:path h="8063738" w="7210299">
                  <a:moveTo>
                    <a:pt x="8509" y="0"/>
                  </a:moveTo>
                  <a:lnTo>
                    <a:pt x="7201789" y="0"/>
                  </a:lnTo>
                  <a:cubicBezTo>
                    <a:pt x="7206488" y="0"/>
                    <a:pt x="7210299" y="3810"/>
                    <a:pt x="7210299" y="8509"/>
                  </a:cubicBezTo>
                  <a:lnTo>
                    <a:pt x="7210299" y="8055228"/>
                  </a:lnTo>
                  <a:cubicBezTo>
                    <a:pt x="7210299" y="8059927"/>
                    <a:pt x="7206488" y="8063738"/>
                    <a:pt x="7201789" y="8063738"/>
                  </a:cubicBezTo>
                  <a:lnTo>
                    <a:pt x="8509" y="8063738"/>
                  </a:lnTo>
                  <a:cubicBezTo>
                    <a:pt x="3810" y="8063738"/>
                    <a:pt x="0" y="8059927"/>
                    <a:pt x="0" y="8055228"/>
                  </a:cubicBezTo>
                  <a:lnTo>
                    <a:pt x="0" y="8509"/>
                  </a:lnTo>
                  <a:cubicBezTo>
                    <a:pt x="0" y="3810"/>
                    <a:pt x="3810" y="0"/>
                    <a:pt x="8509" y="0"/>
                  </a:cubicBezTo>
                  <a:moveTo>
                    <a:pt x="8509" y="16891"/>
                  </a:moveTo>
                  <a:lnTo>
                    <a:pt x="8509" y="8509"/>
                  </a:lnTo>
                  <a:lnTo>
                    <a:pt x="17018" y="8509"/>
                  </a:lnTo>
                  <a:lnTo>
                    <a:pt x="17018" y="8055228"/>
                  </a:lnTo>
                  <a:lnTo>
                    <a:pt x="8509" y="8055228"/>
                  </a:lnTo>
                  <a:lnTo>
                    <a:pt x="8509" y="8046720"/>
                  </a:lnTo>
                  <a:lnTo>
                    <a:pt x="7201789" y="8046720"/>
                  </a:lnTo>
                  <a:lnTo>
                    <a:pt x="7201789" y="8055228"/>
                  </a:lnTo>
                  <a:lnTo>
                    <a:pt x="7193280" y="8055228"/>
                  </a:lnTo>
                  <a:lnTo>
                    <a:pt x="7193280" y="8509"/>
                  </a:lnTo>
                  <a:lnTo>
                    <a:pt x="7201789" y="8509"/>
                  </a:lnTo>
                  <a:lnTo>
                    <a:pt x="7201789" y="17018"/>
                  </a:lnTo>
                  <a:lnTo>
                    <a:pt x="8509" y="17018"/>
                  </a:lnTo>
                  <a:close/>
                </a:path>
              </a:pathLst>
            </a:custGeom>
            <a:solidFill>
              <a:srgbClr val="E2E8F0"/>
            </a:solidFill>
          </p:spPr>
        </p:sp>
      </p:grpSp>
      <p:grpSp>
        <p:nvGrpSpPr>
          <p:cNvPr name="Group 34" id="34"/>
          <p:cNvGrpSpPr/>
          <p:nvPr/>
        </p:nvGrpSpPr>
        <p:grpSpPr>
          <a:xfrm rot="0">
            <a:off x="6338821" y="3118189"/>
            <a:ext cx="5420363" cy="793499"/>
            <a:chOff x="0" y="0"/>
            <a:chExt cx="7227151" cy="1057999"/>
          </a:xfrm>
        </p:grpSpPr>
        <p:sp>
          <p:nvSpPr>
            <p:cNvPr name="Freeform 35" id="35"/>
            <p:cNvSpPr/>
            <p:nvPr/>
          </p:nvSpPr>
          <p:spPr>
            <a:xfrm flipH="false" flipV="false" rot="0">
              <a:off x="16891" y="16891"/>
              <a:ext cx="7193281" cy="1024128"/>
            </a:xfrm>
            <a:custGeom>
              <a:avLst/>
              <a:gdLst/>
              <a:ahLst/>
              <a:cxnLst/>
              <a:rect r="r" b="b" t="t" l="l"/>
              <a:pathLst>
                <a:path h="1024128" w="7193281">
                  <a:moveTo>
                    <a:pt x="0" y="0"/>
                  </a:moveTo>
                  <a:lnTo>
                    <a:pt x="7193281" y="0"/>
                  </a:lnTo>
                  <a:lnTo>
                    <a:pt x="7193281" y="1024128"/>
                  </a:lnTo>
                  <a:lnTo>
                    <a:pt x="0" y="1024128"/>
                  </a:lnTo>
                  <a:close/>
                </a:path>
              </a:pathLst>
            </a:custGeom>
            <a:solidFill>
              <a:srgbClr val="0D9488"/>
            </a:solidFill>
          </p:spPr>
        </p:sp>
        <p:sp>
          <p:nvSpPr>
            <p:cNvPr name="Freeform 36" id="36"/>
            <p:cNvSpPr/>
            <p:nvPr/>
          </p:nvSpPr>
          <p:spPr>
            <a:xfrm flipH="false" flipV="false" rot="0">
              <a:off x="0" y="0"/>
              <a:ext cx="7227062" cy="1057912"/>
            </a:xfrm>
            <a:custGeom>
              <a:avLst/>
              <a:gdLst/>
              <a:ahLst/>
              <a:cxnLst/>
              <a:rect r="r" b="b" t="t" l="l"/>
              <a:pathLst>
                <a:path h="1057912" w="7227062">
                  <a:moveTo>
                    <a:pt x="16891" y="0"/>
                  </a:moveTo>
                  <a:lnTo>
                    <a:pt x="7210172" y="0"/>
                  </a:lnTo>
                  <a:cubicBezTo>
                    <a:pt x="7219569" y="0"/>
                    <a:pt x="7227062" y="7620"/>
                    <a:pt x="7227062" y="16891"/>
                  </a:cubicBezTo>
                  <a:lnTo>
                    <a:pt x="7227062" y="1041019"/>
                  </a:lnTo>
                  <a:cubicBezTo>
                    <a:pt x="7227062" y="1050417"/>
                    <a:pt x="7219442" y="1057910"/>
                    <a:pt x="7210172" y="1057910"/>
                  </a:cubicBezTo>
                  <a:lnTo>
                    <a:pt x="16891" y="1057910"/>
                  </a:lnTo>
                  <a:cubicBezTo>
                    <a:pt x="7620" y="1058037"/>
                    <a:pt x="0" y="1050417"/>
                    <a:pt x="0" y="1041019"/>
                  </a:cubicBezTo>
                  <a:lnTo>
                    <a:pt x="0" y="16891"/>
                  </a:lnTo>
                  <a:cubicBezTo>
                    <a:pt x="0" y="7620"/>
                    <a:pt x="7620" y="0"/>
                    <a:pt x="16891" y="0"/>
                  </a:cubicBezTo>
                  <a:moveTo>
                    <a:pt x="16891" y="33909"/>
                  </a:moveTo>
                  <a:lnTo>
                    <a:pt x="16891" y="16891"/>
                  </a:lnTo>
                  <a:lnTo>
                    <a:pt x="33909" y="16891"/>
                  </a:lnTo>
                  <a:lnTo>
                    <a:pt x="33909" y="1041019"/>
                  </a:lnTo>
                  <a:lnTo>
                    <a:pt x="16891" y="1041019"/>
                  </a:lnTo>
                  <a:lnTo>
                    <a:pt x="16891" y="1024128"/>
                  </a:lnTo>
                  <a:lnTo>
                    <a:pt x="7210172" y="1024128"/>
                  </a:lnTo>
                  <a:lnTo>
                    <a:pt x="7210172" y="1041019"/>
                  </a:lnTo>
                  <a:lnTo>
                    <a:pt x="7193280" y="1041019"/>
                  </a:lnTo>
                  <a:lnTo>
                    <a:pt x="7193280" y="16891"/>
                  </a:lnTo>
                  <a:lnTo>
                    <a:pt x="7210172" y="16891"/>
                  </a:lnTo>
                  <a:lnTo>
                    <a:pt x="7210172" y="33909"/>
                  </a:lnTo>
                  <a:lnTo>
                    <a:pt x="16891" y="33909"/>
                  </a:lnTo>
                  <a:close/>
                </a:path>
              </a:pathLst>
            </a:custGeom>
            <a:solidFill>
              <a:srgbClr val="0D9488"/>
            </a:solidFill>
          </p:spPr>
        </p:sp>
      </p:grpSp>
      <p:grpSp>
        <p:nvGrpSpPr>
          <p:cNvPr name="Group 37" id="37"/>
          <p:cNvGrpSpPr/>
          <p:nvPr/>
        </p:nvGrpSpPr>
        <p:grpSpPr>
          <a:xfrm rot="0">
            <a:off x="6534398" y="3130886"/>
            <a:ext cx="5120640" cy="768096"/>
            <a:chOff x="0" y="0"/>
            <a:chExt cx="6827520" cy="1024128"/>
          </a:xfrm>
        </p:grpSpPr>
        <p:sp>
          <p:nvSpPr>
            <p:cNvPr name="Freeform 38" id="38"/>
            <p:cNvSpPr/>
            <p:nvPr/>
          </p:nvSpPr>
          <p:spPr>
            <a:xfrm flipH="false" flipV="false" rot="0">
              <a:off x="0" y="0"/>
              <a:ext cx="6827520" cy="1024128"/>
            </a:xfrm>
            <a:custGeom>
              <a:avLst/>
              <a:gdLst/>
              <a:ahLst/>
              <a:cxnLst/>
              <a:rect r="r" b="b" t="t" l="l"/>
              <a:pathLst>
                <a:path h="1024128" w="6827520">
                  <a:moveTo>
                    <a:pt x="0" y="0"/>
                  </a:moveTo>
                  <a:lnTo>
                    <a:pt x="6827520" y="0"/>
                  </a:lnTo>
                  <a:lnTo>
                    <a:pt x="6827520" y="1024128"/>
                  </a:lnTo>
                  <a:lnTo>
                    <a:pt x="0" y="1024128"/>
                  </a:lnTo>
                  <a:close/>
                </a:path>
              </a:pathLst>
            </a:custGeom>
            <a:blipFill>
              <a:blip r:embed="rId3">
                <a:alphaModFix amt="0"/>
              </a:blip>
              <a:stretch>
                <a:fillRect l="0" t="-79900" r="0" b="-79900"/>
              </a:stretch>
            </a:blipFill>
          </p:spPr>
        </p:sp>
        <p:sp>
          <p:nvSpPr>
            <p:cNvPr name="TextBox 39" id="39"/>
            <p:cNvSpPr txBox="true"/>
            <p:nvPr/>
          </p:nvSpPr>
          <p:spPr>
            <a:xfrm>
              <a:off x="0" y="-47625"/>
              <a:ext cx="6827520" cy="1071753"/>
            </a:xfrm>
            <a:prstGeom prst="rect">
              <a:avLst/>
            </a:prstGeom>
          </p:spPr>
          <p:txBody>
            <a:bodyPr anchor="ctr" rtlCol="false" tIns="0" lIns="0" bIns="0" rIns="0"/>
            <a:lstStyle/>
            <a:p>
              <a:pPr algn="l">
                <a:lnSpc>
                  <a:spcPts val="2640"/>
                </a:lnSpc>
              </a:pPr>
              <a:r>
                <a:rPr lang="en-US" sz="2200" b="true">
                  <a:solidFill>
                    <a:srgbClr val="FFFFFF"/>
                  </a:solidFill>
                  <a:latin typeface="Calibri (MS) Bold"/>
                  <a:ea typeface="Calibri (MS) Bold"/>
                  <a:cs typeface="Calibri (MS) Bold"/>
                  <a:sym typeface="Calibri (MS) Bold"/>
                </a:rPr>
                <a:t>Depthwise Conv. Refinement</a:t>
              </a:r>
            </a:p>
          </p:txBody>
        </p:sp>
      </p:grpSp>
      <p:grpSp>
        <p:nvGrpSpPr>
          <p:cNvPr name="Group 40" id="40"/>
          <p:cNvGrpSpPr/>
          <p:nvPr/>
        </p:nvGrpSpPr>
        <p:grpSpPr>
          <a:xfrm rot="0">
            <a:off x="6570974" y="3935558"/>
            <a:ext cx="5065776" cy="5157216"/>
            <a:chOff x="0" y="0"/>
            <a:chExt cx="6754368" cy="6876288"/>
          </a:xfrm>
        </p:grpSpPr>
        <p:sp>
          <p:nvSpPr>
            <p:cNvPr name="Freeform 41" id="41"/>
            <p:cNvSpPr/>
            <p:nvPr/>
          </p:nvSpPr>
          <p:spPr>
            <a:xfrm flipH="false" flipV="false" rot="0">
              <a:off x="0" y="0"/>
              <a:ext cx="6754368" cy="6876288"/>
            </a:xfrm>
            <a:custGeom>
              <a:avLst/>
              <a:gdLst/>
              <a:ahLst/>
              <a:cxnLst/>
              <a:rect r="r" b="b" t="t" l="l"/>
              <a:pathLst>
                <a:path h="6876288" w="6754368">
                  <a:moveTo>
                    <a:pt x="0" y="0"/>
                  </a:moveTo>
                  <a:lnTo>
                    <a:pt x="6754368" y="0"/>
                  </a:lnTo>
                  <a:lnTo>
                    <a:pt x="6754368" y="6876288"/>
                  </a:lnTo>
                  <a:lnTo>
                    <a:pt x="0" y="6876288"/>
                  </a:lnTo>
                  <a:close/>
                </a:path>
              </a:pathLst>
            </a:custGeom>
            <a:blipFill>
              <a:blip r:embed="rId3">
                <a:alphaModFix amt="0"/>
              </a:blip>
              <a:stretch>
                <a:fillRect l="-80619" t="0" r="-80619" b="0"/>
              </a:stretch>
            </a:blipFill>
          </p:spPr>
        </p:sp>
        <p:sp>
          <p:nvSpPr>
            <p:cNvPr name="TextBox 42" id="42"/>
            <p:cNvSpPr txBox="true"/>
            <p:nvPr/>
          </p:nvSpPr>
          <p:spPr>
            <a:xfrm>
              <a:off x="0" y="-38100"/>
              <a:ext cx="6754368" cy="6914388"/>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The squeeze operation loses fine-grained local structure (exact pixel neighborhoods).</a:t>
              </a:r>
            </a:p>
            <a:p>
              <a:pPr algn="l">
                <a:lnSpc>
                  <a:spcPts val="2280"/>
                </a:lnSpc>
              </a:pPr>
            </a:p>
            <a:p>
              <a:pPr algn="l">
                <a:lnSpc>
                  <a:spcPts val="2280"/>
                </a:lnSpc>
              </a:pPr>
              <a:r>
                <a:rPr lang="en-US" sz="1900">
                  <a:solidFill>
                    <a:srgbClr val="1E293B"/>
                  </a:solidFill>
                  <a:latin typeface="Calibri (MS)"/>
                  <a:ea typeface="Calibri (MS)"/>
                  <a:cs typeface="Calibri (MS)"/>
                  <a:sym typeface="Calibri (MS)"/>
                </a:rPr>
                <a:t>A parallel branch applies:</a:t>
              </a:r>
            </a:p>
            <a:p>
              <a:pPr algn="l">
                <a:lnSpc>
                  <a:spcPts val="2280"/>
                </a:lnSpc>
              </a:pPr>
              <a:r>
                <a:rPr lang="en-US" sz="1900">
                  <a:solidFill>
                    <a:srgbClr val="1E293B"/>
                  </a:solidFill>
                  <a:latin typeface="Calibri (MS)"/>
                  <a:ea typeface="Calibri (MS)"/>
                  <a:cs typeface="Calibri (MS)"/>
                  <a:sym typeface="Calibri (MS)"/>
                </a:rPr>
                <a:t>1. Concatenate Q, K, V projections of V_local</a:t>
              </a:r>
            </a:p>
            <a:p>
              <a:pPr algn="l">
                <a:lnSpc>
                  <a:spcPts val="2280"/>
                </a:lnSpc>
              </a:pPr>
              <a:r>
                <a:rPr lang="en-US" sz="1900">
                  <a:solidFill>
                    <a:srgbClr val="1E293B"/>
                  </a:solidFill>
                  <a:latin typeface="Calibri (MS)"/>
                  <a:ea typeface="Calibri (MS)"/>
                  <a:cs typeface="Calibri (MS)"/>
                  <a:sym typeface="Calibri (MS)"/>
                </a:rPr>
                <a:t>2. 3×3 depthwise separable convolution + Batch Normalization (BN)</a:t>
              </a:r>
            </a:p>
            <a:p>
              <a:pPr algn="l">
                <a:lnSpc>
                  <a:spcPts val="2280"/>
                </a:lnSpc>
              </a:pPr>
              <a:r>
                <a:rPr lang="en-US" sz="1900">
                  <a:solidFill>
                    <a:srgbClr val="1E293B"/>
                  </a:solidFill>
                  <a:latin typeface="Calibri (MS)"/>
                  <a:ea typeface="Calibri (MS)"/>
                  <a:cs typeface="Calibri (MS)"/>
                  <a:sym typeface="Calibri (MS)"/>
                </a:rPr>
                <a:t>3. 1×1 Conv + BN to compress dimensions</a:t>
              </a:r>
            </a:p>
            <a:p>
              <a:pPr algn="l">
                <a:lnSpc>
                  <a:spcPts val="2280"/>
                </a:lnSpc>
              </a:pPr>
              <a:r>
                <a:rPr lang="en-US" sz="1900">
                  <a:solidFill>
                    <a:srgbClr val="1E293B"/>
                  </a:solidFill>
                  <a:latin typeface="Calibri (MS)"/>
                  <a:ea typeface="Calibri (MS)"/>
                  <a:cs typeface="Calibri (MS)"/>
                  <a:sym typeface="Calibri (MS)"/>
                </a:rPr>
                <a:t>4. These detail-weights are multiplied element-wise onto Va</a:t>
              </a:r>
            </a:p>
            <a:p>
              <a:pPr algn="l">
                <a:lnSpc>
                  <a:spcPts val="2280"/>
                </a:lnSpc>
              </a:pPr>
            </a:p>
            <a:p>
              <a:pPr algn="l">
                <a:lnSpc>
                  <a:spcPts val="2280"/>
                </a:lnSpc>
              </a:pPr>
              <a:r>
                <a:rPr lang="en-US" sz="1900">
                  <a:solidFill>
                    <a:srgbClr val="1E293B"/>
                  </a:solidFill>
                  <a:latin typeface="Calibri (MS)"/>
                  <a:ea typeface="Calibri (MS)"/>
                  <a:cs typeface="Calibri (MS)"/>
                  <a:sym typeface="Calibri (MS)"/>
                </a:rPr>
                <a:t>DW-conv = applies separate filter per channel → very efficient. Recovers texture and local edge information lost by squeezing.</a:t>
              </a:r>
            </a:p>
          </p:txBody>
        </p:sp>
      </p:grpSp>
      <p:grpSp>
        <p:nvGrpSpPr>
          <p:cNvPr name="Group 43" id="43"/>
          <p:cNvGrpSpPr/>
          <p:nvPr/>
        </p:nvGrpSpPr>
        <p:grpSpPr>
          <a:xfrm rot="0">
            <a:off x="12051020" y="3124533"/>
            <a:ext cx="5407657" cy="6047737"/>
            <a:chOff x="0" y="0"/>
            <a:chExt cx="7210209" cy="8063649"/>
          </a:xfrm>
        </p:grpSpPr>
        <p:sp>
          <p:nvSpPr>
            <p:cNvPr name="Freeform 44" id="44"/>
            <p:cNvSpPr/>
            <p:nvPr/>
          </p:nvSpPr>
          <p:spPr>
            <a:xfrm flipH="false" flipV="false" rot="0">
              <a:off x="8509" y="8509"/>
              <a:ext cx="7193280" cy="8046719"/>
            </a:xfrm>
            <a:custGeom>
              <a:avLst/>
              <a:gdLst/>
              <a:ahLst/>
              <a:cxnLst/>
              <a:rect r="r" b="b" t="t" l="l"/>
              <a:pathLst>
                <a:path h="8046719" w="7193280">
                  <a:moveTo>
                    <a:pt x="0" y="0"/>
                  </a:moveTo>
                  <a:lnTo>
                    <a:pt x="7193280" y="0"/>
                  </a:lnTo>
                  <a:lnTo>
                    <a:pt x="7193280" y="8046719"/>
                  </a:lnTo>
                  <a:lnTo>
                    <a:pt x="0" y="8046719"/>
                  </a:lnTo>
                  <a:close/>
                </a:path>
              </a:pathLst>
            </a:custGeom>
            <a:solidFill>
              <a:srgbClr val="FFFFFF"/>
            </a:solidFill>
          </p:spPr>
        </p:sp>
        <p:sp>
          <p:nvSpPr>
            <p:cNvPr name="Freeform 45" id="45"/>
            <p:cNvSpPr/>
            <p:nvPr/>
          </p:nvSpPr>
          <p:spPr>
            <a:xfrm flipH="false" flipV="false" rot="0">
              <a:off x="0" y="0"/>
              <a:ext cx="7210299" cy="8063738"/>
            </a:xfrm>
            <a:custGeom>
              <a:avLst/>
              <a:gdLst/>
              <a:ahLst/>
              <a:cxnLst/>
              <a:rect r="r" b="b" t="t" l="l"/>
              <a:pathLst>
                <a:path h="8063738" w="7210299">
                  <a:moveTo>
                    <a:pt x="8509" y="0"/>
                  </a:moveTo>
                  <a:lnTo>
                    <a:pt x="7201789" y="0"/>
                  </a:lnTo>
                  <a:cubicBezTo>
                    <a:pt x="7206488" y="0"/>
                    <a:pt x="7210299" y="3810"/>
                    <a:pt x="7210299" y="8509"/>
                  </a:cubicBezTo>
                  <a:lnTo>
                    <a:pt x="7210299" y="8055228"/>
                  </a:lnTo>
                  <a:cubicBezTo>
                    <a:pt x="7210299" y="8059927"/>
                    <a:pt x="7206488" y="8063738"/>
                    <a:pt x="7201789" y="8063738"/>
                  </a:cubicBezTo>
                  <a:lnTo>
                    <a:pt x="8509" y="8063738"/>
                  </a:lnTo>
                  <a:cubicBezTo>
                    <a:pt x="3810" y="8063738"/>
                    <a:pt x="0" y="8059927"/>
                    <a:pt x="0" y="8055228"/>
                  </a:cubicBezTo>
                  <a:lnTo>
                    <a:pt x="0" y="8509"/>
                  </a:lnTo>
                  <a:cubicBezTo>
                    <a:pt x="0" y="3810"/>
                    <a:pt x="3810" y="0"/>
                    <a:pt x="8509" y="0"/>
                  </a:cubicBezTo>
                  <a:moveTo>
                    <a:pt x="8509" y="16891"/>
                  </a:moveTo>
                  <a:lnTo>
                    <a:pt x="8509" y="8509"/>
                  </a:lnTo>
                  <a:lnTo>
                    <a:pt x="17018" y="8509"/>
                  </a:lnTo>
                  <a:lnTo>
                    <a:pt x="17018" y="8055228"/>
                  </a:lnTo>
                  <a:lnTo>
                    <a:pt x="8509" y="8055228"/>
                  </a:lnTo>
                  <a:lnTo>
                    <a:pt x="8509" y="8046720"/>
                  </a:lnTo>
                  <a:lnTo>
                    <a:pt x="7201789" y="8046720"/>
                  </a:lnTo>
                  <a:lnTo>
                    <a:pt x="7201789" y="8055228"/>
                  </a:lnTo>
                  <a:lnTo>
                    <a:pt x="7193280" y="8055228"/>
                  </a:lnTo>
                  <a:lnTo>
                    <a:pt x="7193280" y="8509"/>
                  </a:lnTo>
                  <a:lnTo>
                    <a:pt x="7201789" y="8509"/>
                  </a:lnTo>
                  <a:lnTo>
                    <a:pt x="7201789" y="17018"/>
                  </a:lnTo>
                  <a:lnTo>
                    <a:pt x="8509" y="17018"/>
                  </a:lnTo>
                  <a:close/>
                </a:path>
              </a:pathLst>
            </a:custGeom>
            <a:solidFill>
              <a:srgbClr val="E2E8F0"/>
            </a:solidFill>
          </p:spPr>
        </p:sp>
      </p:grpSp>
      <p:grpSp>
        <p:nvGrpSpPr>
          <p:cNvPr name="Group 46" id="46"/>
          <p:cNvGrpSpPr/>
          <p:nvPr/>
        </p:nvGrpSpPr>
        <p:grpSpPr>
          <a:xfrm rot="0">
            <a:off x="12044677" y="3118189"/>
            <a:ext cx="5420363" cy="793499"/>
            <a:chOff x="0" y="0"/>
            <a:chExt cx="7227151" cy="1057999"/>
          </a:xfrm>
        </p:grpSpPr>
        <p:sp>
          <p:nvSpPr>
            <p:cNvPr name="Freeform 47" id="47"/>
            <p:cNvSpPr/>
            <p:nvPr/>
          </p:nvSpPr>
          <p:spPr>
            <a:xfrm flipH="false" flipV="false" rot="0">
              <a:off x="16891" y="16891"/>
              <a:ext cx="7193281" cy="1024128"/>
            </a:xfrm>
            <a:custGeom>
              <a:avLst/>
              <a:gdLst/>
              <a:ahLst/>
              <a:cxnLst/>
              <a:rect r="r" b="b" t="t" l="l"/>
              <a:pathLst>
                <a:path h="1024128" w="7193281">
                  <a:moveTo>
                    <a:pt x="0" y="0"/>
                  </a:moveTo>
                  <a:lnTo>
                    <a:pt x="7193281" y="0"/>
                  </a:lnTo>
                  <a:lnTo>
                    <a:pt x="7193281" y="1024128"/>
                  </a:lnTo>
                  <a:lnTo>
                    <a:pt x="0" y="1024128"/>
                  </a:lnTo>
                  <a:close/>
                </a:path>
              </a:pathLst>
            </a:custGeom>
            <a:solidFill>
              <a:srgbClr val="E05B4B"/>
            </a:solidFill>
          </p:spPr>
        </p:sp>
        <p:sp>
          <p:nvSpPr>
            <p:cNvPr name="Freeform 48" id="48"/>
            <p:cNvSpPr/>
            <p:nvPr/>
          </p:nvSpPr>
          <p:spPr>
            <a:xfrm flipH="false" flipV="false" rot="0">
              <a:off x="0" y="0"/>
              <a:ext cx="7227062" cy="1057912"/>
            </a:xfrm>
            <a:custGeom>
              <a:avLst/>
              <a:gdLst/>
              <a:ahLst/>
              <a:cxnLst/>
              <a:rect r="r" b="b" t="t" l="l"/>
              <a:pathLst>
                <a:path h="1057912" w="7227062">
                  <a:moveTo>
                    <a:pt x="16891" y="0"/>
                  </a:moveTo>
                  <a:lnTo>
                    <a:pt x="7210172" y="0"/>
                  </a:lnTo>
                  <a:cubicBezTo>
                    <a:pt x="7219569" y="0"/>
                    <a:pt x="7227062" y="7620"/>
                    <a:pt x="7227062" y="16891"/>
                  </a:cubicBezTo>
                  <a:lnTo>
                    <a:pt x="7227062" y="1041019"/>
                  </a:lnTo>
                  <a:cubicBezTo>
                    <a:pt x="7227062" y="1050417"/>
                    <a:pt x="7219442" y="1057910"/>
                    <a:pt x="7210172" y="1057910"/>
                  </a:cubicBezTo>
                  <a:lnTo>
                    <a:pt x="16891" y="1057910"/>
                  </a:lnTo>
                  <a:cubicBezTo>
                    <a:pt x="7620" y="1058037"/>
                    <a:pt x="0" y="1050417"/>
                    <a:pt x="0" y="1041019"/>
                  </a:cubicBezTo>
                  <a:lnTo>
                    <a:pt x="0" y="16891"/>
                  </a:lnTo>
                  <a:cubicBezTo>
                    <a:pt x="0" y="7620"/>
                    <a:pt x="7620" y="0"/>
                    <a:pt x="16891" y="0"/>
                  </a:cubicBezTo>
                  <a:moveTo>
                    <a:pt x="16891" y="33909"/>
                  </a:moveTo>
                  <a:lnTo>
                    <a:pt x="16891" y="16891"/>
                  </a:lnTo>
                  <a:lnTo>
                    <a:pt x="33909" y="16891"/>
                  </a:lnTo>
                  <a:lnTo>
                    <a:pt x="33909" y="1041019"/>
                  </a:lnTo>
                  <a:lnTo>
                    <a:pt x="16891" y="1041019"/>
                  </a:lnTo>
                  <a:lnTo>
                    <a:pt x="16891" y="1024128"/>
                  </a:lnTo>
                  <a:lnTo>
                    <a:pt x="7210172" y="1024128"/>
                  </a:lnTo>
                  <a:lnTo>
                    <a:pt x="7210172" y="1041019"/>
                  </a:lnTo>
                  <a:lnTo>
                    <a:pt x="7193280" y="1041019"/>
                  </a:lnTo>
                  <a:lnTo>
                    <a:pt x="7193280" y="16891"/>
                  </a:lnTo>
                  <a:lnTo>
                    <a:pt x="7210172" y="16891"/>
                  </a:lnTo>
                  <a:lnTo>
                    <a:pt x="7210172" y="33909"/>
                  </a:lnTo>
                  <a:lnTo>
                    <a:pt x="16891" y="33909"/>
                  </a:lnTo>
                  <a:close/>
                </a:path>
              </a:pathLst>
            </a:custGeom>
            <a:solidFill>
              <a:srgbClr val="E05B4B"/>
            </a:solidFill>
          </p:spPr>
        </p:sp>
      </p:grpSp>
      <p:grpSp>
        <p:nvGrpSpPr>
          <p:cNvPr name="Group 49" id="49"/>
          <p:cNvGrpSpPr/>
          <p:nvPr/>
        </p:nvGrpSpPr>
        <p:grpSpPr>
          <a:xfrm rot="0">
            <a:off x="12240254" y="3130886"/>
            <a:ext cx="5120640" cy="768096"/>
            <a:chOff x="0" y="0"/>
            <a:chExt cx="6827520" cy="1024128"/>
          </a:xfrm>
        </p:grpSpPr>
        <p:sp>
          <p:nvSpPr>
            <p:cNvPr name="Freeform 50" id="50"/>
            <p:cNvSpPr/>
            <p:nvPr/>
          </p:nvSpPr>
          <p:spPr>
            <a:xfrm flipH="false" flipV="false" rot="0">
              <a:off x="0" y="0"/>
              <a:ext cx="6827520" cy="1024128"/>
            </a:xfrm>
            <a:custGeom>
              <a:avLst/>
              <a:gdLst/>
              <a:ahLst/>
              <a:cxnLst/>
              <a:rect r="r" b="b" t="t" l="l"/>
              <a:pathLst>
                <a:path h="1024128" w="6827520">
                  <a:moveTo>
                    <a:pt x="0" y="0"/>
                  </a:moveTo>
                  <a:lnTo>
                    <a:pt x="6827520" y="0"/>
                  </a:lnTo>
                  <a:lnTo>
                    <a:pt x="6827520" y="1024128"/>
                  </a:lnTo>
                  <a:lnTo>
                    <a:pt x="0" y="1024128"/>
                  </a:lnTo>
                  <a:close/>
                </a:path>
              </a:pathLst>
            </a:custGeom>
            <a:blipFill>
              <a:blip r:embed="rId3">
                <a:alphaModFix amt="0"/>
              </a:blip>
              <a:stretch>
                <a:fillRect l="0" t="-79900" r="0" b="-79900"/>
              </a:stretch>
            </a:blipFill>
          </p:spPr>
        </p:sp>
        <p:sp>
          <p:nvSpPr>
            <p:cNvPr name="TextBox 51" id="51"/>
            <p:cNvSpPr txBox="true"/>
            <p:nvPr/>
          </p:nvSpPr>
          <p:spPr>
            <a:xfrm>
              <a:off x="0" y="-47625"/>
              <a:ext cx="6827520" cy="1071753"/>
            </a:xfrm>
            <a:prstGeom prst="rect">
              <a:avLst/>
            </a:prstGeom>
          </p:spPr>
          <p:txBody>
            <a:bodyPr anchor="ctr" rtlCol="false" tIns="0" lIns="0" bIns="0" rIns="0"/>
            <a:lstStyle/>
            <a:p>
              <a:pPr algn="l">
                <a:lnSpc>
                  <a:spcPts val="2640"/>
                </a:lnSpc>
              </a:pPr>
              <a:r>
                <a:rPr lang="en-US" sz="2200" b="true">
                  <a:solidFill>
                    <a:srgbClr val="FFFFFF"/>
                  </a:solidFill>
                  <a:latin typeface="Calibri (MS) Bold"/>
                  <a:ea typeface="Calibri (MS) Bold"/>
                  <a:cs typeface="Calibri (MS) Bold"/>
                  <a:sym typeface="Calibri (MS) Bold"/>
                </a:rPr>
                <a:t>Local Attention Module</a:t>
              </a:r>
            </a:p>
          </p:txBody>
        </p:sp>
      </p:grpSp>
      <p:grpSp>
        <p:nvGrpSpPr>
          <p:cNvPr name="Group 52" id="52"/>
          <p:cNvGrpSpPr/>
          <p:nvPr/>
        </p:nvGrpSpPr>
        <p:grpSpPr>
          <a:xfrm rot="0">
            <a:off x="12276830" y="3935558"/>
            <a:ext cx="5065776" cy="5157216"/>
            <a:chOff x="0" y="0"/>
            <a:chExt cx="6754368" cy="6876288"/>
          </a:xfrm>
        </p:grpSpPr>
        <p:sp>
          <p:nvSpPr>
            <p:cNvPr name="Freeform 53" id="53"/>
            <p:cNvSpPr/>
            <p:nvPr/>
          </p:nvSpPr>
          <p:spPr>
            <a:xfrm flipH="false" flipV="false" rot="0">
              <a:off x="0" y="0"/>
              <a:ext cx="6754368" cy="6876288"/>
            </a:xfrm>
            <a:custGeom>
              <a:avLst/>
              <a:gdLst/>
              <a:ahLst/>
              <a:cxnLst/>
              <a:rect r="r" b="b" t="t" l="l"/>
              <a:pathLst>
                <a:path h="6876288" w="6754368">
                  <a:moveTo>
                    <a:pt x="0" y="0"/>
                  </a:moveTo>
                  <a:lnTo>
                    <a:pt x="6754368" y="0"/>
                  </a:lnTo>
                  <a:lnTo>
                    <a:pt x="6754368" y="6876288"/>
                  </a:lnTo>
                  <a:lnTo>
                    <a:pt x="0" y="6876288"/>
                  </a:lnTo>
                  <a:close/>
                </a:path>
              </a:pathLst>
            </a:custGeom>
            <a:blipFill>
              <a:blip r:embed="rId3">
                <a:alphaModFix amt="0"/>
              </a:blip>
              <a:stretch>
                <a:fillRect l="-80619" t="0" r="-80619" b="0"/>
              </a:stretch>
            </a:blipFill>
          </p:spPr>
        </p:sp>
        <p:sp>
          <p:nvSpPr>
            <p:cNvPr name="TextBox 54" id="54"/>
            <p:cNvSpPr txBox="true"/>
            <p:nvPr/>
          </p:nvSpPr>
          <p:spPr>
            <a:xfrm>
              <a:off x="0" y="-38100"/>
              <a:ext cx="6754368" cy="6914388"/>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Even with the conv branch, long-distance spatial structure (e.g. which end of the runway a building is at) may be lost due to sequence serialization.</a:t>
              </a:r>
            </a:p>
            <a:p>
              <a:pPr algn="l">
                <a:lnSpc>
                  <a:spcPts val="2280"/>
                </a:lnSpc>
              </a:pPr>
            </a:p>
            <a:p>
              <a:pPr algn="l">
                <a:lnSpc>
                  <a:spcPts val="2280"/>
                </a:lnSpc>
              </a:pPr>
              <a:r>
                <a:rPr lang="en-US" sz="1900">
                  <a:solidFill>
                    <a:srgbClr val="1E293B"/>
                  </a:solidFill>
                  <a:latin typeface="Calibri (MS)"/>
                  <a:ea typeface="Calibri (MS)"/>
                  <a:cs typeface="Calibri (MS)"/>
                  <a:sym typeface="Calibri (MS)"/>
                </a:rPr>
                <a:t>N soft-attention maps α[n] are learned over the full spatial grid. Each map focuses on a different region. GAP is applied per map to produce N local feature vectors V'_local.</a:t>
              </a:r>
            </a:p>
            <a:p>
              <a:pPr algn="l">
                <a:lnSpc>
                  <a:spcPts val="2280"/>
                </a:lnSpc>
              </a:pPr>
            </a:p>
            <a:p>
              <a:pPr algn="l">
                <a:lnSpc>
                  <a:spcPts val="2280"/>
                </a:lnSpc>
              </a:pPr>
              <a:r>
                <a:rPr lang="en-US" sz="1900">
                  <a:solidFill>
                    <a:srgbClr val="1E293B"/>
                  </a:solidFill>
                  <a:latin typeface="Calibri (MS)"/>
                  <a:ea typeface="Calibri (MS)"/>
                  <a:cs typeface="Calibri (MS)"/>
                  <a:sym typeface="Calibri (MS)"/>
                </a:rPr>
                <a:t>α̅[n,i,j] = (1/C)Σ Vs[i,j,k]·w[n,k]</a:t>
              </a:r>
            </a:p>
            <a:p>
              <a:pPr algn="l">
                <a:lnSpc>
                  <a:spcPts val="2280"/>
                </a:lnSpc>
              </a:pPr>
              <a:r>
                <a:rPr lang="en-US" sz="1900">
                  <a:solidFill>
                    <a:srgbClr val="1E293B"/>
                  </a:solidFill>
                  <a:latin typeface="Calibri (MS)"/>
                  <a:ea typeface="Calibri (MS)"/>
                  <a:cs typeface="Calibri (MS)"/>
                  <a:sym typeface="Calibri (MS)"/>
                </a:rPr>
                <a:t>α[n,i,j] = softmax over (i,j) of α̅</a:t>
              </a:r>
            </a:p>
            <a:p>
              <a:pPr algn="l">
                <a:lnSpc>
                  <a:spcPts val="2280"/>
                </a:lnSpc>
              </a:pPr>
            </a:p>
            <a:p>
              <a:pPr algn="l">
                <a:lnSpc>
                  <a:spcPts val="2280"/>
                </a:lnSpc>
              </a:pPr>
              <a:r>
                <a:rPr lang="en-US" sz="1900">
                  <a:solidFill>
                    <a:srgbClr val="1E293B"/>
                  </a:solidFill>
                  <a:latin typeface="Calibri (MS)"/>
                  <a:ea typeface="Calibri (MS)"/>
                  <a:cs typeface="Calibri (MS)"/>
                  <a:sym typeface="Calibri (MS)"/>
                </a:rPr>
                <a:t>This restores long-range spatial structure in a learnable, interpretable way.</a:t>
              </a:r>
            </a:p>
          </p:txBody>
        </p:sp>
      </p:grpSp>
      <p:grpSp>
        <p:nvGrpSpPr>
          <p:cNvPr name="Group 55" id="55"/>
          <p:cNvGrpSpPr/>
          <p:nvPr/>
        </p:nvGrpSpPr>
        <p:grpSpPr>
          <a:xfrm rot="0">
            <a:off x="614677" y="9451343"/>
            <a:ext cx="16837657" cy="835657"/>
            <a:chOff x="0" y="0"/>
            <a:chExt cx="22450209" cy="1114209"/>
          </a:xfrm>
        </p:grpSpPr>
        <p:sp>
          <p:nvSpPr>
            <p:cNvPr name="Freeform 56" id="56"/>
            <p:cNvSpPr/>
            <p:nvPr/>
          </p:nvSpPr>
          <p:spPr>
            <a:xfrm flipH="false" flipV="false" rot="0">
              <a:off x="8509" y="8509"/>
              <a:ext cx="22433281" cy="1097280"/>
            </a:xfrm>
            <a:custGeom>
              <a:avLst/>
              <a:gdLst/>
              <a:ahLst/>
              <a:cxnLst/>
              <a:rect r="r" b="b" t="t" l="l"/>
              <a:pathLst>
                <a:path h="1097280" w="22433281">
                  <a:moveTo>
                    <a:pt x="0" y="0"/>
                  </a:moveTo>
                  <a:lnTo>
                    <a:pt x="22433281" y="0"/>
                  </a:lnTo>
                  <a:lnTo>
                    <a:pt x="22433281" y="1097280"/>
                  </a:lnTo>
                  <a:lnTo>
                    <a:pt x="0" y="1097280"/>
                  </a:lnTo>
                  <a:close/>
                </a:path>
              </a:pathLst>
            </a:custGeom>
            <a:solidFill>
              <a:srgbClr val="EDE9FE"/>
            </a:solidFill>
          </p:spPr>
        </p:sp>
        <p:sp>
          <p:nvSpPr>
            <p:cNvPr name="Freeform 57" id="57"/>
            <p:cNvSpPr/>
            <p:nvPr/>
          </p:nvSpPr>
          <p:spPr>
            <a:xfrm flipH="false" flipV="false" rot="0">
              <a:off x="0" y="0"/>
              <a:ext cx="22450298" cy="1114298"/>
            </a:xfrm>
            <a:custGeom>
              <a:avLst/>
              <a:gdLst/>
              <a:ahLst/>
              <a:cxnLst/>
              <a:rect r="r" b="b" t="t" l="l"/>
              <a:pathLst>
                <a:path h="1114298" w="22450298">
                  <a:moveTo>
                    <a:pt x="8509" y="0"/>
                  </a:moveTo>
                  <a:lnTo>
                    <a:pt x="22441790" y="0"/>
                  </a:lnTo>
                  <a:cubicBezTo>
                    <a:pt x="22446489" y="0"/>
                    <a:pt x="22450298" y="3810"/>
                    <a:pt x="22450298" y="8509"/>
                  </a:cubicBezTo>
                  <a:lnTo>
                    <a:pt x="22450298" y="1105789"/>
                  </a:lnTo>
                  <a:cubicBezTo>
                    <a:pt x="22450298" y="1110488"/>
                    <a:pt x="22446489" y="1114298"/>
                    <a:pt x="22441790" y="1114298"/>
                  </a:cubicBezTo>
                  <a:lnTo>
                    <a:pt x="8509" y="1114298"/>
                  </a:lnTo>
                  <a:cubicBezTo>
                    <a:pt x="3810" y="1114298"/>
                    <a:pt x="0" y="1110488"/>
                    <a:pt x="0" y="1105789"/>
                  </a:cubicBezTo>
                  <a:lnTo>
                    <a:pt x="0" y="8509"/>
                  </a:lnTo>
                  <a:cubicBezTo>
                    <a:pt x="0" y="3810"/>
                    <a:pt x="3810" y="0"/>
                    <a:pt x="8509" y="0"/>
                  </a:cubicBezTo>
                  <a:moveTo>
                    <a:pt x="8509" y="16891"/>
                  </a:moveTo>
                  <a:lnTo>
                    <a:pt x="8509" y="8509"/>
                  </a:lnTo>
                  <a:lnTo>
                    <a:pt x="17018" y="8509"/>
                  </a:lnTo>
                  <a:lnTo>
                    <a:pt x="17018" y="1105789"/>
                  </a:lnTo>
                  <a:lnTo>
                    <a:pt x="8509" y="1105789"/>
                  </a:lnTo>
                  <a:lnTo>
                    <a:pt x="8509" y="1097280"/>
                  </a:lnTo>
                  <a:lnTo>
                    <a:pt x="22441790" y="1097280"/>
                  </a:lnTo>
                  <a:lnTo>
                    <a:pt x="22441790" y="1105789"/>
                  </a:lnTo>
                  <a:lnTo>
                    <a:pt x="22433280" y="1105789"/>
                  </a:lnTo>
                  <a:lnTo>
                    <a:pt x="22433280" y="8509"/>
                  </a:lnTo>
                  <a:lnTo>
                    <a:pt x="22441790" y="8509"/>
                  </a:lnTo>
                  <a:lnTo>
                    <a:pt x="22441790" y="17018"/>
                  </a:lnTo>
                  <a:lnTo>
                    <a:pt x="8509" y="17018"/>
                  </a:lnTo>
                  <a:close/>
                </a:path>
              </a:pathLst>
            </a:custGeom>
            <a:solidFill>
              <a:srgbClr val="E2E8F0"/>
            </a:solidFill>
          </p:spPr>
        </p:sp>
      </p:grpSp>
      <p:grpSp>
        <p:nvGrpSpPr>
          <p:cNvPr name="Group 58" id="58"/>
          <p:cNvGrpSpPr/>
          <p:nvPr/>
        </p:nvGrpSpPr>
        <p:grpSpPr>
          <a:xfrm rot="0">
            <a:off x="901703" y="9563309"/>
            <a:ext cx="16459200" cy="694944"/>
            <a:chOff x="0" y="0"/>
            <a:chExt cx="21945600" cy="926592"/>
          </a:xfrm>
        </p:grpSpPr>
        <p:sp>
          <p:nvSpPr>
            <p:cNvPr name="Freeform 59" id="59"/>
            <p:cNvSpPr/>
            <p:nvPr/>
          </p:nvSpPr>
          <p:spPr>
            <a:xfrm flipH="false" flipV="false" rot="0">
              <a:off x="0" y="0"/>
              <a:ext cx="21945600" cy="926592"/>
            </a:xfrm>
            <a:custGeom>
              <a:avLst/>
              <a:gdLst/>
              <a:ahLst/>
              <a:cxnLst/>
              <a:rect r="r" b="b" t="t" l="l"/>
              <a:pathLst>
                <a:path h="926592" w="21945600">
                  <a:moveTo>
                    <a:pt x="0" y="0"/>
                  </a:moveTo>
                  <a:lnTo>
                    <a:pt x="21945600" y="0"/>
                  </a:lnTo>
                  <a:lnTo>
                    <a:pt x="21945600" y="926592"/>
                  </a:lnTo>
                  <a:lnTo>
                    <a:pt x="0" y="926592"/>
                  </a:lnTo>
                  <a:close/>
                </a:path>
              </a:pathLst>
            </a:custGeom>
            <a:blipFill>
              <a:blip r:embed="rId3">
                <a:alphaModFix amt="0"/>
              </a:blip>
              <a:stretch>
                <a:fillRect l="0" t="-411487" r="0" b="-411487"/>
              </a:stretch>
            </a:blipFill>
          </p:spPr>
        </p:sp>
        <p:sp>
          <p:nvSpPr>
            <p:cNvPr name="TextBox 60" id="60"/>
            <p:cNvSpPr txBox="true"/>
            <p:nvPr/>
          </p:nvSpPr>
          <p:spPr>
            <a:xfrm>
              <a:off x="0" y="-47625"/>
              <a:ext cx="21945600" cy="974217"/>
            </a:xfrm>
            <a:prstGeom prst="rect">
              <a:avLst/>
            </a:prstGeom>
          </p:spPr>
          <p:txBody>
            <a:bodyPr anchor="ctr" rtlCol="false" tIns="0" lIns="0" bIns="0" rIns="0"/>
            <a:lstStyle/>
            <a:p>
              <a:pPr algn="l">
                <a:lnSpc>
                  <a:spcPts val="2520"/>
                </a:lnSpc>
              </a:pPr>
              <a:r>
                <a:rPr lang="en-US" sz="2100" b="true">
                  <a:solidFill>
                    <a:srgbClr val="6D28D9"/>
                  </a:solidFill>
                  <a:latin typeface="Calibri (MS) Bold"/>
                  <a:ea typeface="Calibri (MS) Bold"/>
                  <a:cs typeface="Calibri (MS) Bold"/>
                  <a:sym typeface="Calibri (MS) Bold"/>
                </a:rPr>
                <a:t>Output → V'_local  </a:t>
              </a:r>
              <a:r>
                <a:rPr lang="en-US" sz="2100">
                  <a:solidFill>
                    <a:srgbClr val="1E293B"/>
                  </a:solidFill>
                  <a:latin typeface="Calibri (MS)"/>
                  <a:ea typeface="Calibri (MS)"/>
                  <a:cs typeface="Calibri (MS)"/>
                  <a:sym typeface="Calibri (MS)"/>
                </a:rPr>
                <a:t>Spatially-aware, fine-grained feature set that captures both long-range region relationships and fine local structure. Fed into the FID decoder as the primary visual input.</a:t>
              </a:r>
            </a:p>
          </p:txBody>
        </p:sp>
      </p:grpSp>
      <p:grpSp>
        <p:nvGrpSpPr>
          <p:cNvPr name="Group 61" id="61"/>
          <p:cNvGrpSpPr/>
          <p:nvPr/>
        </p:nvGrpSpPr>
        <p:grpSpPr>
          <a:xfrm rot="0">
            <a:off x="718823" y="9121349"/>
            <a:ext cx="16824960" cy="365760"/>
            <a:chOff x="0" y="0"/>
            <a:chExt cx="22433280" cy="487680"/>
          </a:xfrm>
        </p:grpSpPr>
        <p:sp>
          <p:nvSpPr>
            <p:cNvPr name="Freeform 62" id="62"/>
            <p:cNvSpPr/>
            <p:nvPr/>
          </p:nvSpPr>
          <p:spPr>
            <a:xfrm flipH="false" flipV="false" rot="0">
              <a:off x="0" y="0"/>
              <a:ext cx="22433280" cy="487680"/>
            </a:xfrm>
            <a:custGeom>
              <a:avLst/>
              <a:gdLst/>
              <a:ahLst/>
              <a:cxnLst/>
              <a:rect r="r" b="b" t="t" l="l"/>
              <a:pathLst>
                <a:path h="487680" w="22433280">
                  <a:moveTo>
                    <a:pt x="0" y="0"/>
                  </a:moveTo>
                  <a:lnTo>
                    <a:pt x="22433280" y="0"/>
                  </a:lnTo>
                  <a:lnTo>
                    <a:pt x="22433280" y="487680"/>
                  </a:lnTo>
                  <a:lnTo>
                    <a:pt x="0" y="487680"/>
                  </a:lnTo>
                  <a:close/>
                </a:path>
              </a:pathLst>
            </a:custGeom>
            <a:blipFill>
              <a:blip r:embed="rId3">
                <a:alphaModFix amt="0"/>
              </a:blip>
              <a:stretch>
                <a:fillRect l="0" t="-846311" r="0" b="-846311"/>
              </a:stretch>
            </a:blipFill>
          </p:spPr>
        </p:sp>
        <p:sp>
          <p:nvSpPr>
            <p:cNvPr name="TextBox 63" id="63"/>
            <p:cNvSpPr txBox="true"/>
            <p:nvPr/>
          </p:nvSpPr>
          <p:spPr>
            <a:xfrm>
              <a:off x="0" y="-38100"/>
              <a:ext cx="22433280" cy="525780"/>
            </a:xfrm>
            <a:prstGeom prst="rect">
              <a:avLst/>
            </a:prstGeom>
          </p:spPr>
          <p:txBody>
            <a:bodyPr anchor="ctr" rtlCol="false" tIns="0" lIns="0" bIns="0" rIns="0"/>
            <a:lstStyle/>
            <a:p>
              <a:pPr algn="l">
                <a:lnSpc>
                  <a:spcPts val="1800"/>
                </a:lnSpc>
              </a:pPr>
              <a:r>
                <a:rPr lang="en-US" sz="1500">
                  <a:solidFill>
                    <a:srgbClr val="94A3B8"/>
                  </a:solidFill>
                  <a:latin typeface="Calibri (MS)"/>
                  <a:ea typeface="Calibri (MS)"/>
                  <a:cs typeface="Calibri (MS)"/>
                  <a:sym typeface="Calibri (MS)"/>
                </a:rPr>
                <a:t>Abbreviations: Q = Query, K = Key, V = Value (standard attention projections)  ·  BN = Batch Normalization  ·  GAP = Global Average Pooling  ·  DW-conv = Depthwise Separable Convolution</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718823" y="316487"/>
            <a:ext cx="2951483" cy="574043"/>
            <a:chOff x="0" y="0"/>
            <a:chExt cx="3935311" cy="765391"/>
          </a:xfrm>
        </p:grpSpPr>
        <p:sp>
          <p:nvSpPr>
            <p:cNvPr name="Freeform 3" id="3"/>
            <p:cNvSpPr/>
            <p:nvPr/>
          </p:nvSpPr>
          <p:spPr>
            <a:xfrm flipH="false" flipV="false" rot="0">
              <a:off x="16891" y="16891"/>
              <a:ext cx="3901440" cy="731520"/>
            </a:xfrm>
            <a:custGeom>
              <a:avLst/>
              <a:gdLst/>
              <a:ahLst/>
              <a:cxnLst/>
              <a:rect r="r" b="b" t="t" l="l"/>
              <a:pathLst>
                <a:path h="731520" w="3901440">
                  <a:moveTo>
                    <a:pt x="0" y="0"/>
                  </a:moveTo>
                  <a:lnTo>
                    <a:pt x="3901440" y="0"/>
                  </a:lnTo>
                  <a:lnTo>
                    <a:pt x="3901440" y="731520"/>
                  </a:lnTo>
                  <a:lnTo>
                    <a:pt x="0" y="731520"/>
                  </a:lnTo>
                  <a:close/>
                </a:path>
              </a:pathLst>
            </a:custGeom>
            <a:solidFill>
              <a:srgbClr val="E05B4B"/>
            </a:solidFill>
          </p:spPr>
        </p:sp>
        <p:sp>
          <p:nvSpPr>
            <p:cNvPr name="Freeform 4" id="4"/>
            <p:cNvSpPr/>
            <p:nvPr/>
          </p:nvSpPr>
          <p:spPr>
            <a:xfrm flipH="false" flipV="false" rot="0">
              <a:off x="0" y="0"/>
              <a:ext cx="3935222" cy="765304"/>
            </a:xfrm>
            <a:custGeom>
              <a:avLst/>
              <a:gdLst/>
              <a:ahLst/>
              <a:cxnLst/>
              <a:rect r="r" b="b" t="t" l="l"/>
              <a:pathLst>
                <a:path h="765304" w="3935222">
                  <a:moveTo>
                    <a:pt x="16891" y="0"/>
                  </a:moveTo>
                  <a:lnTo>
                    <a:pt x="3918331" y="0"/>
                  </a:lnTo>
                  <a:cubicBezTo>
                    <a:pt x="3927729" y="0"/>
                    <a:pt x="3935222" y="7620"/>
                    <a:pt x="3935222" y="16891"/>
                  </a:cubicBezTo>
                  <a:lnTo>
                    <a:pt x="3935222" y="748411"/>
                  </a:lnTo>
                  <a:cubicBezTo>
                    <a:pt x="3935222" y="757809"/>
                    <a:pt x="3927602" y="765302"/>
                    <a:pt x="3918331" y="765302"/>
                  </a:cubicBezTo>
                  <a:lnTo>
                    <a:pt x="16891" y="765302"/>
                  </a:lnTo>
                  <a:cubicBezTo>
                    <a:pt x="7620" y="765429"/>
                    <a:pt x="0" y="757809"/>
                    <a:pt x="0" y="748411"/>
                  </a:cubicBezTo>
                  <a:lnTo>
                    <a:pt x="0" y="16891"/>
                  </a:lnTo>
                  <a:cubicBezTo>
                    <a:pt x="0" y="7620"/>
                    <a:pt x="7620" y="0"/>
                    <a:pt x="16891" y="0"/>
                  </a:cubicBezTo>
                  <a:moveTo>
                    <a:pt x="16891" y="33909"/>
                  </a:moveTo>
                  <a:lnTo>
                    <a:pt x="16891" y="16891"/>
                  </a:lnTo>
                  <a:lnTo>
                    <a:pt x="33909" y="16891"/>
                  </a:lnTo>
                  <a:lnTo>
                    <a:pt x="33909" y="748411"/>
                  </a:lnTo>
                  <a:lnTo>
                    <a:pt x="16891" y="748411"/>
                  </a:lnTo>
                  <a:lnTo>
                    <a:pt x="16891" y="731520"/>
                  </a:lnTo>
                  <a:lnTo>
                    <a:pt x="3918331" y="731520"/>
                  </a:lnTo>
                  <a:lnTo>
                    <a:pt x="3918331" y="748411"/>
                  </a:lnTo>
                  <a:lnTo>
                    <a:pt x="3901440" y="748411"/>
                  </a:lnTo>
                  <a:lnTo>
                    <a:pt x="3901440" y="16891"/>
                  </a:lnTo>
                  <a:lnTo>
                    <a:pt x="3918331" y="16891"/>
                  </a:lnTo>
                  <a:lnTo>
                    <a:pt x="3918331" y="33909"/>
                  </a:lnTo>
                  <a:lnTo>
                    <a:pt x="16891" y="33909"/>
                  </a:lnTo>
                  <a:close/>
                </a:path>
              </a:pathLst>
            </a:custGeom>
            <a:solidFill>
              <a:srgbClr val="E05B4B"/>
            </a:solidFill>
          </p:spPr>
        </p:sp>
      </p:grpSp>
      <p:grpSp>
        <p:nvGrpSpPr>
          <p:cNvPr name="Group 5" id="5"/>
          <p:cNvGrpSpPr/>
          <p:nvPr/>
        </p:nvGrpSpPr>
        <p:grpSpPr>
          <a:xfrm rot="0">
            <a:off x="731520" y="329184"/>
            <a:ext cx="2926080" cy="548640"/>
            <a:chOff x="0" y="0"/>
            <a:chExt cx="3901440" cy="731520"/>
          </a:xfrm>
        </p:grpSpPr>
        <p:sp>
          <p:nvSpPr>
            <p:cNvPr name="Freeform 6" id="6"/>
            <p:cNvSpPr/>
            <p:nvPr/>
          </p:nvSpPr>
          <p:spPr>
            <a:xfrm flipH="false" flipV="false" rot="0">
              <a:off x="0" y="0"/>
              <a:ext cx="3901440" cy="731520"/>
            </a:xfrm>
            <a:custGeom>
              <a:avLst/>
              <a:gdLst/>
              <a:ahLst/>
              <a:cxnLst/>
              <a:rect r="r" b="b" t="t" l="l"/>
              <a:pathLst>
                <a:path h="731520" w="3901440">
                  <a:moveTo>
                    <a:pt x="0" y="0"/>
                  </a:moveTo>
                  <a:lnTo>
                    <a:pt x="3901440" y="0"/>
                  </a:lnTo>
                  <a:lnTo>
                    <a:pt x="3901440" y="731520"/>
                  </a:lnTo>
                  <a:lnTo>
                    <a:pt x="0" y="731520"/>
                  </a:lnTo>
                  <a:close/>
                </a:path>
              </a:pathLst>
            </a:custGeom>
            <a:blipFill>
              <a:blip r:embed="rId3">
                <a:alphaModFix amt="0"/>
              </a:blip>
              <a:stretch>
                <a:fillRect l="0" t="-53920" r="0" b="-53920"/>
              </a:stretch>
            </a:blipFill>
          </p:spPr>
        </p:sp>
        <p:sp>
          <p:nvSpPr>
            <p:cNvPr name="TextBox 7" id="7"/>
            <p:cNvSpPr txBox="true"/>
            <p:nvPr/>
          </p:nvSpPr>
          <p:spPr>
            <a:xfrm>
              <a:off x="0" y="-38100"/>
              <a:ext cx="3901440" cy="76962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06 · FID DECODER</a:t>
              </a:r>
            </a:p>
          </p:txBody>
        </p:sp>
      </p:grpSp>
      <p:grpSp>
        <p:nvGrpSpPr>
          <p:cNvPr name="Group 8" id="8"/>
          <p:cNvGrpSpPr/>
          <p:nvPr/>
        </p:nvGrpSpPr>
        <p:grpSpPr>
          <a:xfrm rot="0">
            <a:off x="914400" y="1005840"/>
            <a:ext cx="16459200" cy="1188720"/>
            <a:chOff x="0" y="0"/>
            <a:chExt cx="21945600" cy="1584960"/>
          </a:xfrm>
        </p:grpSpPr>
        <p:sp>
          <p:nvSpPr>
            <p:cNvPr name="Freeform 9" id="9"/>
            <p:cNvSpPr/>
            <p:nvPr/>
          </p:nvSpPr>
          <p:spPr>
            <a:xfrm flipH="false" flipV="false" rot="0">
              <a:off x="0" y="0"/>
              <a:ext cx="21945600" cy="1584960"/>
            </a:xfrm>
            <a:custGeom>
              <a:avLst/>
              <a:gdLst/>
              <a:ahLst/>
              <a:cxnLst/>
              <a:rect r="r" b="b" t="t" l="l"/>
              <a:pathLst>
                <a:path h="1584960" w="21945600">
                  <a:moveTo>
                    <a:pt x="0" y="0"/>
                  </a:moveTo>
                  <a:lnTo>
                    <a:pt x="21945600" y="0"/>
                  </a:lnTo>
                  <a:lnTo>
                    <a:pt x="21945600" y="1584960"/>
                  </a:lnTo>
                  <a:lnTo>
                    <a:pt x="0" y="1584960"/>
                  </a:lnTo>
                  <a:close/>
                </a:path>
              </a:pathLst>
            </a:custGeom>
            <a:blipFill>
              <a:blip r:embed="rId3">
                <a:alphaModFix amt="0"/>
              </a:blip>
              <a:stretch>
                <a:fillRect l="0" t="-219792" r="0" b="-219792"/>
              </a:stretch>
            </a:blipFill>
          </p:spPr>
        </p:sp>
        <p:sp>
          <p:nvSpPr>
            <p:cNvPr name="TextBox 10" id="10"/>
            <p:cNvSpPr txBox="true"/>
            <p:nvPr/>
          </p:nvSpPr>
          <p:spPr>
            <a:xfrm>
              <a:off x="0" y="-104775"/>
              <a:ext cx="21945600" cy="1689735"/>
            </a:xfrm>
            <a:prstGeom prst="rect">
              <a:avLst/>
            </a:prstGeom>
          </p:spPr>
          <p:txBody>
            <a:bodyPr anchor="ctr" rtlCol="false" tIns="0" lIns="0" bIns="0" rIns="0"/>
            <a:lstStyle/>
            <a:p>
              <a:pPr algn="l">
                <a:lnSpc>
                  <a:spcPts val="6240"/>
                </a:lnSpc>
              </a:pPr>
              <a:r>
                <a:rPr lang="en-US" sz="5200" b="true">
                  <a:solidFill>
                    <a:srgbClr val="1E293B"/>
                  </a:solidFill>
                  <a:latin typeface="Calibri (MS) Bold"/>
                  <a:ea typeface="Calibri (MS) Bold"/>
                  <a:cs typeface="Calibri (MS) Bold"/>
                  <a:sym typeface="Calibri (MS) Bold"/>
                </a:rPr>
                <a:t>Feature Interaction Decoder (FID)</a:t>
              </a:r>
            </a:p>
          </p:txBody>
        </p:sp>
      </p:grpSp>
      <p:grpSp>
        <p:nvGrpSpPr>
          <p:cNvPr name="Group 11" id="11"/>
          <p:cNvGrpSpPr/>
          <p:nvPr/>
        </p:nvGrpSpPr>
        <p:grpSpPr>
          <a:xfrm rot="0">
            <a:off x="725167" y="2062486"/>
            <a:ext cx="16837657" cy="12697"/>
            <a:chOff x="0" y="0"/>
            <a:chExt cx="22450209" cy="16929"/>
          </a:xfrm>
        </p:grpSpPr>
        <p:sp>
          <p:nvSpPr>
            <p:cNvPr name="Freeform 12" id="12"/>
            <p:cNvSpPr/>
            <p:nvPr/>
          </p:nvSpPr>
          <p:spPr>
            <a:xfrm flipH="false" flipV="false" rot="0">
              <a:off x="8509" y="0"/>
              <a:ext cx="22433281" cy="16891"/>
            </a:xfrm>
            <a:custGeom>
              <a:avLst/>
              <a:gdLst/>
              <a:ahLst/>
              <a:cxnLst/>
              <a:rect r="r" b="b" t="t" l="l"/>
              <a:pathLst>
                <a:path h="16891" w="22433281">
                  <a:moveTo>
                    <a:pt x="0" y="0"/>
                  </a:moveTo>
                  <a:lnTo>
                    <a:pt x="22433281" y="0"/>
                  </a:lnTo>
                  <a:lnTo>
                    <a:pt x="22433281" y="16891"/>
                  </a:lnTo>
                  <a:lnTo>
                    <a:pt x="0" y="16891"/>
                  </a:lnTo>
                  <a:close/>
                </a:path>
              </a:pathLst>
            </a:custGeom>
            <a:solidFill>
              <a:srgbClr val="E2E8F0"/>
            </a:solidFill>
          </p:spPr>
        </p:sp>
      </p:grpSp>
      <p:grpSp>
        <p:nvGrpSpPr>
          <p:cNvPr name="Group 13" id="13"/>
          <p:cNvGrpSpPr/>
          <p:nvPr/>
        </p:nvGrpSpPr>
        <p:grpSpPr>
          <a:xfrm rot="0">
            <a:off x="786389" y="2062486"/>
            <a:ext cx="9339577" cy="8055193"/>
            <a:chOff x="0" y="0"/>
            <a:chExt cx="12452769" cy="10740257"/>
          </a:xfrm>
        </p:grpSpPr>
        <p:sp>
          <p:nvSpPr>
            <p:cNvPr name="Freeform 14" id="14"/>
            <p:cNvSpPr/>
            <p:nvPr/>
          </p:nvSpPr>
          <p:spPr>
            <a:xfrm flipH="false" flipV="false" rot="0">
              <a:off x="8509" y="9472"/>
              <a:ext cx="12435840" cy="10721413"/>
            </a:xfrm>
            <a:custGeom>
              <a:avLst/>
              <a:gdLst/>
              <a:ahLst/>
              <a:cxnLst/>
              <a:rect r="r" b="b" t="t" l="l"/>
              <a:pathLst>
                <a:path h="10721413" w="12435840">
                  <a:moveTo>
                    <a:pt x="0" y="0"/>
                  </a:moveTo>
                  <a:lnTo>
                    <a:pt x="12435840" y="0"/>
                  </a:lnTo>
                  <a:lnTo>
                    <a:pt x="12435840" y="10721413"/>
                  </a:lnTo>
                  <a:lnTo>
                    <a:pt x="0" y="10721413"/>
                  </a:lnTo>
                  <a:close/>
                </a:path>
              </a:pathLst>
            </a:custGeom>
            <a:solidFill>
              <a:srgbClr val="FFFFFF"/>
            </a:solidFill>
          </p:spPr>
        </p:sp>
        <p:sp>
          <p:nvSpPr>
            <p:cNvPr name="Freeform 15" id="15"/>
            <p:cNvSpPr/>
            <p:nvPr/>
          </p:nvSpPr>
          <p:spPr>
            <a:xfrm flipH="false" flipV="false" rot="0">
              <a:off x="0" y="0"/>
              <a:ext cx="12452858" cy="10740347"/>
            </a:xfrm>
            <a:custGeom>
              <a:avLst/>
              <a:gdLst/>
              <a:ahLst/>
              <a:cxnLst/>
              <a:rect r="r" b="b" t="t" l="l"/>
              <a:pathLst>
                <a:path h="10740347" w="12452858">
                  <a:moveTo>
                    <a:pt x="8509" y="0"/>
                  </a:moveTo>
                  <a:lnTo>
                    <a:pt x="12444349" y="0"/>
                  </a:lnTo>
                  <a:cubicBezTo>
                    <a:pt x="12449048" y="0"/>
                    <a:pt x="12452858" y="4241"/>
                    <a:pt x="12452858" y="9472"/>
                  </a:cubicBezTo>
                  <a:lnTo>
                    <a:pt x="12452858" y="10730885"/>
                  </a:lnTo>
                  <a:cubicBezTo>
                    <a:pt x="12452858" y="10736115"/>
                    <a:pt x="12449048" y="10740347"/>
                    <a:pt x="12444349" y="10740347"/>
                  </a:cubicBezTo>
                  <a:lnTo>
                    <a:pt x="8509" y="10740347"/>
                  </a:lnTo>
                  <a:cubicBezTo>
                    <a:pt x="3810" y="10740347"/>
                    <a:pt x="0" y="10736115"/>
                    <a:pt x="0" y="10730885"/>
                  </a:cubicBezTo>
                  <a:lnTo>
                    <a:pt x="0" y="9472"/>
                  </a:lnTo>
                  <a:cubicBezTo>
                    <a:pt x="0" y="4241"/>
                    <a:pt x="3810" y="0"/>
                    <a:pt x="8509" y="0"/>
                  </a:cubicBezTo>
                  <a:moveTo>
                    <a:pt x="8509" y="18802"/>
                  </a:moveTo>
                  <a:lnTo>
                    <a:pt x="8509" y="9472"/>
                  </a:lnTo>
                  <a:lnTo>
                    <a:pt x="17018" y="9472"/>
                  </a:lnTo>
                  <a:lnTo>
                    <a:pt x="17018" y="10730885"/>
                  </a:lnTo>
                  <a:lnTo>
                    <a:pt x="8509" y="10730885"/>
                  </a:lnTo>
                  <a:lnTo>
                    <a:pt x="8509" y="10721413"/>
                  </a:lnTo>
                  <a:lnTo>
                    <a:pt x="12444349" y="10721413"/>
                  </a:lnTo>
                  <a:lnTo>
                    <a:pt x="12444349" y="10730885"/>
                  </a:lnTo>
                  <a:lnTo>
                    <a:pt x="12435840" y="10730885"/>
                  </a:lnTo>
                  <a:lnTo>
                    <a:pt x="12435840" y="9472"/>
                  </a:lnTo>
                  <a:lnTo>
                    <a:pt x="12444349" y="9472"/>
                  </a:lnTo>
                  <a:lnTo>
                    <a:pt x="12444349" y="18943"/>
                  </a:lnTo>
                  <a:lnTo>
                    <a:pt x="8509" y="18943"/>
                  </a:lnTo>
                  <a:close/>
                </a:path>
              </a:pathLst>
            </a:custGeom>
            <a:solidFill>
              <a:srgbClr val="E2E8F0"/>
            </a:solidFill>
          </p:spPr>
        </p:sp>
      </p:grpSp>
      <p:grpSp>
        <p:nvGrpSpPr>
          <p:cNvPr name="Group 16" id="16"/>
          <p:cNvGrpSpPr/>
          <p:nvPr/>
        </p:nvGrpSpPr>
        <p:grpSpPr>
          <a:xfrm rot="0">
            <a:off x="718823" y="2456183"/>
            <a:ext cx="135131" cy="7249163"/>
            <a:chOff x="0" y="0"/>
            <a:chExt cx="180175" cy="9665551"/>
          </a:xfrm>
        </p:grpSpPr>
        <p:sp>
          <p:nvSpPr>
            <p:cNvPr name="Freeform 17" id="17"/>
            <p:cNvSpPr/>
            <p:nvPr/>
          </p:nvSpPr>
          <p:spPr>
            <a:xfrm flipH="false" flipV="false" rot="0">
              <a:off x="16891" y="16891"/>
              <a:ext cx="146304" cy="9631681"/>
            </a:xfrm>
            <a:custGeom>
              <a:avLst/>
              <a:gdLst/>
              <a:ahLst/>
              <a:cxnLst/>
              <a:rect r="r" b="b" t="t" l="l"/>
              <a:pathLst>
                <a:path h="9631681" w="146304">
                  <a:moveTo>
                    <a:pt x="0" y="0"/>
                  </a:moveTo>
                  <a:lnTo>
                    <a:pt x="146304" y="0"/>
                  </a:lnTo>
                  <a:lnTo>
                    <a:pt x="146304" y="9631681"/>
                  </a:lnTo>
                  <a:lnTo>
                    <a:pt x="0" y="9631681"/>
                  </a:lnTo>
                  <a:close/>
                </a:path>
              </a:pathLst>
            </a:custGeom>
            <a:solidFill>
              <a:srgbClr val="E05B4B"/>
            </a:solidFill>
          </p:spPr>
        </p:sp>
        <p:sp>
          <p:nvSpPr>
            <p:cNvPr name="Freeform 18" id="18"/>
            <p:cNvSpPr/>
            <p:nvPr/>
          </p:nvSpPr>
          <p:spPr>
            <a:xfrm flipH="false" flipV="false" rot="0">
              <a:off x="0" y="0"/>
              <a:ext cx="180086" cy="9665462"/>
            </a:xfrm>
            <a:custGeom>
              <a:avLst/>
              <a:gdLst/>
              <a:ahLst/>
              <a:cxnLst/>
              <a:rect r="r" b="b" t="t" l="l"/>
              <a:pathLst>
                <a:path h="9665462" w="180086">
                  <a:moveTo>
                    <a:pt x="16891" y="0"/>
                  </a:moveTo>
                  <a:lnTo>
                    <a:pt x="163195" y="0"/>
                  </a:lnTo>
                  <a:cubicBezTo>
                    <a:pt x="172593" y="0"/>
                    <a:pt x="180086" y="7620"/>
                    <a:pt x="180086" y="16891"/>
                  </a:cubicBezTo>
                  <a:lnTo>
                    <a:pt x="180086" y="9648572"/>
                  </a:lnTo>
                  <a:cubicBezTo>
                    <a:pt x="180086" y="9657969"/>
                    <a:pt x="172466" y="9665462"/>
                    <a:pt x="163195" y="9665462"/>
                  </a:cubicBezTo>
                  <a:lnTo>
                    <a:pt x="16891" y="9665462"/>
                  </a:lnTo>
                  <a:cubicBezTo>
                    <a:pt x="7493" y="9665462"/>
                    <a:pt x="0" y="9657842"/>
                    <a:pt x="0" y="9648572"/>
                  </a:cubicBezTo>
                  <a:lnTo>
                    <a:pt x="0" y="16891"/>
                  </a:lnTo>
                  <a:cubicBezTo>
                    <a:pt x="0" y="7620"/>
                    <a:pt x="7620" y="0"/>
                    <a:pt x="16891" y="0"/>
                  </a:cubicBezTo>
                  <a:moveTo>
                    <a:pt x="16891" y="33909"/>
                  </a:moveTo>
                  <a:lnTo>
                    <a:pt x="16891" y="16891"/>
                  </a:lnTo>
                  <a:lnTo>
                    <a:pt x="33909" y="16891"/>
                  </a:lnTo>
                  <a:lnTo>
                    <a:pt x="33909" y="9648572"/>
                  </a:lnTo>
                  <a:lnTo>
                    <a:pt x="16891" y="9648572"/>
                  </a:lnTo>
                  <a:lnTo>
                    <a:pt x="16891" y="9631680"/>
                  </a:lnTo>
                  <a:lnTo>
                    <a:pt x="163195" y="9631680"/>
                  </a:lnTo>
                  <a:lnTo>
                    <a:pt x="163195" y="9648572"/>
                  </a:lnTo>
                  <a:lnTo>
                    <a:pt x="146304" y="9648572"/>
                  </a:lnTo>
                  <a:lnTo>
                    <a:pt x="146304" y="16891"/>
                  </a:lnTo>
                  <a:lnTo>
                    <a:pt x="163195" y="16891"/>
                  </a:lnTo>
                  <a:lnTo>
                    <a:pt x="163195" y="33909"/>
                  </a:lnTo>
                  <a:lnTo>
                    <a:pt x="16891" y="33909"/>
                  </a:lnTo>
                  <a:close/>
                </a:path>
              </a:pathLst>
            </a:custGeom>
            <a:solidFill>
              <a:srgbClr val="E05B4B"/>
            </a:solidFill>
          </p:spPr>
        </p:sp>
      </p:grpSp>
      <p:grpSp>
        <p:nvGrpSpPr>
          <p:cNvPr name="Group 19" id="19"/>
          <p:cNvGrpSpPr/>
          <p:nvPr/>
        </p:nvGrpSpPr>
        <p:grpSpPr>
          <a:xfrm rot="0">
            <a:off x="1020951" y="2181863"/>
            <a:ext cx="8778240" cy="548640"/>
            <a:chOff x="0" y="0"/>
            <a:chExt cx="11704320" cy="731520"/>
          </a:xfrm>
        </p:grpSpPr>
        <p:sp>
          <p:nvSpPr>
            <p:cNvPr name="Freeform 20" id="20"/>
            <p:cNvSpPr/>
            <p:nvPr/>
          </p:nvSpPr>
          <p:spPr>
            <a:xfrm flipH="false" flipV="false" rot="0">
              <a:off x="0" y="0"/>
              <a:ext cx="11704320" cy="731520"/>
            </a:xfrm>
            <a:custGeom>
              <a:avLst/>
              <a:gdLst/>
              <a:ahLst/>
              <a:cxnLst/>
              <a:rect r="r" b="b" t="t" l="l"/>
              <a:pathLst>
                <a:path h="731520" w="11704320">
                  <a:moveTo>
                    <a:pt x="0" y="0"/>
                  </a:moveTo>
                  <a:lnTo>
                    <a:pt x="11704320" y="0"/>
                  </a:lnTo>
                  <a:lnTo>
                    <a:pt x="11704320" y="731520"/>
                  </a:lnTo>
                  <a:lnTo>
                    <a:pt x="0" y="731520"/>
                  </a:lnTo>
                  <a:close/>
                </a:path>
              </a:pathLst>
            </a:custGeom>
            <a:blipFill>
              <a:blip r:embed="rId3">
                <a:alphaModFix amt="0"/>
              </a:blip>
              <a:stretch>
                <a:fillRect l="0" t="-261760" r="0" b="-261760"/>
              </a:stretch>
            </a:blipFill>
          </p:spPr>
        </p:sp>
        <p:sp>
          <p:nvSpPr>
            <p:cNvPr name="TextBox 21" id="21"/>
            <p:cNvSpPr txBox="true"/>
            <p:nvPr/>
          </p:nvSpPr>
          <p:spPr>
            <a:xfrm>
              <a:off x="0" y="-38100"/>
              <a:ext cx="11704320" cy="769620"/>
            </a:xfrm>
            <a:prstGeom prst="rect">
              <a:avLst/>
            </a:prstGeom>
          </p:spPr>
          <p:txBody>
            <a:bodyPr anchor="ctr" rtlCol="false" tIns="0" lIns="0" bIns="0" rIns="0"/>
            <a:lstStyle/>
            <a:p>
              <a:pPr algn="l">
                <a:lnSpc>
                  <a:spcPts val="2879"/>
                </a:lnSpc>
              </a:pPr>
              <a:r>
                <a:rPr lang="en-US" sz="2400" b="true">
                  <a:solidFill>
                    <a:srgbClr val="E05B4B"/>
                  </a:solidFill>
                  <a:latin typeface="Calibri (MS) Bold"/>
                  <a:ea typeface="Calibri (MS) Bold"/>
                  <a:cs typeface="Calibri (MS) Bold"/>
                  <a:sym typeface="Calibri (MS) Bold"/>
                </a:rPr>
                <a:t>Word-by-word decoding process</a:t>
              </a:r>
            </a:p>
          </p:txBody>
        </p:sp>
      </p:grpSp>
      <p:grpSp>
        <p:nvGrpSpPr>
          <p:cNvPr name="Group 22" id="22"/>
          <p:cNvGrpSpPr/>
          <p:nvPr/>
        </p:nvGrpSpPr>
        <p:grpSpPr>
          <a:xfrm rot="0">
            <a:off x="995548" y="2638202"/>
            <a:ext cx="500891" cy="500891"/>
            <a:chOff x="0" y="0"/>
            <a:chExt cx="667855" cy="667855"/>
          </a:xfrm>
        </p:grpSpPr>
        <p:sp>
          <p:nvSpPr>
            <p:cNvPr name="Freeform 23" id="23"/>
            <p:cNvSpPr/>
            <p:nvPr/>
          </p:nvSpPr>
          <p:spPr>
            <a:xfrm flipH="false" flipV="false" rot="0">
              <a:off x="16891" y="16891"/>
              <a:ext cx="633984" cy="633984"/>
            </a:xfrm>
            <a:custGeom>
              <a:avLst/>
              <a:gdLst/>
              <a:ahLst/>
              <a:cxnLst/>
              <a:rect r="r" b="b" t="t" l="l"/>
              <a:pathLst>
                <a:path h="633984" w="633984">
                  <a:moveTo>
                    <a:pt x="0" y="0"/>
                  </a:moveTo>
                  <a:lnTo>
                    <a:pt x="633984" y="0"/>
                  </a:lnTo>
                  <a:lnTo>
                    <a:pt x="633984" y="633984"/>
                  </a:lnTo>
                  <a:lnTo>
                    <a:pt x="0" y="633984"/>
                  </a:lnTo>
                  <a:close/>
                </a:path>
              </a:pathLst>
            </a:custGeom>
            <a:solidFill>
              <a:srgbClr val="E05B4B"/>
            </a:solidFill>
          </p:spPr>
        </p:sp>
        <p:sp>
          <p:nvSpPr>
            <p:cNvPr name="Freeform 24" id="24"/>
            <p:cNvSpPr/>
            <p:nvPr/>
          </p:nvSpPr>
          <p:spPr>
            <a:xfrm flipH="false" flipV="false" rot="0">
              <a:off x="0" y="0"/>
              <a:ext cx="667766" cy="667768"/>
            </a:xfrm>
            <a:custGeom>
              <a:avLst/>
              <a:gdLst/>
              <a:ahLst/>
              <a:cxnLst/>
              <a:rect r="r" b="b" t="t" l="l"/>
              <a:pathLst>
                <a:path h="667768" w="667766">
                  <a:moveTo>
                    <a:pt x="16891" y="0"/>
                  </a:moveTo>
                  <a:lnTo>
                    <a:pt x="650875" y="0"/>
                  </a:lnTo>
                  <a:cubicBezTo>
                    <a:pt x="660273" y="0"/>
                    <a:pt x="667766" y="7620"/>
                    <a:pt x="667766" y="16891"/>
                  </a:cubicBezTo>
                  <a:lnTo>
                    <a:pt x="667766" y="650875"/>
                  </a:lnTo>
                  <a:cubicBezTo>
                    <a:pt x="667766" y="660273"/>
                    <a:pt x="660146" y="667766"/>
                    <a:pt x="650875" y="667766"/>
                  </a:cubicBezTo>
                  <a:lnTo>
                    <a:pt x="16891" y="667766"/>
                  </a:lnTo>
                  <a:cubicBezTo>
                    <a:pt x="7620" y="667893"/>
                    <a:pt x="0" y="660273"/>
                    <a:pt x="0" y="650875"/>
                  </a:cubicBezTo>
                  <a:lnTo>
                    <a:pt x="0" y="16891"/>
                  </a:lnTo>
                  <a:cubicBezTo>
                    <a:pt x="0" y="7620"/>
                    <a:pt x="7620" y="0"/>
                    <a:pt x="16891" y="0"/>
                  </a:cubicBezTo>
                  <a:moveTo>
                    <a:pt x="16891" y="33909"/>
                  </a:moveTo>
                  <a:lnTo>
                    <a:pt x="16891" y="16891"/>
                  </a:lnTo>
                  <a:lnTo>
                    <a:pt x="33909" y="16891"/>
                  </a:lnTo>
                  <a:lnTo>
                    <a:pt x="33909" y="650875"/>
                  </a:lnTo>
                  <a:lnTo>
                    <a:pt x="16891" y="650875"/>
                  </a:lnTo>
                  <a:lnTo>
                    <a:pt x="16891" y="633984"/>
                  </a:lnTo>
                  <a:lnTo>
                    <a:pt x="650875" y="633984"/>
                  </a:lnTo>
                  <a:lnTo>
                    <a:pt x="650875" y="650875"/>
                  </a:lnTo>
                  <a:lnTo>
                    <a:pt x="633984" y="650875"/>
                  </a:lnTo>
                  <a:lnTo>
                    <a:pt x="633984" y="16891"/>
                  </a:lnTo>
                  <a:lnTo>
                    <a:pt x="650875" y="16891"/>
                  </a:lnTo>
                  <a:lnTo>
                    <a:pt x="650875" y="33909"/>
                  </a:lnTo>
                  <a:lnTo>
                    <a:pt x="16891" y="33909"/>
                  </a:lnTo>
                  <a:close/>
                </a:path>
              </a:pathLst>
            </a:custGeom>
            <a:solidFill>
              <a:srgbClr val="E05B4B"/>
            </a:solidFill>
          </p:spPr>
        </p:sp>
      </p:grpSp>
      <p:grpSp>
        <p:nvGrpSpPr>
          <p:cNvPr name="Group 25" id="25"/>
          <p:cNvGrpSpPr/>
          <p:nvPr/>
        </p:nvGrpSpPr>
        <p:grpSpPr>
          <a:xfrm rot="0">
            <a:off x="1008245" y="2650899"/>
            <a:ext cx="475488" cy="475488"/>
            <a:chOff x="0" y="0"/>
            <a:chExt cx="633984" cy="633984"/>
          </a:xfrm>
        </p:grpSpPr>
        <p:sp>
          <p:nvSpPr>
            <p:cNvPr name="Freeform 26" id="26"/>
            <p:cNvSpPr/>
            <p:nvPr/>
          </p:nvSpPr>
          <p:spPr>
            <a:xfrm flipH="false" flipV="false" rot="0">
              <a:off x="0" y="0"/>
              <a:ext cx="633984" cy="633984"/>
            </a:xfrm>
            <a:custGeom>
              <a:avLst/>
              <a:gdLst/>
              <a:ahLst/>
              <a:cxnLst/>
              <a:rect r="r" b="b" t="t" l="l"/>
              <a:pathLst>
                <a:path h="633984" w="633984">
                  <a:moveTo>
                    <a:pt x="0" y="0"/>
                  </a:moveTo>
                  <a:lnTo>
                    <a:pt x="633984" y="0"/>
                  </a:lnTo>
                  <a:lnTo>
                    <a:pt x="633984" y="633984"/>
                  </a:lnTo>
                  <a:lnTo>
                    <a:pt x="0" y="633984"/>
                  </a:lnTo>
                  <a:close/>
                </a:path>
              </a:pathLst>
            </a:custGeom>
            <a:blipFill>
              <a:blip r:embed="rId3">
                <a:alphaModFix amt="0"/>
              </a:blip>
              <a:stretch>
                <a:fillRect l="-78303" t="0" r="-78303" b="0"/>
              </a:stretch>
            </a:blipFill>
          </p:spPr>
        </p:sp>
        <p:sp>
          <p:nvSpPr>
            <p:cNvPr name="TextBox 27" id="27"/>
            <p:cNvSpPr txBox="true"/>
            <p:nvPr/>
          </p:nvSpPr>
          <p:spPr>
            <a:xfrm>
              <a:off x="0" y="-38100"/>
              <a:ext cx="633984" cy="672084"/>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1</a:t>
              </a:r>
            </a:p>
          </p:txBody>
        </p:sp>
      </p:grpSp>
      <p:grpSp>
        <p:nvGrpSpPr>
          <p:cNvPr name="Group 28" id="28"/>
          <p:cNvGrpSpPr/>
          <p:nvPr/>
        </p:nvGrpSpPr>
        <p:grpSpPr>
          <a:xfrm rot="0">
            <a:off x="1661031" y="2550795"/>
            <a:ext cx="8138160" cy="493776"/>
            <a:chOff x="0" y="0"/>
            <a:chExt cx="10850880" cy="658368"/>
          </a:xfrm>
        </p:grpSpPr>
        <p:sp>
          <p:nvSpPr>
            <p:cNvPr name="Freeform 29" id="29"/>
            <p:cNvSpPr/>
            <p:nvPr/>
          </p:nvSpPr>
          <p:spPr>
            <a:xfrm flipH="false" flipV="false" rot="0">
              <a:off x="0" y="0"/>
              <a:ext cx="10850880" cy="658368"/>
            </a:xfrm>
            <a:custGeom>
              <a:avLst/>
              <a:gdLst/>
              <a:ahLst/>
              <a:cxnLst/>
              <a:rect r="r" b="b" t="t" l="l"/>
              <a:pathLst>
                <a:path h="658368" w="10850880">
                  <a:moveTo>
                    <a:pt x="0" y="0"/>
                  </a:moveTo>
                  <a:lnTo>
                    <a:pt x="10850880" y="0"/>
                  </a:lnTo>
                  <a:lnTo>
                    <a:pt x="10850880" y="658368"/>
                  </a:lnTo>
                  <a:lnTo>
                    <a:pt x="0" y="658368"/>
                  </a:lnTo>
                  <a:close/>
                </a:path>
              </a:pathLst>
            </a:custGeom>
            <a:blipFill>
              <a:blip r:embed="rId3">
                <a:alphaModFix amt="0"/>
              </a:blip>
              <a:stretch>
                <a:fillRect l="0" t="-271142" r="0" b="-271142"/>
              </a:stretch>
            </a:blipFill>
          </p:spPr>
        </p:sp>
        <p:sp>
          <p:nvSpPr>
            <p:cNvPr name="TextBox 30" id="30"/>
            <p:cNvSpPr txBox="true"/>
            <p:nvPr/>
          </p:nvSpPr>
          <p:spPr>
            <a:xfrm>
              <a:off x="0" y="-47625"/>
              <a:ext cx="10850880" cy="705993"/>
            </a:xfrm>
            <a:prstGeom prst="rect">
              <a:avLst/>
            </a:prstGeom>
          </p:spPr>
          <p:txBody>
            <a:bodyPr anchor="ctr" rtlCol="false" tIns="0" lIns="0" bIns="0" rIns="0"/>
            <a:lstStyle/>
            <a:p>
              <a:pPr algn="l">
                <a:lnSpc>
                  <a:spcPts val="2520"/>
                </a:lnSpc>
              </a:pPr>
              <a:r>
                <a:rPr lang="en-US" sz="2100" b="true">
                  <a:solidFill>
                    <a:srgbClr val="1E293B"/>
                  </a:solidFill>
                  <a:latin typeface="Calibri (MS) Bold"/>
                  <a:ea typeface="Calibri (MS) Bold"/>
                  <a:cs typeface="Calibri (MS) Bold"/>
                  <a:sym typeface="Calibri (MS) Bold"/>
                </a:rPr>
                <a:t>1. Spatial attention over V'_local</a:t>
              </a:r>
            </a:p>
          </p:txBody>
        </p:sp>
      </p:grpSp>
      <p:grpSp>
        <p:nvGrpSpPr>
          <p:cNvPr name="Group 31" id="31"/>
          <p:cNvGrpSpPr/>
          <p:nvPr/>
        </p:nvGrpSpPr>
        <p:grpSpPr>
          <a:xfrm rot="0">
            <a:off x="1563629" y="2945793"/>
            <a:ext cx="8138160" cy="1688939"/>
            <a:chOff x="0" y="0"/>
            <a:chExt cx="10850880" cy="2251918"/>
          </a:xfrm>
        </p:grpSpPr>
        <p:sp>
          <p:nvSpPr>
            <p:cNvPr name="Freeform 32" id="32"/>
            <p:cNvSpPr/>
            <p:nvPr/>
          </p:nvSpPr>
          <p:spPr>
            <a:xfrm flipH="false" flipV="false" rot="0">
              <a:off x="0" y="0"/>
              <a:ext cx="10850880" cy="2251918"/>
            </a:xfrm>
            <a:custGeom>
              <a:avLst/>
              <a:gdLst/>
              <a:ahLst/>
              <a:cxnLst/>
              <a:rect r="r" b="b" t="t" l="l"/>
              <a:pathLst>
                <a:path h="2251918" w="10850880">
                  <a:moveTo>
                    <a:pt x="0" y="0"/>
                  </a:moveTo>
                  <a:lnTo>
                    <a:pt x="10850880" y="0"/>
                  </a:lnTo>
                  <a:lnTo>
                    <a:pt x="10850880" y="2251918"/>
                  </a:lnTo>
                  <a:lnTo>
                    <a:pt x="0" y="2251918"/>
                  </a:lnTo>
                  <a:close/>
                </a:path>
              </a:pathLst>
            </a:custGeom>
            <a:blipFill>
              <a:blip r:embed="rId3">
                <a:alphaModFix amt="0"/>
              </a:blip>
              <a:stretch>
                <a:fillRect l="0" t="-63570" r="0" b="-24207"/>
              </a:stretch>
            </a:blipFill>
          </p:spPr>
        </p:sp>
        <p:sp>
          <p:nvSpPr>
            <p:cNvPr name="TextBox 33" id="33"/>
            <p:cNvSpPr txBox="true"/>
            <p:nvPr/>
          </p:nvSpPr>
          <p:spPr>
            <a:xfrm>
              <a:off x="0" y="-38100"/>
              <a:ext cx="10850880" cy="2290018"/>
            </a:xfrm>
            <a:prstGeom prst="rect">
              <a:avLst/>
            </a:prstGeom>
          </p:spPr>
          <p:txBody>
            <a:bodyPr anchor="ctr" rtlCol="false" tIns="0" lIns="0" bIns="0" rIns="0"/>
            <a:lstStyle/>
            <a:p>
              <a:pPr algn="l">
                <a:lnSpc>
                  <a:spcPts val="2160"/>
                </a:lnSpc>
              </a:pPr>
              <a:r>
                <a:rPr lang="en-US" sz="1800">
                  <a:solidFill>
                    <a:srgbClr val="94A3B8"/>
                  </a:solidFill>
                  <a:latin typeface="Calibri (MS)"/>
                  <a:ea typeface="Calibri (MS)"/>
                  <a:cs typeface="Calibri (MS)"/>
                  <a:sym typeface="Calibri (MS)"/>
                </a:rPr>
                <a:t>At each timestep t, the LSTM hidden state hₜ₋₁ is compared to every spatial position in V'_local using dot-product similarity:</a:t>
              </a:r>
            </a:p>
            <a:p>
              <a:pPr algn="l">
                <a:lnSpc>
                  <a:spcPts val="2160"/>
                </a:lnSpc>
              </a:pPr>
              <a:r>
                <a:rPr lang="en-US" sz="1800">
                  <a:solidFill>
                    <a:srgbClr val="94A3B8"/>
                  </a:solidFill>
                  <a:latin typeface="Calibri (MS)"/>
                  <a:ea typeface="Calibri (MS)"/>
                  <a:cs typeface="Calibri (MS)"/>
                  <a:sym typeface="Calibri (MS)"/>
                </a:rPr>
                <a:t>  aₜ = V'_localᵀ · W · hₜ₋₁ / √d</a:t>
              </a:r>
            </a:p>
            <a:p>
              <a:pPr algn="l">
                <a:lnSpc>
                  <a:spcPts val="2160"/>
                </a:lnSpc>
              </a:pPr>
              <a:r>
                <a:rPr lang="en-US" sz="1800">
                  <a:solidFill>
                    <a:srgbClr val="94A3B8"/>
                  </a:solidFill>
                  <a:latin typeface="Calibri (MS)"/>
                  <a:ea typeface="Calibri (MS)"/>
                  <a:cs typeface="Calibri (MS)"/>
                  <a:sym typeface="Calibri (MS)"/>
                </a:rPr>
                <a:t>  αₜ = softmax(aₜ)  [attention weights]</a:t>
              </a:r>
            </a:p>
            <a:p>
              <a:pPr algn="l">
                <a:lnSpc>
                  <a:spcPts val="2160"/>
                </a:lnSpc>
              </a:pPr>
              <a:r>
                <a:rPr lang="en-US" sz="1800">
                  <a:solidFill>
                    <a:srgbClr val="94A3B8"/>
                  </a:solidFill>
                  <a:latin typeface="Calibri (MS)"/>
                  <a:ea typeface="Calibri (MS)"/>
                  <a:cs typeface="Calibri (MS)"/>
                  <a:sym typeface="Calibri (MS)"/>
                </a:rPr>
                <a:t>  vₜ = αₜ * V'_local  [attended visual context]</a:t>
              </a:r>
            </a:p>
            <a:p>
              <a:pPr algn="l">
                <a:lnSpc>
                  <a:spcPts val="2160"/>
                </a:lnSpc>
              </a:pPr>
              <a:r>
                <a:rPr lang="en-US" sz="1800">
                  <a:solidFill>
                    <a:srgbClr val="94A3B8"/>
                  </a:solidFill>
                  <a:latin typeface="Calibri (MS)"/>
                  <a:ea typeface="Calibri (MS)"/>
                  <a:cs typeface="Calibri (MS)"/>
                  <a:sym typeface="Calibri (MS)"/>
                </a:rPr>
                <a:t>This steers the decoder to relevant image regions for each word.</a:t>
              </a:r>
            </a:p>
          </p:txBody>
        </p:sp>
      </p:grpSp>
      <p:grpSp>
        <p:nvGrpSpPr>
          <p:cNvPr name="Group 34" id="34"/>
          <p:cNvGrpSpPr/>
          <p:nvPr/>
        </p:nvGrpSpPr>
        <p:grpSpPr>
          <a:xfrm rot="0">
            <a:off x="914400" y="4577586"/>
            <a:ext cx="500891" cy="500891"/>
            <a:chOff x="0" y="0"/>
            <a:chExt cx="667855" cy="667855"/>
          </a:xfrm>
        </p:grpSpPr>
        <p:sp>
          <p:nvSpPr>
            <p:cNvPr name="Freeform 35" id="35"/>
            <p:cNvSpPr/>
            <p:nvPr/>
          </p:nvSpPr>
          <p:spPr>
            <a:xfrm flipH="false" flipV="false" rot="0">
              <a:off x="16891" y="16891"/>
              <a:ext cx="633984" cy="633984"/>
            </a:xfrm>
            <a:custGeom>
              <a:avLst/>
              <a:gdLst/>
              <a:ahLst/>
              <a:cxnLst/>
              <a:rect r="r" b="b" t="t" l="l"/>
              <a:pathLst>
                <a:path h="633984" w="633984">
                  <a:moveTo>
                    <a:pt x="0" y="0"/>
                  </a:moveTo>
                  <a:lnTo>
                    <a:pt x="633984" y="0"/>
                  </a:lnTo>
                  <a:lnTo>
                    <a:pt x="633984" y="633984"/>
                  </a:lnTo>
                  <a:lnTo>
                    <a:pt x="0" y="633984"/>
                  </a:lnTo>
                  <a:close/>
                </a:path>
              </a:pathLst>
            </a:custGeom>
            <a:solidFill>
              <a:srgbClr val="E05B4B"/>
            </a:solidFill>
          </p:spPr>
        </p:sp>
        <p:sp>
          <p:nvSpPr>
            <p:cNvPr name="Freeform 36" id="36"/>
            <p:cNvSpPr/>
            <p:nvPr/>
          </p:nvSpPr>
          <p:spPr>
            <a:xfrm flipH="false" flipV="false" rot="0">
              <a:off x="0" y="0"/>
              <a:ext cx="667766" cy="667768"/>
            </a:xfrm>
            <a:custGeom>
              <a:avLst/>
              <a:gdLst/>
              <a:ahLst/>
              <a:cxnLst/>
              <a:rect r="r" b="b" t="t" l="l"/>
              <a:pathLst>
                <a:path h="667768" w="667766">
                  <a:moveTo>
                    <a:pt x="16891" y="0"/>
                  </a:moveTo>
                  <a:lnTo>
                    <a:pt x="650875" y="0"/>
                  </a:lnTo>
                  <a:cubicBezTo>
                    <a:pt x="660273" y="0"/>
                    <a:pt x="667766" y="7620"/>
                    <a:pt x="667766" y="16891"/>
                  </a:cubicBezTo>
                  <a:lnTo>
                    <a:pt x="667766" y="650875"/>
                  </a:lnTo>
                  <a:cubicBezTo>
                    <a:pt x="667766" y="660273"/>
                    <a:pt x="660146" y="667766"/>
                    <a:pt x="650875" y="667766"/>
                  </a:cubicBezTo>
                  <a:lnTo>
                    <a:pt x="16891" y="667766"/>
                  </a:lnTo>
                  <a:cubicBezTo>
                    <a:pt x="7620" y="667893"/>
                    <a:pt x="0" y="660273"/>
                    <a:pt x="0" y="650875"/>
                  </a:cubicBezTo>
                  <a:lnTo>
                    <a:pt x="0" y="16891"/>
                  </a:lnTo>
                  <a:cubicBezTo>
                    <a:pt x="0" y="7620"/>
                    <a:pt x="7620" y="0"/>
                    <a:pt x="16891" y="0"/>
                  </a:cubicBezTo>
                  <a:moveTo>
                    <a:pt x="16891" y="33909"/>
                  </a:moveTo>
                  <a:lnTo>
                    <a:pt x="16891" y="16891"/>
                  </a:lnTo>
                  <a:lnTo>
                    <a:pt x="33909" y="16891"/>
                  </a:lnTo>
                  <a:lnTo>
                    <a:pt x="33909" y="650875"/>
                  </a:lnTo>
                  <a:lnTo>
                    <a:pt x="16891" y="650875"/>
                  </a:lnTo>
                  <a:lnTo>
                    <a:pt x="16891" y="633984"/>
                  </a:lnTo>
                  <a:lnTo>
                    <a:pt x="650875" y="633984"/>
                  </a:lnTo>
                  <a:lnTo>
                    <a:pt x="650875" y="650875"/>
                  </a:lnTo>
                  <a:lnTo>
                    <a:pt x="633984" y="650875"/>
                  </a:lnTo>
                  <a:lnTo>
                    <a:pt x="633984" y="16891"/>
                  </a:lnTo>
                  <a:lnTo>
                    <a:pt x="650875" y="16891"/>
                  </a:lnTo>
                  <a:lnTo>
                    <a:pt x="650875" y="33909"/>
                  </a:lnTo>
                  <a:lnTo>
                    <a:pt x="16891" y="33909"/>
                  </a:lnTo>
                  <a:close/>
                </a:path>
              </a:pathLst>
            </a:custGeom>
            <a:solidFill>
              <a:srgbClr val="E05B4B"/>
            </a:solidFill>
          </p:spPr>
        </p:sp>
      </p:grpSp>
      <p:grpSp>
        <p:nvGrpSpPr>
          <p:cNvPr name="Group 37" id="37"/>
          <p:cNvGrpSpPr/>
          <p:nvPr/>
        </p:nvGrpSpPr>
        <p:grpSpPr>
          <a:xfrm rot="0">
            <a:off x="927097" y="4590283"/>
            <a:ext cx="475488" cy="475488"/>
            <a:chOff x="0" y="0"/>
            <a:chExt cx="633984" cy="633984"/>
          </a:xfrm>
        </p:grpSpPr>
        <p:sp>
          <p:nvSpPr>
            <p:cNvPr name="Freeform 38" id="38"/>
            <p:cNvSpPr/>
            <p:nvPr/>
          </p:nvSpPr>
          <p:spPr>
            <a:xfrm flipH="false" flipV="false" rot="0">
              <a:off x="0" y="0"/>
              <a:ext cx="633984" cy="633984"/>
            </a:xfrm>
            <a:custGeom>
              <a:avLst/>
              <a:gdLst/>
              <a:ahLst/>
              <a:cxnLst/>
              <a:rect r="r" b="b" t="t" l="l"/>
              <a:pathLst>
                <a:path h="633984" w="633984">
                  <a:moveTo>
                    <a:pt x="0" y="0"/>
                  </a:moveTo>
                  <a:lnTo>
                    <a:pt x="633984" y="0"/>
                  </a:lnTo>
                  <a:lnTo>
                    <a:pt x="633984" y="633984"/>
                  </a:lnTo>
                  <a:lnTo>
                    <a:pt x="0" y="633984"/>
                  </a:lnTo>
                  <a:close/>
                </a:path>
              </a:pathLst>
            </a:custGeom>
            <a:blipFill>
              <a:blip r:embed="rId3">
                <a:alphaModFix amt="0"/>
              </a:blip>
              <a:stretch>
                <a:fillRect l="-78303" t="0" r="-78303" b="0"/>
              </a:stretch>
            </a:blipFill>
          </p:spPr>
        </p:sp>
        <p:sp>
          <p:nvSpPr>
            <p:cNvPr name="TextBox 39" id="39"/>
            <p:cNvSpPr txBox="true"/>
            <p:nvPr/>
          </p:nvSpPr>
          <p:spPr>
            <a:xfrm>
              <a:off x="0" y="-38100"/>
              <a:ext cx="633984" cy="672084"/>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2</a:t>
              </a:r>
            </a:p>
          </p:txBody>
        </p:sp>
      </p:grpSp>
      <p:grpSp>
        <p:nvGrpSpPr>
          <p:cNvPr name="Group 40" id="40"/>
          <p:cNvGrpSpPr/>
          <p:nvPr/>
        </p:nvGrpSpPr>
        <p:grpSpPr>
          <a:xfrm rot="0">
            <a:off x="1661031" y="4544568"/>
            <a:ext cx="8138160" cy="493776"/>
            <a:chOff x="0" y="0"/>
            <a:chExt cx="10850880" cy="658368"/>
          </a:xfrm>
        </p:grpSpPr>
        <p:sp>
          <p:nvSpPr>
            <p:cNvPr name="Freeform 41" id="41"/>
            <p:cNvSpPr/>
            <p:nvPr/>
          </p:nvSpPr>
          <p:spPr>
            <a:xfrm flipH="false" flipV="false" rot="0">
              <a:off x="0" y="0"/>
              <a:ext cx="10850880" cy="658368"/>
            </a:xfrm>
            <a:custGeom>
              <a:avLst/>
              <a:gdLst/>
              <a:ahLst/>
              <a:cxnLst/>
              <a:rect r="r" b="b" t="t" l="l"/>
              <a:pathLst>
                <a:path h="658368" w="10850880">
                  <a:moveTo>
                    <a:pt x="0" y="0"/>
                  </a:moveTo>
                  <a:lnTo>
                    <a:pt x="10850880" y="0"/>
                  </a:lnTo>
                  <a:lnTo>
                    <a:pt x="10850880" y="658368"/>
                  </a:lnTo>
                  <a:lnTo>
                    <a:pt x="0" y="658368"/>
                  </a:lnTo>
                  <a:close/>
                </a:path>
              </a:pathLst>
            </a:custGeom>
            <a:blipFill>
              <a:blip r:embed="rId3">
                <a:alphaModFix amt="0"/>
              </a:blip>
              <a:stretch>
                <a:fillRect l="0" t="-271142" r="0" b="-271142"/>
              </a:stretch>
            </a:blipFill>
          </p:spPr>
        </p:sp>
        <p:sp>
          <p:nvSpPr>
            <p:cNvPr name="TextBox 42" id="42"/>
            <p:cNvSpPr txBox="true"/>
            <p:nvPr/>
          </p:nvSpPr>
          <p:spPr>
            <a:xfrm>
              <a:off x="0" y="-47625"/>
              <a:ext cx="10850880" cy="705993"/>
            </a:xfrm>
            <a:prstGeom prst="rect">
              <a:avLst/>
            </a:prstGeom>
          </p:spPr>
          <p:txBody>
            <a:bodyPr anchor="ctr" rtlCol="false" tIns="0" lIns="0" bIns="0" rIns="0"/>
            <a:lstStyle/>
            <a:p>
              <a:pPr algn="l">
                <a:lnSpc>
                  <a:spcPts val="2520"/>
                </a:lnSpc>
              </a:pPr>
              <a:r>
                <a:rPr lang="en-US" sz="2100" b="true">
                  <a:solidFill>
                    <a:srgbClr val="1E293B"/>
                  </a:solidFill>
                  <a:latin typeface="Calibri (MS) Bold"/>
                  <a:ea typeface="Calibri (MS) Bold"/>
                  <a:cs typeface="Calibri (MS) Bold"/>
                  <a:sym typeface="Calibri (MS) Bold"/>
                </a:rPr>
                <a:t>2. Global feature fusion via MLP</a:t>
              </a:r>
            </a:p>
          </p:txBody>
        </p:sp>
      </p:grpSp>
      <p:grpSp>
        <p:nvGrpSpPr>
          <p:cNvPr name="Group 43" id="43"/>
          <p:cNvGrpSpPr/>
          <p:nvPr/>
        </p:nvGrpSpPr>
        <p:grpSpPr>
          <a:xfrm rot="0">
            <a:off x="1563629" y="4958582"/>
            <a:ext cx="8138160" cy="1467231"/>
            <a:chOff x="0" y="0"/>
            <a:chExt cx="10850880" cy="1956308"/>
          </a:xfrm>
        </p:grpSpPr>
        <p:sp>
          <p:nvSpPr>
            <p:cNvPr name="Freeform 44" id="44"/>
            <p:cNvSpPr/>
            <p:nvPr/>
          </p:nvSpPr>
          <p:spPr>
            <a:xfrm flipH="false" flipV="false" rot="0">
              <a:off x="0" y="0"/>
              <a:ext cx="10850880" cy="1956308"/>
            </a:xfrm>
            <a:custGeom>
              <a:avLst/>
              <a:gdLst/>
              <a:ahLst/>
              <a:cxnLst/>
              <a:rect r="r" b="b" t="t" l="l"/>
              <a:pathLst>
                <a:path h="1956308" w="10850880">
                  <a:moveTo>
                    <a:pt x="0" y="0"/>
                  </a:moveTo>
                  <a:lnTo>
                    <a:pt x="10850880" y="0"/>
                  </a:lnTo>
                  <a:lnTo>
                    <a:pt x="10850880" y="1956308"/>
                  </a:lnTo>
                  <a:lnTo>
                    <a:pt x="0" y="1956308"/>
                  </a:lnTo>
                  <a:close/>
                </a:path>
              </a:pathLst>
            </a:custGeom>
            <a:blipFill>
              <a:blip r:embed="rId3">
                <a:alphaModFix amt="0"/>
              </a:blip>
              <a:stretch>
                <a:fillRect l="0" t="-73175" r="0" b="-42975"/>
              </a:stretch>
            </a:blipFill>
          </p:spPr>
        </p:sp>
        <p:sp>
          <p:nvSpPr>
            <p:cNvPr name="TextBox 45" id="45"/>
            <p:cNvSpPr txBox="true"/>
            <p:nvPr/>
          </p:nvSpPr>
          <p:spPr>
            <a:xfrm>
              <a:off x="0" y="-38100"/>
              <a:ext cx="10850880" cy="1994408"/>
            </a:xfrm>
            <a:prstGeom prst="rect">
              <a:avLst/>
            </a:prstGeom>
          </p:spPr>
          <p:txBody>
            <a:bodyPr anchor="ctr" rtlCol="false" tIns="0" lIns="0" bIns="0" rIns="0"/>
            <a:lstStyle/>
            <a:p>
              <a:pPr algn="l">
                <a:lnSpc>
                  <a:spcPts val="2160"/>
                </a:lnSpc>
              </a:pPr>
              <a:r>
                <a:rPr lang="en-US" sz="1800">
                  <a:solidFill>
                    <a:srgbClr val="94A3B8"/>
                  </a:solidFill>
                  <a:latin typeface="Calibri (MS)"/>
                  <a:ea typeface="Calibri (MS)"/>
                  <a:cs typeface="Calibri (MS)"/>
                  <a:sym typeface="Calibri (MS)"/>
                </a:rPr>
                <a:t>V_global (the scene vector from AMFF) is combined with the embedding sₜ₋₁ of the previously generated word using a Multi-Layer Perceptron (MLP):</a:t>
              </a:r>
            </a:p>
            <a:p>
              <a:pPr algn="l">
                <a:lnSpc>
                  <a:spcPts val="2160"/>
                </a:lnSpc>
              </a:pPr>
              <a:r>
                <a:rPr lang="en-US" sz="1800">
                  <a:solidFill>
                    <a:srgbClr val="94A3B8"/>
                  </a:solidFill>
                  <a:latin typeface="Calibri (MS)"/>
                  <a:ea typeface="Calibri (MS)"/>
                  <a:cs typeface="Calibri (MS)"/>
                  <a:sym typeface="Calibri (MS)"/>
                </a:rPr>
                <a:t>  M(V_global, sₜ₋₁)</a:t>
              </a:r>
            </a:p>
            <a:p>
              <a:pPr algn="l">
                <a:lnSpc>
                  <a:spcPts val="2160"/>
                </a:lnSpc>
              </a:pPr>
              <a:r>
                <a:rPr lang="en-US" sz="1800">
                  <a:solidFill>
                    <a:srgbClr val="94A3B8"/>
                  </a:solidFill>
                  <a:latin typeface="Calibri (MS)"/>
                  <a:ea typeface="Calibri (MS)"/>
                  <a:cs typeface="Calibri (MS)"/>
                  <a:sym typeface="Calibri (MS)"/>
                </a:rPr>
                <a:t>MLP aligns image and text features into a shared semantic space. This prevents the 'scene misalignment' problem where the model ignores the overall context.</a:t>
              </a:r>
            </a:p>
          </p:txBody>
        </p:sp>
      </p:grpSp>
      <p:grpSp>
        <p:nvGrpSpPr>
          <p:cNvPr name="Group 46" id="46"/>
          <p:cNvGrpSpPr/>
          <p:nvPr/>
        </p:nvGrpSpPr>
        <p:grpSpPr>
          <a:xfrm rot="0">
            <a:off x="914400" y="6309360"/>
            <a:ext cx="500891" cy="500891"/>
            <a:chOff x="0" y="0"/>
            <a:chExt cx="667855" cy="667855"/>
          </a:xfrm>
        </p:grpSpPr>
        <p:sp>
          <p:nvSpPr>
            <p:cNvPr name="Freeform 47" id="47"/>
            <p:cNvSpPr/>
            <p:nvPr/>
          </p:nvSpPr>
          <p:spPr>
            <a:xfrm flipH="false" flipV="false" rot="0">
              <a:off x="16891" y="16891"/>
              <a:ext cx="633984" cy="633984"/>
            </a:xfrm>
            <a:custGeom>
              <a:avLst/>
              <a:gdLst/>
              <a:ahLst/>
              <a:cxnLst/>
              <a:rect r="r" b="b" t="t" l="l"/>
              <a:pathLst>
                <a:path h="633984" w="633984">
                  <a:moveTo>
                    <a:pt x="0" y="0"/>
                  </a:moveTo>
                  <a:lnTo>
                    <a:pt x="633984" y="0"/>
                  </a:lnTo>
                  <a:lnTo>
                    <a:pt x="633984" y="633984"/>
                  </a:lnTo>
                  <a:lnTo>
                    <a:pt x="0" y="633984"/>
                  </a:lnTo>
                  <a:close/>
                </a:path>
              </a:pathLst>
            </a:custGeom>
            <a:solidFill>
              <a:srgbClr val="E05B4B"/>
            </a:solidFill>
          </p:spPr>
        </p:sp>
        <p:sp>
          <p:nvSpPr>
            <p:cNvPr name="Freeform 48" id="48"/>
            <p:cNvSpPr/>
            <p:nvPr/>
          </p:nvSpPr>
          <p:spPr>
            <a:xfrm flipH="false" flipV="false" rot="0">
              <a:off x="0" y="0"/>
              <a:ext cx="667766" cy="667768"/>
            </a:xfrm>
            <a:custGeom>
              <a:avLst/>
              <a:gdLst/>
              <a:ahLst/>
              <a:cxnLst/>
              <a:rect r="r" b="b" t="t" l="l"/>
              <a:pathLst>
                <a:path h="667768" w="667766">
                  <a:moveTo>
                    <a:pt x="16891" y="0"/>
                  </a:moveTo>
                  <a:lnTo>
                    <a:pt x="650875" y="0"/>
                  </a:lnTo>
                  <a:cubicBezTo>
                    <a:pt x="660273" y="0"/>
                    <a:pt x="667766" y="7620"/>
                    <a:pt x="667766" y="16891"/>
                  </a:cubicBezTo>
                  <a:lnTo>
                    <a:pt x="667766" y="650875"/>
                  </a:lnTo>
                  <a:cubicBezTo>
                    <a:pt x="667766" y="660273"/>
                    <a:pt x="660146" y="667766"/>
                    <a:pt x="650875" y="667766"/>
                  </a:cubicBezTo>
                  <a:lnTo>
                    <a:pt x="16891" y="667766"/>
                  </a:lnTo>
                  <a:cubicBezTo>
                    <a:pt x="7620" y="667893"/>
                    <a:pt x="0" y="660273"/>
                    <a:pt x="0" y="650875"/>
                  </a:cubicBezTo>
                  <a:lnTo>
                    <a:pt x="0" y="16891"/>
                  </a:lnTo>
                  <a:cubicBezTo>
                    <a:pt x="0" y="7620"/>
                    <a:pt x="7620" y="0"/>
                    <a:pt x="16891" y="0"/>
                  </a:cubicBezTo>
                  <a:moveTo>
                    <a:pt x="16891" y="33909"/>
                  </a:moveTo>
                  <a:lnTo>
                    <a:pt x="16891" y="16891"/>
                  </a:lnTo>
                  <a:lnTo>
                    <a:pt x="33909" y="16891"/>
                  </a:lnTo>
                  <a:lnTo>
                    <a:pt x="33909" y="650875"/>
                  </a:lnTo>
                  <a:lnTo>
                    <a:pt x="16891" y="650875"/>
                  </a:lnTo>
                  <a:lnTo>
                    <a:pt x="16891" y="633984"/>
                  </a:lnTo>
                  <a:lnTo>
                    <a:pt x="650875" y="633984"/>
                  </a:lnTo>
                  <a:lnTo>
                    <a:pt x="650875" y="650875"/>
                  </a:lnTo>
                  <a:lnTo>
                    <a:pt x="633984" y="650875"/>
                  </a:lnTo>
                  <a:lnTo>
                    <a:pt x="633984" y="16891"/>
                  </a:lnTo>
                  <a:lnTo>
                    <a:pt x="650875" y="16891"/>
                  </a:lnTo>
                  <a:lnTo>
                    <a:pt x="650875" y="33909"/>
                  </a:lnTo>
                  <a:lnTo>
                    <a:pt x="16891" y="33909"/>
                  </a:lnTo>
                  <a:close/>
                </a:path>
              </a:pathLst>
            </a:custGeom>
            <a:solidFill>
              <a:srgbClr val="E05B4B"/>
            </a:solidFill>
          </p:spPr>
        </p:sp>
      </p:grpSp>
      <p:grpSp>
        <p:nvGrpSpPr>
          <p:cNvPr name="Group 49" id="49"/>
          <p:cNvGrpSpPr/>
          <p:nvPr/>
        </p:nvGrpSpPr>
        <p:grpSpPr>
          <a:xfrm rot="0">
            <a:off x="927097" y="6322057"/>
            <a:ext cx="475488" cy="475488"/>
            <a:chOff x="0" y="0"/>
            <a:chExt cx="633984" cy="633984"/>
          </a:xfrm>
        </p:grpSpPr>
        <p:sp>
          <p:nvSpPr>
            <p:cNvPr name="Freeform 50" id="50"/>
            <p:cNvSpPr/>
            <p:nvPr/>
          </p:nvSpPr>
          <p:spPr>
            <a:xfrm flipH="false" flipV="false" rot="0">
              <a:off x="0" y="0"/>
              <a:ext cx="633984" cy="633984"/>
            </a:xfrm>
            <a:custGeom>
              <a:avLst/>
              <a:gdLst/>
              <a:ahLst/>
              <a:cxnLst/>
              <a:rect r="r" b="b" t="t" l="l"/>
              <a:pathLst>
                <a:path h="633984" w="633984">
                  <a:moveTo>
                    <a:pt x="0" y="0"/>
                  </a:moveTo>
                  <a:lnTo>
                    <a:pt x="633984" y="0"/>
                  </a:lnTo>
                  <a:lnTo>
                    <a:pt x="633984" y="633984"/>
                  </a:lnTo>
                  <a:lnTo>
                    <a:pt x="0" y="633984"/>
                  </a:lnTo>
                  <a:close/>
                </a:path>
              </a:pathLst>
            </a:custGeom>
            <a:blipFill>
              <a:blip r:embed="rId3">
                <a:alphaModFix amt="0"/>
              </a:blip>
              <a:stretch>
                <a:fillRect l="-78303" t="0" r="-78303" b="0"/>
              </a:stretch>
            </a:blipFill>
          </p:spPr>
        </p:sp>
        <p:sp>
          <p:nvSpPr>
            <p:cNvPr name="TextBox 51" id="51"/>
            <p:cNvSpPr txBox="true"/>
            <p:nvPr/>
          </p:nvSpPr>
          <p:spPr>
            <a:xfrm>
              <a:off x="0" y="-38100"/>
              <a:ext cx="633984" cy="672084"/>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3</a:t>
              </a:r>
            </a:p>
          </p:txBody>
        </p:sp>
      </p:grpSp>
      <p:grpSp>
        <p:nvGrpSpPr>
          <p:cNvPr name="Group 52" id="52"/>
          <p:cNvGrpSpPr/>
          <p:nvPr/>
        </p:nvGrpSpPr>
        <p:grpSpPr>
          <a:xfrm rot="0">
            <a:off x="1661031" y="6333744"/>
            <a:ext cx="8138160" cy="493776"/>
            <a:chOff x="0" y="0"/>
            <a:chExt cx="10850880" cy="658368"/>
          </a:xfrm>
        </p:grpSpPr>
        <p:sp>
          <p:nvSpPr>
            <p:cNvPr name="Freeform 53" id="53"/>
            <p:cNvSpPr/>
            <p:nvPr/>
          </p:nvSpPr>
          <p:spPr>
            <a:xfrm flipH="false" flipV="false" rot="0">
              <a:off x="0" y="0"/>
              <a:ext cx="10850880" cy="658368"/>
            </a:xfrm>
            <a:custGeom>
              <a:avLst/>
              <a:gdLst/>
              <a:ahLst/>
              <a:cxnLst/>
              <a:rect r="r" b="b" t="t" l="l"/>
              <a:pathLst>
                <a:path h="658368" w="10850880">
                  <a:moveTo>
                    <a:pt x="0" y="0"/>
                  </a:moveTo>
                  <a:lnTo>
                    <a:pt x="10850880" y="0"/>
                  </a:lnTo>
                  <a:lnTo>
                    <a:pt x="10850880" y="658368"/>
                  </a:lnTo>
                  <a:lnTo>
                    <a:pt x="0" y="658368"/>
                  </a:lnTo>
                  <a:close/>
                </a:path>
              </a:pathLst>
            </a:custGeom>
            <a:blipFill>
              <a:blip r:embed="rId3">
                <a:alphaModFix amt="0"/>
              </a:blip>
              <a:stretch>
                <a:fillRect l="0" t="-271142" r="0" b="-271142"/>
              </a:stretch>
            </a:blipFill>
          </p:spPr>
        </p:sp>
        <p:sp>
          <p:nvSpPr>
            <p:cNvPr name="TextBox 54" id="54"/>
            <p:cNvSpPr txBox="true"/>
            <p:nvPr/>
          </p:nvSpPr>
          <p:spPr>
            <a:xfrm>
              <a:off x="0" y="-47625"/>
              <a:ext cx="10850880" cy="705993"/>
            </a:xfrm>
            <a:prstGeom prst="rect">
              <a:avLst/>
            </a:prstGeom>
          </p:spPr>
          <p:txBody>
            <a:bodyPr anchor="ctr" rtlCol="false" tIns="0" lIns="0" bIns="0" rIns="0"/>
            <a:lstStyle/>
            <a:p>
              <a:pPr algn="l">
                <a:lnSpc>
                  <a:spcPts val="2520"/>
                </a:lnSpc>
              </a:pPr>
              <a:r>
                <a:rPr lang="en-US" sz="2100" b="true">
                  <a:solidFill>
                    <a:srgbClr val="1E293B"/>
                  </a:solidFill>
                  <a:latin typeface="Calibri (MS) Bold"/>
                  <a:ea typeface="Calibri (MS) Bold"/>
                  <a:cs typeface="Calibri (MS) Bold"/>
                  <a:sym typeface="Calibri (MS) Bold"/>
                </a:rPr>
                <a:t>3. LSTM recurrence</a:t>
              </a:r>
            </a:p>
          </p:txBody>
        </p:sp>
      </p:grpSp>
      <p:grpSp>
        <p:nvGrpSpPr>
          <p:cNvPr name="Group 55" id="55"/>
          <p:cNvGrpSpPr/>
          <p:nvPr/>
        </p:nvGrpSpPr>
        <p:grpSpPr>
          <a:xfrm rot="0">
            <a:off x="1661031" y="6764460"/>
            <a:ext cx="8138160" cy="1467231"/>
            <a:chOff x="0" y="0"/>
            <a:chExt cx="10850880" cy="1956308"/>
          </a:xfrm>
        </p:grpSpPr>
        <p:sp>
          <p:nvSpPr>
            <p:cNvPr name="Freeform 56" id="56"/>
            <p:cNvSpPr/>
            <p:nvPr/>
          </p:nvSpPr>
          <p:spPr>
            <a:xfrm flipH="false" flipV="false" rot="0">
              <a:off x="0" y="0"/>
              <a:ext cx="10850880" cy="1956308"/>
            </a:xfrm>
            <a:custGeom>
              <a:avLst/>
              <a:gdLst/>
              <a:ahLst/>
              <a:cxnLst/>
              <a:rect r="r" b="b" t="t" l="l"/>
              <a:pathLst>
                <a:path h="1956308" w="10850880">
                  <a:moveTo>
                    <a:pt x="0" y="0"/>
                  </a:moveTo>
                  <a:lnTo>
                    <a:pt x="10850880" y="0"/>
                  </a:lnTo>
                  <a:lnTo>
                    <a:pt x="10850880" y="1956308"/>
                  </a:lnTo>
                  <a:lnTo>
                    <a:pt x="0" y="1956308"/>
                  </a:lnTo>
                  <a:close/>
                </a:path>
              </a:pathLst>
            </a:custGeom>
            <a:blipFill>
              <a:blip r:embed="rId3">
                <a:alphaModFix amt="0"/>
              </a:blip>
              <a:stretch>
                <a:fillRect l="0" t="-73175" r="0" b="-42975"/>
              </a:stretch>
            </a:blipFill>
          </p:spPr>
        </p:sp>
        <p:sp>
          <p:nvSpPr>
            <p:cNvPr name="TextBox 57" id="57"/>
            <p:cNvSpPr txBox="true"/>
            <p:nvPr/>
          </p:nvSpPr>
          <p:spPr>
            <a:xfrm>
              <a:off x="0" y="-38100"/>
              <a:ext cx="10850880" cy="1994408"/>
            </a:xfrm>
            <a:prstGeom prst="rect">
              <a:avLst/>
            </a:prstGeom>
          </p:spPr>
          <p:txBody>
            <a:bodyPr anchor="ctr" rtlCol="false" tIns="0" lIns="0" bIns="0" rIns="0"/>
            <a:lstStyle/>
            <a:p>
              <a:pPr algn="l">
                <a:lnSpc>
                  <a:spcPts val="2160"/>
                </a:lnSpc>
              </a:pPr>
              <a:r>
                <a:rPr lang="en-US" sz="1800">
                  <a:solidFill>
                    <a:srgbClr val="94A3B8"/>
                  </a:solidFill>
                  <a:latin typeface="Calibri (MS)"/>
                  <a:ea typeface="Calibri (MS)"/>
                  <a:cs typeface="Calibri (MS)"/>
                  <a:sym typeface="Calibri (MS)"/>
                </a:rPr>
                <a:t>The LSTM input at each step:</a:t>
              </a:r>
            </a:p>
            <a:p>
              <a:pPr algn="l">
                <a:lnSpc>
                  <a:spcPts val="2160"/>
                </a:lnSpc>
              </a:pPr>
              <a:r>
                <a:rPr lang="en-US" sz="1800">
                  <a:solidFill>
                    <a:srgbClr val="94A3B8"/>
                  </a:solidFill>
                  <a:latin typeface="Calibri (MS)"/>
                  <a:ea typeface="Calibri (MS)"/>
                  <a:cs typeface="Calibri (MS)"/>
                  <a:sym typeface="Calibri (MS)"/>
                </a:rPr>
                <a:t>  xₜ = concat[vₜ, M(V_global, sₜ₋₁)]</a:t>
              </a:r>
            </a:p>
            <a:p>
              <a:pPr algn="l">
                <a:lnSpc>
                  <a:spcPts val="2160"/>
                </a:lnSpc>
              </a:pPr>
              <a:r>
                <a:rPr lang="en-US" sz="1800">
                  <a:solidFill>
                    <a:srgbClr val="94A3B8"/>
                  </a:solidFill>
                  <a:latin typeface="Calibri (MS)"/>
                  <a:ea typeface="Calibri (MS)"/>
                  <a:cs typeface="Calibri (MS)"/>
                  <a:sym typeface="Calibri (MS)"/>
                </a:rPr>
                <a:t>Standard LSTM gates: input (iₜ), forget (fₜ), output (oₜ), cell (cₜ):</a:t>
              </a:r>
            </a:p>
            <a:p>
              <a:pPr algn="l">
                <a:lnSpc>
                  <a:spcPts val="2160"/>
                </a:lnSpc>
              </a:pPr>
              <a:r>
                <a:rPr lang="en-US" sz="1800">
                  <a:solidFill>
                    <a:srgbClr val="94A3B8"/>
                  </a:solidFill>
                  <a:latin typeface="Calibri (MS)"/>
                  <a:ea typeface="Calibri (MS)"/>
                  <a:cs typeface="Calibri (MS)"/>
                  <a:sym typeface="Calibri (MS)"/>
                </a:rPr>
                <a:t>  cₜ = fₜ ⊙ cₜ₋₁ + iₜ ⊙ tanh(Wc·[xₜ, hₜ₋₁])</a:t>
              </a:r>
            </a:p>
            <a:p>
              <a:pPr algn="l">
                <a:lnSpc>
                  <a:spcPts val="2160"/>
                </a:lnSpc>
              </a:pPr>
              <a:r>
                <a:rPr lang="en-US" sz="1800">
                  <a:solidFill>
                    <a:srgbClr val="94A3B8"/>
                  </a:solidFill>
                  <a:latin typeface="Calibri (MS)"/>
                  <a:ea typeface="Calibri (MS)"/>
                  <a:cs typeface="Calibri (MS)"/>
                  <a:sym typeface="Calibri (MS)"/>
                </a:rPr>
                <a:t>  hₜ = oₜ ⊙ tanh(cₜ)  → next word embedding</a:t>
              </a:r>
            </a:p>
          </p:txBody>
        </p:sp>
      </p:grpSp>
      <p:grpSp>
        <p:nvGrpSpPr>
          <p:cNvPr name="Group 58" id="58"/>
          <p:cNvGrpSpPr/>
          <p:nvPr/>
        </p:nvGrpSpPr>
        <p:grpSpPr>
          <a:xfrm rot="0">
            <a:off x="1020951" y="8216132"/>
            <a:ext cx="500891" cy="500891"/>
            <a:chOff x="0" y="0"/>
            <a:chExt cx="667855" cy="667855"/>
          </a:xfrm>
        </p:grpSpPr>
        <p:sp>
          <p:nvSpPr>
            <p:cNvPr name="Freeform 59" id="59"/>
            <p:cNvSpPr/>
            <p:nvPr/>
          </p:nvSpPr>
          <p:spPr>
            <a:xfrm flipH="false" flipV="false" rot="0">
              <a:off x="16891" y="16891"/>
              <a:ext cx="633984" cy="633984"/>
            </a:xfrm>
            <a:custGeom>
              <a:avLst/>
              <a:gdLst/>
              <a:ahLst/>
              <a:cxnLst/>
              <a:rect r="r" b="b" t="t" l="l"/>
              <a:pathLst>
                <a:path h="633984" w="633984">
                  <a:moveTo>
                    <a:pt x="0" y="0"/>
                  </a:moveTo>
                  <a:lnTo>
                    <a:pt x="633984" y="0"/>
                  </a:lnTo>
                  <a:lnTo>
                    <a:pt x="633984" y="633984"/>
                  </a:lnTo>
                  <a:lnTo>
                    <a:pt x="0" y="633984"/>
                  </a:lnTo>
                  <a:close/>
                </a:path>
              </a:pathLst>
            </a:custGeom>
            <a:solidFill>
              <a:srgbClr val="E05B4B"/>
            </a:solidFill>
          </p:spPr>
        </p:sp>
        <p:sp>
          <p:nvSpPr>
            <p:cNvPr name="Freeform 60" id="60"/>
            <p:cNvSpPr/>
            <p:nvPr/>
          </p:nvSpPr>
          <p:spPr>
            <a:xfrm flipH="false" flipV="false" rot="0">
              <a:off x="0" y="0"/>
              <a:ext cx="667766" cy="667768"/>
            </a:xfrm>
            <a:custGeom>
              <a:avLst/>
              <a:gdLst/>
              <a:ahLst/>
              <a:cxnLst/>
              <a:rect r="r" b="b" t="t" l="l"/>
              <a:pathLst>
                <a:path h="667768" w="667766">
                  <a:moveTo>
                    <a:pt x="16891" y="0"/>
                  </a:moveTo>
                  <a:lnTo>
                    <a:pt x="650875" y="0"/>
                  </a:lnTo>
                  <a:cubicBezTo>
                    <a:pt x="660273" y="0"/>
                    <a:pt x="667766" y="7620"/>
                    <a:pt x="667766" y="16891"/>
                  </a:cubicBezTo>
                  <a:lnTo>
                    <a:pt x="667766" y="650875"/>
                  </a:lnTo>
                  <a:cubicBezTo>
                    <a:pt x="667766" y="660273"/>
                    <a:pt x="660146" y="667766"/>
                    <a:pt x="650875" y="667766"/>
                  </a:cubicBezTo>
                  <a:lnTo>
                    <a:pt x="16891" y="667766"/>
                  </a:lnTo>
                  <a:cubicBezTo>
                    <a:pt x="7620" y="667893"/>
                    <a:pt x="0" y="660273"/>
                    <a:pt x="0" y="650875"/>
                  </a:cubicBezTo>
                  <a:lnTo>
                    <a:pt x="0" y="16891"/>
                  </a:lnTo>
                  <a:cubicBezTo>
                    <a:pt x="0" y="7620"/>
                    <a:pt x="7620" y="0"/>
                    <a:pt x="16891" y="0"/>
                  </a:cubicBezTo>
                  <a:moveTo>
                    <a:pt x="16891" y="33909"/>
                  </a:moveTo>
                  <a:lnTo>
                    <a:pt x="16891" y="16891"/>
                  </a:lnTo>
                  <a:lnTo>
                    <a:pt x="33909" y="16891"/>
                  </a:lnTo>
                  <a:lnTo>
                    <a:pt x="33909" y="650875"/>
                  </a:lnTo>
                  <a:lnTo>
                    <a:pt x="16891" y="650875"/>
                  </a:lnTo>
                  <a:lnTo>
                    <a:pt x="16891" y="633984"/>
                  </a:lnTo>
                  <a:lnTo>
                    <a:pt x="650875" y="633984"/>
                  </a:lnTo>
                  <a:lnTo>
                    <a:pt x="650875" y="650875"/>
                  </a:lnTo>
                  <a:lnTo>
                    <a:pt x="633984" y="650875"/>
                  </a:lnTo>
                  <a:lnTo>
                    <a:pt x="633984" y="16891"/>
                  </a:lnTo>
                  <a:lnTo>
                    <a:pt x="650875" y="16891"/>
                  </a:lnTo>
                  <a:lnTo>
                    <a:pt x="650875" y="33909"/>
                  </a:lnTo>
                  <a:lnTo>
                    <a:pt x="16891" y="33909"/>
                  </a:lnTo>
                  <a:close/>
                </a:path>
              </a:pathLst>
            </a:custGeom>
            <a:solidFill>
              <a:srgbClr val="E05B4B"/>
            </a:solidFill>
          </p:spPr>
        </p:sp>
      </p:grpSp>
      <p:grpSp>
        <p:nvGrpSpPr>
          <p:cNvPr name="Group 61" id="61"/>
          <p:cNvGrpSpPr/>
          <p:nvPr/>
        </p:nvGrpSpPr>
        <p:grpSpPr>
          <a:xfrm rot="0">
            <a:off x="1033648" y="8228828"/>
            <a:ext cx="475488" cy="475488"/>
            <a:chOff x="0" y="0"/>
            <a:chExt cx="633984" cy="633984"/>
          </a:xfrm>
        </p:grpSpPr>
        <p:sp>
          <p:nvSpPr>
            <p:cNvPr name="Freeform 62" id="62"/>
            <p:cNvSpPr/>
            <p:nvPr/>
          </p:nvSpPr>
          <p:spPr>
            <a:xfrm flipH="false" flipV="false" rot="0">
              <a:off x="0" y="0"/>
              <a:ext cx="633984" cy="633984"/>
            </a:xfrm>
            <a:custGeom>
              <a:avLst/>
              <a:gdLst/>
              <a:ahLst/>
              <a:cxnLst/>
              <a:rect r="r" b="b" t="t" l="l"/>
              <a:pathLst>
                <a:path h="633984" w="633984">
                  <a:moveTo>
                    <a:pt x="0" y="0"/>
                  </a:moveTo>
                  <a:lnTo>
                    <a:pt x="633984" y="0"/>
                  </a:lnTo>
                  <a:lnTo>
                    <a:pt x="633984" y="633984"/>
                  </a:lnTo>
                  <a:lnTo>
                    <a:pt x="0" y="633984"/>
                  </a:lnTo>
                  <a:close/>
                </a:path>
              </a:pathLst>
            </a:custGeom>
            <a:blipFill>
              <a:blip r:embed="rId3">
                <a:alphaModFix amt="0"/>
              </a:blip>
              <a:stretch>
                <a:fillRect l="-78303" t="0" r="-78303" b="0"/>
              </a:stretch>
            </a:blipFill>
          </p:spPr>
        </p:sp>
        <p:sp>
          <p:nvSpPr>
            <p:cNvPr name="TextBox 63" id="63"/>
            <p:cNvSpPr txBox="true"/>
            <p:nvPr/>
          </p:nvSpPr>
          <p:spPr>
            <a:xfrm>
              <a:off x="0" y="-38100"/>
              <a:ext cx="633984" cy="672084"/>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4</a:t>
              </a:r>
            </a:p>
          </p:txBody>
        </p:sp>
      </p:grpSp>
      <p:grpSp>
        <p:nvGrpSpPr>
          <p:cNvPr name="Group 64" id="64"/>
          <p:cNvGrpSpPr/>
          <p:nvPr/>
        </p:nvGrpSpPr>
        <p:grpSpPr>
          <a:xfrm rot="0">
            <a:off x="1661031" y="8191757"/>
            <a:ext cx="8138160" cy="493776"/>
            <a:chOff x="0" y="0"/>
            <a:chExt cx="10850880" cy="658368"/>
          </a:xfrm>
        </p:grpSpPr>
        <p:sp>
          <p:nvSpPr>
            <p:cNvPr name="Freeform 65" id="65"/>
            <p:cNvSpPr/>
            <p:nvPr/>
          </p:nvSpPr>
          <p:spPr>
            <a:xfrm flipH="false" flipV="false" rot="0">
              <a:off x="0" y="0"/>
              <a:ext cx="10850880" cy="658368"/>
            </a:xfrm>
            <a:custGeom>
              <a:avLst/>
              <a:gdLst/>
              <a:ahLst/>
              <a:cxnLst/>
              <a:rect r="r" b="b" t="t" l="l"/>
              <a:pathLst>
                <a:path h="658368" w="10850880">
                  <a:moveTo>
                    <a:pt x="0" y="0"/>
                  </a:moveTo>
                  <a:lnTo>
                    <a:pt x="10850880" y="0"/>
                  </a:lnTo>
                  <a:lnTo>
                    <a:pt x="10850880" y="658368"/>
                  </a:lnTo>
                  <a:lnTo>
                    <a:pt x="0" y="658368"/>
                  </a:lnTo>
                  <a:close/>
                </a:path>
              </a:pathLst>
            </a:custGeom>
            <a:blipFill>
              <a:blip r:embed="rId3">
                <a:alphaModFix amt="0"/>
              </a:blip>
              <a:stretch>
                <a:fillRect l="0" t="-271142" r="0" b="-271142"/>
              </a:stretch>
            </a:blipFill>
          </p:spPr>
        </p:sp>
        <p:sp>
          <p:nvSpPr>
            <p:cNvPr name="TextBox 66" id="66"/>
            <p:cNvSpPr txBox="true"/>
            <p:nvPr/>
          </p:nvSpPr>
          <p:spPr>
            <a:xfrm>
              <a:off x="0" y="-47625"/>
              <a:ext cx="10850880" cy="705993"/>
            </a:xfrm>
            <a:prstGeom prst="rect">
              <a:avLst/>
            </a:prstGeom>
          </p:spPr>
          <p:txBody>
            <a:bodyPr anchor="ctr" rtlCol="false" tIns="0" lIns="0" bIns="0" rIns="0"/>
            <a:lstStyle/>
            <a:p>
              <a:pPr algn="l">
                <a:lnSpc>
                  <a:spcPts val="2520"/>
                </a:lnSpc>
              </a:pPr>
              <a:r>
                <a:rPr lang="en-US" sz="2100" b="true">
                  <a:solidFill>
                    <a:srgbClr val="1E293B"/>
                  </a:solidFill>
                  <a:latin typeface="Calibri (MS) Bold"/>
                  <a:ea typeface="Calibri (MS) Bold"/>
                  <a:cs typeface="Calibri (MS) Bold"/>
                  <a:sym typeface="Calibri (MS) Bold"/>
                </a:rPr>
                <a:t>4. Continuous output (no softmax)</a:t>
              </a:r>
            </a:p>
          </p:txBody>
        </p:sp>
      </p:grpSp>
      <p:grpSp>
        <p:nvGrpSpPr>
          <p:cNvPr name="Group 67" id="67"/>
          <p:cNvGrpSpPr/>
          <p:nvPr/>
        </p:nvGrpSpPr>
        <p:grpSpPr>
          <a:xfrm rot="0">
            <a:off x="1682496" y="8717023"/>
            <a:ext cx="8138160" cy="1201426"/>
            <a:chOff x="0" y="0"/>
            <a:chExt cx="10850880" cy="1601902"/>
          </a:xfrm>
        </p:grpSpPr>
        <p:sp>
          <p:nvSpPr>
            <p:cNvPr name="Freeform 68" id="68"/>
            <p:cNvSpPr/>
            <p:nvPr/>
          </p:nvSpPr>
          <p:spPr>
            <a:xfrm flipH="false" flipV="false" rot="0">
              <a:off x="0" y="0"/>
              <a:ext cx="10850880" cy="1601902"/>
            </a:xfrm>
            <a:custGeom>
              <a:avLst/>
              <a:gdLst/>
              <a:ahLst/>
              <a:cxnLst/>
              <a:rect r="r" b="b" t="t" l="l"/>
              <a:pathLst>
                <a:path h="1601902" w="10850880">
                  <a:moveTo>
                    <a:pt x="0" y="0"/>
                  </a:moveTo>
                  <a:lnTo>
                    <a:pt x="10850880" y="0"/>
                  </a:lnTo>
                  <a:lnTo>
                    <a:pt x="10850880" y="1601902"/>
                  </a:lnTo>
                  <a:lnTo>
                    <a:pt x="0" y="1601902"/>
                  </a:lnTo>
                  <a:close/>
                </a:path>
              </a:pathLst>
            </a:custGeom>
            <a:blipFill>
              <a:blip r:embed="rId3">
                <a:alphaModFix amt="0"/>
              </a:blip>
              <a:stretch>
                <a:fillRect l="0" t="-89365" r="0" b="-74608"/>
              </a:stretch>
            </a:blipFill>
          </p:spPr>
        </p:sp>
        <p:sp>
          <p:nvSpPr>
            <p:cNvPr name="TextBox 69" id="69"/>
            <p:cNvSpPr txBox="true"/>
            <p:nvPr/>
          </p:nvSpPr>
          <p:spPr>
            <a:xfrm>
              <a:off x="0" y="-38100"/>
              <a:ext cx="10850880" cy="1640002"/>
            </a:xfrm>
            <a:prstGeom prst="rect">
              <a:avLst/>
            </a:prstGeom>
          </p:spPr>
          <p:txBody>
            <a:bodyPr anchor="ctr" rtlCol="false" tIns="0" lIns="0" bIns="0" rIns="0"/>
            <a:lstStyle/>
            <a:p>
              <a:pPr algn="l">
                <a:lnSpc>
                  <a:spcPts val="2160"/>
                </a:lnSpc>
              </a:pPr>
              <a:r>
                <a:rPr lang="en-US" sz="1800">
                  <a:solidFill>
                    <a:srgbClr val="94A3B8"/>
                  </a:solidFill>
                  <a:latin typeface="Calibri (MS)"/>
                  <a:ea typeface="Calibri (MS)"/>
                  <a:cs typeface="Calibri (MS)"/>
                  <a:sym typeface="Calibri (MS)"/>
                </a:rPr>
                <a:t>Instead of predicting a word probability distribution (softmax), the LSTM outputs a continuous embedding vector. This is matched to GloVe target embeddings using SmoothL1 loss. Continuous output better captures global semantic similarity and avoids treating all wrong words as equally bad.</a:t>
              </a:r>
            </a:p>
          </p:txBody>
        </p:sp>
      </p:grpSp>
      <p:grpSp>
        <p:nvGrpSpPr>
          <p:cNvPr name="Group 70" id="70"/>
          <p:cNvGrpSpPr/>
          <p:nvPr/>
        </p:nvGrpSpPr>
        <p:grpSpPr>
          <a:xfrm rot="0">
            <a:off x="10417807" y="2462527"/>
            <a:ext cx="7145017" cy="3578857"/>
            <a:chOff x="0" y="0"/>
            <a:chExt cx="9526689" cy="4771809"/>
          </a:xfrm>
        </p:grpSpPr>
        <p:sp>
          <p:nvSpPr>
            <p:cNvPr name="Freeform 71" id="71"/>
            <p:cNvSpPr/>
            <p:nvPr/>
          </p:nvSpPr>
          <p:spPr>
            <a:xfrm flipH="false" flipV="false" rot="0">
              <a:off x="8509" y="8509"/>
              <a:ext cx="9509760" cy="4754880"/>
            </a:xfrm>
            <a:custGeom>
              <a:avLst/>
              <a:gdLst/>
              <a:ahLst/>
              <a:cxnLst/>
              <a:rect r="r" b="b" t="t" l="l"/>
              <a:pathLst>
                <a:path h="4754880" w="9509760">
                  <a:moveTo>
                    <a:pt x="0" y="0"/>
                  </a:moveTo>
                  <a:lnTo>
                    <a:pt x="9509760" y="0"/>
                  </a:lnTo>
                  <a:lnTo>
                    <a:pt x="9509760" y="4754880"/>
                  </a:lnTo>
                  <a:lnTo>
                    <a:pt x="0" y="4754880"/>
                  </a:lnTo>
                  <a:close/>
                </a:path>
              </a:pathLst>
            </a:custGeom>
            <a:solidFill>
              <a:srgbClr val="FFFFFF"/>
            </a:solidFill>
          </p:spPr>
        </p:sp>
        <p:sp>
          <p:nvSpPr>
            <p:cNvPr name="Freeform 72" id="72"/>
            <p:cNvSpPr/>
            <p:nvPr/>
          </p:nvSpPr>
          <p:spPr>
            <a:xfrm flipH="false" flipV="false" rot="0">
              <a:off x="0" y="0"/>
              <a:ext cx="9526778" cy="4771898"/>
            </a:xfrm>
            <a:custGeom>
              <a:avLst/>
              <a:gdLst/>
              <a:ahLst/>
              <a:cxnLst/>
              <a:rect r="r" b="b" t="t" l="l"/>
              <a:pathLst>
                <a:path h="4771898" w="9526778">
                  <a:moveTo>
                    <a:pt x="8509" y="0"/>
                  </a:moveTo>
                  <a:lnTo>
                    <a:pt x="9518269" y="0"/>
                  </a:lnTo>
                  <a:cubicBezTo>
                    <a:pt x="9522968" y="0"/>
                    <a:pt x="9526778" y="3810"/>
                    <a:pt x="9526778" y="8509"/>
                  </a:cubicBezTo>
                  <a:lnTo>
                    <a:pt x="9526778" y="4763389"/>
                  </a:lnTo>
                  <a:cubicBezTo>
                    <a:pt x="9526778" y="4768088"/>
                    <a:pt x="9522968" y="4771898"/>
                    <a:pt x="9518269" y="4771898"/>
                  </a:cubicBezTo>
                  <a:lnTo>
                    <a:pt x="8509" y="4771898"/>
                  </a:lnTo>
                  <a:cubicBezTo>
                    <a:pt x="3810" y="4771898"/>
                    <a:pt x="0" y="4768088"/>
                    <a:pt x="0" y="4763389"/>
                  </a:cubicBezTo>
                  <a:lnTo>
                    <a:pt x="0" y="8509"/>
                  </a:lnTo>
                  <a:cubicBezTo>
                    <a:pt x="0" y="3810"/>
                    <a:pt x="3810" y="0"/>
                    <a:pt x="8509" y="0"/>
                  </a:cubicBezTo>
                  <a:moveTo>
                    <a:pt x="8509" y="16891"/>
                  </a:moveTo>
                  <a:lnTo>
                    <a:pt x="8509" y="8509"/>
                  </a:lnTo>
                  <a:lnTo>
                    <a:pt x="17018" y="8509"/>
                  </a:lnTo>
                  <a:lnTo>
                    <a:pt x="17018" y="4763389"/>
                  </a:lnTo>
                  <a:lnTo>
                    <a:pt x="8509" y="4763389"/>
                  </a:lnTo>
                  <a:lnTo>
                    <a:pt x="8509" y="4754880"/>
                  </a:lnTo>
                  <a:lnTo>
                    <a:pt x="9518269" y="4754880"/>
                  </a:lnTo>
                  <a:lnTo>
                    <a:pt x="9518269" y="4763389"/>
                  </a:lnTo>
                  <a:lnTo>
                    <a:pt x="9509760" y="4763389"/>
                  </a:lnTo>
                  <a:lnTo>
                    <a:pt x="9509760" y="8509"/>
                  </a:lnTo>
                  <a:lnTo>
                    <a:pt x="9518269" y="8509"/>
                  </a:lnTo>
                  <a:lnTo>
                    <a:pt x="9518269" y="17018"/>
                  </a:lnTo>
                  <a:lnTo>
                    <a:pt x="8509" y="17018"/>
                  </a:lnTo>
                  <a:close/>
                </a:path>
              </a:pathLst>
            </a:custGeom>
            <a:solidFill>
              <a:srgbClr val="E2E8F0"/>
            </a:solidFill>
          </p:spPr>
        </p:sp>
      </p:grpSp>
      <p:grpSp>
        <p:nvGrpSpPr>
          <p:cNvPr name="Group 73" id="73"/>
          <p:cNvGrpSpPr/>
          <p:nvPr/>
        </p:nvGrpSpPr>
        <p:grpSpPr>
          <a:xfrm rot="0">
            <a:off x="10411463" y="2456183"/>
            <a:ext cx="135131" cy="3591563"/>
            <a:chOff x="0" y="0"/>
            <a:chExt cx="180175" cy="4788751"/>
          </a:xfrm>
        </p:grpSpPr>
        <p:sp>
          <p:nvSpPr>
            <p:cNvPr name="Freeform 74" id="74"/>
            <p:cNvSpPr/>
            <p:nvPr/>
          </p:nvSpPr>
          <p:spPr>
            <a:xfrm flipH="false" flipV="false" rot="0">
              <a:off x="16891" y="16891"/>
              <a:ext cx="146304" cy="4754880"/>
            </a:xfrm>
            <a:custGeom>
              <a:avLst/>
              <a:gdLst/>
              <a:ahLst/>
              <a:cxnLst/>
              <a:rect r="r" b="b" t="t" l="l"/>
              <a:pathLst>
                <a:path h="4754880" w="146304">
                  <a:moveTo>
                    <a:pt x="0" y="0"/>
                  </a:moveTo>
                  <a:lnTo>
                    <a:pt x="146304" y="0"/>
                  </a:lnTo>
                  <a:lnTo>
                    <a:pt x="146304" y="4754880"/>
                  </a:lnTo>
                  <a:lnTo>
                    <a:pt x="0" y="4754880"/>
                  </a:lnTo>
                  <a:close/>
                </a:path>
              </a:pathLst>
            </a:custGeom>
            <a:solidFill>
              <a:srgbClr val="6D28D9"/>
            </a:solidFill>
          </p:spPr>
        </p:sp>
        <p:sp>
          <p:nvSpPr>
            <p:cNvPr name="Freeform 75" id="75"/>
            <p:cNvSpPr/>
            <p:nvPr/>
          </p:nvSpPr>
          <p:spPr>
            <a:xfrm flipH="false" flipV="false" rot="0">
              <a:off x="0" y="0"/>
              <a:ext cx="180086" cy="4788662"/>
            </a:xfrm>
            <a:custGeom>
              <a:avLst/>
              <a:gdLst/>
              <a:ahLst/>
              <a:cxnLst/>
              <a:rect r="r" b="b" t="t" l="l"/>
              <a:pathLst>
                <a:path h="4788662" w="180086">
                  <a:moveTo>
                    <a:pt x="16891" y="0"/>
                  </a:moveTo>
                  <a:lnTo>
                    <a:pt x="163195" y="0"/>
                  </a:lnTo>
                  <a:cubicBezTo>
                    <a:pt x="172593" y="0"/>
                    <a:pt x="180086" y="7620"/>
                    <a:pt x="180086" y="16891"/>
                  </a:cubicBezTo>
                  <a:lnTo>
                    <a:pt x="180086" y="4771771"/>
                  </a:lnTo>
                  <a:cubicBezTo>
                    <a:pt x="180086" y="4781169"/>
                    <a:pt x="172466" y="4788662"/>
                    <a:pt x="163195" y="4788662"/>
                  </a:cubicBezTo>
                  <a:lnTo>
                    <a:pt x="16891" y="4788662"/>
                  </a:lnTo>
                  <a:cubicBezTo>
                    <a:pt x="7493" y="4788662"/>
                    <a:pt x="0" y="4781042"/>
                    <a:pt x="0" y="4771771"/>
                  </a:cubicBezTo>
                  <a:lnTo>
                    <a:pt x="0" y="16891"/>
                  </a:lnTo>
                  <a:cubicBezTo>
                    <a:pt x="0" y="7620"/>
                    <a:pt x="7620" y="0"/>
                    <a:pt x="16891" y="0"/>
                  </a:cubicBezTo>
                  <a:moveTo>
                    <a:pt x="16891" y="33909"/>
                  </a:moveTo>
                  <a:lnTo>
                    <a:pt x="16891" y="16891"/>
                  </a:lnTo>
                  <a:lnTo>
                    <a:pt x="33909" y="16891"/>
                  </a:lnTo>
                  <a:lnTo>
                    <a:pt x="33909" y="4771771"/>
                  </a:lnTo>
                  <a:lnTo>
                    <a:pt x="16891" y="4771771"/>
                  </a:lnTo>
                  <a:lnTo>
                    <a:pt x="16891" y="4754880"/>
                  </a:lnTo>
                  <a:lnTo>
                    <a:pt x="163195" y="4754880"/>
                  </a:lnTo>
                  <a:lnTo>
                    <a:pt x="163195" y="4771771"/>
                  </a:lnTo>
                  <a:lnTo>
                    <a:pt x="146304" y="4771771"/>
                  </a:lnTo>
                  <a:lnTo>
                    <a:pt x="146304" y="16891"/>
                  </a:lnTo>
                  <a:lnTo>
                    <a:pt x="163195" y="16891"/>
                  </a:lnTo>
                  <a:lnTo>
                    <a:pt x="163195" y="33909"/>
                  </a:lnTo>
                  <a:lnTo>
                    <a:pt x="16891" y="33909"/>
                  </a:lnTo>
                  <a:close/>
                </a:path>
              </a:pathLst>
            </a:custGeom>
            <a:solidFill>
              <a:srgbClr val="6D28D9"/>
            </a:solidFill>
          </p:spPr>
        </p:sp>
      </p:grpSp>
      <p:grpSp>
        <p:nvGrpSpPr>
          <p:cNvPr name="Group 76" id="76"/>
          <p:cNvGrpSpPr/>
          <p:nvPr/>
        </p:nvGrpSpPr>
        <p:grpSpPr>
          <a:xfrm rot="0">
            <a:off x="10753344" y="2560320"/>
            <a:ext cx="6675120" cy="512064"/>
            <a:chOff x="0" y="0"/>
            <a:chExt cx="8900160" cy="682752"/>
          </a:xfrm>
        </p:grpSpPr>
        <p:sp>
          <p:nvSpPr>
            <p:cNvPr name="Freeform 77" id="77"/>
            <p:cNvSpPr/>
            <p:nvPr/>
          </p:nvSpPr>
          <p:spPr>
            <a:xfrm flipH="false" flipV="false" rot="0">
              <a:off x="0" y="0"/>
              <a:ext cx="8900160" cy="682752"/>
            </a:xfrm>
            <a:custGeom>
              <a:avLst/>
              <a:gdLst/>
              <a:ahLst/>
              <a:cxnLst/>
              <a:rect r="r" b="b" t="t" l="l"/>
              <a:pathLst>
                <a:path h="682752" w="8900160">
                  <a:moveTo>
                    <a:pt x="0" y="0"/>
                  </a:moveTo>
                  <a:lnTo>
                    <a:pt x="8900160" y="0"/>
                  </a:lnTo>
                  <a:lnTo>
                    <a:pt x="8900160" y="682752"/>
                  </a:lnTo>
                  <a:lnTo>
                    <a:pt x="0" y="682752"/>
                  </a:lnTo>
                  <a:close/>
                </a:path>
              </a:pathLst>
            </a:custGeom>
            <a:blipFill>
              <a:blip r:embed="rId3">
                <a:alphaModFix amt="0"/>
              </a:blip>
              <a:stretch>
                <a:fillRect l="0" t="-204001" r="0" b="-204001"/>
              </a:stretch>
            </a:blipFill>
          </p:spPr>
        </p:sp>
        <p:sp>
          <p:nvSpPr>
            <p:cNvPr name="TextBox 78" id="78"/>
            <p:cNvSpPr txBox="true"/>
            <p:nvPr/>
          </p:nvSpPr>
          <p:spPr>
            <a:xfrm>
              <a:off x="0" y="-47625"/>
              <a:ext cx="8900160" cy="730377"/>
            </a:xfrm>
            <a:prstGeom prst="rect">
              <a:avLst/>
            </a:prstGeom>
          </p:spPr>
          <p:txBody>
            <a:bodyPr anchor="ctr" rtlCol="false" tIns="0" lIns="0" bIns="0" rIns="0"/>
            <a:lstStyle/>
            <a:p>
              <a:pPr algn="l">
                <a:lnSpc>
                  <a:spcPts val="2640"/>
                </a:lnSpc>
              </a:pPr>
              <a:r>
                <a:rPr lang="en-US" sz="2200" b="true">
                  <a:solidFill>
                    <a:srgbClr val="6D28D9"/>
                  </a:solidFill>
                  <a:latin typeface="Calibri (MS) Bold"/>
                  <a:ea typeface="Calibri (MS) Bold"/>
                  <a:cs typeface="Calibri (MS) Bold"/>
                  <a:sym typeface="Calibri (MS) Bold"/>
                </a:rPr>
                <a:t>LSTM gate glossary</a:t>
              </a:r>
            </a:p>
          </p:txBody>
        </p:sp>
      </p:grpSp>
      <p:grpSp>
        <p:nvGrpSpPr>
          <p:cNvPr name="Group 79" id="79"/>
          <p:cNvGrpSpPr/>
          <p:nvPr/>
        </p:nvGrpSpPr>
        <p:grpSpPr>
          <a:xfrm rot="0">
            <a:off x="10753344" y="3145536"/>
            <a:ext cx="6675120" cy="493776"/>
            <a:chOff x="0" y="0"/>
            <a:chExt cx="8900160" cy="658368"/>
          </a:xfrm>
        </p:grpSpPr>
        <p:sp>
          <p:nvSpPr>
            <p:cNvPr name="Freeform 80" id="80"/>
            <p:cNvSpPr/>
            <p:nvPr/>
          </p:nvSpPr>
          <p:spPr>
            <a:xfrm flipH="false" flipV="false" rot="0">
              <a:off x="0" y="0"/>
              <a:ext cx="8900160" cy="658368"/>
            </a:xfrm>
            <a:custGeom>
              <a:avLst/>
              <a:gdLst/>
              <a:ahLst/>
              <a:cxnLst/>
              <a:rect r="r" b="b" t="t" l="l"/>
              <a:pathLst>
                <a:path h="658368" w="8900160">
                  <a:moveTo>
                    <a:pt x="0" y="0"/>
                  </a:moveTo>
                  <a:lnTo>
                    <a:pt x="8900160" y="0"/>
                  </a:lnTo>
                  <a:lnTo>
                    <a:pt x="8900160" y="658368"/>
                  </a:lnTo>
                  <a:lnTo>
                    <a:pt x="0" y="658368"/>
                  </a:lnTo>
                  <a:close/>
                </a:path>
              </a:pathLst>
            </a:custGeom>
            <a:blipFill>
              <a:blip r:embed="rId3">
                <a:alphaModFix amt="0"/>
              </a:blip>
              <a:stretch>
                <a:fillRect l="0" t="-213408" r="0" b="-213408"/>
              </a:stretch>
            </a:blipFill>
          </p:spPr>
        </p:sp>
        <p:sp>
          <p:nvSpPr>
            <p:cNvPr name="TextBox 81" id="81"/>
            <p:cNvSpPr txBox="true"/>
            <p:nvPr/>
          </p:nvSpPr>
          <p:spPr>
            <a:xfrm>
              <a:off x="0" y="-38100"/>
              <a:ext cx="8900160" cy="696468"/>
            </a:xfrm>
            <a:prstGeom prst="rect">
              <a:avLst/>
            </a:prstGeom>
          </p:spPr>
          <p:txBody>
            <a:bodyPr anchor="ctr" rtlCol="false" tIns="0" lIns="0" bIns="0" rIns="0"/>
            <a:lstStyle/>
            <a:p>
              <a:pPr algn="l">
                <a:lnSpc>
                  <a:spcPts val="2280"/>
                </a:lnSpc>
              </a:pPr>
              <a:r>
                <a:rPr lang="en-US" sz="1900" b="true">
                  <a:solidFill>
                    <a:srgbClr val="6D28D9"/>
                  </a:solidFill>
                  <a:latin typeface="Calibri (MS) Bold"/>
                  <a:ea typeface="Calibri (MS) Bold"/>
                  <a:cs typeface="Calibri (MS) Bold"/>
                  <a:sym typeface="Calibri (MS) Bold"/>
                </a:rPr>
                <a:t>iₜ (input gate)  </a:t>
              </a:r>
              <a:r>
                <a:rPr lang="en-US" sz="1900">
                  <a:solidFill>
                    <a:srgbClr val="94A3B8"/>
                  </a:solidFill>
                  <a:latin typeface="Calibri (MS)"/>
                  <a:ea typeface="Calibri (MS)"/>
                  <a:cs typeface="Calibri (MS)"/>
                  <a:sym typeface="Calibri (MS)"/>
                </a:rPr>
                <a:t>Which new info to store</a:t>
              </a:r>
            </a:p>
          </p:txBody>
        </p:sp>
      </p:grpSp>
      <p:grpSp>
        <p:nvGrpSpPr>
          <p:cNvPr name="Group 82" id="82"/>
          <p:cNvGrpSpPr/>
          <p:nvPr/>
        </p:nvGrpSpPr>
        <p:grpSpPr>
          <a:xfrm rot="0">
            <a:off x="10753344" y="3694176"/>
            <a:ext cx="6675120" cy="493776"/>
            <a:chOff x="0" y="0"/>
            <a:chExt cx="8900160" cy="658368"/>
          </a:xfrm>
        </p:grpSpPr>
        <p:sp>
          <p:nvSpPr>
            <p:cNvPr name="Freeform 83" id="83"/>
            <p:cNvSpPr/>
            <p:nvPr/>
          </p:nvSpPr>
          <p:spPr>
            <a:xfrm flipH="false" flipV="false" rot="0">
              <a:off x="0" y="0"/>
              <a:ext cx="8900160" cy="658368"/>
            </a:xfrm>
            <a:custGeom>
              <a:avLst/>
              <a:gdLst/>
              <a:ahLst/>
              <a:cxnLst/>
              <a:rect r="r" b="b" t="t" l="l"/>
              <a:pathLst>
                <a:path h="658368" w="8900160">
                  <a:moveTo>
                    <a:pt x="0" y="0"/>
                  </a:moveTo>
                  <a:lnTo>
                    <a:pt x="8900160" y="0"/>
                  </a:lnTo>
                  <a:lnTo>
                    <a:pt x="8900160" y="658368"/>
                  </a:lnTo>
                  <a:lnTo>
                    <a:pt x="0" y="658368"/>
                  </a:lnTo>
                  <a:close/>
                </a:path>
              </a:pathLst>
            </a:custGeom>
            <a:blipFill>
              <a:blip r:embed="rId3">
                <a:alphaModFix amt="0"/>
              </a:blip>
              <a:stretch>
                <a:fillRect l="0" t="-213408" r="0" b="-213408"/>
              </a:stretch>
            </a:blipFill>
          </p:spPr>
        </p:sp>
        <p:sp>
          <p:nvSpPr>
            <p:cNvPr name="TextBox 84" id="84"/>
            <p:cNvSpPr txBox="true"/>
            <p:nvPr/>
          </p:nvSpPr>
          <p:spPr>
            <a:xfrm>
              <a:off x="0" y="-38100"/>
              <a:ext cx="8900160" cy="696468"/>
            </a:xfrm>
            <a:prstGeom prst="rect">
              <a:avLst/>
            </a:prstGeom>
          </p:spPr>
          <p:txBody>
            <a:bodyPr anchor="ctr" rtlCol="false" tIns="0" lIns="0" bIns="0" rIns="0"/>
            <a:lstStyle/>
            <a:p>
              <a:pPr algn="l">
                <a:lnSpc>
                  <a:spcPts val="2280"/>
                </a:lnSpc>
              </a:pPr>
              <a:r>
                <a:rPr lang="en-US" sz="1900" b="true">
                  <a:solidFill>
                    <a:srgbClr val="6D28D9"/>
                  </a:solidFill>
                  <a:latin typeface="Calibri (MS) Bold"/>
                  <a:ea typeface="Calibri (MS) Bold"/>
                  <a:cs typeface="Calibri (MS) Bold"/>
                  <a:sym typeface="Calibri (MS) Bold"/>
                </a:rPr>
                <a:t>fₜ (forget gate)  </a:t>
              </a:r>
              <a:r>
                <a:rPr lang="en-US" sz="1900">
                  <a:solidFill>
                    <a:srgbClr val="94A3B8"/>
                  </a:solidFill>
                  <a:latin typeface="Calibri (MS)"/>
                  <a:ea typeface="Calibri (MS)"/>
                  <a:cs typeface="Calibri (MS)"/>
                  <a:sym typeface="Calibri (MS)"/>
                </a:rPr>
                <a:t>Which old info to erase</a:t>
              </a:r>
            </a:p>
          </p:txBody>
        </p:sp>
      </p:grpSp>
      <p:grpSp>
        <p:nvGrpSpPr>
          <p:cNvPr name="Group 85" id="85"/>
          <p:cNvGrpSpPr/>
          <p:nvPr/>
        </p:nvGrpSpPr>
        <p:grpSpPr>
          <a:xfrm rot="0">
            <a:off x="10753344" y="4242816"/>
            <a:ext cx="6675120" cy="493776"/>
            <a:chOff x="0" y="0"/>
            <a:chExt cx="8900160" cy="658368"/>
          </a:xfrm>
        </p:grpSpPr>
        <p:sp>
          <p:nvSpPr>
            <p:cNvPr name="Freeform 86" id="86"/>
            <p:cNvSpPr/>
            <p:nvPr/>
          </p:nvSpPr>
          <p:spPr>
            <a:xfrm flipH="false" flipV="false" rot="0">
              <a:off x="0" y="0"/>
              <a:ext cx="8900160" cy="658368"/>
            </a:xfrm>
            <a:custGeom>
              <a:avLst/>
              <a:gdLst/>
              <a:ahLst/>
              <a:cxnLst/>
              <a:rect r="r" b="b" t="t" l="l"/>
              <a:pathLst>
                <a:path h="658368" w="8900160">
                  <a:moveTo>
                    <a:pt x="0" y="0"/>
                  </a:moveTo>
                  <a:lnTo>
                    <a:pt x="8900160" y="0"/>
                  </a:lnTo>
                  <a:lnTo>
                    <a:pt x="8900160" y="658368"/>
                  </a:lnTo>
                  <a:lnTo>
                    <a:pt x="0" y="658368"/>
                  </a:lnTo>
                  <a:close/>
                </a:path>
              </a:pathLst>
            </a:custGeom>
            <a:blipFill>
              <a:blip r:embed="rId3">
                <a:alphaModFix amt="0"/>
              </a:blip>
              <a:stretch>
                <a:fillRect l="0" t="-213408" r="0" b="-213408"/>
              </a:stretch>
            </a:blipFill>
          </p:spPr>
        </p:sp>
        <p:sp>
          <p:nvSpPr>
            <p:cNvPr name="TextBox 87" id="87"/>
            <p:cNvSpPr txBox="true"/>
            <p:nvPr/>
          </p:nvSpPr>
          <p:spPr>
            <a:xfrm>
              <a:off x="0" y="-38100"/>
              <a:ext cx="8900160" cy="696468"/>
            </a:xfrm>
            <a:prstGeom prst="rect">
              <a:avLst/>
            </a:prstGeom>
          </p:spPr>
          <p:txBody>
            <a:bodyPr anchor="ctr" rtlCol="false" tIns="0" lIns="0" bIns="0" rIns="0"/>
            <a:lstStyle/>
            <a:p>
              <a:pPr algn="l">
                <a:lnSpc>
                  <a:spcPts val="2280"/>
                </a:lnSpc>
              </a:pPr>
              <a:r>
                <a:rPr lang="en-US" sz="1900" b="true">
                  <a:solidFill>
                    <a:srgbClr val="6D28D9"/>
                  </a:solidFill>
                  <a:latin typeface="Calibri (MS) Bold"/>
                  <a:ea typeface="Calibri (MS) Bold"/>
                  <a:cs typeface="Calibri (MS) Bold"/>
                  <a:sym typeface="Calibri (MS) Bold"/>
                </a:rPr>
                <a:t>oₜ (output gate)  </a:t>
              </a:r>
              <a:r>
                <a:rPr lang="en-US" sz="1900">
                  <a:solidFill>
                    <a:srgbClr val="94A3B8"/>
                  </a:solidFill>
                  <a:latin typeface="Calibri (MS)"/>
                  <a:ea typeface="Calibri (MS)"/>
                  <a:cs typeface="Calibri (MS)"/>
                  <a:sym typeface="Calibri (MS)"/>
                </a:rPr>
                <a:t>What to expose from cell</a:t>
              </a:r>
            </a:p>
          </p:txBody>
        </p:sp>
      </p:grpSp>
      <p:grpSp>
        <p:nvGrpSpPr>
          <p:cNvPr name="Group 88" id="88"/>
          <p:cNvGrpSpPr/>
          <p:nvPr/>
        </p:nvGrpSpPr>
        <p:grpSpPr>
          <a:xfrm rot="0">
            <a:off x="10753344" y="4791456"/>
            <a:ext cx="6675120" cy="493776"/>
            <a:chOff x="0" y="0"/>
            <a:chExt cx="8900160" cy="658368"/>
          </a:xfrm>
        </p:grpSpPr>
        <p:sp>
          <p:nvSpPr>
            <p:cNvPr name="Freeform 89" id="89"/>
            <p:cNvSpPr/>
            <p:nvPr/>
          </p:nvSpPr>
          <p:spPr>
            <a:xfrm flipH="false" flipV="false" rot="0">
              <a:off x="0" y="0"/>
              <a:ext cx="8900160" cy="658368"/>
            </a:xfrm>
            <a:custGeom>
              <a:avLst/>
              <a:gdLst/>
              <a:ahLst/>
              <a:cxnLst/>
              <a:rect r="r" b="b" t="t" l="l"/>
              <a:pathLst>
                <a:path h="658368" w="8900160">
                  <a:moveTo>
                    <a:pt x="0" y="0"/>
                  </a:moveTo>
                  <a:lnTo>
                    <a:pt x="8900160" y="0"/>
                  </a:lnTo>
                  <a:lnTo>
                    <a:pt x="8900160" y="658368"/>
                  </a:lnTo>
                  <a:lnTo>
                    <a:pt x="0" y="658368"/>
                  </a:lnTo>
                  <a:close/>
                </a:path>
              </a:pathLst>
            </a:custGeom>
            <a:blipFill>
              <a:blip r:embed="rId3">
                <a:alphaModFix amt="0"/>
              </a:blip>
              <a:stretch>
                <a:fillRect l="0" t="-213408" r="0" b="-213408"/>
              </a:stretch>
            </a:blipFill>
          </p:spPr>
        </p:sp>
        <p:sp>
          <p:nvSpPr>
            <p:cNvPr name="TextBox 90" id="90"/>
            <p:cNvSpPr txBox="true"/>
            <p:nvPr/>
          </p:nvSpPr>
          <p:spPr>
            <a:xfrm>
              <a:off x="0" y="-38100"/>
              <a:ext cx="8900160" cy="696468"/>
            </a:xfrm>
            <a:prstGeom prst="rect">
              <a:avLst/>
            </a:prstGeom>
          </p:spPr>
          <p:txBody>
            <a:bodyPr anchor="ctr" rtlCol="false" tIns="0" lIns="0" bIns="0" rIns="0"/>
            <a:lstStyle/>
            <a:p>
              <a:pPr algn="l">
                <a:lnSpc>
                  <a:spcPts val="2280"/>
                </a:lnSpc>
              </a:pPr>
              <a:r>
                <a:rPr lang="en-US" sz="1900" b="true">
                  <a:solidFill>
                    <a:srgbClr val="6D28D9"/>
                  </a:solidFill>
                  <a:latin typeface="Calibri (MS) Bold"/>
                  <a:ea typeface="Calibri (MS) Bold"/>
                  <a:cs typeface="Calibri (MS) Bold"/>
                  <a:sym typeface="Calibri (MS) Bold"/>
                </a:rPr>
                <a:t>cₜ (cell state)  </a:t>
              </a:r>
              <a:r>
                <a:rPr lang="en-US" sz="1900">
                  <a:solidFill>
                    <a:srgbClr val="94A3B8"/>
                  </a:solidFill>
                  <a:latin typeface="Calibri (MS)"/>
                  <a:ea typeface="Calibri (MS)"/>
                  <a:cs typeface="Calibri (MS)"/>
                  <a:sym typeface="Calibri (MS)"/>
                </a:rPr>
                <a:t>Long-term memory buffer</a:t>
              </a:r>
            </a:p>
          </p:txBody>
        </p:sp>
      </p:grpSp>
      <p:grpSp>
        <p:nvGrpSpPr>
          <p:cNvPr name="Group 91" id="91"/>
          <p:cNvGrpSpPr/>
          <p:nvPr/>
        </p:nvGrpSpPr>
        <p:grpSpPr>
          <a:xfrm rot="0">
            <a:off x="10753344" y="5340096"/>
            <a:ext cx="6675120" cy="493776"/>
            <a:chOff x="0" y="0"/>
            <a:chExt cx="8900160" cy="658368"/>
          </a:xfrm>
        </p:grpSpPr>
        <p:sp>
          <p:nvSpPr>
            <p:cNvPr name="Freeform 92" id="92"/>
            <p:cNvSpPr/>
            <p:nvPr/>
          </p:nvSpPr>
          <p:spPr>
            <a:xfrm flipH="false" flipV="false" rot="0">
              <a:off x="0" y="0"/>
              <a:ext cx="8900160" cy="658368"/>
            </a:xfrm>
            <a:custGeom>
              <a:avLst/>
              <a:gdLst/>
              <a:ahLst/>
              <a:cxnLst/>
              <a:rect r="r" b="b" t="t" l="l"/>
              <a:pathLst>
                <a:path h="658368" w="8900160">
                  <a:moveTo>
                    <a:pt x="0" y="0"/>
                  </a:moveTo>
                  <a:lnTo>
                    <a:pt x="8900160" y="0"/>
                  </a:lnTo>
                  <a:lnTo>
                    <a:pt x="8900160" y="658368"/>
                  </a:lnTo>
                  <a:lnTo>
                    <a:pt x="0" y="658368"/>
                  </a:lnTo>
                  <a:close/>
                </a:path>
              </a:pathLst>
            </a:custGeom>
            <a:blipFill>
              <a:blip r:embed="rId3">
                <a:alphaModFix amt="0"/>
              </a:blip>
              <a:stretch>
                <a:fillRect l="0" t="-213408" r="0" b="-213408"/>
              </a:stretch>
            </a:blipFill>
          </p:spPr>
        </p:sp>
        <p:sp>
          <p:nvSpPr>
            <p:cNvPr name="TextBox 93" id="93"/>
            <p:cNvSpPr txBox="true"/>
            <p:nvPr/>
          </p:nvSpPr>
          <p:spPr>
            <a:xfrm>
              <a:off x="0" y="-38100"/>
              <a:ext cx="8900160" cy="696468"/>
            </a:xfrm>
            <a:prstGeom prst="rect">
              <a:avLst/>
            </a:prstGeom>
          </p:spPr>
          <p:txBody>
            <a:bodyPr anchor="ctr" rtlCol="false" tIns="0" lIns="0" bIns="0" rIns="0"/>
            <a:lstStyle/>
            <a:p>
              <a:pPr algn="l">
                <a:lnSpc>
                  <a:spcPts val="2280"/>
                </a:lnSpc>
              </a:pPr>
              <a:r>
                <a:rPr lang="en-US" sz="1900" b="true">
                  <a:solidFill>
                    <a:srgbClr val="6D28D9"/>
                  </a:solidFill>
                  <a:latin typeface="Calibri (MS) Bold"/>
                  <a:ea typeface="Calibri (MS) Bold"/>
                  <a:cs typeface="Calibri (MS) Bold"/>
                  <a:sym typeface="Calibri (MS) Bold"/>
                </a:rPr>
                <a:t>hₜ (hidden state)  </a:t>
              </a:r>
              <a:r>
                <a:rPr lang="en-US" sz="1900">
                  <a:solidFill>
                    <a:srgbClr val="94A3B8"/>
                  </a:solidFill>
                  <a:latin typeface="Calibri (MS)"/>
                  <a:ea typeface="Calibri (MS)"/>
                  <a:cs typeface="Calibri (MS)"/>
                  <a:sym typeface="Calibri (MS)"/>
                </a:rPr>
                <a:t>Short-term working memory</a:t>
              </a:r>
            </a:p>
          </p:txBody>
        </p:sp>
      </p:grpSp>
      <p:grpSp>
        <p:nvGrpSpPr>
          <p:cNvPr name="Group 94" id="94"/>
          <p:cNvGrpSpPr/>
          <p:nvPr/>
        </p:nvGrpSpPr>
        <p:grpSpPr>
          <a:xfrm rot="0">
            <a:off x="10417807" y="6211567"/>
            <a:ext cx="7145017" cy="2573017"/>
            <a:chOff x="0" y="0"/>
            <a:chExt cx="9526689" cy="3430689"/>
          </a:xfrm>
        </p:grpSpPr>
        <p:sp>
          <p:nvSpPr>
            <p:cNvPr name="Freeform 95" id="95"/>
            <p:cNvSpPr/>
            <p:nvPr/>
          </p:nvSpPr>
          <p:spPr>
            <a:xfrm flipH="false" flipV="false" rot="0">
              <a:off x="8509" y="8509"/>
              <a:ext cx="9509760" cy="3413760"/>
            </a:xfrm>
            <a:custGeom>
              <a:avLst/>
              <a:gdLst/>
              <a:ahLst/>
              <a:cxnLst/>
              <a:rect r="r" b="b" t="t" l="l"/>
              <a:pathLst>
                <a:path h="3413760" w="9509760">
                  <a:moveTo>
                    <a:pt x="0" y="0"/>
                  </a:moveTo>
                  <a:lnTo>
                    <a:pt x="9509760" y="0"/>
                  </a:lnTo>
                  <a:lnTo>
                    <a:pt x="9509760" y="3413760"/>
                  </a:lnTo>
                  <a:lnTo>
                    <a:pt x="0" y="3413760"/>
                  </a:lnTo>
                  <a:close/>
                </a:path>
              </a:pathLst>
            </a:custGeom>
            <a:solidFill>
              <a:srgbClr val="FEE2E2"/>
            </a:solidFill>
          </p:spPr>
        </p:sp>
        <p:sp>
          <p:nvSpPr>
            <p:cNvPr name="Freeform 96" id="96"/>
            <p:cNvSpPr/>
            <p:nvPr/>
          </p:nvSpPr>
          <p:spPr>
            <a:xfrm flipH="false" flipV="false" rot="0">
              <a:off x="0" y="0"/>
              <a:ext cx="9526778" cy="3430778"/>
            </a:xfrm>
            <a:custGeom>
              <a:avLst/>
              <a:gdLst/>
              <a:ahLst/>
              <a:cxnLst/>
              <a:rect r="r" b="b" t="t" l="l"/>
              <a:pathLst>
                <a:path h="3430778" w="9526778">
                  <a:moveTo>
                    <a:pt x="8509" y="0"/>
                  </a:moveTo>
                  <a:lnTo>
                    <a:pt x="9518269" y="0"/>
                  </a:lnTo>
                  <a:cubicBezTo>
                    <a:pt x="9522968" y="0"/>
                    <a:pt x="9526778" y="3810"/>
                    <a:pt x="9526778" y="8509"/>
                  </a:cubicBezTo>
                  <a:lnTo>
                    <a:pt x="9526778" y="3422269"/>
                  </a:lnTo>
                  <a:cubicBezTo>
                    <a:pt x="9526778" y="3426968"/>
                    <a:pt x="9522968" y="3430778"/>
                    <a:pt x="9518269" y="3430778"/>
                  </a:cubicBezTo>
                  <a:lnTo>
                    <a:pt x="8509" y="3430778"/>
                  </a:lnTo>
                  <a:cubicBezTo>
                    <a:pt x="3810" y="3430778"/>
                    <a:pt x="0" y="3426968"/>
                    <a:pt x="0" y="3422269"/>
                  </a:cubicBezTo>
                  <a:lnTo>
                    <a:pt x="0" y="8509"/>
                  </a:lnTo>
                  <a:cubicBezTo>
                    <a:pt x="0" y="3810"/>
                    <a:pt x="3810" y="0"/>
                    <a:pt x="8509" y="0"/>
                  </a:cubicBezTo>
                  <a:moveTo>
                    <a:pt x="8509" y="16891"/>
                  </a:moveTo>
                  <a:lnTo>
                    <a:pt x="8509" y="8509"/>
                  </a:lnTo>
                  <a:lnTo>
                    <a:pt x="17018" y="8509"/>
                  </a:lnTo>
                  <a:lnTo>
                    <a:pt x="17018" y="3422269"/>
                  </a:lnTo>
                  <a:lnTo>
                    <a:pt x="8509" y="3422269"/>
                  </a:lnTo>
                  <a:lnTo>
                    <a:pt x="8509" y="3413760"/>
                  </a:lnTo>
                  <a:lnTo>
                    <a:pt x="9518269" y="3413760"/>
                  </a:lnTo>
                  <a:lnTo>
                    <a:pt x="9518269" y="3422269"/>
                  </a:lnTo>
                  <a:lnTo>
                    <a:pt x="9509760" y="3422269"/>
                  </a:lnTo>
                  <a:lnTo>
                    <a:pt x="9509760" y="8509"/>
                  </a:lnTo>
                  <a:lnTo>
                    <a:pt x="9518269" y="8509"/>
                  </a:lnTo>
                  <a:lnTo>
                    <a:pt x="9518269" y="17018"/>
                  </a:lnTo>
                  <a:lnTo>
                    <a:pt x="8509" y="17018"/>
                  </a:lnTo>
                  <a:close/>
                </a:path>
              </a:pathLst>
            </a:custGeom>
            <a:solidFill>
              <a:srgbClr val="E2E8F0"/>
            </a:solidFill>
          </p:spPr>
        </p:sp>
      </p:grpSp>
      <p:grpSp>
        <p:nvGrpSpPr>
          <p:cNvPr name="Group 97" id="97"/>
          <p:cNvGrpSpPr/>
          <p:nvPr/>
        </p:nvGrpSpPr>
        <p:grpSpPr>
          <a:xfrm rot="0">
            <a:off x="10753344" y="6309360"/>
            <a:ext cx="6675120" cy="548640"/>
            <a:chOff x="0" y="0"/>
            <a:chExt cx="8900160" cy="731520"/>
          </a:xfrm>
        </p:grpSpPr>
        <p:sp>
          <p:nvSpPr>
            <p:cNvPr name="Freeform 98" id="98"/>
            <p:cNvSpPr/>
            <p:nvPr/>
          </p:nvSpPr>
          <p:spPr>
            <a:xfrm flipH="false" flipV="false" rot="0">
              <a:off x="0" y="0"/>
              <a:ext cx="8900160" cy="731520"/>
            </a:xfrm>
            <a:custGeom>
              <a:avLst/>
              <a:gdLst/>
              <a:ahLst/>
              <a:cxnLst/>
              <a:rect r="r" b="b" t="t" l="l"/>
              <a:pathLst>
                <a:path h="731520" w="8900160">
                  <a:moveTo>
                    <a:pt x="0" y="0"/>
                  </a:moveTo>
                  <a:lnTo>
                    <a:pt x="8900160" y="0"/>
                  </a:lnTo>
                  <a:lnTo>
                    <a:pt x="8900160" y="731520"/>
                  </a:lnTo>
                  <a:lnTo>
                    <a:pt x="0" y="731520"/>
                  </a:lnTo>
                  <a:close/>
                </a:path>
              </a:pathLst>
            </a:custGeom>
            <a:blipFill>
              <a:blip r:embed="rId3">
                <a:alphaModFix amt="0"/>
              </a:blip>
              <a:stretch>
                <a:fillRect l="0" t="-187067" r="0" b="-187067"/>
              </a:stretch>
            </a:blipFill>
          </p:spPr>
        </p:sp>
        <p:sp>
          <p:nvSpPr>
            <p:cNvPr name="TextBox 99" id="99"/>
            <p:cNvSpPr txBox="true"/>
            <p:nvPr/>
          </p:nvSpPr>
          <p:spPr>
            <a:xfrm>
              <a:off x="0" y="-47625"/>
              <a:ext cx="8900160" cy="779145"/>
            </a:xfrm>
            <a:prstGeom prst="rect">
              <a:avLst/>
            </a:prstGeom>
          </p:spPr>
          <p:txBody>
            <a:bodyPr anchor="ctr" rtlCol="false" tIns="0" lIns="0" bIns="0" rIns="0"/>
            <a:lstStyle/>
            <a:p>
              <a:pPr algn="l">
                <a:lnSpc>
                  <a:spcPts val="2640"/>
                </a:lnSpc>
              </a:pPr>
              <a:r>
                <a:rPr lang="en-US" sz="2200" b="true">
                  <a:solidFill>
                    <a:srgbClr val="E05B4B"/>
                  </a:solidFill>
                  <a:latin typeface="Calibri (MS) Bold"/>
                  <a:ea typeface="Calibri (MS) Bold"/>
                  <a:cs typeface="Calibri (MS) Bold"/>
                  <a:sym typeface="Calibri (MS) Bold"/>
                </a:rPr>
                <a:t>Why global context in the decoder?</a:t>
              </a:r>
            </a:p>
          </p:txBody>
        </p:sp>
      </p:grpSp>
      <p:grpSp>
        <p:nvGrpSpPr>
          <p:cNvPr name="Group 100" id="100"/>
          <p:cNvGrpSpPr/>
          <p:nvPr/>
        </p:nvGrpSpPr>
        <p:grpSpPr>
          <a:xfrm rot="0">
            <a:off x="10753344" y="6894576"/>
            <a:ext cx="6675120" cy="1737360"/>
            <a:chOff x="0" y="0"/>
            <a:chExt cx="8900160" cy="2316480"/>
          </a:xfrm>
        </p:grpSpPr>
        <p:sp>
          <p:nvSpPr>
            <p:cNvPr name="Freeform 101" id="101"/>
            <p:cNvSpPr/>
            <p:nvPr/>
          </p:nvSpPr>
          <p:spPr>
            <a:xfrm flipH="false" flipV="false" rot="0">
              <a:off x="0" y="0"/>
              <a:ext cx="8900160" cy="2316480"/>
            </a:xfrm>
            <a:custGeom>
              <a:avLst/>
              <a:gdLst/>
              <a:ahLst/>
              <a:cxnLst/>
              <a:rect r="r" b="b" t="t" l="l"/>
              <a:pathLst>
                <a:path h="2316480" w="8900160">
                  <a:moveTo>
                    <a:pt x="0" y="0"/>
                  </a:moveTo>
                  <a:lnTo>
                    <a:pt x="8900160" y="0"/>
                  </a:lnTo>
                  <a:lnTo>
                    <a:pt x="8900160" y="2316480"/>
                  </a:lnTo>
                  <a:lnTo>
                    <a:pt x="0" y="2316480"/>
                  </a:lnTo>
                  <a:close/>
                </a:path>
              </a:pathLst>
            </a:custGeom>
            <a:blipFill>
              <a:blip r:embed="rId3">
                <a:alphaModFix amt="0"/>
              </a:blip>
              <a:stretch>
                <a:fillRect l="0" t="-24863" r="0" b="-24863"/>
              </a:stretch>
            </a:blipFill>
          </p:spPr>
        </p:sp>
        <p:sp>
          <p:nvSpPr>
            <p:cNvPr name="TextBox 102" id="102"/>
            <p:cNvSpPr txBox="true"/>
            <p:nvPr/>
          </p:nvSpPr>
          <p:spPr>
            <a:xfrm>
              <a:off x="0" y="-38100"/>
              <a:ext cx="8900160" cy="2354580"/>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Without V_global:</a:t>
              </a:r>
            </a:p>
            <a:p>
              <a:pPr algn="l">
                <a:lnSpc>
                  <a:spcPts val="2280"/>
                </a:lnSpc>
              </a:pPr>
              <a:r>
                <a:rPr lang="en-US" sz="1900">
                  <a:solidFill>
                    <a:srgbClr val="1E293B"/>
                  </a:solidFill>
                  <a:latin typeface="Calibri (MS)"/>
                  <a:ea typeface="Calibri (MS)"/>
                  <a:cs typeface="Calibri (MS)"/>
                  <a:sym typeface="Calibri (MS)"/>
                </a:rPr>
                <a:t>→ Decoder sees only local patches</a:t>
              </a:r>
            </a:p>
            <a:p>
              <a:pPr algn="l">
                <a:lnSpc>
                  <a:spcPts val="2280"/>
                </a:lnSpc>
              </a:pPr>
              <a:r>
                <a:rPr lang="en-US" sz="1900">
                  <a:solidFill>
                    <a:srgbClr val="1E293B"/>
                  </a:solidFill>
                  <a:latin typeface="Calibri (MS)"/>
                  <a:ea typeface="Calibri (MS)"/>
                  <a:cs typeface="Calibri (MS)"/>
                  <a:sym typeface="Calibri (MS)"/>
                </a:rPr>
                <a:t>→ Misses the overall scene type</a:t>
              </a:r>
            </a:p>
            <a:p>
              <a:pPr algn="l">
                <a:lnSpc>
                  <a:spcPts val="2280"/>
                </a:lnSpc>
              </a:pPr>
              <a:r>
                <a:rPr lang="en-US" sz="1900">
                  <a:solidFill>
                    <a:srgbClr val="1E293B"/>
                  </a:solidFill>
                  <a:latin typeface="Calibri (MS)"/>
                  <a:ea typeface="Calibri (MS)"/>
                  <a:cs typeface="Calibri (MS)"/>
                  <a:sym typeface="Calibri (MS)"/>
                </a:rPr>
                <a:t>→ Generates incoherent words (e.g. 'bridge' in a desert scene)</a:t>
              </a:r>
            </a:p>
            <a:p>
              <a:pPr algn="l">
                <a:lnSpc>
                  <a:spcPts val="2280"/>
                </a:lnSpc>
              </a:pPr>
            </a:p>
            <a:p>
              <a:pPr algn="l">
                <a:lnSpc>
                  <a:spcPts val="2280"/>
                </a:lnSpc>
              </a:pPr>
              <a:r>
                <a:rPr lang="en-US" sz="1900">
                  <a:solidFill>
                    <a:srgbClr val="1E293B"/>
                  </a:solidFill>
                  <a:latin typeface="Calibri (MS)"/>
                  <a:ea typeface="Calibri (MS)"/>
                  <a:cs typeface="Calibri (MS)"/>
                  <a:sym typeface="Calibri (MS)"/>
                </a:rPr>
                <a:t>With V_global:</a:t>
              </a:r>
            </a:p>
            <a:p>
              <a:pPr algn="l">
                <a:lnSpc>
                  <a:spcPts val="2280"/>
                </a:lnSpc>
              </a:pPr>
              <a:r>
                <a:rPr lang="en-US" sz="1900">
                  <a:solidFill>
                    <a:srgbClr val="1E293B"/>
                  </a:solidFill>
                  <a:latin typeface="Calibri (MS)"/>
                  <a:ea typeface="Calibri (MS)"/>
                  <a:cs typeface="Calibri (MS)"/>
                  <a:sym typeface="Calibri (MS)"/>
                </a:rPr>
                <a:t>→ Scene-level semantic anchor</a:t>
              </a:r>
            </a:p>
            <a:p>
              <a:pPr algn="l">
                <a:lnSpc>
                  <a:spcPts val="2280"/>
                </a:lnSpc>
              </a:pPr>
              <a:r>
                <a:rPr lang="en-US" sz="1900">
                  <a:solidFill>
                    <a:srgbClr val="1E293B"/>
                  </a:solidFill>
                  <a:latin typeface="Calibri (MS)"/>
                  <a:ea typeface="Calibri (MS)"/>
                  <a:cs typeface="Calibri (MS)"/>
                  <a:sym typeface="Calibri (MS)"/>
                </a:rPr>
                <a:t>→ Generates contextually consistent captions</a:t>
              </a:r>
            </a:p>
          </p:txBody>
        </p:sp>
      </p:grpSp>
      <p:grpSp>
        <p:nvGrpSpPr>
          <p:cNvPr name="Group 103" id="103"/>
          <p:cNvGrpSpPr/>
          <p:nvPr/>
        </p:nvGrpSpPr>
        <p:grpSpPr>
          <a:xfrm rot="0">
            <a:off x="10417807" y="8954767"/>
            <a:ext cx="7145017" cy="744217"/>
            <a:chOff x="0" y="0"/>
            <a:chExt cx="9526689" cy="992289"/>
          </a:xfrm>
        </p:grpSpPr>
        <p:sp>
          <p:nvSpPr>
            <p:cNvPr name="Freeform 104" id="104"/>
            <p:cNvSpPr/>
            <p:nvPr/>
          </p:nvSpPr>
          <p:spPr>
            <a:xfrm flipH="false" flipV="false" rot="0">
              <a:off x="8509" y="8509"/>
              <a:ext cx="9509760" cy="975360"/>
            </a:xfrm>
            <a:custGeom>
              <a:avLst/>
              <a:gdLst/>
              <a:ahLst/>
              <a:cxnLst/>
              <a:rect r="r" b="b" t="t" l="l"/>
              <a:pathLst>
                <a:path h="975360" w="9509760">
                  <a:moveTo>
                    <a:pt x="0" y="0"/>
                  </a:moveTo>
                  <a:lnTo>
                    <a:pt x="9509760" y="0"/>
                  </a:lnTo>
                  <a:lnTo>
                    <a:pt x="9509760" y="975360"/>
                  </a:lnTo>
                  <a:lnTo>
                    <a:pt x="0" y="975360"/>
                  </a:lnTo>
                  <a:close/>
                </a:path>
              </a:pathLst>
            </a:custGeom>
            <a:solidFill>
              <a:srgbClr val="FFFFFF"/>
            </a:solidFill>
          </p:spPr>
        </p:sp>
        <p:sp>
          <p:nvSpPr>
            <p:cNvPr name="Freeform 105" id="105"/>
            <p:cNvSpPr/>
            <p:nvPr/>
          </p:nvSpPr>
          <p:spPr>
            <a:xfrm flipH="false" flipV="false" rot="0">
              <a:off x="0" y="0"/>
              <a:ext cx="9526778" cy="992378"/>
            </a:xfrm>
            <a:custGeom>
              <a:avLst/>
              <a:gdLst/>
              <a:ahLst/>
              <a:cxnLst/>
              <a:rect r="r" b="b" t="t" l="l"/>
              <a:pathLst>
                <a:path h="992378" w="9526778">
                  <a:moveTo>
                    <a:pt x="8509" y="0"/>
                  </a:moveTo>
                  <a:lnTo>
                    <a:pt x="9518269" y="0"/>
                  </a:lnTo>
                  <a:cubicBezTo>
                    <a:pt x="9522968" y="0"/>
                    <a:pt x="9526778" y="3810"/>
                    <a:pt x="9526778" y="8509"/>
                  </a:cubicBezTo>
                  <a:lnTo>
                    <a:pt x="9526778" y="983869"/>
                  </a:lnTo>
                  <a:cubicBezTo>
                    <a:pt x="9526778" y="988568"/>
                    <a:pt x="9522968" y="992378"/>
                    <a:pt x="9518269" y="992378"/>
                  </a:cubicBezTo>
                  <a:lnTo>
                    <a:pt x="8509" y="992378"/>
                  </a:lnTo>
                  <a:cubicBezTo>
                    <a:pt x="3810" y="992378"/>
                    <a:pt x="0" y="988568"/>
                    <a:pt x="0" y="983869"/>
                  </a:cubicBezTo>
                  <a:lnTo>
                    <a:pt x="0" y="8509"/>
                  </a:lnTo>
                  <a:cubicBezTo>
                    <a:pt x="0" y="3810"/>
                    <a:pt x="3810" y="0"/>
                    <a:pt x="8509" y="0"/>
                  </a:cubicBezTo>
                  <a:moveTo>
                    <a:pt x="8509" y="16891"/>
                  </a:moveTo>
                  <a:lnTo>
                    <a:pt x="8509" y="8509"/>
                  </a:lnTo>
                  <a:lnTo>
                    <a:pt x="17018" y="8509"/>
                  </a:lnTo>
                  <a:lnTo>
                    <a:pt x="17018" y="983869"/>
                  </a:lnTo>
                  <a:lnTo>
                    <a:pt x="8509" y="983869"/>
                  </a:lnTo>
                  <a:lnTo>
                    <a:pt x="8509" y="975360"/>
                  </a:lnTo>
                  <a:lnTo>
                    <a:pt x="9518269" y="975360"/>
                  </a:lnTo>
                  <a:lnTo>
                    <a:pt x="9518269" y="983869"/>
                  </a:lnTo>
                  <a:lnTo>
                    <a:pt x="9509760" y="983869"/>
                  </a:lnTo>
                  <a:lnTo>
                    <a:pt x="9509760" y="8509"/>
                  </a:lnTo>
                  <a:lnTo>
                    <a:pt x="9518269" y="8509"/>
                  </a:lnTo>
                  <a:lnTo>
                    <a:pt x="9518269" y="17018"/>
                  </a:lnTo>
                  <a:lnTo>
                    <a:pt x="8509" y="17018"/>
                  </a:lnTo>
                  <a:close/>
                </a:path>
              </a:pathLst>
            </a:custGeom>
            <a:solidFill>
              <a:srgbClr val="E2E8F0"/>
            </a:solidFill>
          </p:spPr>
        </p:sp>
      </p:grpSp>
      <p:grpSp>
        <p:nvGrpSpPr>
          <p:cNvPr name="Group 106" id="106"/>
          <p:cNvGrpSpPr/>
          <p:nvPr/>
        </p:nvGrpSpPr>
        <p:grpSpPr>
          <a:xfrm rot="0">
            <a:off x="10698480" y="8997696"/>
            <a:ext cx="6766560" cy="640080"/>
            <a:chOff x="0" y="0"/>
            <a:chExt cx="9022080" cy="853440"/>
          </a:xfrm>
        </p:grpSpPr>
        <p:sp>
          <p:nvSpPr>
            <p:cNvPr name="Freeform 107" id="107"/>
            <p:cNvSpPr/>
            <p:nvPr/>
          </p:nvSpPr>
          <p:spPr>
            <a:xfrm flipH="false" flipV="false" rot="0">
              <a:off x="0" y="0"/>
              <a:ext cx="9022080" cy="853440"/>
            </a:xfrm>
            <a:custGeom>
              <a:avLst/>
              <a:gdLst/>
              <a:ahLst/>
              <a:cxnLst/>
              <a:rect r="r" b="b" t="t" l="l"/>
              <a:pathLst>
                <a:path h="853440" w="9022080">
                  <a:moveTo>
                    <a:pt x="0" y="0"/>
                  </a:moveTo>
                  <a:lnTo>
                    <a:pt x="9022080" y="0"/>
                  </a:lnTo>
                  <a:lnTo>
                    <a:pt x="9022080" y="853440"/>
                  </a:lnTo>
                  <a:lnTo>
                    <a:pt x="0" y="853440"/>
                  </a:lnTo>
                  <a:close/>
                </a:path>
              </a:pathLst>
            </a:custGeom>
            <a:blipFill>
              <a:blip r:embed="rId3">
                <a:alphaModFix amt="0"/>
              </a:blip>
              <a:stretch>
                <a:fillRect l="0" t="-155984" r="0" b="-155984"/>
              </a:stretch>
            </a:blipFill>
          </p:spPr>
        </p:sp>
        <p:sp>
          <p:nvSpPr>
            <p:cNvPr name="TextBox 108" id="108"/>
            <p:cNvSpPr txBox="true"/>
            <p:nvPr/>
          </p:nvSpPr>
          <p:spPr>
            <a:xfrm>
              <a:off x="0" y="-28575"/>
              <a:ext cx="9022080" cy="882015"/>
            </a:xfrm>
            <a:prstGeom prst="rect">
              <a:avLst/>
            </a:prstGeom>
          </p:spPr>
          <p:txBody>
            <a:bodyPr anchor="ctr" rtlCol="false" tIns="0" lIns="0" bIns="0" rIns="0"/>
            <a:lstStyle/>
            <a:p>
              <a:pPr algn="l">
                <a:lnSpc>
                  <a:spcPts val="1920"/>
                </a:lnSpc>
              </a:pPr>
              <a:r>
                <a:rPr lang="en-US" sz="1600">
                  <a:solidFill>
                    <a:srgbClr val="94A3B8"/>
                  </a:solidFill>
                  <a:latin typeface="Calibri (MS)"/>
                  <a:ea typeface="Calibri (MS)"/>
                  <a:cs typeface="Calibri (MS)"/>
                  <a:sym typeface="Calibri (MS)"/>
                </a:rPr>
                <a:t>LSTM = Long Short-Term Memory · MLP = Multi-Layer Perceptron · GloVe = Global Vectors for Word Representation · ⊙ = element-wise (Hadamard) product</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718823" y="316487"/>
            <a:ext cx="2951483" cy="574043"/>
            <a:chOff x="0" y="0"/>
            <a:chExt cx="3935311" cy="765391"/>
          </a:xfrm>
        </p:grpSpPr>
        <p:sp>
          <p:nvSpPr>
            <p:cNvPr name="Freeform 3" id="3"/>
            <p:cNvSpPr/>
            <p:nvPr/>
          </p:nvSpPr>
          <p:spPr>
            <a:xfrm flipH="false" flipV="false" rot="0">
              <a:off x="16891" y="16891"/>
              <a:ext cx="3901440" cy="731520"/>
            </a:xfrm>
            <a:custGeom>
              <a:avLst/>
              <a:gdLst/>
              <a:ahLst/>
              <a:cxnLst/>
              <a:rect r="r" b="b" t="t" l="l"/>
              <a:pathLst>
                <a:path h="731520" w="3901440">
                  <a:moveTo>
                    <a:pt x="0" y="0"/>
                  </a:moveTo>
                  <a:lnTo>
                    <a:pt x="3901440" y="0"/>
                  </a:lnTo>
                  <a:lnTo>
                    <a:pt x="3901440" y="731520"/>
                  </a:lnTo>
                  <a:lnTo>
                    <a:pt x="0" y="731520"/>
                  </a:lnTo>
                  <a:close/>
                </a:path>
              </a:pathLst>
            </a:custGeom>
            <a:solidFill>
              <a:srgbClr val="D97706"/>
            </a:solidFill>
          </p:spPr>
        </p:sp>
        <p:sp>
          <p:nvSpPr>
            <p:cNvPr name="Freeform 4" id="4"/>
            <p:cNvSpPr/>
            <p:nvPr/>
          </p:nvSpPr>
          <p:spPr>
            <a:xfrm flipH="false" flipV="false" rot="0">
              <a:off x="0" y="0"/>
              <a:ext cx="3935222" cy="765304"/>
            </a:xfrm>
            <a:custGeom>
              <a:avLst/>
              <a:gdLst/>
              <a:ahLst/>
              <a:cxnLst/>
              <a:rect r="r" b="b" t="t" l="l"/>
              <a:pathLst>
                <a:path h="765304" w="3935222">
                  <a:moveTo>
                    <a:pt x="16891" y="0"/>
                  </a:moveTo>
                  <a:lnTo>
                    <a:pt x="3918331" y="0"/>
                  </a:lnTo>
                  <a:cubicBezTo>
                    <a:pt x="3927729" y="0"/>
                    <a:pt x="3935222" y="7620"/>
                    <a:pt x="3935222" y="16891"/>
                  </a:cubicBezTo>
                  <a:lnTo>
                    <a:pt x="3935222" y="748411"/>
                  </a:lnTo>
                  <a:cubicBezTo>
                    <a:pt x="3935222" y="757809"/>
                    <a:pt x="3927602" y="765302"/>
                    <a:pt x="3918331" y="765302"/>
                  </a:cubicBezTo>
                  <a:lnTo>
                    <a:pt x="16891" y="765302"/>
                  </a:lnTo>
                  <a:cubicBezTo>
                    <a:pt x="7620" y="765429"/>
                    <a:pt x="0" y="757809"/>
                    <a:pt x="0" y="748411"/>
                  </a:cubicBezTo>
                  <a:lnTo>
                    <a:pt x="0" y="16891"/>
                  </a:lnTo>
                  <a:cubicBezTo>
                    <a:pt x="0" y="7620"/>
                    <a:pt x="7620" y="0"/>
                    <a:pt x="16891" y="0"/>
                  </a:cubicBezTo>
                  <a:moveTo>
                    <a:pt x="16891" y="33909"/>
                  </a:moveTo>
                  <a:lnTo>
                    <a:pt x="16891" y="16891"/>
                  </a:lnTo>
                  <a:lnTo>
                    <a:pt x="33909" y="16891"/>
                  </a:lnTo>
                  <a:lnTo>
                    <a:pt x="33909" y="748411"/>
                  </a:lnTo>
                  <a:lnTo>
                    <a:pt x="16891" y="748411"/>
                  </a:lnTo>
                  <a:lnTo>
                    <a:pt x="16891" y="731520"/>
                  </a:lnTo>
                  <a:lnTo>
                    <a:pt x="3918331" y="731520"/>
                  </a:lnTo>
                  <a:lnTo>
                    <a:pt x="3918331" y="748411"/>
                  </a:lnTo>
                  <a:lnTo>
                    <a:pt x="3901440" y="748411"/>
                  </a:lnTo>
                  <a:lnTo>
                    <a:pt x="3901440" y="16891"/>
                  </a:lnTo>
                  <a:lnTo>
                    <a:pt x="3918331" y="16891"/>
                  </a:lnTo>
                  <a:lnTo>
                    <a:pt x="3918331" y="33909"/>
                  </a:lnTo>
                  <a:lnTo>
                    <a:pt x="16891" y="33909"/>
                  </a:lnTo>
                  <a:close/>
                </a:path>
              </a:pathLst>
            </a:custGeom>
            <a:solidFill>
              <a:srgbClr val="D97706"/>
            </a:solidFill>
          </p:spPr>
        </p:sp>
      </p:grpSp>
      <p:grpSp>
        <p:nvGrpSpPr>
          <p:cNvPr name="Group 5" id="5"/>
          <p:cNvGrpSpPr/>
          <p:nvPr/>
        </p:nvGrpSpPr>
        <p:grpSpPr>
          <a:xfrm rot="0">
            <a:off x="731520" y="329184"/>
            <a:ext cx="2926080" cy="548640"/>
            <a:chOff x="0" y="0"/>
            <a:chExt cx="3901440" cy="731520"/>
          </a:xfrm>
        </p:grpSpPr>
        <p:sp>
          <p:nvSpPr>
            <p:cNvPr name="Freeform 6" id="6"/>
            <p:cNvSpPr/>
            <p:nvPr/>
          </p:nvSpPr>
          <p:spPr>
            <a:xfrm flipH="false" flipV="false" rot="0">
              <a:off x="0" y="0"/>
              <a:ext cx="3901440" cy="731520"/>
            </a:xfrm>
            <a:custGeom>
              <a:avLst/>
              <a:gdLst/>
              <a:ahLst/>
              <a:cxnLst/>
              <a:rect r="r" b="b" t="t" l="l"/>
              <a:pathLst>
                <a:path h="731520" w="3901440">
                  <a:moveTo>
                    <a:pt x="0" y="0"/>
                  </a:moveTo>
                  <a:lnTo>
                    <a:pt x="3901440" y="0"/>
                  </a:lnTo>
                  <a:lnTo>
                    <a:pt x="3901440" y="731520"/>
                  </a:lnTo>
                  <a:lnTo>
                    <a:pt x="0" y="731520"/>
                  </a:lnTo>
                  <a:close/>
                </a:path>
              </a:pathLst>
            </a:custGeom>
            <a:blipFill>
              <a:blip r:embed="rId3">
                <a:alphaModFix amt="0"/>
              </a:blip>
              <a:stretch>
                <a:fillRect l="0" t="-53920" r="0" b="-53920"/>
              </a:stretch>
            </a:blipFill>
          </p:spPr>
        </p:sp>
        <p:sp>
          <p:nvSpPr>
            <p:cNvPr name="TextBox 7" id="7"/>
            <p:cNvSpPr txBox="true"/>
            <p:nvPr/>
          </p:nvSpPr>
          <p:spPr>
            <a:xfrm>
              <a:off x="0" y="-38100"/>
              <a:ext cx="3901440" cy="76962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07 · TRAINING</a:t>
              </a:r>
            </a:p>
          </p:txBody>
        </p:sp>
      </p:grpSp>
      <p:grpSp>
        <p:nvGrpSpPr>
          <p:cNvPr name="Group 8" id="8"/>
          <p:cNvGrpSpPr/>
          <p:nvPr/>
        </p:nvGrpSpPr>
        <p:grpSpPr>
          <a:xfrm rot="0">
            <a:off x="914400" y="1005840"/>
            <a:ext cx="16459200" cy="1188720"/>
            <a:chOff x="0" y="0"/>
            <a:chExt cx="21945600" cy="1584960"/>
          </a:xfrm>
        </p:grpSpPr>
        <p:sp>
          <p:nvSpPr>
            <p:cNvPr name="Freeform 9" id="9"/>
            <p:cNvSpPr/>
            <p:nvPr/>
          </p:nvSpPr>
          <p:spPr>
            <a:xfrm flipH="false" flipV="false" rot="0">
              <a:off x="0" y="0"/>
              <a:ext cx="21945600" cy="1584960"/>
            </a:xfrm>
            <a:custGeom>
              <a:avLst/>
              <a:gdLst/>
              <a:ahLst/>
              <a:cxnLst/>
              <a:rect r="r" b="b" t="t" l="l"/>
              <a:pathLst>
                <a:path h="1584960" w="21945600">
                  <a:moveTo>
                    <a:pt x="0" y="0"/>
                  </a:moveTo>
                  <a:lnTo>
                    <a:pt x="21945600" y="0"/>
                  </a:lnTo>
                  <a:lnTo>
                    <a:pt x="21945600" y="1584960"/>
                  </a:lnTo>
                  <a:lnTo>
                    <a:pt x="0" y="1584960"/>
                  </a:lnTo>
                  <a:close/>
                </a:path>
              </a:pathLst>
            </a:custGeom>
            <a:blipFill>
              <a:blip r:embed="rId3">
                <a:alphaModFix amt="0"/>
              </a:blip>
              <a:stretch>
                <a:fillRect l="0" t="-219792" r="0" b="-219792"/>
              </a:stretch>
            </a:blipFill>
          </p:spPr>
        </p:sp>
        <p:sp>
          <p:nvSpPr>
            <p:cNvPr name="TextBox 10" id="10"/>
            <p:cNvSpPr txBox="true"/>
            <p:nvPr/>
          </p:nvSpPr>
          <p:spPr>
            <a:xfrm>
              <a:off x="0" y="-104775"/>
              <a:ext cx="21945600" cy="1689735"/>
            </a:xfrm>
            <a:prstGeom prst="rect">
              <a:avLst/>
            </a:prstGeom>
          </p:spPr>
          <p:txBody>
            <a:bodyPr anchor="ctr" rtlCol="false" tIns="0" lIns="0" bIns="0" rIns="0"/>
            <a:lstStyle/>
            <a:p>
              <a:pPr algn="l">
                <a:lnSpc>
                  <a:spcPts val="6240"/>
                </a:lnSpc>
              </a:pPr>
              <a:r>
                <a:rPr lang="en-US" sz="5200" b="true">
                  <a:solidFill>
                    <a:srgbClr val="1E293B"/>
                  </a:solidFill>
                  <a:latin typeface="Calibri (MS) Bold"/>
                  <a:ea typeface="Calibri (MS) Bold"/>
                  <a:cs typeface="Calibri (MS) Bold"/>
                  <a:sym typeface="Calibri (MS) Bold"/>
                </a:rPr>
                <a:t>Training Strategy &amp; Objective Functions</a:t>
              </a:r>
            </a:p>
          </p:txBody>
        </p:sp>
      </p:grpSp>
      <p:grpSp>
        <p:nvGrpSpPr>
          <p:cNvPr name="Group 11" id="11"/>
          <p:cNvGrpSpPr/>
          <p:nvPr/>
        </p:nvGrpSpPr>
        <p:grpSpPr>
          <a:xfrm rot="0">
            <a:off x="725167" y="2279647"/>
            <a:ext cx="16837657" cy="12697"/>
            <a:chOff x="0" y="0"/>
            <a:chExt cx="22450209" cy="16929"/>
          </a:xfrm>
        </p:grpSpPr>
        <p:sp>
          <p:nvSpPr>
            <p:cNvPr name="Freeform 12" id="12"/>
            <p:cNvSpPr/>
            <p:nvPr/>
          </p:nvSpPr>
          <p:spPr>
            <a:xfrm flipH="false" flipV="false" rot="0">
              <a:off x="8509" y="0"/>
              <a:ext cx="22433281" cy="16891"/>
            </a:xfrm>
            <a:custGeom>
              <a:avLst/>
              <a:gdLst/>
              <a:ahLst/>
              <a:cxnLst/>
              <a:rect r="r" b="b" t="t" l="l"/>
              <a:pathLst>
                <a:path h="16891" w="22433281">
                  <a:moveTo>
                    <a:pt x="0" y="0"/>
                  </a:moveTo>
                  <a:lnTo>
                    <a:pt x="22433281" y="0"/>
                  </a:lnTo>
                  <a:lnTo>
                    <a:pt x="22433281" y="16891"/>
                  </a:lnTo>
                  <a:lnTo>
                    <a:pt x="0" y="16891"/>
                  </a:lnTo>
                  <a:close/>
                </a:path>
              </a:pathLst>
            </a:custGeom>
            <a:solidFill>
              <a:srgbClr val="E2E8F0"/>
            </a:solidFill>
          </p:spPr>
        </p:sp>
      </p:grpSp>
      <p:grpSp>
        <p:nvGrpSpPr>
          <p:cNvPr name="Group 13" id="13"/>
          <p:cNvGrpSpPr/>
          <p:nvPr/>
        </p:nvGrpSpPr>
        <p:grpSpPr>
          <a:xfrm rot="0">
            <a:off x="725167" y="2462527"/>
            <a:ext cx="10711177" cy="4767577"/>
            <a:chOff x="0" y="0"/>
            <a:chExt cx="14281569" cy="6356769"/>
          </a:xfrm>
        </p:grpSpPr>
        <p:sp>
          <p:nvSpPr>
            <p:cNvPr name="Freeform 14" id="14"/>
            <p:cNvSpPr/>
            <p:nvPr/>
          </p:nvSpPr>
          <p:spPr>
            <a:xfrm flipH="false" flipV="false" rot="0">
              <a:off x="8509" y="8509"/>
              <a:ext cx="14264640" cy="6339840"/>
            </a:xfrm>
            <a:custGeom>
              <a:avLst/>
              <a:gdLst/>
              <a:ahLst/>
              <a:cxnLst/>
              <a:rect r="r" b="b" t="t" l="l"/>
              <a:pathLst>
                <a:path h="6339840" w="14264640">
                  <a:moveTo>
                    <a:pt x="0" y="0"/>
                  </a:moveTo>
                  <a:lnTo>
                    <a:pt x="14264640" y="0"/>
                  </a:lnTo>
                  <a:lnTo>
                    <a:pt x="14264640" y="6339840"/>
                  </a:lnTo>
                  <a:lnTo>
                    <a:pt x="0" y="6339840"/>
                  </a:lnTo>
                  <a:close/>
                </a:path>
              </a:pathLst>
            </a:custGeom>
            <a:solidFill>
              <a:srgbClr val="FFFFFF"/>
            </a:solidFill>
          </p:spPr>
        </p:sp>
        <p:sp>
          <p:nvSpPr>
            <p:cNvPr name="Freeform 15" id="15"/>
            <p:cNvSpPr/>
            <p:nvPr/>
          </p:nvSpPr>
          <p:spPr>
            <a:xfrm flipH="false" flipV="false" rot="0">
              <a:off x="0" y="0"/>
              <a:ext cx="14281657" cy="6356858"/>
            </a:xfrm>
            <a:custGeom>
              <a:avLst/>
              <a:gdLst/>
              <a:ahLst/>
              <a:cxnLst/>
              <a:rect r="r" b="b" t="t" l="l"/>
              <a:pathLst>
                <a:path h="6356858" w="14281657">
                  <a:moveTo>
                    <a:pt x="8509" y="0"/>
                  </a:moveTo>
                  <a:lnTo>
                    <a:pt x="14273149" y="0"/>
                  </a:lnTo>
                  <a:cubicBezTo>
                    <a:pt x="14277848" y="0"/>
                    <a:pt x="14281657" y="3810"/>
                    <a:pt x="14281657" y="8509"/>
                  </a:cubicBezTo>
                  <a:lnTo>
                    <a:pt x="14281657" y="6348349"/>
                  </a:lnTo>
                  <a:cubicBezTo>
                    <a:pt x="14281657" y="6353048"/>
                    <a:pt x="14277848" y="6356858"/>
                    <a:pt x="14273149" y="6356858"/>
                  </a:cubicBezTo>
                  <a:lnTo>
                    <a:pt x="8509" y="6356858"/>
                  </a:lnTo>
                  <a:cubicBezTo>
                    <a:pt x="3810" y="6356858"/>
                    <a:pt x="0" y="6353048"/>
                    <a:pt x="0" y="6348349"/>
                  </a:cubicBezTo>
                  <a:lnTo>
                    <a:pt x="0" y="8509"/>
                  </a:lnTo>
                  <a:cubicBezTo>
                    <a:pt x="0" y="3810"/>
                    <a:pt x="3810" y="0"/>
                    <a:pt x="8509" y="0"/>
                  </a:cubicBezTo>
                  <a:moveTo>
                    <a:pt x="8509" y="16891"/>
                  </a:moveTo>
                  <a:lnTo>
                    <a:pt x="8509" y="8509"/>
                  </a:lnTo>
                  <a:lnTo>
                    <a:pt x="17018" y="8509"/>
                  </a:lnTo>
                  <a:lnTo>
                    <a:pt x="17018" y="6348349"/>
                  </a:lnTo>
                  <a:lnTo>
                    <a:pt x="8509" y="6348349"/>
                  </a:lnTo>
                  <a:lnTo>
                    <a:pt x="8509" y="6339840"/>
                  </a:lnTo>
                  <a:lnTo>
                    <a:pt x="14273149" y="6339840"/>
                  </a:lnTo>
                  <a:lnTo>
                    <a:pt x="14273149" y="6348349"/>
                  </a:lnTo>
                  <a:lnTo>
                    <a:pt x="14264639" y="6348349"/>
                  </a:lnTo>
                  <a:lnTo>
                    <a:pt x="14264639" y="8509"/>
                  </a:lnTo>
                  <a:lnTo>
                    <a:pt x="14273149" y="8509"/>
                  </a:lnTo>
                  <a:lnTo>
                    <a:pt x="14273149" y="17018"/>
                  </a:lnTo>
                  <a:lnTo>
                    <a:pt x="8509" y="17018"/>
                  </a:lnTo>
                  <a:close/>
                </a:path>
              </a:pathLst>
            </a:custGeom>
            <a:solidFill>
              <a:srgbClr val="E2E8F0"/>
            </a:solidFill>
          </p:spPr>
        </p:sp>
      </p:grpSp>
      <p:grpSp>
        <p:nvGrpSpPr>
          <p:cNvPr name="Group 16" id="16"/>
          <p:cNvGrpSpPr/>
          <p:nvPr/>
        </p:nvGrpSpPr>
        <p:grpSpPr>
          <a:xfrm rot="0">
            <a:off x="718823" y="2456183"/>
            <a:ext cx="10723883" cy="793499"/>
            <a:chOff x="0" y="0"/>
            <a:chExt cx="14298511" cy="1057999"/>
          </a:xfrm>
        </p:grpSpPr>
        <p:sp>
          <p:nvSpPr>
            <p:cNvPr name="Freeform 17" id="17"/>
            <p:cNvSpPr/>
            <p:nvPr/>
          </p:nvSpPr>
          <p:spPr>
            <a:xfrm flipH="false" flipV="false" rot="0">
              <a:off x="16891" y="16891"/>
              <a:ext cx="14264639" cy="1024128"/>
            </a:xfrm>
            <a:custGeom>
              <a:avLst/>
              <a:gdLst/>
              <a:ahLst/>
              <a:cxnLst/>
              <a:rect r="r" b="b" t="t" l="l"/>
              <a:pathLst>
                <a:path h="1024128" w="14264639">
                  <a:moveTo>
                    <a:pt x="0" y="0"/>
                  </a:moveTo>
                  <a:lnTo>
                    <a:pt x="14264639" y="0"/>
                  </a:lnTo>
                  <a:lnTo>
                    <a:pt x="14264639" y="1024128"/>
                  </a:lnTo>
                  <a:lnTo>
                    <a:pt x="0" y="1024128"/>
                  </a:lnTo>
                  <a:close/>
                </a:path>
              </a:pathLst>
            </a:custGeom>
            <a:solidFill>
              <a:srgbClr val="D97706"/>
            </a:solidFill>
          </p:spPr>
        </p:sp>
        <p:sp>
          <p:nvSpPr>
            <p:cNvPr name="Freeform 18" id="18"/>
            <p:cNvSpPr/>
            <p:nvPr/>
          </p:nvSpPr>
          <p:spPr>
            <a:xfrm flipH="false" flipV="false" rot="0">
              <a:off x="0" y="0"/>
              <a:ext cx="14298422" cy="1057912"/>
            </a:xfrm>
            <a:custGeom>
              <a:avLst/>
              <a:gdLst/>
              <a:ahLst/>
              <a:cxnLst/>
              <a:rect r="r" b="b" t="t" l="l"/>
              <a:pathLst>
                <a:path h="1057912" w="14298422">
                  <a:moveTo>
                    <a:pt x="16891" y="0"/>
                  </a:moveTo>
                  <a:lnTo>
                    <a:pt x="14281530" y="0"/>
                  </a:lnTo>
                  <a:cubicBezTo>
                    <a:pt x="14290929" y="0"/>
                    <a:pt x="14298422" y="7620"/>
                    <a:pt x="14298422" y="16891"/>
                  </a:cubicBezTo>
                  <a:lnTo>
                    <a:pt x="14298422" y="1041019"/>
                  </a:lnTo>
                  <a:cubicBezTo>
                    <a:pt x="14298422" y="1050417"/>
                    <a:pt x="14290802" y="1057910"/>
                    <a:pt x="14281530" y="1057910"/>
                  </a:cubicBezTo>
                  <a:lnTo>
                    <a:pt x="16891" y="1057910"/>
                  </a:lnTo>
                  <a:cubicBezTo>
                    <a:pt x="7620" y="1058037"/>
                    <a:pt x="0" y="1050417"/>
                    <a:pt x="0" y="1041019"/>
                  </a:cubicBezTo>
                  <a:lnTo>
                    <a:pt x="0" y="16891"/>
                  </a:lnTo>
                  <a:cubicBezTo>
                    <a:pt x="0" y="7620"/>
                    <a:pt x="7620" y="0"/>
                    <a:pt x="16891" y="0"/>
                  </a:cubicBezTo>
                  <a:moveTo>
                    <a:pt x="16891" y="33909"/>
                  </a:moveTo>
                  <a:lnTo>
                    <a:pt x="16891" y="16891"/>
                  </a:lnTo>
                  <a:lnTo>
                    <a:pt x="33909" y="16891"/>
                  </a:lnTo>
                  <a:lnTo>
                    <a:pt x="33909" y="1041019"/>
                  </a:lnTo>
                  <a:lnTo>
                    <a:pt x="16891" y="1041019"/>
                  </a:lnTo>
                  <a:lnTo>
                    <a:pt x="16891" y="1024128"/>
                  </a:lnTo>
                  <a:lnTo>
                    <a:pt x="14281530" y="1024128"/>
                  </a:lnTo>
                  <a:lnTo>
                    <a:pt x="14281530" y="1041019"/>
                  </a:lnTo>
                  <a:lnTo>
                    <a:pt x="14264639" y="1041019"/>
                  </a:lnTo>
                  <a:lnTo>
                    <a:pt x="14264639" y="16891"/>
                  </a:lnTo>
                  <a:lnTo>
                    <a:pt x="14281530" y="16891"/>
                  </a:lnTo>
                  <a:lnTo>
                    <a:pt x="14281530" y="33909"/>
                  </a:lnTo>
                  <a:lnTo>
                    <a:pt x="16891" y="33909"/>
                  </a:lnTo>
                  <a:close/>
                </a:path>
              </a:pathLst>
            </a:custGeom>
            <a:solidFill>
              <a:srgbClr val="D97706"/>
            </a:solidFill>
          </p:spPr>
        </p:sp>
      </p:grpSp>
      <p:grpSp>
        <p:nvGrpSpPr>
          <p:cNvPr name="Group 19" id="19"/>
          <p:cNvGrpSpPr/>
          <p:nvPr/>
        </p:nvGrpSpPr>
        <p:grpSpPr>
          <a:xfrm rot="0">
            <a:off x="1005840" y="2468880"/>
            <a:ext cx="10241280" cy="768096"/>
            <a:chOff x="0" y="0"/>
            <a:chExt cx="13655040" cy="1024128"/>
          </a:xfrm>
        </p:grpSpPr>
        <p:sp>
          <p:nvSpPr>
            <p:cNvPr name="Freeform 20" id="20"/>
            <p:cNvSpPr/>
            <p:nvPr/>
          </p:nvSpPr>
          <p:spPr>
            <a:xfrm flipH="false" flipV="false" rot="0">
              <a:off x="0" y="0"/>
              <a:ext cx="13655039" cy="1024128"/>
            </a:xfrm>
            <a:custGeom>
              <a:avLst/>
              <a:gdLst/>
              <a:ahLst/>
              <a:cxnLst/>
              <a:rect r="r" b="b" t="t" l="l"/>
              <a:pathLst>
                <a:path h="1024128" w="13655039">
                  <a:moveTo>
                    <a:pt x="0" y="0"/>
                  </a:moveTo>
                  <a:lnTo>
                    <a:pt x="13655039" y="0"/>
                  </a:lnTo>
                  <a:lnTo>
                    <a:pt x="13655039" y="1024128"/>
                  </a:lnTo>
                  <a:lnTo>
                    <a:pt x="0" y="1024128"/>
                  </a:lnTo>
                  <a:close/>
                </a:path>
              </a:pathLst>
            </a:custGeom>
            <a:blipFill>
              <a:blip r:embed="rId3">
                <a:alphaModFix amt="0"/>
              </a:blip>
              <a:stretch>
                <a:fillRect l="0" t="-209800" r="0" b="-209800"/>
              </a:stretch>
            </a:blipFill>
          </p:spPr>
        </p:sp>
        <p:sp>
          <p:nvSpPr>
            <p:cNvPr name="TextBox 21" id="21"/>
            <p:cNvSpPr txBox="true"/>
            <p:nvPr/>
          </p:nvSpPr>
          <p:spPr>
            <a:xfrm>
              <a:off x="0" y="-38100"/>
              <a:ext cx="13655040" cy="1062228"/>
            </a:xfrm>
            <a:prstGeom prst="rect">
              <a:avLst/>
            </a:prstGeom>
          </p:spPr>
          <p:txBody>
            <a:bodyPr anchor="ctr" rtlCol="false" tIns="0" lIns="0" bIns="0" rIns="0"/>
            <a:lstStyle/>
            <a:p>
              <a:pPr algn="l">
                <a:lnSpc>
                  <a:spcPts val="2879"/>
                </a:lnSpc>
              </a:pPr>
              <a:r>
                <a:rPr lang="en-US" sz="2400" b="true">
                  <a:solidFill>
                    <a:srgbClr val="FFFFFF"/>
                  </a:solidFill>
                  <a:latin typeface="Calibri (MS) Bold"/>
                  <a:ea typeface="Calibri (MS) Bold"/>
                  <a:cs typeface="Calibri (MS) Bold"/>
                  <a:sym typeface="Calibri (MS) Bold"/>
                </a:rPr>
                <a:t>Phase 1 — Fine-tuning the AMFF encoder</a:t>
              </a:r>
            </a:p>
          </p:txBody>
        </p:sp>
      </p:grpSp>
      <p:grpSp>
        <p:nvGrpSpPr>
          <p:cNvPr name="Group 22" id="22"/>
          <p:cNvGrpSpPr/>
          <p:nvPr/>
        </p:nvGrpSpPr>
        <p:grpSpPr>
          <a:xfrm rot="0">
            <a:off x="993143" y="3370583"/>
            <a:ext cx="500891" cy="500891"/>
            <a:chOff x="0" y="0"/>
            <a:chExt cx="667855" cy="667855"/>
          </a:xfrm>
        </p:grpSpPr>
        <p:sp>
          <p:nvSpPr>
            <p:cNvPr name="Freeform 23" id="23"/>
            <p:cNvSpPr/>
            <p:nvPr/>
          </p:nvSpPr>
          <p:spPr>
            <a:xfrm flipH="false" flipV="false" rot="0">
              <a:off x="16891" y="16891"/>
              <a:ext cx="633984" cy="633984"/>
            </a:xfrm>
            <a:custGeom>
              <a:avLst/>
              <a:gdLst/>
              <a:ahLst/>
              <a:cxnLst/>
              <a:rect r="r" b="b" t="t" l="l"/>
              <a:pathLst>
                <a:path h="633984" w="633984">
                  <a:moveTo>
                    <a:pt x="0" y="0"/>
                  </a:moveTo>
                  <a:lnTo>
                    <a:pt x="633984" y="0"/>
                  </a:lnTo>
                  <a:lnTo>
                    <a:pt x="633984" y="633984"/>
                  </a:lnTo>
                  <a:lnTo>
                    <a:pt x="0" y="633984"/>
                  </a:lnTo>
                  <a:close/>
                </a:path>
              </a:pathLst>
            </a:custGeom>
            <a:solidFill>
              <a:srgbClr val="E05B4B"/>
            </a:solidFill>
          </p:spPr>
        </p:sp>
        <p:sp>
          <p:nvSpPr>
            <p:cNvPr name="Freeform 24" id="24"/>
            <p:cNvSpPr/>
            <p:nvPr/>
          </p:nvSpPr>
          <p:spPr>
            <a:xfrm flipH="false" flipV="false" rot="0">
              <a:off x="0" y="0"/>
              <a:ext cx="667766" cy="667768"/>
            </a:xfrm>
            <a:custGeom>
              <a:avLst/>
              <a:gdLst/>
              <a:ahLst/>
              <a:cxnLst/>
              <a:rect r="r" b="b" t="t" l="l"/>
              <a:pathLst>
                <a:path h="667768" w="667766">
                  <a:moveTo>
                    <a:pt x="16891" y="0"/>
                  </a:moveTo>
                  <a:lnTo>
                    <a:pt x="650875" y="0"/>
                  </a:lnTo>
                  <a:cubicBezTo>
                    <a:pt x="660273" y="0"/>
                    <a:pt x="667766" y="7620"/>
                    <a:pt x="667766" y="16891"/>
                  </a:cubicBezTo>
                  <a:lnTo>
                    <a:pt x="667766" y="650875"/>
                  </a:lnTo>
                  <a:cubicBezTo>
                    <a:pt x="667766" y="660273"/>
                    <a:pt x="660146" y="667766"/>
                    <a:pt x="650875" y="667766"/>
                  </a:cubicBezTo>
                  <a:lnTo>
                    <a:pt x="16891" y="667766"/>
                  </a:lnTo>
                  <a:cubicBezTo>
                    <a:pt x="7620" y="667893"/>
                    <a:pt x="0" y="660273"/>
                    <a:pt x="0" y="650875"/>
                  </a:cubicBezTo>
                  <a:lnTo>
                    <a:pt x="0" y="16891"/>
                  </a:lnTo>
                  <a:cubicBezTo>
                    <a:pt x="0" y="7620"/>
                    <a:pt x="7620" y="0"/>
                    <a:pt x="16891" y="0"/>
                  </a:cubicBezTo>
                  <a:moveTo>
                    <a:pt x="16891" y="33909"/>
                  </a:moveTo>
                  <a:lnTo>
                    <a:pt x="16891" y="16891"/>
                  </a:lnTo>
                  <a:lnTo>
                    <a:pt x="33909" y="16891"/>
                  </a:lnTo>
                  <a:lnTo>
                    <a:pt x="33909" y="650875"/>
                  </a:lnTo>
                  <a:lnTo>
                    <a:pt x="16891" y="650875"/>
                  </a:lnTo>
                  <a:lnTo>
                    <a:pt x="16891" y="633984"/>
                  </a:lnTo>
                  <a:lnTo>
                    <a:pt x="650875" y="633984"/>
                  </a:lnTo>
                  <a:lnTo>
                    <a:pt x="650875" y="650875"/>
                  </a:lnTo>
                  <a:lnTo>
                    <a:pt x="633984" y="650875"/>
                  </a:lnTo>
                  <a:lnTo>
                    <a:pt x="633984" y="16891"/>
                  </a:lnTo>
                  <a:lnTo>
                    <a:pt x="650875" y="16891"/>
                  </a:lnTo>
                  <a:lnTo>
                    <a:pt x="650875" y="33909"/>
                  </a:lnTo>
                  <a:lnTo>
                    <a:pt x="16891" y="33909"/>
                  </a:lnTo>
                  <a:close/>
                </a:path>
              </a:pathLst>
            </a:custGeom>
            <a:solidFill>
              <a:srgbClr val="E05B4B"/>
            </a:solidFill>
          </p:spPr>
        </p:sp>
      </p:grpSp>
      <p:grpSp>
        <p:nvGrpSpPr>
          <p:cNvPr name="Group 25" id="25"/>
          <p:cNvGrpSpPr/>
          <p:nvPr/>
        </p:nvGrpSpPr>
        <p:grpSpPr>
          <a:xfrm rot="0">
            <a:off x="1005840" y="3383280"/>
            <a:ext cx="475488" cy="475488"/>
            <a:chOff x="0" y="0"/>
            <a:chExt cx="633984" cy="633984"/>
          </a:xfrm>
        </p:grpSpPr>
        <p:sp>
          <p:nvSpPr>
            <p:cNvPr name="Freeform 26" id="26"/>
            <p:cNvSpPr/>
            <p:nvPr/>
          </p:nvSpPr>
          <p:spPr>
            <a:xfrm flipH="false" flipV="false" rot="0">
              <a:off x="0" y="0"/>
              <a:ext cx="633984" cy="633984"/>
            </a:xfrm>
            <a:custGeom>
              <a:avLst/>
              <a:gdLst/>
              <a:ahLst/>
              <a:cxnLst/>
              <a:rect r="r" b="b" t="t" l="l"/>
              <a:pathLst>
                <a:path h="633984" w="633984">
                  <a:moveTo>
                    <a:pt x="0" y="0"/>
                  </a:moveTo>
                  <a:lnTo>
                    <a:pt x="633984" y="0"/>
                  </a:lnTo>
                  <a:lnTo>
                    <a:pt x="633984" y="633984"/>
                  </a:lnTo>
                  <a:lnTo>
                    <a:pt x="0" y="633984"/>
                  </a:lnTo>
                  <a:close/>
                </a:path>
              </a:pathLst>
            </a:custGeom>
            <a:blipFill>
              <a:blip r:embed="rId3">
                <a:alphaModFix amt="0"/>
              </a:blip>
              <a:stretch>
                <a:fillRect l="-78303" t="0" r="-78303" b="0"/>
              </a:stretch>
            </a:blipFill>
          </p:spPr>
        </p:sp>
        <p:sp>
          <p:nvSpPr>
            <p:cNvPr name="TextBox 27" id="27"/>
            <p:cNvSpPr txBox="true"/>
            <p:nvPr/>
          </p:nvSpPr>
          <p:spPr>
            <a:xfrm>
              <a:off x="0" y="-38100"/>
              <a:ext cx="633984" cy="672084"/>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a:t>
              </a:r>
            </a:p>
          </p:txBody>
        </p:sp>
      </p:grpSp>
      <p:grpSp>
        <p:nvGrpSpPr>
          <p:cNvPr name="Group 28" id="28"/>
          <p:cNvGrpSpPr/>
          <p:nvPr/>
        </p:nvGrpSpPr>
        <p:grpSpPr>
          <a:xfrm rot="0">
            <a:off x="1645920" y="3383280"/>
            <a:ext cx="9509760" cy="493776"/>
            <a:chOff x="0" y="0"/>
            <a:chExt cx="12679680" cy="658368"/>
          </a:xfrm>
        </p:grpSpPr>
        <p:sp>
          <p:nvSpPr>
            <p:cNvPr name="Freeform 29" id="29"/>
            <p:cNvSpPr/>
            <p:nvPr/>
          </p:nvSpPr>
          <p:spPr>
            <a:xfrm flipH="false" flipV="false" rot="0">
              <a:off x="0" y="0"/>
              <a:ext cx="12679680" cy="658368"/>
            </a:xfrm>
            <a:custGeom>
              <a:avLst/>
              <a:gdLst/>
              <a:ahLst/>
              <a:cxnLst/>
              <a:rect r="r" b="b" t="t" l="l"/>
              <a:pathLst>
                <a:path h="658368" w="12679680">
                  <a:moveTo>
                    <a:pt x="0" y="0"/>
                  </a:moveTo>
                  <a:lnTo>
                    <a:pt x="12679680" y="0"/>
                  </a:lnTo>
                  <a:lnTo>
                    <a:pt x="12679680" y="658368"/>
                  </a:lnTo>
                  <a:lnTo>
                    <a:pt x="0" y="658368"/>
                  </a:lnTo>
                  <a:close/>
                </a:path>
              </a:pathLst>
            </a:custGeom>
            <a:blipFill>
              <a:blip r:embed="rId3">
                <a:alphaModFix amt="0"/>
              </a:blip>
              <a:stretch>
                <a:fillRect l="0" t="-325267" r="0" b="-325267"/>
              </a:stretch>
            </a:blipFill>
          </p:spPr>
        </p:sp>
        <p:sp>
          <p:nvSpPr>
            <p:cNvPr name="TextBox 30" id="30"/>
            <p:cNvSpPr txBox="true"/>
            <p:nvPr/>
          </p:nvSpPr>
          <p:spPr>
            <a:xfrm>
              <a:off x="0" y="-47625"/>
              <a:ext cx="12679680" cy="705993"/>
            </a:xfrm>
            <a:prstGeom prst="rect">
              <a:avLst/>
            </a:prstGeom>
          </p:spPr>
          <p:txBody>
            <a:bodyPr anchor="ctr" rtlCol="false" tIns="0" lIns="0" bIns="0" rIns="0"/>
            <a:lstStyle/>
            <a:p>
              <a:pPr algn="l">
                <a:lnSpc>
                  <a:spcPts val="2520"/>
                </a:lnSpc>
              </a:pPr>
              <a:r>
                <a:rPr lang="en-US" sz="2100" b="true">
                  <a:solidFill>
                    <a:srgbClr val="1E293B"/>
                  </a:solidFill>
                  <a:latin typeface="Calibri (MS) Bold"/>
                  <a:ea typeface="Calibri (MS) Bold"/>
                  <a:cs typeface="Calibri (MS) Bold"/>
                  <a:sym typeface="Calibri (MS) Bold"/>
                </a:rPr>
                <a:t>Problem A — Domain gap</a:t>
              </a:r>
            </a:p>
          </p:txBody>
        </p:sp>
      </p:grpSp>
      <p:grpSp>
        <p:nvGrpSpPr>
          <p:cNvPr name="Group 31" id="31"/>
          <p:cNvGrpSpPr/>
          <p:nvPr/>
        </p:nvGrpSpPr>
        <p:grpSpPr>
          <a:xfrm rot="0">
            <a:off x="1645920" y="3845309"/>
            <a:ext cx="9509760" cy="694944"/>
            <a:chOff x="0" y="0"/>
            <a:chExt cx="12679680" cy="926592"/>
          </a:xfrm>
        </p:grpSpPr>
        <p:sp>
          <p:nvSpPr>
            <p:cNvPr name="Freeform 32" id="32"/>
            <p:cNvSpPr/>
            <p:nvPr/>
          </p:nvSpPr>
          <p:spPr>
            <a:xfrm flipH="false" flipV="false" rot="0">
              <a:off x="0" y="0"/>
              <a:ext cx="12679680" cy="926592"/>
            </a:xfrm>
            <a:custGeom>
              <a:avLst/>
              <a:gdLst/>
              <a:ahLst/>
              <a:cxnLst/>
              <a:rect r="r" b="b" t="t" l="l"/>
              <a:pathLst>
                <a:path h="926592" w="12679680">
                  <a:moveTo>
                    <a:pt x="0" y="0"/>
                  </a:moveTo>
                  <a:lnTo>
                    <a:pt x="12679680" y="0"/>
                  </a:lnTo>
                  <a:lnTo>
                    <a:pt x="12679680" y="926592"/>
                  </a:lnTo>
                  <a:lnTo>
                    <a:pt x="0" y="926592"/>
                  </a:lnTo>
                  <a:close/>
                </a:path>
              </a:pathLst>
            </a:custGeom>
            <a:blipFill>
              <a:blip r:embed="rId3">
                <a:alphaModFix amt="0"/>
              </a:blip>
              <a:stretch>
                <a:fillRect l="0" t="-216637" r="0" b="-216637"/>
              </a:stretch>
            </a:blipFill>
          </p:spPr>
        </p:sp>
        <p:sp>
          <p:nvSpPr>
            <p:cNvPr name="TextBox 33" id="33"/>
            <p:cNvSpPr txBox="true"/>
            <p:nvPr/>
          </p:nvSpPr>
          <p:spPr>
            <a:xfrm>
              <a:off x="0" y="-38100"/>
              <a:ext cx="12679680" cy="964692"/>
            </a:xfrm>
            <a:prstGeom prst="rect">
              <a:avLst/>
            </a:prstGeom>
          </p:spPr>
          <p:txBody>
            <a:bodyPr anchor="ctr" rtlCol="false" tIns="0" lIns="0" bIns="0" rIns="0"/>
            <a:lstStyle/>
            <a:p>
              <a:pPr algn="l">
                <a:lnSpc>
                  <a:spcPts val="2280"/>
                </a:lnSpc>
              </a:pPr>
              <a:r>
                <a:rPr lang="en-US" sz="1900">
                  <a:solidFill>
                    <a:srgbClr val="94A3B8"/>
                  </a:solidFill>
                  <a:latin typeface="Calibri (MS)"/>
                  <a:ea typeface="Calibri (MS)"/>
                  <a:cs typeface="Calibri (MS)"/>
                  <a:sym typeface="Calibri (MS)"/>
                </a:rPr>
                <a:t>Swin Transformer was pre-trained on ImageNet (natural photos). Satellite imagery is completely different in texture, perspective, and object distribution.</a:t>
              </a:r>
            </a:p>
          </p:txBody>
        </p:sp>
      </p:grpSp>
      <p:grpSp>
        <p:nvGrpSpPr>
          <p:cNvPr name="Group 34" id="34"/>
          <p:cNvGrpSpPr/>
          <p:nvPr/>
        </p:nvGrpSpPr>
        <p:grpSpPr>
          <a:xfrm rot="0">
            <a:off x="993143" y="4650743"/>
            <a:ext cx="500891" cy="500891"/>
            <a:chOff x="0" y="0"/>
            <a:chExt cx="667855" cy="667855"/>
          </a:xfrm>
        </p:grpSpPr>
        <p:sp>
          <p:nvSpPr>
            <p:cNvPr name="Freeform 35" id="35"/>
            <p:cNvSpPr/>
            <p:nvPr/>
          </p:nvSpPr>
          <p:spPr>
            <a:xfrm flipH="false" flipV="false" rot="0">
              <a:off x="16891" y="16891"/>
              <a:ext cx="633984" cy="633984"/>
            </a:xfrm>
            <a:custGeom>
              <a:avLst/>
              <a:gdLst/>
              <a:ahLst/>
              <a:cxnLst/>
              <a:rect r="r" b="b" t="t" l="l"/>
              <a:pathLst>
                <a:path h="633984" w="633984">
                  <a:moveTo>
                    <a:pt x="0" y="0"/>
                  </a:moveTo>
                  <a:lnTo>
                    <a:pt x="633984" y="0"/>
                  </a:lnTo>
                  <a:lnTo>
                    <a:pt x="633984" y="633984"/>
                  </a:lnTo>
                  <a:lnTo>
                    <a:pt x="0" y="633984"/>
                  </a:lnTo>
                  <a:close/>
                </a:path>
              </a:pathLst>
            </a:custGeom>
            <a:solidFill>
              <a:srgbClr val="E05B4B"/>
            </a:solidFill>
          </p:spPr>
        </p:sp>
        <p:sp>
          <p:nvSpPr>
            <p:cNvPr name="Freeform 36" id="36"/>
            <p:cNvSpPr/>
            <p:nvPr/>
          </p:nvSpPr>
          <p:spPr>
            <a:xfrm flipH="false" flipV="false" rot="0">
              <a:off x="0" y="0"/>
              <a:ext cx="667766" cy="667768"/>
            </a:xfrm>
            <a:custGeom>
              <a:avLst/>
              <a:gdLst/>
              <a:ahLst/>
              <a:cxnLst/>
              <a:rect r="r" b="b" t="t" l="l"/>
              <a:pathLst>
                <a:path h="667768" w="667766">
                  <a:moveTo>
                    <a:pt x="16891" y="0"/>
                  </a:moveTo>
                  <a:lnTo>
                    <a:pt x="650875" y="0"/>
                  </a:lnTo>
                  <a:cubicBezTo>
                    <a:pt x="660273" y="0"/>
                    <a:pt x="667766" y="7620"/>
                    <a:pt x="667766" y="16891"/>
                  </a:cubicBezTo>
                  <a:lnTo>
                    <a:pt x="667766" y="650875"/>
                  </a:lnTo>
                  <a:cubicBezTo>
                    <a:pt x="667766" y="660273"/>
                    <a:pt x="660146" y="667766"/>
                    <a:pt x="650875" y="667766"/>
                  </a:cubicBezTo>
                  <a:lnTo>
                    <a:pt x="16891" y="667766"/>
                  </a:lnTo>
                  <a:cubicBezTo>
                    <a:pt x="7620" y="667893"/>
                    <a:pt x="0" y="660273"/>
                    <a:pt x="0" y="650875"/>
                  </a:cubicBezTo>
                  <a:lnTo>
                    <a:pt x="0" y="16891"/>
                  </a:lnTo>
                  <a:cubicBezTo>
                    <a:pt x="0" y="7620"/>
                    <a:pt x="7620" y="0"/>
                    <a:pt x="16891" y="0"/>
                  </a:cubicBezTo>
                  <a:moveTo>
                    <a:pt x="16891" y="33909"/>
                  </a:moveTo>
                  <a:lnTo>
                    <a:pt x="16891" y="16891"/>
                  </a:lnTo>
                  <a:lnTo>
                    <a:pt x="33909" y="16891"/>
                  </a:lnTo>
                  <a:lnTo>
                    <a:pt x="33909" y="650875"/>
                  </a:lnTo>
                  <a:lnTo>
                    <a:pt x="16891" y="650875"/>
                  </a:lnTo>
                  <a:lnTo>
                    <a:pt x="16891" y="633984"/>
                  </a:lnTo>
                  <a:lnTo>
                    <a:pt x="650875" y="633984"/>
                  </a:lnTo>
                  <a:lnTo>
                    <a:pt x="650875" y="650875"/>
                  </a:lnTo>
                  <a:lnTo>
                    <a:pt x="633984" y="650875"/>
                  </a:lnTo>
                  <a:lnTo>
                    <a:pt x="633984" y="16891"/>
                  </a:lnTo>
                  <a:lnTo>
                    <a:pt x="650875" y="16891"/>
                  </a:lnTo>
                  <a:lnTo>
                    <a:pt x="650875" y="33909"/>
                  </a:lnTo>
                  <a:lnTo>
                    <a:pt x="16891" y="33909"/>
                  </a:lnTo>
                  <a:close/>
                </a:path>
              </a:pathLst>
            </a:custGeom>
            <a:solidFill>
              <a:srgbClr val="E05B4B"/>
            </a:solidFill>
          </p:spPr>
        </p:sp>
      </p:grpSp>
      <p:grpSp>
        <p:nvGrpSpPr>
          <p:cNvPr name="Group 37" id="37"/>
          <p:cNvGrpSpPr/>
          <p:nvPr/>
        </p:nvGrpSpPr>
        <p:grpSpPr>
          <a:xfrm rot="0">
            <a:off x="1005840" y="4663440"/>
            <a:ext cx="475488" cy="475488"/>
            <a:chOff x="0" y="0"/>
            <a:chExt cx="633984" cy="633984"/>
          </a:xfrm>
        </p:grpSpPr>
        <p:sp>
          <p:nvSpPr>
            <p:cNvPr name="Freeform 38" id="38"/>
            <p:cNvSpPr/>
            <p:nvPr/>
          </p:nvSpPr>
          <p:spPr>
            <a:xfrm flipH="false" flipV="false" rot="0">
              <a:off x="0" y="0"/>
              <a:ext cx="633984" cy="633984"/>
            </a:xfrm>
            <a:custGeom>
              <a:avLst/>
              <a:gdLst/>
              <a:ahLst/>
              <a:cxnLst/>
              <a:rect r="r" b="b" t="t" l="l"/>
              <a:pathLst>
                <a:path h="633984" w="633984">
                  <a:moveTo>
                    <a:pt x="0" y="0"/>
                  </a:moveTo>
                  <a:lnTo>
                    <a:pt x="633984" y="0"/>
                  </a:lnTo>
                  <a:lnTo>
                    <a:pt x="633984" y="633984"/>
                  </a:lnTo>
                  <a:lnTo>
                    <a:pt x="0" y="633984"/>
                  </a:lnTo>
                  <a:close/>
                </a:path>
              </a:pathLst>
            </a:custGeom>
            <a:blipFill>
              <a:blip r:embed="rId3">
                <a:alphaModFix amt="0"/>
              </a:blip>
              <a:stretch>
                <a:fillRect l="-78303" t="0" r="-78303" b="0"/>
              </a:stretch>
            </a:blipFill>
          </p:spPr>
        </p:sp>
        <p:sp>
          <p:nvSpPr>
            <p:cNvPr name="TextBox 39" id="39"/>
            <p:cNvSpPr txBox="true"/>
            <p:nvPr/>
          </p:nvSpPr>
          <p:spPr>
            <a:xfrm>
              <a:off x="0" y="-38100"/>
              <a:ext cx="633984" cy="672084"/>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a:t>
              </a:r>
            </a:p>
          </p:txBody>
        </p:sp>
      </p:grpSp>
      <p:grpSp>
        <p:nvGrpSpPr>
          <p:cNvPr name="Group 40" id="40"/>
          <p:cNvGrpSpPr/>
          <p:nvPr/>
        </p:nvGrpSpPr>
        <p:grpSpPr>
          <a:xfrm rot="0">
            <a:off x="1645920" y="4663440"/>
            <a:ext cx="9509760" cy="493776"/>
            <a:chOff x="0" y="0"/>
            <a:chExt cx="12679680" cy="658368"/>
          </a:xfrm>
        </p:grpSpPr>
        <p:sp>
          <p:nvSpPr>
            <p:cNvPr name="Freeform 41" id="41"/>
            <p:cNvSpPr/>
            <p:nvPr/>
          </p:nvSpPr>
          <p:spPr>
            <a:xfrm flipH="false" flipV="false" rot="0">
              <a:off x="0" y="0"/>
              <a:ext cx="12679680" cy="658368"/>
            </a:xfrm>
            <a:custGeom>
              <a:avLst/>
              <a:gdLst/>
              <a:ahLst/>
              <a:cxnLst/>
              <a:rect r="r" b="b" t="t" l="l"/>
              <a:pathLst>
                <a:path h="658368" w="12679680">
                  <a:moveTo>
                    <a:pt x="0" y="0"/>
                  </a:moveTo>
                  <a:lnTo>
                    <a:pt x="12679680" y="0"/>
                  </a:lnTo>
                  <a:lnTo>
                    <a:pt x="12679680" y="658368"/>
                  </a:lnTo>
                  <a:lnTo>
                    <a:pt x="0" y="658368"/>
                  </a:lnTo>
                  <a:close/>
                </a:path>
              </a:pathLst>
            </a:custGeom>
            <a:blipFill>
              <a:blip r:embed="rId3">
                <a:alphaModFix amt="0"/>
              </a:blip>
              <a:stretch>
                <a:fillRect l="0" t="-325267" r="0" b="-325267"/>
              </a:stretch>
            </a:blipFill>
          </p:spPr>
        </p:sp>
        <p:sp>
          <p:nvSpPr>
            <p:cNvPr name="TextBox 42" id="42"/>
            <p:cNvSpPr txBox="true"/>
            <p:nvPr/>
          </p:nvSpPr>
          <p:spPr>
            <a:xfrm>
              <a:off x="0" y="-47625"/>
              <a:ext cx="12679680" cy="705993"/>
            </a:xfrm>
            <a:prstGeom prst="rect">
              <a:avLst/>
            </a:prstGeom>
          </p:spPr>
          <p:txBody>
            <a:bodyPr anchor="ctr" rtlCol="false" tIns="0" lIns="0" bIns="0" rIns="0"/>
            <a:lstStyle/>
            <a:p>
              <a:pPr algn="l">
                <a:lnSpc>
                  <a:spcPts val="2520"/>
                </a:lnSpc>
              </a:pPr>
              <a:r>
                <a:rPr lang="en-US" sz="2100" b="true">
                  <a:solidFill>
                    <a:srgbClr val="1E293B"/>
                  </a:solidFill>
                  <a:latin typeface="Calibri (MS) Bold"/>
                  <a:ea typeface="Calibri (MS) Bold"/>
                  <a:cs typeface="Calibri (MS) Bold"/>
                  <a:sym typeface="Calibri (MS) Bold"/>
                </a:rPr>
                <a:t>Problem B — Modality gap</a:t>
              </a:r>
            </a:p>
          </p:txBody>
        </p:sp>
      </p:grpSp>
      <p:grpSp>
        <p:nvGrpSpPr>
          <p:cNvPr name="Group 43" id="43"/>
          <p:cNvGrpSpPr/>
          <p:nvPr/>
        </p:nvGrpSpPr>
        <p:grpSpPr>
          <a:xfrm rot="0">
            <a:off x="1645920" y="5157216"/>
            <a:ext cx="9509760" cy="694944"/>
            <a:chOff x="0" y="0"/>
            <a:chExt cx="12679680" cy="926592"/>
          </a:xfrm>
        </p:grpSpPr>
        <p:sp>
          <p:nvSpPr>
            <p:cNvPr name="Freeform 44" id="44"/>
            <p:cNvSpPr/>
            <p:nvPr/>
          </p:nvSpPr>
          <p:spPr>
            <a:xfrm flipH="false" flipV="false" rot="0">
              <a:off x="0" y="0"/>
              <a:ext cx="12679680" cy="926592"/>
            </a:xfrm>
            <a:custGeom>
              <a:avLst/>
              <a:gdLst/>
              <a:ahLst/>
              <a:cxnLst/>
              <a:rect r="r" b="b" t="t" l="l"/>
              <a:pathLst>
                <a:path h="926592" w="12679680">
                  <a:moveTo>
                    <a:pt x="0" y="0"/>
                  </a:moveTo>
                  <a:lnTo>
                    <a:pt x="12679680" y="0"/>
                  </a:lnTo>
                  <a:lnTo>
                    <a:pt x="12679680" y="926592"/>
                  </a:lnTo>
                  <a:lnTo>
                    <a:pt x="0" y="926592"/>
                  </a:lnTo>
                  <a:close/>
                </a:path>
              </a:pathLst>
            </a:custGeom>
            <a:blipFill>
              <a:blip r:embed="rId3">
                <a:alphaModFix amt="0"/>
              </a:blip>
              <a:stretch>
                <a:fillRect l="0" t="-216637" r="0" b="-216637"/>
              </a:stretch>
            </a:blipFill>
          </p:spPr>
        </p:sp>
        <p:sp>
          <p:nvSpPr>
            <p:cNvPr name="TextBox 45" id="45"/>
            <p:cNvSpPr txBox="true"/>
            <p:nvPr/>
          </p:nvSpPr>
          <p:spPr>
            <a:xfrm>
              <a:off x="0" y="-38100"/>
              <a:ext cx="12679680" cy="964692"/>
            </a:xfrm>
            <a:prstGeom prst="rect">
              <a:avLst/>
            </a:prstGeom>
          </p:spPr>
          <p:txBody>
            <a:bodyPr anchor="ctr" rtlCol="false" tIns="0" lIns="0" bIns="0" rIns="0"/>
            <a:lstStyle/>
            <a:p>
              <a:pPr algn="l">
                <a:lnSpc>
                  <a:spcPts val="2280"/>
                </a:lnSpc>
              </a:pPr>
              <a:r>
                <a:rPr lang="en-US" sz="1900">
                  <a:solidFill>
                    <a:srgbClr val="94A3B8"/>
                  </a:solidFill>
                  <a:latin typeface="Calibri (MS)"/>
                  <a:ea typeface="Calibri (MS)"/>
                  <a:cs typeface="Calibri (MS)"/>
                  <a:sym typeface="Calibri (MS)"/>
                </a:rPr>
                <a:t>Image feature vectors and text (GloVe) embeddings live in different semantic spaces. Direct fusion causes semantic mismatch.</a:t>
              </a:r>
            </a:p>
          </p:txBody>
        </p:sp>
      </p:grpSp>
      <p:grpSp>
        <p:nvGrpSpPr>
          <p:cNvPr name="Group 46" id="46"/>
          <p:cNvGrpSpPr/>
          <p:nvPr/>
        </p:nvGrpSpPr>
        <p:grpSpPr>
          <a:xfrm rot="0">
            <a:off x="993143" y="5930903"/>
            <a:ext cx="500891" cy="500891"/>
            <a:chOff x="0" y="0"/>
            <a:chExt cx="667855" cy="667855"/>
          </a:xfrm>
        </p:grpSpPr>
        <p:sp>
          <p:nvSpPr>
            <p:cNvPr name="Freeform 47" id="47"/>
            <p:cNvSpPr/>
            <p:nvPr/>
          </p:nvSpPr>
          <p:spPr>
            <a:xfrm flipH="false" flipV="false" rot="0">
              <a:off x="16891" y="16891"/>
              <a:ext cx="633984" cy="633984"/>
            </a:xfrm>
            <a:custGeom>
              <a:avLst/>
              <a:gdLst/>
              <a:ahLst/>
              <a:cxnLst/>
              <a:rect r="r" b="b" t="t" l="l"/>
              <a:pathLst>
                <a:path h="633984" w="633984">
                  <a:moveTo>
                    <a:pt x="0" y="0"/>
                  </a:moveTo>
                  <a:lnTo>
                    <a:pt x="633984" y="0"/>
                  </a:lnTo>
                  <a:lnTo>
                    <a:pt x="633984" y="633984"/>
                  </a:lnTo>
                  <a:lnTo>
                    <a:pt x="0" y="633984"/>
                  </a:lnTo>
                  <a:close/>
                </a:path>
              </a:pathLst>
            </a:custGeom>
            <a:solidFill>
              <a:srgbClr val="0D9488"/>
            </a:solidFill>
          </p:spPr>
        </p:sp>
        <p:sp>
          <p:nvSpPr>
            <p:cNvPr name="Freeform 48" id="48"/>
            <p:cNvSpPr/>
            <p:nvPr/>
          </p:nvSpPr>
          <p:spPr>
            <a:xfrm flipH="false" flipV="false" rot="0">
              <a:off x="0" y="0"/>
              <a:ext cx="667766" cy="667768"/>
            </a:xfrm>
            <a:custGeom>
              <a:avLst/>
              <a:gdLst/>
              <a:ahLst/>
              <a:cxnLst/>
              <a:rect r="r" b="b" t="t" l="l"/>
              <a:pathLst>
                <a:path h="667768" w="667766">
                  <a:moveTo>
                    <a:pt x="16891" y="0"/>
                  </a:moveTo>
                  <a:lnTo>
                    <a:pt x="650875" y="0"/>
                  </a:lnTo>
                  <a:cubicBezTo>
                    <a:pt x="660273" y="0"/>
                    <a:pt x="667766" y="7620"/>
                    <a:pt x="667766" y="16891"/>
                  </a:cubicBezTo>
                  <a:lnTo>
                    <a:pt x="667766" y="650875"/>
                  </a:lnTo>
                  <a:cubicBezTo>
                    <a:pt x="667766" y="660273"/>
                    <a:pt x="660146" y="667766"/>
                    <a:pt x="650875" y="667766"/>
                  </a:cubicBezTo>
                  <a:lnTo>
                    <a:pt x="16891" y="667766"/>
                  </a:lnTo>
                  <a:cubicBezTo>
                    <a:pt x="7620" y="667893"/>
                    <a:pt x="0" y="660273"/>
                    <a:pt x="0" y="650875"/>
                  </a:cubicBezTo>
                  <a:lnTo>
                    <a:pt x="0" y="16891"/>
                  </a:lnTo>
                  <a:cubicBezTo>
                    <a:pt x="0" y="7620"/>
                    <a:pt x="7620" y="0"/>
                    <a:pt x="16891" y="0"/>
                  </a:cubicBezTo>
                  <a:moveTo>
                    <a:pt x="16891" y="33909"/>
                  </a:moveTo>
                  <a:lnTo>
                    <a:pt x="16891" y="16891"/>
                  </a:lnTo>
                  <a:lnTo>
                    <a:pt x="33909" y="16891"/>
                  </a:lnTo>
                  <a:lnTo>
                    <a:pt x="33909" y="650875"/>
                  </a:lnTo>
                  <a:lnTo>
                    <a:pt x="16891" y="650875"/>
                  </a:lnTo>
                  <a:lnTo>
                    <a:pt x="16891" y="633984"/>
                  </a:lnTo>
                  <a:lnTo>
                    <a:pt x="650875" y="633984"/>
                  </a:lnTo>
                  <a:lnTo>
                    <a:pt x="650875" y="650875"/>
                  </a:lnTo>
                  <a:lnTo>
                    <a:pt x="633984" y="650875"/>
                  </a:lnTo>
                  <a:lnTo>
                    <a:pt x="633984" y="16891"/>
                  </a:lnTo>
                  <a:lnTo>
                    <a:pt x="650875" y="16891"/>
                  </a:lnTo>
                  <a:lnTo>
                    <a:pt x="650875" y="33909"/>
                  </a:lnTo>
                  <a:lnTo>
                    <a:pt x="16891" y="33909"/>
                  </a:lnTo>
                  <a:close/>
                </a:path>
              </a:pathLst>
            </a:custGeom>
            <a:solidFill>
              <a:srgbClr val="0D9488"/>
            </a:solidFill>
          </p:spPr>
        </p:sp>
      </p:grpSp>
      <p:grpSp>
        <p:nvGrpSpPr>
          <p:cNvPr name="Group 49" id="49"/>
          <p:cNvGrpSpPr/>
          <p:nvPr/>
        </p:nvGrpSpPr>
        <p:grpSpPr>
          <a:xfrm rot="0">
            <a:off x="1005840" y="5943600"/>
            <a:ext cx="475488" cy="475488"/>
            <a:chOff x="0" y="0"/>
            <a:chExt cx="633984" cy="633984"/>
          </a:xfrm>
        </p:grpSpPr>
        <p:sp>
          <p:nvSpPr>
            <p:cNvPr name="Freeform 50" id="50"/>
            <p:cNvSpPr/>
            <p:nvPr/>
          </p:nvSpPr>
          <p:spPr>
            <a:xfrm flipH="false" flipV="false" rot="0">
              <a:off x="0" y="0"/>
              <a:ext cx="633984" cy="633984"/>
            </a:xfrm>
            <a:custGeom>
              <a:avLst/>
              <a:gdLst/>
              <a:ahLst/>
              <a:cxnLst/>
              <a:rect r="r" b="b" t="t" l="l"/>
              <a:pathLst>
                <a:path h="633984" w="633984">
                  <a:moveTo>
                    <a:pt x="0" y="0"/>
                  </a:moveTo>
                  <a:lnTo>
                    <a:pt x="633984" y="0"/>
                  </a:lnTo>
                  <a:lnTo>
                    <a:pt x="633984" y="633984"/>
                  </a:lnTo>
                  <a:lnTo>
                    <a:pt x="0" y="633984"/>
                  </a:lnTo>
                  <a:close/>
                </a:path>
              </a:pathLst>
            </a:custGeom>
            <a:blipFill>
              <a:blip r:embed="rId3">
                <a:alphaModFix amt="0"/>
              </a:blip>
              <a:stretch>
                <a:fillRect l="-78303" t="0" r="-78303" b="0"/>
              </a:stretch>
            </a:blipFill>
          </p:spPr>
        </p:sp>
        <p:sp>
          <p:nvSpPr>
            <p:cNvPr name="TextBox 51" id="51"/>
            <p:cNvSpPr txBox="true"/>
            <p:nvPr/>
          </p:nvSpPr>
          <p:spPr>
            <a:xfrm>
              <a:off x="0" y="-38100"/>
              <a:ext cx="633984" cy="672084"/>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a:t>
              </a:r>
            </a:p>
          </p:txBody>
        </p:sp>
      </p:grpSp>
      <p:grpSp>
        <p:nvGrpSpPr>
          <p:cNvPr name="Group 52" id="52"/>
          <p:cNvGrpSpPr/>
          <p:nvPr/>
        </p:nvGrpSpPr>
        <p:grpSpPr>
          <a:xfrm rot="0">
            <a:off x="1645920" y="5943600"/>
            <a:ext cx="9509760" cy="493776"/>
            <a:chOff x="0" y="0"/>
            <a:chExt cx="12679680" cy="658368"/>
          </a:xfrm>
        </p:grpSpPr>
        <p:sp>
          <p:nvSpPr>
            <p:cNvPr name="Freeform 53" id="53"/>
            <p:cNvSpPr/>
            <p:nvPr/>
          </p:nvSpPr>
          <p:spPr>
            <a:xfrm flipH="false" flipV="false" rot="0">
              <a:off x="0" y="0"/>
              <a:ext cx="12679680" cy="658368"/>
            </a:xfrm>
            <a:custGeom>
              <a:avLst/>
              <a:gdLst/>
              <a:ahLst/>
              <a:cxnLst/>
              <a:rect r="r" b="b" t="t" l="l"/>
              <a:pathLst>
                <a:path h="658368" w="12679680">
                  <a:moveTo>
                    <a:pt x="0" y="0"/>
                  </a:moveTo>
                  <a:lnTo>
                    <a:pt x="12679680" y="0"/>
                  </a:lnTo>
                  <a:lnTo>
                    <a:pt x="12679680" y="658368"/>
                  </a:lnTo>
                  <a:lnTo>
                    <a:pt x="0" y="658368"/>
                  </a:lnTo>
                  <a:close/>
                </a:path>
              </a:pathLst>
            </a:custGeom>
            <a:blipFill>
              <a:blip r:embed="rId3">
                <a:alphaModFix amt="0"/>
              </a:blip>
              <a:stretch>
                <a:fillRect l="0" t="-325267" r="0" b="-325267"/>
              </a:stretch>
            </a:blipFill>
          </p:spPr>
        </p:sp>
        <p:sp>
          <p:nvSpPr>
            <p:cNvPr name="TextBox 54" id="54"/>
            <p:cNvSpPr txBox="true"/>
            <p:nvPr/>
          </p:nvSpPr>
          <p:spPr>
            <a:xfrm>
              <a:off x="0" y="-47625"/>
              <a:ext cx="12679680" cy="705993"/>
            </a:xfrm>
            <a:prstGeom prst="rect">
              <a:avLst/>
            </a:prstGeom>
          </p:spPr>
          <p:txBody>
            <a:bodyPr anchor="ctr" rtlCol="false" tIns="0" lIns="0" bIns="0" rIns="0"/>
            <a:lstStyle/>
            <a:p>
              <a:pPr algn="l">
                <a:lnSpc>
                  <a:spcPts val="2520"/>
                </a:lnSpc>
              </a:pPr>
              <a:r>
                <a:rPr lang="en-US" sz="2100" b="true">
                  <a:solidFill>
                    <a:srgbClr val="1E293B"/>
                  </a:solidFill>
                  <a:latin typeface="Calibri (MS) Bold"/>
                  <a:ea typeface="Calibri (MS) Bold"/>
                  <a:cs typeface="Calibri (MS) Bold"/>
                  <a:sym typeface="Calibri (MS) Bold"/>
                </a:rPr>
                <a:t>Solution — Fine-tuning task</a:t>
              </a:r>
            </a:p>
          </p:txBody>
        </p:sp>
      </p:grpSp>
      <p:grpSp>
        <p:nvGrpSpPr>
          <p:cNvPr name="Group 55" id="55"/>
          <p:cNvGrpSpPr/>
          <p:nvPr/>
        </p:nvGrpSpPr>
        <p:grpSpPr>
          <a:xfrm rot="0">
            <a:off x="1645920" y="6437376"/>
            <a:ext cx="9509760" cy="694944"/>
            <a:chOff x="0" y="0"/>
            <a:chExt cx="12679680" cy="926592"/>
          </a:xfrm>
        </p:grpSpPr>
        <p:sp>
          <p:nvSpPr>
            <p:cNvPr name="Freeform 56" id="56"/>
            <p:cNvSpPr/>
            <p:nvPr/>
          </p:nvSpPr>
          <p:spPr>
            <a:xfrm flipH="false" flipV="false" rot="0">
              <a:off x="0" y="0"/>
              <a:ext cx="12679680" cy="926592"/>
            </a:xfrm>
            <a:custGeom>
              <a:avLst/>
              <a:gdLst/>
              <a:ahLst/>
              <a:cxnLst/>
              <a:rect r="r" b="b" t="t" l="l"/>
              <a:pathLst>
                <a:path h="926592" w="12679680">
                  <a:moveTo>
                    <a:pt x="0" y="0"/>
                  </a:moveTo>
                  <a:lnTo>
                    <a:pt x="12679680" y="0"/>
                  </a:lnTo>
                  <a:lnTo>
                    <a:pt x="12679680" y="926592"/>
                  </a:lnTo>
                  <a:lnTo>
                    <a:pt x="0" y="926592"/>
                  </a:lnTo>
                  <a:close/>
                </a:path>
              </a:pathLst>
            </a:custGeom>
            <a:blipFill>
              <a:blip r:embed="rId3">
                <a:alphaModFix amt="0"/>
              </a:blip>
              <a:stretch>
                <a:fillRect l="0" t="-216637" r="0" b="-216637"/>
              </a:stretch>
            </a:blipFill>
          </p:spPr>
        </p:sp>
        <p:sp>
          <p:nvSpPr>
            <p:cNvPr name="TextBox 57" id="57"/>
            <p:cNvSpPr txBox="true"/>
            <p:nvPr/>
          </p:nvSpPr>
          <p:spPr>
            <a:xfrm>
              <a:off x="0" y="-38100"/>
              <a:ext cx="12679680" cy="964692"/>
            </a:xfrm>
            <a:prstGeom prst="rect">
              <a:avLst/>
            </a:prstGeom>
          </p:spPr>
          <p:txBody>
            <a:bodyPr anchor="ctr" rtlCol="false" tIns="0" lIns="0" bIns="0" rIns="0"/>
            <a:lstStyle/>
            <a:p>
              <a:pPr algn="l">
                <a:lnSpc>
                  <a:spcPts val="2280"/>
                </a:lnSpc>
              </a:pPr>
              <a:r>
                <a:rPr lang="en-US" sz="1900">
                  <a:solidFill>
                    <a:srgbClr val="94A3B8"/>
                  </a:solidFill>
                  <a:latin typeface="Calibri (MS)"/>
                  <a:ea typeface="Calibri (MS)"/>
                  <a:cs typeface="Calibri (MS)"/>
                  <a:sym typeface="Calibri (MS)"/>
                </a:rPr>
                <a:t>Train AMFF to minimise the distance between V_global and the averaged GloVe embedding of all caption words. Averaging over all captions covers all objects in the scene. Uses SmoothL1 loss. Encoder parameters are then frozen for main training.</a:t>
              </a:r>
            </a:p>
          </p:txBody>
        </p:sp>
      </p:grpSp>
      <p:grpSp>
        <p:nvGrpSpPr>
          <p:cNvPr name="Group 58" id="58"/>
          <p:cNvGrpSpPr/>
          <p:nvPr/>
        </p:nvGrpSpPr>
        <p:grpSpPr>
          <a:xfrm rot="0">
            <a:off x="725167" y="7400287"/>
            <a:ext cx="10711177" cy="2298697"/>
            <a:chOff x="0" y="0"/>
            <a:chExt cx="14281569" cy="3064929"/>
          </a:xfrm>
        </p:grpSpPr>
        <p:sp>
          <p:nvSpPr>
            <p:cNvPr name="Freeform 59" id="59"/>
            <p:cNvSpPr/>
            <p:nvPr/>
          </p:nvSpPr>
          <p:spPr>
            <a:xfrm flipH="false" flipV="false" rot="0">
              <a:off x="8509" y="8509"/>
              <a:ext cx="14264640" cy="3048000"/>
            </a:xfrm>
            <a:custGeom>
              <a:avLst/>
              <a:gdLst/>
              <a:ahLst/>
              <a:cxnLst/>
              <a:rect r="r" b="b" t="t" l="l"/>
              <a:pathLst>
                <a:path h="3048000" w="14264640">
                  <a:moveTo>
                    <a:pt x="0" y="0"/>
                  </a:moveTo>
                  <a:lnTo>
                    <a:pt x="14264640" y="0"/>
                  </a:lnTo>
                  <a:lnTo>
                    <a:pt x="14264640" y="3048000"/>
                  </a:lnTo>
                  <a:lnTo>
                    <a:pt x="0" y="3048000"/>
                  </a:lnTo>
                  <a:close/>
                </a:path>
              </a:pathLst>
            </a:custGeom>
            <a:solidFill>
              <a:srgbClr val="FFFFFF"/>
            </a:solidFill>
          </p:spPr>
        </p:sp>
        <p:sp>
          <p:nvSpPr>
            <p:cNvPr name="Freeform 60" id="60"/>
            <p:cNvSpPr/>
            <p:nvPr/>
          </p:nvSpPr>
          <p:spPr>
            <a:xfrm flipH="false" flipV="false" rot="0">
              <a:off x="0" y="0"/>
              <a:ext cx="14281657" cy="3065018"/>
            </a:xfrm>
            <a:custGeom>
              <a:avLst/>
              <a:gdLst/>
              <a:ahLst/>
              <a:cxnLst/>
              <a:rect r="r" b="b" t="t" l="l"/>
              <a:pathLst>
                <a:path h="3065018" w="14281657">
                  <a:moveTo>
                    <a:pt x="8509" y="0"/>
                  </a:moveTo>
                  <a:lnTo>
                    <a:pt x="14273149" y="0"/>
                  </a:lnTo>
                  <a:cubicBezTo>
                    <a:pt x="14277848" y="0"/>
                    <a:pt x="14281657" y="3810"/>
                    <a:pt x="14281657" y="8509"/>
                  </a:cubicBezTo>
                  <a:lnTo>
                    <a:pt x="14281657" y="3056509"/>
                  </a:lnTo>
                  <a:cubicBezTo>
                    <a:pt x="14281657" y="3061208"/>
                    <a:pt x="14277848" y="3065018"/>
                    <a:pt x="14273149" y="3065018"/>
                  </a:cubicBezTo>
                  <a:lnTo>
                    <a:pt x="8509" y="3065018"/>
                  </a:lnTo>
                  <a:cubicBezTo>
                    <a:pt x="3810" y="3065018"/>
                    <a:pt x="0" y="3061208"/>
                    <a:pt x="0" y="3056509"/>
                  </a:cubicBezTo>
                  <a:lnTo>
                    <a:pt x="0" y="8509"/>
                  </a:lnTo>
                  <a:cubicBezTo>
                    <a:pt x="0" y="3810"/>
                    <a:pt x="3810" y="0"/>
                    <a:pt x="8509" y="0"/>
                  </a:cubicBezTo>
                  <a:moveTo>
                    <a:pt x="8509" y="16891"/>
                  </a:moveTo>
                  <a:lnTo>
                    <a:pt x="8509" y="8509"/>
                  </a:lnTo>
                  <a:lnTo>
                    <a:pt x="17018" y="8509"/>
                  </a:lnTo>
                  <a:lnTo>
                    <a:pt x="17018" y="3056509"/>
                  </a:lnTo>
                  <a:lnTo>
                    <a:pt x="8509" y="3056509"/>
                  </a:lnTo>
                  <a:lnTo>
                    <a:pt x="8509" y="3048000"/>
                  </a:lnTo>
                  <a:lnTo>
                    <a:pt x="14273149" y="3048000"/>
                  </a:lnTo>
                  <a:lnTo>
                    <a:pt x="14273149" y="3056509"/>
                  </a:lnTo>
                  <a:lnTo>
                    <a:pt x="14264639" y="3056509"/>
                  </a:lnTo>
                  <a:lnTo>
                    <a:pt x="14264639" y="8509"/>
                  </a:lnTo>
                  <a:lnTo>
                    <a:pt x="14273149" y="8509"/>
                  </a:lnTo>
                  <a:lnTo>
                    <a:pt x="14273149" y="17018"/>
                  </a:lnTo>
                  <a:lnTo>
                    <a:pt x="8509" y="17018"/>
                  </a:lnTo>
                  <a:close/>
                </a:path>
              </a:pathLst>
            </a:custGeom>
            <a:solidFill>
              <a:srgbClr val="E2E8F0"/>
            </a:solidFill>
          </p:spPr>
        </p:sp>
      </p:grpSp>
      <p:grpSp>
        <p:nvGrpSpPr>
          <p:cNvPr name="Group 61" id="61"/>
          <p:cNvGrpSpPr/>
          <p:nvPr/>
        </p:nvGrpSpPr>
        <p:grpSpPr>
          <a:xfrm rot="0">
            <a:off x="718823" y="7393943"/>
            <a:ext cx="10723883" cy="665483"/>
            <a:chOff x="0" y="0"/>
            <a:chExt cx="14298511" cy="887311"/>
          </a:xfrm>
        </p:grpSpPr>
        <p:sp>
          <p:nvSpPr>
            <p:cNvPr name="Freeform 62" id="62"/>
            <p:cNvSpPr/>
            <p:nvPr/>
          </p:nvSpPr>
          <p:spPr>
            <a:xfrm flipH="false" flipV="false" rot="0">
              <a:off x="16891" y="16891"/>
              <a:ext cx="14264639" cy="853440"/>
            </a:xfrm>
            <a:custGeom>
              <a:avLst/>
              <a:gdLst/>
              <a:ahLst/>
              <a:cxnLst/>
              <a:rect r="r" b="b" t="t" l="l"/>
              <a:pathLst>
                <a:path h="853440" w="14264639">
                  <a:moveTo>
                    <a:pt x="0" y="0"/>
                  </a:moveTo>
                  <a:lnTo>
                    <a:pt x="14264639" y="0"/>
                  </a:lnTo>
                  <a:lnTo>
                    <a:pt x="14264639" y="853440"/>
                  </a:lnTo>
                  <a:lnTo>
                    <a:pt x="0" y="853440"/>
                  </a:lnTo>
                  <a:close/>
                </a:path>
              </a:pathLst>
            </a:custGeom>
            <a:solidFill>
              <a:srgbClr val="0D1B3E"/>
            </a:solidFill>
          </p:spPr>
        </p:sp>
        <p:sp>
          <p:nvSpPr>
            <p:cNvPr name="Freeform 63" id="63"/>
            <p:cNvSpPr/>
            <p:nvPr/>
          </p:nvSpPr>
          <p:spPr>
            <a:xfrm flipH="false" flipV="false" rot="0">
              <a:off x="0" y="0"/>
              <a:ext cx="14298422" cy="887224"/>
            </a:xfrm>
            <a:custGeom>
              <a:avLst/>
              <a:gdLst/>
              <a:ahLst/>
              <a:cxnLst/>
              <a:rect r="r" b="b" t="t" l="l"/>
              <a:pathLst>
                <a:path h="887224" w="14298422">
                  <a:moveTo>
                    <a:pt x="16891" y="0"/>
                  </a:moveTo>
                  <a:lnTo>
                    <a:pt x="14281530" y="0"/>
                  </a:lnTo>
                  <a:cubicBezTo>
                    <a:pt x="14290929" y="0"/>
                    <a:pt x="14298422" y="7620"/>
                    <a:pt x="14298422" y="16891"/>
                  </a:cubicBezTo>
                  <a:lnTo>
                    <a:pt x="14298422" y="870331"/>
                  </a:lnTo>
                  <a:cubicBezTo>
                    <a:pt x="14298422" y="879729"/>
                    <a:pt x="14290802" y="887222"/>
                    <a:pt x="14281530" y="887222"/>
                  </a:cubicBezTo>
                  <a:lnTo>
                    <a:pt x="16891" y="887222"/>
                  </a:lnTo>
                  <a:cubicBezTo>
                    <a:pt x="7620" y="887349"/>
                    <a:pt x="0" y="879729"/>
                    <a:pt x="0" y="870331"/>
                  </a:cubicBezTo>
                  <a:lnTo>
                    <a:pt x="0" y="16891"/>
                  </a:lnTo>
                  <a:cubicBezTo>
                    <a:pt x="0" y="7620"/>
                    <a:pt x="7620" y="0"/>
                    <a:pt x="16891" y="0"/>
                  </a:cubicBezTo>
                  <a:moveTo>
                    <a:pt x="16891" y="33909"/>
                  </a:moveTo>
                  <a:lnTo>
                    <a:pt x="16891" y="16891"/>
                  </a:lnTo>
                  <a:lnTo>
                    <a:pt x="33909" y="16891"/>
                  </a:lnTo>
                  <a:lnTo>
                    <a:pt x="33909" y="870331"/>
                  </a:lnTo>
                  <a:lnTo>
                    <a:pt x="16891" y="870331"/>
                  </a:lnTo>
                  <a:lnTo>
                    <a:pt x="16891" y="853440"/>
                  </a:lnTo>
                  <a:lnTo>
                    <a:pt x="14281530" y="853440"/>
                  </a:lnTo>
                  <a:lnTo>
                    <a:pt x="14281530" y="870331"/>
                  </a:lnTo>
                  <a:lnTo>
                    <a:pt x="14264639" y="870331"/>
                  </a:lnTo>
                  <a:lnTo>
                    <a:pt x="14264639" y="16891"/>
                  </a:lnTo>
                  <a:lnTo>
                    <a:pt x="14281530" y="16891"/>
                  </a:lnTo>
                  <a:lnTo>
                    <a:pt x="14281530" y="33909"/>
                  </a:lnTo>
                  <a:lnTo>
                    <a:pt x="16891" y="33909"/>
                  </a:lnTo>
                  <a:close/>
                </a:path>
              </a:pathLst>
            </a:custGeom>
            <a:solidFill>
              <a:srgbClr val="0D1B3E"/>
            </a:solidFill>
          </p:spPr>
        </p:sp>
      </p:grpSp>
      <p:grpSp>
        <p:nvGrpSpPr>
          <p:cNvPr name="Group 64" id="64"/>
          <p:cNvGrpSpPr/>
          <p:nvPr/>
        </p:nvGrpSpPr>
        <p:grpSpPr>
          <a:xfrm rot="0">
            <a:off x="1005840" y="7406640"/>
            <a:ext cx="10241280" cy="640080"/>
            <a:chOff x="0" y="0"/>
            <a:chExt cx="13655040" cy="853440"/>
          </a:xfrm>
        </p:grpSpPr>
        <p:sp>
          <p:nvSpPr>
            <p:cNvPr name="Freeform 65" id="65"/>
            <p:cNvSpPr/>
            <p:nvPr/>
          </p:nvSpPr>
          <p:spPr>
            <a:xfrm flipH="false" flipV="false" rot="0">
              <a:off x="0" y="0"/>
              <a:ext cx="13655039" cy="853440"/>
            </a:xfrm>
            <a:custGeom>
              <a:avLst/>
              <a:gdLst/>
              <a:ahLst/>
              <a:cxnLst/>
              <a:rect r="r" b="b" t="t" l="l"/>
              <a:pathLst>
                <a:path h="853440" w="13655039">
                  <a:moveTo>
                    <a:pt x="0" y="0"/>
                  </a:moveTo>
                  <a:lnTo>
                    <a:pt x="13655039" y="0"/>
                  </a:lnTo>
                  <a:lnTo>
                    <a:pt x="13655039" y="853440"/>
                  </a:lnTo>
                  <a:lnTo>
                    <a:pt x="0" y="853440"/>
                  </a:lnTo>
                  <a:close/>
                </a:path>
              </a:pathLst>
            </a:custGeom>
            <a:blipFill>
              <a:blip r:embed="rId3">
                <a:alphaModFix amt="0"/>
              </a:blip>
              <a:stretch>
                <a:fillRect l="0" t="-261760" r="0" b="-261760"/>
              </a:stretch>
            </a:blipFill>
          </p:spPr>
        </p:sp>
        <p:sp>
          <p:nvSpPr>
            <p:cNvPr name="TextBox 66" id="66"/>
            <p:cNvSpPr txBox="true"/>
            <p:nvPr/>
          </p:nvSpPr>
          <p:spPr>
            <a:xfrm>
              <a:off x="0" y="-38100"/>
              <a:ext cx="13655040" cy="891540"/>
            </a:xfrm>
            <a:prstGeom prst="rect">
              <a:avLst/>
            </a:prstGeom>
          </p:spPr>
          <p:txBody>
            <a:bodyPr anchor="ctr" rtlCol="false" tIns="0" lIns="0" bIns="0" rIns="0"/>
            <a:lstStyle/>
            <a:p>
              <a:pPr algn="l">
                <a:lnSpc>
                  <a:spcPts val="2879"/>
                </a:lnSpc>
              </a:pPr>
              <a:r>
                <a:rPr lang="en-US" sz="2400" b="true">
                  <a:solidFill>
                    <a:srgbClr val="FFFFFF"/>
                  </a:solidFill>
                  <a:latin typeface="Calibri (MS) Bold"/>
                  <a:ea typeface="Calibri (MS) Bold"/>
                  <a:cs typeface="Calibri (MS) Bold"/>
                  <a:sym typeface="Calibri (MS) Bold"/>
                </a:rPr>
                <a:t>Phase 2 — End-to-end model training</a:t>
              </a:r>
            </a:p>
          </p:txBody>
        </p:sp>
      </p:grpSp>
      <p:grpSp>
        <p:nvGrpSpPr>
          <p:cNvPr name="Group 67" id="67"/>
          <p:cNvGrpSpPr/>
          <p:nvPr/>
        </p:nvGrpSpPr>
        <p:grpSpPr>
          <a:xfrm rot="0">
            <a:off x="1005840" y="8101584"/>
            <a:ext cx="10241280" cy="1463040"/>
            <a:chOff x="0" y="0"/>
            <a:chExt cx="13655040" cy="1950720"/>
          </a:xfrm>
        </p:grpSpPr>
        <p:sp>
          <p:nvSpPr>
            <p:cNvPr name="Freeform 68" id="68"/>
            <p:cNvSpPr/>
            <p:nvPr/>
          </p:nvSpPr>
          <p:spPr>
            <a:xfrm flipH="false" flipV="false" rot="0">
              <a:off x="0" y="0"/>
              <a:ext cx="13655039" cy="1950720"/>
            </a:xfrm>
            <a:custGeom>
              <a:avLst/>
              <a:gdLst/>
              <a:ahLst/>
              <a:cxnLst/>
              <a:rect r="r" b="b" t="t" l="l"/>
              <a:pathLst>
                <a:path h="1950720" w="13655039">
                  <a:moveTo>
                    <a:pt x="0" y="0"/>
                  </a:moveTo>
                  <a:lnTo>
                    <a:pt x="13655039" y="0"/>
                  </a:lnTo>
                  <a:lnTo>
                    <a:pt x="13655039" y="1950720"/>
                  </a:lnTo>
                  <a:lnTo>
                    <a:pt x="0" y="1950720"/>
                  </a:lnTo>
                  <a:close/>
                </a:path>
              </a:pathLst>
            </a:custGeom>
            <a:blipFill>
              <a:blip r:embed="rId3">
                <a:alphaModFix amt="0"/>
              </a:blip>
              <a:stretch>
                <a:fillRect l="0" t="-86395" r="0" b="-86395"/>
              </a:stretch>
            </a:blipFill>
          </p:spPr>
        </p:sp>
        <p:sp>
          <p:nvSpPr>
            <p:cNvPr name="TextBox 69" id="69"/>
            <p:cNvSpPr txBox="true"/>
            <p:nvPr/>
          </p:nvSpPr>
          <p:spPr>
            <a:xfrm>
              <a:off x="0" y="-38100"/>
              <a:ext cx="13655040" cy="1988820"/>
            </a:xfrm>
            <a:prstGeom prst="rect">
              <a:avLst/>
            </a:prstGeom>
          </p:spPr>
          <p:txBody>
            <a:bodyPr anchor="ctr" rtlCol="false" tIns="0" lIns="0" bIns="0" rIns="0"/>
            <a:lstStyle/>
            <a:p>
              <a:pPr algn="l">
                <a:lnSpc>
                  <a:spcPts val="2400"/>
                </a:lnSpc>
              </a:pPr>
              <a:r>
                <a:rPr lang="en-US" sz="2000" b="true">
                  <a:solidFill>
                    <a:srgbClr val="E05B4B"/>
                  </a:solidFill>
                  <a:latin typeface="Calibri (MS) Bold"/>
                  <a:ea typeface="Calibri (MS) Bold"/>
                  <a:cs typeface="Calibri (MS) Bold"/>
                  <a:sym typeface="Calibri (MS) Bold"/>
                </a:rPr>
                <a:t>L1 (word-level): </a:t>
              </a:r>
              <a:r>
                <a:rPr lang="en-US" sz="2000">
                  <a:solidFill>
                    <a:srgbClr val="1E293B"/>
                  </a:solidFill>
                  <a:latin typeface="Calibri (MS)"/>
                  <a:ea typeface="Calibri (MS)"/>
                  <a:cs typeface="Calibri (MS)"/>
                  <a:sym typeface="Calibri (MS)"/>
                </a:rPr>
                <a:t>SmoothL1(ê_t, e_t) — predicted vs target embedding at each timestep</a:t>
              </a:r>
            </a:p>
            <a:p>
              <a:pPr algn="l">
                <a:lnSpc>
                  <a:spcPts val="2400"/>
                </a:lnSpc>
              </a:pPr>
              <a:r>
                <a:rPr lang="en-US" sz="2000" b="true">
                  <a:solidFill>
                    <a:srgbClr val="6D28D9"/>
                  </a:solidFill>
                  <a:latin typeface="Calibri (MS) Bold"/>
                  <a:ea typeface="Calibri (MS) Bold"/>
                  <a:cs typeface="Calibri (MS) Bold"/>
                  <a:sym typeface="Calibri (MS) Bold"/>
                </a:rPr>
                <a:t>L2 (sentence-level): </a:t>
              </a:r>
              <a:r>
                <a:rPr lang="en-US" sz="2000">
                  <a:solidFill>
                    <a:srgbClr val="1E293B"/>
                  </a:solidFill>
                  <a:latin typeface="Calibri (MS)"/>
                  <a:ea typeface="Calibri (MS)"/>
                  <a:cs typeface="Calibri (MS)"/>
                  <a:sym typeface="Calibri (MS)"/>
                </a:rPr>
                <a:t>SmoothL1(avg(ê_t), avg(e_t)) — overall sentence semantic coherence</a:t>
              </a:r>
            </a:p>
            <a:p>
              <a:pPr algn="l">
                <a:lnSpc>
                  <a:spcPts val="2400"/>
                </a:lnSpc>
              </a:pPr>
              <a:r>
                <a:rPr lang="en-US" sz="2000" b="true">
                  <a:solidFill>
                    <a:srgbClr val="D97706"/>
                  </a:solidFill>
                  <a:latin typeface="Calibri (MS) Bold"/>
                  <a:ea typeface="Calibri (MS) Bold"/>
                  <a:cs typeface="Calibri (MS) Bold"/>
                  <a:sym typeface="Calibri (MS) Bold"/>
                </a:rPr>
                <a:t>GradNorm </a:t>
              </a:r>
              <a:r>
                <a:rPr lang="en-US" sz="2000">
                  <a:solidFill>
                    <a:srgbClr val="1E293B"/>
                  </a:solidFill>
                  <a:latin typeface="Calibri (MS)"/>
                  <a:ea typeface="Calibri (MS)"/>
                  <a:cs typeface="Calibri (MS)"/>
                  <a:sym typeface="Calibri (MS)"/>
                </a:rPr>
                <a:t>automatically balances weights between L1 and L2 during training.</a:t>
              </a:r>
            </a:p>
          </p:txBody>
        </p:sp>
      </p:grpSp>
      <p:grpSp>
        <p:nvGrpSpPr>
          <p:cNvPr name="Group 70" id="70"/>
          <p:cNvGrpSpPr/>
          <p:nvPr/>
        </p:nvGrpSpPr>
        <p:grpSpPr>
          <a:xfrm rot="0">
            <a:off x="11789407" y="2462527"/>
            <a:ext cx="5773417" cy="4127497"/>
            <a:chOff x="0" y="0"/>
            <a:chExt cx="7697889" cy="5503329"/>
          </a:xfrm>
        </p:grpSpPr>
        <p:sp>
          <p:nvSpPr>
            <p:cNvPr name="Freeform 71" id="71"/>
            <p:cNvSpPr/>
            <p:nvPr/>
          </p:nvSpPr>
          <p:spPr>
            <a:xfrm flipH="false" flipV="false" rot="0">
              <a:off x="8509" y="8509"/>
              <a:ext cx="7680960" cy="5486400"/>
            </a:xfrm>
            <a:custGeom>
              <a:avLst/>
              <a:gdLst/>
              <a:ahLst/>
              <a:cxnLst/>
              <a:rect r="r" b="b" t="t" l="l"/>
              <a:pathLst>
                <a:path h="5486400" w="7680960">
                  <a:moveTo>
                    <a:pt x="0" y="0"/>
                  </a:moveTo>
                  <a:lnTo>
                    <a:pt x="7680960" y="0"/>
                  </a:lnTo>
                  <a:lnTo>
                    <a:pt x="7680960" y="5486400"/>
                  </a:lnTo>
                  <a:lnTo>
                    <a:pt x="0" y="5486400"/>
                  </a:lnTo>
                  <a:close/>
                </a:path>
              </a:pathLst>
            </a:custGeom>
            <a:solidFill>
              <a:srgbClr val="FEF3C7"/>
            </a:solidFill>
          </p:spPr>
        </p:sp>
        <p:sp>
          <p:nvSpPr>
            <p:cNvPr name="Freeform 72" id="72"/>
            <p:cNvSpPr/>
            <p:nvPr/>
          </p:nvSpPr>
          <p:spPr>
            <a:xfrm flipH="false" flipV="false" rot="0">
              <a:off x="0" y="0"/>
              <a:ext cx="7697978" cy="5503418"/>
            </a:xfrm>
            <a:custGeom>
              <a:avLst/>
              <a:gdLst/>
              <a:ahLst/>
              <a:cxnLst/>
              <a:rect r="r" b="b" t="t" l="l"/>
              <a:pathLst>
                <a:path h="5503418" w="7697978">
                  <a:moveTo>
                    <a:pt x="8509" y="0"/>
                  </a:moveTo>
                  <a:lnTo>
                    <a:pt x="7689469" y="0"/>
                  </a:lnTo>
                  <a:cubicBezTo>
                    <a:pt x="7694168" y="0"/>
                    <a:pt x="7697978" y="3810"/>
                    <a:pt x="7697978" y="8509"/>
                  </a:cubicBezTo>
                  <a:lnTo>
                    <a:pt x="7697978" y="5494909"/>
                  </a:lnTo>
                  <a:cubicBezTo>
                    <a:pt x="7697978" y="5499608"/>
                    <a:pt x="7694168" y="5503418"/>
                    <a:pt x="7689469" y="5503418"/>
                  </a:cubicBezTo>
                  <a:lnTo>
                    <a:pt x="8509" y="5503418"/>
                  </a:lnTo>
                  <a:cubicBezTo>
                    <a:pt x="3810" y="5503418"/>
                    <a:pt x="0" y="5499608"/>
                    <a:pt x="0" y="5494909"/>
                  </a:cubicBezTo>
                  <a:lnTo>
                    <a:pt x="0" y="8509"/>
                  </a:lnTo>
                  <a:cubicBezTo>
                    <a:pt x="0" y="3810"/>
                    <a:pt x="3810" y="0"/>
                    <a:pt x="8509" y="0"/>
                  </a:cubicBezTo>
                  <a:moveTo>
                    <a:pt x="8509" y="16891"/>
                  </a:moveTo>
                  <a:lnTo>
                    <a:pt x="8509" y="8509"/>
                  </a:lnTo>
                  <a:lnTo>
                    <a:pt x="17018" y="8509"/>
                  </a:lnTo>
                  <a:lnTo>
                    <a:pt x="17018" y="5494909"/>
                  </a:lnTo>
                  <a:lnTo>
                    <a:pt x="8509" y="5494909"/>
                  </a:lnTo>
                  <a:lnTo>
                    <a:pt x="8509" y="5486400"/>
                  </a:lnTo>
                  <a:lnTo>
                    <a:pt x="7689469" y="5486400"/>
                  </a:lnTo>
                  <a:lnTo>
                    <a:pt x="7689469" y="5494909"/>
                  </a:lnTo>
                  <a:lnTo>
                    <a:pt x="7680960" y="5494909"/>
                  </a:lnTo>
                  <a:lnTo>
                    <a:pt x="7680960" y="8509"/>
                  </a:lnTo>
                  <a:lnTo>
                    <a:pt x="7689469" y="8509"/>
                  </a:lnTo>
                  <a:lnTo>
                    <a:pt x="7689469" y="17018"/>
                  </a:lnTo>
                  <a:lnTo>
                    <a:pt x="8509" y="17018"/>
                  </a:lnTo>
                  <a:close/>
                </a:path>
              </a:pathLst>
            </a:custGeom>
            <a:solidFill>
              <a:srgbClr val="E2E8F0"/>
            </a:solidFill>
          </p:spPr>
        </p:sp>
      </p:grpSp>
      <p:grpSp>
        <p:nvGrpSpPr>
          <p:cNvPr name="Group 73" id="73"/>
          <p:cNvGrpSpPr/>
          <p:nvPr/>
        </p:nvGrpSpPr>
        <p:grpSpPr>
          <a:xfrm rot="0">
            <a:off x="12070080" y="2560320"/>
            <a:ext cx="5303520" cy="548640"/>
            <a:chOff x="0" y="0"/>
            <a:chExt cx="7071360" cy="731520"/>
          </a:xfrm>
        </p:grpSpPr>
        <p:sp>
          <p:nvSpPr>
            <p:cNvPr name="Freeform 74" id="74"/>
            <p:cNvSpPr/>
            <p:nvPr/>
          </p:nvSpPr>
          <p:spPr>
            <a:xfrm flipH="false" flipV="false" rot="0">
              <a:off x="0" y="0"/>
              <a:ext cx="7071360" cy="731520"/>
            </a:xfrm>
            <a:custGeom>
              <a:avLst/>
              <a:gdLst/>
              <a:ahLst/>
              <a:cxnLst/>
              <a:rect r="r" b="b" t="t" l="l"/>
              <a:pathLst>
                <a:path h="731520" w="7071360">
                  <a:moveTo>
                    <a:pt x="0" y="0"/>
                  </a:moveTo>
                  <a:lnTo>
                    <a:pt x="7071360" y="0"/>
                  </a:lnTo>
                  <a:lnTo>
                    <a:pt x="7071360" y="731520"/>
                  </a:lnTo>
                  <a:lnTo>
                    <a:pt x="0" y="731520"/>
                  </a:lnTo>
                  <a:close/>
                </a:path>
              </a:pathLst>
            </a:custGeom>
            <a:blipFill>
              <a:blip r:embed="rId3">
                <a:alphaModFix amt="0"/>
              </a:blip>
              <a:stretch>
                <a:fillRect l="0" t="-138355" r="0" b="-138355"/>
              </a:stretch>
            </a:blipFill>
          </p:spPr>
        </p:sp>
        <p:sp>
          <p:nvSpPr>
            <p:cNvPr name="TextBox 75" id="75"/>
            <p:cNvSpPr txBox="true"/>
            <p:nvPr/>
          </p:nvSpPr>
          <p:spPr>
            <a:xfrm>
              <a:off x="0" y="-47625"/>
              <a:ext cx="7071360" cy="779145"/>
            </a:xfrm>
            <a:prstGeom prst="rect">
              <a:avLst/>
            </a:prstGeom>
          </p:spPr>
          <p:txBody>
            <a:bodyPr anchor="ctr" rtlCol="false" tIns="0" lIns="0" bIns="0" rIns="0"/>
            <a:lstStyle/>
            <a:p>
              <a:pPr algn="l">
                <a:lnSpc>
                  <a:spcPts val="2640"/>
                </a:lnSpc>
              </a:pPr>
              <a:r>
                <a:rPr lang="en-US" sz="2200" b="true">
                  <a:solidFill>
                    <a:srgbClr val="D97706"/>
                  </a:solidFill>
                  <a:latin typeface="Calibri (MS) Bold"/>
                  <a:ea typeface="Calibri (MS) Bold"/>
                  <a:cs typeface="Calibri (MS) Bold"/>
                  <a:sym typeface="Calibri (MS) Bold"/>
                </a:rPr>
                <a:t>SmoothL1 (Huber) Loss</a:t>
              </a:r>
            </a:p>
          </p:txBody>
        </p:sp>
      </p:grpSp>
      <p:grpSp>
        <p:nvGrpSpPr>
          <p:cNvPr name="Group 76" id="76"/>
          <p:cNvGrpSpPr/>
          <p:nvPr/>
        </p:nvGrpSpPr>
        <p:grpSpPr>
          <a:xfrm rot="0">
            <a:off x="12070080" y="3168653"/>
            <a:ext cx="5303520" cy="2743200"/>
            <a:chOff x="0" y="0"/>
            <a:chExt cx="7071360" cy="3657600"/>
          </a:xfrm>
        </p:grpSpPr>
        <p:sp>
          <p:nvSpPr>
            <p:cNvPr name="Freeform 77" id="77"/>
            <p:cNvSpPr/>
            <p:nvPr/>
          </p:nvSpPr>
          <p:spPr>
            <a:xfrm flipH="false" flipV="false" rot="0">
              <a:off x="0" y="0"/>
              <a:ext cx="7071360" cy="3657600"/>
            </a:xfrm>
            <a:custGeom>
              <a:avLst/>
              <a:gdLst/>
              <a:ahLst/>
              <a:cxnLst/>
              <a:rect r="r" b="b" t="t" l="l"/>
              <a:pathLst>
                <a:path h="3657600" w="7071360">
                  <a:moveTo>
                    <a:pt x="0" y="0"/>
                  </a:moveTo>
                  <a:lnTo>
                    <a:pt x="7071360" y="0"/>
                  </a:lnTo>
                  <a:lnTo>
                    <a:pt x="7071360" y="3657600"/>
                  </a:lnTo>
                  <a:lnTo>
                    <a:pt x="0" y="3657600"/>
                  </a:lnTo>
                  <a:close/>
                </a:path>
              </a:pathLst>
            </a:custGeom>
            <a:blipFill>
              <a:blip r:embed="rId3">
                <a:alphaModFix amt="0"/>
              </a:blip>
              <a:stretch>
                <a:fillRect l="-16363" t="0" r="-16363" b="0"/>
              </a:stretch>
            </a:blipFill>
          </p:spPr>
        </p:sp>
        <p:sp>
          <p:nvSpPr>
            <p:cNvPr name="TextBox 78" id="78"/>
            <p:cNvSpPr txBox="true"/>
            <p:nvPr/>
          </p:nvSpPr>
          <p:spPr>
            <a:xfrm>
              <a:off x="0" y="-38100"/>
              <a:ext cx="7071360" cy="3695700"/>
            </a:xfrm>
            <a:prstGeom prst="rect">
              <a:avLst/>
            </a:prstGeom>
          </p:spPr>
          <p:txBody>
            <a:bodyPr anchor="ctr" rtlCol="false" tIns="0" lIns="0" bIns="0" rIns="0"/>
            <a:lstStyle/>
            <a:p>
              <a:pPr algn="l">
                <a:lnSpc>
                  <a:spcPts val="2280"/>
                </a:lnSpc>
              </a:pPr>
              <a:r>
                <a:rPr lang="en-US" sz="1900">
                  <a:solidFill>
                    <a:srgbClr val="1E293B"/>
                  </a:solidFill>
                  <a:latin typeface="Consolas"/>
                  <a:ea typeface="Consolas"/>
                  <a:cs typeface="Consolas"/>
                  <a:sym typeface="Consolas"/>
                </a:rPr>
                <a:t>SmoothL1(x, y) =</a:t>
              </a:r>
            </a:p>
            <a:p>
              <a:pPr algn="l">
                <a:lnSpc>
                  <a:spcPts val="2280"/>
                </a:lnSpc>
              </a:pPr>
              <a:r>
                <a:rPr lang="en-US" sz="1900">
                  <a:solidFill>
                    <a:srgbClr val="1E293B"/>
                  </a:solidFill>
                  <a:latin typeface="Consolas"/>
                  <a:ea typeface="Consolas"/>
                  <a:cs typeface="Consolas"/>
                  <a:sym typeface="Consolas"/>
                </a:rPr>
                <a:t>  ½(x−y)²       if |x−y| ≤ 1</a:t>
              </a:r>
            </a:p>
            <a:p>
              <a:pPr algn="l">
                <a:lnSpc>
                  <a:spcPts val="2280"/>
                </a:lnSpc>
              </a:pPr>
              <a:r>
                <a:rPr lang="en-US" sz="1900">
                  <a:solidFill>
                    <a:srgbClr val="1E293B"/>
                  </a:solidFill>
                  <a:latin typeface="Consolas"/>
                  <a:ea typeface="Consolas"/>
                  <a:cs typeface="Consolas"/>
                  <a:sym typeface="Consolas"/>
                </a:rPr>
                <a:t>  |x−y| − ½    otherwise</a:t>
              </a:r>
            </a:p>
            <a:p>
              <a:pPr algn="l">
                <a:lnSpc>
                  <a:spcPts val="2280"/>
                </a:lnSpc>
              </a:pPr>
            </a:p>
            <a:p>
              <a:pPr algn="l">
                <a:lnSpc>
                  <a:spcPts val="2280"/>
                </a:lnSpc>
              </a:pPr>
              <a:r>
                <a:rPr lang="en-US" sz="1900">
                  <a:solidFill>
                    <a:srgbClr val="1E293B"/>
                  </a:solidFill>
                  <a:latin typeface="Consolas"/>
                  <a:ea typeface="Consolas"/>
                  <a:cs typeface="Consolas"/>
                  <a:sym typeface="Consolas"/>
                </a:rPr>
                <a:t>Quadratic for small errors → sensitive to fine differences. Linear for large errors → robust to outliers. Better than MSE for embedding regression tasks.</a:t>
              </a:r>
            </a:p>
          </p:txBody>
        </p:sp>
      </p:grpSp>
      <p:grpSp>
        <p:nvGrpSpPr>
          <p:cNvPr name="Group 79" id="79"/>
          <p:cNvGrpSpPr/>
          <p:nvPr/>
        </p:nvGrpSpPr>
        <p:grpSpPr>
          <a:xfrm rot="0">
            <a:off x="11789407" y="6760207"/>
            <a:ext cx="5773417" cy="2938777"/>
            <a:chOff x="0" y="0"/>
            <a:chExt cx="7697889" cy="3918369"/>
          </a:xfrm>
        </p:grpSpPr>
        <p:sp>
          <p:nvSpPr>
            <p:cNvPr name="Freeform 80" id="80"/>
            <p:cNvSpPr/>
            <p:nvPr/>
          </p:nvSpPr>
          <p:spPr>
            <a:xfrm flipH="false" flipV="false" rot="0">
              <a:off x="8509" y="8509"/>
              <a:ext cx="7680960" cy="3901440"/>
            </a:xfrm>
            <a:custGeom>
              <a:avLst/>
              <a:gdLst/>
              <a:ahLst/>
              <a:cxnLst/>
              <a:rect r="r" b="b" t="t" l="l"/>
              <a:pathLst>
                <a:path h="3901440" w="7680960">
                  <a:moveTo>
                    <a:pt x="0" y="0"/>
                  </a:moveTo>
                  <a:lnTo>
                    <a:pt x="7680960" y="0"/>
                  </a:lnTo>
                  <a:lnTo>
                    <a:pt x="7680960" y="3901440"/>
                  </a:lnTo>
                  <a:lnTo>
                    <a:pt x="0" y="3901440"/>
                  </a:lnTo>
                  <a:close/>
                </a:path>
              </a:pathLst>
            </a:custGeom>
            <a:solidFill>
              <a:srgbClr val="FFFFFF"/>
            </a:solidFill>
          </p:spPr>
        </p:sp>
        <p:sp>
          <p:nvSpPr>
            <p:cNvPr name="Freeform 81" id="81"/>
            <p:cNvSpPr/>
            <p:nvPr/>
          </p:nvSpPr>
          <p:spPr>
            <a:xfrm flipH="false" flipV="false" rot="0">
              <a:off x="0" y="0"/>
              <a:ext cx="7697978" cy="3918458"/>
            </a:xfrm>
            <a:custGeom>
              <a:avLst/>
              <a:gdLst/>
              <a:ahLst/>
              <a:cxnLst/>
              <a:rect r="r" b="b" t="t" l="l"/>
              <a:pathLst>
                <a:path h="3918458" w="7697978">
                  <a:moveTo>
                    <a:pt x="8509" y="0"/>
                  </a:moveTo>
                  <a:lnTo>
                    <a:pt x="7689469" y="0"/>
                  </a:lnTo>
                  <a:cubicBezTo>
                    <a:pt x="7694168" y="0"/>
                    <a:pt x="7697978" y="3810"/>
                    <a:pt x="7697978" y="8509"/>
                  </a:cubicBezTo>
                  <a:lnTo>
                    <a:pt x="7697978" y="3909949"/>
                  </a:lnTo>
                  <a:cubicBezTo>
                    <a:pt x="7697978" y="3914648"/>
                    <a:pt x="7694168" y="3918458"/>
                    <a:pt x="7689469" y="3918458"/>
                  </a:cubicBezTo>
                  <a:lnTo>
                    <a:pt x="8509" y="3918458"/>
                  </a:lnTo>
                  <a:cubicBezTo>
                    <a:pt x="3810" y="3918458"/>
                    <a:pt x="0" y="3914648"/>
                    <a:pt x="0" y="3909949"/>
                  </a:cubicBezTo>
                  <a:lnTo>
                    <a:pt x="0" y="8509"/>
                  </a:lnTo>
                  <a:cubicBezTo>
                    <a:pt x="0" y="3810"/>
                    <a:pt x="3810" y="0"/>
                    <a:pt x="8509" y="0"/>
                  </a:cubicBezTo>
                  <a:moveTo>
                    <a:pt x="8509" y="16891"/>
                  </a:moveTo>
                  <a:lnTo>
                    <a:pt x="8509" y="8509"/>
                  </a:lnTo>
                  <a:lnTo>
                    <a:pt x="17018" y="8509"/>
                  </a:lnTo>
                  <a:lnTo>
                    <a:pt x="17018" y="3909949"/>
                  </a:lnTo>
                  <a:lnTo>
                    <a:pt x="8509" y="3909949"/>
                  </a:lnTo>
                  <a:lnTo>
                    <a:pt x="8509" y="3901440"/>
                  </a:lnTo>
                  <a:lnTo>
                    <a:pt x="7689469" y="3901440"/>
                  </a:lnTo>
                  <a:lnTo>
                    <a:pt x="7689469" y="3909949"/>
                  </a:lnTo>
                  <a:lnTo>
                    <a:pt x="7680960" y="3909949"/>
                  </a:lnTo>
                  <a:lnTo>
                    <a:pt x="7680960" y="8509"/>
                  </a:lnTo>
                  <a:lnTo>
                    <a:pt x="7689469" y="8509"/>
                  </a:lnTo>
                  <a:lnTo>
                    <a:pt x="7689469" y="17018"/>
                  </a:lnTo>
                  <a:lnTo>
                    <a:pt x="8509" y="17018"/>
                  </a:lnTo>
                  <a:close/>
                </a:path>
              </a:pathLst>
            </a:custGeom>
            <a:solidFill>
              <a:srgbClr val="E2E8F0"/>
            </a:solidFill>
          </p:spPr>
        </p:sp>
      </p:grpSp>
      <p:grpSp>
        <p:nvGrpSpPr>
          <p:cNvPr name="Group 82" id="82"/>
          <p:cNvGrpSpPr/>
          <p:nvPr/>
        </p:nvGrpSpPr>
        <p:grpSpPr>
          <a:xfrm rot="0">
            <a:off x="12070080" y="6858000"/>
            <a:ext cx="5303520" cy="548640"/>
            <a:chOff x="0" y="0"/>
            <a:chExt cx="7071360" cy="731520"/>
          </a:xfrm>
        </p:grpSpPr>
        <p:sp>
          <p:nvSpPr>
            <p:cNvPr name="Freeform 83" id="83"/>
            <p:cNvSpPr/>
            <p:nvPr/>
          </p:nvSpPr>
          <p:spPr>
            <a:xfrm flipH="false" flipV="false" rot="0">
              <a:off x="0" y="0"/>
              <a:ext cx="7071360" cy="731520"/>
            </a:xfrm>
            <a:custGeom>
              <a:avLst/>
              <a:gdLst/>
              <a:ahLst/>
              <a:cxnLst/>
              <a:rect r="r" b="b" t="t" l="l"/>
              <a:pathLst>
                <a:path h="731520" w="7071360">
                  <a:moveTo>
                    <a:pt x="0" y="0"/>
                  </a:moveTo>
                  <a:lnTo>
                    <a:pt x="7071360" y="0"/>
                  </a:lnTo>
                  <a:lnTo>
                    <a:pt x="7071360" y="731520"/>
                  </a:lnTo>
                  <a:lnTo>
                    <a:pt x="0" y="731520"/>
                  </a:lnTo>
                  <a:close/>
                </a:path>
              </a:pathLst>
            </a:custGeom>
            <a:blipFill>
              <a:blip r:embed="rId3">
                <a:alphaModFix amt="0"/>
              </a:blip>
              <a:stretch>
                <a:fillRect l="0" t="-138355" r="0" b="-138355"/>
              </a:stretch>
            </a:blipFill>
          </p:spPr>
        </p:sp>
        <p:sp>
          <p:nvSpPr>
            <p:cNvPr name="TextBox 84" id="84"/>
            <p:cNvSpPr txBox="true"/>
            <p:nvPr/>
          </p:nvSpPr>
          <p:spPr>
            <a:xfrm>
              <a:off x="0" y="-47625"/>
              <a:ext cx="7071360" cy="779145"/>
            </a:xfrm>
            <a:prstGeom prst="rect">
              <a:avLst/>
            </a:prstGeom>
          </p:spPr>
          <p:txBody>
            <a:bodyPr anchor="ctr" rtlCol="false" tIns="0" lIns="0" bIns="0" rIns="0"/>
            <a:lstStyle/>
            <a:p>
              <a:pPr algn="l">
                <a:lnSpc>
                  <a:spcPts val="2640"/>
                </a:lnSpc>
              </a:pPr>
              <a:r>
                <a:rPr lang="en-US" sz="2200" b="true">
                  <a:solidFill>
                    <a:srgbClr val="0D1B3E"/>
                  </a:solidFill>
                  <a:latin typeface="Calibri (MS) Bold"/>
                  <a:ea typeface="Calibri (MS) Bold"/>
                  <a:cs typeface="Calibri (MS) Bold"/>
                  <a:sym typeface="Calibri (MS) Bold"/>
                </a:rPr>
                <a:t>GradNorm</a:t>
              </a:r>
            </a:p>
          </p:txBody>
        </p:sp>
      </p:grpSp>
      <p:grpSp>
        <p:nvGrpSpPr>
          <p:cNvPr name="Group 85" id="85"/>
          <p:cNvGrpSpPr/>
          <p:nvPr/>
        </p:nvGrpSpPr>
        <p:grpSpPr>
          <a:xfrm rot="0">
            <a:off x="12070080" y="7406640"/>
            <a:ext cx="5303520" cy="2157984"/>
            <a:chOff x="0" y="0"/>
            <a:chExt cx="7071360" cy="2877312"/>
          </a:xfrm>
        </p:grpSpPr>
        <p:sp>
          <p:nvSpPr>
            <p:cNvPr name="Freeform 86" id="86"/>
            <p:cNvSpPr/>
            <p:nvPr/>
          </p:nvSpPr>
          <p:spPr>
            <a:xfrm flipH="false" flipV="false" rot="0">
              <a:off x="0" y="0"/>
              <a:ext cx="7071360" cy="2877312"/>
            </a:xfrm>
            <a:custGeom>
              <a:avLst/>
              <a:gdLst/>
              <a:ahLst/>
              <a:cxnLst/>
              <a:rect r="r" b="b" t="t" l="l"/>
              <a:pathLst>
                <a:path h="2877312" w="7071360">
                  <a:moveTo>
                    <a:pt x="0" y="0"/>
                  </a:moveTo>
                  <a:lnTo>
                    <a:pt x="7071360" y="0"/>
                  </a:lnTo>
                  <a:lnTo>
                    <a:pt x="7071360" y="2877312"/>
                  </a:lnTo>
                  <a:lnTo>
                    <a:pt x="0" y="2877312"/>
                  </a:lnTo>
                  <a:close/>
                </a:path>
              </a:pathLst>
            </a:custGeom>
            <a:blipFill>
              <a:blip r:embed="rId3">
                <a:alphaModFix amt="0"/>
              </a:blip>
              <a:stretch>
                <a:fillRect l="-2206" t="0" r="-2206" b="0"/>
              </a:stretch>
            </a:blipFill>
          </p:spPr>
        </p:sp>
        <p:sp>
          <p:nvSpPr>
            <p:cNvPr name="TextBox 87" id="87"/>
            <p:cNvSpPr txBox="true"/>
            <p:nvPr/>
          </p:nvSpPr>
          <p:spPr>
            <a:xfrm>
              <a:off x="0" y="-38100"/>
              <a:ext cx="7071360" cy="2915412"/>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Automatically balances gradient magnitudes across multiple loss terms. Prevents one loss from dominating training. L1 and L2 may have very different scales — GradNorm normalises them so both contribute equally to learning.</a:t>
              </a:r>
            </a:p>
          </p:txBody>
        </p:sp>
      </p:grpSp>
      <p:grpSp>
        <p:nvGrpSpPr>
          <p:cNvPr name="Group 88" id="88"/>
          <p:cNvGrpSpPr/>
          <p:nvPr/>
        </p:nvGrpSpPr>
        <p:grpSpPr>
          <a:xfrm rot="0">
            <a:off x="11789407" y="9832591"/>
            <a:ext cx="5773417" cy="780793"/>
            <a:chOff x="0" y="0"/>
            <a:chExt cx="7697889" cy="1041057"/>
          </a:xfrm>
        </p:grpSpPr>
        <p:sp>
          <p:nvSpPr>
            <p:cNvPr name="Freeform 89" id="89"/>
            <p:cNvSpPr/>
            <p:nvPr/>
          </p:nvSpPr>
          <p:spPr>
            <a:xfrm flipH="false" flipV="false" rot="0">
              <a:off x="8509" y="8509"/>
              <a:ext cx="7680960" cy="1024128"/>
            </a:xfrm>
            <a:custGeom>
              <a:avLst/>
              <a:gdLst/>
              <a:ahLst/>
              <a:cxnLst/>
              <a:rect r="r" b="b" t="t" l="l"/>
              <a:pathLst>
                <a:path h="1024128" w="7680960">
                  <a:moveTo>
                    <a:pt x="0" y="0"/>
                  </a:moveTo>
                  <a:lnTo>
                    <a:pt x="7680960" y="0"/>
                  </a:lnTo>
                  <a:lnTo>
                    <a:pt x="7680960" y="1024128"/>
                  </a:lnTo>
                  <a:lnTo>
                    <a:pt x="0" y="1024128"/>
                  </a:lnTo>
                  <a:close/>
                </a:path>
              </a:pathLst>
            </a:custGeom>
            <a:solidFill>
              <a:srgbClr val="FFFFFF"/>
            </a:solidFill>
          </p:spPr>
        </p:sp>
        <p:sp>
          <p:nvSpPr>
            <p:cNvPr name="Freeform 90" id="90"/>
            <p:cNvSpPr/>
            <p:nvPr/>
          </p:nvSpPr>
          <p:spPr>
            <a:xfrm flipH="false" flipV="false" rot="0">
              <a:off x="0" y="0"/>
              <a:ext cx="7697978" cy="1041146"/>
            </a:xfrm>
            <a:custGeom>
              <a:avLst/>
              <a:gdLst/>
              <a:ahLst/>
              <a:cxnLst/>
              <a:rect r="r" b="b" t="t" l="l"/>
              <a:pathLst>
                <a:path h="1041146" w="7697978">
                  <a:moveTo>
                    <a:pt x="8509" y="0"/>
                  </a:moveTo>
                  <a:lnTo>
                    <a:pt x="7689469" y="0"/>
                  </a:lnTo>
                  <a:cubicBezTo>
                    <a:pt x="7694168" y="0"/>
                    <a:pt x="7697978" y="3810"/>
                    <a:pt x="7697978" y="8509"/>
                  </a:cubicBezTo>
                  <a:lnTo>
                    <a:pt x="7697978" y="1032637"/>
                  </a:lnTo>
                  <a:cubicBezTo>
                    <a:pt x="7697978" y="1037336"/>
                    <a:pt x="7694168" y="1041146"/>
                    <a:pt x="7689469" y="1041146"/>
                  </a:cubicBezTo>
                  <a:lnTo>
                    <a:pt x="8509" y="1041146"/>
                  </a:lnTo>
                  <a:cubicBezTo>
                    <a:pt x="3810" y="1041146"/>
                    <a:pt x="0" y="1037336"/>
                    <a:pt x="0" y="1032637"/>
                  </a:cubicBezTo>
                  <a:lnTo>
                    <a:pt x="0" y="8509"/>
                  </a:lnTo>
                  <a:cubicBezTo>
                    <a:pt x="0" y="3810"/>
                    <a:pt x="3810" y="0"/>
                    <a:pt x="8509" y="0"/>
                  </a:cubicBezTo>
                  <a:moveTo>
                    <a:pt x="8509" y="16891"/>
                  </a:moveTo>
                  <a:lnTo>
                    <a:pt x="8509" y="8509"/>
                  </a:lnTo>
                  <a:lnTo>
                    <a:pt x="17018" y="8509"/>
                  </a:lnTo>
                  <a:lnTo>
                    <a:pt x="17018" y="1032637"/>
                  </a:lnTo>
                  <a:lnTo>
                    <a:pt x="8509" y="1032637"/>
                  </a:lnTo>
                  <a:lnTo>
                    <a:pt x="8509" y="1024128"/>
                  </a:lnTo>
                  <a:lnTo>
                    <a:pt x="7689469" y="1024128"/>
                  </a:lnTo>
                  <a:lnTo>
                    <a:pt x="7689469" y="1032637"/>
                  </a:lnTo>
                  <a:lnTo>
                    <a:pt x="7680960" y="1032637"/>
                  </a:lnTo>
                  <a:lnTo>
                    <a:pt x="7680960" y="8509"/>
                  </a:lnTo>
                  <a:lnTo>
                    <a:pt x="7689469" y="8509"/>
                  </a:lnTo>
                  <a:lnTo>
                    <a:pt x="7689469" y="17018"/>
                  </a:lnTo>
                  <a:lnTo>
                    <a:pt x="8509" y="17018"/>
                  </a:lnTo>
                  <a:close/>
                </a:path>
              </a:pathLst>
            </a:custGeom>
            <a:solidFill>
              <a:srgbClr val="E2E8F0"/>
            </a:solidFill>
          </p:spPr>
        </p:sp>
      </p:grpSp>
      <p:grpSp>
        <p:nvGrpSpPr>
          <p:cNvPr name="Group 91" id="91"/>
          <p:cNvGrpSpPr/>
          <p:nvPr/>
        </p:nvGrpSpPr>
        <p:grpSpPr>
          <a:xfrm rot="0">
            <a:off x="12070080" y="9875520"/>
            <a:ext cx="5303520" cy="658368"/>
            <a:chOff x="0" y="0"/>
            <a:chExt cx="7071360" cy="877824"/>
          </a:xfrm>
        </p:grpSpPr>
        <p:sp>
          <p:nvSpPr>
            <p:cNvPr name="Freeform 92" id="92"/>
            <p:cNvSpPr/>
            <p:nvPr/>
          </p:nvSpPr>
          <p:spPr>
            <a:xfrm flipH="false" flipV="false" rot="0">
              <a:off x="0" y="0"/>
              <a:ext cx="7071360" cy="877824"/>
            </a:xfrm>
            <a:custGeom>
              <a:avLst/>
              <a:gdLst/>
              <a:ahLst/>
              <a:cxnLst/>
              <a:rect r="r" b="b" t="t" l="l"/>
              <a:pathLst>
                <a:path h="877824" w="7071360">
                  <a:moveTo>
                    <a:pt x="0" y="0"/>
                  </a:moveTo>
                  <a:lnTo>
                    <a:pt x="7071360" y="0"/>
                  </a:lnTo>
                  <a:lnTo>
                    <a:pt x="7071360" y="877824"/>
                  </a:lnTo>
                  <a:lnTo>
                    <a:pt x="0" y="877824"/>
                  </a:lnTo>
                  <a:close/>
                </a:path>
              </a:pathLst>
            </a:custGeom>
            <a:blipFill>
              <a:blip r:embed="rId3">
                <a:alphaModFix amt="0"/>
              </a:blip>
              <a:stretch>
                <a:fillRect l="0" t="-106962" r="0" b="-106962"/>
              </a:stretch>
            </a:blipFill>
          </p:spPr>
        </p:sp>
        <p:sp>
          <p:nvSpPr>
            <p:cNvPr name="TextBox 93" id="93"/>
            <p:cNvSpPr txBox="true"/>
            <p:nvPr/>
          </p:nvSpPr>
          <p:spPr>
            <a:xfrm>
              <a:off x="0" y="-28575"/>
              <a:ext cx="7071360" cy="906399"/>
            </a:xfrm>
            <a:prstGeom prst="rect">
              <a:avLst/>
            </a:prstGeom>
          </p:spPr>
          <p:txBody>
            <a:bodyPr anchor="ctr" rtlCol="false" tIns="0" lIns="0" bIns="0" rIns="0"/>
            <a:lstStyle/>
            <a:p>
              <a:pPr algn="l">
                <a:lnSpc>
                  <a:spcPts val="1920"/>
                </a:lnSpc>
              </a:pPr>
              <a:r>
                <a:rPr lang="en-US" sz="1600">
                  <a:solidFill>
                    <a:srgbClr val="94A3B8"/>
                  </a:solidFill>
                  <a:latin typeface="Calibri (MS)"/>
                  <a:ea typeface="Calibri (MS)"/>
                  <a:cs typeface="Calibri (MS)"/>
                  <a:sym typeface="Calibri (MS)"/>
                </a:rPr>
                <a:t>GloVe = word embedding trained on co-occurrence. Adam = adaptive gradient optimizer. FC = Fully Connected layer.</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718823" y="316487"/>
            <a:ext cx="2951483" cy="574043"/>
            <a:chOff x="0" y="0"/>
            <a:chExt cx="3935311" cy="765391"/>
          </a:xfrm>
        </p:grpSpPr>
        <p:sp>
          <p:nvSpPr>
            <p:cNvPr name="Freeform 3" id="3"/>
            <p:cNvSpPr/>
            <p:nvPr/>
          </p:nvSpPr>
          <p:spPr>
            <a:xfrm flipH="false" flipV="false" rot="0">
              <a:off x="16891" y="16891"/>
              <a:ext cx="3901440" cy="731520"/>
            </a:xfrm>
            <a:custGeom>
              <a:avLst/>
              <a:gdLst/>
              <a:ahLst/>
              <a:cxnLst/>
              <a:rect r="r" b="b" t="t" l="l"/>
              <a:pathLst>
                <a:path h="731520" w="3901440">
                  <a:moveTo>
                    <a:pt x="0" y="0"/>
                  </a:moveTo>
                  <a:lnTo>
                    <a:pt x="3901440" y="0"/>
                  </a:lnTo>
                  <a:lnTo>
                    <a:pt x="3901440" y="731520"/>
                  </a:lnTo>
                  <a:lnTo>
                    <a:pt x="0" y="731520"/>
                  </a:lnTo>
                  <a:close/>
                </a:path>
              </a:pathLst>
            </a:custGeom>
            <a:solidFill>
              <a:srgbClr val="0D1B3E"/>
            </a:solidFill>
          </p:spPr>
        </p:sp>
        <p:sp>
          <p:nvSpPr>
            <p:cNvPr name="Freeform 4" id="4"/>
            <p:cNvSpPr/>
            <p:nvPr/>
          </p:nvSpPr>
          <p:spPr>
            <a:xfrm flipH="false" flipV="false" rot="0">
              <a:off x="0" y="0"/>
              <a:ext cx="3935222" cy="765304"/>
            </a:xfrm>
            <a:custGeom>
              <a:avLst/>
              <a:gdLst/>
              <a:ahLst/>
              <a:cxnLst/>
              <a:rect r="r" b="b" t="t" l="l"/>
              <a:pathLst>
                <a:path h="765304" w="3935222">
                  <a:moveTo>
                    <a:pt x="16891" y="0"/>
                  </a:moveTo>
                  <a:lnTo>
                    <a:pt x="3918331" y="0"/>
                  </a:lnTo>
                  <a:cubicBezTo>
                    <a:pt x="3927729" y="0"/>
                    <a:pt x="3935222" y="7620"/>
                    <a:pt x="3935222" y="16891"/>
                  </a:cubicBezTo>
                  <a:lnTo>
                    <a:pt x="3935222" y="748411"/>
                  </a:lnTo>
                  <a:cubicBezTo>
                    <a:pt x="3935222" y="757809"/>
                    <a:pt x="3927602" y="765302"/>
                    <a:pt x="3918331" y="765302"/>
                  </a:cubicBezTo>
                  <a:lnTo>
                    <a:pt x="16891" y="765302"/>
                  </a:lnTo>
                  <a:cubicBezTo>
                    <a:pt x="7620" y="765429"/>
                    <a:pt x="0" y="757809"/>
                    <a:pt x="0" y="748411"/>
                  </a:cubicBezTo>
                  <a:lnTo>
                    <a:pt x="0" y="16891"/>
                  </a:lnTo>
                  <a:cubicBezTo>
                    <a:pt x="0" y="7620"/>
                    <a:pt x="7620" y="0"/>
                    <a:pt x="16891" y="0"/>
                  </a:cubicBezTo>
                  <a:moveTo>
                    <a:pt x="16891" y="33909"/>
                  </a:moveTo>
                  <a:lnTo>
                    <a:pt x="16891" y="16891"/>
                  </a:lnTo>
                  <a:lnTo>
                    <a:pt x="33909" y="16891"/>
                  </a:lnTo>
                  <a:lnTo>
                    <a:pt x="33909" y="748411"/>
                  </a:lnTo>
                  <a:lnTo>
                    <a:pt x="16891" y="748411"/>
                  </a:lnTo>
                  <a:lnTo>
                    <a:pt x="16891" y="731520"/>
                  </a:lnTo>
                  <a:lnTo>
                    <a:pt x="3918331" y="731520"/>
                  </a:lnTo>
                  <a:lnTo>
                    <a:pt x="3918331" y="748411"/>
                  </a:lnTo>
                  <a:lnTo>
                    <a:pt x="3901440" y="748411"/>
                  </a:lnTo>
                  <a:lnTo>
                    <a:pt x="3901440" y="16891"/>
                  </a:lnTo>
                  <a:lnTo>
                    <a:pt x="3918331" y="16891"/>
                  </a:lnTo>
                  <a:lnTo>
                    <a:pt x="3918331" y="33909"/>
                  </a:lnTo>
                  <a:lnTo>
                    <a:pt x="16891" y="33909"/>
                  </a:lnTo>
                  <a:close/>
                </a:path>
              </a:pathLst>
            </a:custGeom>
            <a:solidFill>
              <a:srgbClr val="0D1B3E"/>
            </a:solidFill>
          </p:spPr>
        </p:sp>
      </p:grpSp>
      <p:grpSp>
        <p:nvGrpSpPr>
          <p:cNvPr name="Group 5" id="5"/>
          <p:cNvGrpSpPr/>
          <p:nvPr/>
        </p:nvGrpSpPr>
        <p:grpSpPr>
          <a:xfrm rot="0">
            <a:off x="731520" y="329184"/>
            <a:ext cx="2926080" cy="548640"/>
            <a:chOff x="0" y="0"/>
            <a:chExt cx="3901440" cy="731520"/>
          </a:xfrm>
        </p:grpSpPr>
        <p:sp>
          <p:nvSpPr>
            <p:cNvPr name="Freeform 6" id="6"/>
            <p:cNvSpPr/>
            <p:nvPr/>
          </p:nvSpPr>
          <p:spPr>
            <a:xfrm flipH="false" flipV="false" rot="0">
              <a:off x="0" y="0"/>
              <a:ext cx="3901440" cy="731520"/>
            </a:xfrm>
            <a:custGeom>
              <a:avLst/>
              <a:gdLst/>
              <a:ahLst/>
              <a:cxnLst/>
              <a:rect r="r" b="b" t="t" l="l"/>
              <a:pathLst>
                <a:path h="731520" w="3901440">
                  <a:moveTo>
                    <a:pt x="0" y="0"/>
                  </a:moveTo>
                  <a:lnTo>
                    <a:pt x="3901440" y="0"/>
                  </a:lnTo>
                  <a:lnTo>
                    <a:pt x="3901440" y="731520"/>
                  </a:lnTo>
                  <a:lnTo>
                    <a:pt x="0" y="731520"/>
                  </a:lnTo>
                  <a:close/>
                </a:path>
              </a:pathLst>
            </a:custGeom>
            <a:blipFill>
              <a:blip r:embed="rId3">
                <a:alphaModFix amt="0"/>
              </a:blip>
              <a:stretch>
                <a:fillRect l="0" t="-53920" r="0" b="-53920"/>
              </a:stretch>
            </a:blipFill>
          </p:spPr>
        </p:sp>
        <p:sp>
          <p:nvSpPr>
            <p:cNvPr name="TextBox 7" id="7"/>
            <p:cNvSpPr txBox="true"/>
            <p:nvPr/>
          </p:nvSpPr>
          <p:spPr>
            <a:xfrm>
              <a:off x="0" y="-38100"/>
              <a:ext cx="3901440" cy="76962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08 · EXPERIMENTS</a:t>
              </a:r>
            </a:p>
          </p:txBody>
        </p:sp>
      </p:grpSp>
      <p:grpSp>
        <p:nvGrpSpPr>
          <p:cNvPr name="Group 8" id="8"/>
          <p:cNvGrpSpPr/>
          <p:nvPr/>
        </p:nvGrpSpPr>
        <p:grpSpPr>
          <a:xfrm rot="0">
            <a:off x="914400" y="1005840"/>
            <a:ext cx="16459200" cy="1188720"/>
            <a:chOff x="0" y="0"/>
            <a:chExt cx="21945600" cy="1584960"/>
          </a:xfrm>
        </p:grpSpPr>
        <p:sp>
          <p:nvSpPr>
            <p:cNvPr name="Freeform 9" id="9"/>
            <p:cNvSpPr/>
            <p:nvPr/>
          </p:nvSpPr>
          <p:spPr>
            <a:xfrm flipH="false" flipV="false" rot="0">
              <a:off x="0" y="0"/>
              <a:ext cx="21945600" cy="1584960"/>
            </a:xfrm>
            <a:custGeom>
              <a:avLst/>
              <a:gdLst/>
              <a:ahLst/>
              <a:cxnLst/>
              <a:rect r="r" b="b" t="t" l="l"/>
              <a:pathLst>
                <a:path h="1584960" w="21945600">
                  <a:moveTo>
                    <a:pt x="0" y="0"/>
                  </a:moveTo>
                  <a:lnTo>
                    <a:pt x="21945600" y="0"/>
                  </a:lnTo>
                  <a:lnTo>
                    <a:pt x="21945600" y="1584960"/>
                  </a:lnTo>
                  <a:lnTo>
                    <a:pt x="0" y="1584960"/>
                  </a:lnTo>
                  <a:close/>
                </a:path>
              </a:pathLst>
            </a:custGeom>
            <a:blipFill>
              <a:blip r:embed="rId3">
                <a:alphaModFix amt="0"/>
              </a:blip>
              <a:stretch>
                <a:fillRect l="0" t="-219792" r="0" b="-219792"/>
              </a:stretch>
            </a:blipFill>
          </p:spPr>
        </p:sp>
        <p:sp>
          <p:nvSpPr>
            <p:cNvPr name="TextBox 10" id="10"/>
            <p:cNvSpPr txBox="true"/>
            <p:nvPr/>
          </p:nvSpPr>
          <p:spPr>
            <a:xfrm>
              <a:off x="0" y="-104775"/>
              <a:ext cx="21945600" cy="1689735"/>
            </a:xfrm>
            <a:prstGeom prst="rect">
              <a:avLst/>
            </a:prstGeom>
          </p:spPr>
          <p:txBody>
            <a:bodyPr anchor="ctr" rtlCol="false" tIns="0" lIns="0" bIns="0" rIns="0"/>
            <a:lstStyle/>
            <a:p>
              <a:pPr algn="l">
                <a:lnSpc>
                  <a:spcPts val="6240"/>
                </a:lnSpc>
              </a:pPr>
              <a:r>
                <a:rPr lang="en-US" sz="5200" b="true">
                  <a:solidFill>
                    <a:srgbClr val="1E293B"/>
                  </a:solidFill>
                  <a:latin typeface="Calibri (MS) Bold"/>
                  <a:ea typeface="Calibri (MS) Bold"/>
                  <a:cs typeface="Calibri (MS) Bold"/>
                  <a:sym typeface="Calibri (MS) Bold"/>
                </a:rPr>
                <a:t>Datasets and Evaluation Metrics</a:t>
              </a:r>
            </a:p>
          </p:txBody>
        </p:sp>
      </p:grpSp>
      <p:grpSp>
        <p:nvGrpSpPr>
          <p:cNvPr name="Group 11" id="11"/>
          <p:cNvGrpSpPr/>
          <p:nvPr/>
        </p:nvGrpSpPr>
        <p:grpSpPr>
          <a:xfrm rot="0">
            <a:off x="725167" y="2279647"/>
            <a:ext cx="16837657" cy="12697"/>
            <a:chOff x="0" y="0"/>
            <a:chExt cx="22450209" cy="16929"/>
          </a:xfrm>
        </p:grpSpPr>
        <p:sp>
          <p:nvSpPr>
            <p:cNvPr name="Freeform 12" id="12"/>
            <p:cNvSpPr/>
            <p:nvPr/>
          </p:nvSpPr>
          <p:spPr>
            <a:xfrm flipH="false" flipV="false" rot="0">
              <a:off x="8509" y="0"/>
              <a:ext cx="22433281" cy="16891"/>
            </a:xfrm>
            <a:custGeom>
              <a:avLst/>
              <a:gdLst/>
              <a:ahLst/>
              <a:cxnLst/>
              <a:rect r="r" b="b" t="t" l="l"/>
              <a:pathLst>
                <a:path h="16891" w="22433281">
                  <a:moveTo>
                    <a:pt x="0" y="0"/>
                  </a:moveTo>
                  <a:lnTo>
                    <a:pt x="22433281" y="0"/>
                  </a:lnTo>
                  <a:lnTo>
                    <a:pt x="22433281" y="16891"/>
                  </a:lnTo>
                  <a:lnTo>
                    <a:pt x="0" y="16891"/>
                  </a:lnTo>
                  <a:close/>
                </a:path>
              </a:pathLst>
            </a:custGeom>
            <a:solidFill>
              <a:srgbClr val="E2E8F0"/>
            </a:solidFill>
          </p:spPr>
        </p:sp>
      </p:grpSp>
      <p:grpSp>
        <p:nvGrpSpPr>
          <p:cNvPr name="Group 13" id="13"/>
          <p:cNvGrpSpPr/>
          <p:nvPr/>
        </p:nvGrpSpPr>
        <p:grpSpPr>
          <a:xfrm rot="0">
            <a:off x="731520" y="2377440"/>
            <a:ext cx="9144000" cy="548640"/>
            <a:chOff x="0" y="0"/>
            <a:chExt cx="12192000" cy="731520"/>
          </a:xfrm>
        </p:grpSpPr>
        <p:sp>
          <p:nvSpPr>
            <p:cNvPr name="Freeform 14" id="14"/>
            <p:cNvSpPr/>
            <p:nvPr/>
          </p:nvSpPr>
          <p:spPr>
            <a:xfrm flipH="false" flipV="false" rot="0">
              <a:off x="0" y="0"/>
              <a:ext cx="12192000" cy="731520"/>
            </a:xfrm>
            <a:custGeom>
              <a:avLst/>
              <a:gdLst/>
              <a:ahLst/>
              <a:cxnLst/>
              <a:rect r="r" b="b" t="t" l="l"/>
              <a:pathLst>
                <a:path h="731520" w="12192000">
                  <a:moveTo>
                    <a:pt x="0" y="0"/>
                  </a:moveTo>
                  <a:lnTo>
                    <a:pt x="12192000" y="0"/>
                  </a:lnTo>
                  <a:lnTo>
                    <a:pt x="12192000" y="731520"/>
                  </a:lnTo>
                  <a:lnTo>
                    <a:pt x="0" y="731520"/>
                  </a:lnTo>
                  <a:close/>
                </a:path>
              </a:pathLst>
            </a:custGeom>
            <a:blipFill>
              <a:blip r:embed="rId3">
                <a:alphaModFix amt="0"/>
              </a:blip>
              <a:stretch>
                <a:fillRect l="0" t="-274750" r="0" b="-274750"/>
              </a:stretch>
            </a:blipFill>
          </p:spPr>
        </p:sp>
        <p:sp>
          <p:nvSpPr>
            <p:cNvPr name="TextBox 15" id="15"/>
            <p:cNvSpPr txBox="true"/>
            <p:nvPr/>
          </p:nvSpPr>
          <p:spPr>
            <a:xfrm>
              <a:off x="0" y="-57150"/>
              <a:ext cx="12192000" cy="788670"/>
            </a:xfrm>
            <a:prstGeom prst="rect">
              <a:avLst/>
            </a:prstGeom>
          </p:spPr>
          <p:txBody>
            <a:bodyPr anchor="ctr" rtlCol="false" tIns="0" lIns="0" bIns="0" rIns="0"/>
            <a:lstStyle/>
            <a:p>
              <a:pPr algn="l">
                <a:lnSpc>
                  <a:spcPts val="3120"/>
                </a:lnSpc>
              </a:pPr>
              <a:r>
                <a:rPr lang="en-US" sz="2600" b="true">
                  <a:solidFill>
                    <a:srgbClr val="0D1B3E"/>
                  </a:solidFill>
                  <a:latin typeface="Calibri (MS) Bold"/>
                  <a:ea typeface="Calibri (MS) Bold"/>
                  <a:cs typeface="Calibri (MS) Bold"/>
                  <a:sym typeface="Calibri (MS) Bold"/>
                </a:rPr>
                <a:t>Benchmark Datasets</a:t>
              </a:r>
            </a:p>
          </p:txBody>
        </p:sp>
      </p:grpSp>
      <p:grpSp>
        <p:nvGrpSpPr>
          <p:cNvPr name="Group 16" id="16"/>
          <p:cNvGrpSpPr/>
          <p:nvPr/>
        </p:nvGrpSpPr>
        <p:grpSpPr>
          <a:xfrm rot="0">
            <a:off x="725167" y="3011167"/>
            <a:ext cx="10162537" cy="1695193"/>
            <a:chOff x="0" y="0"/>
            <a:chExt cx="13550049" cy="2260257"/>
          </a:xfrm>
        </p:grpSpPr>
        <p:sp>
          <p:nvSpPr>
            <p:cNvPr name="Freeform 17" id="17"/>
            <p:cNvSpPr/>
            <p:nvPr/>
          </p:nvSpPr>
          <p:spPr>
            <a:xfrm flipH="false" flipV="false" rot="0">
              <a:off x="8509" y="8509"/>
              <a:ext cx="13533120" cy="2243328"/>
            </a:xfrm>
            <a:custGeom>
              <a:avLst/>
              <a:gdLst/>
              <a:ahLst/>
              <a:cxnLst/>
              <a:rect r="r" b="b" t="t" l="l"/>
              <a:pathLst>
                <a:path h="2243328" w="13533120">
                  <a:moveTo>
                    <a:pt x="0" y="0"/>
                  </a:moveTo>
                  <a:lnTo>
                    <a:pt x="13533120" y="0"/>
                  </a:lnTo>
                  <a:lnTo>
                    <a:pt x="13533120" y="2243328"/>
                  </a:lnTo>
                  <a:lnTo>
                    <a:pt x="0" y="2243328"/>
                  </a:lnTo>
                  <a:close/>
                </a:path>
              </a:pathLst>
            </a:custGeom>
            <a:solidFill>
              <a:srgbClr val="FFFFFF"/>
            </a:solidFill>
          </p:spPr>
        </p:sp>
        <p:sp>
          <p:nvSpPr>
            <p:cNvPr name="Freeform 18" id="18"/>
            <p:cNvSpPr/>
            <p:nvPr/>
          </p:nvSpPr>
          <p:spPr>
            <a:xfrm flipH="false" flipV="false" rot="0">
              <a:off x="0" y="0"/>
              <a:ext cx="13550137" cy="2260346"/>
            </a:xfrm>
            <a:custGeom>
              <a:avLst/>
              <a:gdLst/>
              <a:ahLst/>
              <a:cxnLst/>
              <a:rect r="r" b="b" t="t" l="l"/>
              <a:pathLst>
                <a:path h="2260346" w="13550137">
                  <a:moveTo>
                    <a:pt x="8509" y="0"/>
                  </a:moveTo>
                  <a:lnTo>
                    <a:pt x="13541629" y="0"/>
                  </a:lnTo>
                  <a:cubicBezTo>
                    <a:pt x="13546328" y="0"/>
                    <a:pt x="13550137" y="3810"/>
                    <a:pt x="13550137" y="8509"/>
                  </a:cubicBezTo>
                  <a:lnTo>
                    <a:pt x="13550137" y="2251837"/>
                  </a:lnTo>
                  <a:cubicBezTo>
                    <a:pt x="13550137" y="2256536"/>
                    <a:pt x="13546328" y="2260346"/>
                    <a:pt x="13541629" y="2260346"/>
                  </a:cubicBezTo>
                  <a:lnTo>
                    <a:pt x="8509" y="2260346"/>
                  </a:lnTo>
                  <a:cubicBezTo>
                    <a:pt x="3810" y="2260346"/>
                    <a:pt x="0" y="2256536"/>
                    <a:pt x="0" y="2251837"/>
                  </a:cubicBezTo>
                  <a:lnTo>
                    <a:pt x="0" y="8509"/>
                  </a:lnTo>
                  <a:cubicBezTo>
                    <a:pt x="0" y="3810"/>
                    <a:pt x="3810" y="0"/>
                    <a:pt x="8509" y="0"/>
                  </a:cubicBezTo>
                  <a:moveTo>
                    <a:pt x="8509" y="16891"/>
                  </a:moveTo>
                  <a:lnTo>
                    <a:pt x="8509" y="8509"/>
                  </a:lnTo>
                  <a:lnTo>
                    <a:pt x="17018" y="8509"/>
                  </a:lnTo>
                  <a:lnTo>
                    <a:pt x="17018" y="2251837"/>
                  </a:lnTo>
                  <a:lnTo>
                    <a:pt x="8509" y="2251837"/>
                  </a:lnTo>
                  <a:lnTo>
                    <a:pt x="8509" y="2243328"/>
                  </a:lnTo>
                  <a:lnTo>
                    <a:pt x="13541629" y="2243328"/>
                  </a:lnTo>
                  <a:lnTo>
                    <a:pt x="13541629" y="2251837"/>
                  </a:lnTo>
                  <a:lnTo>
                    <a:pt x="13533120" y="2251837"/>
                  </a:lnTo>
                  <a:lnTo>
                    <a:pt x="13533120" y="8509"/>
                  </a:lnTo>
                  <a:lnTo>
                    <a:pt x="13541629" y="8509"/>
                  </a:lnTo>
                  <a:lnTo>
                    <a:pt x="13541629" y="17018"/>
                  </a:lnTo>
                  <a:lnTo>
                    <a:pt x="8509" y="17018"/>
                  </a:lnTo>
                  <a:close/>
                </a:path>
              </a:pathLst>
            </a:custGeom>
            <a:solidFill>
              <a:srgbClr val="E2E8F0"/>
            </a:solidFill>
          </p:spPr>
        </p:sp>
      </p:grpSp>
      <p:grpSp>
        <p:nvGrpSpPr>
          <p:cNvPr name="Group 19" id="19"/>
          <p:cNvGrpSpPr/>
          <p:nvPr/>
        </p:nvGrpSpPr>
        <p:grpSpPr>
          <a:xfrm rot="0">
            <a:off x="718823" y="3004823"/>
            <a:ext cx="2037083" cy="1707899"/>
            <a:chOff x="0" y="0"/>
            <a:chExt cx="2716111" cy="2277199"/>
          </a:xfrm>
        </p:grpSpPr>
        <p:sp>
          <p:nvSpPr>
            <p:cNvPr name="Freeform 20" id="20"/>
            <p:cNvSpPr/>
            <p:nvPr/>
          </p:nvSpPr>
          <p:spPr>
            <a:xfrm flipH="false" flipV="false" rot="0">
              <a:off x="16891" y="16891"/>
              <a:ext cx="2682240" cy="2243328"/>
            </a:xfrm>
            <a:custGeom>
              <a:avLst/>
              <a:gdLst/>
              <a:ahLst/>
              <a:cxnLst/>
              <a:rect r="r" b="b" t="t" l="l"/>
              <a:pathLst>
                <a:path h="2243328" w="2682240">
                  <a:moveTo>
                    <a:pt x="0" y="0"/>
                  </a:moveTo>
                  <a:lnTo>
                    <a:pt x="2682240" y="0"/>
                  </a:lnTo>
                  <a:lnTo>
                    <a:pt x="2682240" y="2243328"/>
                  </a:lnTo>
                  <a:lnTo>
                    <a:pt x="0" y="2243328"/>
                  </a:lnTo>
                  <a:close/>
                </a:path>
              </a:pathLst>
            </a:custGeom>
            <a:solidFill>
              <a:srgbClr val="0D9488"/>
            </a:solidFill>
          </p:spPr>
        </p:sp>
        <p:sp>
          <p:nvSpPr>
            <p:cNvPr name="Freeform 21" id="21"/>
            <p:cNvSpPr/>
            <p:nvPr/>
          </p:nvSpPr>
          <p:spPr>
            <a:xfrm flipH="false" flipV="false" rot="0">
              <a:off x="0" y="0"/>
              <a:ext cx="2716022" cy="2277110"/>
            </a:xfrm>
            <a:custGeom>
              <a:avLst/>
              <a:gdLst/>
              <a:ahLst/>
              <a:cxnLst/>
              <a:rect r="r" b="b" t="t" l="l"/>
              <a:pathLst>
                <a:path h="2277110" w="2716022">
                  <a:moveTo>
                    <a:pt x="16891" y="0"/>
                  </a:moveTo>
                  <a:lnTo>
                    <a:pt x="2699131" y="0"/>
                  </a:lnTo>
                  <a:cubicBezTo>
                    <a:pt x="2708529" y="0"/>
                    <a:pt x="2716022" y="7620"/>
                    <a:pt x="2716022" y="16891"/>
                  </a:cubicBezTo>
                  <a:lnTo>
                    <a:pt x="2716022" y="2260219"/>
                  </a:lnTo>
                  <a:cubicBezTo>
                    <a:pt x="2716022" y="2269617"/>
                    <a:pt x="2708402" y="2277110"/>
                    <a:pt x="2699131" y="2277110"/>
                  </a:cubicBezTo>
                  <a:lnTo>
                    <a:pt x="16891" y="2277110"/>
                  </a:lnTo>
                  <a:cubicBezTo>
                    <a:pt x="7493" y="2277110"/>
                    <a:pt x="0" y="2269490"/>
                    <a:pt x="0" y="2260219"/>
                  </a:cubicBezTo>
                  <a:lnTo>
                    <a:pt x="0" y="16891"/>
                  </a:lnTo>
                  <a:cubicBezTo>
                    <a:pt x="0" y="7620"/>
                    <a:pt x="7620" y="0"/>
                    <a:pt x="16891" y="0"/>
                  </a:cubicBezTo>
                  <a:moveTo>
                    <a:pt x="16891" y="33909"/>
                  </a:moveTo>
                  <a:lnTo>
                    <a:pt x="16891" y="16891"/>
                  </a:lnTo>
                  <a:lnTo>
                    <a:pt x="33909" y="16891"/>
                  </a:lnTo>
                  <a:lnTo>
                    <a:pt x="33909" y="2260219"/>
                  </a:lnTo>
                  <a:lnTo>
                    <a:pt x="16891" y="2260219"/>
                  </a:lnTo>
                  <a:lnTo>
                    <a:pt x="16891" y="2243328"/>
                  </a:lnTo>
                  <a:lnTo>
                    <a:pt x="2699131" y="2243328"/>
                  </a:lnTo>
                  <a:lnTo>
                    <a:pt x="2699131" y="2260219"/>
                  </a:lnTo>
                  <a:lnTo>
                    <a:pt x="2682240" y="2260219"/>
                  </a:lnTo>
                  <a:lnTo>
                    <a:pt x="2682240" y="16891"/>
                  </a:lnTo>
                  <a:lnTo>
                    <a:pt x="2699131" y="16891"/>
                  </a:lnTo>
                  <a:lnTo>
                    <a:pt x="2699131" y="33909"/>
                  </a:lnTo>
                  <a:lnTo>
                    <a:pt x="16891" y="33909"/>
                  </a:lnTo>
                  <a:close/>
                </a:path>
              </a:pathLst>
            </a:custGeom>
            <a:solidFill>
              <a:srgbClr val="0D9488"/>
            </a:solidFill>
          </p:spPr>
        </p:sp>
      </p:grpSp>
      <p:grpSp>
        <p:nvGrpSpPr>
          <p:cNvPr name="Group 22" id="22"/>
          <p:cNvGrpSpPr/>
          <p:nvPr/>
        </p:nvGrpSpPr>
        <p:grpSpPr>
          <a:xfrm rot="0">
            <a:off x="731520" y="3163824"/>
            <a:ext cx="2011680" cy="694944"/>
            <a:chOff x="0" y="0"/>
            <a:chExt cx="2682240" cy="926592"/>
          </a:xfrm>
        </p:grpSpPr>
        <p:sp>
          <p:nvSpPr>
            <p:cNvPr name="Freeform 23" id="23"/>
            <p:cNvSpPr/>
            <p:nvPr/>
          </p:nvSpPr>
          <p:spPr>
            <a:xfrm flipH="false" flipV="false" rot="0">
              <a:off x="0" y="0"/>
              <a:ext cx="2682240" cy="926592"/>
            </a:xfrm>
            <a:custGeom>
              <a:avLst/>
              <a:gdLst/>
              <a:ahLst/>
              <a:cxnLst/>
              <a:rect r="r" b="b" t="t" l="l"/>
              <a:pathLst>
                <a:path h="926592" w="2682240">
                  <a:moveTo>
                    <a:pt x="0" y="0"/>
                  </a:moveTo>
                  <a:lnTo>
                    <a:pt x="2682240" y="0"/>
                  </a:lnTo>
                  <a:lnTo>
                    <a:pt x="2682240" y="926592"/>
                  </a:lnTo>
                  <a:lnTo>
                    <a:pt x="0" y="926592"/>
                  </a:lnTo>
                  <a:close/>
                </a:path>
              </a:pathLst>
            </a:custGeom>
            <a:blipFill>
              <a:blip r:embed="rId3">
                <a:alphaModFix amt="0"/>
              </a:blip>
              <a:stretch>
                <a:fillRect l="0" t="-6404" r="0" b="-6404"/>
              </a:stretch>
            </a:blipFill>
          </p:spPr>
        </p:sp>
        <p:sp>
          <p:nvSpPr>
            <p:cNvPr name="TextBox 24" id="24"/>
            <p:cNvSpPr txBox="true"/>
            <p:nvPr/>
          </p:nvSpPr>
          <p:spPr>
            <a:xfrm>
              <a:off x="0" y="-38100"/>
              <a:ext cx="2682240" cy="964692"/>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RSICD</a:t>
              </a:r>
            </a:p>
          </p:txBody>
        </p:sp>
      </p:grpSp>
      <p:grpSp>
        <p:nvGrpSpPr>
          <p:cNvPr name="Group 25" id="25"/>
          <p:cNvGrpSpPr/>
          <p:nvPr/>
        </p:nvGrpSpPr>
        <p:grpSpPr>
          <a:xfrm rot="0">
            <a:off x="731520" y="3895344"/>
            <a:ext cx="2011680" cy="694944"/>
            <a:chOff x="0" y="0"/>
            <a:chExt cx="2682240" cy="926592"/>
          </a:xfrm>
        </p:grpSpPr>
        <p:sp>
          <p:nvSpPr>
            <p:cNvPr name="Freeform 26" id="26"/>
            <p:cNvSpPr/>
            <p:nvPr/>
          </p:nvSpPr>
          <p:spPr>
            <a:xfrm flipH="false" flipV="false" rot="0">
              <a:off x="0" y="0"/>
              <a:ext cx="2682240" cy="926592"/>
            </a:xfrm>
            <a:custGeom>
              <a:avLst/>
              <a:gdLst/>
              <a:ahLst/>
              <a:cxnLst/>
              <a:rect r="r" b="b" t="t" l="l"/>
              <a:pathLst>
                <a:path h="926592" w="2682240">
                  <a:moveTo>
                    <a:pt x="0" y="0"/>
                  </a:moveTo>
                  <a:lnTo>
                    <a:pt x="2682240" y="0"/>
                  </a:lnTo>
                  <a:lnTo>
                    <a:pt x="2682240" y="926592"/>
                  </a:lnTo>
                  <a:lnTo>
                    <a:pt x="0" y="926592"/>
                  </a:lnTo>
                  <a:close/>
                </a:path>
              </a:pathLst>
            </a:custGeom>
            <a:blipFill>
              <a:blip r:embed="rId3">
                <a:alphaModFix amt="0"/>
              </a:blip>
              <a:stretch>
                <a:fillRect l="0" t="-6404" r="0" b="-6404"/>
              </a:stretch>
            </a:blipFill>
          </p:spPr>
        </p:sp>
        <p:sp>
          <p:nvSpPr>
            <p:cNvPr name="TextBox 27" id="27"/>
            <p:cNvSpPr txBox="true"/>
            <p:nvPr/>
          </p:nvSpPr>
          <p:spPr>
            <a:xfrm>
              <a:off x="0" y="-38100"/>
              <a:ext cx="2682240" cy="964692"/>
            </a:xfrm>
            <a:prstGeom prst="rect">
              <a:avLst/>
            </a:prstGeom>
          </p:spPr>
          <p:txBody>
            <a:bodyPr anchor="ctr" rtlCol="false" tIns="0" lIns="0" bIns="0" rIns="0"/>
            <a:lstStyle/>
            <a:p>
              <a:pPr algn="ctr">
                <a:lnSpc>
                  <a:spcPts val="2400"/>
                </a:lnSpc>
              </a:pPr>
              <a:r>
                <a:rPr lang="en-US" sz="2000">
                  <a:solidFill>
                    <a:srgbClr val="FFFFFF"/>
                  </a:solidFill>
                  <a:latin typeface="Calibri (MS)"/>
                  <a:ea typeface="Calibri (MS)"/>
                  <a:cs typeface="Calibri (MS)"/>
                  <a:sym typeface="Calibri (MS)"/>
                </a:rPr>
                <a:t>10,921</a:t>
              </a:r>
            </a:p>
            <a:p>
              <a:pPr algn="ctr">
                <a:lnSpc>
                  <a:spcPts val="2400"/>
                </a:lnSpc>
              </a:pPr>
              <a:r>
                <a:rPr lang="en-US" sz="2000">
                  <a:solidFill>
                    <a:srgbClr val="FFFFFF"/>
                  </a:solidFill>
                  <a:latin typeface="Calibri (MS)"/>
                  <a:ea typeface="Calibri (MS)"/>
                  <a:cs typeface="Calibri (MS)"/>
                  <a:sym typeface="Calibri (MS)"/>
                </a:rPr>
                <a:t>images</a:t>
              </a:r>
            </a:p>
          </p:txBody>
        </p:sp>
      </p:grpSp>
      <p:grpSp>
        <p:nvGrpSpPr>
          <p:cNvPr name="Group 28" id="28"/>
          <p:cNvGrpSpPr/>
          <p:nvPr/>
        </p:nvGrpSpPr>
        <p:grpSpPr>
          <a:xfrm rot="0">
            <a:off x="2926080" y="3090672"/>
            <a:ext cx="7680960" cy="475488"/>
            <a:chOff x="0" y="0"/>
            <a:chExt cx="10241280" cy="633984"/>
          </a:xfrm>
        </p:grpSpPr>
        <p:sp>
          <p:nvSpPr>
            <p:cNvPr name="Freeform 29" id="29"/>
            <p:cNvSpPr/>
            <p:nvPr/>
          </p:nvSpPr>
          <p:spPr>
            <a:xfrm flipH="false" flipV="false" rot="0">
              <a:off x="0" y="0"/>
              <a:ext cx="10241280" cy="633984"/>
            </a:xfrm>
            <a:custGeom>
              <a:avLst/>
              <a:gdLst/>
              <a:ahLst/>
              <a:cxnLst/>
              <a:rect r="r" b="b" t="t" l="l"/>
              <a:pathLst>
                <a:path h="633984" w="10241280">
                  <a:moveTo>
                    <a:pt x="0" y="0"/>
                  </a:moveTo>
                  <a:lnTo>
                    <a:pt x="10241280" y="0"/>
                  </a:lnTo>
                  <a:lnTo>
                    <a:pt x="10241280" y="633984"/>
                  </a:lnTo>
                  <a:lnTo>
                    <a:pt x="0" y="633984"/>
                  </a:lnTo>
                  <a:close/>
                </a:path>
              </a:pathLst>
            </a:custGeom>
            <a:blipFill>
              <a:blip r:embed="rId3">
                <a:alphaModFix amt="0"/>
              </a:blip>
              <a:stretch>
                <a:fillRect l="0" t="-264758" r="0" b="-264758"/>
              </a:stretch>
            </a:blipFill>
          </p:spPr>
        </p:sp>
        <p:sp>
          <p:nvSpPr>
            <p:cNvPr name="TextBox 30" id="30"/>
            <p:cNvSpPr txBox="true"/>
            <p:nvPr/>
          </p:nvSpPr>
          <p:spPr>
            <a:xfrm>
              <a:off x="0" y="-38100"/>
              <a:ext cx="10241280" cy="672084"/>
            </a:xfrm>
            <a:prstGeom prst="rect">
              <a:avLst/>
            </a:prstGeom>
          </p:spPr>
          <p:txBody>
            <a:bodyPr anchor="ctr" rtlCol="false" tIns="0" lIns="0" bIns="0" rIns="0"/>
            <a:lstStyle/>
            <a:p>
              <a:pPr algn="l">
                <a:lnSpc>
                  <a:spcPts val="2400"/>
                </a:lnSpc>
              </a:pPr>
              <a:r>
                <a:rPr lang="en-US" sz="2000" b="true">
                  <a:solidFill>
                    <a:srgbClr val="1E293B"/>
                  </a:solidFill>
                  <a:latin typeface="Calibri (MS) Bold"/>
                  <a:ea typeface="Calibri (MS) Bold"/>
                  <a:cs typeface="Calibri (MS) Bold"/>
                  <a:sym typeface="Calibri (MS) Bold"/>
                </a:rPr>
                <a:t>Remote Sensing Image Caption Dataset</a:t>
              </a:r>
            </a:p>
          </p:txBody>
        </p:sp>
      </p:grpSp>
      <p:grpSp>
        <p:nvGrpSpPr>
          <p:cNvPr name="Group 31" id="31"/>
          <p:cNvGrpSpPr/>
          <p:nvPr/>
        </p:nvGrpSpPr>
        <p:grpSpPr>
          <a:xfrm rot="0">
            <a:off x="2926080" y="3602736"/>
            <a:ext cx="7680960" cy="457200"/>
            <a:chOff x="0" y="0"/>
            <a:chExt cx="10241280" cy="609600"/>
          </a:xfrm>
        </p:grpSpPr>
        <p:sp>
          <p:nvSpPr>
            <p:cNvPr name="Freeform 32" id="32"/>
            <p:cNvSpPr/>
            <p:nvPr/>
          </p:nvSpPr>
          <p:spPr>
            <a:xfrm flipH="false" flipV="false" rot="0">
              <a:off x="0" y="0"/>
              <a:ext cx="10241280" cy="609600"/>
            </a:xfrm>
            <a:custGeom>
              <a:avLst/>
              <a:gdLst/>
              <a:ahLst/>
              <a:cxnLst/>
              <a:rect r="r" b="b" t="t" l="l"/>
              <a:pathLst>
                <a:path h="609600" w="10241280">
                  <a:moveTo>
                    <a:pt x="0" y="0"/>
                  </a:moveTo>
                  <a:lnTo>
                    <a:pt x="10241280" y="0"/>
                  </a:lnTo>
                  <a:lnTo>
                    <a:pt x="10241280" y="609600"/>
                  </a:lnTo>
                  <a:lnTo>
                    <a:pt x="0" y="609600"/>
                  </a:lnTo>
                  <a:close/>
                </a:path>
              </a:pathLst>
            </a:custGeom>
            <a:blipFill>
              <a:blip r:embed="rId3">
                <a:alphaModFix amt="0"/>
              </a:blip>
              <a:stretch>
                <a:fillRect l="0" t="-277348" r="0" b="-277348"/>
              </a:stretch>
            </a:blipFill>
          </p:spPr>
        </p:sp>
        <p:sp>
          <p:nvSpPr>
            <p:cNvPr name="TextBox 33" id="33"/>
            <p:cNvSpPr txBox="true"/>
            <p:nvPr/>
          </p:nvSpPr>
          <p:spPr>
            <a:xfrm>
              <a:off x="0" y="-38100"/>
              <a:ext cx="10241280" cy="647700"/>
            </a:xfrm>
            <a:prstGeom prst="rect">
              <a:avLst/>
            </a:prstGeom>
          </p:spPr>
          <p:txBody>
            <a:bodyPr anchor="ctr" rtlCol="false" tIns="0" lIns="0" bIns="0" rIns="0"/>
            <a:lstStyle/>
            <a:p>
              <a:pPr algn="l">
                <a:lnSpc>
                  <a:spcPts val="2160"/>
                </a:lnSpc>
              </a:pPr>
              <a:r>
                <a:rPr lang="en-US" sz="1800">
                  <a:solidFill>
                    <a:srgbClr val="94A3B8"/>
                  </a:solidFill>
                  <a:latin typeface="Calibri (MS)"/>
                  <a:ea typeface="Calibri (MS)"/>
                  <a:cs typeface="Calibri (MS)"/>
                  <a:sym typeface="Calibri (MS)"/>
                </a:rPr>
                <a:t>224 × 224 px  ·  30 scene types (city, river, airport…)  ·  5 per image</a:t>
              </a:r>
            </a:p>
          </p:txBody>
        </p:sp>
      </p:grpSp>
      <p:grpSp>
        <p:nvGrpSpPr>
          <p:cNvPr name="Group 34" id="34"/>
          <p:cNvGrpSpPr/>
          <p:nvPr/>
        </p:nvGrpSpPr>
        <p:grpSpPr>
          <a:xfrm rot="0">
            <a:off x="2913383" y="4102103"/>
            <a:ext cx="2585723" cy="537467"/>
            <a:chOff x="0" y="0"/>
            <a:chExt cx="3447631" cy="716623"/>
          </a:xfrm>
        </p:grpSpPr>
        <p:sp>
          <p:nvSpPr>
            <p:cNvPr name="Freeform 35" id="35"/>
            <p:cNvSpPr/>
            <p:nvPr/>
          </p:nvSpPr>
          <p:spPr>
            <a:xfrm flipH="false" flipV="false" rot="0">
              <a:off x="16891" y="16891"/>
              <a:ext cx="3413760" cy="682752"/>
            </a:xfrm>
            <a:custGeom>
              <a:avLst/>
              <a:gdLst/>
              <a:ahLst/>
              <a:cxnLst/>
              <a:rect r="r" b="b" t="t" l="l"/>
              <a:pathLst>
                <a:path h="682752" w="3413760">
                  <a:moveTo>
                    <a:pt x="0" y="0"/>
                  </a:moveTo>
                  <a:lnTo>
                    <a:pt x="3413760" y="0"/>
                  </a:lnTo>
                  <a:lnTo>
                    <a:pt x="3413760" y="682752"/>
                  </a:lnTo>
                  <a:lnTo>
                    <a:pt x="0" y="682752"/>
                  </a:lnTo>
                  <a:close/>
                </a:path>
              </a:pathLst>
            </a:custGeom>
            <a:solidFill>
              <a:srgbClr val="000000"/>
            </a:solidFill>
          </p:spPr>
        </p:sp>
        <p:sp>
          <p:nvSpPr>
            <p:cNvPr name="Freeform 36" id="36"/>
            <p:cNvSpPr/>
            <p:nvPr/>
          </p:nvSpPr>
          <p:spPr>
            <a:xfrm flipH="false" flipV="false" rot="0">
              <a:off x="0" y="0"/>
              <a:ext cx="3447542" cy="716536"/>
            </a:xfrm>
            <a:custGeom>
              <a:avLst/>
              <a:gdLst/>
              <a:ahLst/>
              <a:cxnLst/>
              <a:rect r="r" b="b" t="t" l="l"/>
              <a:pathLst>
                <a:path h="716536" w="3447542">
                  <a:moveTo>
                    <a:pt x="16891" y="0"/>
                  </a:moveTo>
                  <a:lnTo>
                    <a:pt x="3430651" y="0"/>
                  </a:lnTo>
                  <a:cubicBezTo>
                    <a:pt x="3440049" y="0"/>
                    <a:pt x="3447542" y="7620"/>
                    <a:pt x="3447542" y="16891"/>
                  </a:cubicBezTo>
                  <a:lnTo>
                    <a:pt x="3447542" y="699643"/>
                  </a:lnTo>
                  <a:cubicBezTo>
                    <a:pt x="3447542" y="709041"/>
                    <a:pt x="3439922" y="716534"/>
                    <a:pt x="3430651" y="716534"/>
                  </a:cubicBezTo>
                  <a:lnTo>
                    <a:pt x="16891" y="716534"/>
                  </a:lnTo>
                  <a:cubicBezTo>
                    <a:pt x="7620" y="716661"/>
                    <a:pt x="0" y="709041"/>
                    <a:pt x="0" y="699643"/>
                  </a:cubicBezTo>
                  <a:lnTo>
                    <a:pt x="0" y="16891"/>
                  </a:lnTo>
                  <a:cubicBezTo>
                    <a:pt x="0" y="7620"/>
                    <a:pt x="7620" y="0"/>
                    <a:pt x="16891" y="0"/>
                  </a:cubicBezTo>
                  <a:moveTo>
                    <a:pt x="16891" y="33909"/>
                  </a:moveTo>
                  <a:lnTo>
                    <a:pt x="16891" y="16891"/>
                  </a:lnTo>
                  <a:lnTo>
                    <a:pt x="33909" y="16891"/>
                  </a:lnTo>
                  <a:lnTo>
                    <a:pt x="33909" y="699643"/>
                  </a:lnTo>
                  <a:lnTo>
                    <a:pt x="16891" y="699643"/>
                  </a:lnTo>
                  <a:lnTo>
                    <a:pt x="16891" y="682752"/>
                  </a:lnTo>
                  <a:lnTo>
                    <a:pt x="3430651" y="682752"/>
                  </a:lnTo>
                  <a:lnTo>
                    <a:pt x="3430651" y="699643"/>
                  </a:lnTo>
                  <a:lnTo>
                    <a:pt x="3413760" y="699643"/>
                  </a:lnTo>
                  <a:lnTo>
                    <a:pt x="3413760" y="16891"/>
                  </a:lnTo>
                  <a:lnTo>
                    <a:pt x="3430651" y="16891"/>
                  </a:lnTo>
                  <a:lnTo>
                    <a:pt x="3430651" y="33909"/>
                  </a:lnTo>
                  <a:lnTo>
                    <a:pt x="16891" y="33909"/>
                  </a:lnTo>
                  <a:close/>
                </a:path>
              </a:pathLst>
            </a:custGeom>
            <a:solidFill>
              <a:srgbClr val="000000"/>
            </a:solidFill>
          </p:spPr>
        </p:sp>
      </p:grpSp>
      <p:grpSp>
        <p:nvGrpSpPr>
          <p:cNvPr name="Group 37" id="37"/>
          <p:cNvGrpSpPr/>
          <p:nvPr/>
        </p:nvGrpSpPr>
        <p:grpSpPr>
          <a:xfrm rot="0">
            <a:off x="2926080" y="4114800"/>
            <a:ext cx="2560320" cy="512064"/>
            <a:chOff x="0" y="0"/>
            <a:chExt cx="3413760" cy="682752"/>
          </a:xfrm>
        </p:grpSpPr>
        <p:sp>
          <p:nvSpPr>
            <p:cNvPr name="Freeform 38" id="38"/>
            <p:cNvSpPr/>
            <p:nvPr/>
          </p:nvSpPr>
          <p:spPr>
            <a:xfrm flipH="false" flipV="false" rot="0">
              <a:off x="0" y="0"/>
              <a:ext cx="3413760" cy="682752"/>
            </a:xfrm>
            <a:custGeom>
              <a:avLst/>
              <a:gdLst/>
              <a:ahLst/>
              <a:cxnLst/>
              <a:rect r="r" b="b" t="t" l="l"/>
              <a:pathLst>
                <a:path h="682752" w="3413760">
                  <a:moveTo>
                    <a:pt x="0" y="0"/>
                  </a:moveTo>
                  <a:lnTo>
                    <a:pt x="3413760" y="0"/>
                  </a:lnTo>
                  <a:lnTo>
                    <a:pt x="3413760" y="682752"/>
                  </a:lnTo>
                  <a:lnTo>
                    <a:pt x="0" y="682752"/>
                  </a:lnTo>
                  <a:close/>
                </a:path>
              </a:pathLst>
            </a:custGeom>
            <a:blipFill>
              <a:blip r:embed="rId3">
                <a:alphaModFix amt="0"/>
              </a:blip>
              <a:stretch>
                <a:fillRect l="0" t="-47425" r="0" b="-47425"/>
              </a:stretch>
            </a:blipFill>
          </p:spPr>
        </p:sp>
        <p:sp>
          <p:nvSpPr>
            <p:cNvPr name="TextBox 39" id="39"/>
            <p:cNvSpPr txBox="true"/>
            <p:nvPr/>
          </p:nvSpPr>
          <p:spPr>
            <a:xfrm>
              <a:off x="0" y="-38100"/>
              <a:ext cx="3413760" cy="720852"/>
            </a:xfrm>
            <a:prstGeom prst="rect">
              <a:avLst/>
            </a:prstGeom>
          </p:spPr>
          <p:txBody>
            <a:bodyPr anchor="ctr" rtlCol="false" tIns="0" lIns="0" bIns="0" rIns="0"/>
            <a:lstStyle/>
            <a:p>
              <a:pPr algn="ctr">
                <a:lnSpc>
                  <a:spcPts val="2160"/>
                </a:lnSpc>
              </a:pPr>
              <a:r>
                <a:rPr lang="en-US" sz="1800" b="true">
                  <a:solidFill>
                    <a:srgbClr val="0D9488"/>
                  </a:solidFill>
                  <a:latin typeface="Calibri (MS) Bold"/>
                  <a:ea typeface="Calibri (MS) Bold"/>
                  <a:cs typeface="Calibri (MS) Bold"/>
                  <a:sym typeface="Calibri (MS) Bold"/>
                </a:rPr>
                <a:t>Largest RSIC benchmark</a:t>
              </a:r>
            </a:p>
          </p:txBody>
        </p:sp>
      </p:grpSp>
      <p:grpSp>
        <p:nvGrpSpPr>
          <p:cNvPr name="Group 40" id="40"/>
          <p:cNvGrpSpPr/>
          <p:nvPr/>
        </p:nvGrpSpPr>
        <p:grpSpPr>
          <a:xfrm rot="0">
            <a:off x="725167" y="4876543"/>
            <a:ext cx="10162537" cy="1695193"/>
            <a:chOff x="0" y="0"/>
            <a:chExt cx="13550049" cy="2260257"/>
          </a:xfrm>
        </p:grpSpPr>
        <p:sp>
          <p:nvSpPr>
            <p:cNvPr name="Freeform 41" id="41"/>
            <p:cNvSpPr/>
            <p:nvPr/>
          </p:nvSpPr>
          <p:spPr>
            <a:xfrm flipH="false" flipV="false" rot="0">
              <a:off x="8509" y="8509"/>
              <a:ext cx="13533120" cy="2243328"/>
            </a:xfrm>
            <a:custGeom>
              <a:avLst/>
              <a:gdLst/>
              <a:ahLst/>
              <a:cxnLst/>
              <a:rect r="r" b="b" t="t" l="l"/>
              <a:pathLst>
                <a:path h="2243328" w="13533120">
                  <a:moveTo>
                    <a:pt x="0" y="0"/>
                  </a:moveTo>
                  <a:lnTo>
                    <a:pt x="13533120" y="0"/>
                  </a:lnTo>
                  <a:lnTo>
                    <a:pt x="13533120" y="2243328"/>
                  </a:lnTo>
                  <a:lnTo>
                    <a:pt x="0" y="2243328"/>
                  </a:lnTo>
                  <a:close/>
                </a:path>
              </a:pathLst>
            </a:custGeom>
            <a:solidFill>
              <a:srgbClr val="FFFFFF"/>
            </a:solidFill>
          </p:spPr>
        </p:sp>
        <p:sp>
          <p:nvSpPr>
            <p:cNvPr name="Freeform 42" id="42"/>
            <p:cNvSpPr/>
            <p:nvPr/>
          </p:nvSpPr>
          <p:spPr>
            <a:xfrm flipH="false" flipV="false" rot="0">
              <a:off x="0" y="0"/>
              <a:ext cx="13550137" cy="2260346"/>
            </a:xfrm>
            <a:custGeom>
              <a:avLst/>
              <a:gdLst/>
              <a:ahLst/>
              <a:cxnLst/>
              <a:rect r="r" b="b" t="t" l="l"/>
              <a:pathLst>
                <a:path h="2260346" w="13550137">
                  <a:moveTo>
                    <a:pt x="8509" y="0"/>
                  </a:moveTo>
                  <a:lnTo>
                    <a:pt x="13541629" y="0"/>
                  </a:lnTo>
                  <a:cubicBezTo>
                    <a:pt x="13546328" y="0"/>
                    <a:pt x="13550137" y="3810"/>
                    <a:pt x="13550137" y="8509"/>
                  </a:cubicBezTo>
                  <a:lnTo>
                    <a:pt x="13550137" y="2251837"/>
                  </a:lnTo>
                  <a:cubicBezTo>
                    <a:pt x="13550137" y="2256536"/>
                    <a:pt x="13546328" y="2260346"/>
                    <a:pt x="13541629" y="2260346"/>
                  </a:cubicBezTo>
                  <a:lnTo>
                    <a:pt x="8509" y="2260346"/>
                  </a:lnTo>
                  <a:cubicBezTo>
                    <a:pt x="3810" y="2260346"/>
                    <a:pt x="0" y="2256536"/>
                    <a:pt x="0" y="2251837"/>
                  </a:cubicBezTo>
                  <a:lnTo>
                    <a:pt x="0" y="8509"/>
                  </a:lnTo>
                  <a:cubicBezTo>
                    <a:pt x="0" y="3810"/>
                    <a:pt x="3810" y="0"/>
                    <a:pt x="8509" y="0"/>
                  </a:cubicBezTo>
                  <a:moveTo>
                    <a:pt x="8509" y="16891"/>
                  </a:moveTo>
                  <a:lnTo>
                    <a:pt x="8509" y="8509"/>
                  </a:lnTo>
                  <a:lnTo>
                    <a:pt x="17018" y="8509"/>
                  </a:lnTo>
                  <a:lnTo>
                    <a:pt x="17018" y="2251837"/>
                  </a:lnTo>
                  <a:lnTo>
                    <a:pt x="8509" y="2251837"/>
                  </a:lnTo>
                  <a:lnTo>
                    <a:pt x="8509" y="2243328"/>
                  </a:lnTo>
                  <a:lnTo>
                    <a:pt x="13541629" y="2243328"/>
                  </a:lnTo>
                  <a:lnTo>
                    <a:pt x="13541629" y="2251837"/>
                  </a:lnTo>
                  <a:lnTo>
                    <a:pt x="13533120" y="2251837"/>
                  </a:lnTo>
                  <a:lnTo>
                    <a:pt x="13533120" y="8509"/>
                  </a:lnTo>
                  <a:lnTo>
                    <a:pt x="13541629" y="8509"/>
                  </a:lnTo>
                  <a:lnTo>
                    <a:pt x="13541629" y="17018"/>
                  </a:lnTo>
                  <a:lnTo>
                    <a:pt x="8509" y="17018"/>
                  </a:lnTo>
                  <a:close/>
                </a:path>
              </a:pathLst>
            </a:custGeom>
            <a:solidFill>
              <a:srgbClr val="E2E8F0"/>
            </a:solidFill>
          </p:spPr>
        </p:sp>
      </p:grpSp>
      <p:grpSp>
        <p:nvGrpSpPr>
          <p:cNvPr name="Group 43" id="43"/>
          <p:cNvGrpSpPr/>
          <p:nvPr/>
        </p:nvGrpSpPr>
        <p:grpSpPr>
          <a:xfrm rot="0">
            <a:off x="718823" y="4870199"/>
            <a:ext cx="2037083" cy="1707899"/>
            <a:chOff x="0" y="0"/>
            <a:chExt cx="2716111" cy="2277199"/>
          </a:xfrm>
        </p:grpSpPr>
        <p:sp>
          <p:nvSpPr>
            <p:cNvPr name="Freeform 44" id="44"/>
            <p:cNvSpPr/>
            <p:nvPr/>
          </p:nvSpPr>
          <p:spPr>
            <a:xfrm flipH="false" flipV="false" rot="0">
              <a:off x="16891" y="16891"/>
              <a:ext cx="2682240" cy="2243328"/>
            </a:xfrm>
            <a:custGeom>
              <a:avLst/>
              <a:gdLst/>
              <a:ahLst/>
              <a:cxnLst/>
              <a:rect r="r" b="b" t="t" l="l"/>
              <a:pathLst>
                <a:path h="2243328" w="2682240">
                  <a:moveTo>
                    <a:pt x="0" y="0"/>
                  </a:moveTo>
                  <a:lnTo>
                    <a:pt x="2682240" y="0"/>
                  </a:lnTo>
                  <a:lnTo>
                    <a:pt x="2682240" y="2243328"/>
                  </a:lnTo>
                  <a:lnTo>
                    <a:pt x="0" y="2243328"/>
                  </a:lnTo>
                  <a:close/>
                </a:path>
              </a:pathLst>
            </a:custGeom>
            <a:solidFill>
              <a:srgbClr val="6D28D9"/>
            </a:solidFill>
          </p:spPr>
        </p:sp>
        <p:sp>
          <p:nvSpPr>
            <p:cNvPr name="Freeform 45" id="45"/>
            <p:cNvSpPr/>
            <p:nvPr/>
          </p:nvSpPr>
          <p:spPr>
            <a:xfrm flipH="false" flipV="false" rot="0">
              <a:off x="0" y="0"/>
              <a:ext cx="2716022" cy="2277110"/>
            </a:xfrm>
            <a:custGeom>
              <a:avLst/>
              <a:gdLst/>
              <a:ahLst/>
              <a:cxnLst/>
              <a:rect r="r" b="b" t="t" l="l"/>
              <a:pathLst>
                <a:path h="2277110" w="2716022">
                  <a:moveTo>
                    <a:pt x="16891" y="0"/>
                  </a:moveTo>
                  <a:lnTo>
                    <a:pt x="2699131" y="0"/>
                  </a:lnTo>
                  <a:cubicBezTo>
                    <a:pt x="2708529" y="0"/>
                    <a:pt x="2716022" y="7620"/>
                    <a:pt x="2716022" y="16891"/>
                  </a:cubicBezTo>
                  <a:lnTo>
                    <a:pt x="2716022" y="2260219"/>
                  </a:lnTo>
                  <a:cubicBezTo>
                    <a:pt x="2716022" y="2269617"/>
                    <a:pt x="2708402" y="2277110"/>
                    <a:pt x="2699131" y="2277110"/>
                  </a:cubicBezTo>
                  <a:lnTo>
                    <a:pt x="16891" y="2277110"/>
                  </a:lnTo>
                  <a:cubicBezTo>
                    <a:pt x="7493" y="2277110"/>
                    <a:pt x="0" y="2269490"/>
                    <a:pt x="0" y="2260219"/>
                  </a:cubicBezTo>
                  <a:lnTo>
                    <a:pt x="0" y="16891"/>
                  </a:lnTo>
                  <a:cubicBezTo>
                    <a:pt x="0" y="7620"/>
                    <a:pt x="7620" y="0"/>
                    <a:pt x="16891" y="0"/>
                  </a:cubicBezTo>
                  <a:moveTo>
                    <a:pt x="16891" y="33909"/>
                  </a:moveTo>
                  <a:lnTo>
                    <a:pt x="16891" y="16891"/>
                  </a:lnTo>
                  <a:lnTo>
                    <a:pt x="33909" y="16891"/>
                  </a:lnTo>
                  <a:lnTo>
                    <a:pt x="33909" y="2260219"/>
                  </a:lnTo>
                  <a:lnTo>
                    <a:pt x="16891" y="2260219"/>
                  </a:lnTo>
                  <a:lnTo>
                    <a:pt x="16891" y="2243328"/>
                  </a:lnTo>
                  <a:lnTo>
                    <a:pt x="2699131" y="2243328"/>
                  </a:lnTo>
                  <a:lnTo>
                    <a:pt x="2699131" y="2260219"/>
                  </a:lnTo>
                  <a:lnTo>
                    <a:pt x="2682240" y="2260219"/>
                  </a:lnTo>
                  <a:lnTo>
                    <a:pt x="2682240" y="16891"/>
                  </a:lnTo>
                  <a:lnTo>
                    <a:pt x="2699131" y="16891"/>
                  </a:lnTo>
                  <a:lnTo>
                    <a:pt x="2699131" y="33909"/>
                  </a:lnTo>
                  <a:lnTo>
                    <a:pt x="16891" y="33909"/>
                  </a:lnTo>
                  <a:close/>
                </a:path>
              </a:pathLst>
            </a:custGeom>
            <a:solidFill>
              <a:srgbClr val="6D28D9"/>
            </a:solidFill>
          </p:spPr>
        </p:sp>
      </p:grpSp>
      <p:grpSp>
        <p:nvGrpSpPr>
          <p:cNvPr name="Group 46" id="46"/>
          <p:cNvGrpSpPr/>
          <p:nvPr/>
        </p:nvGrpSpPr>
        <p:grpSpPr>
          <a:xfrm rot="0">
            <a:off x="731520" y="5029200"/>
            <a:ext cx="2011680" cy="694944"/>
            <a:chOff x="0" y="0"/>
            <a:chExt cx="2682240" cy="926592"/>
          </a:xfrm>
        </p:grpSpPr>
        <p:sp>
          <p:nvSpPr>
            <p:cNvPr name="Freeform 47" id="47"/>
            <p:cNvSpPr/>
            <p:nvPr/>
          </p:nvSpPr>
          <p:spPr>
            <a:xfrm flipH="false" flipV="false" rot="0">
              <a:off x="0" y="0"/>
              <a:ext cx="2682240" cy="926592"/>
            </a:xfrm>
            <a:custGeom>
              <a:avLst/>
              <a:gdLst/>
              <a:ahLst/>
              <a:cxnLst/>
              <a:rect r="r" b="b" t="t" l="l"/>
              <a:pathLst>
                <a:path h="926592" w="2682240">
                  <a:moveTo>
                    <a:pt x="0" y="0"/>
                  </a:moveTo>
                  <a:lnTo>
                    <a:pt x="2682240" y="0"/>
                  </a:lnTo>
                  <a:lnTo>
                    <a:pt x="2682240" y="926592"/>
                  </a:lnTo>
                  <a:lnTo>
                    <a:pt x="0" y="926592"/>
                  </a:lnTo>
                  <a:close/>
                </a:path>
              </a:pathLst>
            </a:custGeom>
            <a:blipFill>
              <a:blip r:embed="rId3">
                <a:alphaModFix amt="0"/>
              </a:blip>
              <a:stretch>
                <a:fillRect l="0" t="-6404" r="0" b="-6404"/>
              </a:stretch>
            </a:blipFill>
          </p:spPr>
        </p:sp>
        <p:sp>
          <p:nvSpPr>
            <p:cNvPr name="TextBox 48" id="48"/>
            <p:cNvSpPr txBox="true"/>
            <p:nvPr/>
          </p:nvSpPr>
          <p:spPr>
            <a:xfrm>
              <a:off x="0" y="-38100"/>
              <a:ext cx="2682240" cy="964692"/>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UCM-Captions</a:t>
              </a:r>
            </a:p>
          </p:txBody>
        </p:sp>
      </p:grpSp>
      <p:grpSp>
        <p:nvGrpSpPr>
          <p:cNvPr name="Group 49" id="49"/>
          <p:cNvGrpSpPr/>
          <p:nvPr/>
        </p:nvGrpSpPr>
        <p:grpSpPr>
          <a:xfrm rot="0">
            <a:off x="731520" y="5760720"/>
            <a:ext cx="2011680" cy="694944"/>
            <a:chOff x="0" y="0"/>
            <a:chExt cx="2682240" cy="926592"/>
          </a:xfrm>
        </p:grpSpPr>
        <p:sp>
          <p:nvSpPr>
            <p:cNvPr name="Freeform 50" id="50"/>
            <p:cNvSpPr/>
            <p:nvPr/>
          </p:nvSpPr>
          <p:spPr>
            <a:xfrm flipH="false" flipV="false" rot="0">
              <a:off x="0" y="0"/>
              <a:ext cx="2682240" cy="926592"/>
            </a:xfrm>
            <a:custGeom>
              <a:avLst/>
              <a:gdLst/>
              <a:ahLst/>
              <a:cxnLst/>
              <a:rect r="r" b="b" t="t" l="l"/>
              <a:pathLst>
                <a:path h="926592" w="2682240">
                  <a:moveTo>
                    <a:pt x="0" y="0"/>
                  </a:moveTo>
                  <a:lnTo>
                    <a:pt x="2682240" y="0"/>
                  </a:lnTo>
                  <a:lnTo>
                    <a:pt x="2682240" y="926592"/>
                  </a:lnTo>
                  <a:lnTo>
                    <a:pt x="0" y="926592"/>
                  </a:lnTo>
                  <a:close/>
                </a:path>
              </a:pathLst>
            </a:custGeom>
            <a:blipFill>
              <a:blip r:embed="rId3">
                <a:alphaModFix amt="0"/>
              </a:blip>
              <a:stretch>
                <a:fillRect l="0" t="-6404" r="0" b="-6404"/>
              </a:stretch>
            </a:blipFill>
          </p:spPr>
        </p:sp>
        <p:sp>
          <p:nvSpPr>
            <p:cNvPr name="TextBox 51" id="51"/>
            <p:cNvSpPr txBox="true"/>
            <p:nvPr/>
          </p:nvSpPr>
          <p:spPr>
            <a:xfrm>
              <a:off x="0" y="-38100"/>
              <a:ext cx="2682240" cy="964692"/>
            </a:xfrm>
            <a:prstGeom prst="rect">
              <a:avLst/>
            </a:prstGeom>
          </p:spPr>
          <p:txBody>
            <a:bodyPr anchor="ctr" rtlCol="false" tIns="0" lIns="0" bIns="0" rIns="0"/>
            <a:lstStyle/>
            <a:p>
              <a:pPr algn="ctr">
                <a:lnSpc>
                  <a:spcPts val="2400"/>
                </a:lnSpc>
              </a:pPr>
              <a:r>
                <a:rPr lang="en-US" sz="2000">
                  <a:solidFill>
                    <a:srgbClr val="FFFFFF"/>
                  </a:solidFill>
                  <a:latin typeface="Calibri (MS)"/>
                  <a:ea typeface="Calibri (MS)"/>
                  <a:cs typeface="Calibri (MS)"/>
                  <a:sym typeface="Calibri (MS)"/>
                </a:rPr>
                <a:t>2,100</a:t>
              </a:r>
            </a:p>
            <a:p>
              <a:pPr algn="ctr">
                <a:lnSpc>
                  <a:spcPts val="2400"/>
                </a:lnSpc>
              </a:pPr>
              <a:r>
                <a:rPr lang="en-US" sz="2000">
                  <a:solidFill>
                    <a:srgbClr val="FFFFFF"/>
                  </a:solidFill>
                  <a:latin typeface="Calibri (MS)"/>
                  <a:ea typeface="Calibri (MS)"/>
                  <a:cs typeface="Calibri (MS)"/>
                  <a:sym typeface="Calibri (MS)"/>
                </a:rPr>
                <a:t>images</a:t>
              </a:r>
            </a:p>
          </p:txBody>
        </p:sp>
      </p:grpSp>
      <p:grpSp>
        <p:nvGrpSpPr>
          <p:cNvPr name="Group 52" id="52"/>
          <p:cNvGrpSpPr/>
          <p:nvPr/>
        </p:nvGrpSpPr>
        <p:grpSpPr>
          <a:xfrm rot="0">
            <a:off x="2926080" y="4956048"/>
            <a:ext cx="7680960" cy="475488"/>
            <a:chOff x="0" y="0"/>
            <a:chExt cx="10241280" cy="633984"/>
          </a:xfrm>
        </p:grpSpPr>
        <p:sp>
          <p:nvSpPr>
            <p:cNvPr name="Freeform 53" id="53"/>
            <p:cNvSpPr/>
            <p:nvPr/>
          </p:nvSpPr>
          <p:spPr>
            <a:xfrm flipH="false" flipV="false" rot="0">
              <a:off x="0" y="0"/>
              <a:ext cx="10241280" cy="633984"/>
            </a:xfrm>
            <a:custGeom>
              <a:avLst/>
              <a:gdLst/>
              <a:ahLst/>
              <a:cxnLst/>
              <a:rect r="r" b="b" t="t" l="l"/>
              <a:pathLst>
                <a:path h="633984" w="10241280">
                  <a:moveTo>
                    <a:pt x="0" y="0"/>
                  </a:moveTo>
                  <a:lnTo>
                    <a:pt x="10241280" y="0"/>
                  </a:lnTo>
                  <a:lnTo>
                    <a:pt x="10241280" y="633984"/>
                  </a:lnTo>
                  <a:lnTo>
                    <a:pt x="0" y="633984"/>
                  </a:lnTo>
                  <a:close/>
                </a:path>
              </a:pathLst>
            </a:custGeom>
            <a:blipFill>
              <a:blip r:embed="rId3">
                <a:alphaModFix amt="0"/>
              </a:blip>
              <a:stretch>
                <a:fillRect l="0" t="-264758" r="0" b="-264758"/>
              </a:stretch>
            </a:blipFill>
          </p:spPr>
        </p:sp>
        <p:sp>
          <p:nvSpPr>
            <p:cNvPr name="TextBox 54" id="54"/>
            <p:cNvSpPr txBox="true"/>
            <p:nvPr/>
          </p:nvSpPr>
          <p:spPr>
            <a:xfrm>
              <a:off x="0" y="-38100"/>
              <a:ext cx="10241280" cy="672084"/>
            </a:xfrm>
            <a:prstGeom prst="rect">
              <a:avLst/>
            </a:prstGeom>
          </p:spPr>
          <p:txBody>
            <a:bodyPr anchor="ctr" rtlCol="false" tIns="0" lIns="0" bIns="0" rIns="0"/>
            <a:lstStyle/>
            <a:p>
              <a:pPr algn="l">
                <a:lnSpc>
                  <a:spcPts val="2400"/>
                </a:lnSpc>
              </a:pPr>
              <a:r>
                <a:rPr lang="en-US" sz="2000" b="true">
                  <a:solidFill>
                    <a:srgbClr val="1E293B"/>
                  </a:solidFill>
                  <a:latin typeface="Calibri (MS) Bold"/>
                  <a:ea typeface="Calibri (MS) Bold"/>
                  <a:cs typeface="Calibri (MS) Bold"/>
                  <a:sym typeface="Calibri (MS) Bold"/>
                </a:rPr>
                <a:t>UC Merced Land-Use Captions</a:t>
              </a:r>
            </a:p>
          </p:txBody>
        </p:sp>
      </p:grpSp>
      <p:grpSp>
        <p:nvGrpSpPr>
          <p:cNvPr name="Group 55" id="55"/>
          <p:cNvGrpSpPr/>
          <p:nvPr/>
        </p:nvGrpSpPr>
        <p:grpSpPr>
          <a:xfrm rot="0">
            <a:off x="2926080" y="5468112"/>
            <a:ext cx="7680960" cy="457200"/>
            <a:chOff x="0" y="0"/>
            <a:chExt cx="10241280" cy="609600"/>
          </a:xfrm>
        </p:grpSpPr>
        <p:sp>
          <p:nvSpPr>
            <p:cNvPr name="Freeform 56" id="56"/>
            <p:cNvSpPr/>
            <p:nvPr/>
          </p:nvSpPr>
          <p:spPr>
            <a:xfrm flipH="false" flipV="false" rot="0">
              <a:off x="0" y="0"/>
              <a:ext cx="10241280" cy="609600"/>
            </a:xfrm>
            <a:custGeom>
              <a:avLst/>
              <a:gdLst/>
              <a:ahLst/>
              <a:cxnLst/>
              <a:rect r="r" b="b" t="t" l="l"/>
              <a:pathLst>
                <a:path h="609600" w="10241280">
                  <a:moveTo>
                    <a:pt x="0" y="0"/>
                  </a:moveTo>
                  <a:lnTo>
                    <a:pt x="10241280" y="0"/>
                  </a:lnTo>
                  <a:lnTo>
                    <a:pt x="10241280" y="609600"/>
                  </a:lnTo>
                  <a:lnTo>
                    <a:pt x="0" y="609600"/>
                  </a:lnTo>
                  <a:close/>
                </a:path>
              </a:pathLst>
            </a:custGeom>
            <a:blipFill>
              <a:blip r:embed="rId3">
                <a:alphaModFix amt="0"/>
              </a:blip>
              <a:stretch>
                <a:fillRect l="0" t="-277348" r="0" b="-277348"/>
              </a:stretch>
            </a:blipFill>
          </p:spPr>
        </p:sp>
        <p:sp>
          <p:nvSpPr>
            <p:cNvPr name="TextBox 57" id="57"/>
            <p:cNvSpPr txBox="true"/>
            <p:nvPr/>
          </p:nvSpPr>
          <p:spPr>
            <a:xfrm>
              <a:off x="0" y="-38100"/>
              <a:ext cx="10241280" cy="647700"/>
            </a:xfrm>
            <a:prstGeom prst="rect">
              <a:avLst/>
            </a:prstGeom>
          </p:spPr>
          <p:txBody>
            <a:bodyPr anchor="ctr" rtlCol="false" tIns="0" lIns="0" bIns="0" rIns="0"/>
            <a:lstStyle/>
            <a:p>
              <a:pPr algn="l">
                <a:lnSpc>
                  <a:spcPts val="2160"/>
                </a:lnSpc>
              </a:pPr>
              <a:r>
                <a:rPr lang="en-US" sz="1800">
                  <a:solidFill>
                    <a:srgbClr val="94A3B8"/>
                  </a:solidFill>
                  <a:latin typeface="Calibri (MS)"/>
                  <a:ea typeface="Calibri (MS)"/>
                  <a:cs typeface="Calibri (MS)"/>
                  <a:sym typeface="Calibri (MS)"/>
                </a:rPr>
                <a:t>256 × 256 px  ·  21 land-use categories (100 images each)  ·  5 per image</a:t>
              </a:r>
            </a:p>
          </p:txBody>
        </p:sp>
      </p:grpSp>
      <p:grpSp>
        <p:nvGrpSpPr>
          <p:cNvPr name="Group 58" id="58"/>
          <p:cNvGrpSpPr/>
          <p:nvPr/>
        </p:nvGrpSpPr>
        <p:grpSpPr>
          <a:xfrm rot="0">
            <a:off x="2913383" y="5967479"/>
            <a:ext cx="2585723" cy="537467"/>
            <a:chOff x="0" y="0"/>
            <a:chExt cx="3447631" cy="716623"/>
          </a:xfrm>
        </p:grpSpPr>
        <p:sp>
          <p:nvSpPr>
            <p:cNvPr name="Freeform 59" id="59"/>
            <p:cNvSpPr/>
            <p:nvPr/>
          </p:nvSpPr>
          <p:spPr>
            <a:xfrm flipH="false" flipV="false" rot="0">
              <a:off x="16891" y="16891"/>
              <a:ext cx="3413760" cy="682752"/>
            </a:xfrm>
            <a:custGeom>
              <a:avLst/>
              <a:gdLst/>
              <a:ahLst/>
              <a:cxnLst/>
              <a:rect r="r" b="b" t="t" l="l"/>
              <a:pathLst>
                <a:path h="682752" w="3413760">
                  <a:moveTo>
                    <a:pt x="0" y="0"/>
                  </a:moveTo>
                  <a:lnTo>
                    <a:pt x="3413760" y="0"/>
                  </a:lnTo>
                  <a:lnTo>
                    <a:pt x="3413760" y="682752"/>
                  </a:lnTo>
                  <a:lnTo>
                    <a:pt x="0" y="682752"/>
                  </a:lnTo>
                  <a:close/>
                </a:path>
              </a:pathLst>
            </a:custGeom>
            <a:solidFill>
              <a:srgbClr val="000000"/>
            </a:solidFill>
          </p:spPr>
        </p:sp>
        <p:sp>
          <p:nvSpPr>
            <p:cNvPr name="Freeform 60" id="60"/>
            <p:cNvSpPr/>
            <p:nvPr/>
          </p:nvSpPr>
          <p:spPr>
            <a:xfrm flipH="false" flipV="false" rot="0">
              <a:off x="0" y="0"/>
              <a:ext cx="3447542" cy="716536"/>
            </a:xfrm>
            <a:custGeom>
              <a:avLst/>
              <a:gdLst/>
              <a:ahLst/>
              <a:cxnLst/>
              <a:rect r="r" b="b" t="t" l="l"/>
              <a:pathLst>
                <a:path h="716536" w="3447542">
                  <a:moveTo>
                    <a:pt x="16891" y="0"/>
                  </a:moveTo>
                  <a:lnTo>
                    <a:pt x="3430651" y="0"/>
                  </a:lnTo>
                  <a:cubicBezTo>
                    <a:pt x="3440049" y="0"/>
                    <a:pt x="3447542" y="7620"/>
                    <a:pt x="3447542" y="16891"/>
                  </a:cubicBezTo>
                  <a:lnTo>
                    <a:pt x="3447542" y="699643"/>
                  </a:lnTo>
                  <a:cubicBezTo>
                    <a:pt x="3447542" y="709041"/>
                    <a:pt x="3439922" y="716534"/>
                    <a:pt x="3430651" y="716534"/>
                  </a:cubicBezTo>
                  <a:lnTo>
                    <a:pt x="16891" y="716534"/>
                  </a:lnTo>
                  <a:cubicBezTo>
                    <a:pt x="7620" y="716661"/>
                    <a:pt x="0" y="709041"/>
                    <a:pt x="0" y="699643"/>
                  </a:cubicBezTo>
                  <a:lnTo>
                    <a:pt x="0" y="16891"/>
                  </a:lnTo>
                  <a:cubicBezTo>
                    <a:pt x="0" y="7620"/>
                    <a:pt x="7620" y="0"/>
                    <a:pt x="16891" y="0"/>
                  </a:cubicBezTo>
                  <a:moveTo>
                    <a:pt x="16891" y="33909"/>
                  </a:moveTo>
                  <a:lnTo>
                    <a:pt x="16891" y="16891"/>
                  </a:lnTo>
                  <a:lnTo>
                    <a:pt x="33909" y="16891"/>
                  </a:lnTo>
                  <a:lnTo>
                    <a:pt x="33909" y="699643"/>
                  </a:lnTo>
                  <a:lnTo>
                    <a:pt x="16891" y="699643"/>
                  </a:lnTo>
                  <a:lnTo>
                    <a:pt x="16891" y="682752"/>
                  </a:lnTo>
                  <a:lnTo>
                    <a:pt x="3430651" y="682752"/>
                  </a:lnTo>
                  <a:lnTo>
                    <a:pt x="3430651" y="699643"/>
                  </a:lnTo>
                  <a:lnTo>
                    <a:pt x="3413760" y="699643"/>
                  </a:lnTo>
                  <a:lnTo>
                    <a:pt x="3413760" y="16891"/>
                  </a:lnTo>
                  <a:lnTo>
                    <a:pt x="3430651" y="16891"/>
                  </a:lnTo>
                  <a:lnTo>
                    <a:pt x="3430651" y="33909"/>
                  </a:lnTo>
                  <a:lnTo>
                    <a:pt x="16891" y="33909"/>
                  </a:lnTo>
                  <a:close/>
                </a:path>
              </a:pathLst>
            </a:custGeom>
            <a:solidFill>
              <a:srgbClr val="000000"/>
            </a:solidFill>
          </p:spPr>
        </p:sp>
      </p:grpSp>
      <p:grpSp>
        <p:nvGrpSpPr>
          <p:cNvPr name="Group 61" id="61"/>
          <p:cNvGrpSpPr/>
          <p:nvPr/>
        </p:nvGrpSpPr>
        <p:grpSpPr>
          <a:xfrm rot="0">
            <a:off x="2926080" y="5980176"/>
            <a:ext cx="2560320" cy="512064"/>
            <a:chOff x="0" y="0"/>
            <a:chExt cx="3413760" cy="682752"/>
          </a:xfrm>
        </p:grpSpPr>
        <p:sp>
          <p:nvSpPr>
            <p:cNvPr name="Freeform 62" id="62"/>
            <p:cNvSpPr/>
            <p:nvPr/>
          </p:nvSpPr>
          <p:spPr>
            <a:xfrm flipH="false" flipV="false" rot="0">
              <a:off x="0" y="0"/>
              <a:ext cx="3413760" cy="682752"/>
            </a:xfrm>
            <a:custGeom>
              <a:avLst/>
              <a:gdLst/>
              <a:ahLst/>
              <a:cxnLst/>
              <a:rect r="r" b="b" t="t" l="l"/>
              <a:pathLst>
                <a:path h="682752" w="3413760">
                  <a:moveTo>
                    <a:pt x="0" y="0"/>
                  </a:moveTo>
                  <a:lnTo>
                    <a:pt x="3413760" y="0"/>
                  </a:lnTo>
                  <a:lnTo>
                    <a:pt x="3413760" y="682752"/>
                  </a:lnTo>
                  <a:lnTo>
                    <a:pt x="0" y="682752"/>
                  </a:lnTo>
                  <a:close/>
                </a:path>
              </a:pathLst>
            </a:custGeom>
            <a:blipFill>
              <a:blip r:embed="rId3">
                <a:alphaModFix amt="0"/>
              </a:blip>
              <a:stretch>
                <a:fillRect l="0" t="-47425" r="0" b="-47425"/>
              </a:stretch>
            </a:blipFill>
          </p:spPr>
        </p:sp>
        <p:sp>
          <p:nvSpPr>
            <p:cNvPr name="TextBox 63" id="63"/>
            <p:cNvSpPr txBox="true"/>
            <p:nvPr/>
          </p:nvSpPr>
          <p:spPr>
            <a:xfrm>
              <a:off x="0" y="-38100"/>
              <a:ext cx="3413760" cy="720852"/>
            </a:xfrm>
            <a:prstGeom prst="rect">
              <a:avLst/>
            </a:prstGeom>
          </p:spPr>
          <p:txBody>
            <a:bodyPr anchor="ctr" rtlCol="false" tIns="0" lIns="0" bIns="0" rIns="0"/>
            <a:lstStyle/>
            <a:p>
              <a:pPr algn="ctr">
                <a:lnSpc>
                  <a:spcPts val="2160"/>
                </a:lnSpc>
              </a:pPr>
              <a:r>
                <a:rPr lang="en-US" sz="1800" b="true">
                  <a:solidFill>
                    <a:srgbClr val="6D28D9"/>
                  </a:solidFill>
                  <a:latin typeface="Calibri (MS) Bold"/>
                  <a:ea typeface="Calibri (MS) Bold"/>
                  <a:cs typeface="Calibri (MS) Bold"/>
                  <a:sym typeface="Calibri (MS) Bold"/>
                </a:rPr>
                <a:t>Balanced class distribution</a:t>
              </a:r>
            </a:p>
          </p:txBody>
        </p:sp>
      </p:grpSp>
      <p:grpSp>
        <p:nvGrpSpPr>
          <p:cNvPr name="Group 64" id="64"/>
          <p:cNvGrpSpPr/>
          <p:nvPr/>
        </p:nvGrpSpPr>
        <p:grpSpPr>
          <a:xfrm rot="0">
            <a:off x="725167" y="6741919"/>
            <a:ext cx="10162537" cy="1695193"/>
            <a:chOff x="0" y="0"/>
            <a:chExt cx="13550049" cy="2260257"/>
          </a:xfrm>
        </p:grpSpPr>
        <p:sp>
          <p:nvSpPr>
            <p:cNvPr name="Freeform 65" id="65"/>
            <p:cNvSpPr/>
            <p:nvPr/>
          </p:nvSpPr>
          <p:spPr>
            <a:xfrm flipH="false" flipV="false" rot="0">
              <a:off x="8509" y="8509"/>
              <a:ext cx="13533120" cy="2243328"/>
            </a:xfrm>
            <a:custGeom>
              <a:avLst/>
              <a:gdLst/>
              <a:ahLst/>
              <a:cxnLst/>
              <a:rect r="r" b="b" t="t" l="l"/>
              <a:pathLst>
                <a:path h="2243328" w="13533120">
                  <a:moveTo>
                    <a:pt x="0" y="0"/>
                  </a:moveTo>
                  <a:lnTo>
                    <a:pt x="13533120" y="0"/>
                  </a:lnTo>
                  <a:lnTo>
                    <a:pt x="13533120" y="2243328"/>
                  </a:lnTo>
                  <a:lnTo>
                    <a:pt x="0" y="2243328"/>
                  </a:lnTo>
                  <a:close/>
                </a:path>
              </a:pathLst>
            </a:custGeom>
            <a:solidFill>
              <a:srgbClr val="FFFFFF"/>
            </a:solidFill>
          </p:spPr>
        </p:sp>
        <p:sp>
          <p:nvSpPr>
            <p:cNvPr name="Freeform 66" id="66"/>
            <p:cNvSpPr/>
            <p:nvPr/>
          </p:nvSpPr>
          <p:spPr>
            <a:xfrm flipH="false" flipV="false" rot="0">
              <a:off x="0" y="0"/>
              <a:ext cx="13550137" cy="2260346"/>
            </a:xfrm>
            <a:custGeom>
              <a:avLst/>
              <a:gdLst/>
              <a:ahLst/>
              <a:cxnLst/>
              <a:rect r="r" b="b" t="t" l="l"/>
              <a:pathLst>
                <a:path h="2260346" w="13550137">
                  <a:moveTo>
                    <a:pt x="8509" y="0"/>
                  </a:moveTo>
                  <a:lnTo>
                    <a:pt x="13541629" y="0"/>
                  </a:lnTo>
                  <a:cubicBezTo>
                    <a:pt x="13546328" y="0"/>
                    <a:pt x="13550137" y="3810"/>
                    <a:pt x="13550137" y="8509"/>
                  </a:cubicBezTo>
                  <a:lnTo>
                    <a:pt x="13550137" y="2251837"/>
                  </a:lnTo>
                  <a:cubicBezTo>
                    <a:pt x="13550137" y="2256536"/>
                    <a:pt x="13546328" y="2260346"/>
                    <a:pt x="13541629" y="2260346"/>
                  </a:cubicBezTo>
                  <a:lnTo>
                    <a:pt x="8509" y="2260346"/>
                  </a:lnTo>
                  <a:cubicBezTo>
                    <a:pt x="3810" y="2260346"/>
                    <a:pt x="0" y="2256536"/>
                    <a:pt x="0" y="2251837"/>
                  </a:cubicBezTo>
                  <a:lnTo>
                    <a:pt x="0" y="8509"/>
                  </a:lnTo>
                  <a:cubicBezTo>
                    <a:pt x="0" y="3810"/>
                    <a:pt x="3810" y="0"/>
                    <a:pt x="8509" y="0"/>
                  </a:cubicBezTo>
                  <a:moveTo>
                    <a:pt x="8509" y="16891"/>
                  </a:moveTo>
                  <a:lnTo>
                    <a:pt x="8509" y="8509"/>
                  </a:lnTo>
                  <a:lnTo>
                    <a:pt x="17018" y="8509"/>
                  </a:lnTo>
                  <a:lnTo>
                    <a:pt x="17018" y="2251837"/>
                  </a:lnTo>
                  <a:lnTo>
                    <a:pt x="8509" y="2251837"/>
                  </a:lnTo>
                  <a:lnTo>
                    <a:pt x="8509" y="2243328"/>
                  </a:lnTo>
                  <a:lnTo>
                    <a:pt x="13541629" y="2243328"/>
                  </a:lnTo>
                  <a:lnTo>
                    <a:pt x="13541629" y="2251837"/>
                  </a:lnTo>
                  <a:lnTo>
                    <a:pt x="13533120" y="2251837"/>
                  </a:lnTo>
                  <a:lnTo>
                    <a:pt x="13533120" y="8509"/>
                  </a:lnTo>
                  <a:lnTo>
                    <a:pt x="13541629" y="8509"/>
                  </a:lnTo>
                  <a:lnTo>
                    <a:pt x="13541629" y="17018"/>
                  </a:lnTo>
                  <a:lnTo>
                    <a:pt x="8509" y="17018"/>
                  </a:lnTo>
                  <a:close/>
                </a:path>
              </a:pathLst>
            </a:custGeom>
            <a:solidFill>
              <a:srgbClr val="E2E8F0"/>
            </a:solidFill>
          </p:spPr>
        </p:sp>
      </p:grpSp>
      <p:grpSp>
        <p:nvGrpSpPr>
          <p:cNvPr name="Group 67" id="67"/>
          <p:cNvGrpSpPr/>
          <p:nvPr/>
        </p:nvGrpSpPr>
        <p:grpSpPr>
          <a:xfrm rot="0">
            <a:off x="718823" y="6735575"/>
            <a:ext cx="2037083" cy="1707899"/>
            <a:chOff x="0" y="0"/>
            <a:chExt cx="2716111" cy="2277199"/>
          </a:xfrm>
        </p:grpSpPr>
        <p:sp>
          <p:nvSpPr>
            <p:cNvPr name="Freeform 68" id="68"/>
            <p:cNvSpPr/>
            <p:nvPr/>
          </p:nvSpPr>
          <p:spPr>
            <a:xfrm flipH="false" flipV="false" rot="0">
              <a:off x="16891" y="16891"/>
              <a:ext cx="2682240" cy="2243328"/>
            </a:xfrm>
            <a:custGeom>
              <a:avLst/>
              <a:gdLst/>
              <a:ahLst/>
              <a:cxnLst/>
              <a:rect r="r" b="b" t="t" l="l"/>
              <a:pathLst>
                <a:path h="2243328" w="2682240">
                  <a:moveTo>
                    <a:pt x="0" y="0"/>
                  </a:moveTo>
                  <a:lnTo>
                    <a:pt x="2682240" y="0"/>
                  </a:lnTo>
                  <a:lnTo>
                    <a:pt x="2682240" y="2243328"/>
                  </a:lnTo>
                  <a:lnTo>
                    <a:pt x="0" y="2243328"/>
                  </a:lnTo>
                  <a:close/>
                </a:path>
              </a:pathLst>
            </a:custGeom>
            <a:solidFill>
              <a:srgbClr val="E05B4B"/>
            </a:solidFill>
          </p:spPr>
        </p:sp>
        <p:sp>
          <p:nvSpPr>
            <p:cNvPr name="Freeform 69" id="69"/>
            <p:cNvSpPr/>
            <p:nvPr/>
          </p:nvSpPr>
          <p:spPr>
            <a:xfrm flipH="false" flipV="false" rot="0">
              <a:off x="0" y="0"/>
              <a:ext cx="2716022" cy="2277110"/>
            </a:xfrm>
            <a:custGeom>
              <a:avLst/>
              <a:gdLst/>
              <a:ahLst/>
              <a:cxnLst/>
              <a:rect r="r" b="b" t="t" l="l"/>
              <a:pathLst>
                <a:path h="2277110" w="2716022">
                  <a:moveTo>
                    <a:pt x="16891" y="0"/>
                  </a:moveTo>
                  <a:lnTo>
                    <a:pt x="2699131" y="0"/>
                  </a:lnTo>
                  <a:cubicBezTo>
                    <a:pt x="2708529" y="0"/>
                    <a:pt x="2716022" y="7620"/>
                    <a:pt x="2716022" y="16891"/>
                  </a:cubicBezTo>
                  <a:lnTo>
                    <a:pt x="2716022" y="2260219"/>
                  </a:lnTo>
                  <a:cubicBezTo>
                    <a:pt x="2716022" y="2269617"/>
                    <a:pt x="2708402" y="2277110"/>
                    <a:pt x="2699131" y="2277110"/>
                  </a:cubicBezTo>
                  <a:lnTo>
                    <a:pt x="16891" y="2277110"/>
                  </a:lnTo>
                  <a:cubicBezTo>
                    <a:pt x="7493" y="2277110"/>
                    <a:pt x="0" y="2269490"/>
                    <a:pt x="0" y="2260219"/>
                  </a:cubicBezTo>
                  <a:lnTo>
                    <a:pt x="0" y="16891"/>
                  </a:lnTo>
                  <a:cubicBezTo>
                    <a:pt x="0" y="7620"/>
                    <a:pt x="7620" y="0"/>
                    <a:pt x="16891" y="0"/>
                  </a:cubicBezTo>
                  <a:moveTo>
                    <a:pt x="16891" y="33909"/>
                  </a:moveTo>
                  <a:lnTo>
                    <a:pt x="16891" y="16891"/>
                  </a:lnTo>
                  <a:lnTo>
                    <a:pt x="33909" y="16891"/>
                  </a:lnTo>
                  <a:lnTo>
                    <a:pt x="33909" y="2260219"/>
                  </a:lnTo>
                  <a:lnTo>
                    <a:pt x="16891" y="2260219"/>
                  </a:lnTo>
                  <a:lnTo>
                    <a:pt x="16891" y="2243328"/>
                  </a:lnTo>
                  <a:lnTo>
                    <a:pt x="2699131" y="2243328"/>
                  </a:lnTo>
                  <a:lnTo>
                    <a:pt x="2699131" y="2260219"/>
                  </a:lnTo>
                  <a:lnTo>
                    <a:pt x="2682240" y="2260219"/>
                  </a:lnTo>
                  <a:lnTo>
                    <a:pt x="2682240" y="16891"/>
                  </a:lnTo>
                  <a:lnTo>
                    <a:pt x="2699131" y="16891"/>
                  </a:lnTo>
                  <a:lnTo>
                    <a:pt x="2699131" y="33909"/>
                  </a:lnTo>
                  <a:lnTo>
                    <a:pt x="16891" y="33909"/>
                  </a:lnTo>
                  <a:close/>
                </a:path>
              </a:pathLst>
            </a:custGeom>
            <a:solidFill>
              <a:srgbClr val="E05B4B"/>
            </a:solidFill>
          </p:spPr>
        </p:sp>
      </p:grpSp>
      <p:grpSp>
        <p:nvGrpSpPr>
          <p:cNvPr name="Group 70" id="70"/>
          <p:cNvGrpSpPr/>
          <p:nvPr/>
        </p:nvGrpSpPr>
        <p:grpSpPr>
          <a:xfrm rot="0">
            <a:off x="731520" y="6894576"/>
            <a:ext cx="2011680" cy="694944"/>
            <a:chOff x="0" y="0"/>
            <a:chExt cx="2682240" cy="926592"/>
          </a:xfrm>
        </p:grpSpPr>
        <p:sp>
          <p:nvSpPr>
            <p:cNvPr name="Freeform 71" id="71"/>
            <p:cNvSpPr/>
            <p:nvPr/>
          </p:nvSpPr>
          <p:spPr>
            <a:xfrm flipH="false" flipV="false" rot="0">
              <a:off x="0" y="0"/>
              <a:ext cx="2682240" cy="926592"/>
            </a:xfrm>
            <a:custGeom>
              <a:avLst/>
              <a:gdLst/>
              <a:ahLst/>
              <a:cxnLst/>
              <a:rect r="r" b="b" t="t" l="l"/>
              <a:pathLst>
                <a:path h="926592" w="2682240">
                  <a:moveTo>
                    <a:pt x="0" y="0"/>
                  </a:moveTo>
                  <a:lnTo>
                    <a:pt x="2682240" y="0"/>
                  </a:lnTo>
                  <a:lnTo>
                    <a:pt x="2682240" y="926592"/>
                  </a:lnTo>
                  <a:lnTo>
                    <a:pt x="0" y="926592"/>
                  </a:lnTo>
                  <a:close/>
                </a:path>
              </a:pathLst>
            </a:custGeom>
            <a:blipFill>
              <a:blip r:embed="rId3">
                <a:alphaModFix amt="0"/>
              </a:blip>
              <a:stretch>
                <a:fillRect l="0" t="-6404" r="0" b="-6404"/>
              </a:stretch>
            </a:blipFill>
          </p:spPr>
        </p:sp>
        <p:sp>
          <p:nvSpPr>
            <p:cNvPr name="TextBox 72" id="72"/>
            <p:cNvSpPr txBox="true"/>
            <p:nvPr/>
          </p:nvSpPr>
          <p:spPr>
            <a:xfrm>
              <a:off x="0" y="-38100"/>
              <a:ext cx="2682240" cy="964692"/>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Sydney-Captions</a:t>
              </a:r>
            </a:p>
          </p:txBody>
        </p:sp>
      </p:grpSp>
      <p:grpSp>
        <p:nvGrpSpPr>
          <p:cNvPr name="Group 73" id="73"/>
          <p:cNvGrpSpPr/>
          <p:nvPr/>
        </p:nvGrpSpPr>
        <p:grpSpPr>
          <a:xfrm rot="0">
            <a:off x="731520" y="7626096"/>
            <a:ext cx="2011680" cy="694944"/>
            <a:chOff x="0" y="0"/>
            <a:chExt cx="2682240" cy="926592"/>
          </a:xfrm>
        </p:grpSpPr>
        <p:sp>
          <p:nvSpPr>
            <p:cNvPr name="Freeform 74" id="74"/>
            <p:cNvSpPr/>
            <p:nvPr/>
          </p:nvSpPr>
          <p:spPr>
            <a:xfrm flipH="false" flipV="false" rot="0">
              <a:off x="0" y="0"/>
              <a:ext cx="2682240" cy="926592"/>
            </a:xfrm>
            <a:custGeom>
              <a:avLst/>
              <a:gdLst/>
              <a:ahLst/>
              <a:cxnLst/>
              <a:rect r="r" b="b" t="t" l="l"/>
              <a:pathLst>
                <a:path h="926592" w="2682240">
                  <a:moveTo>
                    <a:pt x="0" y="0"/>
                  </a:moveTo>
                  <a:lnTo>
                    <a:pt x="2682240" y="0"/>
                  </a:lnTo>
                  <a:lnTo>
                    <a:pt x="2682240" y="926592"/>
                  </a:lnTo>
                  <a:lnTo>
                    <a:pt x="0" y="926592"/>
                  </a:lnTo>
                  <a:close/>
                </a:path>
              </a:pathLst>
            </a:custGeom>
            <a:blipFill>
              <a:blip r:embed="rId3">
                <a:alphaModFix amt="0"/>
              </a:blip>
              <a:stretch>
                <a:fillRect l="0" t="-6404" r="0" b="-6404"/>
              </a:stretch>
            </a:blipFill>
          </p:spPr>
        </p:sp>
        <p:sp>
          <p:nvSpPr>
            <p:cNvPr name="TextBox 75" id="75"/>
            <p:cNvSpPr txBox="true"/>
            <p:nvPr/>
          </p:nvSpPr>
          <p:spPr>
            <a:xfrm>
              <a:off x="0" y="-38100"/>
              <a:ext cx="2682240" cy="964692"/>
            </a:xfrm>
            <a:prstGeom prst="rect">
              <a:avLst/>
            </a:prstGeom>
          </p:spPr>
          <p:txBody>
            <a:bodyPr anchor="ctr" rtlCol="false" tIns="0" lIns="0" bIns="0" rIns="0"/>
            <a:lstStyle/>
            <a:p>
              <a:pPr algn="ctr">
                <a:lnSpc>
                  <a:spcPts val="2400"/>
                </a:lnSpc>
              </a:pPr>
              <a:r>
                <a:rPr lang="en-US" sz="2000">
                  <a:solidFill>
                    <a:srgbClr val="FFFFFF"/>
                  </a:solidFill>
                  <a:latin typeface="Calibri (MS)"/>
                  <a:ea typeface="Calibri (MS)"/>
                  <a:cs typeface="Calibri (MS)"/>
                  <a:sym typeface="Calibri (MS)"/>
                </a:rPr>
                <a:t>613</a:t>
              </a:r>
            </a:p>
            <a:p>
              <a:pPr algn="ctr">
                <a:lnSpc>
                  <a:spcPts val="2400"/>
                </a:lnSpc>
              </a:pPr>
              <a:r>
                <a:rPr lang="en-US" sz="2000">
                  <a:solidFill>
                    <a:srgbClr val="FFFFFF"/>
                  </a:solidFill>
                  <a:latin typeface="Calibri (MS)"/>
                  <a:ea typeface="Calibri (MS)"/>
                  <a:cs typeface="Calibri (MS)"/>
                  <a:sym typeface="Calibri (MS)"/>
                </a:rPr>
                <a:t>images</a:t>
              </a:r>
            </a:p>
          </p:txBody>
        </p:sp>
      </p:grpSp>
      <p:grpSp>
        <p:nvGrpSpPr>
          <p:cNvPr name="Group 76" id="76"/>
          <p:cNvGrpSpPr/>
          <p:nvPr/>
        </p:nvGrpSpPr>
        <p:grpSpPr>
          <a:xfrm rot="0">
            <a:off x="2926080" y="6821424"/>
            <a:ext cx="7680960" cy="475488"/>
            <a:chOff x="0" y="0"/>
            <a:chExt cx="10241280" cy="633984"/>
          </a:xfrm>
        </p:grpSpPr>
        <p:sp>
          <p:nvSpPr>
            <p:cNvPr name="Freeform 77" id="77"/>
            <p:cNvSpPr/>
            <p:nvPr/>
          </p:nvSpPr>
          <p:spPr>
            <a:xfrm flipH="false" flipV="false" rot="0">
              <a:off x="0" y="0"/>
              <a:ext cx="10241280" cy="633984"/>
            </a:xfrm>
            <a:custGeom>
              <a:avLst/>
              <a:gdLst/>
              <a:ahLst/>
              <a:cxnLst/>
              <a:rect r="r" b="b" t="t" l="l"/>
              <a:pathLst>
                <a:path h="633984" w="10241280">
                  <a:moveTo>
                    <a:pt x="0" y="0"/>
                  </a:moveTo>
                  <a:lnTo>
                    <a:pt x="10241280" y="0"/>
                  </a:lnTo>
                  <a:lnTo>
                    <a:pt x="10241280" y="633984"/>
                  </a:lnTo>
                  <a:lnTo>
                    <a:pt x="0" y="633984"/>
                  </a:lnTo>
                  <a:close/>
                </a:path>
              </a:pathLst>
            </a:custGeom>
            <a:blipFill>
              <a:blip r:embed="rId3">
                <a:alphaModFix amt="0"/>
              </a:blip>
              <a:stretch>
                <a:fillRect l="0" t="-264758" r="0" b="-264758"/>
              </a:stretch>
            </a:blipFill>
          </p:spPr>
        </p:sp>
        <p:sp>
          <p:nvSpPr>
            <p:cNvPr name="TextBox 78" id="78"/>
            <p:cNvSpPr txBox="true"/>
            <p:nvPr/>
          </p:nvSpPr>
          <p:spPr>
            <a:xfrm>
              <a:off x="0" y="-38100"/>
              <a:ext cx="10241280" cy="672084"/>
            </a:xfrm>
            <a:prstGeom prst="rect">
              <a:avLst/>
            </a:prstGeom>
          </p:spPr>
          <p:txBody>
            <a:bodyPr anchor="ctr" rtlCol="false" tIns="0" lIns="0" bIns="0" rIns="0"/>
            <a:lstStyle/>
            <a:p>
              <a:pPr algn="l">
                <a:lnSpc>
                  <a:spcPts val="2400"/>
                </a:lnSpc>
              </a:pPr>
              <a:r>
                <a:rPr lang="en-US" sz="2000" b="true">
                  <a:solidFill>
                    <a:srgbClr val="1E293B"/>
                  </a:solidFill>
                  <a:latin typeface="Calibri (MS) Bold"/>
                  <a:ea typeface="Calibri (MS) Bold"/>
                  <a:cs typeface="Calibri (MS) Bold"/>
                  <a:sym typeface="Calibri (MS) Bold"/>
                </a:rPr>
                <a:t>Sydney Urban Dataset Captions</a:t>
              </a:r>
            </a:p>
          </p:txBody>
        </p:sp>
      </p:grpSp>
      <p:grpSp>
        <p:nvGrpSpPr>
          <p:cNvPr name="Group 79" id="79"/>
          <p:cNvGrpSpPr/>
          <p:nvPr/>
        </p:nvGrpSpPr>
        <p:grpSpPr>
          <a:xfrm rot="0">
            <a:off x="2926080" y="7333488"/>
            <a:ext cx="7680960" cy="457200"/>
            <a:chOff x="0" y="0"/>
            <a:chExt cx="10241280" cy="609600"/>
          </a:xfrm>
        </p:grpSpPr>
        <p:sp>
          <p:nvSpPr>
            <p:cNvPr name="Freeform 80" id="80"/>
            <p:cNvSpPr/>
            <p:nvPr/>
          </p:nvSpPr>
          <p:spPr>
            <a:xfrm flipH="false" flipV="false" rot="0">
              <a:off x="0" y="0"/>
              <a:ext cx="10241280" cy="609600"/>
            </a:xfrm>
            <a:custGeom>
              <a:avLst/>
              <a:gdLst/>
              <a:ahLst/>
              <a:cxnLst/>
              <a:rect r="r" b="b" t="t" l="l"/>
              <a:pathLst>
                <a:path h="609600" w="10241280">
                  <a:moveTo>
                    <a:pt x="0" y="0"/>
                  </a:moveTo>
                  <a:lnTo>
                    <a:pt x="10241280" y="0"/>
                  </a:lnTo>
                  <a:lnTo>
                    <a:pt x="10241280" y="609600"/>
                  </a:lnTo>
                  <a:lnTo>
                    <a:pt x="0" y="609600"/>
                  </a:lnTo>
                  <a:close/>
                </a:path>
              </a:pathLst>
            </a:custGeom>
            <a:blipFill>
              <a:blip r:embed="rId3">
                <a:alphaModFix amt="0"/>
              </a:blip>
              <a:stretch>
                <a:fillRect l="0" t="-277348" r="0" b="-277348"/>
              </a:stretch>
            </a:blipFill>
          </p:spPr>
        </p:sp>
        <p:sp>
          <p:nvSpPr>
            <p:cNvPr name="TextBox 81" id="81"/>
            <p:cNvSpPr txBox="true"/>
            <p:nvPr/>
          </p:nvSpPr>
          <p:spPr>
            <a:xfrm>
              <a:off x="0" y="-38100"/>
              <a:ext cx="10241280" cy="647700"/>
            </a:xfrm>
            <a:prstGeom prst="rect">
              <a:avLst/>
            </a:prstGeom>
          </p:spPr>
          <p:txBody>
            <a:bodyPr anchor="ctr" rtlCol="false" tIns="0" lIns="0" bIns="0" rIns="0"/>
            <a:lstStyle/>
            <a:p>
              <a:pPr algn="l">
                <a:lnSpc>
                  <a:spcPts val="2160"/>
                </a:lnSpc>
              </a:pPr>
              <a:r>
                <a:rPr lang="en-US" sz="1800">
                  <a:solidFill>
                    <a:srgbClr val="94A3B8"/>
                  </a:solidFill>
                  <a:latin typeface="Calibri (MS)"/>
                  <a:ea typeface="Calibri (MS)"/>
                  <a:cs typeface="Calibri (MS)"/>
                  <a:sym typeface="Calibri (MS)"/>
                </a:rPr>
                <a:t>500 × 500 px  ·  7 urban categories  ·  5 per image</a:t>
              </a:r>
            </a:p>
          </p:txBody>
        </p:sp>
      </p:grpSp>
      <p:grpSp>
        <p:nvGrpSpPr>
          <p:cNvPr name="Group 82" id="82"/>
          <p:cNvGrpSpPr/>
          <p:nvPr/>
        </p:nvGrpSpPr>
        <p:grpSpPr>
          <a:xfrm rot="0">
            <a:off x="2913383" y="7832855"/>
            <a:ext cx="2585723" cy="537467"/>
            <a:chOff x="0" y="0"/>
            <a:chExt cx="3447631" cy="716623"/>
          </a:xfrm>
        </p:grpSpPr>
        <p:sp>
          <p:nvSpPr>
            <p:cNvPr name="Freeform 83" id="83"/>
            <p:cNvSpPr/>
            <p:nvPr/>
          </p:nvSpPr>
          <p:spPr>
            <a:xfrm flipH="false" flipV="false" rot="0">
              <a:off x="16891" y="16891"/>
              <a:ext cx="3413760" cy="682752"/>
            </a:xfrm>
            <a:custGeom>
              <a:avLst/>
              <a:gdLst/>
              <a:ahLst/>
              <a:cxnLst/>
              <a:rect r="r" b="b" t="t" l="l"/>
              <a:pathLst>
                <a:path h="682752" w="3413760">
                  <a:moveTo>
                    <a:pt x="0" y="0"/>
                  </a:moveTo>
                  <a:lnTo>
                    <a:pt x="3413760" y="0"/>
                  </a:lnTo>
                  <a:lnTo>
                    <a:pt x="3413760" y="682752"/>
                  </a:lnTo>
                  <a:lnTo>
                    <a:pt x="0" y="682752"/>
                  </a:lnTo>
                  <a:close/>
                </a:path>
              </a:pathLst>
            </a:custGeom>
            <a:solidFill>
              <a:srgbClr val="000000"/>
            </a:solidFill>
          </p:spPr>
        </p:sp>
        <p:sp>
          <p:nvSpPr>
            <p:cNvPr name="Freeform 84" id="84"/>
            <p:cNvSpPr/>
            <p:nvPr/>
          </p:nvSpPr>
          <p:spPr>
            <a:xfrm flipH="false" flipV="false" rot="0">
              <a:off x="0" y="0"/>
              <a:ext cx="3447542" cy="716536"/>
            </a:xfrm>
            <a:custGeom>
              <a:avLst/>
              <a:gdLst/>
              <a:ahLst/>
              <a:cxnLst/>
              <a:rect r="r" b="b" t="t" l="l"/>
              <a:pathLst>
                <a:path h="716536" w="3447542">
                  <a:moveTo>
                    <a:pt x="16891" y="0"/>
                  </a:moveTo>
                  <a:lnTo>
                    <a:pt x="3430651" y="0"/>
                  </a:lnTo>
                  <a:cubicBezTo>
                    <a:pt x="3440049" y="0"/>
                    <a:pt x="3447542" y="7620"/>
                    <a:pt x="3447542" y="16891"/>
                  </a:cubicBezTo>
                  <a:lnTo>
                    <a:pt x="3447542" y="699643"/>
                  </a:lnTo>
                  <a:cubicBezTo>
                    <a:pt x="3447542" y="709041"/>
                    <a:pt x="3439922" y="716534"/>
                    <a:pt x="3430651" y="716534"/>
                  </a:cubicBezTo>
                  <a:lnTo>
                    <a:pt x="16891" y="716534"/>
                  </a:lnTo>
                  <a:cubicBezTo>
                    <a:pt x="7620" y="716661"/>
                    <a:pt x="0" y="709041"/>
                    <a:pt x="0" y="699643"/>
                  </a:cubicBezTo>
                  <a:lnTo>
                    <a:pt x="0" y="16891"/>
                  </a:lnTo>
                  <a:cubicBezTo>
                    <a:pt x="0" y="7620"/>
                    <a:pt x="7620" y="0"/>
                    <a:pt x="16891" y="0"/>
                  </a:cubicBezTo>
                  <a:moveTo>
                    <a:pt x="16891" y="33909"/>
                  </a:moveTo>
                  <a:lnTo>
                    <a:pt x="16891" y="16891"/>
                  </a:lnTo>
                  <a:lnTo>
                    <a:pt x="33909" y="16891"/>
                  </a:lnTo>
                  <a:lnTo>
                    <a:pt x="33909" y="699643"/>
                  </a:lnTo>
                  <a:lnTo>
                    <a:pt x="16891" y="699643"/>
                  </a:lnTo>
                  <a:lnTo>
                    <a:pt x="16891" y="682752"/>
                  </a:lnTo>
                  <a:lnTo>
                    <a:pt x="3430651" y="682752"/>
                  </a:lnTo>
                  <a:lnTo>
                    <a:pt x="3430651" y="699643"/>
                  </a:lnTo>
                  <a:lnTo>
                    <a:pt x="3413760" y="699643"/>
                  </a:lnTo>
                  <a:lnTo>
                    <a:pt x="3413760" y="16891"/>
                  </a:lnTo>
                  <a:lnTo>
                    <a:pt x="3430651" y="16891"/>
                  </a:lnTo>
                  <a:lnTo>
                    <a:pt x="3430651" y="33909"/>
                  </a:lnTo>
                  <a:lnTo>
                    <a:pt x="16891" y="33909"/>
                  </a:lnTo>
                  <a:close/>
                </a:path>
              </a:pathLst>
            </a:custGeom>
            <a:solidFill>
              <a:srgbClr val="000000"/>
            </a:solidFill>
          </p:spPr>
        </p:sp>
      </p:grpSp>
      <p:grpSp>
        <p:nvGrpSpPr>
          <p:cNvPr name="Group 85" id="85"/>
          <p:cNvGrpSpPr/>
          <p:nvPr/>
        </p:nvGrpSpPr>
        <p:grpSpPr>
          <a:xfrm rot="0">
            <a:off x="2926080" y="7845552"/>
            <a:ext cx="2560320" cy="512064"/>
            <a:chOff x="0" y="0"/>
            <a:chExt cx="3413760" cy="682752"/>
          </a:xfrm>
        </p:grpSpPr>
        <p:sp>
          <p:nvSpPr>
            <p:cNvPr name="Freeform 86" id="86"/>
            <p:cNvSpPr/>
            <p:nvPr/>
          </p:nvSpPr>
          <p:spPr>
            <a:xfrm flipH="false" flipV="false" rot="0">
              <a:off x="0" y="0"/>
              <a:ext cx="3413760" cy="682752"/>
            </a:xfrm>
            <a:custGeom>
              <a:avLst/>
              <a:gdLst/>
              <a:ahLst/>
              <a:cxnLst/>
              <a:rect r="r" b="b" t="t" l="l"/>
              <a:pathLst>
                <a:path h="682752" w="3413760">
                  <a:moveTo>
                    <a:pt x="0" y="0"/>
                  </a:moveTo>
                  <a:lnTo>
                    <a:pt x="3413760" y="0"/>
                  </a:lnTo>
                  <a:lnTo>
                    <a:pt x="3413760" y="682752"/>
                  </a:lnTo>
                  <a:lnTo>
                    <a:pt x="0" y="682752"/>
                  </a:lnTo>
                  <a:close/>
                </a:path>
              </a:pathLst>
            </a:custGeom>
            <a:blipFill>
              <a:blip r:embed="rId3">
                <a:alphaModFix amt="0"/>
              </a:blip>
              <a:stretch>
                <a:fillRect l="0" t="-47425" r="0" b="-47425"/>
              </a:stretch>
            </a:blipFill>
          </p:spPr>
        </p:sp>
        <p:sp>
          <p:nvSpPr>
            <p:cNvPr name="TextBox 87" id="87"/>
            <p:cNvSpPr txBox="true"/>
            <p:nvPr/>
          </p:nvSpPr>
          <p:spPr>
            <a:xfrm>
              <a:off x="0" y="-38100"/>
              <a:ext cx="3413760" cy="720852"/>
            </a:xfrm>
            <a:prstGeom prst="rect">
              <a:avLst/>
            </a:prstGeom>
          </p:spPr>
          <p:txBody>
            <a:bodyPr anchor="ctr" rtlCol="false" tIns="0" lIns="0" bIns="0" rIns="0"/>
            <a:lstStyle/>
            <a:p>
              <a:pPr algn="ctr">
                <a:lnSpc>
                  <a:spcPts val="2160"/>
                </a:lnSpc>
              </a:pPr>
              <a:r>
                <a:rPr lang="en-US" sz="1800" b="true">
                  <a:solidFill>
                    <a:srgbClr val="E05B4B"/>
                  </a:solidFill>
                  <a:latin typeface="Calibri (MS) Bold"/>
                  <a:ea typeface="Calibri (MS) Bold"/>
                  <a:cs typeface="Calibri (MS) Bold"/>
                  <a:sym typeface="Calibri (MS) Bold"/>
                </a:rPr>
                <a:t>Smallest — tests generalisation</a:t>
              </a:r>
            </a:p>
          </p:txBody>
        </p:sp>
      </p:grpSp>
      <p:grpSp>
        <p:nvGrpSpPr>
          <p:cNvPr name="Group 88" id="88"/>
          <p:cNvGrpSpPr/>
          <p:nvPr/>
        </p:nvGrpSpPr>
        <p:grpSpPr>
          <a:xfrm rot="0">
            <a:off x="11247120" y="2377440"/>
            <a:ext cx="6400800" cy="548640"/>
            <a:chOff x="0" y="0"/>
            <a:chExt cx="8534400" cy="731520"/>
          </a:xfrm>
        </p:grpSpPr>
        <p:sp>
          <p:nvSpPr>
            <p:cNvPr name="Freeform 89" id="89"/>
            <p:cNvSpPr/>
            <p:nvPr/>
          </p:nvSpPr>
          <p:spPr>
            <a:xfrm flipH="false" flipV="false" rot="0">
              <a:off x="0" y="0"/>
              <a:ext cx="8534400" cy="731520"/>
            </a:xfrm>
            <a:custGeom>
              <a:avLst/>
              <a:gdLst/>
              <a:ahLst/>
              <a:cxnLst/>
              <a:rect r="r" b="b" t="t" l="l"/>
              <a:pathLst>
                <a:path h="731520" w="8534400">
                  <a:moveTo>
                    <a:pt x="0" y="0"/>
                  </a:moveTo>
                  <a:lnTo>
                    <a:pt x="8534400" y="0"/>
                  </a:lnTo>
                  <a:lnTo>
                    <a:pt x="8534400" y="731520"/>
                  </a:lnTo>
                  <a:lnTo>
                    <a:pt x="0" y="731520"/>
                  </a:lnTo>
                  <a:close/>
                </a:path>
              </a:pathLst>
            </a:custGeom>
            <a:blipFill>
              <a:blip r:embed="rId3">
                <a:alphaModFix amt="0"/>
              </a:blip>
              <a:stretch>
                <a:fillRect l="0" t="-177325" r="0" b="-177325"/>
              </a:stretch>
            </a:blipFill>
          </p:spPr>
        </p:sp>
        <p:sp>
          <p:nvSpPr>
            <p:cNvPr name="TextBox 90" id="90"/>
            <p:cNvSpPr txBox="true"/>
            <p:nvPr/>
          </p:nvSpPr>
          <p:spPr>
            <a:xfrm>
              <a:off x="0" y="-57150"/>
              <a:ext cx="8534400" cy="788670"/>
            </a:xfrm>
            <a:prstGeom prst="rect">
              <a:avLst/>
            </a:prstGeom>
          </p:spPr>
          <p:txBody>
            <a:bodyPr anchor="ctr" rtlCol="false" tIns="0" lIns="0" bIns="0" rIns="0"/>
            <a:lstStyle/>
            <a:p>
              <a:pPr algn="l">
                <a:lnSpc>
                  <a:spcPts val="3120"/>
                </a:lnSpc>
              </a:pPr>
              <a:r>
                <a:rPr lang="en-US" sz="2600" b="true">
                  <a:solidFill>
                    <a:srgbClr val="0D1B3E"/>
                  </a:solidFill>
                  <a:latin typeface="Calibri (MS) Bold"/>
                  <a:ea typeface="Calibri (MS) Bold"/>
                  <a:cs typeface="Calibri (MS) Bold"/>
                  <a:sym typeface="Calibri (MS) Bold"/>
                </a:rPr>
                <a:t>Evaluation Metrics</a:t>
              </a:r>
            </a:p>
          </p:txBody>
        </p:sp>
      </p:grpSp>
      <p:grpSp>
        <p:nvGrpSpPr>
          <p:cNvPr name="Group 91" id="91"/>
          <p:cNvGrpSpPr/>
          <p:nvPr/>
        </p:nvGrpSpPr>
        <p:grpSpPr>
          <a:xfrm rot="0">
            <a:off x="11240767" y="3011167"/>
            <a:ext cx="6322057" cy="1695193"/>
            <a:chOff x="0" y="0"/>
            <a:chExt cx="8429409" cy="2260257"/>
          </a:xfrm>
        </p:grpSpPr>
        <p:sp>
          <p:nvSpPr>
            <p:cNvPr name="Freeform 92" id="92"/>
            <p:cNvSpPr/>
            <p:nvPr/>
          </p:nvSpPr>
          <p:spPr>
            <a:xfrm flipH="false" flipV="false" rot="0">
              <a:off x="8509" y="8509"/>
              <a:ext cx="8412480" cy="2243328"/>
            </a:xfrm>
            <a:custGeom>
              <a:avLst/>
              <a:gdLst/>
              <a:ahLst/>
              <a:cxnLst/>
              <a:rect r="r" b="b" t="t" l="l"/>
              <a:pathLst>
                <a:path h="2243328" w="8412480">
                  <a:moveTo>
                    <a:pt x="0" y="0"/>
                  </a:moveTo>
                  <a:lnTo>
                    <a:pt x="8412480" y="0"/>
                  </a:lnTo>
                  <a:lnTo>
                    <a:pt x="8412480" y="2243328"/>
                  </a:lnTo>
                  <a:lnTo>
                    <a:pt x="0" y="2243328"/>
                  </a:lnTo>
                  <a:close/>
                </a:path>
              </a:pathLst>
            </a:custGeom>
            <a:solidFill>
              <a:srgbClr val="FFFFFF"/>
            </a:solidFill>
          </p:spPr>
        </p:sp>
        <p:sp>
          <p:nvSpPr>
            <p:cNvPr name="Freeform 93" id="93"/>
            <p:cNvSpPr/>
            <p:nvPr/>
          </p:nvSpPr>
          <p:spPr>
            <a:xfrm flipH="false" flipV="false" rot="0">
              <a:off x="0" y="0"/>
              <a:ext cx="8429499" cy="2260346"/>
            </a:xfrm>
            <a:custGeom>
              <a:avLst/>
              <a:gdLst/>
              <a:ahLst/>
              <a:cxnLst/>
              <a:rect r="r" b="b" t="t" l="l"/>
              <a:pathLst>
                <a:path h="2260346" w="8429499">
                  <a:moveTo>
                    <a:pt x="8509" y="0"/>
                  </a:moveTo>
                  <a:lnTo>
                    <a:pt x="8420989" y="0"/>
                  </a:lnTo>
                  <a:cubicBezTo>
                    <a:pt x="8425688" y="0"/>
                    <a:pt x="8429499" y="3810"/>
                    <a:pt x="8429499" y="8509"/>
                  </a:cubicBezTo>
                  <a:lnTo>
                    <a:pt x="8429499" y="2251837"/>
                  </a:lnTo>
                  <a:cubicBezTo>
                    <a:pt x="8429499" y="2256536"/>
                    <a:pt x="8425688" y="2260346"/>
                    <a:pt x="8420989" y="2260346"/>
                  </a:cubicBezTo>
                  <a:lnTo>
                    <a:pt x="8509" y="2260346"/>
                  </a:lnTo>
                  <a:cubicBezTo>
                    <a:pt x="3810" y="2260346"/>
                    <a:pt x="0" y="2256536"/>
                    <a:pt x="0" y="2251837"/>
                  </a:cubicBezTo>
                  <a:lnTo>
                    <a:pt x="0" y="8509"/>
                  </a:lnTo>
                  <a:cubicBezTo>
                    <a:pt x="0" y="3810"/>
                    <a:pt x="3810" y="0"/>
                    <a:pt x="8509" y="0"/>
                  </a:cubicBezTo>
                  <a:moveTo>
                    <a:pt x="8509" y="16891"/>
                  </a:moveTo>
                  <a:lnTo>
                    <a:pt x="8509" y="8509"/>
                  </a:lnTo>
                  <a:lnTo>
                    <a:pt x="17018" y="8509"/>
                  </a:lnTo>
                  <a:lnTo>
                    <a:pt x="17018" y="2251837"/>
                  </a:lnTo>
                  <a:lnTo>
                    <a:pt x="8509" y="2251837"/>
                  </a:lnTo>
                  <a:lnTo>
                    <a:pt x="8509" y="2243328"/>
                  </a:lnTo>
                  <a:lnTo>
                    <a:pt x="8420989" y="2243328"/>
                  </a:lnTo>
                  <a:lnTo>
                    <a:pt x="8420989" y="2251837"/>
                  </a:lnTo>
                  <a:lnTo>
                    <a:pt x="8412480" y="2251837"/>
                  </a:lnTo>
                  <a:lnTo>
                    <a:pt x="8412480" y="8509"/>
                  </a:lnTo>
                  <a:lnTo>
                    <a:pt x="8420989" y="8509"/>
                  </a:lnTo>
                  <a:lnTo>
                    <a:pt x="8420989" y="17018"/>
                  </a:lnTo>
                  <a:lnTo>
                    <a:pt x="8509" y="17018"/>
                  </a:lnTo>
                  <a:close/>
                </a:path>
              </a:pathLst>
            </a:custGeom>
            <a:solidFill>
              <a:srgbClr val="E2E8F0"/>
            </a:solidFill>
          </p:spPr>
        </p:sp>
      </p:grpSp>
      <p:grpSp>
        <p:nvGrpSpPr>
          <p:cNvPr name="Group 94" id="94"/>
          <p:cNvGrpSpPr/>
          <p:nvPr/>
        </p:nvGrpSpPr>
        <p:grpSpPr>
          <a:xfrm rot="0">
            <a:off x="11234423" y="3004823"/>
            <a:ext cx="17581883" cy="537467"/>
            <a:chOff x="0" y="0"/>
            <a:chExt cx="23442511" cy="716623"/>
          </a:xfrm>
        </p:grpSpPr>
        <p:sp>
          <p:nvSpPr>
            <p:cNvPr name="Freeform 95" id="95"/>
            <p:cNvSpPr/>
            <p:nvPr/>
          </p:nvSpPr>
          <p:spPr>
            <a:xfrm flipH="false" flipV="false" rot="0">
              <a:off x="16891" y="16891"/>
              <a:ext cx="23408639" cy="682752"/>
            </a:xfrm>
            <a:custGeom>
              <a:avLst/>
              <a:gdLst/>
              <a:ahLst/>
              <a:cxnLst/>
              <a:rect r="r" b="b" t="t" l="l"/>
              <a:pathLst>
                <a:path h="682752" w="23408639">
                  <a:moveTo>
                    <a:pt x="0" y="0"/>
                  </a:moveTo>
                  <a:lnTo>
                    <a:pt x="23408639" y="0"/>
                  </a:lnTo>
                  <a:lnTo>
                    <a:pt x="23408639" y="682752"/>
                  </a:lnTo>
                  <a:lnTo>
                    <a:pt x="0" y="682752"/>
                  </a:lnTo>
                  <a:close/>
                </a:path>
              </a:pathLst>
            </a:custGeom>
            <a:solidFill>
              <a:srgbClr val="0D9488"/>
            </a:solidFill>
          </p:spPr>
        </p:sp>
        <p:sp>
          <p:nvSpPr>
            <p:cNvPr name="Freeform 96" id="96"/>
            <p:cNvSpPr/>
            <p:nvPr/>
          </p:nvSpPr>
          <p:spPr>
            <a:xfrm flipH="false" flipV="false" rot="0">
              <a:off x="0" y="0"/>
              <a:ext cx="23442422" cy="716536"/>
            </a:xfrm>
            <a:custGeom>
              <a:avLst/>
              <a:gdLst/>
              <a:ahLst/>
              <a:cxnLst/>
              <a:rect r="r" b="b" t="t" l="l"/>
              <a:pathLst>
                <a:path h="716536" w="23442422">
                  <a:moveTo>
                    <a:pt x="16891" y="0"/>
                  </a:moveTo>
                  <a:lnTo>
                    <a:pt x="23425530" y="0"/>
                  </a:lnTo>
                  <a:cubicBezTo>
                    <a:pt x="23434929" y="0"/>
                    <a:pt x="23442422" y="7620"/>
                    <a:pt x="23442422" y="16891"/>
                  </a:cubicBezTo>
                  <a:lnTo>
                    <a:pt x="23442422" y="699643"/>
                  </a:lnTo>
                  <a:cubicBezTo>
                    <a:pt x="23442422" y="709041"/>
                    <a:pt x="23434802" y="716534"/>
                    <a:pt x="23425530" y="716534"/>
                  </a:cubicBezTo>
                  <a:lnTo>
                    <a:pt x="16891" y="716534"/>
                  </a:lnTo>
                  <a:cubicBezTo>
                    <a:pt x="7620" y="716661"/>
                    <a:pt x="0" y="709041"/>
                    <a:pt x="0" y="699643"/>
                  </a:cubicBezTo>
                  <a:lnTo>
                    <a:pt x="0" y="16891"/>
                  </a:lnTo>
                  <a:cubicBezTo>
                    <a:pt x="0" y="7620"/>
                    <a:pt x="7620" y="0"/>
                    <a:pt x="16891" y="0"/>
                  </a:cubicBezTo>
                  <a:moveTo>
                    <a:pt x="16891" y="33909"/>
                  </a:moveTo>
                  <a:lnTo>
                    <a:pt x="16891" y="16891"/>
                  </a:lnTo>
                  <a:lnTo>
                    <a:pt x="33909" y="16891"/>
                  </a:lnTo>
                  <a:lnTo>
                    <a:pt x="33909" y="699643"/>
                  </a:lnTo>
                  <a:lnTo>
                    <a:pt x="16891" y="699643"/>
                  </a:lnTo>
                  <a:lnTo>
                    <a:pt x="16891" y="682752"/>
                  </a:lnTo>
                  <a:lnTo>
                    <a:pt x="23425530" y="682752"/>
                  </a:lnTo>
                  <a:lnTo>
                    <a:pt x="23425530" y="699643"/>
                  </a:lnTo>
                  <a:lnTo>
                    <a:pt x="23408639" y="699643"/>
                  </a:lnTo>
                  <a:lnTo>
                    <a:pt x="23408639" y="16891"/>
                  </a:lnTo>
                  <a:lnTo>
                    <a:pt x="23425530" y="16891"/>
                  </a:lnTo>
                  <a:lnTo>
                    <a:pt x="23425530" y="33909"/>
                  </a:lnTo>
                  <a:lnTo>
                    <a:pt x="16891" y="33909"/>
                  </a:lnTo>
                  <a:close/>
                </a:path>
              </a:pathLst>
            </a:custGeom>
            <a:solidFill>
              <a:srgbClr val="0D9488"/>
            </a:solidFill>
          </p:spPr>
        </p:sp>
      </p:grpSp>
      <p:grpSp>
        <p:nvGrpSpPr>
          <p:cNvPr name="Group 97" id="97"/>
          <p:cNvGrpSpPr/>
          <p:nvPr/>
        </p:nvGrpSpPr>
        <p:grpSpPr>
          <a:xfrm rot="0">
            <a:off x="11234423" y="3004823"/>
            <a:ext cx="6334763" cy="537467"/>
            <a:chOff x="0" y="0"/>
            <a:chExt cx="8446351" cy="716623"/>
          </a:xfrm>
        </p:grpSpPr>
        <p:sp>
          <p:nvSpPr>
            <p:cNvPr name="Freeform 98" id="98"/>
            <p:cNvSpPr/>
            <p:nvPr/>
          </p:nvSpPr>
          <p:spPr>
            <a:xfrm flipH="false" flipV="false" rot="0">
              <a:off x="16891" y="16891"/>
              <a:ext cx="8412481" cy="682752"/>
            </a:xfrm>
            <a:custGeom>
              <a:avLst/>
              <a:gdLst/>
              <a:ahLst/>
              <a:cxnLst/>
              <a:rect r="r" b="b" t="t" l="l"/>
              <a:pathLst>
                <a:path h="682752" w="8412481">
                  <a:moveTo>
                    <a:pt x="0" y="0"/>
                  </a:moveTo>
                  <a:lnTo>
                    <a:pt x="8412481" y="0"/>
                  </a:lnTo>
                  <a:lnTo>
                    <a:pt x="8412481" y="682752"/>
                  </a:lnTo>
                  <a:lnTo>
                    <a:pt x="0" y="682752"/>
                  </a:lnTo>
                  <a:close/>
                </a:path>
              </a:pathLst>
            </a:custGeom>
            <a:solidFill>
              <a:srgbClr val="0D9488"/>
            </a:solidFill>
          </p:spPr>
        </p:sp>
        <p:sp>
          <p:nvSpPr>
            <p:cNvPr name="Freeform 99" id="99"/>
            <p:cNvSpPr/>
            <p:nvPr/>
          </p:nvSpPr>
          <p:spPr>
            <a:xfrm flipH="false" flipV="false" rot="0">
              <a:off x="0" y="0"/>
              <a:ext cx="8446262" cy="716536"/>
            </a:xfrm>
            <a:custGeom>
              <a:avLst/>
              <a:gdLst/>
              <a:ahLst/>
              <a:cxnLst/>
              <a:rect r="r" b="b" t="t" l="l"/>
              <a:pathLst>
                <a:path h="716536" w="8446262">
                  <a:moveTo>
                    <a:pt x="16891" y="0"/>
                  </a:moveTo>
                  <a:lnTo>
                    <a:pt x="8429372" y="0"/>
                  </a:lnTo>
                  <a:cubicBezTo>
                    <a:pt x="8438769" y="0"/>
                    <a:pt x="8446262" y="7620"/>
                    <a:pt x="8446262" y="16891"/>
                  </a:cubicBezTo>
                  <a:lnTo>
                    <a:pt x="8446262" y="699643"/>
                  </a:lnTo>
                  <a:cubicBezTo>
                    <a:pt x="8446262" y="709041"/>
                    <a:pt x="8438642" y="716534"/>
                    <a:pt x="8429372" y="716534"/>
                  </a:cubicBezTo>
                  <a:lnTo>
                    <a:pt x="16891" y="716534"/>
                  </a:lnTo>
                  <a:cubicBezTo>
                    <a:pt x="7620" y="716661"/>
                    <a:pt x="0" y="709041"/>
                    <a:pt x="0" y="699643"/>
                  </a:cubicBezTo>
                  <a:lnTo>
                    <a:pt x="0" y="16891"/>
                  </a:lnTo>
                  <a:cubicBezTo>
                    <a:pt x="0" y="7620"/>
                    <a:pt x="7620" y="0"/>
                    <a:pt x="16891" y="0"/>
                  </a:cubicBezTo>
                  <a:moveTo>
                    <a:pt x="16891" y="33909"/>
                  </a:moveTo>
                  <a:lnTo>
                    <a:pt x="16891" y="16891"/>
                  </a:lnTo>
                  <a:lnTo>
                    <a:pt x="33909" y="16891"/>
                  </a:lnTo>
                  <a:lnTo>
                    <a:pt x="33909" y="699643"/>
                  </a:lnTo>
                  <a:lnTo>
                    <a:pt x="16891" y="699643"/>
                  </a:lnTo>
                  <a:lnTo>
                    <a:pt x="16891" y="682752"/>
                  </a:lnTo>
                  <a:lnTo>
                    <a:pt x="8429372" y="682752"/>
                  </a:lnTo>
                  <a:lnTo>
                    <a:pt x="8429372" y="699643"/>
                  </a:lnTo>
                  <a:lnTo>
                    <a:pt x="8412480" y="699643"/>
                  </a:lnTo>
                  <a:lnTo>
                    <a:pt x="8412480" y="16891"/>
                  </a:lnTo>
                  <a:lnTo>
                    <a:pt x="8429372" y="16891"/>
                  </a:lnTo>
                  <a:lnTo>
                    <a:pt x="8429372" y="33909"/>
                  </a:lnTo>
                  <a:lnTo>
                    <a:pt x="16891" y="33909"/>
                  </a:lnTo>
                  <a:close/>
                </a:path>
              </a:pathLst>
            </a:custGeom>
            <a:solidFill>
              <a:srgbClr val="0D9488"/>
            </a:solidFill>
          </p:spPr>
        </p:sp>
      </p:grpSp>
      <p:grpSp>
        <p:nvGrpSpPr>
          <p:cNvPr name="Group 100" id="100"/>
          <p:cNvGrpSpPr/>
          <p:nvPr/>
        </p:nvGrpSpPr>
        <p:grpSpPr>
          <a:xfrm rot="0">
            <a:off x="11430000" y="3035808"/>
            <a:ext cx="6035040" cy="475488"/>
            <a:chOff x="0" y="0"/>
            <a:chExt cx="8046720" cy="633984"/>
          </a:xfrm>
        </p:grpSpPr>
        <p:sp>
          <p:nvSpPr>
            <p:cNvPr name="Freeform 101" id="101"/>
            <p:cNvSpPr/>
            <p:nvPr/>
          </p:nvSpPr>
          <p:spPr>
            <a:xfrm flipH="false" flipV="false" rot="0">
              <a:off x="0" y="0"/>
              <a:ext cx="8046720" cy="633984"/>
            </a:xfrm>
            <a:custGeom>
              <a:avLst/>
              <a:gdLst/>
              <a:ahLst/>
              <a:cxnLst/>
              <a:rect r="r" b="b" t="t" l="l"/>
              <a:pathLst>
                <a:path h="633984" w="8046720">
                  <a:moveTo>
                    <a:pt x="0" y="0"/>
                  </a:moveTo>
                  <a:lnTo>
                    <a:pt x="8046720" y="0"/>
                  </a:lnTo>
                  <a:lnTo>
                    <a:pt x="8046720" y="633984"/>
                  </a:lnTo>
                  <a:lnTo>
                    <a:pt x="0" y="633984"/>
                  </a:lnTo>
                  <a:close/>
                </a:path>
              </a:pathLst>
            </a:custGeom>
            <a:blipFill>
              <a:blip r:embed="rId3">
                <a:alphaModFix amt="0"/>
              </a:blip>
              <a:stretch>
                <a:fillRect l="0" t="-197310" r="0" b="-197310"/>
              </a:stretch>
            </a:blipFill>
          </p:spPr>
        </p:sp>
        <p:sp>
          <p:nvSpPr>
            <p:cNvPr name="TextBox 102" id="102"/>
            <p:cNvSpPr txBox="true"/>
            <p:nvPr/>
          </p:nvSpPr>
          <p:spPr>
            <a:xfrm>
              <a:off x="0" y="-38100"/>
              <a:ext cx="8046720" cy="672084"/>
            </a:xfrm>
            <a:prstGeom prst="rect">
              <a:avLst/>
            </a:prstGeom>
          </p:spPr>
          <p:txBody>
            <a:bodyPr anchor="ctr" rtlCol="false" tIns="0" lIns="0" bIns="0" rIns="0"/>
            <a:lstStyle/>
            <a:p>
              <a:pPr algn="l">
                <a:lnSpc>
                  <a:spcPts val="2160"/>
                </a:lnSpc>
              </a:pPr>
              <a:r>
                <a:rPr lang="en-US" sz="1800" b="true">
                  <a:solidFill>
                    <a:srgbClr val="FFFFFF"/>
                  </a:solidFill>
                  <a:latin typeface="Calibri (MS) Bold"/>
                  <a:ea typeface="Calibri (MS) Bold"/>
                  <a:cs typeface="Calibri (MS) Bold"/>
                  <a:sym typeface="Calibri (MS) Bold"/>
                </a:rPr>
                <a:t>BLEU-N  (Bilingual Evaluation Understudy)</a:t>
              </a:r>
            </a:p>
          </p:txBody>
        </p:sp>
      </p:grpSp>
      <p:grpSp>
        <p:nvGrpSpPr>
          <p:cNvPr name="Group 103" id="103"/>
          <p:cNvGrpSpPr/>
          <p:nvPr/>
        </p:nvGrpSpPr>
        <p:grpSpPr>
          <a:xfrm rot="0">
            <a:off x="11430000" y="3566160"/>
            <a:ext cx="6035040" cy="1060704"/>
            <a:chOff x="0" y="0"/>
            <a:chExt cx="8046720" cy="1414272"/>
          </a:xfrm>
        </p:grpSpPr>
        <p:sp>
          <p:nvSpPr>
            <p:cNvPr name="Freeform 104" id="104"/>
            <p:cNvSpPr/>
            <p:nvPr/>
          </p:nvSpPr>
          <p:spPr>
            <a:xfrm flipH="false" flipV="false" rot="0">
              <a:off x="0" y="0"/>
              <a:ext cx="8046720" cy="1414272"/>
            </a:xfrm>
            <a:custGeom>
              <a:avLst/>
              <a:gdLst/>
              <a:ahLst/>
              <a:cxnLst/>
              <a:rect r="r" b="b" t="t" l="l"/>
              <a:pathLst>
                <a:path h="1414272" w="8046720">
                  <a:moveTo>
                    <a:pt x="0" y="0"/>
                  </a:moveTo>
                  <a:lnTo>
                    <a:pt x="8046720" y="0"/>
                  </a:lnTo>
                  <a:lnTo>
                    <a:pt x="8046720" y="1414272"/>
                  </a:lnTo>
                  <a:lnTo>
                    <a:pt x="0" y="1414272"/>
                  </a:lnTo>
                  <a:close/>
                </a:path>
              </a:pathLst>
            </a:custGeom>
            <a:blipFill>
              <a:blip r:embed="rId3">
                <a:alphaModFix amt="0"/>
              </a:blip>
              <a:stretch>
                <a:fillRect l="0" t="-60863" r="0" b="-60863"/>
              </a:stretch>
            </a:blipFill>
          </p:spPr>
        </p:sp>
        <p:sp>
          <p:nvSpPr>
            <p:cNvPr name="TextBox 105" id="105"/>
            <p:cNvSpPr txBox="true"/>
            <p:nvPr/>
          </p:nvSpPr>
          <p:spPr>
            <a:xfrm>
              <a:off x="0" y="-38100"/>
              <a:ext cx="8046720" cy="1452372"/>
            </a:xfrm>
            <a:prstGeom prst="rect">
              <a:avLst/>
            </a:prstGeom>
          </p:spPr>
          <p:txBody>
            <a:bodyPr anchor="ctr" rtlCol="false" tIns="0" lIns="0" bIns="0" rIns="0"/>
            <a:lstStyle/>
            <a:p>
              <a:pPr algn="l">
                <a:lnSpc>
                  <a:spcPts val="2160"/>
                </a:lnSpc>
              </a:pPr>
              <a:r>
                <a:rPr lang="en-US" sz="1800">
                  <a:solidFill>
                    <a:srgbClr val="1E293B"/>
                  </a:solidFill>
                  <a:latin typeface="Calibri (MS)"/>
                  <a:ea typeface="Calibri (MS)"/>
                  <a:cs typeface="Calibri (MS)"/>
                  <a:sym typeface="Calibri (MS)"/>
                </a:rPr>
                <a:t>Measures N-gram precision between generated and reference sentences (N=1,2,3,4). Higher N = stricter matching. Standard in MT/NLG.</a:t>
              </a:r>
            </a:p>
          </p:txBody>
        </p:sp>
      </p:grpSp>
      <p:grpSp>
        <p:nvGrpSpPr>
          <p:cNvPr name="Group 106" id="106"/>
          <p:cNvGrpSpPr/>
          <p:nvPr/>
        </p:nvGrpSpPr>
        <p:grpSpPr>
          <a:xfrm rot="0">
            <a:off x="11240767" y="4876543"/>
            <a:ext cx="6322057" cy="1695193"/>
            <a:chOff x="0" y="0"/>
            <a:chExt cx="8429409" cy="2260257"/>
          </a:xfrm>
        </p:grpSpPr>
        <p:sp>
          <p:nvSpPr>
            <p:cNvPr name="Freeform 107" id="107"/>
            <p:cNvSpPr/>
            <p:nvPr/>
          </p:nvSpPr>
          <p:spPr>
            <a:xfrm flipH="false" flipV="false" rot="0">
              <a:off x="8509" y="8509"/>
              <a:ext cx="8412480" cy="2243328"/>
            </a:xfrm>
            <a:custGeom>
              <a:avLst/>
              <a:gdLst/>
              <a:ahLst/>
              <a:cxnLst/>
              <a:rect r="r" b="b" t="t" l="l"/>
              <a:pathLst>
                <a:path h="2243328" w="8412480">
                  <a:moveTo>
                    <a:pt x="0" y="0"/>
                  </a:moveTo>
                  <a:lnTo>
                    <a:pt x="8412480" y="0"/>
                  </a:lnTo>
                  <a:lnTo>
                    <a:pt x="8412480" y="2243328"/>
                  </a:lnTo>
                  <a:lnTo>
                    <a:pt x="0" y="2243328"/>
                  </a:lnTo>
                  <a:close/>
                </a:path>
              </a:pathLst>
            </a:custGeom>
            <a:solidFill>
              <a:srgbClr val="FFFFFF"/>
            </a:solidFill>
          </p:spPr>
        </p:sp>
        <p:sp>
          <p:nvSpPr>
            <p:cNvPr name="Freeform 108" id="108"/>
            <p:cNvSpPr/>
            <p:nvPr/>
          </p:nvSpPr>
          <p:spPr>
            <a:xfrm flipH="false" flipV="false" rot="0">
              <a:off x="0" y="0"/>
              <a:ext cx="8429499" cy="2260346"/>
            </a:xfrm>
            <a:custGeom>
              <a:avLst/>
              <a:gdLst/>
              <a:ahLst/>
              <a:cxnLst/>
              <a:rect r="r" b="b" t="t" l="l"/>
              <a:pathLst>
                <a:path h="2260346" w="8429499">
                  <a:moveTo>
                    <a:pt x="8509" y="0"/>
                  </a:moveTo>
                  <a:lnTo>
                    <a:pt x="8420989" y="0"/>
                  </a:lnTo>
                  <a:cubicBezTo>
                    <a:pt x="8425688" y="0"/>
                    <a:pt x="8429499" y="3810"/>
                    <a:pt x="8429499" y="8509"/>
                  </a:cubicBezTo>
                  <a:lnTo>
                    <a:pt x="8429499" y="2251837"/>
                  </a:lnTo>
                  <a:cubicBezTo>
                    <a:pt x="8429499" y="2256536"/>
                    <a:pt x="8425688" y="2260346"/>
                    <a:pt x="8420989" y="2260346"/>
                  </a:cubicBezTo>
                  <a:lnTo>
                    <a:pt x="8509" y="2260346"/>
                  </a:lnTo>
                  <a:cubicBezTo>
                    <a:pt x="3810" y="2260346"/>
                    <a:pt x="0" y="2256536"/>
                    <a:pt x="0" y="2251837"/>
                  </a:cubicBezTo>
                  <a:lnTo>
                    <a:pt x="0" y="8509"/>
                  </a:lnTo>
                  <a:cubicBezTo>
                    <a:pt x="0" y="3810"/>
                    <a:pt x="3810" y="0"/>
                    <a:pt x="8509" y="0"/>
                  </a:cubicBezTo>
                  <a:moveTo>
                    <a:pt x="8509" y="16891"/>
                  </a:moveTo>
                  <a:lnTo>
                    <a:pt x="8509" y="8509"/>
                  </a:lnTo>
                  <a:lnTo>
                    <a:pt x="17018" y="8509"/>
                  </a:lnTo>
                  <a:lnTo>
                    <a:pt x="17018" y="2251837"/>
                  </a:lnTo>
                  <a:lnTo>
                    <a:pt x="8509" y="2251837"/>
                  </a:lnTo>
                  <a:lnTo>
                    <a:pt x="8509" y="2243328"/>
                  </a:lnTo>
                  <a:lnTo>
                    <a:pt x="8420989" y="2243328"/>
                  </a:lnTo>
                  <a:lnTo>
                    <a:pt x="8420989" y="2251837"/>
                  </a:lnTo>
                  <a:lnTo>
                    <a:pt x="8412480" y="2251837"/>
                  </a:lnTo>
                  <a:lnTo>
                    <a:pt x="8412480" y="8509"/>
                  </a:lnTo>
                  <a:lnTo>
                    <a:pt x="8420989" y="8509"/>
                  </a:lnTo>
                  <a:lnTo>
                    <a:pt x="8420989" y="17018"/>
                  </a:lnTo>
                  <a:lnTo>
                    <a:pt x="8509" y="17018"/>
                  </a:lnTo>
                  <a:close/>
                </a:path>
              </a:pathLst>
            </a:custGeom>
            <a:solidFill>
              <a:srgbClr val="E2E8F0"/>
            </a:solidFill>
          </p:spPr>
        </p:sp>
      </p:grpSp>
      <p:grpSp>
        <p:nvGrpSpPr>
          <p:cNvPr name="Group 109" id="109"/>
          <p:cNvGrpSpPr/>
          <p:nvPr/>
        </p:nvGrpSpPr>
        <p:grpSpPr>
          <a:xfrm rot="0">
            <a:off x="11234423" y="4870199"/>
            <a:ext cx="17581883" cy="537467"/>
            <a:chOff x="0" y="0"/>
            <a:chExt cx="23442511" cy="716623"/>
          </a:xfrm>
        </p:grpSpPr>
        <p:sp>
          <p:nvSpPr>
            <p:cNvPr name="Freeform 110" id="110"/>
            <p:cNvSpPr/>
            <p:nvPr/>
          </p:nvSpPr>
          <p:spPr>
            <a:xfrm flipH="false" flipV="false" rot="0">
              <a:off x="16891" y="16891"/>
              <a:ext cx="23408639" cy="682752"/>
            </a:xfrm>
            <a:custGeom>
              <a:avLst/>
              <a:gdLst/>
              <a:ahLst/>
              <a:cxnLst/>
              <a:rect r="r" b="b" t="t" l="l"/>
              <a:pathLst>
                <a:path h="682752" w="23408639">
                  <a:moveTo>
                    <a:pt x="0" y="0"/>
                  </a:moveTo>
                  <a:lnTo>
                    <a:pt x="23408639" y="0"/>
                  </a:lnTo>
                  <a:lnTo>
                    <a:pt x="23408639" y="682752"/>
                  </a:lnTo>
                  <a:lnTo>
                    <a:pt x="0" y="682752"/>
                  </a:lnTo>
                  <a:close/>
                </a:path>
              </a:pathLst>
            </a:custGeom>
            <a:solidFill>
              <a:srgbClr val="6D28D9"/>
            </a:solidFill>
          </p:spPr>
        </p:sp>
        <p:sp>
          <p:nvSpPr>
            <p:cNvPr name="Freeform 111" id="111"/>
            <p:cNvSpPr/>
            <p:nvPr/>
          </p:nvSpPr>
          <p:spPr>
            <a:xfrm flipH="false" flipV="false" rot="0">
              <a:off x="0" y="0"/>
              <a:ext cx="23442422" cy="716536"/>
            </a:xfrm>
            <a:custGeom>
              <a:avLst/>
              <a:gdLst/>
              <a:ahLst/>
              <a:cxnLst/>
              <a:rect r="r" b="b" t="t" l="l"/>
              <a:pathLst>
                <a:path h="716536" w="23442422">
                  <a:moveTo>
                    <a:pt x="16891" y="0"/>
                  </a:moveTo>
                  <a:lnTo>
                    <a:pt x="23425530" y="0"/>
                  </a:lnTo>
                  <a:cubicBezTo>
                    <a:pt x="23434929" y="0"/>
                    <a:pt x="23442422" y="7620"/>
                    <a:pt x="23442422" y="16891"/>
                  </a:cubicBezTo>
                  <a:lnTo>
                    <a:pt x="23442422" y="699643"/>
                  </a:lnTo>
                  <a:cubicBezTo>
                    <a:pt x="23442422" y="709041"/>
                    <a:pt x="23434802" y="716534"/>
                    <a:pt x="23425530" y="716534"/>
                  </a:cubicBezTo>
                  <a:lnTo>
                    <a:pt x="16891" y="716534"/>
                  </a:lnTo>
                  <a:cubicBezTo>
                    <a:pt x="7620" y="716661"/>
                    <a:pt x="0" y="709041"/>
                    <a:pt x="0" y="699643"/>
                  </a:cubicBezTo>
                  <a:lnTo>
                    <a:pt x="0" y="16891"/>
                  </a:lnTo>
                  <a:cubicBezTo>
                    <a:pt x="0" y="7620"/>
                    <a:pt x="7620" y="0"/>
                    <a:pt x="16891" y="0"/>
                  </a:cubicBezTo>
                  <a:moveTo>
                    <a:pt x="16891" y="33909"/>
                  </a:moveTo>
                  <a:lnTo>
                    <a:pt x="16891" y="16891"/>
                  </a:lnTo>
                  <a:lnTo>
                    <a:pt x="33909" y="16891"/>
                  </a:lnTo>
                  <a:lnTo>
                    <a:pt x="33909" y="699643"/>
                  </a:lnTo>
                  <a:lnTo>
                    <a:pt x="16891" y="699643"/>
                  </a:lnTo>
                  <a:lnTo>
                    <a:pt x="16891" y="682752"/>
                  </a:lnTo>
                  <a:lnTo>
                    <a:pt x="23425530" y="682752"/>
                  </a:lnTo>
                  <a:lnTo>
                    <a:pt x="23425530" y="699643"/>
                  </a:lnTo>
                  <a:lnTo>
                    <a:pt x="23408639" y="699643"/>
                  </a:lnTo>
                  <a:lnTo>
                    <a:pt x="23408639" y="16891"/>
                  </a:lnTo>
                  <a:lnTo>
                    <a:pt x="23425530" y="16891"/>
                  </a:lnTo>
                  <a:lnTo>
                    <a:pt x="23425530" y="33909"/>
                  </a:lnTo>
                  <a:lnTo>
                    <a:pt x="16891" y="33909"/>
                  </a:lnTo>
                  <a:close/>
                </a:path>
              </a:pathLst>
            </a:custGeom>
            <a:solidFill>
              <a:srgbClr val="6D28D9"/>
            </a:solidFill>
          </p:spPr>
        </p:sp>
      </p:grpSp>
      <p:grpSp>
        <p:nvGrpSpPr>
          <p:cNvPr name="Group 112" id="112"/>
          <p:cNvGrpSpPr/>
          <p:nvPr/>
        </p:nvGrpSpPr>
        <p:grpSpPr>
          <a:xfrm rot="0">
            <a:off x="11234423" y="4870199"/>
            <a:ext cx="6334763" cy="537467"/>
            <a:chOff x="0" y="0"/>
            <a:chExt cx="8446351" cy="716623"/>
          </a:xfrm>
        </p:grpSpPr>
        <p:sp>
          <p:nvSpPr>
            <p:cNvPr name="Freeform 113" id="113"/>
            <p:cNvSpPr/>
            <p:nvPr/>
          </p:nvSpPr>
          <p:spPr>
            <a:xfrm flipH="false" flipV="false" rot="0">
              <a:off x="16891" y="16891"/>
              <a:ext cx="8412481" cy="682752"/>
            </a:xfrm>
            <a:custGeom>
              <a:avLst/>
              <a:gdLst/>
              <a:ahLst/>
              <a:cxnLst/>
              <a:rect r="r" b="b" t="t" l="l"/>
              <a:pathLst>
                <a:path h="682752" w="8412481">
                  <a:moveTo>
                    <a:pt x="0" y="0"/>
                  </a:moveTo>
                  <a:lnTo>
                    <a:pt x="8412481" y="0"/>
                  </a:lnTo>
                  <a:lnTo>
                    <a:pt x="8412481" y="682752"/>
                  </a:lnTo>
                  <a:lnTo>
                    <a:pt x="0" y="682752"/>
                  </a:lnTo>
                  <a:close/>
                </a:path>
              </a:pathLst>
            </a:custGeom>
            <a:solidFill>
              <a:srgbClr val="6D28D9"/>
            </a:solidFill>
          </p:spPr>
        </p:sp>
        <p:sp>
          <p:nvSpPr>
            <p:cNvPr name="Freeform 114" id="114"/>
            <p:cNvSpPr/>
            <p:nvPr/>
          </p:nvSpPr>
          <p:spPr>
            <a:xfrm flipH="false" flipV="false" rot="0">
              <a:off x="0" y="0"/>
              <a:ext cx="8446262" cy="716536"/>
            </a:xfrm>
            <a:custGeom>
              <a:avLst/>
              <a:gdLst/>
              <a:ahLst/>
              <a:cxnLst/>
              <a:rect r="r" b="b" t="t" l="l"/>
              <a:pathLst>
                <a:path h="716536" w="8446262">
                  <a:moveTo>
                    <a:pt x="16891" y="0"/>
                  </a:moveTo>
                  <a:lnTo>
                    <a:pt x="8429372" y="0"/>
                  </a:lnTo>
                  <a:cubicBezTo>
                    <a:pt x="8438769" y="0"/>
                    <a:pt x="8446262" y="7620"/>
                    <a:pt x="8446262" y="16891"/>
                  </a:cubicBezTo>
                  <a:lnTo>
                    <a:pt x="8446262" y="699643"/>
                  </a:lnTo>
                  <a:cubicBezTo>
                    <a:pt x="8446262" y="709041"/>
                    <a:pt x="8438642" y="716534"/>
                    <a:pt x="8429372" y="716534"/>
                  </a:cubicBezTo>
                  <a:lnTo>
                    <a:pt x="16891" y="716534"/>
                  </a:lnTo>
                  <a:cubicBezTo>
                    <a:pt x="7620" y="716661"/>
                    <a:pt x="0" y="709041"/>
                    <a:pt x="0" y="699643"/>
                  </a:cubicBezTo>
                  <a:lnTo>
                    <a:pt x="0" y="16891"/>
                  </a:lnTo>
                  <a:cubicBezTo>
                    <a:pt x="0" y="7620"/>
                    <a:pt x="7620" y="0"/>
                    <a:pt x="16891" y="0"/>
                  </a:cubicBezTo>
                  <a:moveTo>
                    <a:pt x="16891" y="33909"/>
                  </a:moveTo>
                  <a:lnTo>
                    <a:pt x="16891" y="16891"/>
                  </a:lnTo>
                  <a:lnTo>
                    <a:pt x="33909" y="16891"/>
                  </a:lnTo>
                  <a:lnTo>
                    <a:pt x="33909" y="699643"/>
                  </a:lnTo>
                  <a:lnTo>
                    <a:pt x="16891" y="699643"/>
                  </a:lnTo>
                  <a:lnTo>
                    <a:pt x="16891" y="682752"/>
                  </a:lnTo>
                  <a:lnTo>
                    <a:pt x="8429372" y="682752"/>
                  </a:lnTo>
                  <a:lnTo>
                    <a:pt x="8429372" y="699643"/>
                  </a:lnTo>
                  <a:lnTo>
                    <a:pt x="8412480" y="699643"/>
                  </a:lnTo>
                  <a:lnTo>
                    <a:pt x="8412480" y="16891"/>
                  </a:lnTo>
                  <a:lnTo>
                    <a:pt x="8429372" y="16891"/>
                  </a:lnTo>
                  <a:lnTo>
                    <a:pt x="8429372" y="33909"/>
                  </a:lnTo>
                  <a:lnTo>
                    <a:pt x="16891" y="33909"/>
                  </a:lnTo>
                  <a:close/>
                </a:path>
              </a:pathLst>
            </a:custGeom>
            <a:solidFill>
              <a:srgbClr val="6D28D9"/>
            </a:solidFill>
          </p:spPr>
        </p:sp>
      </p:grpSp>
      <p:grpSp>
        <p:nvGrpSpPr>
          <p:cNvPr name="Group 115" id="115"/>
          <p:cNvGrpSpPr/>
          <p:nvPr/>
        </p:nvGrpSpPr>
        <p:grpSpPr>
          <a:xfrm rot="0">
            <a:off x="11430000" y="4901184"/>
            <a:ext cx="6035040" cy="475488"/>
            <a:chOff x="0" y="0"/>
            <a:chExt cx="8046720" cy="633984"/>
          </a:xfrm>
        </p:grpSpPr>
        <p:sp>
          <p:nvSpPr>
            <p:cNvPr name="Freeform 116" id="116"/>
            <p:cNvSpPr/>
            <p:nvPr/>
          </p:nvSpPr>
          <p:spPr>
            <a:xfrm flipH="false" flipV="false" rot="0">
              <a:off x="0" y="0"/>
              <a:ext cx="8046720" cy="633984"/>
            </a:xfrm>
            <a:custGeom>
              <a:avLst/>
              <a:gdLst/>
              <a:ahLst/>
              <a:cxnLst/>
              <a:rect r="r" b="b" t="t" l="l"/>
              <a:pathLst>
                <a:path h="633984" w="8046720">
                  <a:moveTo>
                    <a:pt x="0" y="0"/>
                  </a:moveTo>
                  <a:lnTo>
                    <a:pt x="8046720" y="0"/>
                  </a:lnTo>
                  <a:lnTo>
                    <a:pt x="8046720" y="633984"/>
                  </a:lnTo>
                  <a:lnTo>
                    <a:pt x="0" y="633984"/>
                  </a:lnTo>
                  <a:close/>
                </a:path>
              </a:pathLst>
            </a:custGeom>
            <a:blipFill>
              <a:blip r:embed="rId3">
                <a:alphaModFix amt="0"/>
              </a:blip>
              <a:stretch>
                <a:fillRect l="0" t="-197310" r="0" b="-197310"/>
              </a:stretch>
            </a:blipFill>
          </p:spPr>
        </p:sp>
        <p:sp>
          <p:nvSpPr>
            <p:cNvPr name="TextBox 117" id="117"/>
            <p:cNvSpPr txBox="true"/>
            <p:nvPr/>
          </p:nvSpPr>
          <p:spPr>
            <a:xfrm>
              <a:off x="0" y="-38100"/>
              <a:ext cx="8046720" cy="672084"/>
            </a:xfrm>
            <a:prstGeom prst="rect">
              <a:avLst/>
            </a:prstGeom>
          </p:spPr>
          <p:txBody>
            <a:bodyPr anchor="ctr" rtlCol="false" tIns="0" lIns="0" bIns="0" rIns="0"/>
            <a:lstStyle/>
            <a:p>
              <a:pPr algn="l">
                <a:lnSpc>
                  <a:spcPts val="2160"/>
                </a:lnSpc>
              </a:pPr>
              <a:r>
                <a:rPr lang="en-US" sz="1800" b="true">
                  <a:solidFill>
                    <a:srgbClr val="FFFFFF"/>
                  </a:solidFill>
                  <a:latin typeface="Calibri (MS) Bold"/>
                  <a:ea typeface="Calibri (MS) Bold"/>
                  <a:cs typeface="Calibri (MS) Bold"/>
                  <a:sym typeface="Calibri (MS) Bold"/>
                </a:rPr>
                <a:t>METEOR  (Metric for Evaluation of Translation with Explicit ORdering)</a:t>
              </a:r>
            </a:p>
          </p:txBody>
        </p:sp>
      </p:grpSp>
      <p:grpSp>
        <p:nvGrpSpPr>
          <p:cNvPr name="Group 118" id="118"/>
          <p:cNvGrpSpPr/>
          <p:nvPr/>
        </p:nvGrpSpPr>
        <p:grpSpPr>
          <a:xfrm rot="0">
            <a:off x="11430000" y="5431536"/>
            <a:ext cx="6035040" cy="1060704"/>
            <a:chOff x="0" y="0"/>
            <a:chExt cx="8046720" cy="1414272"/>
          </a:xfrm>
        </p:grpSpPr>
        <p:sp>
          <p:nvSpPr>
            <p:cNvPr name="Freeform 119" id="119"/>
            <p:cNvSpPr/>
            <p:nvPr/>
          </p:nvSpPr>
          <p:spPr>
            <a:xfrm flipH="false" flipV="false" rot="0">
              <a:off x="0" y="0"/>
              <a:ext cx="8046720" cy="1414272"/>
            </a:xfrm>
            <a:custGeom>
              <a:avLst/>
              <a:gdLst/>
              <a:ahLst/>
              <a:cxnLst/>
              <a:rect r="r" b="b" t="t" l="l"/>
              <a:pathLst>
                <a:path h="1414272" w="8046720">
                  <a:moveTo>
                    <a:pt x="0" y="0"/>
                  </a:moveTo>
                  <a:lnTo>
                    <a:pt x="8046720" y="0"/>
                  </a:lnTo>
                  <a:lnTo>
                    <a:pt x="8046720" y="1414272"/>
                  </a:lnTo>
                  <a:lnTo>
                    <a:pt x="0" y="1414272"/>
                  </a:lnTo>
                  <a:close/>
                </a:path>
              </a:pathLst>
            </a:custGeom>
            <a:blipFill>
              <a:blip r:embed="rId3">
                <a:alphaModFix amt="0"/>
              </a:blip>
              <a:stretch>
                <a:fillRect l="0" t="-60863" r="0" b="-60863"/>
              </a:stretch>
            </a:blipFill>
          </p:spPr>
        </p:sp>
        <p:sp>
          <p:nvSpPr>
            <p:cNvPr name="TextBox 120" id="120"/>
            <p:cNvSpPr txBox="true"/>
            <p:nvPr/>
          </p:nvSpPr>
          <p:spPr>
            <a:xfrm>
              <a:off x="0" y="-38100"/>
              <a:ext cx="8046720" cy="1452372"/>
            </a:xfrm>
            <a:prstGeom prst="rect">
              <a:avLst/>
            </a:prstGeom>
          </p:spPr>
          <p:txBody>
            <a:bodyPr anchor="ctr" rtlCol="false" tIns="0" lIns="0" bIns="0" rIns="0"/>
            <a:lstStyle/>
            <a:p>
              <a:pPr algn="l">
                <a:lnSpc>
                  <a:spcPts val="2160"/>
                </a:lnSpc>
              </a:pPr>
              <a:r>
                <a:rPr lang="en-US" sz="1800">
                  <a:solidFill>
                    <a:srgbClr val="1E293B"/>
                  </a:solidFill>
                  <a:latin typeface="Calibri (MS)"/>
                  <a:ea typeface="Calibri (MS)"/>
                  <a:cs typeface="Calibri (MS)"/>
                  <a:sym typeface="Calibri (MS)"/>
                </a:rPr>
                <a:t>Harmonic mean of unigram precision and recall, with synonym matching. Better correlation with human judgment than BLEU.</a:t>
              </a:r>
            </a:p>
          </p:txBody>
        </p:sp>
      </p:grpSp>
      <p:grpSp>
        <p:nvGrpSpPr>
          <p:cNvPr name="Group 121" id="121"/>
          <p:cNvGrpSpPr/>
          <p:nvPr/>
        </p:nvGrpSpPr>
        <p:grpSpPr>
          <a:xfrm rot="0">
            <a:off x="11240767" y="6741919"/>
            <a:ext cx="6322057" cy="1695193"/>
            <a:chOff x="0" y="0"/>
            <a:chExt cx="8429409" cy="2260257"/>
          </a:xfrm>
        </p:grpSpPr>
        <p:sp>
          <p:nvSpPr>
            <p:cNvPr name="Freeform 122" id="122"/>
            <p:cNvSpPr/>
            <p:nvPr/>
          </p:nvSpPr>
          <p:spPr>
            <a:xfrm flipH="false" flipV="false" rot="0">
              <a:off x="8509" y="8509"/>
              <a:ext cx="8412480" cy="2243328"/>
            </a:xfrm>
            <a:custGeom>
              <a:avLst/>
              <a:gdLst/>
              <a:ahLst/>
              <a:cxnLst/>
              <a:rect r="r" b="b" t="t" l="l"/>
              <a:pathLst>
                <a:path h="2243328" w="8412480">
                  <a:moveTo>
                    <a:pt x="0" y="0"/>
                  </a:moveTo>
                  <a:lnTo>
                    <a:pt x="8412480" y="0"/>
                  </a:lnTo>
                  <a:lnTo>
                    <a:pt x="8412480" y="2243328"/>
                  </a:lnTo>
                  <a:lnTo>
                    <a:pt x="0" y="2243328"/>
                  </a:lnTo>
                  <a:close/>
                </a:path>
              </a:pathLst>
            </a:custGeom>
            <a:solidFill>
              <a:srgbClr val="FFFFFF"/>
            </a:solidFill>
          </p:spPr>
        </p:sp>
        <p:sp>
          <p:nvSpPr>
            <p:cNvPr name="Freeform 123" id="123"/>
            <p:cNvSpPr/>
            <p:nvPr/>
          </p:nvSpPr>
          <p:spPr>
            <a:xfrm flipH="false" flipV="false" rot="0">
              <a:off x="0" y="0"/>
              <a:ext cx="8429499" cy="2260346"/>
            </a:xfrm>
            <a:custGeom>
              <a:avLst/>
              <a:gdLst/>
              <a:ahLst/>
              <a:cxnLst/>
              <a:rect r="r" b="b" t="t" l="l"/>
              <a:pathLst>
                <a:path h="2260346" w="8429499">
                  <a:moveTo>
                    <a:pt x="8509" y="0"/>
                  </a:moveTo>
                  <a:lnTo>
                    <a:pt x="8420989" y="0"/>
                  </a:lnTo>
                  <a:cubicBezTo>
                    <a:pt x="8425688" y="0"/>
                    <a:pt x="8429499" y="3810"/>
                    <a:pt x="8429499" y="8509"/>
                  </a:cubicBezTo>
                  <a:lnTo>
                    <a:pt x="8429499" y="2251837"/>
                  </a:lnTo>
                  <a:cubicBezTo>
                    <a:pt x="8429499" y="2256536"/>
                    <a:pt x="8425688" y="2260346"/>
                    <a:pt x="8420989" y="2260346"/>
                  </a:cubicBezTo>
                  <a:lnTo>
                    <a:pt x="8509" y="2260346"/>
                  </a:lnTo>
                  <a:cubicBezTo>
                    <a:pt x="3810" y="2260346"/>
                    <a:pt x="0" y="2256536"/>
                    <a:pt x="0" y="2251837"/>
                  </a:cubicBezTo>
                  <a:lnTo>
                    <a:pt x="0" y="8509"/>
                  </a:lnTo>
                  <a:cubicBezTo>
                    <a:pt x="0" y="3810"/>
                    <a:pt x="3810" y="0"/>
                    <a:pt x="8509" y="0"/>
                  </a:cubicBezTo>
                  <a:moveTo>
                    <a:pt x="8509" y="16891"/>
                  </a:moveTo>
                  <a:lnTo>
                    <a:pt x="8509" y="8509"/>
                  </a:lnTo>
                  <a:lnTo>
                    <a:pt x="17018" y="8509"/>
                  </a:lnTo>
                  <a:lnTo>
                    <a:pt x="17018" y="2251837"/>
                  </a:lnTo>
                  <a:lnTo>
                    <a:pt x="8509" y="2251837"/>
                  </a:lnTo>
                  <a:lnTo>
                    <a:pt x="8509" y="2243328"/>
                  </a:lnTo>
                  <a:lnTo>
                    <a:pt x="8420989" y="2243328"/>
                  </a:lnTo>
                  <a:lnTo>
                    <a:pt x="8420989" y="2251837"/>
                  </a:lnTo>
                  <a:lnTo>
                    <a:pt x="8412480" y="2251837"/>
                  </a:lnTo>
                  <a:lnTo>
                    <a:pt x="8412480" y="8509"/>
                  </a:lnTo>
                  <a:lnTo>
                    <a:pt x="8420989" y="8509"/>
                  </a:lnTo>
                  <a:lnTo>
                    <a:pt x="8420989" y="17018"/>
                  </a:lnTo>
                  <a:lnTo>
                    <a:pt x="8509" y="17018"/>
                  </a:lnTo>
                  <a:close/>
                </a:path>
              </a:pathLst>
            </a:custGeom>
            <a:solidFill>
              <a:srgbClr val="E2E8F0"/>
            </a:solidFill>
          </p:spPr>
        </p:sp>
      </p:grpSp>
      <p:grpSp>
        <p:nvGrpSpPr>
          <p:cNvPr name="Group 124" id="124"/>
          <p:cNvGrpSpPr/>
          <p:nvPr/>
        </p:nvGrpSpPr>
        <p:grpSpPr>
          <a:xfrm rot="0">
            <a:off x="11234423" y="6735575"/>
            <a:ext cx="17581883" cy="537467"/>
            <a:chOff x="0" y="0"/>
            <a:chExt cx="23442511" cy="716623"/>
          </a:xfrm>
        </p:grpSpPr>
        <p:sp>
          <p:nvSpPr>
            <p:cNvPr name="Freeform 125" id="125"/>
            <p:cNvSpPr/>
            <p:nvPr/>
          </p:nvSpPr>
          <p:spPr>
            <a:xfrm flipH="false" flipV="false" rot="0">
              <a:off x="16891" y="16891"/>
              <a:ext cx="23408639" cy="682752"/>
            </a:xfrm>
            <a:custGeom>
              <a:avLst/>
              <a:gdLst/>
              <a:ahLst/>
              <a:cxnLst/>
              <a:rect r="r" b="b" t="t" l="l"/>
              <a:pathLst>
                <a:path h="682752" w="23408639">
                  <a:moveTo>
                    <a:pt x="0" y="0"/>
                  </a:moveTo>
                  <a:lnTo>
                    <a:pt x="23408639" y="0"/>
                  </a:lnTo>
                  <a:lnTo>
                    <a:pt x="23408639" y="682752"/>
                  </a:lnTo>
                  <a:lnTo>
                    <a:pt x="0" y="682752"/>
                  </a:lnTo>
                  <a:close/>
                </a:path>
              </a:pathLst>
            </a:custGeom>
            <a:solidFill>
              <a:srgbClr val="D97706"/>
            </a:solidFill>
          </p:spPr>
        </p:sp>
        <p:sp>
          <p:nvSpPr>
            <p:cNvPr name="Freeform 126" id="126"/>
            <p:cNvSpPr/>
            <p:nvPr/>
          </p:nvSpPr>
          <p:spPr>
            <a:xfrm flipH="false" flipV="false" rot="0">
              <a:off x="0" y="0"/>
              <a:ext cx="23442422" cy="716536"/>
            </a:xfrm>
            <a:custGeom>
              <a:avLst/>
              <a:gdLst/>
              <a:ahLst/>
              <a:cxnLst/>
              <a:rect r="r" b="b" t="t" l="l"/>
              <a:pathLst>
                <a:path h="716536" w="23442422">
                  <a:moveTo>
                    <a:pt x="16891" y="0"/>
                  </a:moveTo>
                  <a:lnTo>
                    <a:pt x="23425530" y="0"/>
                  </a:lnTo>
                  <a:cubicBezTo>
                    <a:pt x="23434929" y="0"/>
                    <a:pt x="23442422" y="7620"/>
                    <a:pt x="23442422" y="16891"/>
                  </a:cubicBezTo>
                  <a:lnTo>
                    <a:pt x="23442422" y="699643"/>
                  </a:lnTo>
                  <a:cubicBezTo>
                    <a:pt x="23442422" y="709041"/>
                    <a:pt x="23434802" y="716534"/>
                    <a:pt x="23425530" y="716534"/>
                  </a:cubicBezTo>
                  <a:lnTo>
                    <a:pt x="16891" y="716534"/>
                  </a:lnTo>
                  <a:cubicBezTo>
                    <a:pt x="7620" y="716661"/>
                    <a:pt x="0" y="709041"/>
                    <a:pt x="0" y="699643"/>
                  </a:cubicBezTo>
                  <a:lnTo>
                    <a:pt x="0" y="16891"/>
                  </a:lnTo>
                  <a:cubicBezTo>
                    <a:pt x="0" y="7620"/>
                    <a:pt x="7620" y="0"/>
                    <a:pt x="16891" y="0"/>
                  </a:cubicBezTo>
                  <a:moveTo>
                    <a:pt x="16891" y="33909"/>
                  </a:moveTo>
                  <a:lnTo>
                    <a:pt x="16891" y="16891"/>
                  </a:lnTo>
                  <a:lnTo>
                    <a:pt x="33909" y="16891"/>
                  </a:lnTo>
                  <a:lnTo>
                    <a:pt x="33909" y="699643"/>
                  </a:lnTo>
                  <a:lnTo>
                    <a:pt x="16891" y="699643"/>
                  </a:lnTo>
                  <a:lnTo>
                    <a:pt x="16891" y="682752"/>
                  </a:lnTo>
                  <a:lnTo>
                    <a:pt x="23425530" y="682752"/>
                  </a:lnTo>
                  <a:lnTo>
                    <a:pt x="23425530" y="699643"/>
                  </a:lnTo>
                  <a:lnTo>
                    <a:pt x="23408639" y="699643"/>
                  </a:lnTo>
                  <a:lnTo>
                    <a:pt x="23408639" y="16891"/>
                  </a:lnTo>
                  <a:lnTo>
                    <a:pt x="23425530" y="16891"/>
                  </a:lnTo>
                  <a:lnTo>
                    <a:pt x="23425530" y="33909"/>
                  </a:lnTo>
                  <a:lnTo>
                    <a:pt x="16891" y="33909"/>
                  </a:lnTo>
                  <a:close/>
                </a:path>
              </a:pathLst>
            </a:custGeom>
            <a:solidFill>
              <a:srgbClr val="D97706"/>
            </a:solidFill>
          </p:spPr>
        </p:sp>
      </p:grpSp>
      <p:grpSp>
        <p:nvGrpSpPr>
          <p:cNvPr name="Group 127" id="127"/>
          <p:cNvGrpSpPr/>
          <p:nvPr/>
        </p:nvGrpSpPr>
        <p:grpSpPr>
          <a:xfrm rot="0">
            <a:off x="11234423" y="6735575"/>
            <a:ext cx="6334763" cy="537467"/>
            <a:chOff x="0" y="0"/>
            <a:chExt cx="8446351" cy="716623"/>
          </a:xfrm>
        </p:grpSpPr>
        <p:sp>
          <p:nvSpPr>
            <p:cNvPr name="Freeform 128" id="128"/>
            <p:cNvSpPr/>
            <p:nvPr/>
          </p:nvSpPr>
          <p:spPr>
            <a:xfrm flipH="false" flipV="false" rot="0">
              <a:off x="16891" y="16891"/>
              <a:ext cx="8412481" cy="682752"/>
            </a:xfrm>
            <a:custGeom>
              <a:avLst/>
              <a:gdLst/>
              <a:ahLst/>
              <a:cxnLst/>
              <a:rect r="r" b="b" t="t" l="l"/>
              <a:pathLst>
                <a:path h="682752" w="8412481">
                  <a:moveTo>
                    <a:pt x="0" y="0"/>
                  </a:moveTo>
                  <a:lnTo>
                    <a:pt x="8412481" y="0"/>
                  </a:lnTo>
                  <a:lnTo>
                    <a:pt x="8412481" y="682752"/>
                  </a:lnTo>
                  <a:lnTo>
                    <a:pt x="0" y="682752"/>
                  </a:lnTo>
                  <a:close/>
                </a:path>
              </a:pathLst>
            </a:custGeom>
            <a:solidFill>
              <a:srgbClr val="D97706"/>
            </a:solidFill>
          </p:spPr>
        </p:sp>
        <p:sp>
          <p:nvSpPr>
            <p:cNvPr name="Freeform 129" id="129"/>
            <p:cNvSpPr/>
            <p:nvPr/>
          </p:nvSpPr>
          <p:spPr>
            <a:xfrm flipH="false" flipV="false" rot="0">
              <a:off x="0" y="0"/>
              <a:ext cx="8446262" cy="716536"/>
            </a:xfrm>
            <a:custGeom>
              <a:avLst/>
              <a:gdLst/>
              <a:ahLst/>
              <a:cxnLst/>
              <a:rect r="r" b="b" t="t" l="l"/>
              <a:pathLst>
                <a:path h="716536" w="8446262">
                  <a:moveTo>
                    <a:pt x="16891" y="0"/>
                  </a:moveTo>
                  <a:lnTo>
                    <a:pt x="8429372" y="0"/>
                  </a:lnTo>
                  <a:cubicBezTo>
                    <a:pt x="8438769" y="0"/>
                    <a:pt x="8446262" y="7620"/>
                    <a:pt x="8446262" y="16891"/>
                  </a:cubicBezTo>
                  <a:lnTo>
                    <a:pt x="8446262" y="699643"/>
                  </a:lnTo>
                  <a:cubicBezTo>
                    <a:pt x="8446262" y="709041"/>
                    <a:pt x="8438642" y="716534"/>
                    <a:pt x="8429372" y="716534"/>
                  </a:cubicBezTo>
                  <a:lnTo>
                    <a:pt x="16891" y="716534"/>
                  </a:lnTo>
                  <a:cubicBezTo>
                    <a:pt x="7620" y="716661"/>
                    <a:pt x="0" y="709041"/>
                    <a:pt x="0" y="699643"/>
                  </a:cubicBezTo>
                  <a:lnTo>
                    <a:pt x="0" y="16891"/>
                  </a:lnTo>
                  <a:cubicBezTo>
                    <a:pt x="0" y="7620"/>
                    <a:pt x="7620" y="0"/>
                    <a:pt x="16891" y="0"/>
                  </a:cubicBezTo>
                  <a:moveTo>
                    <a:pt x="16891" y="33909"/>
                  </a:moveTo>
                  <a:lnTo>
                    <a:pt x="16891" y="16891"/>
                  </a:lnTo>
                  <a:lnTo>
                    <a:pt x="33909" y="16891"/>
                  </a:lnTo>
                  <a:lnTo>
                    <a:pt x="33909" y="699643"/>
                  </a:lnTo>
                  <a:lnTo>
                    <a:pt x="16891" y="699643"/>
                  </a:lnTo>
                  <a:lnTo>
                    <a:pt x="16891" y="682752"/>
                  </a:lnTo>
                  <a:lnTo>
                    <a:pt x="8429372" y="682752"/>
                  </a:lnTo>
                  <a:lnTo>
                    <a:pt x="8429372" y="699643"/>
                  </a:lnTo>
                  <a:lnTo>
                    <a:pt x="8412480" y="699643"/>
                  </a:lnTo>
                  <a:lnTo>
                    <a:pt x="8412480" y="16891"/>
                  </a:lnTo>
                  <a:lnTo>
                    <a:pt x="8429372" y="16891"/>
                  </a:lnTo>
                  <a:lnTo>
                    <a:pt x="8429372" y="33909"/>
                  </a:lnTo>
                  <a:lnTo>
                    <a:pt x="16891" y="33909"/>
                  </a:lnTo>
                  <a:close/>
                </a:path>
              </a:pathLst>
            </a:custGeom>
            <a:solidFill>
              <a:srgbClr val="D97706"/>
            </a:solidFill>
          </p:spPr>
        </p:sp>
      </p:grpSp>
      <p:grpSp>
        <p:nvGrpSpPr>
          <p:cNvPr name="Group 130" id="130"/>
          <p:cNvGrpSpPr/>
          <p:nvPr/>
        </p:nvGrpSpPr>
        <p:grpSpPr>
          <a:xfrm rot="0">
            <a:off x="11430000" y="6766560"/>
            <a:ext cx="6035040" cy="475488"/>
            <a:chOff x="0" y="0"/>
            <a:chExt cx="8046720" cy="633984"/>
          </a:xfrm>
        </p:grpSpPr>
        <p:sp>
          <p:nvSpPr>
            <p:cNvPr name="Freeform 131" id="131"/>
            <p:cNvSpPr/>
            <p:nvPr/>
          </p:nvSpPr>
          <p:spPr>
            <a:xfrm flipH="false" flipV="false" rot="0">
              <a:off x="0" y="0"/>
              <a:ext cx="8046720" cy="633984"/>
            </a:xfrm>
            <a:custGeom>
              <a:avLst/>
              <a:gdLst/>
              <a:ahLst/>
              <a:cxnLst/>
              <a:rect r="r" b="b" t="t" l="l"/>
              <a:pathLst>
                <a:path h="633984" w="8046720">
                  <a:moveTo>
                    <a:pt x="0" y="0"/>
                  </a:moveTo>
                  <a:lnTo>
                    <a:pt x="8046720" y="0"/>
                  </a:lnTo>
                  <a:lnTo>
                    <a:pt x="8046720" y="633984"/>
                  </a:lnTo>
                  <a:lnTo>
                    <a:pt x="0" y="633984"/>
                  </a:lnTo>
                  <a:close/>
                </a:path>
              </a:pathLst>
            </a:custGeom>
            <a:blipFill>
              <a:blip r:embed="rId3">
                <a:alphaModFix amt="0"/>
              </a:blip>
              <a:stretch>
                <a:fillRect l="0" t="-197310" r="0" b="-197310"/>
              </a:stretch>
            </a:blipFill>
          </p:spPr>
        </p:sp>
        <p:sp>
          <p:nvSpPr>
            <p:cNvPr name="TextBox 132" id="132"/>
            <p:cNvSpPr txBox="true"/>
            <p:nvPr/>
          </p:nvSpPr>
          <p:spPr>
            <a:xfrm>
              <a:off x="0" y="-38100"/>
              <a:ext cx="8046720" cy="672084"/>
            </a:xfrm>
            <a:prstGeom prst="rect">
              <a:avLst/>
            </a:prstGeom>
          </p:spPr>
          <p:txBody>
            <a:bodyPr anchor="ctr" rtlCol="false" tIns="0" lIns="0" bIns="0" rIns="0"/>
            <a:lstStyle/>
            <a:p>
              <a:pPr algn="l">
                <a:lnSpc>
                  <a:spcPts val="2160"/>
                </a:lnSpc>
              </a:pPr>
              <a:r>
                <a:rPr lang="en-US" sz="1800" b="true">
                  <a:solidFill>
                    <a:srgbClr val="FFFFFF"/>
                  </a:solidFill>
                  <a:latin typeface="Calibri (MS) Bold"/>
                  <a:ea typeface="Calibri (MS) Bold"/>
                  <a:cs typeface="Calibri (MS) Bold"/>
                  <a:sym typeface="Calibri (MS) Bold"/>
                </a:rPr>
                <a:t>ROUGE-L  (Recall-Oriented Understudy for Gisting Evaluation — Longest)</a:t>
              </a:r>
            </a:p>
          </p:txBody>
        </p:sp>
      </p:grpSp>
      <p:grpSp>
        <p:nvGrpSpPr>
          <p:cNvPr name="Group 133" id="133"/>
          <p:cNvGrpSpPr/>
          <p:nvPr/>
        </p:nvGrpSpPr>
        <p:grpSpPr>
          <a:xfrm rot="0">
            <a:off x="11430000" y="7296912"/>
            <a:ext cx="6035040" cy="1060704"/>
            <a:chOff x="0" y="0"/>
            <a:chExt cx="8046720" cy="1414272"/>
          </a:xfrm>
        </p:grpSpPr>
        <p:sp>
          <p:nvSpPr>
            <p:cNvPr name="Freeform 134" id="134"/>
            <p:cNvSpPr/>
            <p:nvPr/>
          </p:nvSpPr>
          <p:spPr>
            <a:xfrm flipH="false" flipV="false" rot="0">
              <a:off x="0" y="0"/>
              <a:ext cx="8046720" cy="1414272"/>
            </a:xfrm>
            <a:custGeom>
              <a:avLst/>
              <a:gdLst/>
              <a:ahLst/>
              <a:cxnLst/>
              <a:rect r="r" b="b" t="t" l="l"/>
              <a:pathLst>
                <a:path h="1414272" w="8046720">
                  <a:moveTo>
                    <a:pt x="0" y="0"/>
                  </a:moveTo>
                  <a:lnTo>
                    <a:pt x="8046720" y="0"/>
                  </a:lnTo>
                  <a:lnTo>
                    <a:pt x="8046720" y="1414272"/>
                  </a:lnTo>
                  <a:lnTo>
                    <a:pt x="0" y="1414272"/>
                  </a:lnTo>
                  <a:close/>
                </a:path>
              </a:pathLst>
            </a:custGeom>
            <a:blipFill>
              <a:blip r:embed="rId3">
                <a:alphaModFix amt="0"/>
              </a:blip>
              <a:stretch>
                <a:fillRect l="0" t="-60863" r="0" b="-60863"/>
              </a:stretch>
            </a:blipFill>
          </p:spPr>
        </p:sp>
        <p:sp>
          <p:nvSpPr>
            <p:cNvPr name="TextBox 135" id="135"/>
            <p:cNvSpPr txBox="true"/>
            <p:nvPr/>
          </p:nvSpPr>
          <p:spPr>
            <a:xfrm>
              <a:off x="0" y="-38100"/>
              <a:ext cx="8046720" cy="1452372"/>
            </a:xfrm>
            <a:prstGeom prst="rect">
              <a:avLst/>
            </a:prstGeom>
          </p:spPr>
          <p:txBody>
            <a:bodyPr anchor="ctr" rtlCol="false" tIns="0" lIns="0" bIns="0" rIns="0"/>
            <a:lstStyle/>
            <a:p>
              <a:pPr algn="l">
                <a:lnSpc>
                  <a:spcPts val="2160"/>
                </a:lnSpc>
              </a:pPr>
              <a:r>
                <a:rPr lang="en-US" sz="1800">
                  <a:solidFill>
                    <a:srgbClr val="1E293B"/>
                  </a:solidFill>
                  <a:latin typeface="Calibri (MS)"/>
                  <a:ea typeface="Calibri (MS)"/>
                  <a:cs typeface="Calibri (MS)"/>
                  <a:sym typeface="Calibri (MS)"/>
                </a:rPr>
                <a:t>Based on longest common subsequence (LCS) between generated and reference. Rewards recall and sentence fluency.</a:t>
              </a:r>
            </a:p>
          </p:txBody>
        </p:sp>
      </p:grpSp>
      <p:grpSp>
        <p:nvGrpSpPr>
          <p:cNvPr name="Group 136" id="136"/>
          <p:cNvGrpSpPr/>
          <p:nvPr/>
        </p:nvGrpSpPr>
        <p:grpSpPr>
          <a:xfrm rot="0">
            <a:off x="11240767" y="8607295"/>
            <a:ext cx="6322057" cy="1695193"/>
            <a:chOff x="0" y="0"/>
            <a:chExt cx="8429409" cy="2260257"/>
          </a:xfrm>
        </p:grpSpPr>
        <p:sp>
          <p:nvSpPr>
            <p:cNvPr name="Freeform 137" id="137"/>
            <p:cNvSpPr/>
            <p:nvPr/>
          </p:nvSpPr>
          <p:spPr>
            <a:xfrm flipH="false" flipV="false" rot="0">
              <a:off x="8509" y="8509"/>
              <a:ext cx="8412480" cy="2243328"/>
            </a:xfrm>
            <a:custGeom>
              <a:avLst/>
              <a:gdLst/>
              <a:ahLst/>
              <a:cxnLst/>
              <a:rect r="r" b="b" t="t" l="l"/>
              <a:pathLst>
                <a:path h="2243328" w="8412480">
                  <a:moveTo>
                    <a:pt x="0" y="0"/>
                  </a:moveTo>
                  <a:lnTo>
                    <a:pt x="8412480" y="0"/>
                  </a:lnTo>
                  <a:lnTo>
                    <a:pt x="8412480" y="2243328"/>
                  </a:lnTo>
                  <a:lnTo>
                    <a:pt x="0" y="2243328"/>
                  </a:lnTo>
                  <a:close/>
                </a:path>
              </a:pathLst>
            </a:custGeom>
            <a:solidFill>
              <a:srgbClr val="FFFFFF"/>
            </a:solidFill>
          </p:spPr>
        </p:sp>
        <p:sp>
          <p:nvSpPr>
            <p:cNvPr name="Freeform 138" id="138"/>
            <p:cNvSpPr/>
            <p:nvPr/>
          </p:nvSpPr>
          <p:spPr>
            <a:xfrm flipH="false" flipV="false" rot="0">
              <a:off x="0" y="0"/>
              <a:ext cx="8429499" cy="2260346"/>
            </a:xfrm>
            <a:custGeom>
              <a:avLst/>
              <a:gdLst/>
              <a:ahLst/>
              <a:cxnLst/>
              <a:rect r="r" b="b" t="t" l="l"/>
              <a:pathLst>
                <a:path h="2260346" w="8429499">
                  <a:moveTo>
                    <a:pt x="8509" y="0"/>
                  </a:moveTo>
                  <a:lnTo>
                    <a:pt x="8420989" y="0"/>
                  </a:lnTo>
                  <a:cubicBezTo>
                    <a:pt x="8425688" y="0"/>
                    <a:pt x="8429499" y="3810"/>
                    <a:pt x="8429499" y="8509"/>
                  </a:cubicBezTo>
                  <a:lnTo>
                    <a:pt x="8429499" y="2251837"/>
                  </a:lnTo>
                  <a:cubicBezTo>
                    <a:pt x="8429499" y="2256536"/>
                    <a:pt x="8425688" y="2260346"/>
                    <a:pt x="8420989" y="2260346"/>
                  </a:cubicBezTo>
                  <a:lnTo>
                    <a:pt x="8509" y="2260346"/>
                  </a:lnTo>
                  <a:cubicBezTo>
                    <a:pt x="3810" y="2260346"/>
                    <a:pt x="0" y="2256536"/>
                    <a:pt x="0" y="2251837"/>
                  </a:cubicBezTo>
                  <a:lnTo>
                    <a:pt x="0" y="8509"/>
                  </a:lnTo>
                  <a:cubicBezTo>
                    <a:pt x="0" y="3810"/>
                    <a:pt x="3810" y="0"/>
                    <a:pt x="8509" y="0"/>
                  </a:cubicBezTo>
                  <a:moveTo>
                    <a:pt x="8509" y="16891"/>
                  </a:moveTo>
                  <a:lnTo>
                    <a:pt x="8509" y="8509"/>
                  </a:lnTo>
                  <a:lnTo>
                    <a:pt x="17018" y="8509"/>
                  </a:lnTo>
                  <a:lnTo>
                    <a:pt x="17018" y="2251837"/>
                  </a:lnTo>
                  <a:lnTo>
                    <a:pt x="8509" y="2251837"/>
                  </a:lnTo>
                  <a:lnTo>
                    <a:pt x="8509" y="2243328"/>
                  </a:lnTo>
                  <a:lnTo>
                    <a:pt x="8420989" y="2243328"/>
                  </a:lnTo>
                  <a:lnTo>
                    <a:pt x="8420989" y="2251837"/>
                  </a:lnTo>
                  <a:lnTo>
                    <a:pt x="8412480" y="2251837"/>
                  </a:lnTo>
                  <a:lnTo>
                    <a:pt x="8412480" y="8509"/>
                  </a:lnTo>
                  <a:lnTo>
                    <a:pt x="8420989" y="8509"/>
                  </a:lnTo>
                  <a:lnTo>
                    <a:pt x="8420989" y="17018"/>
                  </a:lnTo>
                  <a:lnTo>
                    <a:pt x="8509" y="17018"/>
                  </a:lnTo>
                  <a:close/>
                </a:path>
              </a:pathLst>
            </a:custGeom>
            <a:solidFill>
              <a:srgbClr val="E2E8F0"/>
            </a:solidFill>
          </p:spPr>
        </p:sp>
      </p:grpSp>
      <p:grpSp>
        <p:nvGrpSpPr>
          <p:cNvPr name="Group 139" id="139"/>
          <p:cNvGrpSpPr/>
          <p:nvPr/>
        </p:nvGrpSpPr>
        <p:grpSpPr>
          <a:xfrm rot="0">
            <a:off x="11234423" y="8600951"/>
            <a:ext cx="17581883" cy="537467"/>
            <a:chOff x="0" y="0"/>
            <a:chExt cx="23442511" cy="716623"/>
          </a:xfrm>
        </p:grpSpPr>
        <p:sp>
          <p:nvSpPr>
            <p:cNvPr name="Freeform 140" id="140"/>
            <p:cNvSpPr/>
            <p:nvPr/>
          </p:nvSpPr>
          <p:spPr>
            <a:xfrm flipH="false" flipV="false" rot="0">
              <a:off x="16891" y="16891"/>
              <a:ext cx="23408639" cy="682752"/>
            </a:xfrm>
            <a:custGeom>
              <a:avLst/>
              <a:gdLst/>
              <a:ahLst/>
              <a:cxnLst/>
              <a:rect r="r" b="b" t="t" l="l"/>
              <a:pathLst>
                <a:path h="682752" w="23408639">
                  <a:moveTo>
                    <a:pt x="0" y="0"/>
                  </a:moveTo>
                  <a:lnTo>
                    <a:pt x="23408639" y="0"/>
                  </a:lnTo>
                  <a:lnTo>
                    <a:pt x="23408639" y="682752"/>
                  </a:lnTo>
                  <a:lnTo>
                    <a:pt x="0" y="682752"/>
                  </a:lnTo>
                  <a:close/>
                </a:path>
              </a:pathLst>
            </a:custGeom>
            <a:solidFill>
              <a:srgbClr val="E05B4B"/>
            </a:solidFill>
          </p:spPr>
        </p:sp>
        <p:sp>
          <p:nvSpPr>
            <p:cNvPr name="Freeform 141" id="141"/>
            <p:cNvSpPr/>
            <p:nvPr/>
          </p:nvSpPr>
          <p:spPr>
            <a:xfrm flipH="false" flipV="false" rot="0">
              <a:off x="0" y="0"/>
              <a:ext cx="23442422" cy="716536"/>
            </a:xfrm>
            <a:custGeom>
              <a:avLst/>
              <a:gdLst/>
              <a:ahLst/>
              <a:cxnLst/>
              <a:rect r="r" b="b" t="t" l="l"/>
              <a:pathLst>
                <a:path h="716536" w="23442422">
                  <a:moveTo>
                    <a:pt x="16891" y="0"/>
                  </a:moveTo>
                  <a:lnTo>
                    <a:pt x="23425530" y="0"/>
                  </a:lnTo>
                  <a:cubicBezTo>
                    <a:pt x="23434929" y="0"/>
                    <a:pt x="23442422" y="7620"/>
                    <a:pt x="23442422" y="16891"/>
                  </a:cubicBezTo>
                  <a:lnTo>
                    <a:pt x="23442422" y="699643"/>
                  </a:lnTo>
                  <a:cubicBezTo>
                    <a:pt x="23442422" y="709041"/>
                    <a:pt x="23434802" y="716534"/>
                    <a:pt x="23425530" y="716534"/>
                  </a:cubicBezTo>
                  <a:lnTo>
                    <a:pt x="16891" y="716534"/>
                  </a:lnTo>
                  <a:cubicBezTo>
                    <a:pt x="7620" y="716661"/>
                    <a:pt x="0" y="709041"/>
                    <a:pt x="0" y="699643"/>
                  </a:cubicBezTo>
                  <a:lnTo>
                    <a:pt x="0" y="16891"/>
                  </a:lnTo>
                  <a:cubicBezTo>
                    <a:pt x="0" y="7620"/>
                    <a:pt x="7620" y="0"/>
                    <a:pt x="16891" y="0"/>
                  </a:cubicBezTo>
                  <a:moveTo>
                    <a:pt x="16891" y="33909"/>
                  </a:moveTo>
                  <a:lnTo>
                    <a:pt x="16891" y="16891"/>
                  </a:lnTo>
                  <a:lnTo>
                    <a:pt x="33909" y="16891"/>
                  </a:lnTo>
                  <a:lnTo>
                    <a:pt x="33909" y="699643"/>
                  </a:lnTo>
                  <a:lnTo>
                    <a:pt x="16891" y="699643"/>
                  </a:lnTo>
                  <a:lnTo>
                    <a:pt x="16891" y="682752"/>
                  </a:lnTo>
                  <a:lnTo>
                    <a:pt x="23425530" y="682752"/>
                  </a:lnTo>
                  <a:lnTo>
                    <a:pt x="23425530" y="699643"/>
                  </a:lnTo>
                  <a:lnTo>
                    <a:pt x="23408639" y="699643"/>
                  </a:lnTo>
                  <a:lnTo>
                    <a:pt x="23408639" y="16891"/>
                  </a:lnTo>
                  <a:lnTo>
                    <a:pt x="23425530" y="16891"/>
                  </a:lnTo>
                  <a:lnTo>
                    <a:pt x="23425530" y="33909"/>
                  </a:lnTo>
                  <a:lnTo>
                    <a:pt x="16891" y="33909"/>
                  </a:lnTo>
                  <a:close/>
                </a:path>
              </a:pathLst>
            </a:custGeom>
            <a:solidFill>
              <a:srgbClr val="E05B4B"/>
            </a:solidFill>
          </p:spPr>
        </p:sp>
      </p:grpSp>
      <p:grpSp>
        <p:nvGrpSpPr>
          <p:cNvPr name="Group 142" id="142"/>
          <p:cNvGrpSpPr/>
          <p:nvPr/>
        </p:nvGrpSpPr>
        <p:grpSpPr>
          <a:xfrm rot="0">
            <a:off x="11234423" y="8600951"/>
            <a:ext cx="6334763" cy="537467"/>
            <a:chOff x="0" y="0"/>
            <a:chExt cx="8446351" cy="716623"/>
          </a:xfrm>
        </p:grpSpPr>
        <p:sp>
          <p:nvSpPr>
            <p:cNvPr name="Freeform 143" id="143"/>
            <p:cNvSpPr/>
            <p:nvPr/>
          </p:nvSpPr>
          <p:spPr>
            <a:xfrm flipH="false" flipV="false" rot="0">
              <a:off x="16891" y="16891"/>
              <a:ext cx="8412481" cy="682752"/>
            </a:xfrm>
            <a:custGeom>
              <a:avLst/>
              <a:gdLst/>
              <a:ahLst/>
              <a:cxnLst/>
              <a:rect r="r" b="b" t="t" l="l"/>
              <a:pathLst>
                <a:path h="682752" w="8412481">
                  <a:moveTo>
                    <a:pt x="0" y="0"/>
                  </a:moveTo>
                  <a:lnTo>
                    <a:pt x="8412481" y="0"/>
                  </a:lnTo>
                  <a:lnTo>
                    <a:pt x="8412481" y="682752"/>
                  </a:lnTo>
                  <a:lnTo>
                    <a:pt x="0" y="682752"/>
                  </a:lnTo>
                  <a:close/>
                </a:path>
              </a:pathLst>
            </a:custGeom>
            <a:solidFill>
              <a:srgbClr val="E05B4B"/>
            </a:solidFill>
          </p:spPr>
        </p:sp>
        <p:sp>
          <p:nvSpPr>
            <p:cNvPr name="Freeform 144" id="144"/>
            <p:cNvSpPr/>
            <p:nvPr/>
          </p:nvSpPr>
          <p:spPr>
            <a:xfrm flipH="false" flipV="false" rot="0">
              <a:off x="0" y="0"/>
              <a:ext cx="8446262" cy="716536"/>
            </a:xfrm>
            <a:custGeom>
              <a:avLst/>
              <a:gdLst/>
              <a:ahLst/>
              <a:cxnLst/>
              <a:rect r="r" b="b" t="t" l="l"/>
              <a:pathLst>
                <a:path h="716536" w="8446262">
                  <a:moveTo>
                    <a:pt x="16891" y="0"/>
                  </a:moveTo>
                  <a:lnTo>
                    <a:pt x="8429372" y="0"/>
                  </a:lnTo>
                  <a:cubicBezTo>
                    <a:pt x="8438769" y="0"/>
                    <a:pt x="8446262" y="7620"/>
                    <a:pt x="8446262" y="16891"/>
                  </a:cubicBezTo>
                  <a:lnTo>
                    <a:pt x="8446262" y="699643"/>
                  </a:lnTo>
                  <a:cubicBezTo>
                    <a:pt x="8446262" y="709041"/>
                    <a:pt x="8438642" y="716534"/>
                    <a:pt x="8429372" y="716534"/>
                  </a:cubicBezTo>
                  <a:lnTo>
                    <a:pt x="16891" y="716534"/>
                  </a:lnTo>
                  <a:cubicBezTo>
                    <a:pt x="7620" y="716661"/>
                    <a:pt x="0" y="709041"/>
                    <a:pt x="0" y="699643"/>
                  </a:cubicBezTo>
                  <a:lnTo>
                    <a:pt x="0" y="16891"/>
                  </a:lnTo>
                  <a:cubicBezTo>
                    <a:pt x="0" y="7620"/>
                    <a:pt x="7620" y="0"/>
                    <a:pt x="16891" y="0"/>
                  </a:cubicBezTo>
                  <a:moveTo>
                    <a:pt x="16891" y="33909"/>
                  </a:moveTo>
                  <a:lnTo>
                    <a:pt x="16891" y="16891"/>
                  </a:lnTo>
                  <a:lnTo>
                    <a:pt x="33909" y="16891"/>
                  </a:lnTo>
                  <a:lnTo>
                    <a:pt x="33909" y="699643"/>
                  </a:lnTo>
                  <a:lnTo>
                    <a:pt x="16891" y="699643"/>
                  </a:lnTo>
                  <a:lnTo>
                    <a:pt x="16891" y="682752"/>
                  </a:lnTo>
                  <a:lnTo>
                    <a:pt x="8429372" y="682752"/>
                  </a:lnTo>
                  <a:lnTo>
                    <a:pt x="8429372" y="699643"/>
                  </a:lnTo>
                  <a:lnTo>
                    <a:pt x="8412480" y="699643"/>
                  </a:lnTo>
                  <a:lnTo>
                    <a:pt x="8412480" y="16891"/>
                  </a:lnTo>
                  <a:lnTo>
                    <a:pt x="8429372" y="16891"/>
                  </a:lnTo>
                  <a:lnTo>
                    <a:pt x="8429372" y="33909"/>
                  </a:lnTo>
                  <a:lnTo>
                    <a:pt x="16891" y="33909"/>
                  </a:lnTo>
                  <a:close/>
                </a:path>
              </a:pathLst>
            </a:custGeom>
            <a:solidFill>
              <a:srgbClr val="E05B4B"/>
            </a:solidFill>
          </p:spPr>
        </p:sp>
      </p:grpSp>
      <p:grpSp>
        <p:nvGrpSpPr>
          <p:cNvPr name="Group 145" id="145"/>
          <p:cNvGrpSpPr/>
          <p:nvPr/>
        </p:nvGrpSpPr>
        <p:grpSpPr>
          <a:xfrm rot="0">
            <a:off x="11430000" y="8631936"/>
            <a:ext cx="6035040" cy="475488"/>
            <a:chOff x="0" y="0"/>
            <a:chExt cx="8046720" cy="633984"/>
          </a:xfrm>
        </p:grpSpPr>
        <p:sp>
          <p:nvSpPr>
            <p:cNvPr name="Freeform 146" id="146"/>
            <p:cNvSpPr/>
            <p:nvPr/>
          </p:nvSpPr>
          <p:spPr>
            <a:xfrm flipH="false" flipV="false" rot="0">
              <a:off x="0" y="0"/>
              <a:ext cx="8046720" cy="633984"/>
            </a:xfrm>
            <a:custGeom>
              <a:avLst/>
              <a:gdLst/>
              <a:ahLst/>
              <a:cxnLst/>
              <a:rect r="r" b="b" t="t" l="l"/>
              <a:pathLst>
                <a:path h="633984" w="8046720">
                  <a:moveTo>
                    <a:pt x="0" y="0"/>
                  </a:moveTo>
                  <a:lnTo>
                    <a:pt x="8046720" y="0"/>
                  </a:lnTo>
                  <a:lnTo>
                    <a:pt x="8046720" y="633984"/>
                  </a:lnTo>
                  <a:lnTo>
                    <a:pt x="0" y="633984"/>
                  </a:lnTo>
                  <a:close/>
                </a:path>
              </a:pathLst>
            </a:custGeom>
            <a:blipFill>
              <a:blip r:embed="rId3">
                <a:alphaModFix amt="0"/>
              </a:blip>
              <a:stretch>
                <a:fillRect l="0" t="-197310" r="0" b="-197310"/>
              </a:stretch>
            </a:blipFill>
          </p:spPr>
        </p:sp>
        <p:sp>
          <p:nvSpPr>
            <p:cNvPr name="TextBox 147" id="147"/>
            <p:cNvSpPr txBox="true"/>
            <p:nvPr/>
          </p:nvSpPr>
          <p:spPr>
            <a:xfrm>
              <a:off x="0" y="-38100"/>
              <a:ext cx="8046720" cy="672084"/>
            </a:xfrm>
            <a:prstGeom prst="rect">
              <a:avLst/>
            </a:prstGeom>
          </p:spPr>
          <p:txBody>
            <a:bodyPr anchor="ctr" rtlCol="false" tIns="0" lIns="0" bIns="0" rIns="0"/>
            <a:lstStyle/>
            <a:p>
              <a:pPr algn="l">
                <a:lnSpc>
                  <a:spcPts val="2160"/>
                </a:lnSpc>
              </a:pPr>
              <a:r>
                <a:rPr lang="en-US" sz="1800" b="true">
                  <a:solidFill>
                    <a:srgbClr val="FFFFFF"/>
                  </a:solidFill>
                  <a:latin typeface="Calibri (MS) Bold"/>
                  <a:ea typeface="Calibri (MS) Bold"/>
                  <a:cs typeface="Calibri (MS) Bold"/>
                  <a:sym typeface="Calibri (MS) Bold"/>
                </a:rPr>
                <a:t>CIDEr  (Consensus-based Image Description Evaluation)</a:t>
              </a:r>
            </a:p>
          </p:txBody>
        </p:sp>
      </p:grpSp>
      <p:grpSp>
        <p:nvGrpSpPr>
          <p:cNvPr name="Group 148" id="148"/>
          <p:cNvGrpSpPr/>
          <p:nvPr/>
        </p:nvGrpSpPr>
        <p:grpSpPr>
          <a:xfrm rot="0">
            <a:off x="11430000" y="9162288"/>
            <a:ext cx="6035040" cy="1060704"/>
            <a:chOff x="0" y="0"/>
            <a:chExt cx="8046720" cy="1414272"/>
          </a:xfrm>
        </p:grpSpPr>
        <p:sp>
          <p:nvSpPr>
            <p:cNvPr name="Freeform 149" id="149"/>
            <p:cNvSpPr/>
            <p:nvPr/>
          </p:nvSpPr>
          <p:spPr>
            <a:xfrm flipH="false" flipV="false" rot="0">
              <a:off x="0" y="0"/>
              <a:ext cx="8046720" cy="1414272"/>
            </a:xfrm>
            <a:custGeom>
              <a:avLst/>
              <a:gdLst/>
              <a:ahLst/>
              <a:cxnLst/>
              <a:rect r="r" b="b" t="t" l="l"/>
              <a:pathLst>
                <a:path h="1414272" w="8046720">
                  <a:moveTo>
                    <a:pt x="0" y="0"/>
                  </a:moveTo>
                  <a:lnTo>
                    <a:pt x="8046720" y="0"/>
                  </a:lnTo>
                  <a:lnTo>
                    <a:pt x="8046720" y="1414272"/>
                  </a:lnTo>
                  <a:lnTo>
                    <a:pt x="0" y="1414272"/>
                  </a:lnTo>
                  <a:close/>
                </a:path>
              </a:pathLst>
            </a:custGeom>
            <a:blipFill>
              <a:blip r:embed="rId3">
                <a:alphaModFix amt="0"/>
              </a:blip>
              <a:stretch>
                <a:fillRect l="0" t="-60863" r="0" b="-60863"/>
              </a:stretch>
            </a:blipFill>
          </p:spPr>
        </p:sp>
        <p:sp>
          <p:nvSpPr>
            <p:cNvPr name="TextBox 150" id="150"/>
            <p:cNvSpPr txBox="true"/>
            <p:nvPr/>
          </p:nvSpPr>
          <p:spPr>
            <a:xfrm>
              <a:off x="0" y="-38100"/>
              <a:ext cx="8046720" cy="1452372"/>
            </a:xfrm>
            <a:prstGeom prst="rect">
              <a:avLst/>
            </a:prstGeom>
          </p:spPr>
          <p:txBody>
            <a:bodyPr anchor="ctr" rtlCol="false" tIns="0" lIns="0" bIns="0" rIns="0"/>
            <a:lstStyle/>
            <a:p>
              <a:pPr algn="l">
                <a:lnSpc>
                  <a:spcPts val="2160"/>
                </a:lnSpc>
              </a:pPr>
              <a:r>
                <a:rPr lang="en-US" sz="1800">
                  <a:solidFill>
                    <a:srgbClr val="1E293B"/>
                  </a:solidFill>
                  <a:latin typeface="Calibri (MS)"/>
                  <a:ea typeface="Calibri (MS)"/>
                  <a:cs typeface="Calibri (MS)"/>
                  <a:sym typeface="Calibri (MS)"/>
                </a:rPr>
                <a:t>Designed specifically for image captioning. Uses TF-IDF weighting so visually distinctive words count more. Most informative single metric for RSIC.</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718823" y="316487"/>
            <a:ext cx="2951483" cy="574043"/>
            <a:chOff x="0" y="0"/>
            <a:chExt cx="3935311" cy="765391"/>
          </a:xfrm>
        </p:grpSpPr>
        <p:sp>
          <p:nvSpPr>
            <p:cNvPr name="Freeform 3" id="3"/>
            <p:cNvSpPr/>
            <p:nvPr/>
          </p:nvSpPr>
          <p:spPr>
            <a:xfrm flipH="false" flipV="false" rot="0">
              <a:off x="16891" y="16891"/>
              <a:ext cx="3901440" cy="731520"/>
            </a:xfrm>
            <a:custGeom>
              <a:avLst/>
              <a:gdLst/>
              <a:ahLst/>
              <a:cxnLst/>
              <a:rect r="r" b="b" t="t" l="l"/>
              <a:pathLst>
                <a:path h="731520" w="3901440">
                  <a:moveTo>
                    <a:pt x="0" y="0"/>
                  </a:moveTo>
                  <a:lnTo>
                    <a:pt x="3901440" y="0"/>
                  </a:lnTo>
                  <a:lnTo>
                    <a:pt x="3901440" y="731520"/>
                  </a:lnTo>
                  <a:lnTo>
                    <a:pt x="0" y="731520"/>
                  </a:lnTo>
                  <a:close/>
                </a:path>
              </a:pathLst>
            </a:custGeom>
            <a:solidFill>
              <a:srgbClr val="0D1B3E"/>
            </a:solidFill>
          </p:spPr>
        </p:sp>
        <p:sp>
          <p:nvSpPr>
            <p:cNvPr name="Freeform 4" id="4"/>
            <p:cNvSpPr/>
            <p:nvPr/>
          </p:nvSpPr>
          <p:spPr>
            <a:xfrm flipH="false" flipV="false" rot="0">
              <a:off x="0" y="0"/>
              <a:ext cx="3935222" cy="765304"/>
            </a:xfrm>
            <a:custGeom>
              <a:avLst/>
              <a:gdLst/>
              <a:ahLst/>
              <a:cxnLst/>
              <a:rect r="r" b="b" t="t" l="l"/>
              <a:pathLst>
                <a:path h="765304" w="3935222">
                  <a:moveTo>
                    <a:pt x="16891" y="0"/>
                  </a:moveTo>
                  <a:lnTo>
                    <a:pt x="3918331" y="0"/>
                  </a:lnTo>
                  <a:cubicBezTo>
                    <a:pt x="3927729" y="0"/>
                    <a:pt x="3935222" y="7620"/>
                    <a:pt x="3935222" y="16891"/>
                  </a:cubicBezTo>
                  <a:lnTo>
                    <a:pt x="3935222" y="748411"/>
                  </a:lnTo>
                  <a:cubicBezTo>
                    <a:pt x="3935222" y="757809"/>
                    <a:pt x="3927602" y="765302"/>
                    <a:pt x="3918331" y="765302"/>
                  </a:cubicBezTo>
                  <a:lnTo>
                    <a:pt x="16891" y="765302"/>
                  </a:lnTo>
                  <a:cubicBezTo>
                    <a:pt x="7620" y="765429"/>
                    <a:pt x="0" y="757809"/>
                    <a:pt x="0" y="748411"/>
                  </a:cubicBezTo>
                  <a:lnTo>
                    <a:pt x="0" y="16891"/>
                  </a:lnTo>
                  <a:cubicBezTo>
                    <a:pt x="0" y="7620"/>
                    <a:pt x="7620" y="0"/>
                    <a:pt x="16891" y="0"/>
                  </a:cubicBezTo>
                  <a:moveTo>
                    <a:pt x="16891" y="33909"/>
                  </a:moveTo>
                  <a:lnTo>
                    <a:pt x="16891" y="16891"/>
                  </a:lnTo>
                  <a:lnTo>
                    <a:pt x="33909" y="16891"/>
                  </a:lnTo>
                  <a:lnTo>
                    <a:pt x="33909" y="748411"/>
                  </a:lnTo>
                  <a:lnTo>
                    <a:pt x="16891" y="748411"/>
                  </a:lnTo>
                  <a:lnTo>
                    <a:pt x="16891" y="731520"/>
                  </a:lnTo>
                  <a:lnTo>
                    <a:pt x="3918331" y="731520"/>
                  </a:lnTo>
                  <a:lnTo>
                    <a:pt x="3918331" y="748411"/>
                  </a:lnTo>
                  <a:lnTo>
                    <a:pt x="3901440" y="748411"/>
                  </a:lnTo>
                  <a:lnTo>
                    <a:pt x="3901440" y="16891"/>
                  </a:lnTo>
                  <a:lnTo>
                    <a:pt x="3918331" y="16891"/>
                  </a:lnTo>
                  <a:lnTo>
                    <a:pt x="3918331" y="33909"/>
                  </a:lnTo>
                  <a:lnTo>
                    <a:pt x="16891" y="33909"/>
                  </a:lnTo>
                  <a:close/>
                </a:path>
              </a:pathLst>
            </a:custGeom>
            <a:solidFill>
              <a:srgbClr val="0D1B3E"/>
            </a:solidFill>
          </p:spPr>
        </p:sp>
      </p:grpSp>
      <p:grpSp>
        <p:nvGrpSpPr>
          <p:cNvPr name="Group 5" id="5"/>
          <p:cNvGrpSpPr/>
          <p:nvPr/>
        </p:nvGrpSpPr>
        <p:grpSpPr>
          <a:xfrm rot="0">
            <a:off x="731520" y="329184"/>
            <a:ext cx="2926080" cy="548640"/>
            <a:chOff x="0" y="0"/>
            <a:chExt cx="3901440" cy="731520"/>
          </a:xfrm>
        </p:grpSpPr>
        <p:sp>
          <p:nvSpPr>
            <p:cNvPr name="Freeform 6" id="6"/>
            <p:cNvSpPr/>
            <p:nvPr/>
          </p:nvSpPr>
          <p:spPr>
            <a:xfrm flipH="false" flipV="false" rot="0">
              <a:off x="0" y="0"/>
              <a:ext cx="3901440" cy="731520"/>
            </a:xfrm>
            <a:custGeom>
              <a:avLst/>
              <a:gdLst/>
              <a:ahLst/>
              <a:cxnLst/>
              <a:rect r="r" b="b" t="t" l="l"/>
              <a:pathLst>
                <a:path h="731520" w="3901440">
                  <a:moveTo>
                    <a:pt x="0" y="0"/>
                  </a:moveTo>
                  <a:lnTo>
                    <a:pt x="3901440" y="0"/>
                  </a:lnTo>
                  <a:lnTo>
                    <a:pt x="3901440" y="731520"/>
                  </a:lnTo>
                  <a:lnTo>
                    <a:pt x="0" y="731520"/>
                  </a:lnTo>
                  <a:close/>
                </a:path>
              </a:pathLst>
            </a:custGeom>
            <a:blipFill>
              <a:blip r:embed="rId3">
                <a:alphaModFix amt="0"/>
              </a:blip>
              <a:stretch>
                <a:fillRect l="0" t="-53920" r="0" b="-53920"/>
              </a:stretch>
            </a:blipFill>
          </p:spPr>
        </p:sp>
        <p:sp>
          <p:nvSpPr>
            <p:cNvPr name="TextBox 7" id="7"/>
            <p:cNvSpPr txBox="true"/>
            <p:nvPr/>
          </p:nvSpPr>
          <p:spPr>
            <a:xfrm>
              <a:off x="0" y="-38100"/>
              <a:ext cx="3901440" cy="76962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08 · RESULTS</a:t>
              </a:r>
            </a:p>
          </p:txBody>
        </p:sp>
      </p:grpSp>
      <p:grpSp>
        <p:nvGrpSpPr>
          <p:cNvPr name="Group 8" id="8"/>
          <p:cNvGrpSpPr/>
          <p:nvPr/>
        </p:nvGrpSpPr>
        <p:grpSpPr>
          <a:xfrm rot="0">
            <a:off x="914400" y="1005840"/>
            <a:ext cx="16459200" cy="1188720"/>
            <a:chOff x="0" y="0"/>
            <a:chExt cx="21945600" cy="1584960"/>
          </a:xfrm>
        </p:grpSpPr>
        <p:sp>
          <p:nvSpPr>
            <p:cNvPr name="Freeform 9" id="9"/>
            <p:cNvSpPr/>
            <p:nvPr/>
          </p:nvSpPr>
          <p:spPr>
            <a:xfrm flipH="false" flipV="false" rot="0">
              <a:off x="0" y="0"/>
              <a:ext cx="21945600" cy="1584960"/>
            </a:xfrm>
            <a:custGeom>
              <a:avLst/>
              <a:gdLst/>
              <a:ahLst/>
              <a:cxnLst/>
              <a:rect r="r" b="b" t="t" l="l"/>
              <a:pathLst>
                <a:path h="1584960" w="21945600">
                  <a:moveTo>
                    <a:pt x="0" y="0"/>
                  </a:moveTo>
                  <a:lnTo>
                    <a:pt x="21945600" y="0"/>
                  </a:lnTo>
                  <a:lnTo>
                    <a:pt x="21945600" y="1584960"/>
                  </a:lnTo>
                  <a:lnTo>
                    <a:pt x="0" y="1584960"/>
                  </a:lnTo>
                  <a:close/>
                </a:path>
              </a:pathLst>
            </a:custGeom>
            <a:blipFill>
              <a:blip r:embed="rId3">
                <a:alphaModFix amt="0"/>
              </a:blip>
              <a:stretch>
                <a:fillRect l="0" t="-219792" r="0" b="-219792"/>
              </a:stretch>
            </a:blipFill>
          </p:spPr>
        </p:sp>
        <p:sp>
          <p:nvSpPr>
            <p:cNvPr name="TextBox 10" id="10"/>
            <p:cNvSpPr txBox="true"/>
            <p:nvPr/>
          </p:nvSpPr>
          <p:spPr>
            <a:xfrm>
              <a:off x="0" y="-104775"/>
              <a:ext cx="21945600" cy="1689735"/>
            </a:xfrm>
            <a:prstGeom prst="rect">
              <a:avLst/>
            </a:prstGeom>
          </p:spPr>
          <p:txBody>
            <a:bodyPr anchor="ctr" rtlCol="false" tIns="0" lIns="0" bIns="0" rIns="0"/>
            <a:lstStyle/>
            <a:p>
              <a:pPr algn="l">
                <a:lnSpc>
                  <a:spcPts val="6240"/>
                </a:lnSpc>
              </a:pPr>
              <a:r>
                <a:rPr lang="en-US" sz="5200" b="true">
                  <a:solidFill>
                    <a:srgbClr val="1E293B"/>
                  </a:solidFill>
                  <a:latin typeface="Calibri (MS) Bold"/>
                  <a:ea typeface="Calibri (MS) Bold"/>
                  <a:cs typeface="Calibri (MS) Bold"/>
                  <a:sym typeface="Calibri (MS) Bold"/>
                </a:rPr>
                <a:t>Quantitative Results vs State-of-the-Art</a:t>
              </a:r>
            </a:p>
          </p:txBody>
        </p:sp>
      </p:grpSp>
      <p:grpSp>
        <p:nvGrpSpPr>
          <p:cNvPr name="Group 11" id="11"/>
          <p:cNvGrpSpPr/>
          <p:nvPr/>
        </p:nvGrpSpPr>
        <p:grpSpPr>
          <a:xfrm rot="0">
            <a:off x="725167" y="2279647"/>
            <a:ext cx="16837657" cy="12697"/>
            <a:chOff x="0" y="0"/>
            <a:chExt cx="22450209" cy="16929"/>
          </a:xfrm>
        </p:grpSpPr>
        <p:sp>
          <p:nvSpPr>
            <p:cNvPr name="Freeform 12" id="12"/>
            <p:cNvSpPr/>
            <p:nvPr/>
          </p:nvSpPr>
          <p:spPr>
            <a:xfrm flipH="false" flipV="false" rot="0">
              <a:off x="8509" y="0"/>
              <a:ext cx="22433281" cy="16891"/>
            </a:xfrm>
            <a:custGeom>
              <a:avLst/>
              <a:gdLst/>
              <a:ahLst/>
              <a:cxnLst/>
              <a:rect r="r" b="b" t="t" l="l"/>
              <a:pathLst>
                <a:path h="16891" w="22433281">
                  <a:moveTo>
                    <a:pt x="0" y="0"/>
                  </a:moveTo>
                  <a:lnTo>
                    <a:pt x="22433281" y="0"/>
                  </a:lnTo>
                  <a:lnTo>
                    <a:pt x="22433281" y="16891"/>
                  </a:lnTo>
                  <a:lnTo>
                    <a:pt x="0" y="16891"/>
                  </a:lnTo>
                  <a:close/>
                </a:path>
              </a:pathLst>
            </a:custGeom>
            <a:solidFill>
              <a:srgbClr val="E2E8F0"/>
            </a:solidFill>
          </p:spPr>
        </p:sp>
      </p:grpSp>
      <p:grpSp>
        <p:nvGrpSpPr>
          <p:cNvPr name="Group 13" id="13"/>
          <p:cNvGrpSpPr/>
          <p:nvPr/>
        </p:nvGrpSpPr>
        <p:grpSpPr>
          <a:xfrm rot="0">
            <a:off x="731520" y="2414016"/>
            <a:ext cx="10972800" cy="512064"/>
            <a:chOff x="0" y="0"/>
            <a:chExt cx="14630400" cy="682752"/>
          </a:xfrm>
        </p:grpSpPr>
        <p:sp>
          <p:nvSpPr>
            <p:cNvPr name="Freeform 14" id="14"/>
            <p:cNvSpPr/>
            <p:nvPr/>
          </p:nvSpPr>
          <p:spPr>
            <a:xfrm flipH="false" flipV="false" rot="0">
              <a:off x="0" y="0"/>
              <a:ext cx="14630400" cy="682752"/>
            </a:xfrm>
            <a:custGeom>
              <a:avLst/>
              <a:gdLst/>
              <a:ahLst/>
              <a:cxnLst/>
              <a:rect r="r" b="b" t="t" l="l"/>
              <a:pathLst>
                <a:path h="682752" w="14630400">
                  <a:moveTo>
                    <a:pt x="0" y="0"/>
                  </a:moveTo>
                  <a:lnTo>
                    <a:pt x="14630400" y="0"/>
                  </a:lnTo>
                  <a:lnTo>
                    <a:pt x="14630400" y="682752"/>
                  </a:lnTo>
                  <a:lnTo>
                    <a:pt x="0" y="682752"/>
                  </a:lnTo>
                  <a:close/>
                </a:path>
              </a:pathLst>
            </a:custGeom>
            <a:blipFill>
              <a:blip r:embed="rId3">
                <a:alphaModFix amt="0"/>
              </a:blip>
              <a:stretch>
                <a:fillRect l="0" t="-367536" r="0" b="-367536"/>
              </a:stretch>
            </a:blipFill>
          </p:spPr>
        </p:sp>
        <p:sp>
          <p:nvSpPr>
            <p:cNvPr name="TextBox 15" id="15"/>
            <p:cNvSpPr txBox="true"/>
            <p:nvPr/>
          </p:nvSpPr>
          <p:spPr>
            <a:xfrm>
              <a:off x="0" y="-38100"/>
              <a:ext cx="14630400" cy="720852"/>
            </a:xfrm>
            <a:prstGeom prst="rect">
              <a:avLst/>
            </a:prstGeom>
          </p:spPr>
          <p:txBody>
            <a:bodyPr anchor="ctr" rtlCol="false" tIns="0" lIns="0" bIns="0" rIns="0"/>
            <a:lstStyle/>
            <a:p>
              <a:pPr algn="l">
                <a:lnSpc>
                  <a:spcPts val="2879"/>
                </a:lnSpc>
              </a:pPr>
              <a:r>
                <a:rPr lang="en-US" sz="2400" b="true">
                  <a:solidFill>
                    <a:srgbClr val="0D9488"/>
                  </a:solidFill>
                  <a:latin typeface="Calibri (MS) Bold"/>
                  <a:ea typeface="Calibri (MS) Bold"/>
                  <a:cs typeface="Calibri (MS) Bold"/>
                  <a:sym typeface="Calibri (MS) Bold"/>
                </a:rPr>
                <a:t>RSICD Dataset</a:t>
              </a:r>
            </a:p>
          </p:txBody>
        </p:sp>
      </p:grpSp>
      <p:graphicFrame>
        <p:nvGraphicFramePr>
          <p:cNvPr name="Table 16" id="16"/>
          <p:cNvGraphicFramePr>
            <a:graphicFrameLocks noGrp="true"/>
          </p:cNvGraphicFramePr>
          <p:nvPr/>
        </p:nvGraphicFramePr>
        <p:xfrm>
          <a:off x="731520" y="2962656"/>
          <a:ext cx="10972800" cy="4470400"/>
        </p:xfrm>
        <a:graphic>
          <a:graphicData uri="http://schemas.openxmlformats.org/drawingml/2006/table">
            <a:tbl>
              <a:tblPr/>
              <a:tblGrid>
                <a:gridCol w="1828800"/>
                <a:gridCol w="1828800"/>
                <a:gridCol w="1828800"/>
                <a:gridCol w="1828800"/>
                <a:gridCol w="1828800"/>
                <a:gridCol w="1828800"/>
              </a:tblGrid>
              <a:tr h="558800">
                <a:tc>
                  <a:txBody>
                    <a:bodyPr anchor="t" rtlCol="false"/>
                    <a:lstStyle/>
                    <a:p>
                      <a:pPr algn="l">
                        <a:lnSpc>
                          <a:spcPts val="2160"/>
                        </a:lnSpc>
                        <a:defRPr/>
                      </a:pPr>
                      <a:r>
                        <a:rPr lang="en-US" sz="1800" b="true">
                          <a:solidFill>
                            <a:srgbClr val="FFFFFF"/>
                          </a:solidFill>
                          <a:latin typeface="Calibri (MS) Bold"/>
                          <a:ea typeface="Calibri (MS) Bold"/>
                          <a:cs typeface="Calibri (MS) Bold"/>
                          <a:sym typeface="Calibri (MS) Bold"/>
                        </a:rPr>
                        <a:t>Method</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0D1B3E"/>
                    </a:solidFill>
                  </a:tcPr>
                </a:tc>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BLEU-1</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0D1B3E"/>
                    </a:solidFill>
                  </a:tcPr>
                </a:tc>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BLEU-4</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0D1B3E"/>
                    </a:solidFill>
                  </a:tcPr>
                </a:tc>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METEOR</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0D1B3E"/>
                    </a:solidFill>
                  </a:tcPr>
                </a:tc>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ROUGE-L</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0D1B3E"/>
                    </a:solidFill>
                  </a:tcPr>
                </a:tc>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CIDEr</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0D1B3E"/>
                    </a:solidFill>
                  </a:tcPr>
                </a:tc>
              </a:tr>
              <a:tr h="558800">
                <a:tc>
                  <a:txBody>
                    <a:bodyPr anchor="t" rtlCol="false"/>
                    <a:lstStyle/>
                    <a:p>
                      <a:pPr algn="l">
                        <a:lnSpc>
                          <a:spcPts val="2160"/>
                        </a:lnSpc>
                        <a:defRPr/>
                      </a:pPr>
                      <a:r>
                        <a:rPr lang="en-US" sz="1800">
                          <a:solidFill>
                            <a:srgbClr val="1E293B"/>
                          </a:solidFill>
                          <a:latin typeface="Calibri (MS)"/>
                          <a:ea typeface="Calibri (MS)"/>
                          <a:cs typeface="Calibri (MS)"/>
                          <a:sym typeface="Calibri (MS)"/>
                        </a:rPr>
                        <a:t>SAT</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FFFFFF"/>
                    </a:solidFill>
                  </a:tcPr>
                </a:tc>
                <a:tc>
                  <a:txBody>
                    <a:bodyPr anchor="t" rtlCol="false"/>
                    <a:lstStyle/>
                    <a:p>
                      <a:pPr algn="ctr">
                        <a:lnSpc>
                          <a:spcPts val="2160"/>
                        </a:lnSpc>
                        <a:defRPr/>
                      </a:pPr>
                      <a:r>
                        <a:rPr lang="en-US" sz="1800">
                          <a:solidFill>
                            <a:srgbClr val="1E293B"/>
                          </a:solidFill>
                          <a:latin typeface="Calibri (MS)"/>
                          <a:ea typeface="Calibri (MS)"/>
                          <a:cs typeface="Calibri (MS)"/>
                          <a:sym typeface="Calibri (MS)"/>
                        </a:rPr>
                        <a:t>73.36</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FFFFFF"/>
                    </a:solidFill>
                  </a:tcPr>
                </a:tc>
                <a:tc>
                  <a:txBody>
                    <a:bodyPr anchor="t" rtlCol="false"/>
                    <a:lstStyle/>
                    <a:p>
                      <a:pPr algn="ctr">
                        <a:lnSpc>
                          <a:spcPts val="2160"/>
                        </a:lnSpc>
                        <a:defRPr/>
                      </a:pPr>
                      <a:r>
                        <a:rPr lang="en-US" sz="1800">
                          <a:solidFill>
                            <a:srgbClr val="1E293B"/>
                          </a:solidFill>
                          <a:latin typeface="Calibri (MS)"/>
                          <a:ea typeface="Calibri (MS)"/>
                          <a:cs typeface="Calibri (MS)"/>
                          <a:sym typeface="Calibri (MS)"/>
                        </a:rPr>
                        <a:t>44.02</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FFFFFF"/>
                    </a:solidFill>
                  </a:tcPr>
                </a:tc>
                <a:tc>
                  <a:txBody>
                    <a:bodyPr anchor="t" rtlCol="false"/>
                    <a:lstStyle/>
                    <a:p>
                      <a:pPr algn="ctr">
                        <a:lnSpc>
                          <a:spcPts val="2160"/>
                        </a:lnSpc>
                        <a:defRPr/>
                      </a:pPr>
                      <a:r>
                        <a:rPr lang="en-US" sz="1800">
                          <a:solidFill>
                            <a:srgbClr val="1E293B"/>
                          </a:solidFill>
                          <a:latin typeface="Calibri (MS)"/>
                          <a:ea typeface="Calibri (MS)"/>
                          <a:cs typeface="Calibri (MS)"/>
                          <a:sym typeface="Calibri (MS)"/>
                        </a:rPr>
                        <a:t>35.49</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FFFFFF"/>
                    </a:solidFill>
                  </a:tcPr>
                </a:tc>
                <a:tc>
                  <a:txBody>
                    <a:bodyPr anchor="t" rtlCol="false"/>
                    <a:lstStyle/>
                    <a:p>
                      <a:pPr algn="ctr">
                        <a:lnSpc>
                          <a:spcPts val="2160"/>
                        </a:lnSpc>
                        <a:defRPr/>
                      </a:pPr>
                      <a:r>
                        <a:rPr lang="en-US" sz="1800">
                          <a:solidFill>
                            <a:srgbClr val="1E293B"/>
                          </a:solidFill>
                          <a:latin typeface="Calibri (MS)"/>
                          <a:ea typeface="Calibri (MS)"/>
                          <a:cs typeface="Calibri (MS)"/>
                          <a:sym typeface="Calibri (MS)"/>
                        </a:rPr>
                        <a:t>64.19</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FFFFFF"/>
                    </a:solidFill>
                  </a:tcPr>
                </a:tc>
                <a:tc>
                  <a:txBody>
                    <a:bodyPr anchor="t" rtlCol="false"/>
                    <a:lstStyle/>
                    <a:p>
                      <a:pPr algn="ctr">
                        <a:lnSpc>
                          <a:spcPts val="2160"/>
                        </a:lnSpc>
                        <a:defRPr/>
                      </a:pPr>
                      <a:r>
                        <a:rPr lang="en-US" sz="1800">
                          <a:solidFill>
                            <a:srgbClr val="1E293B"/>
                          </a:solidFill>
                          <a:latin typeface="Calibri (MS)"/>
                          <a:ea typeface="Calibri (MS)"/>
                          <a:cs typeface="Calibri (MS)"/>
                          <a:sym typeface="Calibri (MS)"/>
                        </a:rPr>
                        <a:t>224.86</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FFFFFF"/>
                    </a:solidFill>
                  </a:tcPr>
                </a:tc>
              </a:tr>
              <a:tr h="558800">
                <a:tc>
                  <a:txBody>
                    <a:bodyPr anchor="t" rtlCol="false"/>
                    <a:lstStyle/>
                    <a:p>
                      <a:pPr algn="l">
                        <a:lnSpc>
                          <a:spcPts val="2160"/>
                        </a:lnSpc>
                        <a:defRPr/>
                      </a:pPr>
                      <a:r>
                        <a:rPr lang="en-US" sz="1800">
                          <a:solidFill>
                            <a:srgbClr val="1E293B"/>
                          </a:solidFill>
                          <a:latin typeface="Calibri (MS)"/>
                          <a:ea typeface="Calibri (MS)"/>
                          <a:cs typeface="Calibri (MS)"/>
                          <a:sym typeface="Calibri (MS)"/>
                        </a:rPr>
                        <a:t>Up-Down</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F5F7FA"/>
                    </a:solidFill>
                  </a:tcPr>
                </a:tc>
                <a:tc>
                  <a:txBody>
                    <a:bodyPr anchor="t" rtlCol="false"/>
                    <a:lstStyle/>
                    <a:p>
                      <a:pPr algn="ctr">
                        <a:lnSpc>
                          <a:spcPts val="2160"/>
                        </a:lnSpc>
                        <a:defRPr/>
                      </a:pPr>
                      <a:r>
                        <a:rPr lang="en-US" sz="1800">
                          <a:solidFill>
                            <a:srgbClr val="1E293B"/>
                          </a:solidFill>
                          <a:latin typeface="Calibri (MS)"/>
                          <a:ea typeface="Calibri (MS)"/>
                          <a:cs typeface="Calibri (MS)"/>
                          <a:sym typeface="Calibri (MS)"/>
                        </a:rPr>
                        <a:t>76.79</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F5F7FA"/>
                    </a:solidFill>
                  </a:tcPr>
                </a:tc>
                <a:tc>
                  <a:txBody>
                    <a:bodyPr anchor="t" rtlCol="false"/>
                    <a:lstStyle/>
                    <a:p>
                      <a:pPr algn="ctr">
                        <a:lnSpc>
                          <a:spcPts val="2160"/>
                        </a:lnSpc>
                        <a:defRPr/>
                      </a:pPr>
                      <a:r>
                        <a:rPr lang="en-US" sz="1800">
                          <a:solidFill>
                            <a:srgbClr val="1E293B"/>
                          </a:solidFill>
                          <a:latin typeface="Calibri (MS)"/>
                          <a:ea typeface="Calibri (MS)"/>
                          <a:cs typeface="Calibri (MS)"/>
                          <a:sym typeface="Calibri (MS)"/>
                        </a:rPr>
                        <a:t>49.62</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F5F7FA"/>
                    </a:solidFill>
                  </a:tcPr>
                </a:tc>
                <a:tc>
                  <a:txBody>
                    <a:bodyPr anchor="t" rtlCol="false"/>
                    <a:lstStyle/>
                    <a:p>
                      <a:pPr algn="ctr">
                        <a:lnSpc>
                          <a:spcPts val="2160"/>
                        </a:lnSpc>
                        <a:defRPr/>
                      </a:pPr>
                      <a:r>
                        <a:rPr lang="en-US" sz="1800">
                          <a:solidFill>
                            <a:srgbClr val="1E293B"/>
                          </a:solidFill>
                          <a:latin typeface="Calibri (MS)"/>
                          <a:ea typeface="Calibri (MS)"/>
                          <a:cs typeface="Calibri (MS)"/>
                          <a:sym typeface="Calibri (MS)"/>
                        </a:rPr>
                        <a:t>35.34</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F5F7FA"/>
                    </a:solidFill>
                  </a:tcPr>
                </a:tc>
                <a:tc>
                  <a:txBody>
                    <a:bodyPr anchor="t" rtlCol="false"/>
                    <a:lstStyle/>
                    <a:p>
                      <a:pPr algn="ctr">
                        <a:lnSpc>
                          <a:spcPts val="2160"/>
                        </a:lnSpc>
                        <a:defRPr/>
                      </a:pPr>
                      <a:r>
                        <a:rPr lang="en-US" sz="1800">
                          <a:solidFill>
                            <a:srgbClr val="1E293B"/>
                          </a:solidFill>
                          <a:latin typeface="Calibri (MS)"/>
                          <a:ea typeface="Calibri (MS)"/>
                          <a:cs typeface="Calibri (MS)"/>
                          <a:sym typeface="Calibri (MS)"/>
                        </a:rPr>
                        <a:t>65.90</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F5F7FA"/>
                    </a:solidFill>
                  </a:tcPr>
                </a:tc>
                <a:tc>
                  <a:txBody>
                    <a:bodyPr anchor="t" rtlCol="false"/>
                    <a:lstStyle/>
                    <a:p>
                      <a:pPr algn="ctr">
                        <a:lnSpc>
                          <a:spcPts val="2160"/>
                        </a:lnSpc>
                        <a:defRPr/>
                      </a:pPr>
                      <a:r>
                        <a:rPr lang="en-US" sz="1800">
                          <a:solidFill>
                            <a:srgbClr val="1E293B"/>
                          </a:solidFill>
                          <a:latin typeface="Calibri (MS)"/>
                          <a:ea typeface="Calibri (MS)"/>
                          <a:cs typeface="Calibri (MS)"/>
                          <a:sym typeface="Calibri (MS)"/>
                        </a:rPr>
                        <a:t>260.22</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F5F7FA"/>
                    </a:solidFill>
                  </a:tcPr>
                </a:tc>
              </a:tr>
              <a:tr h="558800">
                <a:tc>
                  <a:txBody>
                    <a:bodyPr anchor="t" rtlCol="false"/>
                    <a:lstStyle/>
                    <a:p>
                      <a:pPr algn="l">
                        <a:lnSpc>
                          <a:spcPts val="2160"/>
                        </a:lnSpc>
                        <a:defRPr/>
                      </a:pPr>
                      <a:r>
                        <a:rPr lang="en-US" sz="1800">
                          <a:solidFill>
                            <a:srgbClr val="1E293B"/>
                          </a:solidFill>
                          <a:latin typeface="Calibri (MS)"/>
                          <a:ea typeface="Calibri (MS)"/>
                          <a:cs typeface="Calibri (MS)"/>
                          <a:sym typeface="Calibri (MS)"/>
                        </a:rPr>
                        <a:t>RASG</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FFFFFF"/>
                    </a:solidFill>
                  </a:tcPr>
                </a:tc>
                <a:tc>
                  <a:txBody>
                    <a:bodyPr anchor="t" rtlCol="false"/>
                    <a:lstStyle/>
                    <a:p>
                      <a:pPr algn="ctr">
                        <a:lnSpc>
                          <a:spcPts val="2160"/>
                        </a:lnSpc>
                        <a:defRPr/>
                      </a:pPr>
                      <a:r>
                        <a:rPr lang="en-US" sz="1800">
                          <a:solidFill>
                            <a:srgbClr val="1E293B"/>
                          </a:solidFill>
                          <a:latin typeface="Calibri (MS)"/>
                          <a:ea typeface="Calibri (MS)"/>
                          <a:cs typeface="Calibri (MS)"/>
                          <a:sym typeface="Calibri (MS)"/>
                        </a:rPr>
                        <a:t>77.29</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FFFFFF"/>
                    </a:solidFill>
                  </a:tcPr>
                </a:tc>
                <a:tc>
                  <a:txBody>
                    <a:bodyPr anchor="t" rtlCol="false"/>
                    <a:lstStyle/>
                    <a:p>
                      <a:pPr algn="ctr">
                        <a:lnSpc>
                          <a:spcPts val="2160"/>
                        </a:lnSpc>
                        <a:defRPr/>
                      </a:pPr>
                      <a:r>
                        <a:rPr lang="en-US" sz="1800">
                          <a:solidFill>
                            <a:srgbClr val="1E293B"/>
                          </a:solidFill>
                          <a:latin typeface="Calibri (MS)"/>
                          <a:ea typeface="Calibri (MS)"/>
                          <a:cs typeface="Calibri (MS)"/>
                          <a:sym typeface="Calibri (MS)"/>
                        </a:rPr>
                        <a:t>50.62</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FFFFFF"/>
                    </a:solidFill>
                  </a:tcPr>
                </a:tc>
                <a:tc>
                  <a:txBody>
                    <a:bodyPr anchor="t" rtlCol="false"/>
                    <a:lstStyle/>
                    <a:p>
                      <a:pPr algn="ctr">
                        <a:lnSpc>
                          <a:spcPts val="2160"/>
                        </a:lnSpc>
                        <a:defRPr/>
                      </a:pPr>
                      <a:r>
                        <a:rPr lang="en-US" sz="1800">
                          <a:solidFill>
                            <a:srgbClr val="1E293B"/>
                          </a:solidFill>
                          <a:latin typeface="Calibri (MS)"/>
                          <a:ea typeface="Calibri (MS)"/>
                          <a:cs typeface="Calibri (MS)"/>
                          <a:sym typeface="Calibri (MS)"/>
                        </a:rPr>
                        <a:t>36.23</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FFFFFF"/>
                    </a:solidFill>
                  </a:tcPr>
                </a:tc>
                <a:tc>
                  <a:txBody>
                    <a:bodyPr anchor="t" rtlCol="false"/>
                    <a:lstStyle/>
                    <a:p>
                      <a:pPr algn="ctr">
                        <a:lnSpc>
                          <a:spcPts val="2160"/>
                        </a:lnSpc>
                        <a:defRPr/>
                      </a:pPr>
                      <a:r>
                        <a:rPr lang="en-US" sz="1800">
                          <a:solidFill>
                            <a:srgbClr val="1E293B"/>
                          </a:solidFill>
                          <a:latin typeface="Calibri (MS)"/>
                          <a:ea typeface="Calibri (MS)"/>
                          <a:cs typeface="Calibri (MS)"/>
                          <a:sym typeface="Calibri (MS)"/>
                        </a:rPr>
                        <a:t>66.91</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FFFFFF"/>
                    </a:solidFill>
                  </a:tcPr>
                </a:tc>
                <a:tc>
                  <a:txBody>
                    <a:bodyPr anchor="t" rtlCol="false"/>
                    <a:lstStyle/>
                    <a:p>
                      <a:pPr algn="ctr">
                        <a:lnSpc>
                          <a:spcPts val="2160"/>
                        </a:lnSpc>
                        <a:defRPr/>
                      </a:pPr>
                      <a:r>
                        <a:rPr lang="en-US" sz="1800">
                          <a:solidFill>
                            <a:srgbClr val="1E293B"/>
                          </a:solidFill>
                          <a:latin typeface="Calibri (MS)"/>
                          <a:ea typeface="Calibri (MS)"/>
                          <a:cs typeface="Calibri (MS)"/>
                          <a:sym typeface="Calibri (MS)"/>
                        </a:rPr>
                        <a:t>275.49</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FFFFFF"/>
                    </a:solidFill>
                  </a:tcPr>
                </a:tc>
              </a:tr>
              <a:tr h="558800">
                <a:tc>
                  <a:txBody>
                    <a:bodyPr anchor="t" rtlCol="false"/>
                    <a:lstStyle/>
                    <a:p>
                      <a:pPr algn="l">
                        <a:lnSpc>
                          <a:spcPts val="2160"/>
                        </a:lnSpc>
                        <a:defRPr/>
                      </a:pPr>
                      <a:r>
                        <a:rPr lang="en-US" sz="1800">
                          <a:solidFill>
                            <a:srgbClr val="1E293B"/>
                          </a:solidFill>
                          <a:latin typeface="Calibri (MS)"/>
                          <a:ea typeface="Calibri (MS)"/>
                          <a:cs typeface="Calibri (MS)"/>
                          <a:sym typeface="Calibri (MS)"/>
                        </a:rPr>
                        <a:t>MSISA</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F5F7FA"/>
                    </a:solidFill>
                  </a:tcPr>
                </a:tc>
                <a:tc>
                  <a:txBody>
                    <a:bodyPr anchor="t" rtlCol="false"/>
                    <a:lstStyle/>
                    <a:p>
                      <a:pPr algn="ctr">
                        <a:lnSpc>
                          <a:spcPts val="2160"/>
                        </a:lnSpc>
                        <a:defRPr/>
                      </a:pPr>
                      <a:r>
                        <a:rPr lang="en-US" sz="1800">
                          <a:solidFill>
                            <a:srgbClr val="1E293B"/>
                          </a:solidFill>
                          <a:latin typeface="Calibri (MS)"/>
                          <a:ea typeface="Calibri (MS)"/>
                          <a:cs typeface="Calibri (MS)"/>
                          <a:sym typeface="Calibri (MS)"/>
                        </a:rPr>
                        <a:t>78.36</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F5F7FA"/>
                    </a:solidFill>
                  </a:tcPr>
                </a:tc>
                <a:tc>
                  <a:txBody>
                    <a:bodyPr anchor="t" rtlCol="false"/>
                    <a:lstStyle/>
                    <a:p>
                      <a:pPr algn="ctr">
                        <a:lnSpc>
                          <a:spcPts val="2160"/>
                        </a:lnSpc>
                        <a:defRPr/>
                      </a:pPr>
                      <a:r>
                        <a:rPr lang="en-US" sz="1800">
                          <a:solidFill>
                            <a:srgbClr val="1E293B"/>
                          </a:solidFill>
                          <a:latin typeface="Calibri (MS)"/>
                          <a:ea typeface="Calibri (MS)"/>
                          <a:cs typeface="Calibri (MS)"/>
                          <a:sym typeface="Calibri (MS)"/>
                        </a:rPr>
                        <a:t>50.42</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F5F7FA"/>
                    </a:solidFill>
                  </a:tcPr>
                </a:tc>
                <a:tc>
                  <a:txBody>
                    <a:bodyPr anchor="t" rtlCol="false"/>
                    <a:lstStyle/>
                    <a:p>
                      <a:pPr algn="ctr">
                        <a:lnSpc>
                          <a:spcPts val="2160"/>
                        </a:lnSpc>
                        <a:defRPr/>
                      </a:pPr>
                      <a:r>
                        <a:rPr lang="en-US" sz="1800">
                          <a:solidFill>
                            <a:srgbClr val="1E293B"/>
                          </a:solidFill>
                          <a:latin typeface="Calibri (MS)"/>
                          <a:ea typeface="Calibri (MS)"/>
                          <a:cs typeface="Calibri (MS)"/>
                          <a:sym typeface="Calibri (MS)"/>
                        </a:rPr>
                        <a:t>36.72</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F5F7FA"/>
                    </a:solidFill>
                  </a:tcPr>
                </a:tc>
                <a:tc>
                  <a:txBody>
                    <a:bodyPr anchor="t" rtlCol="false"/>
                    <a:lstStyle/>
                    <a:p>
                      <a:pPr algn="ctr">
                        <a:lnSpc>
                          <a:spcPts val="2160"/>
                        </a:lnSpc>
                        <a:defRPr/>
                      </a:pPr>
                      <a:r>
                        <a:rPr lang="en-US" sz="1800">
                          <a:solidFill>
                            <a:srgbClr val="1E293B"/>
                          </a:solidFill>
                          <a:latin typeface="Calibri (MS)"/>
                          <a:ea typeface="Calibri (MS)"/>
                          <a:cs typeface="Calibri (MS)"/>
                          <a:sym typeface="Calibri (MS)"/>
                        </a:rPr>
                        <a:t>67.30</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F5F7FA"/>
                    </a:solidFill>
                  </a:tcPr>
                </a:tc>
                <a:tc>
                  <a:txBody>
                    <a:bodyPr anchor="t" rtlCol="false"/>
                    <a:lstStyle/>
                    <a:p>
                      <a:pPr algn="ctr">
                        <a:lnSpc>
                          <a:spcPts val="2160"/>
                        </a:lnSpc>
                        <a:defRPr/>
                      </a:pPr>
                      <a:r>
                        <a:rPr lang="en-US" sz="1800">
                          <a:solidFill>
                            <a:srgbClr val="1E293B"/>
                          </a:solidFill>
                          <a:latin typeface="Calibri (MS)"/>
                          <a:ea typeface="Calibri (MS)"/>
                          <a:cs typeface="Calibri (MS)"/>
                          <a:sym typeface="Calibri (MS)"/>
                        </a:rPr>
                        <a:t>284.36</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F5F7FA"/>
                    </a:solidFill>
                  </a:tcPr>
                </a:tc>
              </a:tr>
              <a:tr h="558800">
                <a:tc>
                  <a:txBody>
                    <a:bodyPr anchor="t" rtlCol="false"/>
                    <a:lstStyle/>
                    <a:p>
                      <a:pPr algn="l">
                        <a:lnSpc>
                          <a:spcPts val="2160"/>
                        </a:lnSpc>
                        <a:defRPr/>
                      </a:pPr>
                      <a:r>
                        <a:rPr lang="en-US" sz="1800">
                          <a:solidFill>
                            <a:srgbClr val="1E293B"/>
                          </a:solidFill>
                          <a:latin typeface="Calibri (MS)"/>
                          <a:ea typeface="Calibri (MS)"/>
                          <a:cs typeface="Calibri (MS)"/>
                          <a:sym typeface="Calibri (MS)"/>
                        </a:rPr>
                        <a:t>CASK</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FFFFFF"/>
                    </a:solidFill>
                  </a:tcPr>
                </a:tc>
                <a:tc>
                  <a:txBody>
                    <a:bodyPr anchor="t" rtlCol="false"/>
                    <a:lstStyle/>
                    <a:p>
                      <a:pPr algn="ctr">
                        <a:lnSpc>
                          <a:spcPts val="2160"/>
                        </a:lnSpc>
                        <a:defRPr/>
                      </a:pPr>
                      <a:r>
                        <a:rPr lang="en-US" sz="1800">
                          <a:solidFill>
                            <a:srgbClr val="1E293B"/>
                          </a:solidFill>
                          <a:latin typeface="Calibri (MS)"/>
                          <a:ea typeface="Calibri (MS)"/>
                          <a:cs typeface="Calibri (MS)"/>
                          <a:sym typeface="Calibri (MS)"/>
                        </a:rPr>
                        <a:t>79.65</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FFFFFF"/>
                    </a:solidFill>
                  </a:tcPr>
                </a:tc>
                <a:tc>
                  <a:txBody>
                    <a:bodyPr anchor="t" rtlCol="false"/>
                    <a:lstStyle/>
                    <a:p>
                      <a:pPr algn="ctr">
                        <a:lnSpc>
                          <a:spcPts val="2160"/>
                        </a:lnSpc>
                        <a:defRPr/>
                      </a:pPr>
                      <a:r>
                        <a:rPr lang="en-US" sz="1800">
                          <a:solidFill>
                            <a:srgbClr val="1E293B"/>
                          </a:solidFill>
                          <a:latin typeface="Calibri (MS)"/>
                          <a:ea typeface="Calibri (MS)"/>
                          <a:cs typeface="Calibri (MS)"/>
                          <a:sym typeface="Calibri (MS)"/>
                        </a:rPr>
                        <a:t>52.24</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FFFFFF"/>
                    </a:solidFill>
                  </a:tcPr>
                </a:tc>
                <a:tc>
                  <a:txBody>
                    <a:bodyPr anchor="t" rtlCol="false"/>
                    <a:lstStyle/>
                    <a:p>
                      <a:pPr algn="ctr">
                        <a:lnSpc>
                          <a:spcPts val="2160"/>
                        </a:lnSpc>
                        <a:defRPr/>
                      </a:pPr>
                      <a:r>
                        <a:rPr lang="en-US" sz="1800">
                          <a:solidFill>
                            <a:srgbClr val="1E293B"/>
                          </a:solidFill>
                          <a:latin typeface="Calibri (MS)"/>
                          <a:ea typeface="Calibri (MS)"/>
                          <a:cs typeface="Calibri (MS)"/>
                          <a:sym typeface="Calibri (MS)"/>
                        </a:rPr>
                        <a:t>37.45</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FFFFFF"/>
                    </a:solidFill>
                  </a:tcPr>
                </a:tc>
                <a:tc>
                  <a:txBody>
                    <a:bodyPr anchor="t" rtlCol="false"/>
                    <a:lstStyle/>
                    <a:p>
                      <a:pPr algn="ctr">
                        <a:lnSpc>
                          <a:spcPts val="2160"/>
                        </a:lnSpc>
                        <a:defRPr/>
                      </a:pPr>
                      <a:r>
                        <a:rPr lang="en-US" sz="1800">
                          <a:solidFill>
                            <a:srgbClr val="1E293B"/>
                          </a:solidFill>
                          <a:latin typeface="Calibri (MS)"/>
                          <a:ea typeface="Calibri (MS)"/>
                          <a:cs typeface="Calibri (MS)"/>
                          <a:sym typeface="Calibri (MS)"/>
                        </a:rPr>
                        <a:t>68.33</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FFFFFF"/>
                    </a:solidFill>
                  </a:tcPr>
                </a:tc>
                <a:tc>
                  <a:txBody>
                    <a:bodyPr anchor="t" rtlCol="false"/>
                    <a:lstStyle/>
                    <a:p>
                      <a:pPr algn="ctr">
                        <a:lnSpc>
                          <a:spcPts val="2160"/>
                        </a:lnSpc>
                        <a:defRPr/>
                      </a:pPr>
                      <a:r>
                        <a:rPr lang="en-US" sz="1800">
                          <a:solidFill>
                            <a:srgbClr val="1E293B"/>
                          </a:solidFill>
                          <a:latin typeface="Calibri (MS)"/>
                          <a:ea typeface="Calibri (MS)"/>
                          <a:cs typeface="Calibri (MS)"/>
                          <a:sym typeface="Calibri (MS)"/>
                        </a:rPr>
                        <a:t>293.43</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FFFFFF"/>
                    </a:solidFill>
                  </a:tcPr>
                </a:tc>
              </a:tr>
              <a:tr h="558800">
                <a:tc>
                  <a:txBody>
                    <a:bodyPr anchor="t" rtlCol="false"/>
                    <a:lstStyle/>
                    <a:p>
                      <a:pPr algn="l">
                        <a:lnSpc>
                          <a:spcPts val="2160"/>
                        </a:lnSpc>
                        <a:defRPr/>
                      </a:pPr>
                      <a:r>
                        <a:rPr lang="en-US" sz="1800">
                          <a:solidFill>
                            <a:srgbClr val="1E293B"/>
                          </a:solidFill>
                          <a:latin typeface="Calibri (MS)"/>
                          <a:ea typeface="Calibri (MS)"/>
                          <a:cs typeface="Calibri (MS)"/>
                          <a:sym typeface="Calibri (MS)"/>
                        </a:rPr>
                        <a:t>MGTN</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F5F7FA"/>
                    </a:solidFill>
                  </a:tcPr>
                </a:tc>
                <a:tc>
                  <a:txBody>
                    <a:bodyPr anchor="t" rtlCol="false"/>
                    <a:lstStyle/>
                    <a:p>
                      <a:pPr algn="ctr">
                        <a:lnSpc>
                          <a:spcPts val="2160"/>
                        </a:lnSpc>
                        <a:defRPr/>
                      </a:pPr>
                      <a:r>
                        <a:rPr lang="en-US" sz="1800">
                          <a:solidFill>
                            <a:srgbClr val="1E293B"/>
                          </a:solidFill>
                          <a:latin typeface="Calibri (MS)"/>
                          <a:ea typeface="Calibri (MS)"/>
                          <a:cs typeface="Calibri (MS)"/>
                          <a:sym typeface="Calibri (MS)"/>
                        </a:rPr>
                        <a:t>80.42</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F5F7FA"/>
                    </a:solidFill>
                  </a:tcPr>
                </a:tc>
                <a:tc>
                  <a:txBody>
                    <a:bodyPr anchor="t" rtlCol="false"/>
                    <a:lstStyle/>
                    <a:p>
                      <a:pPr algn="ctr">
                        <a:lnSpc>
                          <a:spcPts val="2160"/>
                        </a:lnSpc>
                        <a:defRPr/>
                      </a:pPr>
                      <a:r>
                        <a:rPr lang="en-US" sz="1800">
                          <a:solidFill>
                            <a:srgbClr val="1E293B"/>
                          </a:solidFill>
                          <a:latin typeface="Calibri (MS)"/>
                          <a:ea typeface="Calibri (MS)"/>
                          <a:cs typeface="Calibri (MS)"/>
                          <a:sym typeface="Calibri (MS)"/>
                        </a:rPr>
                        <a:t>54.14</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F5F7FA"/>
                    </a:solidFill>
                  </a:tcPr>
                </a:tc>
                <a:tc>
                  <a:txBody>
                    <a:bodyPr anchor="t" rtlCol="false"/>
                    <a:lstStyle/>
                    <a:p>
                      <a:pPr algn="ctr">
                        <a:lnSpc>
                          <a:spcPts val="2160"/>
                        </a:lnSpc>
                        <a:defRPr/>
                      </a:pPr>
                      <a:r>
                        <a:rPr lang="en-US" sz="1800">
                          <a:solidFill>
                            <a:srgbClr val="1E293B"/>
                          </a:solidFill>
                          <a:latin typeface="Calibri (MS)"/>
                          <a:ea typeface="Calibri (MS)"/>
                          <a:cs typeface="Calibri (MS)"/>
                          <a:sym typeface="Calibri (MS)"/>
                        </a:rPr>
                        <a:t>39.37</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F5F7FA"/>
                    </a:solidFill>
                  </a:tcPr>
                </a:tc>
                <a:tc>
                  <a:txBody>
                    <a:bodyPr anchor="t" rtlCol="false"/>
                    <a:lstStyle/>
                    <a:p>
                      <a:pPr algn="ctr">
                        <a:lnSpc>
                          <a:spcPts val="2160"/>
                        </a:lnSpc>
                        <a:defRPr/>
                      </a:pPr>
                      <a:r>
                        <a:rPr lang="en-US" sz="1800">
                          <a:solidFill>
                            <a:srgbClr val="1E293B"/>
                          </a:solidFill>
                          <a:latin typeface="Calibri (MS)"/>
                          <a:ea typeface="Calibri (MS)"/>
                          <a:cs typeface="Calibri (MS)"/>
                          <a:sym typeface="Calibri (MS)"/>
                        </a:rPr>
                        <a:t>70.58</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F5F7FA"/>
                    </a:solidFill>
                  </a:tcPr>
                </a:tc>
                <a:tc>
                  <a:txBody>
                    <a:bodyPr anchor="t" rtlCol="false"/>
                    <a:lstStyle/>
                    <a:p>
                      <a:pPr algn="ctr">
                        <a:lnSpc>
                          <a:spcPts val="2160"/>
                        </a:lnSpc>
                        <a:defRPr/>
                      </a:pPr>
                      <a:r>
                        <a:rPr lang="en-US" sz="1800">
                          <a:solidFill>
                            <a:srgbClr val="1E293B"/>
                          </a:solidFill>
                          <a:latin typeface="Calibri (MS)"/>
                          <a:ea typeface="Calibri (MS)"/>
                          <a:cs typeface="Calibri (MS)"/>
                          <a:sym typeface="Calibri (MS)"/>
                        </a:rPr>
                        <a:t>298.39</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F5F7FA"/>
                    </a:solidFill>
                  </a:tcPr>
                </a:tc>
              </a:tr>
              <a:tr h="558800">
                <a:tc>
                  <a:txBody>
                    <a:bodyPr anchor="t" rtlCol="false"/>
                    <a:lstStyle/>
                    <a:p>
                      <a:pPr algn="l">
                        <a:lnSpc>
                          <a:spcPts val="2160"/>
                        </a:lnSpc>
                        <a:defRPr/>
                      </a:pPr>
                      <a:r>
                        <a:rPr lang="en-US" sz="1800" b="true">
                          <a:solidFill>
                            <a:srgbClr val="0D9488"/>
                          </a:solidFill>
                          <a:latin typeface="Calibri (MS) Bold"/>
                          <a:ea typeface="Calibri (MS) Bold"/>
                          <a:cs typeface="Calibri (MS) Bold"/>
                          <a:sym typeface="Calibri (MS) Bold"/>
                        </a:rPr>
                        <a:t>TSFE (Ours)</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CCFBF1"/>
                    </a:solidFill>
                  </a:tcPr>
                </a:tc>
                <a:tc>
                  <a:txBody>
                    <a:bodyPr anchor="t" rtlCol="false"/>
                    <a:lstStyle/>
                    <a:p>
                      <a:pPr algn="ctr">
                        <a:lnSpc>
                          <a:spcPts val="2160"/>
                        </a:lnSpc>
                        <a:defRPr/>
                      </a:pPr>
                      <a:r>
                        <a:rPr lang="en-US" sz="1800" b="true">
                          <a:solidFill>
                            <a:srgbClr val="0D9488"/>
                          </a:solidFill>
                          <a:latin typeface="Calibri (MS) Bold"/>
                          <a:ea typeface="Calibri (MS) Bold"/>
                          <a:cs typeface="Calibri (MS) Bold"/>
                          <a:sym typeface="Calibri (MS) Bold"/>
                        </a:rPr>
                        <a:t>80.54</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CCFBF1"/>
                    </a:solidFill>
                  </a:tcPr>
                </a:tc>
                <a:tc>
                  <a:txBody>
                    <a:bodyPr anchor="t" rtlCol="false"/>
                    <a:lstStyle/>
                    <a:p>
                      <a:pPr algn="ctr">
                        <a:lnSpc>
                          <a:spcPts val="2160"/>
                        </a:lnSpc>
                        <a:defRPr/>
                      </a:pPr>
                      <a:r>
                        <a:rPr lang="en-US" sz="1800" b="true">
                          <a:solidFill>
                            <a:srgbClr val="0D9488"/>
                          </a:solidFill>
                          <a:latin typeface="Calibri (MS) Bold"/>
                          <a:ea typeface="Calibri (MS) Bold"/>
                          <a:cs typeface="Calibri (MS) Bold"/>
                          <a:sym typeface="Calibri (MS) Bold"/>
                        </a:rPr>
                        <a:t>54.86</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CCFBF1"/>
                    </a:solidFill>
                  </a:tcPr>
                </a:tc>
                <a:tc>
                  <a:txBody>
                    <a:bodyPr anchor="t" rtlCol="false"/>
                    <a:lstStyle/>
                    <a:p>
                      <a:pPr algn="ctr">
                        <a:lnSpc>
                          <a:spcPts val="2160"/>
                        </a:lnSpc>
                        <a:defRPr/>
                      </a:pPr>
                      <a:r>
                        <a:rPr lang="en-US" sz="1800" b="true">
                          <a:solidFill>
                            <a:srgbClr val="0D9488"/>
                          </a:solidFill>
                          <a:latin typeface="Calibri (MS) Bold"/>
                          <a:ea typeface="Calibri (MS) Bold"/>
                          <a:cs typeface="Calibri (MS) Bold"/>
                          <a:sym typeface="Calibri (MS) Bold"/>
                        </a:rPr>
                        <a:t>37.93</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CCFBF1"/>
                    </a:solidFill>
                  </a:tcPr>
                </a:tc>
                <a:tc>
                  <a:txBody>
                    <a:bodyPr anchor="t" rtlCol="false"/>
                    <a:lstStyle/>
                    <a:p>
                      <a:pPr algn="ctr">
                        <a:lnSpc>
                          <a:spcPts val="2160"/>
                        </a:lnSpc>
                        <a:defRPr/>
                      </a:pPr>
                      <a:r>
                        <a:rPr lang="en-US" sz="1800" b="true">
                          <a:solidFill>
                            <a:srgbClr val="0D9488"/>
                          </a:solidFill>
                          <a:latin typeface="Calibri (MS) Bold"/>
                          <a:ea typeface="Calibri (MS) Bold"/>
                          <a:cs typeface="Calibri (MS) Bold"/>
                          <a:sym typeface="Calibri (MS) Bold"/>
                        </a:rPr>
                        <a:t>70.20</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CCFBF1"/>
                    </a:solidFill>
                  </a:tcPr>
                </a:tc>
                <a:tc>
                  <a:txBody>
                    <a:bodyPr anchor="t" rtlCol="false"/>
                    <a:lstStyle/>
                    <a:p>
                      <a:pPr algn="ctr">
                        <a:lnSpc>
                          <a:spcPts val="2160"/>
                        </a:lnSpc>
                        <a:defRPr/>
                      </a:pPr>
                      <a:r>
                        <a:rPr lang="en-US" sz="1800" b="true">
                          <a:solidFill>
                            <a:srgbClr val="0D9488"/>
                          </a:solidFill>
                          <a:latin typeface="Calibri (MS) Bold"/>
                          <a:ea typeface="Calibri (MS) Bold"/>
                          <a:cs typeface="Calibri (MS) Bold"/>
                          <a:sym typeface="Calibri (MS) Bold"/>
                        </a:rPr>
                        <a:t>305.70</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CCFBF1"/>
                    </a:solidFill>
                  </a:tcPr>
                </a:tc>
              </a:tr>
            </a:tbl>
          </a:graphicData>
        </a:graphic>
      </p:graphicFrame>
      <p:grpSp>
        <p:nvGrpSpPr>
          <p:cNvPr name="Group 17" id="17"/>
          <p:cNvGrpSpPr/>
          <p:nvPr/>
        </p:nvGrpSpPr>
        <p:grpSpPr>
          <a:xfrm rot="0">
            <a:off x="731520" y="7717536"/>
            <a:ext cx="10972800" cy="512064"/>
            <a:chOff x="0" y="0"/>
            <a:chExt cx="14630400" cy="682752"/>
          </a:xfrm>
        </p:grpSpPr>
        <p:sp>
          <p:nvSpPr>
            <p:cNvPr name="Freeform 18" id="18"/>
            <p:cNvSpPr/>
            <p:nvPr/>
          </p:nvSpPr>
          <p:spPr>
            <a:xfrm flipH="false" flipV="false" rot="0">
              <a:off x="0" y="0"/>
              <a:ext cx="14630400" cy="682752"/>
            </a:xfrm>
            <a:custGeom>
              <a:avLst/>
              <a:gdLst/>
              <a:ahLst/>
              <a:cxnLst/>
              <a:rect r="r" b="b" t="t" l="l"/>
              <a:pathLst>
                <a:path h="682752" w="14630400">
                  <a:moveTo>
                    <a:pt x="0" y="0"/>
                  </a:moveTo>
                  <a:lnTo>
                    <a:pt x="14630400" y="0"/>
                  </a:lnTo>
                  <a:lnTo>
                    <a:pt x="14630400" y="682752"/>
                  </a:lnTo>
                  <a:lnTo>
                    <a:pt x="0" y="682752"/>
                  </a:lnTo>
                  <a:close/>
                </a:path>
              </a:pathLst>
            </a:custGeom>
            <a:blipFill>
              <a:blip r:embed="rId3">
                <a:alphaModFix amt="0"/>
              </a:blip>
              <a:stretch>
                <a:fillRect l="0" t="-367536" r="0" b="-367536"/>
              </a:stretch>
            </a:blipFill>
          </p:spPr>
        </p:sp>
        <p:sp>
          <p:nvSpPr>
            <p:cNvPr name="TextBox 19" id="19"/>
            <p:cNvSpPr txBox="true"/>
            <p:nvPr/>
          </p:nvSpPr>
          <p:spPr>
            <a:xfrm>
              <a:off x="0" y="-38100"/>
              <a:ext cx="14630400" cy="720852"/>
            </a:xfrm>
            <a:prstGeom prst="rect">
              <a:avLst/>
            </a:prstGeom>
          </p:spPr>
          <p:txBody>
            <a:bodyPr anchor="ctr" rtlCol="false" tIns="0" lIns="0" bIns="0" rIns="0"/>
            <a:lstStyle/>
            <a:p>
              <a:pPr algn="l">
                <a:lnSpc>
                  <a:spcPts val="2879"/>
                </a:lnSpc>
              </a:pPr>
              <a:r>
                <a:rPr lang="en-US" sz="2400" b="true">
                  <a:solidFill>
                    <a:srgbClr val="6D28D9"/>
                  </a:solidFill>
                  <a:latin typeface="Calibri (MS) Bold"/>
                  <a:ea typeface="Calibri (MS) Bold"/>
                  <a:cs typeface="Calibri (MS) Bold"/>
                  <a:sym typeface="Calibri (MS) Bold"/>
                </a:rPr>
                <a:t>UCM-Captions Dataset</a:t>
              </a:r>
            </a:p>
          </p:txBody>
        </p:sp>
      </p:grpSp>
      <p:graphicFrame>
        <p:nvGraphicFramePr>
          <p:cNvPr name="Table 20" id="20"/>
          <p:cNvGraphicFramePr>
            <a:graphicFrameLocks noGrp="true"/>
          </p:cNvGraphicFramePr>
          <p:nvPr/>
        </p:nvGraphicFramePr>
        <p:xfrm>
          <a:off x="731520" y="8266176"/>
          <a:ext cx="10972800" cy="1524000"/>
        </p:xfrm>
        <a:graphic>
          <a:graphicData uri="http://schemas.openxmlformats.org/drawingml/2006/table">
            <a:tbl>
              <a:tblPr/>
              <a:tblGrid>
                <a:gridCol w="1828800"/>
                <a:gridCol w="1828800"/>
                <a:gridCol w="1828800"/>
                <a:gridCol w="1828800"/>
                <a:gridCol w="1828800"/>
                <a:gridCol w="1828800"/>
              </a:tblGrid>
              <a:tr h="508000">
                <a:tc>
                  <a:txBody>
                    <a:bodyPr anchor="t" rtlCol="false"/>
                    <a:lstStyle/>
                    <a:p>
                      <a:pPr algn="l">
                        <a:lnSpc>
                          <a:spcPts val="2160"/>
                        </a:lnSpc>
                        <a:defRPr/>
                      </a:pPr>
                      <a:r>
                        <a:rPr lang="en-US" sz="1800" b="true">
                          <a:solidFill>
                            <a:srgbClr val="FFFFFF"/>
                          </a:solidFill>
                          <a:latin typeface="Calibri (MS) Bold"/>
                          <a:ea typeface="Calibri (MS) Bold"/>
                          <a:cs typeface="Calibri (MS) Bold"/>
                          <a:sym typeface="Calibri (MS) Bold"/>
                        </a:rPr>
                        <a:t>Method</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6D28D9"/>
                    </a:solidFill>
                  </a:tcPr>
                </a:tc>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BLEU-1</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6D28D9"/>
                    </a:solidFill>
                  </a:tcPr>
                </a:tc>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BLEU-4</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6D28D9"/>
                    </a:solidFill>
                  </a:tcPr>
                </a:tc>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METEOR</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6D28D9"/>
                    </a:solidFill>
                  </a:tcPr>
                </a:tc>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ROUGE-L</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6D28D9"/>
                    </a:solidFill>
                  </a:tcPr>
                </a:tc>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CIDEr</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6D28D9"/>
                    </a:solidFill>
                  </a:tcPr>
                </a:tc>
              </a:tr>
              <a:tr h="508000">
                <a:tc>
                  <a:txBody>
                    <a:bodyPr anchor="t" rtlCol="false"/>
                    <a:lstStyle/>
                    <a:p>
                      <a:pPr algn="l">
                        <a:lnSpc>
                          <a:spcPts val="2160"/>
                        </a:lnSpc>
                        <a:defRPr/>
                      </a:pPr>
                      <a:r>
                        <a:rPr lang="en-US" sz="1800">
                          <a:solidFill>
                            <a:srgbClr val="1E293B"/>
                          </a:solidFill>
                          <a:latin typeface="Calibri (MS)"/>
                          <a:ea typeface="Calibri (MS)"/>
                          <a:cs typeface="Calibri (MS)"/>
                          <a:sym typeface="Calibri (MS)"/>
                        </a:rPr>
                        <a:t>MGTN</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FFFFFF"/>
                    </a:solidFill>
                  </a:tcPr>
                </a:tc>
                <a:tc>
                  <a:txBody>
                    <a:bodyPr anchor="t" rtlCol="false"/>
                    <a:lstStyle/>
                    <a:p>
                      <a:pPr algn="ctr">
                        <a:lnSpc>
                          <a:spcPts val="2160"/>
                        </a:lnSpc>
                        <a:defRPr/>
                      </a:pPr>
                      <a:r>
                        <a:rPr lang="en-US" sz="1800">
                          <a:solidFill>
                            <a:srgbClr val="1E293B"/>
                          </a:solidFill>
                          <a:latin typeface="Calibri (MS)"/>
                          <a:ea typeface="Calibri (MS)"/>
                          <a:cs typeface="Calibri (MS)"/>
                          <a:sym typeface="Calibri (MS)"/>
                        </a:rPr>
                        <a:t>89.36</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FFFFFF"/>
                    </a:solidFill>
                  </a:tcPr>
                </a:tc>
                <a:tc>
                  <a:txBody>
                    <a:bodyPr anchor="t" rtlCol="false"/>
                    <a:lstStyle/>
                    <a:p>
                      <a:pPr algn="ctr">
                        <a:lnSpc>
                          <a:spcPts val="2160"/>
                        </a:lnSpc>
                        <a:defRPr/>
                      </a:pPr>
                      <a:r>
                        <a:rPr lang="en-US" sz="1800">
                          <a:solidFill>
                            <a:srgbClr val="1E293B"/>
                          </a:solidFill>
                          <a:latin typeface="Calibri (MS)"/>
                          <a:ea typeface="Calibri (MS)"/>
                          <a:cs typeface="Calibri (MS)"/>
                          <a:sym typeface="Calibri (MS)"/>
                        </a:rPr>
                        <a:t>76.50</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FFFFFF"/>
                    </a:solidFill>
                  </a:tcPr>
                </a:tc>
                <a:tc>
                  <a:txBody>
                    <a:bodyPr anchor="t" rtlCol="false"/>
                    <a:lstStyle/>
                    <a:p>
                      <a:pPr algn="ctr">
                        <a:lnSpc>
                          <a:spcPts val="2160"/>
                        </a:lnSpc>
                        <a:defRPr/>
                      </a:pPr>
                      <a:r>
                        <a:rPr lang="en-US" sz="1800">
                          <a:solidFill>
                            <a:srgbClr val="1E293B"/>
                          </a:solidFill>
                          <a:latin typeface="Calibri (MS)"/>
                          <a:ea typeface="Calibri (MS)"/>
                          <a:cs typeface="Calibri (MS)"/>
                          <a:sym typeface="Calibri (MS)"/>
                        </a:rPr>
                        <a:t>50.81</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FFFFFF"/>
                    </a:solidFill>
                  </a:tcPr>
                </a:tc>
                <a:tc>
                  <a:txBody>
                    <a:bodyPr anchor="t" rtlCol="false"/>
                    <a:lstStyle/>
                    <a:p>
                      <a:pPr algn="ctr">
                        <a:lnSpc>
                          <a:spcPts val="2160"/>
                        </a:lnSpc>
                        <a:defRPr/>
                      </a:pPr>
                      <a:r>
                        <a:rPr lang="en-US" sz="1800">
                          <a:solidFill>
                            <a:srgbClr val="1E293B"/>
                          </a:solidFill>
                          <a:latin typeface="Calibri (MS)"/>
                          <a:ea typeface="Calibri (MS)"/>
                          <a:cs typeface="Calibri (MS)"/>
                          <a:sym typeface="Calibri (MS)"/>
                        </a:rPr>
                        <a:t>85.86</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FFFFFF"/>
                    </a:solidFill>
                  </a:tcPr>
                </a:tc>
                <a:tc>
                  <a:txBody>
                    <a:bodyPr anchor="t" rtlCol="false"/>
                    <a:lstStyle/>
                    <a:p>
                      <a:pPr algn="ctr">
                        <a:lnSpc>
                          <a:spcPts val="2160"/>
                        </a:lnSpc>
                        <a:defRPr/>
                      </a:pPr>
                      <a:r>
                        <a:rPr lang="en-US" sz="1800">
                          <a:solidFill>
                            <a:srgbClr val="1E293B"/>
                          </a:solidFill>
                          <a:latin typeface="Calibri (MS)"/>
                          <a:ea typeface="Calibri (MS)"/>
                          <a:cs typeface="Calibri (MS)"/>
                          <a:sym typeface="Calibri (MS)"/>
                        </a:rPr>
                        <a:t>389.92</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FFFFFF"/>
                    </a:solidFill>
                  </a:tcPr>
                </a:tc>
              </a:tr>
              <a:tr h="508000">
                <a:tc>
                  <a:txBody>
                    <a:bodyPr anchor="t" rtlCol="false"/>
                    <a:lstStyle/>
                    <a:p>
                      <a:pPr algn="l">
                        <a:lnSpc>
                          <a:spcPts val="2160"/>
                        </a:lnSpc>
                        <a:defRPr/>
                      </a:pPr>
                      <a:r>
                        <a:rPr lang="en-US" sz="1800" b="true">
                          <a:solidFill>
                            <a:srgbClr val="6D28D9"/>
                          </a:solidFill>
                          <a:latin typeface="Calibri (MS) Bold"/>
                          <a:ea typeface="Calibri (MS) Bold"/>
                          <a:cs typeface="Calibri (MS) Bold"/>
                          <a:sym typeface="Calibri (MS) Bold"/>
                        </a:rPr>
                        <a:t>TSFE (Ours)</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EDE9FE"/>
                    </a:solidFill>
                  </a:tcPr>
                </a:tc>
                <a:tc>
                  <a:txBody>
                    <a:bodyPr anchor="t" rtlCol="false"/>
                    <a:lstStyle/>
                    <a:p>
                      <a:pPr algn="ctr">
                        <a:lnSpc>
                          <a:spcPts val="2160"/>
                        </a:lnSpc>
                        <a:defRPr/>
                      </a:pPr>
                      <a:r>
                        <a:rPr lang="en-US" sz="1800" b="true">
                          <a:solidFill>
                            <a:srgbClr val="6D28D9"/>
                          </a:solidFill>
                          <a:latin typeface="Calibri (MS) Bold"/>
                          <a:ea typeface="Calibri (MS) Bold"/>
                          <a:cs typeface="Calibri (MS) Bold"/>
                          <a:sym typeface="Calibri (MS) Bold"/>
                        </a:rPr>
                        <a:t>89.85</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EDE9FE"/>
                    </a:solidFill>
                  </a:tcPr>
                </a:tc>
                <a:tc>
                  <a:txBody>
                    <a:bodyPr anchor="t" rtlCol="false"/>
                    <a:lstStyle/>
                    <a:p>
                      <a:pPr algn="ctr">
                        <a:lnSpc>
                          <a:spcPts val="2160"/>
                        </a:lnSpc>
                        <a:defRPr/>
                      </a:pPr>
                      <a:r>
                        <a:rPr lang="en-US" sz="1800" b="true">
                          <a:solidFill>
                            <a:srgbClr val="6D28D9"/>
                          </a:solidFill>
                          <a:latin typeface="Calibri (MS) Bold"/>
                          <a:ea typeface="Calibri (MS) Bold"/>
                          <a:cs typeface="Calibri (MS) Bold"/>
                          <a:sym typeface="Calibri (MS) Bold"/>
                        </a:rPr>
                        <a:t>76.45</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EDE9FE"/>
                    </a:solidFill>
                  </a:tcPr>
                </a:tc>
                <a:tc>
                  <a:txBody>
                    <a:bodyPr anchor="t" rtlCol="false"/>
                    <a:lstStyle/>
                    <a:p>
                      <a:pPr algn="ctr">
                        <a:lnSpc>
                          <a:spcPts val="2160"/>
                        </a:lnSpc>
                        <a:defRPr/>
                      </a:pPr>
                      <a:r>
                        <a:rPr lang="en-US" sz="1800" b="true">
                          <a:solidFill>
                            <a:srgbClr val="6D28D9"/>
                          </a:solidFill>
                          <a:latin typeface="Calibri (MS) Bold"/>
                          <a:ea typeface="Calibri (MS) Bold"/>
                          <a:cs typeface="Calibri (MS) Bold"/>
                          <a:sym typeface="Calibri (MS) Bold"/>
                        </a:rPr>
                        <a:t>48.93</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EDE9FE"/>
                    </a:solidFill>
                  </a:tcPr>
                </a:tc>
                <a:tc>
                  <a:txBody>
                    <a:bodyPr anchor="t" rtlCol="false"/>
                    <a:lstStyle/>
                    <a:p>
                      <a:pPr algn="ctr">
                        <a:lnSpc>
                          <a:spcPts val="2160"/>
                        </a:lnSpc>
                        <a:defRPr/>
                      </a:pPr>
                      <a:r>
                        <a:rPr lang="en-US" sz="1800" b="true">
                          <a:solidFill>
                            <a:srgbClr val="6D28D9"/>
                          </a:solidFill>
                          <a:latin typeface="Calibri (MS) Bold"/>
                          <a:ea typeface="Calibri (MS) Bold"/>
                          <a:cs typeface="Calibri (MS) Bold"/>
                          <a:sym typeface="Calibri (MS) Bold"/>
                        </a:rPr>
                        <a:t>88.00</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EDE9FE"/>
                    </a:solidFill>
                  </a:tcPr>
                </a:tc>
                <a:tc>
                  <a:txBody>
                    <a:bodyPr anchor="t" rtlCol="false"/>
                    <a:lstStyle/>
                    <a:p>
                      <a:pPr algn="ctr">
                        <a:lnSpc>
                          <a:spcPts val="2160"/>
                        </a:lnSpc>
                        <a:defRPr/>
                      </a:pPr>
                      <a:r>
                        <a:rPr lang="en-US" sz="1800" b="true">
                          <a:solidFill>
                            <a:srgbClr val="6D28D9"/>
                          </a:solidFill>
                          <a:latin typeface="Calibri (MS) Bold"/>
                          <a:ea typeface="Calibri (MS) Bold"/>
                          <a:cs typeface="Calibri (MS) Bold"/>
                          <a:sym typeface="Calibri (MS) Bold"/>
                        </a:rPr>
                        <a:t>367.01</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EDE9FE"/>
                    </a:solidFill>
                  </a:tcPr>
                </a:tc>
              </a:tr>
            </a:tbl>
          </a:graphicData>
        </a:graphic>
      </p:graphicFrame>
      <p:grpSp>
        <p:nvGrpSpPr>
          <p:cNvPr name="Group 21" id="21"/>
          <p:cNvGrpSpPr/>
          <p:nvPr/>
        </p:nvGrpSpPr>
        <p:grpSpPr>
          <a:xfrm rot="0">
            <a:off x="12063727" y="2462527"/>
            <a:ext cx="5499097" cy="7236457"/>
            <a:chOff x="0" y="0"/>
            <a:chExt cx="7332129" cy="9648609"/>
          </a:xfrm>
        </p:grpSpPr>
        <p:sp>
          <p:nvSpPr>
            <p:cNvPr name="Freeform 22" id="22"/>
            <p:cNvSpPr/>
            <p:nvPr/>
          </p:nvSpPr>
          <p:spPr>
            <a:xfrm flipH="false" flipV="false" rot="0">
              <a:off x="8509" y="8509"/>
              <a:ext cx="7315200" cy="9631680"/>
            </a:xfrm>
            <a:custGeom>
              <a:avLst/>
              <a:gdLst/>
              <a:ahLst/>
              <a:cxnLst/>
              <a:rect r="r" b="b" t="t" l="l"/>
              <a:pathLst>
                <a:path h="9631680" w="7315200">
                  <a:moveTo>
                    <a:pt x="0" y="0"/>
                  </a:moveTo>
                  <a:lnTo>
                    <a:pt x="7315200" y="0"/>
                  </a:lnTo>
                  <a:lnTo>
                    <a:pt x="7315200" y="9631680"/>
                  </a:lnTo>
                  <a:lnTo>
                    <a:pt x="0" y="9631680"/>
                  </a:lnTo>
                  <a:close/>
                </a:path>
              </a:pathLst>
            </a:custGeom>
            <a:solidFill>
              <a:srgbClr val="FFFFFF"/>
            </a:solidFill>
          </p:spPr>
        </p:sp>
        <p:sp>
          <p:nvSpPr>
            <p:cNvPr name="Freeform 23" id="23"/>
            <p:cNvSpPr/>
            <p:nvPr/>
          </p:nvSpPr>
          <p:spPr>
            <a:xfrm flipH="false" flipV="false" rot="0">
              <a:off x="0" y="0"/>
              <a:ext cx="7332218" cy="9648699"/>
            </a:xfrm>
            <a:custGeom>
              <a:avLst/>
              <a:gdLst/>
              <a:ahLst/>
              <a:cxnLst/>
              <a:rect r="r" b="b" t="t" l="l"/>
              <a:pathLst>
                <a:path h="9648699" w="7332218">
                  <a:moveTo>
                    <a:pt x="8509" y="0"/>
                  </a:moveTo>
                  <a:lnTo>
                    <a:pt x="7323709" y="0"/>
                  </a:lnTo>
                  <a:cubicBezTo>
                    <a:pt x="7328408" y="0"/>
                    <a:pt x="7332218" y="3810"/>
                    <a:pt x="7332218" y="8509"/>
                  </a:cubicBezTo>
                  <a:lnTo>
                    <a:pt x="7332218" y="9640189"/>
                  </a:lnTo>
                  <a:cubicBezTo>
                    <a:pt x="7332218" y="9644888"/>
                    <a:pt x="7328408" y="9648699"/>
                    <a:pt x="7323709" y="9648699"/>
                  </a:cubicBezTo>
                  <a:lnTo>
                    <a:pt x="8509" y="9648699"/>
                  </a:lnTo>
                  <a:cubicBezTo>
                    <a:pt x="3810" y="9648699"/>
                    <a:pt x="0" y="9644888"/>
                    <a:pt x="0" y="9640189"/>
                  </a:cubicBezTo>
                  <a:lnTo>
                    <a:pt x="0" y="8509"/>
                  </a:lnTo>
                  <a:cubicBezTo>
                    <a:pt x="0" y="3810"/>
                    <a:pt x="3810" y="0"/>
                    <a:pt x="8509" y="0"/>
                  </a:cubicBezTo>
                  <a:moveTo>
                    <a:pt x="8509" y="16891"/>
                  </a:moveTo>
                  <a:lnTo>
                    <a:pt x="8509" y="8509"/>
                  </a:lnTo>
                  <a:lnTo>
                    <a:pt x="17018" y="8509"/>
                  </a:lnTo>
                  <a:lnTo>
                    <a:pt x="17018" y="9640189"/>
                  </a:lnTo>
                  <a:lnTo>
                    <a:pt x="8509" y="9640189"/>
                  </a:lnTo>
                  <a:lnTo>
                    <a:pt x="8509" y="9631680"/>
                  </a:lnTo>
                  <a:lnTo>
                    <a:pt x="7323709" y="9631680"/>
                  </a:lnTo>
                  <a:lnTo>
                    <a:pt x="7323709" y="9640189"/>
                  </a:lnTo>
                  <a:lnTo>
                    <a:pt x="7315200" y="9640189"/>
                  </a:lnTo>
                  <a:lnTo>
                    <a:pt x="7315200" y="8509"/>
                  </a:lnTo>
                  <a:lnTo>
                    <a:pt x="7323709" y="8509"/>
                  </a:lnTo>
                  <a:lnTo>
                    <a:pt x="7323709" y="17018"/>
                  </a:lnTo>
                  <a:lnTo>
                    <a:pt x="8509" y="17018"/>
                  </a:lnTo>
                  <a:close/>
                </a:path>
              </a:pathLst>
            </a:custGeom>
            <a:solidFill>
              <a:srgbClr val="E2E8F0"/>
            </a:solidFill>
          </p:spPr>
        </p:sp>
      </p:grpSp>
      <p:grpSp>
        <p:nvGrpSpPr>
          <p:cNvPr name="Group 24" id="24"/>
          <p:cNvGrpSpPr/>
          <p:nvPr/>
        </p:nvGrpSpPr>
        <p:grpSpPr>
          <a:xfrm rot="0">
            <a:off x="12057383" y="2456183"/>
            <a:ext cx="135131" cy="7249163"/>
            <a:chOff x="0" y="0"/>
            <a:chExt cx="180175" cy="9665551"/>
          </a:xfrm>
        </p:grpSpPr>
        <p:sp>
          <p:nvSpPr>
            <p:cNvPr name="Freeform 25" id="25"/>
            <p:cNvSpPr/>
            <p:nvPr/>
          </p:nvSpPr>
          <p:spPr>
            <a:xfrm flipH="false" flipV="false" rot="0">
              <a:off x="16891" y="16891"/>
              <a:ext cx="146304" cy="9631681"/>
            </a:xfrm>
            <a:custGeom>
              <a:avLst/>
              <a:gdLst/>
              <a:ahLst/>
              <a:cxnLst/>
              <a:rect r="r" b="b" t="t" l="l"/>
              <a:pathLst>
                <a:path h="9631681" w="146304">
                  <a:moveTo>
                    <a:pt x="0" y="0"/>
                  </a:moveTo>
                  <a:lnTo>
                    <a:pt x="146304" y="0"/>
                  </a:lnTo>
                  <a:lnTo>
                    <a:pt x="146304" y="9631681"/>
                  </a:lnTo>
                  <a:lnTo>
                    <a:pt x="0" y="9631681"/>
                  </a:lnTo>
                  <a:close/>
                </a:path>
              </a:pathLst>
            </a:custGeom>
            <a:solidFill>
              <a:srgbClr val="D97706"/>
            </a:solidFill>
          </p:spPr>
        </p:sp>
        <p:sp>
          <p:nvSpPr>
            <p:cNvPr name="Freeform 26" id="26"/>
            <p:cNvSpPr/>
            <p:nvPr/>
          </p:nvSpPr>
          <p:spPr>
            <a:xfrm flipH="false" flipV="false" rot="0">
              <a:off x="0" y="0"/>
              <a:ext cx="180086" cy="9665462"/>
            </a:xfrm>
            <a:custGeom>
              <a:avLst/>
              <a:gdLst/>
              <a:ahLst/>
              <a:cxnLst/>
              <a:rect r="r" b="b" t="t" l="l"/>
              <a:pathLst>
                <a:path h="9665462" w="180086">
                  <a:moveTo>
                    <a:pt x="16891" y="0"/>
                  </a:moveTo>
                  <a:lnTo>
                    <a:pt x="163195" y="0"/>
                  </a:lnTo>
                  <a:cubicBezTo>
                    <a:pt x="172593" y="0"/>
                    <a:pt x="180086" y="7620"/>
                    <a:pt x="180086" y="16891"/>
                  </a:cubicBezTo>
                  <a:lnTo>
                    <a:pt x="180086" y="9648572"/>
                  </a:lnTo>
                  <a:cubicBezTo>
                    <a:pt x="180086" y="9657969"/>
                    <a:pt x="172466" y="9665462"/>
                    <a:pt x="163195" y="9665462"/>
                  </a:cubicBezTo>
                  <a:lnTo>
                    <a:pt x="16891" y="9665462"/>
                  </a:lnTo>
                  <a:cubicBezTo>
                    <a:pt x="7493" y="9665462"/>
                    <a:pt x="0" y="9657842"/>
                    <a:pt x="0" y="9648572"/>
                  </a:cubicBezTo>
                  <a:lnTo>
                    <a:pt x="0" y="16891"/>
                  </a:lnTo>
                  <a:cubicBezTo>
                    <a:pt x="0" y="7620"/>
                    <a:pt x="7620" y="0"/>
                    <a:pt x="16891" y="0"/>
                  </a:cubicBezTo>
                  <a:moveTo>
                    <a:pt x="16891" y="33909"/>
                  </a:moveTo>
                  <a:lnTo>
                    <a:pt x="16891" y="16891"/>
                  </a:lnTo>
                  <a:lnTo>
                    <a:pt x="33909" y="16891"/>
                  </a:lnTo>
                  <a:lnTo>
                    <a:pt x="33909" y="9648572"/>
                  </a:lnTo>
                  <a:lnTo>
                    <a:pt x="16891" y="9648572"/>
                  </a:lnTo>
                  <a:lnTo>
                    <a:pt x="16891" y="9631680"/>
                  </a:lnTo>
                  <a:lnTo>
                    <a:pt x="163195" y="9631680"/>
                  </a:lnTo>
                  <a:lnTo>
                    <a:pt x="163195" y="9648572"/>
                  </a:lnTo>
                  <a:lnTo>
                    <a:pt x="146304" y="9648572"/>
                  </a:lnTo>
                  <a:lnTo>
                    <a:pt x="146304" y="16891"/>
                  </a:lnTo>
                  <a:lnTo>
                    <a:pt x="163195" y="16891"/>
                  </a:lnTo>
                  <a:lnTo>
                    <a:pt x="163195" y="33909"/>
                  </a:lnTo>
                  <a:lnTo>
                    <a:pt x="16891" y="33909"/>
                  </a:lnTo>
                  <a:close/>
                </a:path>
              </a:pathLst>
            </a:custGeom>
            <a:solidFill>
              <a:srgbClr val="D97706"/>
            </a:solidFill>
          </p:spPr>
        </p:sp>
      </p:grpSp>
      <p:grpSp>
        <p:nvGrpSpPr>
          <p:cNvPr name="Group 27" id="27"/>
          <p:cNvGrpSpPr/>
          <p:nvPr/>
        </p:nvGrpSpPr>
        <p:grpSpPr>
          <a:xfrm rot="0">
            <a:off x="12399264" y="2560320"/>
            <a:ext cx="5029200" cy="512064"/>
            <a:chOff x="0" y="0"/>
            <a:chExt cx="6705600" cy="682752"/>
          </a:xfrm>
        </p:grpSpPr>
        <p:sp>
          <p:nvSpPr>
            <p:cNvPr name="Freeform 28" id="28"/>
            <p:cNvSpPr/>
            <p:nvPr/>
          </p:nvSpPr>
          <p:spPr>
            <a:xfrm flipH="false" flipV="false" rot="0">
              <a:off x="0" y="0"/>
              <a:ext cx="6705600" cy="682752"/>
            </a:xfrm>
            <a:custGeom>
              <a:avLst/>
              <a:gdLst/>
              <a:ahLst/>
              <a:cxnLst/>
              <a:rect r="r" b="b" t="t" l="l"/>
              <a:pathLst>
                <a:path h="682752" w="6705600">
                  <a:moveTo>
                    <a:pt x="0" y="0"/>
                  </a:moveTo>
                  <a:lnTo>
                    <a:pt x="6705600" y="0"/>
                  </a:lnTo>
                  <a:lnTo>
                    <a:pt x="6705600" y="682752"/>
                  </a:lnTo>
                  <a:lnTo>
                    <a:pt x="0" y="682752"/>
                  </a:lnTo>
                  <a:close/>
                </a:path>
              </a:pathLst>
            </a:custGeom>
            <a:blipFill>
              <a:blip r:embed="rId3">
                <a:alphaModFix amt="0"/>
              </a:blip>
              <a:stretch>
                <a:fillRect l="0" t="-141370" r="0" b="-141370"/>
              </a:stretch>
            </a:blipFill>
          </p:spPr>
        </p:sp>
        <p:sp>
          <p:nvSpPr>
            <p:cNvPr name="TextBox 29" id="29"/>
            <p:cNvSpPr txBox="true"/>
            <p:nvPr/>
          </p:nvSpPr>
          <p:spPr>
            <a:xfrm>
              <a:off x="0" y="-47625"/>
              <a:ext cx="6705600" cy="730377"/>
            </a:xfrm>
            <a:prstGeom prst="rect">
              <a:avLst/>
            </a:prstGeom>
          </p:spPr>
          <p:txBody>
            <a:bodyPr anchor="ctr" rtlCol="false" tIns="0" lIns="0" bIns="0" rIns="0"/>
            <a:lstStyle/>
            <a:p>
              <a:pPr algn="l">
                <a:lnSpc>
                  <a:spcPts val="2640"/>
                </a:lnSpc>
              </a:pPr>
              <a:r>
                <a:rPr lang="en-US" sz="2200" b="true">
                  <a:solidFill>
                    <a:srgbClr val="D97706"/>
                  </a:solidFill>
                  <a:latin typeface="Calibri (MS) Bold"/>
                  <a:ea typeface="Calibri (MS) Bold"/>
                  <a:cs typeface="Calibri (MS) Bold"/>
                  <a:sym typeface="Calibri (MS) Bold"/>
                </a:rPr>
                <a:t>Key findings</a:t>
              </a:r>
            </a:p>
          </p:txBody>
        </p:sp>
      </p:grpSp>
      <p:grpSp>
        <p:nvGrpSpPr>
          <p:cNvPr name="Group 30" id="30"/>
          <p:cNvGrpSpPr/>
          <p:nvPr/>
        </p:nvGrpSpPr>
        <p:grpSpPr>
          <a:xfrm rot="0">
            <a:off x="12399264" y="3200400"/>
            <a:ext cx="5029200" cy="438912"/>
            <a:chOff x="0" y="0"/>
            <a:chExt cx="6705600" cy="585216"/>
          </a:xfrm>
        </p:grpSpPr>
        <p:sp>
          <p:nvSpPr>
            <p:cNvPr name="Freeform 31" id="31"/>
            <p:cNvSpPr/>
            <p:nvPr/>
          </p:nvSpPr>
          <p:spPr>
            <a:xfrm flipH="false" flipV="false" rot="0">
              <a:off x="0" y="0"/>
              <a:ext cx="6705600" cy="585216"/>
            </a:xfrm>
            <a:custGeom>
              <a:avLst/>
              <a:gdLst/>
              <a:ahLst/>
              <a:cxnLst/>
              <a:rect r="r" b="b" t="t" l="l"/>
              <a:pathLst>
                <a:path h="585216" w="6705600">
                  <a:moveTo>
                    <a:pt x="0" y="0"/>
                  </a:moveTo>
                  <a:lnTo>
                    <a:pt x="6705600" y="0"/>
                  </a:lnTo>
                  <a:lnTo>
                    <a:pt x="6705600" y="585216"/>
                  </a:lnTo>
                  <a:lnTo>
                    <a:pt x="0" y="585216"/>
                  </a:lnTo>
                  <a:close/>
                </a:path>
              </a:pathLst>
            </a:custGeom>
            <a:blipFill>
              <a:blip r:embed="rId3">
                <a:alphaModFix amt="0"/>
              </a:blip>
              <a:stretch>
                <a:fillRect l="0" t="-173266" r="0" b="-173266"/>
              </a:stretch>
            </a:blipFill>
          </p:spPr>
        </p:sp>
        <p:sp>
          <p:nvSpPr>
            <p:cNvPr name="TextBox 32" id="32"/>
            <p:cNvSpPr txBox="true"/>
            <p:nvPr/>
          </p:nvSpPr>
          <p:spPr>
            <a:xfrm>
              <a:off x="0" y="-38100"/>
              <a:ext cx="6705600" cy="623316"/>
            </a:xfrm>
            <a:prstGeom prst="rect">
              <a:avLst/>
            </a:prstGeom>
          </p:spPr>
          <p:txBody>
            <a:bodyPr anchor="ctr" rtlCol="false" tIns="0" lIns="0" bIns="0" rIns="0"/>
            <a:lstStyle/>
            <a:p>
              <a:pPr algn="l">
                <a:lnSpc>
                  <a:spcPts val="2400"/>
                </a:lnSpc>
              </a:pPr>
              <a:r>
                <a:rPr lang="en-US" sz="2000" b="true">
                  <a:solidFill>
                    <a:srgbClr val="0D9488"/>
                  </a:solidFill>
                  <a:latin typeface="Calibri (MS) Bold"/>
                  <a:ea typeface="Calibri (MS) Bold"/>
                  <a:cs typeface="Calibri (MS) Bold"/>
                  <a:sym typeface="Calibri (MS) Bold"/>
                </a:rPr>
                <a:t>RSICD — BLEU-4</a:t>
              </a:r>
            </a:p>
          </p:txBody>
        </p:sp>
      </p:grpSp>
      <p:grpSp>
        <p:nvGrpSpPr>
          <p:cNvPr name="Group 33" id="33"/>
          <p:cNvGrpSpPr/>
          <p:nvPr/>
        </p:nvGrpSpPr>
        <p:grpSpPr>
          <a:xfrm rot="0">
            <a:off x="12399264" y="3602736"/>
            <a:ext cx="5029200" cy="475488"/>
            <a:chOff x="0" y="0"/>
            <a:chExt cx="6705600" cy="633984"/>
          </a:xfrm>
        </p:grpSpPr>
        <p:sp>
          <p:nvSpPr>
            <p:cNvPr name="Freeform 34" id="34"/>
            <p:cNvSpPr/>
            <p:nvPr/>
          </p:nvSpPr>
          <p:spPr>
            <a:xfrm flipH="false" flipV="false" rot="0">
              <a:off x="0" y="0"/>
              <a:ext cx="6705600" cy="633984"/>
            </a:xfrm>
            <a:custGeom>
              <a:avLst/>
              <a:gdLst/>
              <a:ahLst/>
              <a:cxnLst/>
              <a:rect r="r" b="b" t="t" l="l"/>
              <a:pathLst>
                <a:path h="633984" w="6705600">
                  <a:moveTo>
                    <a:pt x="0" y="0"/>
                  </a:moveTo>
                  <a:lnTo>
                    <a:pt x="6705600" y="0"/>
                  </a:lnTo>
                  <a:lnTo>
                    <a:pt x="6705600" y="633984"/>
                  </a:lnTo>
                  <a:lnTo>
                    <a:pt x="0" y="633984"/>
                  </a:lnTo>
                  <a:close/>
                </a:path>
              </a:pathLst>
            </a:custGeom>
            <a:blipFill>
              <a:blip r:embed="rId3">
                <a:alphaModFix amt="0"/>
              </a:blip>
              <a:stretch>
                <a:fillRect l="0" t="-156091" r="0" b="-156091"/>
              </a:stretch>
            </a:blipFill>
          </p:spPr>
        </p:sp>
        <p:sp>
          <p:nvSpPr>
            <p:cNvPr name="TextBox 35" id="35"/>
            <p:cNvSpPr txBox="true"/>
            <p:nvPr/>
          </p:nvSpPr>
          <p:spPr>
            <a:xfrm>
              <a:off x="0" y="-38100"/>
              <a:ext cx="6705600" cy="672084"/>
            </a:xfrm>
            <a:prstGeom prst="rect">
              <a:avLst/>
            </a:prstGeom>
          </p:spPr>
          <p:txBody>
            <a:bodyPr anchor="ctr" rtlCol="false" tIns="0" lIns="0" bIns="0" rIns="0"/>
            <a:lstStyle/>
            <a:p>
              <a:pPr algn="l">
                <a:lnSpc>
                  <a:spcPts val="2160"/>
                </a:lnSpc>
              </a:pPr>
              <a:r>
                <a:rPr lang="en-US" sz="1800">
                  <a:solidFill>
                    <a:srgbClr val="94A3B8"/>
                  </a:solidFill>
                  <a:latin typeface="Calibri (MS)"/>
                  <a:ea typeface="Calibri (MS)"/>
                  <a:cs typeface="Calibri (MS)"/>
                  <a:sym typeface="Calibri (MS)"/>
                </a:rPr>
                <a:t>54.86 (+0.72 vs MGTN)</a:t>
              </a:r>
            </a:p>
          </p:txBody>
        </p:sp>
      </p:grpSp>
      <p:grpSp>
        <p:nvGrpSpPr>
          <p:cNvPr name="Group 36" id="36"/>
          <p:cNvGrpSpPr/>
          <p:nvPr/>
        </p:nvGrpSpPr>
        <p:grpSpPr>
          <a:xfrm rot="0">
            <a:off x="12399264" y="4169664"/>
            <a:ext cx="5029200" cy="438912"/>
            <a:chOff x="0" y="0"/>
            <a:chExt cx="6705600" cy="585216"/>
          </a:xfrm>
        </p:grpSpPr>
        <p:sp>
          <p:nvSpPr>
            <p:cNvPr name="Freeform 37" id="37"/>
            <p:cNvSpPr/>
            <p:nvPr/>
          </p:nvSpPr>
          <p:spPr>
            <a:xfrm flipH="false" flipV="false" rot="0">
              <a:off x="0" y="0"/>
              <a:ext cx="6705600" cy="585216"/>
            </a:xfrm>
            <a:custGeom>
              <a:avLst/>
              <a:gdLst/>
              <a:ahLst/>
              <a:cxnLst/>
              <a:rect r="r" b="b" t="t" l="l"/>
              <a:pathLst>
                <a:path h="585216" w="6705600">
                  <a:moveTo>
                    <a:pt x="0" y="0"/>
                  </a:moveTo>
                  <a:lnTo>
                    <a:pt x="6705600" y="0"/>
                  </a:lnTo>
                  <a:lnTo>
                    <a:pt x="6705600" y="585216"/>
                  </a:lnTo>
                  <a:lnTo>
                    <a:pt x="0" y="585216"/>
                  </a:lnTo>
                  <a:close/>
                </a:path>
              </a:pathLst>
            </a:custGeom>
            <a:blipFill>
              <a:blip r:embed="rId3">
                <a:alphaModFix amt="0"/>
              </a:blip>
              <a:stretch>
                <a:fillRect l="0" t="-173266" r="0" b="-173266"/>
              </a:stretch>
            </a:blipFill>
          </p:spPr>
        </p:sp>
        <p:sp>
          <p:nvSpPr>
            <p:cNvPr name="TextBox 38" id="38"/>
            <p:cNvSpPr txBox="true"/>
            <p:nvPr/>
          </p:nvSpPr>
          <p:spPr>
            <a:xfrm>
              <a:off x="0" y="-38100"/>
              <a:ext cx="6705600" cy="623316"/>
            </a:xfrm>
            <a:prstGeom prst="rect">
              <a:avLst/>
            </a:prstGeom>
          </p:spPr>
          <p:txBody>
            <a:bodyPr anchor="ctr" rtlCol="false" tIns="0" lIns="0" bIns="0" rIns="0"/>
            <a:lstStyle/>
            <a:p>
              <a:pPr algn="l">
                <a:lnSpc>
                  <a:spcPts val="2400"/>
                </a:lnSpc>
              </a:pPr>
              <a:r>
                <a:rPr lang="en-US" sz="2000" b="true">
                  <a:solidFill>
                    <a:srgbClr val="0D9488"/>
                  </a:solidFill>
                  <a:latin typeface="Calibri (MS) Bold"/>
                  <a:ea typeface="Calibri (MS) Bold"/>
                  <a:cs typeface="Calibri (MS) Bold"/>
                  <a:sym typeface="Calibri (MS) Bold"/>
                </a:rPr>
                <a:t>RSICD — CIDEr</a:t>
              </a:r>
            </a:p>
          </p:txBody>
        </p:sp>
      </p:grpSp>
      <p:grpSp>
        <p:nvGrpSpPr>
          <p:cNvPr name="Group 39" id="39"/>
          <p:cNvGrpSpPr/>
          <p:nvPr/>
        </p:nvGrpSpPr>
        <p:grpSpPr>
          <a:xfrm rot="0">
            <a:off x="12399264" y="4572000"/>
            <a:ext cx="5029200" cy="475488"/>
            <a:chOff x="0" y="0"/>
            <a:chExt cx="6705600" cy="633984"/>
          </a:xfrm>
        </p:grpSpPr>
        <p:sp>
          <p:nvSpPr>
            <p:cNvPr name="Freeform 40" id="40"/>
            <p:cNvSpPr/>
            <p:nvPr/>
          </p:nvSpPr>
          <p:spPr>
            <a:xfrm flipH="false" flipV="false" rot="0">
              <a:off x="0" y="0"/>
              <a:ext cx="6705600" cy="633984"/>
            </a:xfrm>
            <a:custGeom>
              <a:avLst/>
              <a:gdLst/>
              <a:ahLst/>
              <a:cxnLst/>
              <a:rect r="r" b="b" t="t" l="l"/>
              <a:pathLst>
                <a:path h="633984" w="6705600">
                  <a:moveTo>
                    <a:pt x="0" y="0"/>
                  </a:moveTo>
                  <a:lnTo>
                    <a:pt x="6705600" y="0"/>
                  </a:lnTo>
                  <a:lnTo>
                    <a:pt x="6705600" y="633984"/>
                  </a:lnTo>
                  <a:lnTo>
                    <a:pt x="0" y="633984"/>
                  </a:lnTo>
                  <a:close/>
                </a:path>
              </a:pathLst>
            </a:custGeom>
            <a:blipFill>
              <a:blip r:embed="rId3">
                <a:alphaModFix amt="0"/>
              </a:blip>
              <a:stretch>
                <a:fillRect l="0" t="-156091" r="0" b="-156091"/>
              </a:stretch>
            </a:blipFill>
          </p:spPr>
        </p:sp>
        <p:sp>
          <p:nvSpPr>
            <p:cNvPr name="TextBox 41" id="41"/>
            <p:cNvSpPr txBox="true"/>
            <p:nvPr/>
          </p:nvSpPr>
          <p:spPr>
            <a:xfrm>
              <a:off x="0" y="-38100"/>
              <a:ext cx="6705600" cy="672084"/>
            </a:xfrm>
            <a:prstGeom prst="rect">
              <a:avLst/>
            </a:prstGeom>
          </p:spPr>
          <p:txBody>
            <a:bodyPr anchor="ctr" rtlCol="false" tIns="0" lIns="0" bIns="0" rIns="0"/>
            <a:lstStyle/>
            <a:p>
              <a:pPr algn="l">
                <a:lnSpc>
                  <a:spcPts val="2160"/>
                </a:lnSpc>
              </a:pPr>
              <a:r>
                <a:rPr lang="en-US" sz="1800">
                  <a:solidFill>
                    <a:srgbClr val="94A3B8"/>
                  </a:solidFill>
                  <a:latin typeface="Calibri (MS)"/>
                  <a:ea typeface="Calibri (MS)"/>
                  <a:cs typeface="Calibri (MS)"/>
                  <a:sym typeface="Calibri (MS)"/>
                </a:rPr>
                <a:t>305.70 (+2.45% vs MGTN)</a:t>
              </a:r>
            </a:p>
          </p:txBody>
        </p:sp>
      </p:grpSp>
      <p:grpSp>
        <p:nvGrpSpPr>
          <p:cNvPr name="Group 42" id="42"/>
          <p:cNvGrpSpPr/>
          <p:nvPr/>
        </p:nvGrpSpPr>
        <p:grpSpPr>
          <a:xfrm rot="0">
            <a:off x="12399264" y="5138928"/>
            <a:ext cx="5029200" cy="438912"/>
            <a:chOff x="0" y="0"/>
            <a:chExt cx="6705600" cy="585216"/>
          </a:xfrm>
        </p:grpSpPr>
        <p:sp>
          <p:nvSpPr>
            <p:cNvPr name="Freeform 43" id="43"/>
            <p:cNvSpPr/>
            <p:nvPr/>
          </p:nvSpPr>
          <p:spPr>
            <a:xfrm flipH="false" flipV="false" rot="0">
              <a:off x="0" y="0"/>
              <a:ext cx="6705600" cy="585216"/>
            </a:xfrm>
            <a:custGeom>
              <a:avLst/>
              <a:gdLst/>
              <a:ahLst/>
              <a:cxnLst/>
              <a:rect r="r" b="b" t="t" l="l"/>
              <a:pathLst>
                <a:path h="585216" w="6705600">
                  <a:moveTo>
                    <a:pt x="0" y="0"/>
                  </a:moveTo>
                  <a:lnTo>
                    <a:pt x="6705600" y="0"/>
                  </a:lnTo>
                  <a:lnTo>
                    <a:pt x="6705600" y="585216"/>
                  </a:lnTo>
                  <a:lnTo>
                    <a:pt x="0" y="585216"/>
                  </a:lnTo>
                  <a:close/>
                </a:path>
              </a:pathLst>
            </a:custGeom>
            <a:blipFill>
              <a:blip r:embed="rId3">
                <a:alphaModFix amt="0"/>
              </a:blip>
              <a:stretch>
                <a:fillRect l="0" t="-173266" r="0" b="-173266"/>
              </a:stretch>
            </a:blipFill>
          </p:spPr>
        </p:sp>
        <p:sp>
          <p:nvSpPr>
            <p:cNvPr name="TextBox 44" id="44"/>
            <p:cNvSpPr txBox="true"/>
            <p:nvPr/>
          </p:nvSpPr>
          <p:spPr>
            <a:xfrm>
              <a:off x="0" y="-38100"/>
              <a:ext cx="6705600" cy="623316"/>
            </a:xfrm>
            <a:prstGeom prst="rect">
              <a:avLst/>
            </a:prstGeom>
          </p:spPr>
          <p:txBody>
            <a:bodyPr anchor="ctr" rtlCol="false" tIns="0" lIns="0" bIns="0" rIns="0"/>
            <a:lstStyle/>
            <a:p>
              <a:pPr algn="l">
                <a:lnSpc>
                  <a:spcPts val="2400"/>
                </a:lnSpc>
              </a:pPr>
              <a:r>
                <a:rPr lang="en-US" sz="2000" b="true">
                  <a:solidFill>
                    <a:srgbClr val="0D9488"/>
                  </a:solidFill>
                  <a:latin typeface="Calibri (MS) Bold"/>
                  <a:ea typeface="Calibri (MS) Bold"/>
                  <a:cs typeface="Calibri (MS) Bold"/>
                  <a:sym typeface="Calibri (MS) Bold"/>
                </a:rPr>
                <a:t>RSICD — ROUGE-L</a:t>
              </a:r>
            </a:p>
          </p:txBody>
        </p:sp>
      </p:grpSp>
      <p:grpSp>
        <p:nvGrpSpPr>
          <p:cNvPr name="Group 45" id="45"/>
          <p:cNvGrpSpPr/>
          <p:nvPr/>
        </p:nvGrpSpPr>
        <p:grpSpPr>
          <a:xfrm rot="0">
            <a:off x="12399264" y="5541264"/>
            <a:ext cx="5029200" cy="475488"/>
            <a:chOff x="0" y="0"/>
            <a:chExt cx="6705600" cy="633984"/>
          </a:xfrm>
        </p:grpSpPr>
        <p:sp>
          <p:nvSpPr>
            <p:cNvPr name="Freeform 46" id="46"/>
            <p:cNvSpPr/>
            <p:nvPr/>
          </p:nvSpPr>
          <p:spPr>
            <a:xfrm flipH="false" flipV="false" rot="0">
              <a:off x="0" y="0"/>
              <a:ext cx="6705600" cy="633984"/>
            </a:xfrm>
            <a:custGeom>
              <a:avLst/>
              <a:gdLst/>
              <a:ahLst/>
              <a:cxnLst/>
              <a:rect r="r" b="b" t="t" l="l"/>
              <a:pathLst>
                <a:path h="633984" w="6705600">
                  <a:moveTo>
                    <a:pt x="0" y="0"/>
                  </a:moveTo>
                  <a:lnTo>
                    <a:pt x="6705600" y="0"/>
                  </a:lnTo>
                  <a:lnTo>
                    <a:pt x="6705600" y="633984"/>
                  </a:lnTo>
                  <a:lnTo>
                    <a:pt x="0" y="633984"/>
                  </a:lnTo>
                  <a:close/>
                </a:path>
              </a:pathLst>
            </a:custGeom>
            <a:blipFill>
              <a:blip r:embed="rId3">
                <a:alphaModFix amt="0"/>
              </a:blip>
              <a:stretch>
                <a:fillRect l="0" t="-156091" r="0" b="-156091"/>
              </a:stretch>
            </a:blipFill>
          </p:spPr>
        </p:sp>
        <p:sp>
          <p:nvSpPr>
            <p:cNvPr name="TextBox 47" id="47"/>
            <p:cNvSpPr txBox="true"/>
            <p:nvPr/>
          </p:nvSpPr>
          <p:spPr>
            <a:xfrm>
              <a:off x="0" y="-38100"/>
              <a:ext cx="6705600" cy="672084"/>
            </a:xfrm>
            <a:prstGeom prst="rect">
              <a:avLst/>
            </a:prstGeom>
          </p:spPr>
          <p:txBody>
            <a:bodyPr anchor="ctr" rtlCol="false" tIns="0" lIns="0" bIns="0" rIns="0"/>
            <a:lstStyle/>
            <a:p>
              <a:pPr algn="l">
                <a:lnSpc>
                  <a:spcPts val="2160"/>
                </a:lnSpc>
              </a:pPr>
              <a:r>
                <a:rPr lang="en-US" sz="1800">
                  <a:solidFill>
                    <a:srgbClr val="94A3B8"/>
                  </a:solidFill>
                  <a:latin typeface="Calibri (MS)"/>
                  <a:ea typeface="Calibri (MS)"/>
                  <a:cs typeface="Calibri (MS)"/>
                  <a:sym typeface="Calibri (MS)"/>
                </a:rPr>
                <a:t>70.20 (competitive)</a:t>
              </a:r>
            </a:p>
          </p:txBody>
        </p:sp>
      </p:grpSp>
      <p:grpSp>
        <p:nvGrpSpPr>
          <p:cNvPr name="Group 48" id="48"/>
          <p:cNvGrpSpPr/>
          <p:nvPr/>
        </p:nvGrpSpPr>
        <p:grpSpPr>
          <a:xfrm rot="0">
            <a:off x="12399264" y="6108192"/>
            <a:ext cx="5029200" cy="438912"/>
            <a:chOff x="0" y="0"/>
            <a:chExt cx="6705600" cy="585216"/>
          </a:xfrm>
        </p:grpSpPr>
        <p:sp>
          <p:nvSpPr>
            <p:cNvPr name="Freeform 49" id="49"/>
            <p:cNvSpPr/>
            <p:nvPr/>
          </p:nvSpPr>
          <p:spPr>
            <a:xfrm flipH="false" flipV="false" rot="0">
              <a:off x="0" y="0"/>
              <a:ext cx="6705600" cy="585216"/>
            </a:xfrm>
            <a:custGeom>
              <a:avLst/>
              <a:gdLst/>
              <a:ahLst/>
              <a:cxnLst/>
              <a:rect r="r" b="b" t="t" l="l"/>
              <a:pathLst>
                <a:path h="585216" w="6705600">
                  <a:moveTo>
                    <a:pt x="0" y="0"/>
                  </a:moveTo>
                  <a:lnTo>
                    <a:pt x="6705600" y="0"/>
                  </a:lnTo>
                  <a:lnTo>
                    <a:pt x="6705600" y="585216"/>
                  </a:lnTo>
                  <a:lnTo>
                    <a:pt x="0" y="585216"/>
                  </a:lnTo>
                  <a:close/>
                </a:path>
              </a:pathLst>
            </a:custGeom>
            <a:blipFill>
              <a:blip r:embed="rId3">
                <a:alphaModFix amt="0"/>
              </a:blip>
              <a:stretch>
                <a:fillRect l="0" t="-173266" r="0" b="-173266"/>
              </a:stretch>
            </a:blipFill>
          </p:spPr>
        </p:sp>
        <p:sp>
          <p:nvSpPr>
            <p:cNvPr name="TextBox 50" id="50"/>
            <p:cNvSpPr txBox="true"/>
            <p:nvPr/>
          </p:nvSpPr>
          <p:spPr>
            <a:xfrm>
              <a:off x="0" y="-38100"/>
              <a:ext cx="6705600" cy="623316"/>
            </a:xfrm>
            <a:prstGeom prst="rect">
              <a:avLst/>
            </a:prstGeom>
          </p:spPr>
          <p:txBody>
            <a:bodyPr anchor="ctr" rtlCol="false" tIns="0" lIns="0" bIns="0" rIns="0"/>
            <a:lstStyle/>
            <a:p>
              <a:pPr algn="l">
                <a:lnSpc>
                  <a:spcPts val="2400"/>
                </a:lnSpc>
              </a:pPr>
              <a:r>
                <a:rPr lang="en-US" sz="2000" b="true">
                  <a:solidFill>
                    <a:srgbClr val="6D28D9"/>
                  </a:solidFill>
                  <a:latin typeface="Calibri (MS) Bold"/>
                  <a:ea typeface="Calibri (MS) Bold"/>
                  <a:cs typeface="Calibri (MS) Bold"/>
                  <a:sym typeface="Calibri (MS) Bold"/>
                </a:rPr>
                <a:t>UCM — BLEU-1</a:t>
              </a:r>
            </a:p>
          </p:txBody>
        </p:sp>
      </p:grpSp>
      <p:grpSp>
        <p:nvGrpSpPr>
          <p:cNvPr name="Group 51" id="51"/>
          <p:cNvGrpSpPr/>
          <p:nvPr/>
        </p:nvGrpSpPr>
        <p:grpSpPr>
          <a:xfrm rot="0">
            <a:off x="12399264" y="6510528"/>
            <a:ext cx="5029200" cy="475488"/>
            <a:chOff x="0" y="0"/>
            <a:chExt cx="6705600" cy="633984"/>
          </a:xfrm>
        </p:grpSpPr>
        <p:sp>
          <p:nvSpPr>
            <p:cNvPr name="Freeform 52" id="52"/>
            <p:cNvSpPr/>
            <p:nvPr/>
          </p:nvSpPr>
          <p:spPr>
            <a:xfrm flipH="false" flipV="false" rot="0">
              <a:off x="0" y="0"/>
              <a:ext cx="6705600" cy="633984"/>
            </a:xfrm>
            <a:custGeom>
              <a:avLst/>
              <a:gdLst/>
              <a:ahLst/>
              <a:cxnLst/>
              <a:rect r="r" b="b" t="t" l="l"/>
              <a:pathLst>
                <a:path h="633984" w="6705600">
                  <a:moveTo>
                    <a:pt x="0" y="0"/>
                  </a:moveTo>
                  <a:lnTo>
                    <a:pt x="6705600" y="0"/>
                  </a:lnTo>
                  <a:lnTo>
                    <a:pt x="6705600" y="633984"/>
                  </a:lnTo>
                  <a:lnTo>
                    <a:pt x="0" y="633984"/>
                  </a:lnTo>
                  <a:close/>
                </a:path>
              </a:pathLst>
            </a:custGeom>
            <a:blipFill>
              <a:blip r:embed="rId3">
                <a:alphaModFix amt="0"/>
              </a:blip>
              <a:stretch>
                <a:fillRect l="0" t="-156091" r="0" b="-156091"/>
              </a:stretch>
            </a:blipFill>
          </p:spPr>
        </p:sp>
        <p:sp>
          <p:nvSpPr>
            <p:cNvPr name="TextBox 53" id="53"/>
            <p:cNvSpPr txBox="true"/>
            <p:nvPr/>
          </p:nvSpPr>
          <p:spPr>
            <a:xfrm>
              <a:off x="0" y="-38100"/>
              <a:ext cx="6705600" cy="672084"/>
            </a:xfrm>
            <a:prstGeom prst="rect">
              <a:avLst/>
            </a:prstGeom>
          </p:spPr>
          <p:txBody>
            <a:bodyPr anchor="ctr" rtlCol="false" tIns="0" lIns="0" bIns="0" rIns="0"/>
            <a:lstStyle/>
            <a:p>
              <a:pPr algn="l">
                <a:lnSpc>
                  <a:spcPts val="2160"/>
                </a:lnSpc>
              </a:pPr>
              <a:r>
                <a:rPr lang="en-US" sz="1800">
                  <a:solidFill>
                    <a:srgbClr val="94A3B8"/>
                  </a:solidFill>
                  <a:latin typeface="Calibri (MS)"/>
                  <a:ea typeface="Calibri (MS)"/>
                  <a:cs typeface="Calibri (MS)"/>
                  <a:sym typeface="Calibri (MS)"/>
                </a:rPr>
                <a:t>89.85 (+0.55% vs MGTN)</a:t>
              </a:r>
            </a:p>
          </p:txBody>
        </p:sp>
      </p:grpSp>
      <p:grpSp>
        <p:nvGrpSpPr>
          <p:cNvPr name="Group 54" id="54"/>
          <p:cNvGrpSpPr/>
          <p:nvPr/>
        </p:nvGrpSpPr>
        <p:grpSpPr>
          <a:xfrm rot="0">
            <a:off x="12399264" y="7077456"/>
            <a:ext cx="5029200" cy="438912"/>
            <a:chOff x="0" y="0"/>
            <a:chExt cx="6705600" cy="585216"/>
          </a:xfrm>
        </p:grpSpPr>
        <p:sp>
          <p:nvSpPr>
            <p:cNvPr name="Freeform 55" id="55"/>
            <p:cNvSpPr/>
            <p:nvPr/>
          </p:nvSpPr>
          <p:spPr>
            <a:xfrm flipH="false" flipV="false" rot="0">
              <a:off x="0" y="0"/>
              <a:ext cx="6705600" cy="585216"/>
            </a:xfrm>
            <a:custGeom>
              <a:avLst/>
              <a:gdLst/>
              <a:ahLst/>
              <a:cxnLst/>
              <a:rect r="r" b="b" t="t" l="l"/>
              <a:pathLst>
                <a:path h="585216" w="6705600">
                  <a:moveTo>
                    <a:pt x="0" y="0"/>
                  </a:moveTo>
                  <a:lnTo>
                    <a:pt x="6705600" y="0"/>
                  </a:lnTo>
                  <a:lnTo>
                    <a:pt x="6705600" y="585216"/>
                  </a:lnTo>
                  <a:lnTo>
                    <a:pt x="0" y="585216"/>
                  </a:lnTo>
                  <a:close/>
                </a:path>
              </a:pathLst>
            </a:custGeom>
            <a:blipFill>
              <a:blip r:embed="rId3">
                <a:alphaModFix amt="0"/>
              </a:blip>
              <a:stretch>
                <a:fillRect l="0" t="-173266" r="0" b="-173266"/>
              </a:stretch>
            </a:blipFill>
          </p:spPr>
        </p:sp>
        <p:sp>
          <p:nvSpPr>
            <p:cNvPr name="TextBox 56" id="56"/>
            <p:cNvSpPr txBox="true"/>
            <p:nvPr/>
          </p:nvSpPr>
          <p:spPr>
            <a:xfrm>
              <a:off x="0" y="-38100"/>
              <a:ext cx="6705600" cy="623316"/>
            </a:xfrm>
            <a:prstGeom prst="rect">
              <a:avLst/>
            </a:prstGeom>
          </p:spPr>
          <p:txBody>
            <a:bodyPr anchor="ctr" rtlCol="false" tIns="0" lIns="0" bIns="0" rIns="0"/>
            <a:lstStyle/>
            <a:p>
              <a:pPr algn="l">
                <a:lnSpc>
                  <a:spcPts val="2400"/>
                </a:lnSpc>
              </a:pPr>
              <a:r>
                <a:rPr lang="en-US" sz="2000" b="true">
                  <a:solidFill>
                    <a:srgbClr val="6D28D9"/>
                  </a:solidFill>
                  <a:latin typeface="Calibri (MS) Bold"/>
                  <a:ea typeface="Calibri (MS) Bold"/>
                  <a:cs typeface="Calibri (MS) Bold"/>
                  <a:sym typeface="Calibri (MS) Bold"/>
                </a:rPr>
                <a:t>UCM — ROUGE-L</a:t>
              </a:r>
            </a:p>
          </p:txBody>
        </p:sp>
      </p:grpSp>
      <p:grpSp>
        <p:nvGrpSpPr>
          <p:cNvPr name="Group 57" id="57"/>
          <p:cNvGrpSpPr/>
          <p:nvPr/>
        </p:nvGrpSpPr>
        <p:grpSpPr>
          <a:xfrm rot="0">
            <a:off x="12399264" y="7479792"/>
            <a:ext cx="5029200" cy="475488"/>
            <a:chOff x="0" y="0"/>
            <a:chExt cx="6705600" cy="633984"/>
          </a:xfrm>
        </p:grpSpPr>
        <p:sp>
          <p:nvSpPr>
            <p:cNvPr name="Freeform 58" id="58"/>
            <p:cNvSpPr/>
            <p:nvPr/>
          </p:nvSpPr>
          <p:spPr>
            <a:xfrm flipH="false" flipV="false" rot="0">
              <a:off x="0" y="0"/>
              <a:ext cx="6705600" cy="633984"/>
            </a:xfrm>
            <a:custGeom>
              <a:avLst/>
              <a:gdLst/>
              <a:ahLst/>
              <a:cxnLst/>
              <a:rect r="r" b="b" t="t" l="l"/>
              <a:pathLst>
                <a:path h="633984" w="6705600">
                  <a:moveTo>
                    <a:pt x="0" y="0"/>
                  </a:moveTo>
                  <a:lnTo>
                    <a:pt x="6705600" y="0"/>
                  </a:lnTo>
                  <a:lnTo>
                    <a:pt x="6705600" y="633984"/>
                  </a:lnTo>
                  <a:lnTo>
                    <a:pt x="0" y="633984"/>
                  </a:lnTo>
                  <a:close/>
                </a:path>
              </a:pathLst>
            </a:custGeom>
            <a:blipFill>
              <a:blip r:embed="rId3">
                <a:alphaModFix amt="0"/>
              </a:blip>
              <a:stretch>
                <a:fillRect l="0" t="-156091" r="0" b="-156091"/>
              </a:stretch>
            </a:blipFill>
          </p:spPr>
        </p:sp>
        <p:sp>
          <p:nvSpPr>
            <p:cNvPr name="TextBox 59" id="59"/>
            <p:cNvSpPr txBox="true"/>
            <p:nvPr/>
          </p:nvSpPr>
          <p:spPr>
            <a:xfrm>
              <a:off x="0" y="-38100"/>
              <a:ext cx="6705600" cy="672084"/>
            </a:xfrm>
            <a:prstGeom prst="rect">
              <a:avLst/>
            </a:prstGeom>
          </p:spPr>
          <p:txBody>
            <a:bodyPr anchor="ctr" rtlCol="false" tIns="0" lIns="0" bIns="0" rIns="0"/>
            <a:lstStyle/>
            <a:p>
              <a:pPr algn="l">
                <a:lnSpc>
                  <a:spcPts val="2160"/>
                </a:lnSpc>
              </a:pPr>
              <a:r>
                <a:rPr lang="en-US" sz="1800">
                  <a:solidFill>
                    <a:srgbClr val="94A3B8"/>
                  </a:solidFill>
                  <a:latin typeface="Calibri (MS)"/>
                  <a:ea typeface="Calibri (MS)"/>
                  <a:cs typeface="Calibri (MS)"/>
                  <a:sym typeface="Calibri (MS)"/>
                </a:rPr>
                <a:t>88.00 (+2.5% vs MGTN)</a:t>
              </a:r>
            </a:p>
          </p:txBody>
        </p:sp>
      </p:grpSp>
      <p:grpSp>
        <p:nvGrpSpPr>
          <p:cNvPr name="Group 60" id="60"/>
          <p:cNvGrpSpPr/>
          <p:nvPr/>
        </p:nvGrpSpPr>
        <p:grpSpPr>
          <a:xfrm rot="0">
            <a:off x="12399264" y="8046720"/>
            <a:ext cx="5029200" cy="438912"/>
            <a:chOff x="0" y="0"/>
            <a:chExt cx="6705600" cy="585216"/>
          </a:xfrm>
        </p:grpSpPr>
        <p:sp>
          <p:nvSpPr>
            <p:cNvPr name="Freeform 61" id="61"/>
            <p:cNvSpPr/>
            <p:nvPr/>
          </p:nvSpPr>
          <p:spPr>
            <a:xfrm flipH="false" flipV="false" rot="0">
              <a:off x="0" y="0"/>
              <a:ext cx="6705600" cy="585216"/>
            </a:xfrm>
            <a:custGeom>
              <a:avLst/>
              <a:gdLst/>
              <a:ahLst/>
              <a:cxnLst/>
              <a:rect r="r" b="b" t="t" l="l"/>
              <a:pathLst>
                <a:path h="585216" w="6705600">
                  <a:moveTo>
                    <a:pt x="0" y="0"/>
                  </a:moveTo>
                  <a:lnTo>
                    <a:pt x="6705600" y="0"/>
                  </a:lnTo>
                  <a:lnTo>
                    <a:pt x="6705600" y="585216"/>
                  </a:lnTo>
                  <a:lnTo>
                    <a:pt x="0" y="585216"/>
                  </a:lnTo>
                  <a:close/>
                </a:path>
              </a:pathLst>
            </a:custGeom>
            <a:blipFill>
              <a:blip r:embed="rId3">
                <a:alphaModFix amt="0"/>
              </a:blip>
              <a:stretch>
                <a:fillRect l="0" t="-173266" r="0" b="-173266"/>
              </a:stretch>
            </a:blipFill>
          </p:spPr>
        </p:sp>
        <p:sp>
          <p:nvSpPr>
            <p:cNvPr name="TextBox 62" id="62"/>
            <p:cNvSpPr txBox="true"/>
            <p:nvPr/>
          </p:nvSpPr>
          <p:spPr>
            <a:xfrm>
              <a:off x="0" y="-38100"/>
              <a:ext cx="6705600" cy="623316"/>
            </a:xfrm>
            <a:prstGeom prst="rect">
              <a:avLst/>
            </a:prstGeom>
          </p:spPr>
          <p:txBody>
            <a:bodyPr anchor="ctr" rtlCol="false" tIns="0" lIns="0" bIns="0" rIns="0"/>
            <a:lstStyle/>
            <a:p>
              <a:pPr algn="l">
                <a:lnSpc>
                  <a:spcPts val="2400"/>
                </a:lnSpc>
              </a:pPr>
              <a:r>
                <a:rPr lang="en-US" sz="2000" b="true">
                  <a:solidFill>
                    <a:srgbClr val="E05B4B"/>
                  </a:solidFill>
                  <a:latin typeface="Calibri (MS) Bold"/>
                  <a:ea typeface="Calibri (MS) Bold"/>
                  <a:cs typeface="Calibri (MS) Bold"/>
                  <a:sym typeface="Calibri (MS) Bold"/>
                </a:rPr>
                <a:t>Sydney — BLEU-4</a:t>
              </a:r>
            </a:p>
          </p:txBody>
        </p:sp>
      </p:grpSp>
      <p:grpSp>
        <p:nvGrpSpPr>
          <p:cNvPr name="Group 63" id="63"/>
          <p:cNvGrpSpPr/>
          <p:nvPr/>
        </p:nvGrpSpPr>
        <p:grpSpPr>
          <a:xfrm rot="0">
            <a:off x="12399264" y="8449056"/>
            <a:ext cx="5029200" cy="475488"/>
            <a:chOff x="0" y="0"/>
            <a:chExt cx="6705600" cy="633984"/>
          </a:xfrm>
        </p:grpSpPr>
        <p:sp>
          <p:nvSpPr>
            <p:cNvPr name="Freeform 64" id="64"/>
            <p:cNvSpPr/>
            <p:nvPr/>
          </p:nvSpPr>
          <p:spPr>
            <a:xfrm flipH="false" flipV="false" rot="0">
              <a:off x="0" y="0"/>
              <a:ext cx="6705600" cy="633984"/>
            </a:xfrm>
            <a:custGeom>
              <a:avLst/>
              <a:gdLst/>
              <a:ahLst/>
              <a:cxnLst/>
              <a:rect r="r" b="b" t="t" l="l"/>
              <a:pathLst>
                <a:path h="633984" w="6705600">
                  <a:moveTo>
                    <a:pt x="0" y="0"/>
                  </a:moveTo>
                  <a:lnTo>
                    <a:pt x="6705600" y="0"/>
                  </a:lnTo>
                  <a:lnTo>
                    <a:pt x="6705600" y="633984"/>
                  </a:lnTo>
                  <a:lnTo>
                    <a:pt x="0" y="633984"/>
                  </a:lnTo>
                  <a:close/>
                </a:path>
              </a:pathLst>
            </a:custGeom>
            <a:blipFill>
              <a:blip r:embed="rId3">
                <a:alphaModFix amt="0"/>
              </a:blip>
              <a:stretch>
                <a:fillRect l="0" t="-156091" r="0" b="-156091"/>
              </a:stretch>
            </a:blipFill>
          </p:spPr>
        </p:sp>
        <p:sp>
          <p:nvSpPr>
            <p:cNvPr name="TextBox 65" id="65"/>
            <p:cNvSpPr txBox="true"/>
            <p:nvPr/>
          </p:nvSpPr>
          <p:spPr>
            <a:xfrm>
              <a:off x="0" y="-38100"/>
              <a:ext cx="6705600" cy="672084"/>
            </a:xfrm>
            <a:prstGeom prst="rect">
              <a:avLst/>
            </a:prstGeom>
          </p:spPr>
          <p:txBody>
            <a:bodyPr anchor="ctr" rtlCol="false" tIns="0" lIns="0" bIns="0" rIns="0"/>
            <a:lstStyle/>
            <a:p>
              <a:pPr algn="l">
                <a:lnSpc>
                  <a:spcPts val="2160"/>
                </a:lnSpc>
              </a:pPr>
              <a:r>
                <a:rPr lang="en-US" sz="1800">
                  <a:solidFill>
                    <a:srgbClr val="94A3B8"/>
                  </a:solidFill>
                  <a:latin typeface="Calibri (MS)"/>
                  <a:ea typeface="Calibri (MS)"/>
                  <a:cs typeface="Calibri (MS)"/>
                  <a:sym typeface="Calibri (MS)"/>
                </a:rPr>
                <a:t>62.90 (SOTA across most metrics)</a:t>
              </a:r>
            </a:p>
          </p:txBody>
        </p:sp>
      </p:grpSp>
      <p:grpSp>
        <p:nvGrpSpPr>
          <p:cNvPr name="Group 66" id="66"/>
          <p:cNvGrpSpPr/>
          <p:nvPr/>
        </p:nvGrpSpPr>
        <p:grpSpPr>
          <a:xfrm rot="0">
            <a:off x="731520" y="9802368"/>
            <a:ext cx="16824960" cy="402336"/>
            <a:chOff x="0" y="0"/>
            <a:chExt cx="22433280" cy="536448"/>
          </a:xfrm>
        </p:grpSpPr>
        <p:sp>
          <p:nvSpPr>
            <p:cNvPr name="Freeform 67" id="67"/>
            <p:cNvSpPr/>
            <p:nvPr/>
          </p:nvSpPr>
          <p:spPr>
            <a:xfrm flipH="false" flipV="false" rot="0">
              <a:off x="0" y="0"/>
              <a:ext cx="22433280" cy="536448"/>
            </a:xfrm>
            <a:custGeom>
              <a:avLst/>
              <a:gdLst/>
              <a:ahLst/>
              <a:cxnLst/>
              <a:rect r="r" b="b" t="t" l="l"/>
              <a:pathLst>
                <a:path h="536448" w="22433280">
                  <a:moveTo>
                    <a:pt x="0" y="0"/>
                  </a:moveTo>
                  <a:lnTo>
                    <a:pt x="22433280" y="0"/>
                  </a:lnTo>
                  <a:lnTo>
                    <a:pt x="22433280" y="536448"/>
                  </a:lnTo>
                  <a:lnTo>
                    <a:pt x="0" y="536448"/>
                  </a:lnTo>
                  <a:close/>
                </a:path>
              </a:pathLst>
            </a:custGeom>
            <a:blipFill>
              <a:blip r:embed="rId3">
                <a:alphaModFix amt="0"/>
              </a:blip>
              <a:stretch>
                <a:fillRect l="0" t="-764828" r="0" b="-764828"/>
              </a:stretch>
            </a:blipFill>
          </p:spPr>
        </p:sp>
        <p:sp>
          <p:nvSpPr>
            <p:cNvPr name="TextBox 68" id="68"/>
            <p:cNvSpPr txBox="true"/>
            <p:nvPr/>
          </p:nvSpPr>
          <p:spPr>
            <a:xfrm>
              <a:off x="0" y="-38100"/>
              <a:ext cx="22433280" cy="574548"/>
            </a:xfrm>
            <a:prstGeom prst="rect">
              <a:avLst/>
            </a:prstGeom>
          </p:spPr>
          <p:txBody>
            <a:bodyPr anchor="ctr" rtlCol="false" tIns="0" lIns="0" bIns="0" rIns="0"/>
            <a:lstStyle/>
            <a:p>
              <a:pPr algn="l">
                <a:lnSpc>
                  <a:spcPts val="1800"/>
                </a:lnSpc>
              </a:pPr>
              <a:r>
                <a:rPr lang="en-US" sz="1500">
                  <a:solidFill>
                    <a:srgbClr val="94A3B8"/>
                  </a:solidFill>
                  <a:latin typeface="Calibri (MS)"/>
                  <a:ea typeface="Calibri (MS)"/>
                  <a:cs typeface="Calibri (MS)"/>
                  <a:sym typeface="Calibri (MS)"/>
                </a:rPr>
                <a:t>SAT = Show &amp; Tell  ·  RASG = Recurrent Attention &amp; Semantic Gate  ·  MSISA = Multi-Source Interactive Stair Attention  ·  CASK = Consensus-Aware Semantic Knowledge  ·  MGTN = Mask-Guided Transformer Network</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718823" y="316487"/>
            <a:ext cx="2951483" cy="574043"/>
            <a:chOff x="0" y="0"/>
            <a:chExt cx="3935311" cy="765391"/>
          </a:xfrm>
        </p:grpSpPr>
        <p:sp>
          <p:nvSpPr>
            <p:cNvPr name="Freeform 3" id="3"/>
            <p:cNvSpPr/>
            <p:nvPr/>
          </p:nvSpPr>
          <p:spPr>
            <a:xfrm flipH="false" flipV="false" rot="0">
              <a:off x="16891" y="16891"/>
              <a:ext cx="3901440" cy="731520"/>
            </a:xfrm>
            <a:custGeom>
              <a:avLst/>
              <a:gdLst/>
              <a:ahLst/>
              <a:cxnLst/>
              <a:rect r="r" b="b" t="t" l="l"/>
              <a:pathLst>
                <a:path h="731520" w="3901440">
                  <a:moveTo>
                    <a:pt x="0" y="0"/>
                  </a:moveTo>
                  <a:lnTo>
                    <a:pt x="3901440" y="0"/>
                  </a:lnTo>
                  <a:lnTo>
                    <a:pt x="3901440" y="731520"/>
                  </a:lnTo>
                  <a:lnTo>
                    <a:pt x="0" y="731520"/>
                  </a:lnTo>
                  <a:close/>
                </a:path>
              </a:pathLst>
            </a:custGeom>
            <a:solidFill>
              <a:srgbClr val="0D1B3E"/>
            </a:solidFill>
          </p:spPr>
        </p:sp>
        <p:sp>
          <p:nvSpPr>
            <p:cNvPr name="Freeform 4" id="4"/>
            <p:cNvSpPr/>
            <p:nvPr/>
          </p:nvSpPr>
          <p:spPr>
            <a:xfrm flipH="false" flipV="false" rot="0">
              <a:off x="0" y="0"/>
              <a:ext cx="3935222" cy="765304"/>
            </a:xfrm>
            <a:custGeom>
              <a:avLst/>
              <a:gdLst/>
              <a:ahLst/>
              <a:cxnLst/>
              <a:rect r="r" b="b" t="t" l="l"/>
              <a:pathLst>
                <a:path h="765304" w="3935222">
                  <a:moveTo>
                    <a:pt x="16891" y="0"/>
                  </a:moveTo>
                  <a:lnTo>
                    <a:pt x="3918331" y="0"/>
                  </a:lnTo>
                  <a:cubicBezTo>
                    <a:pt x="3927729" y="0"/>
                    <a:pt x="3935222" y="7620"/>
                    <a:pt x="3935222" y="16891"/>
                  </a:cubicBezTo>
                  <a:lnTo>
                    <a:pt x="3935222" y="748411"/>
                  </a:lnTo>
                  <a:cubicBezTo>
                    <a:pt x="3935222" y="757809"/>
                    <a:pt x="3927602" y="765302"/>
                    <a:pt x="3918331" y="765302"/>
                  </a:cubicBezTo>
                  <a:lnTo>
                    <a:pt x="16891" y="765302"/>
                  </a:lnTo>
                  <a:cubicBezTo>
                    <a:pt x="7620" y="765429"/>
                    <a:pt x="0" y="757809"/>
                    <a:pt x="0" y="748411"/>
                  </a:cubicBezTo>
                  <a:lnTo>
                    <a:pt x="0" y="16891"/>
                  </a:lnTo>
                  <a:cubicBezTo>
                    <a:pt x="0" y="7620"/>
                    <a:pt x="7620" y="0"/>
                    <a:pt x="16891" y="0"/>
                  </a:cubicBezTo>
                  <a:moveTo>
                    <a:pt x="16891" y="33909"/>
                  </a:moveTo>
                  <a:lnTo>
                    <a:pt x="16891" y="16891"/>
                  </a:lnTo>
                  <a:lnTo>
                    <a:pt x="33909" y="16891"/>
                  </a:lnTo>
                  <a:lnTo>
                    <a:pt x="33909" y="748411"/>
                  </a:lnTo>
                  <a:lnTo>
                    <a:pt x="16891" y="748411"/>
                  </a:lnTo>
                  <a:lnTo>
                    <a:pt x="16891" y="731520"/>
                  </a:lnTo>
                  <a:lnTo>
                    <a:pt x="3918331" y="731520"/>
                  </a:lnTo>
                  <a:lnTo>
                    <a:pt x="3918331" y="748411"/>
                  </a:lnTo>
                  <a:lnTo>
                    <a:pt x="3901440" y="748411"/>
                  </a:lnTo>
                  <a:lnTo>
                    <a:pt x="3901440" y="16891"/>
                  </a:lnTo>
                  <a:lnTo>
                    <a:pt x="3918331" y="16891"/>
                  </a:lnTo>
                  <a:lnTo>
                    <a:pt x="3918331" y="33909"/>
                  </a:lnTo>
                  <a:lnTo>
                    <a:pt x="16891" y="33909"/>
                  </a:lnTo>
                  <a:close/>
                </a:path>
              </a:pathLst>
            </a:custGeom>
            <a:solidFill>
              <a:srgbClr val="0D1B3E"/>
            </a:solidFill>
          </p:spPr>
        </p:sp>
      </p:grpSp>
      <p:grpSp>
        <p:nvGrpSpPr>
          <p:cNvPr name="Group 5" id="5"/>
          <p:cNvGrpSpPr/>
          <p:nvPr/>
        </p:nvGrpSpPr>
        <p:grpSpPr>
          <a:xfrm rot="0">
            <a:off x="731520" y="329184"/>
            <a:ext cx="2926080" cy="548640"/>
            <a:chOff x="0" y="0"/>
            <a:chExt cx="3901440" cy="731520"/>
          </a:xfrm>
        </p:grpSpPr>
        <p:sp>
          <p:nvSpPr>
            <p:cNvPr name="Freeform 6" id="6"/>
            <p:cNvSpPr/>
            <p:nvPr/>
          </p:nvSpPr>
          <p:spPr>
            <a:xfrm flipH="false" flipV="false" rot="0">
              <a:off x="0" y="0"/>
              <a:ext cx="3901440" cy="731520"/>
            </a:xfrm>
            <a:custGeom>
              <a:avLst/>
              <a:gdLst/>
              <a:ahLst/>
              <a:cxnLst/>
              <a:rect r="r" b="b" t="t" l="l"/>
              <a:pathLst>
                <a:path h="731520" w="3901440">
                  <a:moveTo>
                    <a:pt x="0" y="0"/>
                  </a:moveTo>
                  <a:lnTo>
                    <a:pt x="3901440" y="0"/>
                  </a:lnTo>
                  <a:lnTo>
                    <a:pt x="3901440" y="731520"/>
                  </a:lnTo>
                  <a:lnTo>
                    <a:pt x="0" y="731520"/>
                  </a:lnTo>
                  <a:close/>
                </a:path>
              </a:pathLst>
            </a:custGeom>
            <a:blipFill>
              <a:blip r:embed="rId3">
                <a:alphaModFix amt="0"/>
              </a:blip>
              <a:stretch>
                <a:fillRect l="0" t="-53920" r="0" b="-53920"/>
              </a:stretch>
            </a:blipFill>
          </p:spPr>
        </p:sp>
        <p:sp>
          <p:nvSpPr>
            <p:cNvPr name="TextBox 7" id="7"/>
            <p:cNvSpPr txBox="true"/>
            <p:nvPr/>
          </p:nvSpPr>
          <p:spPr>
            <a:xfrm>
              <a:off x="0" y="-38100"/>
              <a:ext cx="3901440" cy="76962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08 · ABLATION</a:t>
              </a:r>
            </a:p>
          </p:txBody>
        </p:sp>
      </p:grpSp>
      <p:grpSp>
        <p:nvGrpSpPr>
          <p:cNvPr name="Group 8" id="8"/>
          <p:cNvGrpSpPr/>
          <p:nvPr/>
        </p:nvGrpSpPr>
        <p:grpSpPr>
          <a:xfrm rot="0">
            <a:off x="914400" y="1005840"/>
            <a:ext cx="16459200" cy="1188720"/>
            <a:chOff x="0" y="0"/>
            <a:chExt cx="21945600" cy="1584960"/>
          </a:xfrm>
        </p:grpSpPr>
        <p:sp>
          <p:nvSpPr>
            <p:cNvPr name="Freeform 9" id="9"/>
            <p:cNvSpPr/>
            <p:nvPr/>
          </p:nvSpPr>
          <p:spPr>
            <a:xfrm flipH="false" flipV="false" rot="0">
              <a:off x="0" y="0"/>
              <a:ext cx="21945600" cy="1584960"/>
            </a:xfrm>
            <a:custGeom>
              <a:avLst/>
              <a:gdLst/>
              <a:ahLst/>
              <a:cxnLst/>
              <a:rect r="r" b="b" t="t" l="l"/>
              <a:pathLst>
                <a:path h="1584960" w="21945600">
                  <a:moveTo>
                    <a:pt x="0" y="0"/>
                  </a:moveTo>
                  <a:lnTo>
                    <a:pt x="21945600" y="0"/>
                  </a:lnTo>
                  <a:lnTo>
                    <a:pt x="21945600" y="1584960"/>
                  </a:lnTo>
                  <a:lnTo>
                    <a:pt x="0" y="1584960"/>
                  </a:lnTo>
                  <a:close/>
                </a:path>
              </a:pathLst>
            </a:custGeom>
            <a:blipFill>
              <a:blip r:embed="rId3">
                <a:alphaModFix amt="0"/>
              </a:blip>
              <a:stretch>
                <a:fillRect l="0" t="-219792" r="0" b="-219792"/>
              </a:stretch>
            </a:blipFill>
          </p:spPr>
        </p:sp>
        <p:sp>
          <p:nvSpPr>
            <p:cNvPr name="TextBox 10" id="10"/>
            <p:cNvSpPr txBox="true"/>
            <p:nvPr/>
          </p:nvSpPr>
          <p:spPr>
            <a:xfrm>
              <a:off x="0" y="-104775"/>
              <a:ext cx="21945600" cy="1689735"/>
            </a:xfrm>
            <a:prstGeom prst="rect">
              <a:avLst/>
            </a:prstGeom>
          </p:spPr>
          <p:txBody>
            <a:bodyPr anchor="ctr" rtlCol="false" tIns="0" lIns="0" bIns="0" rIns="0"/>
            <a:lstStyle/>
            <a:p>
              <a:pPr algn="l">
                <a:lnSpc>
                  <a:spcPts val="6240"/>
                </a:lnSpc>
              </a:pPr>
              <a:r>
                <a:rPr lang="en-US" sz="5200" b="true">
                  <a:solidFill>
                    <a:srgbClr val="1E293B"/>
                  </a:solidFill>
                  <a:latin typeface="Calibri (MS) Bold"/>
                  <a:ea typeface="Calibri (MS) Bold"/>
                  <a:cs typeface="Calibri (MS) Bold"/>
                  <a:sym typeface="Calibri (MS) Bold"/>
                </a:rPr>
                <a:t>Ablation Study — Contribution of Each Module</a:t>
              </a:r>
            </a:p>
          </p:txBody>
        </p:sp>
      </p:grpSp>
      <p:grpSp>
        <p:nvGrpSpPr>
          <p:cNvPr name="Group 11" id="11"/>
          <p:cNvGrpSpPr/>
          <p:nvPr/>
        </p:nvGrpSpPr>
        <p:grpSpPr>
          <a:xfrm rot="0">
            <a:off x="725167" y="2279647"/>
            <a:ext cx="16837657" cy="12697"/>
            <a:chOff x="0" y="0"/>
            <a:chExt cx="22450209" cy="16929"/>
          </a:xfrm>
        </p:grpSpPr>
        <p:sp>
          <p:nvSpPr>
            <p:cNvPr name="Freeform 12" id="12"/>
            <p:cNvSpPr/>
            <p:nvPr/>
          </p:nvSpPr>
          <p:spPr>
            <a:xfrm flipH="false" flipV="false" rot="0">
              <a:off x="8509" y="0"/>
              <a:ext cx="22433281" cy="16891"/>
            </a:xfrm>
            <a:custGeom>
              <a:avLst/>
              <a:gdLst/>
              <a:ahLst/>
              <a:cxnLst/>
              <a:rect r="r" b="b" t="t" l="l"/>
              <a:pathLst>
                <a:path h="16891" w="22433281">
                  <a:moveTo>
                    <a:pt x="0" y="0"/>
                  </a:moveTo>
                  <a:lnTo>
                    <a:pt x="22433281" y="0"/>
                  </a:lnTo>
                  <a:lnTo>
                    <a:pt x="22433281" y="16891"/>
                  </a:lnTo>
                  <a:lnTo>
                    <a:pt x="0" y="16891"/>
                  </a:lnTo>
                  <a:close/>
                </a:path>
              </a:pathLst>
            </a:custGeom>
            <a:solidFill>
              <a:srgbClr val="E2E8F0"/>
            </a:solidFill>
          </p:spPr>
        </p:sp>
      </p:grpSp>
      <p:grpSp>
        <p:nvGrpSpPr>
          <p:cNvPr name="Group 13" id="13"/>
          <p:cNvGrpSpPr/>
          <p:nvPr/>
        </p:nvGrpSpPr>
        <p:grpSpPr>
          <a:xfrm rot="0">
            <a:off x="731520" y="2377440"/>
            <a:ext cx="16824960" cy="548640"/>
            <a:chOff x="0" y="0"/>
            <a:chExt cx="22433280" cy="731520"/>
          </a:xfrm>
        </p:grpSpPr>
        <p:sp>
          <p:nvSpPr>
            <p:cNvPr name="Freeform 14" id="14"/>
            <p:cNvSpPr/>
            <p:nvPr/>
          </p:nvSpPr>
          <p:spPr>
            <a:xfrm flipH="false" flipV="false" rot="0">
              <a:off x="0" y="0"/>
              <a:ext cx="22433280" cy="731520"/>
            </a:xfrm>
            <a:custGeom>
              <a:avLst/>
              <a:gdLst/>
              <a:ahLst/>
              <a:cxnLst/>
              <a:rect r="r" b="b" t="t" l="l"/>
              <a:pathLst>
                <a:path h="731520" w="22433280">
                  <a:moveTo>
                    <a:pt x="0" y="0"/>
                  </a:moveTo>
                  <a:lnTo>
                    <a:pt x="22433280" y="0"/>
                  </a:lnTo>
                  <a:lnTo>
                    <a:pt x="22433280" y="731520"/>
                  </a:lnTo>
                  <a:lnTo>
                    <a:pt x="0" y="731520"/>
                  </a:lnTo>
                  <a:close/>
                </a:path>
              </a:pathLst>
            </a:custGeom>
            <a:blipFill>
              <a:blip r:embed="rId3">
                <a:alphaModFix amt="0"/>
              </a:blip>
              <a:stretch>
                <a:fillRect l="0" t="-547541" r="0" b="-547541"/>
              </a:stretch>
            </a:blipFill>
          </p:spPr>
        </p:sp>
        <p:sp>
          <p:nvSpPr>
            <p:cNvPr name="TextBox 15" id="15"/>
            <p:cNvSpPr txBox="true"/>
            <p:nvPr/>
          </p:nvSpPr>
          <p:spPr>
            <a:xfrm>
              <a:off x="0" y="-47625"/>
              <a:ext cx="22433280" cy="779145"/>
            </a:xfrm>
            <a:prstGeom prst="rect">
              <a:avLst/>
            </a:prstGeom>
          </p:spPr>
          <p:txBody>
            <a:bodyPr anchor="ctr" rtlCol="false" tIns="0" lIns="0" bIns="0" rIns="0"/>
            <a:lstStyle/>
            <a:p>
              <a:pPr algn="l">
                <a:lnSpc>
                  <a:spcPts val="2640"/>
                </a:lnSpc>
              </a:pPr>
              <a:r>
                <a:rPr lang="en-US" sz="2200">
                  <a:solidFill>
                    <a:srgbClr val="94A3B8"/>
                  </a:solidFill>
                  <a:latin typeface="Calibri (MS)"/>
                  <a:ea typeface="Calibri (MS)"/>
                  <a:cs typeface="Calibri (MS)"/>
                  <a:sym typeface="Calibri (MS)"/>
                </a:rPr>
                <a:t>Each module is added incrementally on all three datasets to isolate its individual contribution:</a:t>
              </a:r>
            </a:p>
          </p:txBody>
        </p:sp>
      </p:grpSp>
      <p:grpSp>
        <p:nvGrpSpPr>
          <p:cNvPr name="Group 16" id="16"/>
          <p:cNvGrpSpPr/>
          <p:nvPr/>
        </p:nvGrpSpPr>
        <p:grpSpPr>
          <a:xfrm rot="0">
            <a:off x="731520" y="3017520"/>
            <a:ext cx="16824960" cy="512064"/>
            <a:chOff x="0" y="0"/>
            <a:chExt cx="22433280" cy="682752"/>
          </a:xfrm>
        </p:grpSpPr>
        <p:sp>
          <p:nvSpPr>
            <p:cNvPr name="Freeform 17" id="17"/>
            <p:cNvSpPr/>
            <p:nvPr/>
          </p:nvSpPr>
          <p:spPr>
            <a:xfrm flipH="false" flipV="false" rot="0">
              <a:off x="0" y="0"/>
              <a:ext cx="22433280" cy="682752"/>
            </a:xfrm>
            <a:custGeom>
              <a:avLst/>
              <a:gdLst/>
              <a:ahLst/>
              <a:cxnLst/>
              <a:rect r="r" b="b" t="t" l="l"/>
              <a:pathLst>
                <a:path h="682752" w="22433280">
                  <a:moveTo>
                    <a:pt x="0" y="0"/>
                  </a:moveTo>
                  <a:lnTo>
                    <a:pt x="22433280" y="0"/>
                  </a:lnTo>
                  <a:lnTo>
                    <a:pt x="22433280" y="682752"/>
                  </a:lnTo>
                  <a:lnTo>
                    <a:pt x="0" y="682752"/>
                  </a:lnTo>
                  <a:close/>
                </a:path>
              </a:pathLst>
            </a:custGeom>
            <a:blipFill>
              <a:blip r:embed="rId3">
                <a:alphaModFix amt="0"/>
              </a:blip>
              <a:stretch>
                <a:fillRect l="0" t="-590222" r="0" b="-590222"/>
              </a:stretch>
            </a:blipFill>
          </p:spPr>
        </p:sp>
        <p:sp>
          <p:nvSpPr>
            <p:cNvPr name="TextBox 18" id="18"/>
            <p:cNvSpPr txBox="true"/>
            <p:nvPr/>
          </p:nvSpPr>
          <p:spPr>
            <a:xfrm>
              <a:off x="0" y="-38100"/>
              <a:ext cx="22433280" cy="720852"/>
            </a:xfrm>
            <a:prstGeom prst="rect">
              <a:avLst/>
            </a:prstGeom>
          </p:spPr>
          <p:txBody>
            <a:bodyPr anchor="ctr" rtlCol="false" tIns="0" lIns="0" bIns="0" rIns="0"/>
            <a:lstStyle/>
            <a:p>
              <a:pPr algn="l">
                <a:lnSpc>
                  <a:spcPts val="2879"/>
                </a:lnSpc>
              </a:pPr>
              <a:r>
                <a:rPr lang="en-US" sz="2400" b="true">
                  <a:solidFill>
                    <a:srgbClr val="0D9488"/>
                  </a:solidFill>
                  <a:latin typeface="Calibri (MS) Bold"/>
                  <a:ea typeface="Calibri (MS) Bold"/>
                  <a:cs typeface="Calibri (MS) Bold"/>
                  <a:sym typeface="Calibri (MS) Bold"/>
                </a:rPr>
                <a:t>RSICD</a:t>
              </a:r>
            </a:p>
          </p:txBody>
        </p:sp>
      </p:grpSp>
      <p:graphicFrame>
        <p:nvGraphicFramePr>
          <p:cNvPr name="Table 19" id="19"/>
          <p:cNvGraphicFramePr>
            <a:graphicFrameLocks noGrp="true"/>
          </p:cNvGraphicFramePr>
          <p:nvPr/>
        </p:nvGraphicFramePr>
        <p:xfrm>
          <a:off x="731520" y="3566160"/>
          <a:ext cx="15240000" cy="2794000"/>
        </p:xfrm>
        <a:graphic>
          <a:graphicData uri="http://schemas.openxmlformats.org/drawingml/2006/table">
            <a:tbl>
              <a:tblPr/>
              <a:tblGrid>
                <a:gridCol w="5420335"/>
                <a:gridCol w="1636611"/>
                <a:gridCol w="1636611"/>
                <a:gridCol w="1636611"/>
                <a:gridCol w="1636611"/>
                <a:gridCol w="1636611"/>
                <a:gridCol w="1636611"/>
              </a:tblGrid>
              <a:tr h="558800">
                <a:tc>
                  <a:txBody>
                    <a:bodyPr anchor="t" rtlCol="false"/>
                    <a:lstStyle/>
                    <a:p>
                      <a:pPr algn="l">
                        <a:lnSpc>
                          <a:spcPts val="2280"/>
                        </a:lnSpc>
                        <a:defRPr/>
                      </a:pPr>
                      <a:r>
                        <a:rPr lang="en-US" sz="1900" b="true">
                          <a:solidFill>
                            <a:srgbClr val="FFFFFF"/>
                          </a:solidFill>
                          <a:latin typeface="Calibri (MS) Bold"/>
                          <a:ea typeface="Calibri (MS) Bold"/>
                          <a:cs typeface="Calibri (MS) Bold"/>
                          <a:sym typeface="Calibri (MS) Bold"/>
                        </a:rPr>
                        <a:t>Configuration</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0D9488"/>
                    </a:solidFill>
                  </a:tcPr>
                </a:tc>
                <a:tc>
                  <a:txBody>
                    <a:bodyPr anchor="t" rtlCol="false"/>
                    <a:lstStyle/>
                    <a:p>
                      <a:pPr algn="ctr">
                        <a:lnSpc>
                          <a:spcPts val="2280"/>
                        </a:lnSpc>
                        <a:defRPr/>
                      </a:pPr>
                      <a:r>
                        <a:rPr lang="en-US" sz="1900" b="true">
                          <a:solidFill>
                            <a:srgbClr val="FFFFFF"/>
                          </a:solidFill>
                          <a:latin typeface="Calibri (MS) Bold"/>
                          <a:ea typeface="Calibri (MS) Bold"/>
                          <a:cs typeface="Calibri (MS) Bold"/>
                          <a:sym typeface="Calibri (MS) Bold"/>
                        </a:rPr>
                        <a:t>BLEU-1</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0D9488"/>
                    </a:solidFill>
                  </a:tcPr>
                </a:tc>
                <a:tc>
                  <a:txBody>
                    <a:bodyPr anchor="t" rtlCol="false"/>
                    <a:lstStyle/>
                    <a:p>
                      <a:pPr algn="ctr">
                        <a:lnSpc>
                          <a:spcPts val="2280"/>
                        </a:lnSpc>
                        <a:defRPr/>
                      </a:pPr>
                      <a:r>
                        <a:rPr lang="en-US" sz="1900" b="true">
                          <a:solidFill>
                            <a:srgbClr val="FFFFFF"/>
                          </a:solidFill>
                          <a:latin typeface="Calibri (MS) Bold"/>
                          <a:ea typeface="Calibri (MS) Bold"/>
                          <a:cs typeface="Calibri (MS) Bold"/>
                          <a:sym typeface="Calibri (MS) Bold"/>
                        </a:rPr>
                        <a:t>BLEU-4</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0D9488"/>
                    </a:solidFill>
                  </a:tcPr>
                </a:tc>
                <a:tc>
                  <a:txBody>
                    <a:bodyPr anchor="t" rtlCol="false"/>
                    <a:lstStyle/>
                    <a:p>
                      <a:pPr algn="ctr">
                        <a:lnSpc>
                          <a:spcPts val="2280"/>
                        </a:lnSpc>
                        <a:defRPr/>
                      </a:pPr>
                      <a:r>
                        <a:rPr lang="en-US" sz="1900" b="true">
                          <a:solidFill>
                            <a:srgbClr val="FFFFFF"/>
                          </a:solidFill>
                          <a:latin typeface="Calibri (MS) Bold"/>
                          <a:ea typeface="Calibri (MS) Bold"/>
                          <a:cs typeface="Calibri (MS) Bold"/>
                          <a:sym typeface="Calibri (MS) Bold"/>
                        </a:rPr>
                        <a:t>METEOR</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0D9488"/>
                    </a:solidFill>
                  </a:tcPr>
                </a:tc>
                <a:tc>
                  <a:txBody>
                    <a:bodyPr anchor="t" rtlCol="false"/>
                    <a:lstStyle/>
                    <a:p>
                      <a:pPr algn="ctr">
                        <a:lnSpc>
                          <a:spcPts val="2280"/>
                        </a:lnSpc>
                        <a:defRPr/>
                      </a:pPr>
                      <a:r>
                        <a:rPr lang="en-US" sz="1900" b="true">
                          <a:solidFill>
                            <a:srgbClr val="FFFFFF"/>
                          </a:solidFill>
                          <a:latin typeface="Calibri (MS) Bold"/>
                          <a:ea typeface="Calibri (MS) Bold"/>
                          <a:cs typeface="Calibri (MS) Bold"/>
                          <a:sym typeface="Calibri (MS) Bold"/>
                        </a:rPr>
                        <a:t>ROUGE-L</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0D9488"/>
                    </a:solidFill>
                  </a:tcPr>
                </a:tc>
                <a:tc>
                  <a:txBody>
                    <a:bodyPr anchor="t" rtlCol="false"/>
                    <a:lstStyle/>
                    <a:p>
                      <a:pPr algn="ctr">
                        <a:lnSpc>
                          <a:spcPts val="2280"/>
                        </a:lnSpc>
                        <a:defRPr/>
                      </a:pPr>
                      <a:r>
                        <a:rPr lang="en-US" sz="1900" b="true">
                          <a:solidFill>
                            <a:srgbClr val="FFFFFF"/>
                          </a:solidFill>
                          <a:latin typeface="Calibri (MS) Bold"/>
                          <a:ea typeface="Calibri (MS) Bold"/>
                          <a:cs typeface="Calibri (MS) Bold"/>
                          <a:sym typeface="Calibri (MS) Bold"/>
                        </a:rPr>
                        <a:t>CIDEr</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0D9488"/>
                    </a:solidFill>
                  </a:tcPr>
                </a:tc>
                <a:tc>
                  <a:txBody>
                    <a:bodyPr anchor="t" rtlCol="false"/>
                    <a:lstStyle/>
                    <a:p>
                      <a:pPr algn="ctr">
                        <a:lnSpc>
                          <a:spcPts val="2280"/>
                        </a:lnSpc>
                        <a:defRPr/>
                      </a:pPr>
                      <a:r>
                        <a:rPr lang="en-US" sz="1900" b="true">
                          <a:solidFill>
                            <a:srgbClr val="FFFFFF"/>
                          </a:solidFill>
                          <a:latin typeface="Calibri (MS) Bold"/>
                          <a:ea typeface="Calibri (MS) Bold"/>
                          <a:cs typeface="Calibri (MS) Bold"/>
                          <a:sym typeface="Calibri (MS) Bold"/>
                        </a:rPr>
                        <a:t>Δ CIDEr</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0D9488"/>
                    </a:solidFill>
                  </a:tcPr>
                </a:tc>
              </a:tr>
              <a:tr h="558800">
                <a:tc>
                  <a:txBody>
                    <a:bodyPr anchor="t" rtlCol="false"/>
                    <a:lstStyle/>
                    <a:p>
                      <a:pPr algn="l">
                        <a:lnSpc>
                          <a:spcPts val="2280"/>
                        </a:lnSpc>
                        <a:defRPr/>
                      </a:pPr>
                      <a:r>
                        <a:rPr lang="en-US" sz="1900">
                          <a:solidFill>
                            <a:srgbClr val="1E293B"/>
                          </a:solidFill>
                          <a:latin typeface="Calibri (MS)"/>
                          <a:ea typeface="Calibri (MS)"/>
                          <a:cs typeface="Calibri (MS)"/>
                          <a:sym typeface="Calibri (MS)"/>
                        </a:rPr>
                        <a:t>Baseline (Swin + LSTM)</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FFFFFF"/>
                    </a:solidFill>
                  </a:tcPr>
                </a:tc>
                <a:tc>
                  <a:txBody>
                    <a:bodyPr anchor="t" rtlCol="false"/>
                    <a:lstStyle/>
                    <a:p>
                      <a:pPr algn="ctr">
                        <a:lnSpc>
                          <a:spcPts val="2280"/>
                        </a:lnSpc>
                        <a:defRPr/>
                      </a:pPr>
                      <a:r>
                        <a:rPr lang="en-US" sz="1900">
                          <a:solidFill>
                            <a:srgbClr val="1E293B"/>
                          </a:solidFill>
                          <a:latin typeface="Calibri (MS)"/>
                          <a:ea typeface="Calibri (MS)"/>
                          <a:cs typeface="Calibri (MS)"/>
                          <a:sym typeface="Calibri (MS)"/>
                        </a:rPr>
                        <a:t>75.57</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FFFFFF"/>
                    </a:solidFill>
                  </a:tcPr>
                </a:tc>
                <a:tc>
                  <a:txBody>
                    <a:bodyPr anchor="t" rtlCol="false"/>
                    <a:lstStyle/>
                    <a:p>
                      <a:pPr algn="ctr">
                        <a:lnSpc>
                          <a:spcPts val="2280"/>
                        </a:lnSpc>
                        <a:defRPr/>
                      </a:pPr>
                      <a:r>
                        <a:rPr lang="en-US" sz="1900">
                          <a:solidFill>
                            <a:srgbClr val="1E293B"/>
                          </a:solidFill>
                          <a:latin typeface="Calibri (MS)"/>
                          <a:ea typeface="Calibri (MS)"/>
                          <a:cs typeface="Calibri (MS)"/>
                          <a:sym typeface="Calibri (MS)"/>
                        </a:rPr>
                        <a:t>47.40</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FFFFFF"/>
                    </a:solidFill>
                  </a:tcPr>
                </a:tc>
                <a:tc>
                  <a:txBody>
                    <a:bodyPr anchor="t" rtlCol="false"/>
                    <a:lstStyle/>
                    <a:p>
                      <a:pPr algn="ctr">
                        <a:lnSpc>
                          <a:spcPts val="2280"/>
                        </a:lnSpc>
                        <a:defRPr/>
                      </a:pPr>
                      <a:r>
                        <a:rPr lang="en-US" sz="1900">
                          <a:solidFill>
                            <a:srgbClr val="1E293B"/>
                          </a:solidFill>
                          <a:latin typeface="Calibri (MS)"/>
                          <a:ea typeface="Calibri (MS)"/>
                          <a:cs typeface="Calibri (MS)"/>
                          <a:sym typeface="Calibri (MS)"/>
                        </a:rPr>
                        <a:t>34.23</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FFFFFF"/>
                    </a:solidFill>
                  </a:tcPr>
                </a:tc>
                <a:tc>
                  <a:txBody>
                    <a:bodyPr anchor="t" rtlCol="false"/>
                    <a:lstStyle/>
                    <a:p>
                      <a:pPr algn="ctr">
                        <a:lnSpc>
                          <a:spcPts val="2280"/>
                        </a:lnSpc>
                        <a:defRPr/>
                      </a:pPr>
                      <a:r>
                        <a:rPr lang="en-US" sz="1900">
                          <a:solidFill>
                            <a:srgbClr val="1E293B"/>
                          </a:solidFill>
                          <a:latin typeface="Calibri (MS)"/>
                          <a:ea typeface="Calibri (MS)"/>
                          <a:cs typeface="Calibri (MS)"/>
                          <a:sym typeface="Calibri (MS)"/>
                        </a:rPr>
                        <a:t>65.97</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FFFFFF"/>
                    </a:solidFill>
                  </a:tcPr>
                </a:tc>
                <a:tc>
                  <a:txBody>
                    <a:bodyPr anchor="t" rtlCol="false"/>
                    <a:lstStyle/>
                    <a:p>
                      <a:pPr algn="ctr">
                        <a:lnSpc>
                          <a:spcPts val="2280"/>
                        </a:lnSpc>
                        <a:defRPr/>
                      </a:pPr>
                      <a:r>
                        <a:rPr lang="en-US" sz="1900">
                          <a:solidFill>
                            <a:srgbClr val="1E293B"/>
                          </a:solidFill>
                          <a:latin typeface="Calibri (MS)"/>
                          <a:ea typeface="Calibri (MS)"/>
                          <a:cs typeface="Calibri (MS)"/>
                          <a:sym typeface="Calibri (MS)"/>
                        </a:rPr>
                        <a:t>264.40</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FFFFFF"/>
                    </a:solidFill>
                  </a:tcPr>
                </a:tc>
                <a:tc>
                  <a:txBody>
                    <a:bodyPr anchor="t" rtlCol="false"/>
                    <a:lstStyle/>
                    <a:p>
                      <a:pPr algn="ctr">
                        <a:lnSpc>
                          <a:spcPts val="2280"/>
                        </a:lnSpc>
                        <a:defRPr/>
                      </a:pPr>
                      <a:r>
                        <a:rPr lang="en-US" sz="1900">
                          <a:solidFill>
                            <a:srgbClr val="0D9488"/>
                          </a:solidFill>
                          <a:latin typeface="Calibri (MS)"/>
                          <a:ea typeface="Calibri (MS)"/>
                          <a:cs typeface="Calibri (MS)"/>
                          <a:sym typeface="Calibri (MS)"/>
                        </a:rPr>
                        <a:t>—</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FFFFFF"/>
                    </a:solidFill>
                  </a:tcPr>
                </a:tc>
              </a:tr>
              <a:tr h="558800">
                <a:tc>
                  <a:txBody>
                    <a:bodyPr anchor="t" rtlCol="false"/>
                    <a:lstStyle/>
                    <a:p>
                      <a:pPr algn="l">
                        <a:lnSpc>
                          <a:spcPts val="2280"/>
                        </a:lnSpc>
                        <a:defRPr/>
                      </a:pPr>
                      <a:r>
                        <a:rPr lang="en-US" sz="1900">
                          <a:solidFill>
                            <a:srgbClr val="1E293B"/>
                          </a:solidFill>
                          <a:latin typeface="Calibri (MS)"/>
                          <a:ea typeface="Calibri (MS)"/>
                          <a:cs typeface="Calibri (MS)"/>
                          <a:sym typeface="Calibri (MS)"/>
                        </a:rPr>
                        <a:t>+ Fine-tuning (AMFF)</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F5F7FA"/>
                    </a:solidFill>
                  </a:tcPr>
                </a:tc>
                <a:tc>
                  <a:txBody>
                    <a:bodyPr anchor="t" rtlCol="false"/>
                    <a:lstStyle/>
                    <a:p>
                      <a:pPr algn="ctr">
                        <a:lnSpc>
                          <a:spcPts val="2280"/>
                        </a:lnSpc>
                        <a:defRPr/>
                      </a:pPr>
                      <a:r>
                        <a:rPr lang="en-US" sz="1900">
                          <a:solidFill>
                            <a:srgbClr val="1E293B"/>
                          </a:solidFill>
                          <a:latin typeface="Calibri (MS)"/>
                          <a:ea typeface="Calibri (MS)"/>
                          <a:cs typeface="Calibri (MS)"/>
                          <a:sym typeface="Calibri (MS)"/>
                        </a:rPr>
                        <a:t>77.68</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F5F7FA"/>
                    </a:solidFill>
                  </a:tcPr>
                </a:tc>
                <a:tc>
                  <a:txBody>
                    <a:bodyPr anchor="t" rtlCol="false"/>
                    <a:lstStyle/>
                    <a:p>
                      <a:pPr algn="ctr">
                        <a:lnSpc>
                          <a:spcPts val="2280"/>
                        </a:lnSpc>
                        <a:defRPr/>
                      </a:pPr>
                      <a:r>
                        <a:rPr lang="en-US" sz="1900">
                          <a:solidFill>
                            <a:srgbClr val="1E293B"/>
                          </a:solidFill>
                          <a:latin typeface="Calibri (MS)"/>
                          <a:ea typeface="Calibri (MS)"/>
                          <a:cs typeface="Calibri (MS)"/>
                          <a:sym typeface="Calibri (MS)"/>
                        </a:rPr>
                        <a:t>52.10</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F5F7FA"/>
                    </a:solidFill>
                  </a:tcPr>
                </a:tc>
                <a:tc>
                  <a:txBody>
                    <a:bodyPr anchor="t" rtlCol="false"/>
                    <a:lstStyle/>
                    <a:p>
                      <a:pPr algn="ctr">
                        <a:lnSpc>
                          <a:spcPts val="2280"/>
                        </a:lnSpc>
                        <a:defRPr/>
                      </a:pPr>
                      <a:r>
                        <a:rPr lang="en-US" sz="1900">
                          <a:solidFill>
                            <a:srgbClr val="1E293B"/>
                          </a:solidFill>
                          <a:latin typeface="Calibri (MS)"/>
                          <a:ea typeface="Calibri (MS)"/>
                          <a:cs typeface="Calibri (MS)"/>
                          <a:sym typeface="Calibri (MS)"/>
                        </a:rPr>
                        <a:t>35.74</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F5F7FA"/>
                    </a:solidFill>
                  </a:tcPr>
                </a:tc>
                <a:tc>
                  <a:txBody>
                    <a:bodyPr anchor="t" rtlCol="false"/>
                    <a:lstStyle/>
                    <a:p>
                      <a:pPr algn="ctr">
                        <a:lnSpc>
                          <a:spcPts val="2280"/>
                        </a:lnSpc>
                        <a:defRPr/>
                      </a:pPr>
                      <a:r>
                        <a:rPr lang="en-US" sz="1900">
                          <a:solidFill>
                            <a:srgbClr val="1E293B"/>
                          </a:solidFill>
                          <a:latin typeface="Calibri (MS)"/>
                          <a:ea typeface="Calibri (MS)"/>
                          <a:cs typeface="Calibri (MS)"/>
                          <a:sym typeface="Calibri (MS)"/>
                        </a:rPr>
                        <a:t>69.00</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F5F7FA"/>
                    </a:solidFill>
                  </a:tcPr>
                </a:tc>
                <a:tc>
                  <a:txBody>
                    <a:bodyPr anchor="t" rtlCol="false"/>
                    <a:lstStyle/>
                    <a:p>
                      <a:pPr algn="ctr">
                        <a:lnSpc>
                          <a:spcPts val="2280"/>
                        </a:lnSpc>
                        <a:defRPr/>
                      </a:pPr>
                      <a:r>
                        <a:rPr lang="en-US" sz="1900">
                          <a:solidFill>
                            <a:srgbClr val="1E293B"/>
                          </a:solidFill>
                          <a:latin typeface="Calibri (MS)"/>
                          <a:ea typeface="Calibri (MS)"/>
                          <a:cs typeface="Calibri (MS)"/>
                          <a:sym typeface="Calibri (MS)"/>
                        </a:rPr>
                        <a:t>278.61</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F5F7FA"/>
                    </a:solidFill>
                  </a:tcPr>
                </a:tc>
                <a:tc>
                  <a:txBody>
                    <a:bodyPr anchor="t" rtlCol="false"/>
                    <a:lstStyle/>
                    <a:p>
                      <a:pPr algn="ctr">
                        <a:lnSpc>
                          <a:spcPts val="2280"/>
                        </a:lnSpc>
                        <a:defRPr/>
                      </a:pPr>
                      <a:r>
                        <a:rPr lang="en-US" sz="1900">
                          <a:solidFill>
                            <a:srgbClr val="0D9488"/>
                          </a:solidFill>
                          <a:latin typeface="Calibri (MS)"/>
                          <a:ea typeface="Calibri (MS)"/>
                          <a:cs typeface="Calibri (MS)"/>
                          <a:sym typeface="Calibri (MS)"/>
                        </a:rPr>
                        <a:t>+14.21</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F5F7FA"/>
                    </a:solidFill>
                  </a:tcPr>
                </a:tc>
              </a:tr>
              <a:tr h="558800">
                <a:tc>
                  <a:txBody>
                    <a:bodyPr anchor="t" rtlCol="false"/>
                    <a:lstStyle/>
                    <a:p>
                      <a:pPr algn="l">
                        <a:lnSpc>
                          <a:spcPts val="2280"/>
                        </a:lnSpc>
                        <a:defRPr/>
                      </a:pPr>
                      <a:r>
                        <a:rPr lang="en-US" sz="1900">
                          <a:solidFill>
                            <a:srgbClr val="1E293B"/>
                          </a:solidFill>
                          <a:latin typeface="Calibri (MS)"/>
                          <a:ea typeface="Calibri (MS)"/>
                          <a:cs typeface="Calibri (MS)"/>
                          <a:sym typeface="Calibri (MS)"/>
                        </a:rPr>
                        <a:t>+ LFSE module</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FFFFFF"/>
                    </a:solidFill>
                  </a:tcPr>
                </a:tc>
                <a:tc>
                  <a:txBody>
                    <a:bodyPr anchor="t" rtlCol="false"/>
                    <a:lstStyle/>
                    <a:p>
                      <a:pPr algn="ctr">
                        <a:lnSpc>
                          <a:spcPts val="2280"/>
                        </a:lnSpc>
                        <a:defRPr/>
                      </a:pPr>
                      <a:r>
                        <a:rPr lang="en-US" sz="1900">
                          <a:solidFill>
                            <a:srgbClr val="1E293B"/>
                          </a:solidFill>
                          <a:latin typeface="Calibri (MS)"/>
                          <a:ea typeface="Calibri (MS)"/>
                          <a:cs typeface="Calibri (MS)"/>
                          <a:sym typeface="Calibri (MS)"/>
                        </a:rPr>
                        <a:t>78.54</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FFFFFF"/>
                    </a:solidFill>
                  </a:tcPr>
                </a:tc>
                <a:tc>
                  <a:txBody>
                    <a:bodyPr anchor="t" rtlCol="false"/>
                    <a:lstStyle/>
                    <a:p>
                      <a:pPr algn="ctr">
                        <a:lnSpc>
                          <a:spcPts val="2280"/>
                        </a:lnSpc>
                        <a:defRPr/>
                      </a:pPr>
                      <a:r>
                        <a:rPr lang="en-US" sz="1900">
                          <a:solidFill>
                            <a:srgbClr val="1E293B"/>
                          </a:solidFill>
                          <a:latin typeface="Calibri (MS)"/>
                          <a:ea typeface="Calibri (MS)"/>
                          <a:cs typeface="Calibri (MS)"/>
                          <a:sym typeface="Calibri (MS)"/>
                        </a:rPr>
                        <a:t>53.80</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FFFFFF"/>
                    </a:solidFill>
                  </a:tcPr>
                </a:tc>
                <a:tc>
                  <a:txBody>
                    <a:bodyPr anchor="t" rtlCol="false"/>
                    <a:lstStyle/>
                    <a:p>
                      <a:pPr algn="ctr">
                        <a:lnSpc>
                          <a:spcPts val="2280"/>
                        </a:lnSpc>
                        <a:defRPr/>
                      </a:pPr>
                      <a:r>
                        <a:rPr lang="en-US" sz="1900">
                          <a:solidFill>
                            <a:srgbClr val="1E293B"/>
                          </a:solidFill>
                          <a:latin typeface="Calibri (MS)"/>
                          <a:ea typeface="Calibri (MS)"/>
                          <a:cs typeface="Calibri (MS)"/>
                          <a:sym typeface="Calibri (MS)"/>
                        </a:rPr>
                        <a:t>36.78</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FFFFFF"/>
                    </a:solidFill>
                  </a:tcPr>
                </a:tc>
                <a:tc>
                  <a:txBody>
                    <a:bodyPr anchor="t" rtlCol="false"/>
                    <a:lstStyle/>
                    <a:p>
                      <a:pPr algn="ctr">
                        <a:lnSpc>
                          <a:spcPts val="2280"/>
                        </a:lnSpc>
                        <a:defRPr/>
                      </a:pPr>
                      <a:r>
                        <a:rPr lang="en-US" sz="1900">
                          <a:solidFill>
                            <a:srgbClr val="1E293B"/>
                          </a:solidFill>
                          <a:latin typeface="Calibri (MS)"/>
                          <a:ea typeface="Calibri (MS)"/>
                          <a:cs typeface="Calibri (MS)"/>
                          <a:sym typeface="Calibri (MS)"/>
                        </a:rPr>
                        <a:t>70.24</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FFFFFF"/>
                    </a:solidFill>
                  </a:tcPr>
                </a:tc>
                <a:tc>
                  <a:txBody>
                    <a:bodyPr anchor="t" rtlCol="false"/>
                    <a:lstStyle/>
                    <a:p>
                      <a:pPr algn="ctr">
                        <a:lnSpc>
                          <a:spcPts val="2280"/>
                        </a:lnSpc>
                        <a:defRPr/>
                      </a:pPr>
                      <a:r>
                        <a:rPr lang="en-US" sz="1900">
                          <a:solidFill>
                            <a:srgbClr val="1E293B"/>
                          </a:solidFill>
                          <a:latin typeface="Calibri (MS)"/>
                          <a:ea typeface="Calibri (MS)"/>
                          <a:cs typeface="Calibri (MS)"/>
                          <a:sym typeface="Calibri (MS)"/>
                        </a:rPr>
                        <a:t>294.60</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FFFFFF"/>
                    </a:solidFill>
                  </a:tcPr>
                </a:tc>
                <a:tc>
                  <a:txBody>
                    <a:bodyPr anchor="t" rtlCol="false"/>
                    <a:lstStyle/>
                    <a:p>
                      <a:pPr algn="ctr">
                        <a:lnSpc>
                          <a:spcPts val="2280"/>
                        </a:lnSpc>
                        <a:defRPr/>
                      </a:pPr>
                      <a:r>
                        <a:rPr lang="en-US" sz="1900">
                          <a:solidFill>
                            <a:srgbClr val="0D9488"/>
                          </a:solidFill>
                          <a:latin typeface="Calibri (MS)"/>
                          <a:ea typeface="Calibri (MS)"/>
                          <a:cs typeface="Calibri (MS)"/>
                          <a:sym typeface="Calibri (MS)"/>
                        </a:rPr>
                        <a:t>+15.99</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FFFFFF"/>
                    </a:solidFill>
                  </a:tcPr>
                </a:tc>
              </a:tr>
              <a:tr h="558800">
                <a:tc>
                  <a:txBody>
                    <a:bodyPr anchor="t" rtlCol="false"/>
                    <a:lstStyle/>
                    <a:p>
                      <a:pPr algn="l">
                        <a:lnSpc>
                          <a:spcPts val="2280"/>
                        </a:lnSpc>
                        <a:defRPr/>
                      </a:pPr>
                      <a:r>
                        <a:rPr lang="en-US" sz="1900" b="true">
                          <a:solidFill>
                            <a:srgbClr val="0D9488"/>
                          </a:solidFill>
                          <a:latin typeface="Calibri (MS) Bold"/>
                          <a:ea typeface="Calibri (MS) Bold"/>
                          <a:cs typeface="Calibri (MS) Bold"/>
                          <a:sym typeface="Calibri (MS) Bold"/>
                        </a:rPr>
                        <a:t>+ FID decoder (full TSFE)</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CCFBF1"/>
                    </a:solidFill>
                  </a:tcPr>
                </a:tc>
                <a:tc>
                  <a:txBody>
                    <a:bodyPr anchor="t" rtlCol="false"/>
                    <a:lstStyle/>
                    <a:p>
                      <a:pPr algn="ctr">
                        <a:lnSpc>
                          <a:spcPts val="2280"/>
                        </a:lnSpc>
                        <a:defRPr/>
                      </a:pPr>
                      <a:r>
                        <a:rPr lang="en-US" sz="1900" b="true">
                          <a:solidFill>
                            <a:srgbClr val="0D9488"/>
                          </a:solidFill>
                          <a:latin typeface="Calibri (MS) Bold"/>
                          <a:ea typeface="Calibri (MS) Bold"/>
                          <a:cs typeface="Calibri (MS) Bold"/>
                          <a:sym typeface="Calibri (MS) Bold"/>
                        </a:rPr>
                        <a:t>80.54</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CCFBF1"/>
                    </a:solidFill>
                  </a:tcPr>
                </a:tc>
                <a:tc>
                  <a:txBody>
                    <a:bodyPr anchor="t" rtlCol="false"/>
                    <a:lstStyle/>
                    <a:p>
                      <a:pPr algn="ctr">
                        <a:lnSpc>
                          <a:spcPts val="2280"/>
                        </a:lnSpc>
                        <a:defRPr/>
                      </a:pPr>
                      <a:r>
                        <a:rPr lang="en-US" sz="1900" b="true">
                          <a:solidFill>
                            <a:srgbClr val="0D9488"/>
                          </a:solidFill>
                          <a:latin typeface="Calibri (MS) Bold"/>
                          <a:ea typeface="Calibri (MS) Bold"/>
                          <a:cs typeface="Calibri (MS) Bold"/>
                          <a:sym typeface="Calibri (MS) Bold"/>
                        </a:rPr>
                        <a:t>54.86</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CCFBF1"/>
                    </a:solidFill>
                  </a:tcPr>
                </a:tc>
                <a:tc>
                  <a:txBody>
                    <a:bodyPr anchor="t" rtlCol="false"/>
                    <a:lstStyle/>
                    <a:p>
                      <a:pPr algn="ctr">
                        <a:lnSpc>
                          <a:spcPts val="2280"/>
                        </a:lnSpc>
                        <a:defRPr/>
                      </a:pPr>
                      <a:r>
                        <a:rPr lang="en-US" sz="1900" b="true">
                          <a:solidFill>
                            <a:srgbClr val="0D9488"/>
                          </a:solidFill>
                          <a:latin typeface="Calibri (MS) Bold"/>
                          <a:ea typeface="Calibri (MS) Bold"/>
                          <a:cs typeface="Calibri (MS) Bold"/>
                          <a:sym typeface="Calibri (MS) Bold"/>
                        </a:rPr>
                        <a:t>37.93</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CCFBF1"/>
                    </a:solidFill>
                  </a:tcPr>
                </a:tc>
                <a:tc>
                  <a:txBody>
                    <a:bodyPr anchor="t" rtlCol="false"/>
                    <a:lstStyle/>
                    <a:p>
                      <a:pPr algn="ctr">
                        <a:lnSpc>
                          <a:spcPts val="2280"/>
                        </a:lnSpc>
                        <a:defRPr/>
                      </a:pPr>
                      <a:r>
                        <a:rPr lang="en-US" sz="1900" b="true">
                          <a:solidFill>
                            <a:srgbClr val="0D9488"/>
                          </a:solidFill>
                          <a:latin typeface="Calibri (MS) Bold"/>
                          <a:ea typeface="Calibri (MS) Bold"/>
                          <a:cs typeface="Calibri (MS) Bold"/>
                          <a:sym typeface="Calibri (MS) Bold"/>
                        </a:rPr>
                        <a:t>70.20</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CCFBF1"/>
                    </a:solidFill>
                  </a:tcPr>
                </a:tc>
                <a:tc>
                  <a:txBody>
                    <a:bodyPr anchor="t" rtlCol="false"/>
                    <a:lstStyle/>
                    <a:p>
                      <a:pPr algn="ctr">
                        <a:lnSpc>
                          <a:spcPts val="2280"/>
                        </a:lnSpc>
                        <a:defRPr/>
                      </a:pPr>
                      <a:r>
                        <a:rPr lang="en-US" sz="1900" b="true">
                          <a:solidFill>
                            <a:srgbClr val="0D9488"/>
                          </a:solidFill>
                          <a:latin typeface="Calibri (MS) Bold"/>
                          <a:ea typeface="Calibri (MS) Bold"/>
                          <a:cs typeface="Calibri (MS) Bold"/>
                          <a:sym typeface="Calibri (MS) Bold"/>
                        </a:rPr>
                        <a:t>305.70</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CCFBF1"/>
                    </a:solidFill>
                  </a:tcPr>
                </a:tc>
                <a:tc>
                  <a:txBody>
                    <a:bodyPr anchor="t" rtlCol="false"/>
                    <a:lstStyle/>
                    <a:p>
                      <a:pPr algn="ctr">
                        <a:lnSpc>
                          <a:spcPts val="2280"/>
                        </a:lnSpc>
                        <a:defRPr/>
                      </a:pPr>
                      <a:r>
                        <a:rPr lang="en-US" sz="1900" b="true">
                          <a:solidFill>
                            <a:srgbClr val="0D9488"/>
                          </a:solidFill>
                          <a:latin typeface="Calibri (MS) Bold"/>
                          <a:ea typeface="Calibri (MS) Bold"/>
                          <a:cs typeface="Calibri (MS) Bold"/>
                          <a:sym typeface="Calibri (MS) Bold"/>
                        </a:rPr>
                        <a:t>+11.10</a:t>
                      </a:r>
                      <a:endParaRPr lang="en-US" sz="1100"/>
                    </a:p>
                  </a:txBody>
                  <a:tcPr marL="91440" marR="91440" marT="91440" marB="91440" anchor="ctr">
                    <a:lnL cmpd="sng" algn="ctr" cap="flat" w="3810">
                      <a:solidFill>
                        <a:srgbClr val="E2E8F0"/>
                      </a:solidFill>
                      <a:prstDash val="solid"/>
                      <a:round/>
                      <a:headEnd type="none" w="med" len="med"/>
                      <a:tailEnd type="none" w="med" len="med"/>
                    </a:lnL>
                    <a:lnR cmpd="sng" algn="ctr" cap="flat" w="3810">
                      <a:solidFill>
                        <a:srgbClr val="E2E8F0"/>
                      </a:solidFill>
                      <a:prstDash val="solid"/>
                      <a:round/>
                      <a:headEnd type="none" w="med" len="med"/>
                      <a:tailEnd type="none" w="med" len="med"/>
                    </a:lnR>
                    <a:lnT cmpd="sng" algn="ctr" cap="flat" w="3810">
                      <a:solidFill>
                        <a:srgbClr val="E2E8F0"/>
                      </a:solidFill>
                      <a:prstDash val="solid"/>
                      <a:round/>
                      <a:headEnd type="none" w="med" len="med"/>
                      <a:tailEnd type="none" w="med" len="med"/>
                    </a:lnT>
                    <a:lnB cmpd="sng" algn="ctr" cap="flat" w="3810">
                      <a:solidFill>
                        <a:srgbClr val="E2E8F0"/>
                      </a:solidFill>
                      <a:prstDash val="solid"/>
                      <a:round/>
                      <a:headEnd type="none" w="med" len="med"/>
                      <a:tailEnd type="none" w="med" len="med"/>
                    </a:lnB>
                    <a:solidFill>
                      <a:srgbClr val="CCFBF1"/>
                    </a:solidFill>
                  </a:tcPr>
                </a:tc>
              </a:tr>
            </a:tbl>
          </a:graphicData>
        </a:graphic>
      </p:graphicFrame>
      <p:grpSp>
        <p:nvGrpSpPr>
          <p:cNvPr name="Group 20" id="20"/>
          <p:cNvGrpSpPr/>
          <p:nvPr/>
        </p:nvGrpSpPr>
        <p:grpSpPr>
          <a:xfrm rot="0">
            <a:off x="630332" y="6694151"/>
            <a:ext cx="10475723" cy="548640"/>
            <a:chOff x="0" y="0"/>
            <a:chExt cx="13967630" cy="731520"/>
          </a:xfrm>
        </p:grpSpPr>
        <p:sp>
          <p:nvSpPr>
            <p:cNvPr name="Freeform 21" id="21"/>
            <p:cNvSpPr/>
            <p:nvPr/>
          </p:nvSpPr>
          <p:spPr>
            <a:xfrm flipH="false" flipV="false" rot="0">
              <a:off x="0" y="0"/>
              <a:ext cx="13967631" cy="731520"/>
            </a:xfrm>
            <a:custGeom>
              <a:avLst/>
              <a:gdLst/>
              <a:ahLst/>
              <a:cxnLst/>
              <a:rect r="r" b="b" t="t" l="l"/>
              <a:pathLst>
                <a:path h="731520" w="13967631">
                  <a:moveTo>
                    <a:pt x="0" y="0"/>
                  </a:moveTo>
                  <a:lnTo>
                    <a:pt x="13967631" y="0"/>
                  </a:lnTo>
                  <a:lnTo>
                    <a:pt x="13967631" y="731520"/>
                  </a:lnTo>
                  <a:lnTo>
                    <a:pt x="0" y="731520"/>
                  </a:lnTo>
                  <a:close/>
                </a:path>
              </a:pathLst>
            </a:custGeom>
            <a:blipFill>
              <a:blip r:embed="rId3">
                <a:alphaModFix amt="0"/>
              </a:blip>
              <a:stretch>
                <a:fillRect l="0" t="-547541" r="-60609" b="-547541"/>
              </a:stretch>
            </a:blipFill>
          </p:spPr>
        </p:sp>
        <p:sp>
          <p:nvSpPr>
            <p:cNvPr name="TextBox 22" id="22"/>
            <p:cNvSpPr txBox="true"/>
            <p:nvPr/>
          </p:nvSpPr>
          <p:spPr>
            <a:xfrm>
              <a:off x="0" y="-47625"/>
              <a:ext cx="13967630" cy="779145"/>
            </a:xfrm>
            <a:prstGeom prst="rect">
              <a:avLst/>
            </a:prstGeom>
          </p:spPr>
          <p:txBody>
            <a:bodyPr anchor="ctr" rtlCol="false" tIns="0" lIns="0" bIns="0" rIns="0"/>
            <a:lstStyle/>
            <a:p>
              <a:pPr algn="l">
                <a:lnSpc>
                  <a:spcPts val="2640"/>
                </a:lnSpc>
              </a:pPr>
              <a:r>
                <a:rPr lang="en-US" sz="2200" b="true">
                  <a:solidFill>
                    <a:srgbClr val="1E293B"/>
                  </a:solidFill>
                  <a:latin typeface="Calibri (MS) Bold"/>
                  <a:ea typeface="Calibri (MS) Bold"/>
                  <a:cs typeface="Calibri (MS) Bold"/>
                  <a:sym typeface="Calibri (MS) Bold"/>
                </a:rPr>
                <a:t>Cumulative CIDEr gain on RSICD:</a:t>
              </a:r>
            </a:p>
          </p:txBody>
        </p:sp>
      </p:grpSp>
      <p:grpSp>
        <p:nvGrpSpPr>
          <p:cNvPr name="Group 23" id="23"/>
          <p:cNvGrpSpPr/>
          <p:nvPr/>
        </p:nvGrpSpPr>
        <p:grpSpPr>
          <a:xfrm rot="0">
            <a:off x="630332" y="7337723"/>
            <a:ext cx="10992104" cy="2132082"/>
            <a:chOff x="0" y="0"/>
            <a:chExt cx="14656139" cy="2842776"/>
          </a:xfrm>
        </p:grpSpPr>
        <p:grpSp>
          <p:nvGrpSpPr>
            <p:cNvPr name="Group 24" id="24"/>
            <p:cNvGrpSpPr/>
            <p:nvPr/>
          </p:nvGrpSpPr>
          <p:grpSpPr>
            <a:xfrm rot="0">
              <a:off x="0" y="0"/>
              <a:ext cx="14656139" cy="610583"/>
              <a:chOff x="0" y="0"/>
              <a:chExt cx="23054475" cy="960463"/>
            </a:xfrm>
          </p:grpSpPr>
          <p:sp>
            <p:nvSpPr>
              <p:cNvPr name="Freeform 25" id="25"/>
              <p:cNvSpPr/>
              <p:nvPr/>
            </p:nvSpPr>
            <p:spPr>
              <a:xfrm flipH="false" flipV="false" rot="0">
                <a:off x="17717" y="16891"/>
                <a:ext cx="23018947" cy="926592"/>
              </a:xfrm>
              <a:custGeom>
                <a:avLst/>
                <a:gdLst/>
                <a:ahLst/>
                <a:cxnLst/>
                <a:rect r="r" b="b" t="t" l="l"/>
                <a:pathLst>
                  <a:path h="926592" w="23018947">
                    <a:moveTo>
                      <a:pt x="0" y="0"/>
                    </a:moveTo>
                    <a:lnTo>
                      <a:pt x="23018947" y="0"/>
                    </a:lnTo>
                    <a:lnTo>
                      <a:pt x="23018947" y="926592"/>
                    </a:lnTo>
                    <a:lnTo>
                      <a:pt x="0" y="926592"/>
                    </a:lnTo>
                    <a:close/>
                  </a:path>
                </a:pathLst>
              </a:custGeom>
              <a:solidFill>
                <a:srgbClr val="F1F5F9"/>
              </a:solidFill>
            </p:spPr>
          </p:sp>
          <p:sp>
            <p:nvSpPr>
              <p:cNvPr name="Freeform 26" id="26"/>
              <p:cNvSpPr/>
              <p:nvPr/>
            </p:nvSpPr>
            <p:spPr>
              <a:xfrm flipH="false" flipV="false" rot="0">
                <a:off x="0" y="0"/>
                <a:ext cx="23054382" cy="960376"/>
              </a:xfrm>
              <a:custGeom>
                <a:avLst/>
                <a:gdLst/>
                <a:ahLst/>
                <a:cxnLst/>
                <a:rect r="r" b="b" t="t" l="l"/>
                <a:pathLst>
                  <a:path h="960376" w="23054382">
                    <a:moveTo>
                      <a:pt x="17717" y="0"/>
                    </a:moveTo>
                    <a:lnTo>
                      <a:pt x="23036664" y="0"/>
                    </a:lnTo>
                    <a:cubicBezTo>
                      <a:pt x="23046523" y="0"/>
                      <a:pt x="23054382" y="7620"/>
                      <a:pt x="23054382" y="16891"/>
                    </a:cubicBezTo>
                    <a:lnTo>
                      <a:pt x="23054382" y="943483"/>
                    </a:lnTo>
                    <a:cubicBezTo>
                      <a:pt x="23054382" y="952881"/>
                      <a:pt x="23046390" y="960374"/>
                      <a:pt x="23036664" y="960374"/>
                    </a:cubicBezTo>
                    <a:lnTo>
                      <a:pt x="17717" y="960374"/>
                    </a:lnTo>
                    <a:cubicBezTo>
                      <a:pt x="7993" y="960501"/>
                      <a:pt x="0" y="952881"/>
                      <a:pt x="0" y="943483"/>
                    </a:cubicBezTo>
                    <a:lnTo>
                      <a:pt x="0" y="16891"/>
                    </a:lnTo>
                    <a:cubicBezTo>
                      <a:pt x="0" y="7620"/>
                      <a:pt x="7993" y="0"/>
                      <a:pt x="17717" y="0"/>
                    </a:cubicBezTo>
                    <a:moveTo>
                      <a:pt x="17717" y="33909"/>
                    </a:moveTo>
                    <a:lnTo>
                      <a:pt x="17717" y="16891"/>
                    </a:lnTo>
                    <a:lnTo>
                      <a:pt x="35567" y="16891"/>
                    </a:lnTo>
                    <a:lnTo>
                      <a:pt x="35567" y="943483"/>
                    </a:lnTo>
                    <a:lnTo>
                      <a:pt x="17717" y="943483"/>
                    </a:lnTo>
                    <a:lnTo>
                      <a:pt x="17717" y="926592"/>
                    </a:lnTo>
                    <a:lnTo>
                      <a:pt x="23036664" y="926592"/>
                    </a:lnTo>
                    <a:lnTo>
                      <a:pt x="23036664" y="943483"/>
                    </a:lnTo>
                    <a:lnTo>
                      <a:pt x="23018947" y="943483"/>
                    </a:lnTo>
                    <a:lnTo>
                      <a:pt x="23018947" y="16891"/>
                    </a:lnTo>
                    <a:lnTo>
                      <a:pt x="23036664" y="16891"/>
                    </a:lnTo>
                    <a:lnTo>
                      <a:pt x="23036664" y="33909"/>
                    </a:lnTo>
                    <a:lnTo>
                      <a:pt x="17717" y="33909"/>
                    </a:lnTo>
                    <a:close/>
                  </a:path>
                </a:pathLst>
              </a:custGeom>
              <a:solidFill>
                <a:srgbClr val="E2E8F0"/>
              </a:solidFill>
            </p:spPr>
          </p:sp>
        </p:grpSp>
        <p:grpSp>
          <p:nvGrpSpPr>
            <p:cNvPr name="Group 27" id="27"/>
            <p:cNvGrpSpPr/>
            <p:nvPr/>
          </p:nvGrpSpPr>
          <p:grpSpPr>
            <a:xfrm rot="0">
              <a:off x="0" y="0"/>
              <a:ext cx="11548717" cy="610583"/>
              <a:chOff x="0" y="0"/>
              <a:chExt cx="18166423" cy="960463"/>
            </a:xfrm>
          </p:grpSpPr>
          <p:sp>
            <p:nvSpPr>
              <p:cNvPr name="Freeform 28" id="28"/>
              <p:cNvSpPr/>
              <p:nvPr/>
            </p:nvSpPr>
            <p:spPr>
              <a:xfrm flipH="false" flipV="false" rot="0">
                <a:off x="16891" y="16891"/>
                <a:ext cx="18132552" cy="926592"/>
              </a:xfrm>
              <a:custGeom>
                <a:avLst/>
                <a:gdLst/>
                <a:ahLst/>
                <a:cxnLst/>
                <a:rect r="r" b="b" t="t" l="l"/>
                <a:pathLst>
                  <a:path h="926592" w="18132552">
                    <a:moveTo>
                      <a:pt x="0" y="0"/>
                    </a:moveTo>
                    <a:lnTo>
                      <a:pt x="18132552" y="0"/>
                    </a:lnTo>
                    <a:lnTo>
                      <a:pt x="18132552" y="926592"/>
                    </a:lnTo>
                    <a:lnTo>
                      <a:pt x="0" y="926592"/>
                    </a:lnTo>
                    <a:close/>
                  </a:path>
                </a:pathLst>
              </a:custGeom>
              <a:solidFill>
                <a:srgbClr val="94A3B8"/>
              </a:solidFill>
            </p:spPr>
          </p:sp>
          <p:sp>
            <p:nvSpPr>
              <p:cNvPr name="Freeform 29" id="29"/>
              <p:cNvSpPr/>
              <p:nvPr/>
            </p:nvSpPr>
            <p:spPr>
              <a:xfrm flipH="false" flipV="false" rot="0">
                <a:off x="0" y="0"/>
                <a:ext cx="18166333" cy="960376"/>
              </a:xfrm>
              <a:custGeom>
                <a:avLst/>
                <a:gdLst/>
                <a:ahLst/>
                <a:cxnLst/>
                <a:rect r="r" b="b" t="t" l="l"/>
                <a:pathLst>
                  <a:path h="960376" w="18166333">
                    <a:moveTo>
                      <a:pt x="16891" y="0"/>
                    </a:moveTo>
                    <a:lnTo>
                      <a:pt x="18149443" y="0"/>
                    </a:lnTo>
                    <a:cubicBezTo>
                      <a:pt x="18158840" y="0"/>
                      <a:pt x="18166333" y="7620"/>
                      <a:pt x="18166333" y="16891"/>
                    </a:cubicBezTo>
                    <a:lnTo>
                      <a:pt x="18166333" y="943483"/>
                    </a:lnTo>
                    <a:cubicBezTo>
                      <a:pt x="18166333" y="952881"/>
                      <a:pt x="18158713" y="960374"/>
                      <a:pt x="18149443" y="960374"/>
                    </a:cubicBezTo>
                    <a:lnTo>
                      <a:pt x="16891" y="960374"/>
                    </a:lnTo>
                    <a:cubicBezTo>
                      <a:pt x="7620" y="960501"/>
                      <a:pt x="0" y="952881"/>
                      <a:pt x="0" y="943483"/>
                    </a:cubicBezTo>
                    <a:lnTo>
                      <a:pt x="0" y="16891"/>
                    </a:lnTo>
                    <a:cubicBezTo>
                      <a:pt x="0" y="7620"/>
                      <a:pt x="7620" y="0"/>
                      <a:pt x="16891" y="0"/>
                    </a:cubicBezTo>
                    <a:moveTo>
                      <a:pt x="16891" y="33909"/>
                    </a:moveTo>
                    <a:lnTo>
                      <a:pt x="16891" y="16891"/>
                    </a:lnTo>
                    <a:lnTo>
                      <a:pt x="33909" y="16891"/>
                    </a:lnTo>
                    <a:lnTo>
                      <a:pt x="33909" y="943483"/>
                    </a:lnTo>
                    <a:lnTo>
                      <a:pt x="16891" y="943483"/>
                    </a:lnTo>
                    <a:lnTo>
                      <a:pt x="16891" y="926592"/>
                    </a:lnTo>
                    <a:lnTo>
                      <a:pt x="18149443" y="926592"/>
                    </a:lnTo>
                    <a:lnTo>
                      <a:pt x="18149443" y="943483"/>
                    </a:lnTo>
                    <a:lnTo>
                      <a:pt x="18132552" y="943483"/>
                    </a:lnTo>
                    <a:lnTo>
                      <a:pt x="18132552" y="16891"/>
                    </a:lnTo>
                    <a:lnTo>
                      <a:pt x="18149443" y="16891"/>
                    </a:lnTo>
                    <a:lnTo>
                      <a:pt x="18149443" y="33909"/>
                    </a:lnTo>
                    <a:lnTo>
                      <a:pt x="16891" y="33909"/>
                    </a:lnTo>
                    <a:close/>
                  </a:path>
                </a:pathLst>
              </a:custGeom>
              <a:solidFill>
                <a:srgbClr val="94A3B8"/>
              </a:solidFill>
            </p:spPr>
          </p:sp>
        </p:grpSp>
        <p:grpSp>
          <p:nvGrpSpPr>
            <p:cNvPr name="Group 30" id="30"/>
            <p:cNvGrpSpPr/>
            <p:nvPr/>
          </p:nvGrpSpPr>
          <p:grpSpPr>
            <a:xfrm rot="0">
              <a:off x="134773" y="10762"/>
              <a:ext cx="3720322" cy="589051"/>
              <a:chOff x="0" y="0"/>
              <a:chExt cx="5852160" cy="926592"/>
            </a:xfrm>
          </p:grpSpPr>
          <p:sp>
            <p:nvSpPr>
              <p:cNvPr name="Freeform 31" id="31"/>
              <p:cNvSpPr/>
              <p:nvPr/>
            </p:nvSpPr>
            <p:spPr>
              <a:xfrm flipH="false" flipV="false" rot="0">
                <a:off x="0" y="0"/>
                <a:ext cx="5852160" cy="926592"/>
              </a:xfrm>
              <a:custGeom>
                <a:avLst/>
                <a:gdLst/>
                <a:ahLst/>
                <a:cxnLst/>
                <a:rect r="r" b="b" t="t" l="l"/>
                <a:pathLst>
                  <a:path h="926592" w="5852160">
                    <a:moveTo>
                      <a:pt x="0" y="0"/>
                    </a:moveTo>
                    <a:lnTo>
                      <a:pt x="5852160" y="0"/>
                    </a:lnTo>
                    <a:lnTo>
                      <a:pt x="5852160" y="926592"/>
                    </a:lnTo>
                    <a:lnTo>
                      <a:pt x="0" y="926592"/>
                    </a:lnTo>
                    <a:close/>
                  </a:path>
                </a:pathLst>
              </a:custGeom>
              <a:blipFill>
                <a:blip r:embed="rId3">
                  <a:alphaModFix amt="0"/>
                </a:blip>
                <a:stretch>
                  <a:fillRect l="0" t="-73063" r="0" b="-73063"/>
                </a:stretch>
              </a:blipFill>
            </p:spPr>
          </p:sp>
          <p:sp>
            <p:nvSpPr>
              <p:cNvPr name="TextBox 32" id="32"/>
              <p:cNvSpPr txBox="true"/>
              <p:nvPr/>
            </p:nvSpPr>
            <p:spPr>
              <a:xfrm>
                <a:off x="0" y="-38100"/>
                <a:ext cx="5852160" cy="964692"/>
              </a:xfrm>
              <a:prstGeom prst="rect">
                <a:avLst/>
              </a:prstGeom>
            </p:spPr>
            <p:txBody>
              <a:bodyPr anchor="ctr" rtlCol="false" tIns="0" lIns="0" bIns="0" rIns="0"/>
              <a:lstStyle/>
              <a:p>
                <a:pPr algn="l">
                  <a:lnSpc>
                    <a:spcPts val="2400"/>
                  </a:lnSpc>
                </a:pPr>
                <a:r>
                  <a:rPr lang="en-US" sz="2000" b="true">
                    <a:solidFill>
                      <a:srgbClr val="FFFFFF"/>
                    </a:solidFill>
                    <a:latin typeface="Calibri (MS) Bold"/>
                    <a:ea typeface="Calibri (MS) Bold"/>
                    <a:cs typeface="Calibri (MS) Bold"/>
                    <a:sym typeface="Calibri (MS) Bold"/>
                  </a:rPr>
                  <a:t>Baseline</a:t>
                </a:r>
              </a:p>
            </p:txBody>
          </p:sp>
        </p:grpSp>
        <p:grpSp>
          <p:nvGrpSpPr>
            <p:cNvPr name="Group 33" id="33"/>
            <p:cNvGrpSpPr/>
            <p:nvPr/>
          </p:nvGrpSpPr>
          <p:grpSpPr>
            <a:xfrm rot="0">
              <a:off x="11615454" y="10762"/>
              <a:ext cx="1240107" cy="589051"/>
              <a:chOff x="0" y="0"/>
              <a:chExt cx="1950720" cy="926592"/>
            </a:xfrm>
          </p:grpSpPr>
          <p:sp>
            <p:nvSpPr>
              <p:cNvPr name="Freeform 34" id="34"/>
              <p:cNvSpPr/>
              <p:nvPr/>
            </p:nvSpPr>
            <p:spPr>
              <a:xfrm flipH="false" flipV="false" rot="0">
                <a:off x="0" y="0"/>
                <a:ext cx="1950720" cy="926592"/>
              </a:xfrm>
              <a:custGeom>
                <a:avLst/>
                <a:gdLst/>
                <a:ahLst/>
                <a:cxnLst/>
                <a:rect r="r" b="b" t="t" l="l"/>
                <a:pathLst>
                  <a:path h="926592" w="1950720">
                    <a:moveTo>
                      <a:pt x="0" y="0"/>
                    </a:moveTo>
                    <a:lnTo>
                      <a:pt x="1950720" y="0"/>
                    </a:lnTo>
                    <a:lnTo>
                      <a:pt x="1950720" y="926592"/>
                    </a:lnTo>
                    <a:lnTo>
                      <a:pt x="0" y="926592"/>
                    </a:lnTo>
                    <a:close/>
                  </a:path>
                </a:pathLst>
              </a:custGeom>
              <a:blipFill>
                <a:blip r:embed="rId3">
                  <a:alphaModFix amt="0"/>
                </a:blip>
                <a:stretch>
                  <a:fillRect l="-10944" t="0" r="-10944" b="0"/>
                </a:stretch>
              </a:blipFill>
            </p:spPr>
          </p:sp>
          <p:sp>
            <p:nvSpPr>
              <p:cNvPr name="TextBox 35" id="35"/>
              <p:cNvSpPr txBox="true"/>
              <p:nvPr/>
            </p:nvSpPr>
            <p:spPr>
              <a:xfrm>
                <a:off x="0" y="-38100"/>
                <a:ext cx="1950720" cy="964692"/>
              </a:xfrm>
              <a:prstGeom prst="rect">
                <a:avLst/>
              </a:prstGeom>
            </p:spPr>
            <p:txBody>
              <a:bodyPr anchor="ctr" rtlCol="false" tIns="0" lIns="0" bIns="0" rIns="0"/>
              <a:lstStyle/>
              <a:p>
                <a:pPr algn="l">
                  <a:lnSpc>
                    <a:spcPts val="2400"/>
                  </a:lnSpc>
                </a:pPr>
                <a:r>
                  <a:rPr lang="en-US" sz="2000" b="true">
                    <a:solidFill>
                      <a:srgbClr val="94A3B8"/>
                    </a:solidFill>
                    <a:latin typeface="Calibri (MS) Bold"/>
                    <a:ea typeface="Calibri (MS) Bold"/>
                    <a:cs typeface="Calibri (MS) Bold"/>
                    <a:sym typeface="Calibri (MS) Bold"/>
                  </a:rPr>
                  <a:t>264.40</a:t>
                </a:r>
              </a:p>
            </p:txBody>
          </p:sp>
        </p:grpSp>
        <p:grpSp>
          <p:nvGrpSpPr>
            <p:cNvPr name="Group 36" id="36"/>
            <p:cNvGrpSpPr/>
            <p:nvPr/>
          </p:nvGrpSpPr>
          <p:grpSpPr>
            <a:xfrm rot="0">
              <a:off x="0" y="744064"/>
              <a:ext cx="14656139" cy="610583"/>
              <a:chOff x="0" y="0"/>
              <a:chExt cx="23054475" cy="960463"/>
            </a:xfrm>
          </p:grpSpPr>
          <p:sp>
            <p:nvSpPr>
              <p:cNvPr name="Freeform 37" id="37"/>
              <p:cNvSpPr/>
              <p:nvPr/>
            </p:nvSpPr>
            <p:spPr>
              <a:xfrm flipH="false" flipV="false" rot="0">
                <a:off x="17717" y="16891"/>
                <a:ext cx="23018947" cy="926592"/>
              </a:xfrm>
              <a:custGeom>
                <a:avLst/>
                <a:gdLst/>
                <a:ahLst/>
                <a:cxnLst/>
                <a:rect r="r" b="b" t="t" l="l"/>
                <a:pathLst>
                  <a:path h="926592" w="23018947">
                    <a:moveTo>
                      <a:pt x="0" y="0"/>
                    </a:moveTo>
                    <a:lnTo>
                      <a:pt x="23018947" y="0"/>
                    </a:lnTo>
                    <a:lnTo>
                      <a:pt x="23018947" y="926592"/>
                    </a:lnTo>
                    <a:lnTo>
                      <a:pt x="0" y="926592"/>
                    </a:lnTo>
                    <a:close/>
                  </a:path>
                </a:pathLst>
              </a:custGeom>
              <a:solidFill>
                <a:srgbClr val="F1F5F9"/>
              </a:solidFill>
            </p:spPr>
          </p:sp>
          <p:sp>
            <p:nvSpPr>
              <p:cNvPr name="Freeform 38" id="38"/>
              <p:cNvSpPr/>
              <p:nvPr/>
            </p:nvSpPr>
            <p:spPr>
              <a:xfrm flipH="false" flipV="false" rot="0">
                <a:off x="0" y="0"/>
                <a:ext cx="23054382" cy="960376"/>
              </a:xfrm>
              <a:custGeom>
                <a:avLst/>
                <a:gdLst/>
                <a:ahLst/>
                <a:cxnLst/>
                <a:rect r="r" b="b" t="t" l="l"/>
                <a:pathLst>
                  <a:path h="960376" w="23054382">
                    <a:moveTo>
                      <a:pt x="17717" y="0"/>
                    </a:moveTo>
                    <a:lnTo>
                      <a:pt x="23036664" y="0"/>
                    </a:lnTo>
                    <a:cubicBezTo>
                      <a:pt x="23046523" y="0"/>
                      <a:pt x="23054382" y="7620"/>
                      <a:pt x="23054382" y="16891"/>
                    </a:cubicBezTo>
                    <a:lnTo>
                      <a:pt x="23054382" y="943483"/>
                    </a:lnTo>
                    <a:cubicBezTo>
                      <a:pt x="23054382" y="952881"/>
                      <a:pt x="23046390" y="960374"/>
                      <a:pt x="23036664" y="960374"/>
                    </a:cubicBezTo>
                    <a:lnTo>
                      <a:pt x="17717" y="960374"/>
                    </a:lnTo>
                    <a:cubicBezTo>
                      <a:pt x="7993" y="960501"/>
                      <a:pt x="0" y="952881"/>
                      <a:pt x="0" y="943483"/>
                    </a:cubicBezTo>
                    <a:lnTo>
                      <a:pt x="0" y="16891"/>
                    </a:lnTo>
                    <a:cubicBezTo>
                      <a:pt x="0" y="7620"/>
                      <a:pt x="7993" y="0"/>
                      <a:pt x="17717" y="0"/>
                    </a:cubicBezTo>
                    <a:moveTo>
                      <a:pt x="17717" y="33909"/>
                    </a:moveTo>
                    <a:lnTo>
                      <a:pt x="17717" y="16891"/>
                    </a:lnTo>
                    <a:lnTo>
                      <a:pt x="35567" y="16891"/>
                    </a:lnTo>
                    <a:lnTo>
                      <a:pt x="35567" y="943483"/>
                    </a:lnTo>
                    <a:lnTo>
                      <a:pt x="17717" y="943483"/>
                    </a:lnTo>
                    <a:lnTo>
                      <a:pt x="17717" y="926592"/>
                    </a:lnTo>
                    <a:lnTo>
                      <a:pt x="23036664" y="926592"/>
                    </a:lnTo>
                    <a:lnTo>
                      <a:pt x="23036664" y="943483"/>
                    </a:lnTo>
                    <a:lnTo>
                      <a:pt x="23018947" y="943483"/>
                    </a:lnTo>
                    <a:lnTo>
                      <a:pt x="23018947" y="16891"/>
                    </a:lnTo>
                    <a:lnTo>
                      <a:pt x="23036664" y="16891"/>
                    </a:lnTo>
                    <a:lnTo>
                      <a:pt x="23036664" y="33909"/>
                    </a:lnTo>
                    <a:lnTo>
                      <a:pt x="17717" y="33909"/>
                    </a:lnTo>
                    <a:close/>
                  </a:path>
                </a:pathLst>
              </a:custGeom>
              <a:solidFill>
                <a:srgbClr val="E2E8F0"/>
              </a:solidFill>
            </p:spPr>
          </p:sp>
        </p:grpSp>
        <p:grpSp>
          <p:nvGrpSpPr>
            <p:cNvPr name="Group 39" id="39"/>
            <p:cNvGrpSpPr/>
            <p:nvPr/>
          </p:nvGrpSpPr>
          <p:grpSpPr>
            <a:xfrm rot="0">
              <a:off x="0" y="744064"/>
              <a:ext cx="12168238" cy="610583"/>
              <a:chOff x="0" y="0"/>
              <a:chExt cx="19140945" cy="960463"/>
            </a:xfrm>
          </p:grpSpPr>
          <p:sp>
            <p:nvSpPr>
              <p:cNvPr name="Freeform 40" id="40"/>
              <p:cNvSpPr/>
              <p:nvPr/>
            </p:nvSpPr>
            <p:spPr>
              <a:xfrm flipH="false" flipV="false" rot="0">
                <a:off x="16891" y="16891"/>
                <a:ext cx="19107149" cy="926592"/>
              </a:xfrm>
              <a:custGeom>
                <a:avLst/>
                <a:gdLst/>
                <a:ahLst/>
                <a:cxnLst/>
                <a:rect r="r" b="b" t="t" l="l"/>
                <a:pathLst>
                  <a:path h="926592" w="19107149">
                    <a:moveTo>
                      <a:pt x="0" y="0"/>
                    </a:moveTo>
                    <a:lnTo>
                      <a:pt x="19107149" y="0"/>
                    </a:lnTo>
                    <a:lnTo>
                      <a:pt x="19107149" y="926592"/>
                    </a:lnTo>
                    <a:lnTo>
                      <a:pt x="0" y="926592"/>
                    </a:lnTo>
                    <a:close/>
                  </a:path>
                </a:pathLst>
              </a:custGeom>
              <a:solidFill>
                <a:srgbClr val="0D9488"/>
              </a:solidFill>
            </p:spPr>
          </p:sp>
          <p:sp>
            <p:nvSpPr>
              <p:cNvPr name="Freeform 41" id="41"/>
              <p:cNvSpPr/>
              <p:nvPr/>
            </p:nvSpPr>
            <p:spPr>
              <a:xfrm flipH="false" flipV="false" rot="0">
                <a:off x="0" y="0"/>
                <a:ext cx="19140931" cy="960376"/>
              </a:xfrm>
              <a:custGeom>
                <a:avLst/>
                <a:gdLst/>
                <a:ahLst/>
                <a:cxnLst/>
                <a:rect r="r" b="b" t="t" l="l"/>
                <a:pathLst>
                  <a:path h="960376" w="19140931">
                    <a:moveTo>
                      <a:pt x="16891" y="0"/>
                    </a:moveTo>
                    <a:lnTo>
                      <a:pt x="19124040" y="0"/>
                    </a:lnTo>
                    <a:cubicBezTo>
                      <a:pt x="19133438" y="0"/>
                      <a:pt x="19140931" y="7620"/>
                      <a:pt x="19140931" y="16891"/>
                    </a:cubicBezTo>
                    <a:lnTo>
                      <a:pt x="19140931" y="943483"/>
                    </a:lnTo>
                    <a:cubicBezTo>
                      <a:pt x="19140931" y="952881"/>
                      <a:pt x="19133311" y="960374"/>
                      <a:pt x="19124040" y="960374"/>
                    </a:cubicBezTo>
                    <a:lnTo>
                      <a:pt x="16891" y="960374"/>
                    </a:lnTo>
                    <a:cubicBezTo>
                      <a:pt x="7620" y="960501"/>
                      <a:pt x="0" y="952881"/>
                      <a:pt x="0" y="943483"/>
                    </a:cubicBezTo>
                    <a:lnTo>
                      <a:pt x="0" y="16891"/>
                    </a:lnTo>
                    <a:cubicBezTo>
                      <a:pt x="0" y="7620"/>
                      <a:pt x="7620" y="0"/>
                      <a:pt x="16891" y="0"/>
                    </a:cubicBezTo>
                    <a:moveTo>
                      <a:pt x="16891" y="33909"/>
                    </a:moveTo>
                    <a:lnTo>
                      <a:pt x="16891" y="16891"/>
                    </a:lnTo>
                    <a:lnTo>
                      <a:pt x="33909" y="16891"/>
                    </a:lnTo>
                    <a:lnTo>
                      <a:pt x="33909" y="943483"/>
                    </a:lnTo>
                    <a:lnTo>
                      <a:pt x="16891" y="943483"/>
                    </a:lnTo>
                    <a:lnTo>
                      <a:pt x="16891" y="926592"/>
                    </a:lnTo>
                    <a:lnTo>
                      <a:pt x="19124040" y="926592"/>
                    </a:lnTo>
                    <a:lnTo>
                      <a:pt x="19124040" y="943483"/>
                    </a:lnTo>
                    <a:lnTo>
                      <a:pt x="19107150" y="943483"/>
                    </a:lnTo>
                    <a:lnTo>
                      <a:pt x="19107150" y="16891"/>
                    </a:lnTo>
                    <a:lnTo>
                      <a:pt x="19124040" y="16891"/>
                    </a:lnTo>
                    <a:lnTo>
                      <a:pt x="19124040" y="33909"/>
                    </a:lnTo>
                    <a:lnTo>
                      <a:pt x="16891" y="33909"/>
                    </a:lnTo>
                    <a:close/>
                  </a:path>
                </a:pathLst>
              </a:custGeom>
              <a:solidFill>
                <a:srgbClr val="0D9488"/>
              </a:solidFill>
            </p:spPr>
          </p:sp>
        </p:grpSp>
        <p:grpSp>
          <p:nvGrpSpPr>
            <p:cNvPr name="Group 42" id="42"/>
            <p:cNvGrpSpPr/>
            <p:nvPr/>
          </p:nvGrpSpPr>
          <p:grpSpPr>
            <a:xfrm rot="0">
              <a:off x="134773" y="754827"/>
              <a:ext cx="3720322" cy="589051"/>
              <a:chOff x="0" y="0"/>
              <a:chExt cx="5852160" cy="926592"/>
            </a:xfrm>
          </p:grpSpPr>
          <p:sp>
            <p:nvSpPr>
              <p:cNvPr name="Freeform 43" id="43"/>
              <p:cNvSpPr/>
              <p:nvPr/>
            </p:nvSpPr>
            <p:spPr>
              <a:xfrm flipH="false" flipV="false" rot="0">
                <a:off x="0" y="0"/>
                <a:ext cx="5852160" cy="926592"/>
              </a:xfrm>
              <a:custGeom>
                <a:avLst/>
                <a:gdLst/>
                <a:ahLst/>
                <a:cxnLst/>
                <a:rect r="r" b="b" t="t" l="l"/>
                <a:pathLst>
                  <a:path h="926592" w="5852160">
                    <a:moveTo>
                      <a:pt x="0" y="0"/>
                    </a:moveTo>
                    <a:lnTo>
                      <a:pt x="5852160" y="0"/>
                    </a:lnTo>
                    <a:lnTo>
                      <a:pt x="5852160" y="926592"/>
                    </a:lnTo>
                    <a:lnTo>
                      <a:pt x="0" y="926592"/>
                    </a:lnTo>
                    <a:close/>
                  </a:path>
                </a:pathLst>
              </a:custGeom>
              <a:blipFill>
                <a:blip r:embed="rId3">
                  <a:alphaModFix amt="0"/>
                </a:blip>
                <a:stretch>
                  <a:fillRect l="0" t="-73063" r="0" b="-73063"/>
                </a:stretch>
              </a:blipFill>
            </p:spPr>
          </p:sp>
          <p:sp>
            <p:nvSpPr>
              <p:cNvPr name="TextBox 44" id="44"/>
              <p:cNvSpPr txBox="true"/>
              <p:nvPr/>
            </p:nvSpPr>
            <p:spPr>
              <a:xfrm>
                <a:off x="0" y="-38100"/>
                <a:ext cx="5852160" cy="964692"/>
              </a:xfrm>
              <a:prstGeom prst="rect">
                <a:avLst/>
              </a:prstGeom>
            </p:spPr>
            <p:txBody>
              <a:bodyPr anchor="ctr" rtlCol="false" tIns="0" lIns="0" bIns="0" rIns="0"/>
              <a:lstStyle/>
              <a:p>
                <a:pPr algn="l">
                  <a:lnSpc>
                    <a:spcPts val="2400"/>
                  </a:lnSpc>
                </a:pPr>
                <a:r>
                  <a:rPr lang="en-US" sz="2000" b="true">
                    <a:solidFill>
                      <a:srgbClr val="FFFFFF"/>
                    </a:solidFill>
                    <a:latin typeface="Calibri (MS) Bold"/>
                    <a:ea typeface="Calibri (MS) Bold"/>
                    <a:cs typeface="Calibri (MS) Bold"/>
                    <a:sym typeface="Calibri (MS) Bold"/>
                  </a:rPr>
                  <a:t>+ Fine-tuning</a:t>
                </a:r>
              </a:p>
            </p:txBody>
          </p:sp>
        </p:grpSp>
        <p:grpSp>
          <p:nvGrpSpPr>
            <p:cNvPr name="Group 45" id="45"/>
            <p:cNvGrpSpPr/>
            <p:nvPr/>
          </p:nvGrpSpPr>
          <p:grpSpPr>
            <a:xfrm rot="0">
              <a:off x="12234975" y="754827"/>
              <a:ext cx="1240107" cy="589051"/>
              <a:chOff x="0" y="0"/>
              <a:chExt cx="1950720" cy="926592"/>
            </a:xfrm>
          </p:grpSpPr>
          <p:sp>
            <p:nvSpPr>
              <p:cNvPr name="Freeform 46" id="46"/>
              <p:cNvSpPr/>
              <p:nvPr/>
            </p:nvSpPr>
            <p:spPr>
              <a:xfrm flipH="false" flipV="false" rot="0">
                <a:off x="0" y="0"/>
                <a:ext cx="1950720" cy="926592"/>
              </a:xfrm>
              <a:custGeom>
                <a:avLst/>
                <a:gdLst/>
                <a:ahLst/>
                <a:cxnLst/>
                <a:rect r="r" b="b" t="t" l="l"/>
                <a:pathLst>
                  <a:path h="926592" w="1950720">
                    <a:moveTo>
                      <a:pt x="0" y="0"/>
                    </a:moveTo>
                    <a:lnTo>
                      <a:pt x="1950720" y="0"/>
                    </a:lnTo>
                    <a:lnTo>
                      <a:pt x="1950720" y="926592"/>
                    </a:lnTo>
                    <a:lnTo>
                      <a:pt x="0" y="926592"/>
                    </a:lnTo>
                    <a:close/>
                  </a:path>
                </a:pathLst>
              </a:custGeom>
              <a:blipFill>
                <a:blip r:embed="rId3">
                  <a:alphaModFix amt="0"/>
                </a:blip>
                <a:stretch>
                  <a:fillRect l="-10944" t="0" r="-10944" b="0"/>
                </a:stretch>
              </a:blipFill>
            </p:spPr>
          </p:sp>
          <p:sp>
            <p:nvSpPr>
              <p:cNvPr name="TextBox 47" id="47"/>
              <p:cNvSpPr txBox="true"/>
              <p:nvPr/>
            </p:nvSpPr>
            <p:spPr>
              <a:xfrm>
                <a:off x="0" y="-38100"/>
                <a:ext cx="1950720" cy="964692"/>
              </a:xfrm>
              <a:prstGeom prst="rect">
                <a:avLst/>
              </a:prstGeom>
            </p:spPr>
            <p:txBody>
              <a:bodyPr anchor="ctr" rtlCol="false" tIns="0" lIns="0" bIns="0" rIns="0"/>
              <a:lstStyle/>
              <a:p>
                <a:pPr algn="l">
                  <a:lnSpc>
                    <a:spcPts val="2400"/>
                  </a:lnSpc>
                </a:pPr>
                <a:r>
                  <a:rPr lang="en-US" sz="2000" b="true">
                    <a:solidFill>
                      <a:srgbClr val="0D9488"/>
                    </a:solidFill>
                    <a:latin typeface="Calibri (MS) Bold"/>
                    <a:ea typeface="Calibri (MS) Bold"/>
                    <a:cs typeface="Calibri (MS) Bold"/>
                    <a:sym typeface="Calibri (MS) Bold"/>
                  </a:rPr>
                  <a:t>278.61</a:t>
                </a:r>
              </a:p>
            </p:txBody>
          </p:sp>
        </p:grpSp>
        <p:grpSp>
          <p:nvGrpSpPr>
            <p:cNvPr name="Group 48" id="48"/>
            <p:cNvGrpSpPr/>
            <p:nvPr/>
          </p:nvGrpSpPr>
          <p:grpSpPr>
            <a:xfrm rot="0">
              <a:off x="0" y="1488129"/>
              <a:ext cx="13972740" cy="610583"/>
              <a:chOff x="0" y="0"/>
              <a:chExt cx="21979471" cy="960463"/>
            </a:xfrm>
          </p:grpSpPr>
          <p:sp>
            <p:nvSpPr>
              <p:cNvPr name="Freeform 49" id="49"/>
              <p:cNvSpPr/>
              <p:nvPr/>
            </p:nvSpPr>
            <p:spPr>
              <a:xfrm flipH="false" flipV="false" rot="0">
                <a:off x="16891" y="16891"/>
                <a:ext cx="21945599" cy="926592"/>
              </a:xfrm>
              <a:custGeom>
                <a:avLst/>
                <a:gdLst/>
                <a:ahLst/>
                <a:cxnLst/>
                <a:rect r="r" b="b" t="t" l="l"/>
                <a:pathLst>
                  <a:path h="926592" w="21945599">
                    <a:moveTo>
                      <a:pt x="0" y="0"/>
                    </a:moveTo>
                    <a:lnTo>
                      <a:pt x="21945599" y="0"/>
                    </a:lnTo>
                    <a:lnTo>
                      <a:pt x="21945599" y="926592"/>
                    </a:lnTo>
                    <a:lnTo>
                      <a:pt x="0" y="926592"/>
                    </a:lnTo>
                    <a:close/>
                  </a:path>
                </a:pathLst>
              </a:custGeom>
              <a:solidFill>
                <a:srgbClr val="F1F5F9"/>
              </a:solidFill>
            </p:spPr>
          </p:sp>
          <p:sp>
            <p:nvSpPr>
              <p:cNvPr name="Freeform 50" id="50"/>
              <p:cNvSpPr/>
              <p:nvPr/>
            </p:nvSpPr>
            <p:spPr>
              <a:xfrm flipH="false" flipV="false" rot="0">
                <a:off x="0" y="0"/>
                <a:ext cx="21979382" cy="960376"/>
              </a:xfrm>
              <a:custGeom>
                <a:avLst/>
                <a:gdLst/>
                <a:ahLst/>
                <a:cxnLst/>
                <a:rect r="r" b="b" t="t" l="l"/>
                <a:pathLst>
                  <a:path h="960376" w="21979382">
                    <a:moveTo>
                      <a:pt x="16891" y="0"/>
                    </a:moveTo>
                    <a:lnTo>
                      <a:pt x="21962490" y="0"/>
                    </a:lnTo>
                    <a:cubicBezTo>
                      <a:pt x="21971890" y="0"/>
                      <a:pt x="21979382" y="7620"/>
                      <a:pt x="21979382" y="16891"/>
                    </a:cubicBezTo>
                    <a:lnTo>
                      <a:pt x="21979382" y="943483"/>
                    </a:lnTo>
                    <a:cubicBezTo>
                      <a:pt x="21979382" y="952881"/>
                      <a:pt x="21971763" y="960374"/>
                      <a:pt x="21962490" y="960374"/>
                    </a:cubicBezTo>
                    <a:lnTo>
                      <a:pt x="16891" y="960374"/>
                    </a:lnTo>
                    <a:cubicBezTo>
                      <a:pt x="7620" y="960501"/>
                      <a:pt x="0" y="952881"/>
                      <a:pt x="0" y="943483"/>
                    </a:cubicBezTo>
                    <a:lnTo>
                      <a:pt x="0" y="16891"/>
                    </a:lnTo>
                    <a:cubicBezTo>
                      <a:pt x="0" y="7620"/>
                      <a:pt x="7620" y="0"/>
                      <a:pt x="16891" y="0"/>
                    </a:cubicBezTo>
                    <a:moveTo>
                      <a:pt x="16891" y="33909"/>
                    </a:moveTo>
                    <a:lnTo>
                      <a:pt x="16891" y="16891"/>
                    </a:lnTo>
                    <a:lnTo>
                      <a:pt x="33909" y="16891"/>
                    </a:lnTo>
                    <a:lnTo>
                      <a:pt x="33909" y="943483"/>
                    </a:lnTo>
                    <a:lnTo>
                      <a:pt x="16891" y="943483"/>
                    </a:lnTo>
                    <a:lnTo>
                      <a:pt x="16891" y="926592"/>
                    </a:lnTo>
                    <a:lnTo>
                      <a:pt x="21962490" y="926592"/>
                    </a:lnTo>
                    <a:lnTo>
                      <a:pt x="21962490" y="943483"/>
                    </a:lnTo>
                    <a:lnTo>
                      <a:pt x="21945600" y="943483"/>
                    </a:lnTo>
                    <a:lnTo>
                      <a:pt x="21945600" y="16891"/>
                    </a:lnTo>
                    <a:lnTo>
                      <a:pt x="21962490" y="16891"/>
                    </a:lnTo>
                    <a:lnTo>
                      <a:pt x="21962490" y="33909"/>
                    </a:lnTo>
                    <a:lnTo>
                      <a:pt x="16891" y="33909"/>
                    </a:lnTo>
                    <a:close/>
                  </a:path>
                </a:pathLst>
              </a:custGeom>
              <a:solidFill>
                <a:srgbClr val="E2E8F0"/>
              </a:solidFill>
            </p:spPr>
          </p:sp>
        </p:grpSp>
        <p:grpSp>
          <p:nvGrpSpPr>
            <p:cNvPr name="Group 51" id="51"/>
            <p:cNvGrpSpPr/>
            <p:nvPr/>
          </p:nvGrpSpPr>
          <p:grpSpPr>
            <a:xfrm rot="0">
              <a:off x="0" y="1488129"/>
              <a:ext cx="12865363" cy="610583"/>
              <a:chOff x="0" y="0"/>
              <a:chExt cx="20237539" cy="960463"/>
            </a:xfrm>
          </p:grpSpPr>
          <p:sp>
            <p:nvSpPr>
              <p:cNvPr name="Freeform 52" id="52"/>
              <p:cNvSpPr/>
              <p:nvPr/>
            </p:nvSpPr>
            <p:spPr>
              <a:xfrm flipH="false" flipV="false" rot="0">
                <a:off x="16891" y="16891"/>
                <a:ext cx="20203669" cy="926592"/>
              </a:xfrm>
              <a:custGeom>
                <a:avLst/>
                <a:gdLst/>
                <a:ahLst/>
                <a:cxnLst/>
                <a:rect r="r" b="b" t="t" l="l"/>
                <a:pathLst>
                  <a:path h="926592" w="20203669">
                    <a:moveTo>
                      <a:pt x="0" y="0"/>
                    </a:moveTo>
                    <a:lnTo>
                      <a:pt x="20203669" y="0"/>
                    </a:lnTo>
                    <a:lnTo>
                      <a:pt x="20203669" y="926592"/>
                    </a:lnTo>
                    <a:lnTo>
                      <a:pt x="0" y="926592"/>
                    </a:lnTo>
                    <a:close/>
                  </a:path>
                </a:pathLst>
              </a:custGeom>
              <a:solidFill>
                <a:srgbClr val="6D28D9"/>
              </a:solidFill>
            </p:spPr>
          </p:sp>
          <p:sp>
            <p:nvSpPr>
              <p:cNvPr name="Freeform 53" id="53"/>
              <p:cNvSpPr/>
              <p:nvPr/>
            </p:nvSpPr>
            <p:spPr>
              <a:xfrm flipH="false" flipV="false" rot="0">
                <a:off x="0" y="0"/>
                <a:ext cx="20237450" cy="960376"/>
              </a:xfrm>
              <a:custGeom>
                <a:avLst/>
                <a:gdLst/>
                <a:ahLst/>
                <a:cxnLst/>
                <a:rect r="r" b="b" t="t" l="l"/>
                <a:pathLst>
                  <a:path h="960376" w="20237450">
                    <a:moveTo>
                      <a:pt x="16891" y="0"/>
                    </a:moveTo>
                    <a:lnTo>
                      <a:pt x="20220560" y="0"/>
                    </a:lnTo>
                    <a:cubicBezTo>
                      <a:pt x="20229957" y="0"/>
                      <a:pt x="20237450" y="7620"/>
                      <a:pt x="20237450" y="16891"/>
                    </a:cubicBezTo>
                    <a:lnTo>
                      <a:pt x="20237450" y="943483"/>
                    </a:lnTo>
                    <a:cubicBezTo>
                      <a:pt x="20237450" y="952881"/>
                      <a:pt x="20229830" y="960374"/>
                      <a:pt x="20220560" y="960374"/>
                    </a:cubicBezTo>
                    <a:lnTo>
                      <a:pt x="16891" y="960374"/>
                    </a:lnTo>
                    <a:cubicBezTo>
                      <a:pt x="7620" y="960501"/>
                      <a:pt x="0" y="952881"/>
                      <a:pt x="0" y="943483"/>
                    </a:cubicBezTo>
                    <a:lnTo>
                      <a:pt x="0" y="16891"/>
                    </a:lnTo>
                    <a:cubicBezTo>
                      <a:pt x="0" y="7620"/>
                      <a:pt x="7620" y="0"/>
                      <a:pt x="16891" y="0"/>
                    </a:cubicBezTo>
                    <a:moveTo>
                      <a:pt x="16891" y="33909"/>
                    </a:moveTo>
                    <a:lnTo>
                      <a:pt x="16891" y="16891"/>
                    </a:lnTo>
                    <a:lnTo>
                      <a:pt x="33909" y="16891"/>
                    </a:lnTo>
                    <a:lnTo>
                      <a:pt x="33909" y="943483"/>
                    </a:lnTo>
                    <a:lnTo>
                      <a:pt x="16891" y="943483"/>
                    </a:lnTo>
                    <a:lnTo>
                      <a:pt x="16891" y="926592"/>
                    </a:lnTo>
                    <a:lnTo>
                      <a:pt x="20220560" y="926592"/>
                    </a:lnTo>
                    <a:lnTo>
                      <a:pt x="20220560" y="943483"/>
                    </a:lnTo>
                    <a:lnTo>
                      <a:pt x="20203669" y="943483"/>
                    </a:lnTo>
                    <a:lnTo>
                      <a:pt x="20203669" y="16891"/>
                    </a:lnTo>
                    <a:lnTo>
                      <a:pt x="20220560" y="16891"/>
                    </a:lnTo>
                    <a:lnTo>
                      <a:pt x="20220560" y="33909"/>
                    </a:lnTo>
                    <a:lnTo>
                      <a:pt x="16891" y="33909"/>
                    </a:lnTo>
                    <a:close/>
                  </a:path>
                </a:pathLst>
              </a:custGeom>
              <a:solidFill>
                <a:srgbClr val="6D28D9"/>
              </a:solidFill>
            </p:spPr>
          </p:sp>
        </p:grpSp>
        <p:grpSp>
          <p:nvGrpSpPr>
            <p:cNvPr name="Group 54" id="54"/>
            <p:cNvGrpSpPr/>
            <p:nvPr/>
          </p:nvGrpSpPr>
          <p:grpSpPr>
            <a:xfrm rot="0">
              <a:off x="134773" y="1498891"/>
              <a:ext cx="3720322" cy="589051"/>
              <a:chOff x="0" y="0"/>
              <a:chExt cx="5852160" cy="926592"/>
            </a:xfrm>
          </p:grpSpPr>
          <p:sp>
            <p:nvSpPr>
              <p:cNvPr name="Freeform 55" id="55"/>
              <p:cNvSpPr/>
              <p:nvPr/>
            </p:nvSpPr>
            <p:spPr>
              <a:xfrm flipH="false" flipV="false" rot="0">
                <a:off x="0" y="0"/>
                <a:ext cx="5852160" cy="926592"/>
              </a:xfrm>
              <a:custGeom>
                <a:avLst/>
                <a:gdLst/>
                <a:ahLst/>
                <a:cxnLst/>
                <a:rect r="r" b="b" t="t" l="l"/>
                <a:pathLst>
                  <a:path h="926592" w="5852160">
                    <a:moveTo>
                      <a:pt x="0" y="0"/>
                    </a:moveTo>
                    <a:lnTo>
                      <a:pt x="5852160" y="0"/>
                    </a:lnTo>
                    <a:lnTo>
                      <a:pt x="5852160" y="926592"/>
                    </a:lnTo>
                    <a:lnTo>
                      <a:pt x="0" y="926592"/>
                    </a:lnTo>
                    <a:close/>
                  </a:path>
                </a:pathLst>
              </a:custGeom>
              <a:blipFill>
                <a:blip r:embed="rId3">
                  <a:alphaModFix amt="0"/>
                </a:blip>
                <a:stretch>
                  <a:fillRect l="0" t="-73063" r="0" b="-73063"/>
                </a:stretch>
              </a:blipFill>
            </p:spPr>
          </p:sp>
          <p:sp>
            <p:nvSpPr>
              <p:cNvPr name="TextBox 56" id="56"/>
              <p:cNvSpPr txBox="true"/>
              <p:nvPr/>
            </p:nvSpPr>
            <p:spPr>
              <a:xfrm>
                <a:off x="0" y="-38100"/>
                <a:ext cx="5852160" cy="964692"/>
              </a:xfrm>
              <a:prstGeom prst="rect">
                <a:avLst/>
              </a:prstGeom>
            </p:spPr>
            <p:txBody>
              <a:bodyPr anchor="ctr" rtlCol="false" tIns="0" lIns="0" bIns="0" rIns="0"/>
              <a:lstStyle/>
              <a:p>
                <a:pPr algn="l">
                  <a:lnSpc>
                    <a:spcPts val="2400"/>
                  </a:lnSpc>
                </a:pPr>
                <a:r>
                  <a:rPr lang="en-US" sz="2000" b="true">
                    <a:solidFill>
                      <a:srgbClr val="FFFFFF"/>
                    </a:solidFill>
                    <a:latin typeface="Calibri (MS) Bold"/>
                    <a:ea typeface="Calibri (MS) Bold"/>
                    <a:cs typeface="Calibri (MS) Bold"/>
                    <a:sym typeface="Calibri (MS) Bold"/>
                  </a:rPr>
                  <a:t>+ LFSE</a:t>
                </a:r>
              </a:p>
            </p:txBody>
          </p:sp>
        </p:grpSp>
        <p:grpSp>
          <p:nvGrpSpPr>
            <p:cNvPr name="Group 57" id="57"/>
            <p:cNvGrpSpPr/>
            <p:nvPr/>
          </p:nvGrpSpPr>
          <p:grpSpPr>
            <a:xfrm rot="0">
              <a:off x="12932099" y="1498891"/>
              <a:ext cx="1724040" cy="589051"/>
              <a:chOff x="0" y="0"/>
              <a:chExt cx="2711958" cy="926592"/>
            </a:xfrm>
          </p:grpSpPr>
          <p:sp>
            <p:nvSpPr>
              <p:cNvPr name="Freeform 58" id="58"/>
              <p:cNvSpPr/>
              <p:nvPr/>
            </p:nvSpPr>
            <p:spPr>
              <a:xfrm flipH="false" flipV="false" rot="0">
                <a:off x="0" y="0"/>
                <a:ext cx="2711958" cy="926592"/>
              </a:xfrm>
              <a:custGeom>
                <a:avLst/>
                <a:gdLst/>
                <a:ahLst/>
                <a:cxnLst/>
                <a:rect r="r" b="b" t="t" l="l"/>
                <a:pathLst>
                  <a:path h="926592" w="2711958">
                    <a:moveTo>
                      <a:pt x="0" y="0"/>
                    </a:moveTo>
                    <a:lnTo>
                      <a:pt x="2711958" y="0"/>
                    </a:lnTo>
                    <a:lnTo>
                      <a:pt x="2711958" y="926592"/>
                    </a:lnTo>
                    <a:lnTo>
                      <a:pt x="0" y="926592"/>
                    </a:lnTo>
                    <a:close/>
                  </a:path>
                </a:pathLst>
              </a:custGeom>
              <a:blipFill>
                <a:blip r:embed="rId3">
                  <a:alphaModFix amt="0"/>
                </a:blip>
                <a:stretch>
                  <a:fillRect l="-7872" t="0" r="20197" b="0"/>
                </a:stretch>
              </a:blipFill>
            </p:spPr>
          </p:sp>
          <p:sp>
            <p:nvSpPr>
              <p:cNvPr name="TextBox 59" id="59"/>
              <p:cNvSpPr txBox="true"/>
              <p:nvPr/>
            </p:nvSpPr>
            <p:spPr>
              <a:xfrm>
                <a:off x="0" y="-38100"/>
                <a:ext cx="2711958" cy="964692"/>
              </a:xfrm>
              <a:prstGeom prst="rect">
                <a:avLst/>
              </a:prstGeom>
            </p:spPr>
            <p:txBody>
              <a:bodyPr anchor="ctr" rtlCol="false" tIns="0" lIns="0" bIns="0" rIns="0"/>
              <a:lstStyle/>
              <a:p>
                <a:pPr algn="l">
                  <a:lnSpc>
                    <a:spcPts val="2400"/>
                  </a:lnSpc>
                </a:pPr>
                <a:r>
                  <a:rPr lang="en-US" sz="2000" b="true">
                    <a:solidFill>
                      <a:srgbClr val="6D28D9"/>
                    </a:solidFill>
                    <a:latin typeface="Calibri (MS) Bold"/>
                    <a:ea typeface="Calibri (MS) Bold"/>
                    <a:cs typeface="Calibri (MS) Bold"/>
                    <a:sym typeface="Calibri (MS) Bold"/>
                  </a:rPr>
                  <a:t>294.60</a:t>
                </a:r>
              </a:p>
            </p:txBody>
          </p:sp>
        </p:grpSp>
        <p:grpSp>
          <p:nvGrpSpPr>
            <p:cNvPr name="Group 60" id="60"/>
            <p:cNvGrpSpPr/>
            <p:nvPr/>
          </p:nvGrpSpPr>
          <p:grpSpPr>
            <a:xfrm rot="0">
              <a:off x="0" y="2232193"/>
              <a:ext cx="13972740" cy="610583"/>
              <a:chOff x="0" y="0"/>
              <a:chExt cx="21979471" cy="960463"/>
            </a:xfrm>
          </p:grpSpPr>
          <p:sp>
            <p:nvSpPr>
              <p:cNvPr name="Freeform 61" id="61"/>
              <p:cNvSpPr/>
              <p:nvPr/>
            </p:nvSpPr>
            <p:spPr>
              <a:xfrm flipH="false" flipV="false" rot="0">
                <a:off x="16891" y="16891"/>
                <a:ext cx="21945599" cy="926592"/>
              </a:xfrm>
              <a:custGeom>
                <a:avLst/>
                <a:gdLst/>
                <a:ahLst/>
                <a:cxnLst/>
                <a:rect r="r" b="b" t="t" l="l"/>
                <a:pathLst>
                  <a:path h="926592" w="21945599">
                    <a:moveTo>
                      <a:pt x="0" y="0"/>
                    </a:moveTo>
                    <a:lnTo>
                      <a:pt x="21945599" y="0"/>
                    </a:lnTo>
                    <a:lnTo>
                      <a:pt x="21945599" y="926592"/>
                    </a:lnTo>
                    <a:lnTo>
                      <a:pt x="0" y="926592"/>
                    </a:lnTo>
                    <a:close/>
                  </a:path>
                </a:pathLst>
              </a:custGeom>
              <a:solidFill>
                <a:srgbClr val="F1F5F9"/>
              </a:solidFill>
            </p:spPr>
          </p:sp>
          <p:sp>
            <p:nvSpPr>
              <p:cNvPr name="Freeform 62" id="62"/>
              <p:cNvSpPr/>
              <p:nvPr/>
            </p:nvSpPr>
            <p:spPr>
              <a:xfrm flipH="false" flipV="false" rot="0">
                <a:off x="0" y="0"/>
                <a:ext cx="21979382" cy="960376"/>
              </a:xfrm>
              <a:custGeom>
                <a:avLst/>
                <a:gdLst/>
                <a:ahLst/>
                <a:cxnLst/>
                <a:rect r="r" b="b" t="t" l="l"/>
                <a:pathLst>
                  <a:path h="960376" w="21979382">
                    <a:moveTo>
                      <a:pt x="16891" y="0"/>
                    </a:moveTo>
                    <a:lnTo>
                      <a:pt x="21962490" y="0"/>
                    </a:lnTo>
                    <a:cubicBezTo>
                      <a:pt x="21971890" y="0"/>
                      <a:pt x="21979382" y="7620"/>
                      <a:pt x="21979382" y="16891"/>
                    </a:cubicBezTo>
                    <a:lnTo>
                      <a:pt x="21979382" y="943483"/>
                    </a:lnTo>
                    <a:cubicBezTo>
                      <a:pt x="21979382" y="952881"/>
                      <a:pt x="21971763" y="960374"/>
                      <a:pt x="21962490" y="960374"/>
                    </a:cubicBezTo>
                    <a:lnTo>
                      <a:pt x="16891" y="960374"/>
                    </a:lnTo>
                    <a:cubicBezTo>
                      <a:pt x="7620" y="960501"/>
                      <a:pt x="0" y="952881"/>
                      <a:pt x="0" y="943483"/>
                    </a:cubicBezTo>
                    <a:lnTo>
                      <a:pt x="0" y="16891"/>
                    </a:lnTo>
                    <a:cubicBezTo>
                      <a:pt x="0" y="7620"/>
                      <a:pt x="7620" y="0"/>
                      <a:pt x="16891" y="0"/>
                    </a:cubicBezTo>
                    <a:moveTo>
                      <a:pt x="16891" y="33909"/>
                    </a:moveTo>
                    <a:lnTo>
                      <a:pt x="16891" y="16891"/>
                    </a:lnTo>
                    <a:lnTo>
                      <a:pt x="33909" y="16891"/>
                    </a:lnTo>
                    <a:lnTo>
                      <a:pt x="33909" y="943483"/>
                    </a:lnTo>
                    <a:lnTo>
                      <a:pt x="16891" y="943483"/>
                    </a:lnTo>
                    <a:lnTo>
                      <a:pt x="16891" y="926592"/>
                    </a:lnTo>
                    <a:lnTo>
                      <a:pt x="21962490" y="926592"/>
                    </a:lnTo>
                    <a:lnTo>
                      <a:pt x="21962490" y="943483"/>
                    </a:lnTo>
                    <a:lnTo>
                      <a:pt x="21945600" y="943483"/>
                    </a:lnTo>
                    <a:lnTo>
                      <a:pt x="21945600" y="16891"/>
                    </a:lnTo>
                    <a:lnTo>
                      <a:pt x="21962490" y="16891"/>
                    </a:lnTo>
                    <a:lnTo>
                      <a:pt x="21962490" y="33909"/>
                    </a:lnTo>
                    <a:lnTo>
                      <a:pt x="16891" y="33909"/>
                    </a:lnTo>
                    <a:close/>
                  </a:path>
                </a:pathLst>
              </a:custGeom>
              <a:solidFill>
                <a:srgbClr val="E2E8F0"/>
              </a:solidFill>
            </p:spPr>
          </p:sp>
        </p:grpSp>
        <p:grpSp>
          <p:nvGrpSpPr>
            <p:cNvPr name="Group 63" id="63"/>
            <p:cNvGrpSpPr/>
            <p:nvPr/>
          </p:nvGrpSpPr>
          <p:grpSpPr>
            <a:xfrm rot="0">
              <a:off x="0" y="2232193"/>
              <a:ext cx="13349295" cy="610583"/>
              <a:chOff x="0" y="0"/>
              <a:chExt cx="20998777" cy="960463"/>
            </a:xfrm>
          </p:grpSpPr>
          <p:sp>
            <p:nvSpPr>
              <p:cNvPr name="Freeform 64" id="64"/>
              <p:cNvSpPr/>
              <p:nvPr/>
            </p:nvSpPr>
            <p:spPr>
              <a:xfrm flipH="false" flipV="false" rot="0">
                <a:off x="16891" y="16891"/>
                <a:ext cx="20964906" cy="926592"/>
              </a:xfrm>
              <a:custGeom>
                <a:avLst/>
                <a:gdLst/>
                <a:ahLst/>
                <a:cxnLst/>
                <a:rect r="r" b="b" t="t" l="l"/>
                <a:pathLst>
                  <a:path h="926592" w="20964906">
                    <a:moveTo>
                      <a:pt x="0" y="0"/>
                    </a:moveTo>
                    <a:lnTo>
                      <a:pt x="20964906" y="0"/>
                    </a:lnTo>
                    <a:lnTo>
                      <a:pt x="20964906" y="926592"/>
                    </a:lnTo>
                    <a:lnTo>
                      <a:pt x="0" y="926592"/>
                    </a:lnTo>
                    <a:close/>
                  </a:path>
                </a:pathLst>
              </a:custGeom>
              <a:solidFill>
                <a:srgbClr val="E05B4B"/>
              </a:solidFill>
            </p:spPr>
          </p:sp>
          <p:sp>
            <p:nvSpPr>
              <p:cNvPr name="Freeform 65" id="65"/>
              <p:cNvSpPr/>
              <p:nvPr/>
            </p:nvSpPr>
            <p:spPr>
              <a:xfrm flipH="false" flipV="false" rot="0">
                <a:off x="0" y="0"/>
                <a:ext cx="20998687" cy="960376"/>
              </a:xfrm>
              <a:custGeom>
                <a:avLst/>
                <a:gdLst/>
                <a:ahLst/>
                <a:cxnLst/>
                <a:rect r="r" b="b" t="t" l="l"/>
                <a:pathLst>
                  <a:path h="960376" w="20998687">
                    <a:moveTo>
                      <a:pt x="16891" y="0"/>
                    </a:moveTo>
                    <a:lnTo>
                      <a:pt x="20981797" y="0"/>
                    </a:lnTo>
                    <a:cubicBezTo>
                      <a:pt x="20991195" y="0"/>
                      <a:pt x="20998687" y="7620"/>
                      <a:pt x="20998687" y="16891"/>
                    </a:cubicBezTo>
                    <a:lnTo>
                      <a:pt x="20998687" y="943483"/>
                    </a:lnTo>
                    <a:cubicBezTo>
                      <a:pt x="20998687" y="952881"/>
                      <a:pt x="20991068" y="960374"/>
                      <a:pt x="20981797" y="960374"/>
                    </a:cubicBezTo>
                    <a:lnTo>
                      <a:pt x="16891" y="960374"/>
                    </a:lnTo>
                    <a:cubicBezTo>
                      <a:pt x="7620" y="960501"/>
                      <a:pt x="0" y="952881"/>
                      <a:pt x="0" y="943483"/>
                    </a:cubicBezTo>
                    <a:lnTo>
                      <a:pt x="0" y="16891"/>
                    </a:lnTo>
                    <a:cubicBezTo>
                      <a:pt x="0" y="7620"/>
                      <a:pt x="7620" y="0"/>
                      <a:pt x="16891" y="0"/>
                    </a:cubicBezTo>
                    <a:moveTo>
                      <a:pt x="16891" y="33909"/>
                    </a:moveTo>
                    <a:lnTo>
                      <a:pt x="16891" y="16891"/>
                    </a:lnTo>
                    <a:lnTo>
                      <a:pt x="33909" y="16891"/>
                    </a:lnTo>
                    <a:lnTo>
                      <a:pt x="33909" y="943483"/>
                    </a:lnTo>
                    <a:lnTo>
                      <a:pt x="16891" y="943483"/>
                    </a:lnTo>
                    <a:lnTo>
                      <a:pt x="16891" y="926592"/>
                    </a:lnTo>
                    <a:lnTo>
                      <a:pt x="20981797" y="926592"/>
                    </a:lnTo>
                    <a:lnTo>
                      <a:pt x="20981797" y="943483"/>
                    </a:lnTo>
                    <a:lnTo>
                      <a:pt x="20964906" y="943483"/>
                    </a:lnTo>
                    <a:lnTo>
                      <a:pt x="20964906" y="16891"/>
                    </a:lnTo>
                    <a:lnTo>
                      <a:pt x="20981797" y="16891"/>
                    </a:lnTo>
                    <a:lnTo>
                      <a:pt x="20981797" y="33909"/>
                    </a:lnTo>
                    <a:lnTo>
                      <a:pt x="16891" y="33909"/>
                    </a:lnTo>
                    <a:close/>
                  </a:path>
                </a:pathLst>
              </a:custGeom>
              <a:solidFill>
                <a:srgbClr val="E05B4B"/>
              </a:solidFill>
            </p:spPr>
          </p:sp>
        </p:grpSp>
        <p:grpSp>
          <p:nvGrpSpPr>
            <p:cNvPr name="Group 66" id="66"/>
            <p:cNvGrpSpPr/>
            <p:nvPr/>
          </p:nvGrpSpPr>
          <p:grpSpPr>
            <a:xfrm rot="0">
              <a:off x="134773" y="2242955"/>
              <a:ext cx="3720322" cy="589051"/>
              <a:chOff x="0" y="0"/>
              <a:chExt cx="5852160" cy="926592"/>
            </a:xfrm>
          </p:grpSpPr>
          <p:sp>
            <p:nvSpPr>
              <p:cNvPr name="Freeform 67" id="67"/>
              <p:cNvSpPr/>
              <p:nvPr/>
            </p:nvSpPr>
            <p:spPr>
              <a:xfrm flipH="false" flipV="false" rot="0">
                <a:off x="0" y="0"/>
                <a:ext cx="5852160" cy="926592"/>
              </a:xfrm>
              <a:custGeom>
                <a:avLst/>
                <a:gdLst/>
                <a:ahLst/>
                <a:cxnLst/>
                <a:rect r="r" b="b" t="t" l="l"/>
                <a:pathLst>
                  <a:path h="926592" w="5852160">
                    <a:moveTo>
                      <a:pt x="0" y="0"/>
                    </a:moveTo>
                    <a:lnTo>
                      <a:pt x="5852160" y="0"/>
                    </a:lnTo>
                    <a:lnTo>
                      <a:pt x="5852160" y="926592"/>
                    </a:lnTo>
                    <a:lnTo>
                      <a:pt x="0" y="926592"/>
                    </a:lnTo>
                    <a:close/>
                  </a:path>
                </a:pathLst>
              </a:custGeom>
              <a:blipFill>
                <a:blip r:embed="rId3">
                  <a:alphaModFix amt="0"/>
                </a:blip>
                <a:stretch>
                  <a:fillRect l="0" t="-73063" r="0" b="-73063"/>
                </a:stretch>
              </a:blipFill>
            </p:spPr>
          </p:sp>
          <p:sp>
            <p:nvSpPr>
              <p:cNvPr name="TextBox 68" id="68"/>
              <p:cNvSpPr txBox="true"/>
              <p:nvPr/>
            </p:nvSpPr>
            <p:spPr>
              <a:xfrm>
                <a:off x="0" y="-38100"/>
                <a:ext cx="5852160" cy="964692"/>
              </a:xfrm>
              <a:prstGeom prst="rect">
                <a:avLst/>
              </a:prstGeom>
            </p:spPr>
            <p:txBody>
              <a:bodyPr anchor="ctr" rtlCol="false" tIns="0" lIns="0" bIns="0" rIns="0"/>
              <a:lstStyle/>
              <a:p>
                <a:pPr algn="l">
                  <a:lnSpc>
                    <a:spcPts val="2400"/>
                  </a:lnSpc>
                </a:pPr>
                <a:r>
                  <a:rPr lang="en-US" sz="2000" b="true">
                    <a:solidFill>
                      <a:srgbClr val="FFFFFF"/>
                    </a:solidFill>
                    <a:latin typeface="Calibri (MS) Bold"/>
                    <a:ea typeface="Calibri (MS) Bold"/>
                    <a:cs typeface="Calibri (MS) Bold"/>
                    <a:sym typeface="Calibri (MS) Bold"/>
                  </a:rPr>
                  <a:t>+ FID (full TSFE)</a:t>
                </a:r>
              </a:p>
            </p:txBody>
          </p:sp>
        </p:grpSp>
        <p:grpSp>
          <p:nvGrpSpPr>
            <p:cNvPr name="Group 69" id="69"/>
            <p:cNvGrpSpPr/>
            <p:nvPr/>
          </p:nvGrpSpPr>
          <p:grpSpPr>
            <a:xfrm rot="0">
              <a:off x="13416032" y="2242955"/>
              <a:ext cx="1240107" cy="589051"/>
              <a:chOff x="0" y="0"/>
              <a:chExt cx="1950720" cy="926592"/>
            </a:xfrm>
          </p:grpSpPr>
          <p:sp>
            <p:nvSpPr>
              <p:cNvPr name="Freeform 70" id="70"/>
              <p:cNvSpPr/>
              <p:nvPr/>
            </p:nvSpPr>
            <p:spPr>
              <a:xfrm flipH="false" flipV="false" rot="0">
                <a:off x="0" y="0"/>
                <a:ext cx="1950720" cy="926592"/>
              </a:xfrm>
              <a:custGeom>
                <a:avLst/>
                <a:gdLst/>
                <a:ahLst/>
                <a:cxnLst/>
                <a:rect r="r" b="b" t="t" l="l"/>
                <a:pathLst>
                  <a:path h="926592" w="1950720">
                    <a:moveTo>
                      <a:pt x="0" y="0"/>
                    </a:moveTo>
                    <a:lnTo>
                      <a:pt x="1950720" y="0"/>
                    </a:lnTo>
                    <a:lnTo>
                      <a:pt x="1950720" y="926592"/>
                    </a:lnTo>
                    <a:lnTo>
                      <a:pt x="0" y="926592"/>
                    </a:lnTo>
                    <a:close/>
                  </a:path>
                </a:pathLst>
              </a:custGeom>
              <a:blipFill>
                <a:blip r:embed="rId3">
                  <a:alphaModFix amt="0"/>
                </a:blip>
                <a:stretch>
                  <a:fillRect l="-10944" t="0" r="-10944" b="0"/>
                </a:stretch>
              </a:blipFill>
            </p:spPr>
          </p:sp>
          <p:sp>
            <p:nvSpPr>
              <p:cNvPr name="TextBox 71" id="71"/>
              <p:cNvSpPr txBox="true"/>
              <p:nvPr/>
            </p:nvSpPr>
            <p:spPr>
              <a:xfrm>
                <a:off x="0" y="-38100"/>
                <a:ext cx="1950720" cy="964692"/>
              </a:xfrm>
              <a:prstGeom prst="rect">
                <a:avLst/>
              </a:prstGeom>
            </p:spPr>
            <p:txBody>
              <a:bodyPr anchor="ctr" rtlCol="false" tIns="0" lIns="0" bIns="0" rIns="0"/>
              <a:lstStyle/>
              <a:p>
                <a:pPr algn="l">
                  <a:lnSpc>
                    <a:spcPts val="2400"/>
                  </a:lnSpc>
                </a:pPr>
                <a:r>
                  <a:rPr lang="en-US" sz="2000" b="true">
                    <a:solidFill>
                      <a:srgbClr val="E05B4B"/>
                    </a:solidFill>
                    <a:latin typeface="Calibri (MS) Bold"/>
                    <a:ea typeface="Calibri (MS) Bold"/>
                    <a:cs typeface="Calibri (MS) Bold"/>
                    <a:sym typeface="Calibri (MS) Bold"/>
                  </a:rPr>
                  <a:t>305.70</a:t>
                </a:r>
              </a:p>
            </p:txBody>
          </p:sp>
        </p:grpSp>
      </p:grpSp>
      <p:grpSp>
        <p:nvGrpSpPr>
          <p:cNvPr name="Group 72" id="72"/>
          <p:cNvGrpSpPr/>
          <p:nvPr/>
        </p:nvGrpSpPr>
        <p:grpSpPr>
          <a:xfrm rot="0">
            <a:off x="14422374" y="7223760"/>
            <a:ext cx="1463040" cy="694944"/>
            <a:chOff x="0" y="0"/>
            <a:chExt cx="1950720" cy="926592"/>
          </a:xfrm>
        </p:grpSpPr>
        <p:sp>
          <p:nvSpPr>
            <p:cNvPr name="Freeform 73" id="73"/>
            <p:cNvSpPr/>
            <p:nvPr/>
          </p:nvSpPr>
          <p:spPr>
            <a:xfrm flipH="false" flipV="false" rot="0">
              <a:off x="0" y="0"/>
              <a:ext cx="1950720" cy="926592"/>
            </a:xfrm>
            <a:custGeom>
              <a:avLst/>
              <a:gdLst/>
              <a:ahLst/>
              <a:cxnLst/>
              <a:rect r="r" b="b" t="t" l="l"/>
              <a:pathLst>
                <a:path h="926592" w="1950720">
                  <a:moveTo>
                    <a:pt x="0" y="0"/>
                  </a:moveTo>
                  <a:lnTo>
                    <a:pt x="1950720" y="0"/>
                  </a:lnTo>
                  <a:lnTo>
                    <a:pt x="1950720" y="926592"/>
                  </a:lnTo>
                  <a:lnTo>
                    <a:pt x="0" y="926592"/>
                  </a:lnTo>
                  <a:close/>
                </a:path>
              </a:pathLst>
            </a:custGeom>
            <a:blipFill>
              <a:blip r:embed="rId3">
                <a:alphaModFix amt="0"/>
              </a:blip>
              <a:stretch>
                <a:fillRect l="-10944" t="0" r="-10944" b="0"/>
              </a:stretch>
            </a:blipFill>
          </p:spPr>
        </p:sp>
        <p:sp>
          <p:nvSpPr>
            <p:cNvPr name="TextBox 74" id="74"/>
            <p:cNvSpPr txBox="true"/>
            <p:nvPr/>
          </p:nvSpPr>
          <p:spPr>
            <a:xfrm>
              <a:off x="0" y="-38100"/>
              <a:ext cx="1950720" cy="964692"/>
            </a:xfrm>
            <a:prstGeom prst="rect">
              <a:avLst/>
            </a:prstGeom>
          </p:spPr>
          <p:txBody>
            <a:bodyPr anchor="ctr" rtlCol="false" tIns="0" lIns="0" bIns="0" rIns="0"/>
            <a:lstStyle/>
            <a:p>
              <a:pPr algn="l">
                <a:lnSpc>
                  <a:spcPts val="2400"/>
                </a:lnSpc>
              </a:pPr>
              <a:r>
                <a:rPr lang="en-US" sz="2000" b="true">
                  <a:solidFill>
                    <a:srgbClr val="94A3B8"/>
                  </a:solidFill>
                  <a:latin typeface="Calibri (MS) Bold"/>
                  <a:ea typeface="Calibri (MS) Bold"/>
                  <a:cs typeface="Calibri (MS) Bold"/>
                  <a:sym typeface="Calibri (MS) Bold"/>
                </a:rPr>
                <a:t>264.40</a:t>
              </a:r>
            </a:p>
          </p:txBody>
        </p:sp>
      </p:grpSp>
      <p:grpSp>
        <p:nvGrpSpPr>
          <p:cNvPr name="Group 75" id="75"/>
          <p:cNvGrpSpPr/>
          <p:nvPr/>
        </p:nvGrpSpPr>
        <p:grpSpPr>
          <a:xfrm rot="0">
            <a:off x="15153265" y="8101584"/>
            <a:ext cx="1463040" cy="694944"/>
            <a:chOff x="0" y="0"/>
            <a:chExt cx="1950720" cy="926592"/>
          </a:xfrm>
        </p:grpSpPr>
        <p:sp>
          <p:nvSpPr>
            <p:cNvPr name="Freeform 76" id="76"/>
            <p:cNvSpPr/>
            <p:nvPr/>
          </p:nvSpPr>
          <p:spPr>
            <a:xfrm flipH="false" flipV="false" rot="0">
              <a:off x="0" y="0"/>
              <a:ext cx="1950720" cy="926592"/>
            </a:xfrm>
            <a:custGeom>
              <a:avLst/>
              <a:gdLst/>
              <a:ahLst/>
              <a:cxnLst/>
              <a:rect r="r" b="b" t="t" l="l"/>
              <a:pathLst>
                <a:path h="926592" w="1950720">
                  <a:moveTo>
                    <a:pt x="0" y="0"/>
                  </a:moveTo>
                  <a:lnTo>
                    <a:pt x="1950720" y="0"/>
                  </a:lnTo>
                  <a:lnTo>
                    <a:pt x="1950720" y="926592"/>
                  </a:lnTo>
                  <a:lnTo>
                    <a:pt x="0" y="926592"/>
                  </a:lnTo>
                  <a:close/>
                </a:path>
              </a:pathLst>
            </a:custGeom>
            <a:blipFill>
              <a:blip r:embed="rId3">
                <a:alphaModFix amt="0"/>
              </a:blip>
              <a:stretch>
                <a:fillRect l="-10944" t="0" r="-10944" b="0"/>
              </a:stretch>
            </a:blipFill>
          </p:spPr>
        </p:sp>
        <p:sp>
          <p:nvSpPr>
            <p:cNvPr name="TextBox 77" id="77"/>
            <p:cNvSpPr txBox="true"/>
            <p:nvPr/>
          </p:nvSpPr>
          <p:spPr>
            <a:xfrm>
              <a:off x="0" y="-38100"/>
              <a:ext cx="1950720" cy="964692"/>
            </a:xfrm>
            <a:prstGeom prst="rect">
              <a:avLst/>
            </a:prstGeom>
          </p:spPr>
          <p:txBody>
            <a:bodyPr anchor="ctr" rtlCol="false" tIns="0" lIns="0" bIns="0" rIns="0"/>
            <a:lstStyle/>
            <a:p>
              <a:pPr algn="l">
                <a:lnSpc>
                  <a:spcPts val="2400"/>
                </a:lnSpc>
              </a:pPr>
              <a:r>
                <a:rPr lang="en-US" sz="2000" b="true">
                  <a:solidFill>
                    <a:srgbClr val="0D9488"/>
                  </a:solidFill>
                  <a:latin typeface="Calibri (MS) Bold"/>
                  <a:ea typeface="Calibri (MS) Bold"/>
                  <a:cs typeface="Calibri (MS) Bold"/>
                  <a:sym typeface="Calibri (MS) Bold"/>
                </a:rPr>
                <a:t>278.61</a:t>
              </a:r>
            </a:p>
          </p:txBody>
        </p:sp>
      </p:grpSp>
      <p:grpSp>
        <p:nvGrpSpPr>
          <p:cNvPr name="Group 78" id="78"/>
          <p:cNvGrpSpPr/>
          <p:nvPr/>
        </p:nvGrpSpPr>
        <p:grpSpPr>
          <a:xfrm rot="0">
            <a:off x="15975711" y="8979408"/>
            <a:ext cx="1463040" cy="694944"/>
            <a:chOff x="0" y="0"/>
            <a:chExt cx="1950720" cy="926592"/>
          </a:xfrm>
        </p:grpSpPr>
        <p:sp>
          <p:nvSpPr>
            <p:cNvPr name="Freeform 79" id="79"/>
            <p:cNvSpPr/>
            <p:nvPr/>
          </p:nvSpPr>
          <p:spPr>
            <a:xfrm flipH="false" flipV="false" rot="0">
              <a:off x="0" y="0"/>
              <a:ext cx="1950720" cy="926592"/>
            </a:xfrm>
            <a:custGeom>
              <a:avLst/>
              <a:gdLst/>
              <a:ahLst/>
              <a:cxnLst/>
              <a:rect r="r" b="b" t="t" l="l"/>
              <a:pathLst>
                <a:path h="926592" w="1950720">
                  <a:moveTo>
                    <a:pt x="0" y="0"/>
                  </a:moveTo>
                  <a:lnTo>
                    <a:pt x="1950720" y="0"/>
                  </a:lnTo>
                  <a:lnTo>
                    <a:pt x="1950720" y="926592"/>
                  </a:lnTo>
                  <a:lnTo>
                    <a:pt x="0" y="926592"/>
                  </a:lnTo>
                  <a:close/>
                </a:path>
              </a:pathLst>
            </a:custGeom>
            <a:blipFill>
              <a:blip r:embed="rId3">
                <a:alphaModFix amt="0"/>
              </a:blip>
              <a:stretch>
                <a:fillRect l="-10944" t="0" r="-10944" b="0"/>
              </a:stretch>
            </a:blipFill>
          </p:spPr>
        </p:sp>
        <p:sp>
          <p:nvSpPr>
            <p:cNvPr name="TextBox 80" id="80"/>
            <p:cNvSpPr txBox="true"/>
            <p:nvPr/>
          </p:nvSpPr>
          <p:spPr>
            <a:xfrm>
              <a:off x="0" y="-38100"/>
              <a:ext cx="1950720" cy="964692"/>
            </a:xfrm>
            <a:prstGeom prst="rect">
              <a:avLst/>
            </a:prstGeom>
          </p:spPr>
          <p:txBody>
            <a:bodyPr anchor="ctr" rtlCol="false" tIns="0" lIns="0" bIns="0" rIns="0"/>
            <a:lstStyle/>
            <a:p>
              <a:pPr algn="l">
                <a:lnSpc>
                  <a:spcPts val="2400"/>
                </a:lnSpc>
              </a:pPr>
              <a:r>
                <a:rPr lang="en-US" sz="2000" b="true">
                  <a:solidFill>
                    <a:srgbClr val="6D28D9"/>
                  </a:solidFill>
                  <a:latin typeface="Calibri (MS) Bold"/>
                  <a:ea typeface="Calibri (MS) Bold"/>
                  <a:cs typeface="Calibri (MS) Bold"/>
                  <a:sym typeface="Calibri (MS) Bold"/>
                </a:rPr>
                <a:t>294.60</a:t>
              </a:r>
            </a:p>
          </p:txBody>
        </p:sp>
      </p:grpSp>
      <p:grpSp>
        <p:nvGrpSpPr>
          <p:cNvPr name="Group 81" id="81"/>
          <p:cNvGrpSpPr/>
          <p:nvPr/>
        </p:nvGrpSpPr>
        <p:grpSpPr>
          <a:xfrm rot="0">
            <a:off x="11972287" y="6485887"/>
            <a:ext cx="5590537" cy="3487417"/>
            <a:chOff x="0" y="0"/>
            <a:chExt cx="7454049" cy="4649889"/>
          </a:xfrm>
        </p:grpSpPr>
        <p:sp>
          <p:nvSpPr>
            <p:cNvPr name="Freeform 82" id="82"/>
            <p:cNvSpPr/>
            <p:nvPr/>
          </p:nvSpPr>
          <p:spPr>
            <a:xfrm flipH="false" flipV="false" rot="0">
              <a:off x="8509" y="8509"/>
              <a:ext cx="7437119" cy="4632960"/>
            </a:xfrm>
            <a:custGeom>
              <a:avLst/>
              <a:gdLst/>
              <a:ahLst/>
              <a:cxnLst/>
              <a:rect r="r" b="b" t="t" l="l"/>
              <a:pathLst>
                <a:path h="4632960" w="7437119">
                  <a:moveTo>
                    <a:pt x="0" y="0"/>
                  </a:moveTo>
                  <a:lnTo>
                    <a:pt x="7437119" y="0"/>
                  </a:lnTo>
                  <a:lnTo>
                    <a:pt x="7437119" y="4632960"/>
                  </a:lnTo>
                  <a:lnTo>
                    <a:pt x="0" y="4632960"/>
                  </a:lnTo>
                  <a:close/>
                </a:path>
              </a:pathLst>
            </a:custGeom>
            <a:solidFill>
              <a:srgbClr val="EFF6FF"/>
            </a:solidFill>
          </p:spPr>
        </p:sp>
        <p:sp>
          <p:nvSpPr>
            <p:cNvPr name="Freeform 83" id="83"/>
            <p:cNvSpPr/>
            <p:nvPr/>
          </p:nvSpPr>
          <p:spPr>
            <a:xfrm flipH="false" flipV="false" rot="0">
              <a:off x="0" y="0"/>
              <a:ext cx="7454138" cy="4649978"/>
            </a:xfrm>
            <a:custGeom>
              <a:avLst/>
              <a:gdLst/>
              <a:ahLst/>
              <a:cxnLst/>
              <a:rect r="r" b="b" t="t" l="l"/>
              <a:pathLst>
                <a:path h="4649978" w="7454138">
                  <a:moveTo>
                    <a:pt x="8509" y="0"/>
                  </a:moveTo>
                  <a:lnTo>
                    <a:pt x="7445628" y="0"/>
                  </a:lnTo>
                  <a:cubicBezTo>
                    <a:pt x="7450327" y="0"/>
                    <a:pt x="7454138" y="3810"/>
                    <a:pt x="7454138" y="8509"/>
                  </a:cubicBezTo>
                  <a:lnTo>
                    <a:pt x="7454138" y="4641469"/>
                  </a:lnTo>
                  <a:cubicBezTo>
                    <a:pt x="7454138" y="4646168"/>
                    <a:pt x="7450327" y="4649978"/>
                    <a:pt x="7445628" y="4649978"/>
                  </a:cubicBezTo>
                  <a:lnTo>
                    <a:pt x="8509" y="4649978"/>
                  </a:lnTo>
                  <a:cubicBezTo>
                    <a:pt x="3810" y="4649978"/>
                    <a:pt x="0" y="4646168"/>
                    <a:pt x="0" y="4641469"/>
                  </a:cubicBezTo>
                  <a:lnTo>
                    <a:pt x="0" y="8509"/>
                  </a:lnTo>
                  <a:cubicBezTo>
                    <a:pt x="0" y="3810"/>
                    <a:pt x="3810" y="0"/>
                    <a:pt x="8509" y="0"/>
                  </a:cubicBezTo>
                  <a:moveTo>
                    <a:pt x="8509" y="16891"/>
                  </a:moveTo>
                  <a:lnTo>
                    <a:pt x="8509" y="8509"/>
                  </a:lnTo>
                  <a:lnTo>
                    <a:pt x="17018" y="8509"/>
                  </a:lnTo>
                  <a:lnTo>
                    <a:pt x="17018" y="4641469"/>
                  </a:lnTo>
                  <a:lnTo>
                    <a:pt x="8509" y="4641469"/>
                  </a:lnTo>
                  <a:lnTo>
                    <a:pt x="8509" y="4632960"/>
                  </a:lnTo>
                  <a:lnTo>
                    <a:pt x="7445628" y="4632960"/>
                  </a:lnTo>
                  <a:lnTo>
                    <a:pt x="7445628" y="4641469"/>
                  </a:lnTo>
                  <a:lnTo>
                    <a:pt x="7437120" y="4641469"/>
                  </a:lnTo>
                  <a:lnTo>
                    <a:pt x="7437120" y="8509"/>
                  </a:lnTo>
                  <a:lnTo>
                    <a:pt x="7445628" y="8509"/>
                  </a:lnTo>
                  <a:lnTo>
                    <a:pt x="7445628" y="17018"/>
                  </a:lnTo>
                  <a:lnTo>
                    <a:pt x="8509" y="17018"/>
                  </a:lnTo>
                  <a:close/>
                </a:path>
              </a:pathLst>
            </a:custGeom>
            <a:solidFill>
              <a:srgbClr val="E2E8F0"/>
            </a:solidFill>
          </p:spPr>
        </p:sp>
      </p:grpSp>
      <p:grpSp>
        <p:nvGrpSpPr>
          <p:cNvPr name="Group 84" id="84"/>
          <p:cNvGrpSpPr/>
          <p:nvPr/>
        </p:nvGrpSpPr>
        <p:grpSpPr>
          <a:xfrm rot="0">
            <a:off x="12289536" y="6583680"/>
            <a:ext cx="5029200" cy="512064"/>
            <a:chOff x="0" y="0"/>
            <a:chExt cx="6705600" cy="682752"/>
          </a:xfrm>
        </p:grpSpPr>
        <p:sp>
          <p:nvSpPr>
            <p:cNvPr name="Freeform 85" id="85"/>
            <p:cNvSpPr/>
            <p:nvPr/>
          </p:nvSpPr>
          <p:spPr>
            <a:xfrm flipH="false" flipV="false" rot="0">
              <a:off x="0" y="0"/>
              <a:ext cx="6705600" cy="682752"/>
            </a:xfrm>
            <a:custGeom>
              <a:avLst/>
              <a:gdLst/>
              <a:ahLst/>
              <a:cxnLst/>
              <a:rect r="r" b="b" t="t" l="l"/>
              <a:pathLst>
                <a:path h="682752" w="6705600">
                  <a:moveTo>
                    <a:pt x="0" y="0"/>
                  </a:moveTo>
                  <a:lnTo>
                    <a:pt x="6705600" y="0"/>
                  </a:lnTo>
                  <a:lnTo>
                    <a:pt x="6705600" y="682752"/>
                  </a:lnTo>
                  <a:lnTo>
                    <a:pt x="0" y="682752"/>
                  </a:lnTo>
                  <a:close/>
                </a:path>
              </a:pathLst>
            </a:custGeom>
            <a:blipFill>
              <a:blip r:embed="rId3">
                <a:alphaModFix amt="0"/>
              </a:blip>
              <a:stretch>
                <a:fillRect l="0" t="-141370" r="0" b="-141370"/>
              </a:stretch>
            </a:blipFill>
          </p:spPr>
        </p:sp>
        <p:sp>
          <p:nvSpPr>
            <p:cNvPr name="TextBox 86" id="86"/>
            <p:cNvSpPr txBox="true"/>
            <p:nvPr/>
          </p:nvSpPr>
          <p:spPr>
            <a:xfrm>
              <a:off x="0" y="-47625"/>
              <a:ext cx="6705600" cy="730377"/>
            </a:xfrm>
            <a:prstGeom prst="rect">
              <a:avLst/>
            </a:prstGeom>
          </p:spPr>
          <p:txBody>
            <a:bodyPr anchor="ctr" rtlCol="false" tIns="0" lIns="0" bIns="0" rIns="0"/>
            <a:lstStyle/>
            <a:p>
              <a:pPr algn="l">
                <a:lnSpc>
                  <a:spcPts val="2640"/>
                </a:lnSpc>
              </a:pPr>
              <a:r>
                <a:rPr lang="en-US" sz="2200" b="true">
                  <a:solidFill>
                    <a:srgbClr val="0D1B3E"/>
                  </a:solidFill>
                  <a:latin typeface="Calibri (MS) Bold"/>
                  <a:ea typeface="Calibri (MS) Bold"/>
                  <a:cs typeface="Calibri (MS) Bold"/>
                  <a:sym typeface="Calibri (MS) Bold"/>
                </a:rPr>
                <a:t>Module contributions</a:t>
              </a:r>
            </a:p>
          </p:txBody>
        </p:sp>
      </p:grpSp>
      <p:grpSp>
        <p:nvGrpSpPr>
          <p:cNvPr name="Group 87" id="87"/>
          <p:cNvGrpSpPr/>
          <p:nvPr/>
        </p:nvGrpSpPr>
        <p:grpSpPr>
          <a:xfrm rot="0">
            <a:off x="12289536" y="7095744"/>
            <a:ext cx="5029200" cy="402336"/>
            <a:chOff x="0" y="0"/>
            <a:chExt cx="6705600" cy="536448"/>
          </a:xfrm>
        </p:grpSpPr>
        <p:sp>
          <p:nvSpPr>
            <p:cNvPr name="Freeform 88" id="88"/>
            <p:cNvSpPr/>
            <p:nvPr/>
          </p:nvSpPr>
          <p:spPr>
            <a:xfrm flipH="false" flipV="false" rot="0">
              <a:off x="0" y="0"/>
              <a:ext cx="6705600" cy="536448"/>
            </a:xfrm>
            <a:custGeom>
              <a:avLst/>
              <a:gdLst/>
              <a:ahLst/>
              <a:cxnLst/>
              <a:rect r="r" b="b" t="t" l="l"/>
              <a:pathLst>
                <a:path h="536448" w="6705600">
                  <a:moveTo>
                    <a:pt x="0" y="0"/>
                  </a:moveTo>
                  <a:lnTo>
                    <a:pt x="6705600" y="0"/>
                  </a:lnTo>
                  <a:lnTo>
                    <a:pt x="6705600" y="536448"/>
                  </a:lnTo>
                  <a:lnTo>
                    <a:pt x="0" y="536448"/>
                  </a:lnTo>
                  <a:close/>
                </a:path>
              </a:pathLst>
            </a:custGeom>
            <a:blipFill>
              <a:blip r:embed="rId3">
                <a:alphaModFix amt="0"/>
              </a:blip>
              <a:stretch>
                <a:fillRect l="0" t="-193562" r="0" b="-193562"/>
              </a:stretch>
            </a:blipFill>
          </p:spPr>
        </p:sp>
        <p:sp>
          <p:nvSpPr>
            <p:cNvPr name="TextBox 89" id="89"/>
            <p:cNvSpPr txBox="true"/>
            <p:nvPr/>
          </p:nvSpPr>
          <p:spPr>
            <a:xfrm>
              <a:off x="0" y="-38100"/>
              <a:ext cx="6705600" cy="574548"/>
            </a:xfrm>
            <a:prstGeom prst="rect">
              <a:avLst/>
            </a:prstGeom>
          </p:spPr>
          <p:txBody>
            <a:bodyPr anchor="ctr" rtlCol="false" tIns="0" lIns="0" bIns="0" rIns="0"/>
            <a:lstStyle/>
            <a:p>
              <a:pPr algn="l">
                <a:lnSpc>
                  <a:spcPts val="2400"/>
                </a:lnSpc>
              </a:pPr>
              <a:r>
                <a:rPr lang="en-US" sz="2000" b="true">
                  <a:solidFill>
                    <a:srgbClr val="0D9488"/>
                  </a:solidFill>
                  <a:latin typeface="Calibri (MS) Bold"/>
                  <a:ea typeface="Calibri (MS) Bold"/>
                  <a:cs typeface="Calibri (MS) Bold"/>
                  <a:sym typeface="Calibri (MS) Bold"/>
                </a:rPr>
                <a:t>Fine-tuning</a:t>
              </a:r>
            </a:p>
          </p:txBody>
        </p:sp>
      </p:grpSp>
      <p:grpSp>
        <p:nvGrpSpPr>
          <p:cNvPr name="Group 90" id="90"/>
          <p:cNvGrpSpPr/>
          <p:nvPr/>
        </p:nvGrpSpPr>
        <p:grpSpPr>
          <a:xfrm rot="0">
            <a:off x="12289536" y="7424700"/>
            <a:ext cx="5029200" cy="622020"/>
            <a:chOff x="0" y="0"/>
            <a:chExt cx="6705600" cy="829360"/>
          </a:xfrm>
        </p:grpSpPr>
        <p:sp>
          <p:nvSpPr>
            <p:cNvPr name="Freeform 91" id="91"/>
            <p:cNvSpPr/>
            <p:nvPr/>
          </p:nvSpPr>
          <p:spPr>
            <a:xfrm flipH="false" flipV="false" rot="0">
              <a:off x="0" y="0"/>
              <a:ext cx="6705600" cy="829360"/>
            </a:xfrm>
            <a:custGeom>
              <a:avLst/>
              <a:gdLst/>
              <a:ahLst/>
              <a:cxnLst/>
              <a:rect r="r" b="b" t="t" l="l"/>
              <a:pathLst>
                <a:path h="829360" w="6705600">
                  <a:moveTo>
                    <a:pt x="0" y="0"/>
                  </a:moveTo>
                  <a:lnTo>
                    <a:pt x="6705600" y="0"/>
                  </a:lnTo>
                  <a:lnTo>
                    <a:pt x="6705600" y="829360"/>
                  </a:lnTo>
                  <a:lnTo>
                    <a:pt x="0" y="829360"/>
                  </a:lnTo>
                  <a:close/>
                </a:path>
              </a:pathLst>
            </a:custGeom>
            <a:blipFill>
              <a:blip r:embed="rId3">
                <a:alphaModFix amt="0"/>
              </a:blip>
              <a:stretch>
                <a:fillRect l="0" t="-122260" r="0" b="-92823"/>
              </a:stretch>
            </a:blipFill>
          </p:spPr>
        </p:sp>
        <p:sp>
          <p:nvSpPr>
            <p:cNvPr name="TextBox 92" id="92"/>
            <p:cNvSpPr txBox="true"/>
            <p:nvPr/>
          </p:nvSpPr>
          <p:spPr>
            <a:xfrm>
              <a:off x="0" y="-38100"/>
              <a:ext cx="6705600" cy="867460"/>
            </a:xfrm>
            <a:prstGeom prst="rect">
              <a:avLst/>
            </a:prstGeom>
          </p:spPr>
          <p:txBody>
            <a:bodyPr anchor="ctr" rtlCol="false" tIns="0" lIns="0" bIns="0" rIns="0"/>
            <a:lstStyle/>
            <a:p>
              <a:pPr algn="l">
                <a:lnSpc>
                  <a:spcPts val="2160"/>
                </a:lnSpc>
              </a:pPr>
              <a:r>
                <a:rPr lang="en-US" sz="1800">
                  <a:solidFill>
                    <a:srgbClr val="94A3B8"/>
                  </a:solidFill>
                  <a:latin typeface="Calibri (MS)"/>
                  <a:ea typeface="Calibri (MS)"/>
                  <a:cs typeface="Calibri (MS)"/>
                  <a:sym typeface="Calibri (MS)"/>
                </a:rPr>
                <a:t>Largest single jump. Domain adaptation is the #1 bottleneck.</a:t>
              </a:r>
            </a:p>
          </p:txBody>
        </p:sp>
      </p:grpSp>
      <p:grpSp>
        <p:nvGrpSpPr>
          <p:cNvPr name="Group 93" id="93"/>
          <p:cNvGrpSpPr/>
          <p:nvPr/>
        </p:nvGrpSpPr>
        <p:grpSpPr>
          <a:xfrm rot="0">
            <a:off x="12289536" y="8101584"/>
            <a:ext cx="5029200" cy="402336"/>
            <a:chOff x="0" y="0"/>
            <a:chExt cx="6705600" cy="536448"/>
          </a:xfrm>
        </p:grpSpPr>
        <p:sp>
          <p:nvSpPr>
            <p:cNvPr name="Freeform 94" id="94"/>
            <p:cNvSpPr/>
            <p:nvPr/>
          </p:nvSpPr>
          <p:spPr>
            <a:xfrm flipH="false" flipV="false" rot="0">
              <a:off x="0" y="0"/>
              <a:ext cx="6705600" cy="536448"/>
            </a:xfrm>
            <a:custGeom>
              <a:avLst/>
              <a:gdLst/>
              <a:ahLst/>
              <a:cxnLst/>
              <a:rect r="r" b="b" t="t" l="l"/>
              <a:pathLst>
                <a:path h="536448" w="6705600">
                  <a:moveTo>
                    <a:pt x="0" y="0"/>
                  </a:moveTo>
                  <a:lnTo>
                    <a:pt x="6705600" y="0"/>
                  </a:lnTo>
                  <a:lnTo>
                    <a:pt x="6705600" y="536448"/>
                  </a:lnTo>
                  <a:lnTo>
                    <a:pt x="0" y="536448"/>
                  </a:lnTo>
                  <a:close/>
                </a:path>
              </a:pathLst>
            </a:custGeom>
            <a:blipFill>
              <a:blip r:embed="rId3">
                <a:alphaModFix amt="0"/>
              </a:blip>
              <a:stretch>
                <a:fillRect l="0" t="-193562" r="0" b="-193562"/>
              </a:stretch>
            </a:blipFill>
          </p:spPr>
        </p:sp>
        <p:sp>
          <p:nvSpPr>
            <p:cNvPr name="TextBox 95" id="95"/>
            <p:cNvSpPr txBox="true"/>
            <p:nvPr/>
          </p:nvSpPr>
          <p:spPr>
            <a:xfrm>
              <a:off x="0" y="-38100"/>
              <a:ext cx="6705600" cy="574548"/>
            </a:xfrm>
            <a:prstGeom prst="rect">
              <a:avLst/>
            </a:prstGeom>
          </p:spPr>
          <p:txBody>
            <a:bodyPr anchor="ctr" rtlCol="false" tIns="0" lIns="0" bIns="0" rIns="0"/>
            <a:lstStyle/>
            <a:p>
              <a:pPr algn="l">
                <a:lnSpc>
                  <a:spcPts val="2400"/>
                </a:lnSpc>
              </a:pPr>
              <a:r>
                <a:rPr lang="en-US" sz="2000" b="true">
                  <a:solidFill>
                    <a:srgbClr val="6D28D9"/>
                  </a:solidFill>
                  <a:latin typeface="Calibri (MS) Bold"/>
                  <a:ea typeface="Calibri (MS) Bold"/>
                  <a:cs typeface="Calibri (MS) Bold"/>
                  <a:sym typeface="Calibri (MS) Bold"/>
                </a:rPr>
                <a:t>LFSE</a:t>
              </a:r>
            </a:p>
          </p:txBody>
        </p:sp>
      </p:grpSp>
      <p:grpSp>
        <p:nvGrpSpPr>
          <p:cNvPr name="Group 96" id="96"/>
          <p:cNvGrpSpPr/>
          <p:nvPr/>
        </p:nvGrpSpPr>
        <p:grpSpPr>
          <a:xfrm rot="0">
            <a:off x="12252955" y="8357388"/>
            <a:ext cx="5029200" cy="622020"/>
            <a:chOff x="0" y="0"/>
            <a:chExt cx="6705600" cy="829360"/>
          </a:xfrm>
        </p:grpSpPr>
        <p:sp>
          <p:nvSpPr>
            <p:cNvPr name="Freeform 97" id="97"/>
            <p:cNvSpPr/>
            <p:nvPr/>
          </p:nvSpPr>
          <p:spPr>
            <a:xfrm flipH="false" flipV="false" rot="0">
              <a:off x="0" y="0"/>
              <a:ext cx="6705600" cy="829360"/>
            </a:xfrm>
            <a:custGeom>
              <a:avLst/>
              <a:gdLst/>
              <a:ahLst/>
              <a:cxnLst/>
              <a:rect r="r" b="b" t="t" l="l"/>
              <a:pathLst>
                <a:path h="829360" w="6705600">
                  <a:moveTo>
                    <a:pt x="0" y="0"/>
                  </a:moveTo>
                  <a:lnTo>
                    <a:pt x="6705600" y="0"/>
                  </a:lnTo>
                  <a:lnTo>
                    <a:pt x="6705600" y="829360"/>
                  </a:lnTo>
                  <a:lnTo>
                    <a:pt x="0" y="829360"/>
                  </a:lnTo>
                  <a:close/>
                </a:path>
              </a:pathLst>
            </a:custGeom>
            <a:blipFill>
              <a:blip r:embed="rId3">
                <a:alphaModFix amt="0"/>
              </a:blip>
              <a:stretch>
                <a:fillRect l="0" t="-122260" r="0" b="-92823"/>
              </a:stretch>
            </a:blipFill>
          </p:spPr>
        </p:sp>
        <p:sp>
          <p:nvSpPr>
            <p:cNvPr name="TextBox 98" id="98"/>
            <p:cNvSpPr txBox="true"/>
            <p:nvPr/>
          </p:nvSpPr>
          <p:spPr>
            <a:xfrm>
              <a:off x="0" y="-38100"/>
              <a:ext cx="6705600" cy="867460"/>
            </a:xfrm>
            <a:prstGeom prst="rect">
              <a:avLst/>
            </a:prstGeom>
          </p:spPr>
          <p:txBody>
            <a:bodyPr anchor="ctr" rtlCol="false" tIns="0" lIns="0" bIns="0" rIns="0"/>
            <a:lstStyle/>
            <a:p>
              <a:pPr algn="l">
                <a:lnSpc>
                  <a:spcPts val="2160"/>
                </a:lnSpc>
              </a:pPr>
              <a:r>
                <a:rPr lang="en-US" sz="1800">
                  <a:solidFill>
                    <a:srgbClr val="94A3B8"/>
                  </a:solidFill>
                  <a:latin typeface="Calibri (MS)"/>
                  <a:ea typeface="Calibri (MS)"/>
                  <a:cs typeface="Calibri (MS)"/>
                  <a:sym typeface="Calibri (MS)"/>
                </a:rPr>
                <a:t>+5.7% CIDEr. Spatial relations add meaningful accuracy.</a:t>
              </a:r>
            </a:p>
          </p:txBody>
        </p:sp>
      </p:grpSp>
      <p:grpSp>
        <p:nvGrpSpPr>
          <p:cNvPr name="Group 99" id="99"/>
          <p:cNvGrpSpPr/>
          <p:nvPr/>
        </p:nvGrpSpPr>
        <p:grpSpPr>
          <a:xfrm rot="0">
            <a:off x="12289536" y="8979408"/>
            <a:ext cx="5029200" cy="402336"/>
            <a:chOff x="0" y="0"/>
            <a:chExt cx="6705600" cy="536448"/>
          </a:xfrm>
        </p:grpSpPr>
        <p:sp>
          <p:nvSpPr>
            <p:cNvPr name="Freeform 100" id="100"/>
            <p:cNvSpPr/>
            <p:nvPr/>
          </p:nvSpPr>
          <p:spPr>
            <a:xfrm flipH="false" flipV="false" rot="0">
              <a:off x="0" y="0"/>
              <a:ext cx="6705600" cy="536448"/>
            </a:xfrm>
            <a:custGeom>
              <a:avLst/>
              <a:gdLst/>
              <a:ahLst/>
              <a:cxnLst/>
              <a:rect r="r" b="b" t="t" l="l"/>
              <a:pathLst>
                <a:path h="536448" w="6705600">
                  <a:moveTo>
                    <a:pt x="0" y="0"/>
                  </a:moveTo>
                  <a:lnTo>
                    <a:pt x="6705600" y="0"/>
                  </a:lnTo>
                  <a:lnTo>
                    <a:pt x="6705600" y="536448"/>
                  </a:lnTo>
                  <a:lnTo>
                    <a:pt x="0" y="536448"/>
                  </a:lnTo>
                  <a:close/>
                </a:path>
              </a:pathLst>
            </a:custGeom>
            <a:blipFill>
              <a:blip r:embed="rId3">
                <a:alphaModFix amt="0"/>
              </a:blip>
              <a:stretch>
                <a:fillRect l="0" t="-193562" r="0" b="-193562"/>
              </a:stretch>
            </a:blipFill>
          </p:spPr>
        </p:sp>
        <p:sp>
          <p:nvSpPr>
            <p:cNvPr name="TextBox 101" id="101"/>
            <p:cNvSpPr txBox="true"/>
            <p:nvPr/>
          </p:nvSpPr>
          <p:spPr>
            <a:xfrm>
              <a:off x="0" y="-38100"/>
              <a:ext cx="6705600" cy="574548"/>
            </a:xfrm>
            <a:prstGeom prst="rect">
              <a:avLst/>
            </a:prstGeom>
          </p:spPr>
          <p:txBody>
            <a:bodyPr anchor="ctr" rtlCol="false" tIns="0" lIns="0" bIns="0" rIns="0"/>
            <a:lstStyle/>
            <a:p>
              <a:pPr algn="l">
                <a:lnSpc>
                  <a:spcPts val="2400"/>
                </a:lnSpc>
              </a:pPr>
              <a:r>
                <a:rPr lang="en-US" sz="2000" b="true">
                  <a:solidFill>
                    <a:srgbClr val="E05B4B"/>
                  </a:solidFill>
                  <a:latin typeface="Calibri (MS) Bold"/>
                  <a:ea typeface="Calibri (MS) Bold"/>
                  <a:cs typeface="Calibri (MS) Bold"/>
                  <a:sym typeface="Calibri (MS) Bold"/>
                </a:rPr>
                <a:t>FID</a:t>
              </a:r>
            </a:p>
          </p:txBody>
        </p:sp>
      </p:grpSp>
      <p:grpSp>
        <p:nvGrpSpPr>
          <p:cNvPr name="Group 102" id="102"/>
          <p:cNvGrpSpPr/>
          <p:nvPr/>
        </p:nvGrpSpPr>
        <p:grpSpPr>
          <a:xfrm rot="0">
            <a:off x="12289536" y="9363456"/>
            <a:ext cx="5029200" cy="438912"/>
            <a:chOff x="0" y="0"/>
            <a:chExt cx="6705600" cy="585216"/>
          </a:xfrm>
        </p:grpSpPr>
        <p:sp>
          <p:nvSpPr>
            <p:cNvPr name="Freeform 103" id="103"/>
            <p:cNvSpPr/>
            <p:nvPr/>
          </p:nvSpPr>
          <p:spPr>
            <a:xfrm flipH="false" flipV="false" rot="0">
              <a:off x="0" y="0"/>
              <a:ext cx="6705600" cy="585216"/>
            </a:xfrm>
            <a:custGeom>
              <a:avLst/>
              <a:gdLst/>
              <a:ahLst/>
              <a:cxnLst/>
              <a:rect r="r" b="b" t="t" l="l"/>
              <a:pathLst>
                <a:path h="585216" w="6705600">
                  <a:moveTo>
                    <a:pt x="0" y="0"/>
                  </a:moveTo>
                  <a:lnTo>
                    <a:pt x="6705600" y="0"/>
                  </a:lnTo>
                  <a:lnTo>
                    <a:pt x="6705600" y="585216"/>
                  </a:lnTo>
                  <a:lnTo>
                    <a:pt x="0" y="585216"/>
                  </a:lnTo>
                  <a:close/>
                </a:path>
              </a:pathLst>
            </a:custGeom>
            <a:blipFill>
              <a:blip r:embed="rId3">
                <a:alphaModFix amt="0"/>
              </a:blip>
              <a:stretch>
                <a:fillRect l="0" t="-173266" r="0" b="-173266"/>
              </a:stretch>
            </a:blipFill>
          </p:spPr>
        </p:sp>
        <p:sp>
          <p:nvSpPr>
            <p:cNvPr name="TextBox 104" id="104"/>
            <p:cNvSpPr txBox="true"/>
            <p:nvPr/>
          </p:nvSpPr>
          <p:spPr>
            <a:xfrm>
              <a:off x="0" y="-38100"/>
              <a:ext cx="6705600" cy="623316"/>
            </a:xfrm>
            <a:prstGeom prst="rect">
              <a:avLst/>
            </a:prstGeom>
          </p:spPr>
          <p:txBody>
            <a:bodyPr anchor="ctr" rtlCol="false" tIns="0" lIns="0" bIns="0" rIns="0"/>
            <a:lstStyle/>
            <a:p>
              <a:pPr algn="l">
                <a:lnSpc>
                  <a:spcPts val="2160"/>
                </a:lnSpc>
              </a:pPr>
              <a:r>
                <a:rPr lang="en-US" sz="1800">
                  <a:solidFill>
                    <a:srgbClr val="94A3B8"/>
                  </a:solidFill>
                  <a:latin typeface="Calibri (MS)"/>
                  <a:ea typeface="Calibri (MS)"/>
                  <a:cs typeface="Calibri (MS)"/>
                  <a:sym typeface="Calibri (MS)"/>
                </a:rPr>
                <a:t>+3.7% CIDEr. Global context improves coherence.</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718823" y="316487"/>
            <a:ext cx="2951483" cy="574043"/>
            <a:chOff x="0" y="0"/>
            <a:chExt cx="3935311" cy="765391"/>
          </a:xfrm>
        </p:grpSpPr>
        <p:sp>
          <p:nvSpPr>
            <p:cNvPr name="Freeform 3" id="3"/>
            <p:cNvSpPr/>
            <p:nvPr/>
          </p:nvSpPr>
          <p:spPr>
            <a:xfrm flipH="false" flipV="false" rot="0">
              <a:off x="16891" y="16891"/>
              <a:ext cx="3901440" cy="731520"/>
            </a:xfrm>
            <a:custGeom>
              <a:avLst/>
              <a:gdLst/>
              <a:ahLst/>
              <a:cxnLst/>
              <a:rect r="r" b="b" t="t" l="l"/>
              <a:pathLst>
                <a:path h="731520" w="3901440">
                  <a:moveTo>
                    <a:pt x="0" y="0"/>
                  </a:moveTo>
                  <a:lnTo>
                    <a:pt x="3901440" y="0"/>
                  </a:lnTo>
                  <a:lnTo>
                    <a:pt x="3901440" y="731520"/>
                  </a:lnTo>
                  <a:lnTo>
                    <a:pt x="0" y="731520"/>
                  </a:lnTo>
                  <a:close/>
                </a:path>
              </a:pathLst>
            </a:custGeom>
            <a:solidFill>
              <a:srgbClr val="0D1B3E"/>
            </a:solidFill>
          </p:spPr>
        </p:sp>
        <p:sp>
          <p:nvSpPr>
            <p:cNvPr name="Freeform 4" id="4"/>
            <p:cNvSpPr/>
            <p:nvPr/>
          </p:nvSpPr>
          <p:spPr>
            <a:xfrm flipH="false" flipV="false" rot="0">
              <a:off x="0" y="0"/>
              <a:ext cx="3935222" cy="765304"/>
            </a:xfrm>
            <a:custGeom>
              <a:avLst/>
              <a:gdLst/>
              <a:ahLst/>
              <a:cxnLst/>
              <a:rect r="r" b="b" t="t" l="l"/>
              <a:pathLst>
                <a:path h="765304" w="3935222">
                  <a:moveTo>
                    <a:pt x="16891" y="0"/>
                  </a:moveTo>
                  <a:lnTo>
                    <a:pt x="3918331" y="0"/>
                  </a:lnTo>
                  <a:cubicBezTo>
                    <a:pt x="3927729" y="0"/>
                    <a:pt x="3935222" y="7620"/>
                    <a:pt x="3935222" y="16891"/>
                  </a:cubicBezTo>
                  <a:lnTo>
                    <a:pt x="3935222" y="748411"/>
                  </a:lnTo>
                  <a:cubicBezTo>
                    <a:pt x="3935222" y="757809"/>
                    <a:pt x="3927602" y="765302"/>
                    <a:pt x="3918331" y="765302"/>
                  </a:cubicBezTo>
                  <a:lnTo>
                    <a:pt x="16891" y="765302"/>
                  </a:lnTo>
                  <a:cubicBezTo>
                    <a:pt x="7620" y="765429"/>
                    <a:pt x="0" y="757809"/>
                    <a:pt x="0" y="748411"/>
                  </a:cubicBezTo>
                  <a:lnTo>
                    <a:pt x="0" y="16891"/>
                  </a:lnTo>
                  <a:cubicBezTo>
                    <a:pt x="0" y="7620"/>
                    <a:pt x="7620" y="0"/>
                    <a:pt x="16891" y="0"/>
                  </a:cubicBezTo>
                  <a:moveTo>
                    <a:pt x="16891" y="33909"/>
                  </a:moveTo>
                  <a:lnTo>
                    <a:pt x="16891" y="16891"/>
                  </a:lnTo>
                  <a:lnTo>
                    <a:pt x="33909" y="16891"/>
                  </a:lnTo>
                  <a:lnTo>
                    <a:pt x="33909" y="748411"/>
                  </a:lnTo>
                  <a:lnTo>
                    <a:pt x="16891" y="748411"/>
                  </a:lnTo>
                  <a:lnTo>
                    <a:pt x="16891" y="731520"/>
                  </a:lnTo>
                  <a:lnTo>
                    <a:pt x="3918331" y="731520"/>
                  </a:lnTo>
                  <a:lnTo>
                    <a:pt x="3918331" y="748411"/>
                  </a:lnTo>
                  <a:lnTo>
                    <a:pt x="3901440" y="748411"/>
                  </a:lnTo>
                  <a:lnTo>
                    <a:pt x="3901440" y="16891"/>
                  </a:lnTo>
                  <a:lnTo>
                    <a:pt x="3918331" y="16891"/>
                  </a:lnTo>
                  <a:lnTo>
                    <a:pt x="3918331" y="33909"/>
                  </a:lnTo>
                  <a:lnTo>
                    <a:pt x="16891" y="33909"/>
                  </a:lnTo>
                  <a:close/>
                </a:path>
              </a:pathLst>
            </a:custGeom>
            <a:solidFill>
              <a:srgbClr val="0D1B3E"/>
            </a:solidFill>
          </p:spPr>
        </p:sp>
      </p:grpSp>
      <p:grpSp>
        <p:nvGrpSpPr>
          <p:cNvPr name="Group 5" id="5"/>
          <p:cNvGrpSpPr/>
          <p:nvPr/>
        </p:nvGrpSpPr>
        <p:grpSpPr>
          <a:xfrm rot="0">
            <a:off x="731520" y="329184"/>
            <a:ext cx="2926080" cy="548640"/>
            <a:chOff x="0" y="0"/>
            <a:chExt cx="3901440" cy="731520"/>
          </a:xfrm>
        </p:grpSpPr>
        <p:sp>
          <p:nvSpPr>
            <p:cNvPr name="Freeform 6" id="6"/>
            <p:cNvSpPr/>
            <p:nvPr/>
          </p:nvSpPr>
          <p:spPr>
            <a:xfrm flipH="false" flipV="false" rot="0">
              <a:off x="0" y="0"/>
              <a:ext cx="3901440" cy="731520"/>
            </a:xfrm>
            <a:custGeom>
              <a:avLst/>
              <a:gdLst/>
              <a:ahLst/>
              <a:cxnLst/>
              <a:rect r="r" b="b" t="t" l="l"/>
              <a:pathLst>
                <a:path h="731520" w="3901440">
                  <a:moveTo>
                    <a:pt x="0" y="0"/>
                  </a:moveTo>
                  <a:lnTo>
                    <a:pt x="3901440" y="0"/>
                  </a:lnTo>
                  <a:lnTo>
                    <a:pt x="3901440" y="731520"/>
                  </a:lnTo>
                  <a:lnTo>
                    <a:pt x="0" y="731520"/>
                  </a:lnTo>
                  <a:close/>
                </a:path>
              </a:pathLst>
            </a:custGeom>
            <a:blipFill>
              <a:blip r:embed="rId3">
                <a:alphaModFix amt="0"/>
              </a:blip>
              <a:stretch>
                <a:fillRect l="0" t="-53920" r="0" b="-53920"/>
              </a:stretch>
            </a:blipFill>
          </p:spPr>
        </p:sp>
        <p:sp>
          <p:nvSpPr>
            <p:cNvPr name="TextBox 7" id="7"/>
            <p:cNvSpPr txBox="true"/>
            <p:nvPr/>
          </p:nvSpPr>
          <p:spPr>
            <a:xfrm>
              <a:off x="0" y="-38100"/>
              <a:ext cx="3901440" cy="76962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08 · QUALITATIVE</a:t>
              </a:r>
            </a:p>
          </p:txBody>
        </p:sp>
      </p:grpSp>
      <p:grpSp>
        <p:nvGrpSpPr>
          <p:cNvPr name="Group 8" id="8"/>
          <p:cNvGrpSpPr/>
          <p:nvPr/>
        </p:nvGrpSpPr>
        <p:grpSpPr>
          <a:xfrm rot="0">
            <a:off x="914400" y="1005840"/>
            <a:ext cx="16459200" cy="1188720"/>
            <a:chOff x="0" y="0"/>
            <a:chExt cx="21945600" cy="1584960"/>
          </a:xfrm>
        </p:grpSpPr>
        <p:sp>
          <p:nvSpPr>
            <p:cNvPr name="Freeform 9" id="9"/>
            <p:cNvSpPr/>
            <p:nvPr/>
          </p:nvSpPr>
          <p:spPr>
            <a:xfrm flipH="false" flipV="false" rot="0">
              <a:off x="0" y="0"/>
              <a:ext cx="21945600" cy="1584960"/>
            </a:xfrm>
            <a:custGeom>
              <a:avLst/>
              <a:gdLst/>
              <a:ahLst/>
              <a:cxnLst/>
              <a:rect r="r" b="b" t="t" l="l"/>
              <a:pathLst>
                <a:path h="1584960" w="21945600">
                  <a:moveTo>
                    <a:pt x="0" y="0"/>
                  </a:moveTo>
                  <a:lnTo>
                    <a:pt x="21945600" y="0"/>
                  </a:lnTo>
                  <a:lnTo>
                    <a:pt x="21945600" y="1584960"/>
                  </a:lnTo>
                  <a:lnTo>
                    <a:pt x="0" y="1584960"/>
                  </a:lnTo>
                  <a:close/>
                </a:path>
              </a:pathLst>
            </a:custGeom>
            <a:blipFill>
              <a:blip r:embed="rId3">
                <a:alphaModFix amt="0"/>
              </a:blip>
              <a:stretch>
                <a:fillRect l="0" t="-219792" r="0" b="-219792"/>
              </a:stretch>
            </a:blipFill>
          </p:spPr>
        </p:sp>
        <p:sp>
          <p:nvSpPr>
            <p:cNvPr name="TextBox 10" id="10"/>
            <p:cNvSpPr txBox="true"/>
            <p:nvPr/>
          </p:nvSpPr>
          <p:spPr>
            <a:xfrm>
              <a:off x="0" y="-104775"/>
              <a:ext cx="21945600" cy="1689735"/>
            </a:xfrm>
            <a:prstGeom prst="rect">
              <a:avLst/>
            </a:prstGeom>
          </p:spPr>
          <p:txBody>
            <a:bodyPr anchor="ctr" rtlCol="false" tIns="0" lIns="0" bIns="0" rIns="0"/>
            <a:lstStyle/>
            <a:p>
              <a:pPr algn="l">
                <a:lnSpc>
                  <a:spcPts val="6240"/>
                </a:lnSpc>
              </a:pPr>
              <a:r>
                <a:rPr lang="en-US" sz="5200" b="true">
                  <a:solidFill>
                    <a:srgbClr val="1E293B"/>
                  </a:solidFill>
                  <a:latin typeface="Calibri (MS) Bold"/>
                  <a:ea typeface="Calibri (MS) Bold"/>
                  <a:cs typeface="Calibri (MS) Bold"/>
                  <a:sym typeface="Calibri (MS) Bold"/>
                </a:rPr>
                <a:t>Qualitative Analysis — Generated Captions</a:t>
              </a:r>
            </a:p>
          </p:txBody>
        </p:sp>
      </p:grpSp>
      <p:grpSp>
        <p:nvGrpSpPr>
          <p:cNvPr name="Group 11" id="11"/>
          <p:cNvGrpSpPr/>
          <p:nvPr/>
        </p:nvGrpSpPr>
        <p:grpSpPr>
          <a:xfrm rot="0">
            <a:off x="725167" y="2279647"/>
            <a:ext cx="16837657" cy="12697"/>
            <a:chOff x="0" y="0"/>
            <a:chExt cx="22450209" cy="16929"/>
          </a:xfrm>
        </p:grpSpPr>
        <p:sp>
          <p:nvSpPr>
            <p:cNvPr name="Freeform 12" id="12"/>
            <p:cNvSpPr/>
            <p:nvPr/>
          </p:nvSpPr>
          <p:spPr>
            <a:xfrm flipH="false" flipV="false" rot="0">
              <a:off x="8509" y="0"/>
              <a:ext cx="22433281" cy="16891"/>
            </a:xfrm>
            <a:custGeom>
              <a:avLst/>
              <a:gdLst/>
              <a:ahLst/>
              <a:cxnLst/>
              <a:rect r="r" b="b" t="t" l="l"/>
              <a:pathLst>
                <a:path h="16891" w="22433281">
                  <a:moveTo>
                    <a:pt x="0" y="0"/>
                  </a:moveTo>
                  <a:lnTo>
                    <a:pt x="22433281" y="0"/>
                  </a:lnTo>
                  <a:lnTo>
                    <a:pt x="22433281" y="16891"/>
                  </a:lnTo>
                  <a:lnTo>
                    <a:pt x="0" y="16891"/>
                  </a:lnTo>
                  <a:close/>
                </a:path>
              </a:pathLst>
            </a:custGeom>
            <a:solidFill>
              <a:srgbClr val="E2E8F0"/>
            </a:solidFill>
          </p:spPr>
        </p:sp>
      </p:grpSp>
      <p:grpSp>
        <p:nvGrpSpPr>
          <p:cNvPr name="Group 13" id="13"/>
          <p:cNvGrpSpPr/>
          <p:nvPr/>
        </p:nvGrpSpPr>
        <p:grpSpPr>
          <a:xfrm rot="0">
            <a:off x="731520" y="2377440"/>
            <a:ext cx="16824960" cy="457200"/>
            <a:chOff x="0" y="0"/>
            <a:chExt cx="22433280" cy="609600"/>
          </a:xfrm>
        </p:grpSpPr>
        <p:sp>
          <p:nvSpPr>
            <p:cNvPr name="Freeform 14" id="14"/>
            <p:cNvSpPr/>
            <p:nvPr/>
          </p:nvSpPr>
          <p:spPr>
            <a:xfrm flipH="false" flipV="false" rot="0">
              <a:off x="0" y="0"/>
              <a:ext cx="22433280" cy="609600"/>
            </a:xfrm>
            <a:custGeom>
              <a:avLst/>
              <a:gdLst/>
              <a:ahLst/>
              <a:cxnLst/>
              <a:rect r="r" b="b" t="t" l="l"/>
              <a:pathLst>
                <a:path h="609600" w="22433280">
                  <a:moveTo>
                    <a:pt x="0" y="0"/>
                  </a:moveTo>
                  <a:lnTo>
                    <a:pt x="22433280" y="0"/>
                  </a:lnTo>
                  <a:lnTo>
                    <a:pt x="22433280" y="609600"/>
                  </a:lnTo>
                  <a:lnTo>
                    <a:pt x="0" y="609600"/>
                  </a:lnTo>
                  <a:close/>
                </a:path>
              </a:pathLst>
            </a:custGeom>
            <a:blipFill>
              <a:blip r:embed="rId3">
                <a:alphaModFix amt="0"/>
              </a:blip>
              <a:stretch>
                <a:fillRect l="0" t="-667049" r="0" b="-667049"/>
              </a:stretch>
            </a:blipFill>
          </p:spPr>
        </p:sp>
        <p:sp>
          <p:nvSpPr>
            <p:cNvPr name="TextBox 15" id="15"/>
            <p:cNvSpPr txBox="true"/>
            <p:nvPr/>
          </p:nvSpPr>
          <p:spPr>
            <a:xfrm>
              <a:off x="0" y="-47625"/>
              <a:ext cx="22433280" cy="657225"/>
            </a:xfrm>
            <a:prstGeom prst="rect">
              <a:avLst/>
            </a:prstGeom>
          </p:spPr>
          <p:txBody>
            <a:bodyPr anchor="ctr" rtlCol="false" tIns="0" lIns="0" bIns="0" rIns="0"/>
            <a:lstStyle/>
            <a:p>
              <a:pPr algn="l">
                <a:lnSpc>
                  <a:spcPts val="2520"/>
                </a:lnSpc>
              </a:pPr>
              <a:r>
                <a:rPr lang="en-US" sz="2100">
                  <a:solidFill>
                    <a:srgbClr val="94A3B8"/>
                  </a:solidFill>
                  <a:latin typeface="Calibri (MS)"/>
                  <a:ea typeface="Calibri (MS)"/>
                  <a:cs typeface="Calibri (MS)"/>
                  <a:sym typeface="Calibri (MS)"/>
                </a:rPr>
                <a:t>Comparing Baseline (Swin + LSTM) vs TSFE outputs across 6 image types:</a:t>
              </a:r>
            </a:p>
          </p:txBody>
        </p:sp>
      </p:grpSp>
      <p:grpSp>
        <p:nvGrpSpPr>
          <p:cNvPr name="Group 16" id="16"/>
          <p:cNvGrpSpPr/>
          <p:nvPr/>
        </p:nvGrpSpPr>
        <p:grpSpPr>
          <a:xfrm rot="0">
            <a:off x="725167" y="3011167"/>
            <a:ext cx="8242297" cy="2115817"/>
            <a:chOff x="0" y="0"/>
            <a:chExt cx="10989729" cy="2821089"/>
          </a:xfrm>
        </p:grpSpPr>
        <p:sp>
          <p:nvSpPr>
            <p:cNvPr name="Freeform 17" id="17"/>
            <p:cNvSpPr/>
            <p:nvPr/>
          </p:nvSpPr>
          <p:spPr>
            <a:xfrm flipH="false" flipV="false" rot="0">
              <a:off x="8509" y="8509"/>
              <a:ext cx="10972800" cy="2804160"/>
            </a:xfrm>
            <a:custGeom>
              <a:avLst/>
              <a:gdLst/>
              <a:ahLst/>
              <a:cxnLst/>
              <a:rect r="r" b="b" t="t" l="l"/>
              <a:pathLst>
                <a:path h="2804160" w="10972800">
                  <a:moveTo>
                    <a:pt x="0" y="0"/>
                  </a:moveTo>
                  <a:lnTo>
                    <a:pt x="10972800" y="0"/>
                  </a:lnTo>
                  <a:lnTo>
                    <a:pt x="10972800" y="2804160"/>
                  </a:lnTo>
                  <a:lnTo>
                    <a:pt x="0" y="2804160"/>
                  </a:lnTo>
                  <a:close/>
                </a:path>
              </a:pathLst>
            </a:custGeom>
            <a:solidFill>
              <a:srgbClr val="FFFFFF"/>
            </a:solidFill>
          </p:spPr>
        </p:sp>
        <p:sp>
          <p:nvSpPr>
            <p:cNvPr name="Freeform 18" id="18"/>
            <p:cNvSpPr/>
            <p:nvPr/>
          </p:nvSpPr>
          <p:spPr>
            <a:xfrm flipH="false" flipV="false" rot="0">
              <a:off x="0" y="0"/>
              <a:ext cx="10989818" cy="2821178"/>
            </a:xfrm>
            <a:custGeom>
              <a:avLst/>
              <a:gdLst/>
              <a:ahLst/>
              <a:cxnLst/>
              <a:rect r="r" b="b" t="t" l="l"/>
              <a:pathLst>
                <a:path h="2821178" w="10989818">
                  <a:moveTo>
                    <a:pt x="8509" y="0"/>
                  </a:moveTo>
                  <a:lnTo>
                    <a:pt x="10981309" y="0"/>
                  </a:lnTo>
                  <a:cubicBezTo>
                    <a:pt x="10986008" y="0"/>
                    <a:pt x="10989818" y="3810"/>
                    <a:pt x="10989818" y="8509"/>
                  </a:cubicBezTo>
                  <a:lnTo>
                    <a:pt x="10989818" y="2812669"/>
                  </a:lnTo>
                  <a:cubicBezTo>
                    <a:pt x="10989818" y="2817368"/>
                    <a:pt x="10986008" y="2821178"/>
                    <a:pt x="10981309" y="2821178"/>
                  </a:cubicBezTo>
                  <a:lnTo>
                    <a:pt x="8509" y="2821178"/>
                  </a:lnTo>
                  <a:cubicBezTo>
                    <a:pt x="3810" y="2821178"/>
                    <a:pt x="0" y="2817368"/>
                    <a:pt x="0" y="2812669"/>
                  </a:cubicBezTo>
                  <a:lnTo>
                    <a:pt x="0" y="8509"/>
                  </a:lnTo>
                  <a:cubicBezTo>
                    <a:pt x="0" y="3810"/>
                    <a:pt x="3810" y="0"/>
                    <a:pt x="8509" y="0"/>
                  </a:cubicBezTo>
                  <a:moveTo>
                    <a:pt x="8509" y="16891"/>
                  </a:moveTo>
                  <a:lnTo>
                    <a:pt x="8509" y="8509"/>
                  </a:lnTo>
                  <a:lnTo>
                    <a:pt x="17018" y="8509"/>
                  </a:lnTo>
                  <a:lnTo>
                    <a:pt x="17018" y="2812669"/>
                  </a:lnTo>
                  <a:lnTo>
                    <a:pt x="8509" y="2812669"/>
                  </a:lnTo>
                  <a:lnTo>
                    <a:pt x="8509" y="2804160"/>
                  </a:lnTo>
                  <a:lnTo>
                    <a:pt x="10981309" y="2804160"/>
                  </a:lnTo>
                  <a:lnTo>
                    <a:pt x="10981309" y="2812669"/>
                  </a:lnTo>
                  <a:lnTo>
                    <a:pt x="10972800" y="2812669"/>
                  </a:lnTo>
                  <a:lnTo>
                    <a:pt x="10972800" y="8509"/>
                  </a:lnTo>
                  <a:lnTo>
                    <a:pt x="10981309" y="8509"/>
                  </a:lnTo>
                  <a:lnTo>
                    <a:pt x="10981309" y="17018"/>
                  </a:lnTo>
                  <a:lnTo>
                    <a:pt x="8509" y="17018"/>
                  </a:lnTo>
                  <a:close/>
                </a:path>
              </a:pathLst>
            </a:custGeom>
            <a:solidFill>
              <a:srgbClr val="E2E8F0"/>
            </a:solidFill>
          </p:spPr>
        </p:sp>
      </p:grpSp>
      <p:grpSp>
        <p:nvGrpSpPr>
          <p:cNvPr name="Group 19" id="19"/>
          <p:cNvGrpSpPr/>
          <p:nvPr/>
        </p:nvGrpSpPr>
        <p:grpSpPr>
          <a:xfrm rot="0">
            <a:off x="718823" y="3004823"/>
            <a:ext cx="8255003" cy="500891"/>
            <a:chOff x="0" y="0"/>
            <a:chExt cx="11006671" cy="667855"/>
          </a:xfrm>
        </p:grpSpPr>
        <p:sp>
          <p:nvSpPr>
            <p:cNvPr name="Freeform 20" id="20"/>
            <p:cNvSpPr/>
            <p:nvPr/>
          </p:nvSpPr>
          <p:spPr>
            <a:xfrm flipH="false" flipV="false" rot="0">
              <a:off x="16891" y="16891"/>
              <a:ext cx="10972800" cy="633984"/>
            </a:xfrm>
            <a:custGeom>
              <a:avLst/>
              <a:gdLst/>
              <a:ahLst/>
              <a:cxnLst/>
              <a:rect r="r" b="b" t="t" l="l"/>
              <a:pathLst>
                <a:path h="633984" w="10972800">
                  <a:moveTo>
                    <a:pt x="0" y="0"/>
                  </a:moveTo>
                  <a:lnTo>
                    <a:pt x="10972800" y="0"/>
                  </a:lnTo>
                  <a:lnTo>
                    <a:pt x="10972800" y="633984"/>
                  </a:lnTo>
                  <a:lnTo>
                    <a:pt x="0" y="633984"/>
                  </a:lnTo>
                  <a:close/>
                </a:path>
              </a:pathLst>
            </a:custGeom>
            <a:solidFill>
              <a:srgbClr val="0D1B3E"/>
            </a:solidFill>
          </p:spPr>
        </p:sp>
        <p:sp>
          <p:nvSpPr>
            <p:cNvPr name="Freeform 21" id="21"/>
            <p:cNvSpPr/>
            <p:nvPr/>
          </p:nvSpPr>
          <p:spPr>
            <a:xfrm flipH="false" flipV="false" rot="0">
              <a:off x="0" y="0"/>
              <a:ext cx="11006582" cy="667768"/>
            </a:xfrm>
            <a:custGeom>
              <a:avLst/>
              <a:gdLst/>
              <a:ahLst/>
              <a:cxnLst/>
              <a:rect r="r" b="b" t="t" l="l"/>
              <a:pathLst>
                <a:path h="667768" w="11006582">
                  <a:moveTo>
                    <a:pt x="16891" y="0"/>
                  </a:moveTo>
                  <a:lnTo>
                    <a:pt x="10989691" y="0"/>
                  </a:lnTo>
                  <a:cubicBezTo>
                    <a:pt x="10999089" y="0"/>
                    <a:pt x="11006582" y="7620"/>
                    <a:pt x="11006582" y="16891"/>
                  </a:cubicBezTo>
                  <a:lnTo>
                    <a:pt x="11006582" y="650875"/>
                  </a:lnTo>
                  <a:cubicBezTo>
                    <a:pt x="11006582" y="660273"/>
                    <a:pt x="10998962" y="667766"/>
                    <a:pt x="10989691" y="667766"/>
                  </a:cubicBezTo>
                  <a:lnTo>
                    <a:pt x="16891" y="667766"/>
                  </a:lnTo>
                  <a:cubicBezTo>
                    <a:pt x="7620" y="667893"/>
                    <a:pt x="0" y="660273"/>
                    <a:pt x="0" y="650875"/>
                  </a:cubicBezTo>
                  <a:lnTo>
                    <a:pt x="0" y="16891"/>
                  </a:lnTo>
                  <a:cubicBezTo>
                    <a:pt x="0" y="7620"/>
                    <a:pt x="7620" y="0"/>
                    <a:pt x="16891" y="0"/>
                  </a:cubicBezTo>
                  <a:moveTo>
                    <a:pt x="16891" y="33909"/>
                  </a:moveTo>
                  <a:lnTo>
                    <a:pt x="16891" y="16891"/>
                  </a:lnTo>
                  <a:lnTo>
                    <a:pt x="33909" y="16891"/>
                  </a:lnTo>
                  <a:lnTo>
                    <a:pt x="33909" y="650875"/>
                  </a:lnTo>
                  <a:lnTo>
                    <a:pt x="16891" y="650875"/>
                  </a:lnTo>
                  <a:lnTo>
                    <a:pt x="16891" y="633984"/>
                  </a:lnTo>
                  <a:lnTo>
                    <a:pt x="10989691" y="633984"/>
                  </a:lnTo>
                  <a:lnTo>
                    <a:pt x="10989691" y="650875"/>
                  </a:lnTo>
                  <a:lnTo>
                    <a:pt x="10972800" y="650875"/>
                  </a:lnTo>
                  <a:lnTo>
                    <a:pt x="10972800" y="16891"/>
                  </a:lnTo>
                  <a:lnTo>
                    <a:pt x="10989691" y="16891"/>
                  </a:lnTo>
                  <a:lnTo>
                    <a:pt x="10989691" y="33909"/>
                  </a:lnTo>
                  <a:lnTo>
                    <a:pt x="16891" y="33909"/>
                  </a:lnTo>
                  <a:close/>
                </a:path>
              </a:pathLst>
            </a:custGeom>
            <a:solidFill>
              <a:srgbClr val="0D1B3E"/>
            </a:solidFill>
          </p:spPr>
        </p:sp>
      </p:grpSp>
      <p:grpSp>
        <p:nvGrpSpPr>
          <p:cNvPr name="Group 22" id="22"/>
          <p:cNvGrpSpPr/>
          <p:nvPr/>
        </p:nvGrpSpPr>
        <p:grpSpPr>
          <a:xfrm rot="0">
            <a:off x="877824" y="3017520"/>
            <a:ext cx="5120640" cy="475488"/>
            <a:chOff x="0" y="0"/>
            <a:chExt cx="6827520" cy="633984"/>
          </a:xfrm>
        </p:grpSpPr>
        <p:sp>
          <p:nvSpPr>
            <p:cNvPr name="Freeform 23" id="23"/>
            <p:cNvSpPr/>
            <p:nvPr/>
          </p:nvSpPr>
          <p:spPr>
            <a:xfrm flipH="false" flipV="false" rot="0">
              <a:off x="0" y="0"/>
              <a:ext cx="6827520" cy="633984"/>
            </a:xfrm>
            <a:custGeom>
              <a:avLst/>
              <a:gdLst/>
              <a:ahLst/>
              <a:cxnLst/>
              <a:rect r="r" b="b" t="t" l="l"/>
              <a:pathLst>
                <a:path h="633984" w="6827520">
                  <a:moveTo>
                    <a:pt x="0" y="0"/>
                  </a:moveTo>
                  <a:lnTo>
                    <a:pt x="6827520" y="0"/>
                  </a:lnTo>
                  <a:lnTo>
                    <a:pt x="6827520" y="633984"/>
                  </a:lnTo>
                  <a:lnTo>
                    <a:pt x="0" y="633984"/>
                  </a:lnTo>
                  <a:close/>
                </a:path>
              </a:pathLst>
            </a:custGeom>
            <a:blipFill>
              <a:blip r:embed="rId3">
                <a:alphaModFix amt="0"/>
              </a:blip>
              <a:stretch>
                <a:fillRect l="0" t="-159838" r="0" b="-159838"/>
              </a:stretch>
            </a:blipFill>
          </p:spPr>
        </p:sp>
        <p:sp>
          <p:nvSpPr>
            <p:cNvPr name="TextBox 24" id="24"/>
            <p:cNvSpPr txBox="true"/>
            <p:nvPr/>
          </p:nvSpPr>
          <p:spPr>
            <a:xfrm>
              <a:off x="0" y="-38100"/>
              <a:ext cx="6827520" cy="672084"/>
            </a:xfrm>
            <a:prstGeom prst="rect">
              <a:avLst/>
            </a:prstGeom>
          </p:spPr>
          <p:txBody>
            <a:bodyPr anchor="ctr" rtlCol="false" tIns="0" lIns="0" bIns="0" rIns="0"/>
            <a:lstStyle/>
            <a:p>
              <a:pPr algn="l">
                <a:lnSpc>
                  <a:spcPts val="2400"/>
                </a:lnSpc>
              </a:pPr>
              <a:r>
                <a:rPr lang="en-US" sz="2000" b="true">
                  <a:solidFill>
                    <a:srgbClr val="FFFFFF"/>
                  </a:solidFill>
                  <a:latin typeface="Calibri (MS) Bold"/>
                  <a:ea typeface="Calibri (MS) Bold"/>
                  <a:cs typeface="Calibri (MS) Bold"/>
                  <a:sym typeface="Calibri (MS) Bold"/>
                </a:rPr>
                <a:t>Baseball fields</a:t>
              </a:r>
            </a:p>
          </p:txBody>
        </p:sp>
      </p:grpSp>
      <p:grpSp>
        <p:nvGrpSpPr>
          <p:cNvPr name="Group 25" id="25"/>
          <p:cNvGrpSpPr/>
          <p:nvPr/>
        </p:nvGrpSpPr>
        <p:grpSpPr>
          <a:xfrm rot="0">
            <a:off x="6205223" y="3041399"/>
            <a:ext cx="2585723" cy="537467"/>
            <a:chOff x="0" y="0"/>
            <a:chExt cx="3447631" cy="716623"/>
          </a:xfrm>
        </p:grpSpPr>
        <p:sp>
          <p:nvSpPr>
            <p:cNvPr name="Freeform 26" id="26"/>
            <p:cNvSpPr/>
            <p:nvPr/>
          </p:nvSpPr>
          <p:spPr>
            <a:xfrm flipH="false" flipV="false" rot="0">
              <a:off x="16891" y="16891"/>
              <a:ext cx="3413760" cy="682752"/>
            </a:xfrm>
            <a:custGeom>
              <a:avLst/>
              <a:gdLst/>
              <a:ahLst/>
              <a:cxnLst/>
              <a:rect r="r" b="b" t="t" l="l"/>
              <a:pathLst>
                <a:path h="682752" w="3413760">
                  <a:moveTo>
                    <a:pt x="0" y="0"/>
                  </a:moveTo>
                  <a:lnTo>
                    <a:pt x="3413760" y="0"/>
                  </a:lnTo>
                  <a:lnTo>
                    <a:pt x="3413760" y="682752"/>
                  </a:lnTo>
                  <a:lnTo>
                    <a:pt x="0" y="682752"/>
                  </a:lnTo>
                  <a:close/>
                </a:path>
              </a:pathLst>
            </a:custGeom>
            <a:solidFill>
              <a:srgbClr val="000000"/>
            </a:solidFill>
          </p:spPr>
        </p:sp>
        <p:sp>
          <p:nvSpPr>
            <p:cNvPr name="Freeform 27" id="27"/>
            <p:cNvSpPr/>
            <p:nvPr/>
          </p:nvSpPr>
          <p:spPr>
            <a:xfrm flipH="false" flipV="false" rot="0">
              <a:off x="0" y="0"/>
              <a:ext cx="3447542" cy="716536"/>
            </a:xfrm>
            <a:custGeom>
              <a:avLst/>
              <a:gdLst/>
              <a:ahLst/>
              <a:cxnLst/>
              <a:rect r="r" b="b" t="t" l="l"/>
              <a:pathLst>
                <a:path h="716536" w="3447542">
                  <a:moveTo>
                    <a:pt x="16891" y="0"/>
                  </a:moveTo>
                  <a:lnTo>
                    <a:pt x="3430651" y="0"/>
                  </a:lnTo>
                  <a:cubicBezTo>
                    <a:pt x="3440049" y="0"/>
                    <a:pt x="3447542" y="7620"/>
                    <a:pt x="3447542" y="16891"/>
                  </a:cubicBezTo>
                  <a:lnTo>
                    <a:pt x="3447542" y="699643"/>
                  </a:lnTo>
                  <a:cubicBezTo>
                    <a:pt x="3447542" y="709041"/>
                    <a:pt x="3439922" y="716534"/>
                    <a:pt x="3430651" y="716534"/>
                  </a:cubicBezTo>
                  <a:lnTo>
                    <a:pt x="16891" y="716534"/>
                  </a:lnTo>
                  <a:cubicBezTo>
                    <a:pt x="7620" y="716661"/>
                    <a:pt x="0" y="709041"/>
                    <a:pt x="0" y="699643"/>
                  </a:cubicBezTo>
                  <a:lnTo>
                    <a:pt x="0" y="16891"/>
                  </a:lnTo>
                  <a:cubicBezTo>
                    <a:pt x="0" y="7620"/>
                    <a:pt x="7620" y="0"/>
                    <a:pt x="16891" y="0"/>
                  </a:cubicBezTo>
                  <a:moveTo>
                    <a:pt x="16891" y="33909"/>
                  </a:moveTo>
                  <a:lnTo>
                    <a:pt x="16891" y="16891"/>
                  </a:lnTo>
                  <a:lnTo>
                    <a:pt x="33909" y="16891"/>
                  </a:lnTo>
                  <a:lnTo>
                    <a:pt x="33909" y="699643"/>
                  </a:lnTo>
                  <a:lnTo>
                    <a:pt x="16891" y="699643"/>
                  </a:lnTo>
                  <a:lnTo>
                    <a:pt x="16891" y="682752"/>
                  </a:lnTo>
                  <a:lnTo>
                    <a:pt x="3430651" y="682752"/>
                  </a:lnTo>
                  <a:lnTo>
                    <a:pt x="3430651" y="699643"/>
                  </a:lnTo>
                  <a:lnTo>
                    <a:pt x="3413760" y="699643"/>
                  </a:lnTo>
                  <a:lnTo>
                    <a:pt x="3413760" y="16891"/>
                  </a:lnTo>
                  <a:lnTo>
                    <a:pt x="3430651" y="16891"/>
                  </a:lnTo>
                  <a:lnTo>
                    <a:pt x="3430651" y="33909"/>
                  </a:lnTo>
                  <a:lnTo>
                    <a:pt x="16891" y="33909"/>
                  </a:lnTo>
                  <a:close/>
                </a:path>
              </a:pathLst>
            </a:custGeom>
            <a:solidFill>
              <a:srgbClr val="000000"/>
            </a:solidFill>
          </p:spPr>
        </p:sp>
      </p:grpSp>
      <p:grpSp>
        <p:nvGrpSpPr>
          <p:cNvPr name="Group 28" id="28"/>
          <p:cNvGrpSpPr/>
          <p:nvPr/>
        </p:nvGrpSpPr>
        <p:grpSpPr>
          <a:xfrm rot="0">
            <a:off x="6217920" y="3054096"/>
            <a:ext cx="2560320" cy="512064"/>
            <a:chOff x="0" y="0"/>
            <a:chExt cx="3413760" cy="682752"/>
          </a:xfrm>
        </p:grpSpPr>
        <p:sp>
          <p:nvSpPr>
            <p:cNvPr name="Freeform 29" id="29"/>
            <p:cNvSpPr/>
            <p:nvPr/>
          </p:nvSpPr>
          <p:spPr>
            <a:xfrm flipH="false" flipV="false" rot="0">
              <a:off x="0" y="0"/>
              <a:ext cx="3413760" cy="682752"/>
            </a:xfrm>
            <a:custGeom>
              <a:avLst/>
              <a:gdLst/>
              <a:ahLst/>
              <a:cxnLst/>
              <a:rect r="r" b="b" t="t" l="l"/>
              <a:pathLst>
                <a:path h="682752" w="3413760">
                  <a:moveTo>
                    <a:pt x="0" y="0"/>
                  </a:moveTo>
                  <a:lnTo>
                    <a:pt x="3413760" y="0"/>
                  </a:lnTo>
                  <a:lnTo>
                    <a:pt x="3413760" y="682752"/>
                  </a:lnTo>
                  <a:lnTo>
                    <a:pt x="0" y="682752"/>
                  </a:lnTo>
                  <a:close/>
                </a:path>
              </a:pathLst>
            </a:custGeom>
            <a:blipFill>
              <a:blip r:embed="rId3">
                <a:alphaModFix amt="0"/>
              </a:blip>
              <a:stretch>
                <a:fillRect l="0" t="-47425" r="0" b="-47425"/>
              </a:stretch>
            </a:blipFill>
          </p:spPr>
        </p:sp>
        <p:sp>
          <p:nvSpPr>
            <p:cNvPr name="TextBox 30" id="30"/>
            <p:cNvSpPr txBox="true"/>
            <p:nvPr/>
          </p:nvSpPr>
          <p:spPr>
            <a:xfrm>
              <a:off x="0" y="-38100"/>
              <a:ext cx="3413760" cy="72085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Object count</a:t>
              </a:r>
            </a:p>
          </p:txBody>
        </p:sp>
      </p:grpSp>
      <p:grpSp>
        <p:nvGrpSpPr>
          <p:cNvPr name="Group 31" id="31"/>
          <p:cNvGrpSpPr/>
          <p:nvPr/>
        </p:nvGrpSpPr>
        <p:grpSpPr>
          <a:xfrm rot="0">
            <a:off x="914400" y="3529584"/>
            <a:ext cx="7863840" cy="457200"/>
            <a:chOff x="0" y="0"/>
            <a:chExt cx="10485120" cy="609600"/>
          </a:xfrm>
        </p:grpSpPr>
        <p:sp>
          <p:nvSpPr>
            <p:cNvPr name="Freeform 32" id="32"/>
            <p:cNvSpPr/>
            <p:nvPr/>
          </p:nvSpPr>
          <p:spPr>
            <a:xfrm flipH="false" flipV="false" rot="0">
              <a:off x="0" y="0"/>
              <a:ext cx="10485120" cy="609600"/>
            </a:xfrm>
            <a:custGeom>
              <a:avLst/>
              <a:gdLst/>
              <a:ahLst/>
              <a:cxnLst/>
              <a:rect r="r" b="b" t="t" l="l"/>
              <a:pathLst>
                <a:path h="609600" w="10485120">
                  <a:moveTo>
                    <a:pt x="0" y="0"/>
                  </a:moveTo>
                  <a:lnTo>
                    <a:pt x="10485120" y="0"/>
                  </a:lnTo>
                  <a:lnTo>
                    <a:pt x="10485120" y="609600"/>
                  </a:lnTo>
                  <a:lnTo>
                    <a:pt x="0" y="609600"/>
                  </a:lnTo>
                  <a:close/>
                </a:path>
              </a:pathLst>
            </a:custGeom>
            <a:blipFill>
              <a:blip r:embed="rId3">
                <a:alphaModFix amt="0"/>
              </a:blip>
              <a:stretch>
                <a:fillRect l="0" t="-285142" r="0" b="-285142"/>
              </a:stretch>
            </a:blipFill>
          </p:spPr>
        </p:sp>
        <p:sp>
          <p:nvSpPr>
            <p:cNvPr name="TextBox 33" id="33"/>
            <p:cNvSpPr txBox="true"/>
            <p:nvPr/>
          </p:nvSpPr>
          <p:spPr>
            <a:xfrm>
              <a:off x="0" y="-38100"/>
              <a:ext cx="10485120" cy="647700"/>
            </a:xfrm>
            <a:prstGeom prst="rect">
              <a:avLst/>
            </a:prstGeom>
          </p:spPr>
          <p:txBody>
            <a:bodyPr anchor="ctr" rtlCol="false" tIns="0" lIns="0" bIns="0" rIns="0"/>
            <a:lstStyle/>
            <a:p>
              <a:pPr algn="l">
                <a:lnSpc>
                  <a:spcPts val="2039"/>
                </a:lnSpc>
              </a:pPr>
              <a:r>
                <a:rPr lang="en-US" sz="1700" b="true">
                  <a:solidFill>
                    <a:srgbClr val="94A3B8"/>
                  </a:solidFill>
                  <a:latin typeface="Calibri (MS) Bold"/>
                  <a:ea typeface="Calibri (MS) Bold"/>
                  <a:cs typeface="Calibri (MS) Bold"/>
                  <a:sym typeface="Calibri (MS) Bold"/>
                </a:rPr>
                <a:t>GT:  </a:t>
              </a:r>
              <a:r>
                <a:rPr lang="en-US" sz="1700">
                  <a:solidFill>
                    <a:srgbClr val="94A3B8"/>
                  </a:solidFill>
                  <a:latin typeface="Calibri (MS)"/>
                  <a:ea typeface="Calibri (MS)"/>
                  <a:cs typeface="Calibri (MS)"/>
                  <a:sym typeface="Calibri (MS)"/>
                </a:rPr>
                <a:t>Three baseball fields are surrounded by green trees.</a:t>
              </a:r>
            </a:p>
          </p:txBody>
        </p:sp>
      </p:grpSp>
      <p:grpSp>
        <p:nvGrpSpPr>
          <p:cNvPr name="Group 34" id="34"/>
          <p:cNvGrpSpPr/>
          <p:nvPr/>
        </p:nvGrpSpPr>
        <p:grpSpPr>
          <a:xfrm rot="0">
            <a:off x="914400" y="3986784"/>
            <a:ext cx="7863840" cy="457200"/>
            <a:chOff x="0" y="0"/>
            <a:chExt cx="10485120" cy="609600"/>
          </a:xfrm>
        </p:grpSpPr>
        <p:sp>
          <p:nvSpPr>
            <p:cNvPr name="Freeform 35" id="35"/>
            <p:cNvSpPr/>
            <p:nvPr/>
          </p:nvSpPr>
          <p:spPr>
            <a:xfrm flipH="false" flipV="false" rot="0">
              <a:off x="0" y="0"/>
              <a:ext cx="10485120" cy="609600"/>
            </a:xfrm>
            <a:custGeom>
              <a:avLst/>
              <a:gdLst/>
              <a:ahLst/>
              <a:cxnLst/>
              <a:rect r="r" b="b" t="t" l="l"/>
              <a:pathLst>
                <a:path h="609600" w="10485120">
                  <a:moveTo>
                    <a:pt x="0" y="0"/>
                  </a:moveTo>
                  <a:lnTo>
                    <a:pt x="10485120" y="0"/>
                  </a:lnTo>
                  <a:lnTo>
                    <a:pt x="10485120" y="609600"/>
                  </a:lnTo>
                  <a:lnTo>
                    <a:pt x="0" y="609600"/>
                  </a:lnTo>
                  <a:close/>
                </a:path>
              </a:pathLst>
            </a:custGeom>
            <a:blipFill>
              <a:blip r:embed="rId3">
                <a:alphaModFix amt="0"/>
              </a:blip>
              <a:stretch>
                <a:fillRect l="0" t="-285142" r="0" b="-285142"/>
              </a:stretch>
            </a:blipFill>
          </p:spPr>
        </p:sp>
        <p:sp>
          <p:nvSpPr>
            <p:cNvPr name="TextBox 36" id="36"/>
            <p:cNvSpPr txBox="true"/>
            <p:nvPr/>
          </p:nvSpPr>
          <p:spPr>
            <a:xfrm>
              <a:off x="0" y="-38100"/>
              <a:ext cx="10485120" cy="647700"/>
            </a:xfrm>
            <a:prstGeom prst="rect">
              <a:avLst/>
            </a:prstGeom>
          </p:spPr>
          <p:txBody>
            <a:bodyPr anchor="ctr" rtlCol="false" tIns="0" lIns="0" bIns="0" rIns="0"/>
            <a:lstStyle/>
            <a:p>
              <a:pPr algn="l">
                <a:lnSpc>
                  <a:spcPts val="2039"/>
                </a:lnSpc>
              </a:pPr>
              <a:r>
                <a:rPr lang="en-US" sz="1700" b="true">
                  <a:solidFill>
                    <a:srgbClr val="E05B4B"/>
                  </a:solidFill>
                  <a:latin typeface="Calibri (MS) Bold"/>
                  <a:ea typeface="Calibri (MS) Bold"/>
                  <a:cs typeface="Calibri (MS) Bold"/>
                  <a:sym typeface="Calibri (MS) Bold"/>
                </a:rPr>
                <a:t>Base:</a:t>
              </a:r>
              <a:r>
                <a:rPr lang="en-US" sz="1700">
                  <a:solidFill>
                    <a:srgbClr val="E05B4B"/>
                  </a:solidFill>
                  <a:latin typeface="Calibri (MS)"/>
                  <a:ea typeface="Calibri (MS)"/>
                  <a:cs typeface="Calibri (MS)"/>
                  <a:sym typeface="Calibri (MS)"/>
                </a:rPr>
                <a:t>  Many green trees are around a baseball field.</a:t>
              </a:r>
            </a:p>
          </p:txBody>
        </p:sp>
      </p:grpSp>
      <p:grpSp>
        <p:nvGrpSpPr>
          <p:cNvPr name="Group 37" id="37"/>
          <p:cNvGrpSpPr/>
          <p:nvPr/>
        </p:nvGrpSpPr>
        <p:grpSpPr>
          <a:xfrm rot="0">
            <a:off x="914400" y="4443984"/>
            <a:ext cx="7863840" cy="512064"/>
            <a:chOff x="0" y="0"/>
            <a:chExt cx="10485120" cy="682752"/>
          </a:xfrm>
        </p:grpSpPr>
        <p:sp>
          <p:nvSpPr>
            <p:cNvPr name="Freeform 38" id="38"/>
            <p:cNvSpPr/>
            <p:nvPr/>
          </p:nvSpPr>
          <p:spPr>
            <a:xfrm flipH="false" flipV="false" rot="0">
              <a:off x="0" y="0"/>
              <a:ext cx="10485120" cy="682752"/>
            </a:xfrm>
            <a:custGeom>
              <a:avLst/>
              <a:gdLst/>
              <a:ahLst/>
              <a:cxnLst/>
              <a:rect r="r" b="b" t="t" l="l"/>
              <a:pathLst>
                <a:path h="682752" w="10485120">
                  <a:moveTo>
                    <a:pt x="0" y="0"/>
                  </a:moveTo>
                  <a:lnTo>
                    <a:pt x="10485120" y="0"/>
                  </a:lnTo>
                  <a:lnTo>
                    <a:pt x="10485120" y="682752"/>
                  </a:lnTo>
                  <a:lnTo>
                    <a:pt x="0" y="682752"/>
                  </a:lnTo>
                  <a:close/>
                </a:path>
              </a:pathLst>
            </a:custGeom>
            <a:blipFill>
              <a:blip r:embed="rId3">
                <a:alphaModFix amt="0"/>
              </a:blip>
              <a:stretch>
                <a:fillRect l="0" t="-249234" r="0" b="-249234"/>
              </a:stretch>
            </a:blipFill>
          </p:spPr>
        </p:sp>
        <p:sp>
          <p:nvSpPr>
            <p:cNvPr name="TextBox 39" id="39"/>
            <p:cNvSpPr txBox="true"/>
            <p:nvPr/>
          </p:nvSpPr>
          <p:spPr>
            <a:xfrm>
              <a:off x="0" y="-38100"/>
              <a:ext cx="10485120" cy="720852"/>
            </a:xfrm>
            <a:prstGeom prst="rect">
              <a:avLst/>
            </a:prstGeom>
          </p:spPr>
          <p:txBody>
            <a:bodyPr anchor="ctr" rtlCol="false" tIns="0" lIns="0" bIns="0" rIns="0"/>
            <a:lstStyle/>
            <a:p>
              <a:pPr algn="l">
                <a:lnSpc>
                  <a:spcPts val="2039"/>
                </a:lnSpc>
              </a:pPr>
              <a:r>
                <a:rPr lang="en-US" sz="1700" b="true">
                  <a:solidFill>
                    <a:srgbClr val="0D9488"/>
                  </a:solidFill>
                  <a:latin typeface="Calibri (MS) Bold"/>
                  <a:ea typeface="Calibri (MS) Bold"/>
                  <a:cs typeface="Calibri (MS) Bold"/>
                  <a:sym typeface="Calibri (MS) Bold"/>
                </a:rPr>
                <a:t>TSFE:</a:t>
              </a:r>
              <a:r>
                <a:rPr lang="en-US" sz="1700">
                  <a:solidFill>
                    <a:srgbClr val="0D9488"/>
                  </a:solidFill>
                  <a:latin typeface="Calibri (MS)"/>
                  <a:ea typeface="Calibri (MS)"/>
                  <a:cs typeface="Calibri (MS)"/>
                  <a:sym typeface="Calibri (MS)"/>
                </a:rPr>
                <a:t>  Three baseball fields are surrounded by many green trees.</a:t>
              </a:r>
            </a:p>
          </p:txBody>
        </p:sp>
      </p:grpSp>
      <p:grpSp>
        <p:nvGrpSpPr>
          <p:cNvPr name="Group 40" id="40"/>
          <p:cNvGrpSpPr/>
          <p:nvPr/>
        </p:nvGrpSpPr>
        <p:grpSpPr>
          <a:xfrm rot="0">
            <a:off x="9320527" y="3011167"/>
            <a:ext cx="8242297" cy="2115817"/>
            <a:chOff x="0" y="0"/>
            <a:chExt cx="10989729" cy="2821089"/>
          </a:xfrm>
        </p:grpSpPr>
        <p:sp>
          <p:nvSpPr>
            <p:cNvPr name="Freeform 41" id="41"/>
            <p:cNvSpPr/>
            <p:nvPr/>
          </p:nvSpPr>
          <p:spPr>
            <a:xfrm flipH="false" flipV="false" rot="0">
              <a:off x="8509" y="8509"/>
              <a:ext cx="10972800" cy="2804160"/>
            </a:xfrm>
            <a:custGeom>
              <a:avLst/>
              <a:gdLst/>
              <a:ahLst/>
              <a:cxnLst/>
              <a:rect r="r" b="b" t="t" l="l"/>
              <a:pathLst>
                <a:path h="2804160" w="10972800">
                  <a:moveTo>
                    <a:pt x="0" y="0"/>
                  </a:moveTo>
                  <a:lnTo>
                    <a:pt x="10972800" y="0"/>
                  </a:lnTo>
                  <a:lnTo>
                    <a:pt x="10972800" y="2804160"/>
                  </a:lnTo>
                  <a:lnTo>
                    <a:pt x="0" y="2804160"/>
                  </a:lnTo>
                  <a:close/>
                </a:path>
              </a:pathLst>
            </a:custGeom>
            <a:solidFill>
              <a:srgbClr val="FFFFFF"/>
            </a:solidFill>
          </p:spPr>
        </p:sp>
        <p:sp>
          <p:nvSpPr>
            <p:cNvPr name="Freeform 42" id="42"/>
            <p:cNvSpPr/>
            <p:nvPr/>
          </p:nvSpPr>
          <p:spPr>
            <a:xfrm flipH="false" flipV="false" rot="0">
              <a:off x="0" y="0"/>
              <a:ext cx="10989818" cy="2821178"/>
            </a:xfrm>
            <a:custGeom>
              <a:avLst/>
              <a:gdLst/>
              <a:ahLst/>
              <a:cxnLst/>
              <a:rect r="r" b="b" t="t" l="l"/>
              <a:pathLst>
                <a:path h="2821178" w="10989818">
                  <a:moveTo>
                    <a:pt x="8509" y="0"/>
                  </a:moveTo>
                  <a:lnTo>
                    <a:pt x="10981309" y="0"/>
                  </a:lnTo>
                  <a:cubicBezTo>
                    <a:pt x="10986008" y="0"/>
                    <a:pt x="10989818" y="3810"/>
                    <a:pt x="10989818" y="8509"/>
                  </a:cubicBezTo>
                  <a:lnTo>
                    <a:pt x="10989818" y="2812669"/>
                  </a:lnTo>
                  <a:cubicBezTo>
                    <a:pt x="10989818" y="2817368"/>
                    <a:pt x="10986008" y="2821178"/>
                    <a:pt x="10981309" y="2821178"/>
                  </a:cubicBezTo>
                  <a:lnTo>
                    <a:pt x="8509" y="2821178"/>
                  </a:lnTo>
                  <a:cubicBezTo>
                    <a:pt x="3810" y="2821178"/>
                    <a:pt x="0" y="2817368"/>
                    <a:pt x="0" y="2812669"/>
                  </a:cubicBezTo>
                  <a:lnTo>
                    <a:pt x="0" y="8509"/>
                  </a:lnTo>
                  <a:cubicBezTo>
                    <a:pt x="0" y="3810"/>
                    <a:pt x="3810" y="0"/>
                    <a:pt x="8509" y="0"/>
                  </a:cubicBezTo>
                  <a:moveTo>
                    <a:pt x="8509" y="16891"/>
                  </a:moveTo>
                  <a:lnTo>
                    <a:pt x="8509" y="8509"/>
                  </a:lnTo>
                  <a:lnTo>
                    <a:pt x="17018" y="8509"/>
                  </a:lnTo>
                  <a:lnTo>
                    <a:pt x="17018" y="2812669"/>
                  </a:lnTo>
                  <a:lnTo>
                    <a:pt x="8509" y="2812669"/>
                  </a:lnTo>
                  <a:lnTo>
                    <a:pt x="8509" y="2804160"/>
                  </a:lnTo>
                  <a:lnTo>
                    <a:pt x="10981309" y="2804160"/>
                  </a:lnTo>
                  <a:lnTo>
                    <a:pt x="10981309" y="2812669"/>
                  </a:lnTo>
                  <a:lnTo>
                    <a:pt x="10972800" y="2812669"/>
                  </a:lnTo>
                  <a:lnTo>
                    <a:pt x="10972800" y="8509"/>
                  </a:lnTo>
                  <a:lnTo>
                    <a:pt x="10981309" y="8509"/>
                  </a:lnTo>
                  <a:lnTo>
                    <a:pt x="10981309" y="17018"/>
                  </a:lnTo>
                  <a:lnTo>
                    <a:pt x="8509" y="17018"/>
                  </a:lnTo>
                  <a:close/>
                </a:path>
              </a:pathLst>
            </a:custGeom>
            <a:solidFill>
              <a:srgbClr val="E2E8F0"/>
            </a:solidFill>
          </p:spPr>
        </p:sp>
      </p:grpSp>
      <p:grpSp>
        <p:nvGrpSpPr>
          <p:cNvPr name="Group 43" id="43"/>
          <p:cNvGrpSpPr/>
          <p:nvPr/>
        </p:nvGrpSpPr>
        <p:grpSpPr>
          <a:xfrm rot="0">
            <a:off x="9314183" y="3004823"/>
            <a:ext cx="8255003" cy="500891"/>
            <a:chOff x="0" y="0"/>
            <a:chExt cx="11006671" cy="667855"/>
          </a:xfrm>
        </p:grpSpPr>
        <p:sp>
          <p:nvSpPr>
            <p:cNvPr name="Freeform 44" id="44"/>
            <p:cNvSpPr/>
            <p:nvPr/>
          </p:nvSpPr>
          <p:spPr>
            <a:xfrm flipH="false" flipV="false" rot="0">
              <a:off x="16891" y="16891"/>
              <a:ext cx="10972800" cy="633984"/>
            </a:xfrm>
            <a:custGeom>
              <a:avLst/>
              <a:gdLst/>
              <a:ahLst/>
              <a:cxnLst/>
              <a:rect r="r" b="b" t="t" l="l"/>
              <a:pathLst>
                <a:path h="633984" w="10972800">
                  <a:moveTo>
                    <a:pt x="0" y="0"/>
                  </a:moveTo>
                  <a:lnTo>
                    <a:pt x="10972800" y="0"/>
                  </a:lnTo>
                  <a:lnTo>
                    <a:pt x="10972800" y="633984"/>
                  </a:lnTo>
                  <a:lnTo>
                    <a:pt x="0" y="633984"/>
                  </a:lnTo>
                  <a:close/>
                </a:path>
              </a:pathLst>
            </a:custGeom>
            <a:solidFill>
              <a:srgbClr val="0D1B3E"/>
            </a:solidFill>
          </p:spPr>
        </p:sp>
        <p:sp>
          <p:nvSpPr>
            <p:cNvPr name="Freeform 45" id="45"/>
            <p:cNvSpPr/>
            <p:nvPr/>
          </p:nvSpPr>
          <p:spPr>
            <a:xfrm flipH="false" flipV="false" rot="0">
              <a:off x="0" y="0"/>
              <a:ext cx="11006582" cy="667768"/>
            </a:xfrm>
            <a:custGeom>
              <a:avLst/>
              <a:gdLst/>
              <a:ahLst/>
              <a:cxnLst/>
              <a:rect r="r" b="b" t="t" l="l"/>
              <a:pathLst>
                <a:path h="667768" w="11006582">
                  <a:moveTo>
                    <a:pt x="16891" y="0"/>
                  </a:moveTo>
                  <a:lnTo>
                    <a:pt x="10989691" y="0"/>
                  </a:lnTo>
                  <a:cubicBezTo>
                    <a:pt x="10999089" y="0"/>
                    <a:pt x="11006582" y="7620"/>
                    <a:pt x="11006582" y="16891"/>
                  </a:cubicBezTo>
                  <a:lnTo>
                    <a:pt x="11006582" y="650875"/>
                  </a:lnTo>
                  <a:cubicBezTo>
                    <a:pt x="11006582" y="660273"/>
                    <a:pt x="10998962" y="667766"/>
                    <a:pt x="10989691" y="667766"/>
                  </a:cubicBezTo>
                  <a:lnTo>
                    <a:pt x="16891" y="667766"/>
                  </a:lnTo>
                  <a:cubicBezTo>
                    <a:pt x="7620" y="667893"/>
                    <a:pt x="0" y="660273"/>
                    <a:pt x="0" y="650875"/>
                  </a:cubicBezTo>
                  <a:lnTo>
                    <a:pt x="0" y="16891"/>
                  </a:lnTo>
                  <a:cubicBezTo>
                    <a:pt x="0" y="7620"/>
                    <a:pt x="7620" y="0"/>
                    <a:pt x="16891" y="0"/>
                  </a:cubicBezTo>
                  <a:moveTo>
                    <a:pt x="16891" y="33909"/>
                  </a:moveTo>
                  <a:lnTo>
                    <a:pt x="16891" y="16891"/>
                  </a:lnTo>
                  <a:lnTo>
                    <a:pt x="33909" y="16891"/>
                  </a:lnTo>
                  <a:lnTo>
                    <a:pt x="33909" y="650875"/>
                  </a:lnTo>
                  <a:lnTo>
                    <a:pt x="16891" y="650875"/>
                  </a:lnTo>
                  <a:lnTo>
                    <a:pt x="16891" y="633984"/>
                  </a:lnTo>
                  <a:lnTo>
                    <a:pt x="10989691" y="633984"/>
                  </a:lnTo>
                  <a:lnTo>
                    <a:pt x="10989691" y="650875"/>
                  </a:lnTo>
                  <a:lnTo>
                    <a:pt x="10972800" y="650875"/>
                  </a:lnTo>
                  <a:lnTo>
                    <a:pt x="10972800" y="16891"/>
                  </a:lnTo>
                  <a:lnTo>
                    <a:pt x="10989691" y="16891"/>
                  </a:lnTo>
                  <a:lnTo>
                    <a:pt x="10989691" y="33909"/>
                  </a:lnTo>
                  <a:lnTo>
                    <a:pt x="16891" y="33909"/>
                  </a:lnTo>
                  <a:close/>
                </a:path>
              </a:pathLst>
            </a:custGeom>
            <a:solidFill>
              <a:srgbClr val="0D1B3E"/>
            </a:solidFill>
          </p:spPr>
        </p:sp>
      </p:grpSp>
      <p:grpSp>
        <p:nvGrpSpPr>
          <p:cNvPr name="Group 46" id="46"/>
          <p:cNvGrpSpPr/>
          <p:nvPr/>
        </p:nvGrpSpPr>
        <p:grpSpPr>
          <a:xfrm rot="0">
            <a:off x="9473184" y="3017520"/>
            <a:ext cx="5120640" cy="475488"/>
            <a:chOff x="0" y="0"/>
            <a:chExt cx="6827520" cy="633984"/>
          </a:xfrm>
        </p:grpSpPr>
        <p:sp>
          <p:nvSpPr>
            <p:cNvPr name="Freeform 47" id="47"/>
            <p:cNvSpPr/>
            <p:nvPr/>
          </p:nvSpPr>
          <p:spPr>
            <a:xfrm flipH="false" flipV="false" rot="0">
              <a:off x="0" y="0"/>
              <a:ext cx="6827520" cy="633984"/>
            </a:xfrm>
            <a:custGeom>
              <a:avLst/>
              <a:gdLst/>
              <a:ahLst/>
              <a:cxnLst/>
              <a:rect r="r" b="b" t="t" l="l"/>
              <a:pathLst>
                <a:path h="633984" w="6827520">
                  <a:moveTo>
                    <a:pt x="0" y="0"/>
                  </a:moveTo>
                  <a:lnTo>
                    <a:pt x="6827520" y="0"/>
                  </a:lnTo>
                  <a:lnTo>
                    <a:pt x="6827520" y="633984"/>
                  </a:lnTo>
                  <a:lnTo>
                    <a:pt x="0" y="633984"/>
                  </a:lnTo>
                  <a:close/>
                </a:path>
              </a:pathLst>
            </a:custGeom>
            <a:blipFill>
              <a:blip r:embed="rId3">
                <a:alphaModFix amt="0"/>
              </a:blip>
              <a:stretch>
                <a:fillRect l="0" t="-159838" r="0" b="-159838"/>
              </a:stretch>
            </a:blipFill>
          </p:spPr>
        </p:sp>
        <p:sp>
          <p:nvSpPr>
            <p:cNvPr name="TextBox 48" id="48"/>
            <p:cNvSpPr txBox="true"/>
            <p:nvPr/>
          </p:nvSpPr>
          <p:spPr>
            <a:xfrm>
              <a:off x="0" y="-38100"/>
              <a:ext cx="6827520" cy="672084"/>
            </a:xfrm>
            <a:prstGeom prst="rect">
              <a:avLst/>
            </a:prstGeom>
          </p:spPr>
          <p:txBody>
            <a:bodyPr anchor="ctr" rtlCol="false" tIns="0" lIns="0" bIns="0" rIns="0"/>
            <a:lstStyle/>
            <a:p>
              <a:pPr algn="l">
                <a:lnSpc>
                  <a:spcPts val="2400"/>
                </a:lnSpc>
              </a:pPr>
              <a:r>
                <a:rPr lang="en-US" sz="2000" b="true">
                  <a:solidFill>
                    <a:srgbClr val="FFFFFF"/>
                  </a:solidFill>
                  <a:latin typeface="Calibri (MS) Bold"/>
                  <a:ea typeface="Calibri (MS) Bold"/>
                  <a:cs typeface="Calibri (MS) Bold"/>
                  <a:sym typeface="Calibri (MS) Bold"/>
                </a:rPr>
                <a:t>Commercial area</a:t>
              </a:r>
            </a:p>
          </p:txBody>
        </p:sp>
      </p:grpSp>
      <p:grpSp>
        <p:nvGrpSpPr>
          <p:cNvPr name="Group 49" id="49"/>
          <p:cNvGrpSpPr/>
          <p:nvPr/>
        </p:nvGrpSpPr>
        <p:grpSpPr>
          <a:xfrm rot="0">
            <a:off x="14800583" y="3041399"/>
            <a:ext cx="2585723" cy="537467"/>
            <a:chOff x="0" y="0"/>
            <a:chExt cx="3447631" cy="716623"/>
          </a:xfrm>
        </p:grpSpPr>
        <p:sp>
          <p:nvSpPr>
            <p:cNvPr name="Freeform 50" id="50"/>
            <p:cNvSpPr/>
            <p:nvPr/>
          </p:nvSpPr>
          <p:spPr>
            <a:xfrm flipH="false" flipV="false" rot="0">
              <a:off x="16891" y="16891"/>
              <a:ext cx="3413760" cy="682752"/>
            </a:xfrm>
            <a:custGeom>
              <a:avLst/>
              <a:gdLst/>
              <a:ahLst/>
              <a:cxnLst/>
              <a:rect r="r" b="b" t="t" l="l"/>
              <a:pathLst>
                <a:path h="682752" w="3413760">
                  <a:moveTo>
                    <a:pt x="0" y="0"/>
                  </a:moveTo>
                  <a:lnTo>
                    <a:pt x="3413760" y="0"/>
                  </a:lnTo>
                  <a:lnTo>
                    <a:pt x="3413760" y="682752"/>
                  </a:lnTo>
                  <a:lnTo>
                    <a:pt x="0" y="682752"/>
                  </a:lnTo>
                  <a:close/>
                </a:path>
              </a:pathLst>
            </a:custGeom>
            <a:solidFill>
              <a:srgbClr val="000000"/>
            </a:solidFill>
          </p:spPr>
        </p:sp>
        <p:sp>
          <p:nvSpPr>
            <p:cNvPr name="Freeform 51" id="51"/>
            <p:cNvSpPr/>
            <p:nvPr/>
          </p:nvSpPr>
          <p:spPr>
            <a:xfrm flipH="false" flipV="false" rot="0">
              <a:off x="0" y="0"/>
              <a:ext cx="3447542" cy="716536"/>
            </a:xfrm>
            <a:custGeom>
              <a:avLst/>
              <a:gdLst/>
              <a:ahLst/>
              <a:cxnLst/>
              <a:rect r="r" b="b" t="t" l="l"/>
              <a:pathLst>
                <a:path h="716536" w="3447542">
                  <a:moveTo>
                    <a:pt x="16891" y="0"/>
                  </a:moveTo>
                  <a:lnTo>
                    <a:pt x="3430651" y="0"/>
                  </a:lnTo>
                  <a:cubicBezTo>
                    <a:pt x="3440049" y="0"/>
                    <a:pt x="3447542" y="7620"/>
                    <a:pt x="3447542" y="16891"/>
                  </a:cubicBezTo>
                  <a:lnTo>
                    <a:pt x="3447542" y="699643"/>
                  </a:lnTo>
                  <a:cubicBezTo>
                    <a:pt x="3447542" y="709041"/>
                    <a:pt x="3439922" y="716534"/>
                    <a:pt x="3430651" y="716534"/>
                  </a:cubicBezTo>
                  <a:lnTo>
                    <a:pt x="16891" y="716534"/>
                  </a:lnTo>
                  <a:cubicBezTo>
                    <a:pt x="7620" y="716661"/>
                    <a:pt x="0" y="709041"/>
                    <a:pt x="0" y="699643"/>
                  </a:cubicBezTo>
                  <a:lnTo>
                    <a:pt x="0" y="16891"/>
                  </a:lnTo>
                  <a:cubicBezTo>
                    <a:pt x="0" y="7620"/>
                    <a:pt x="7620" y="0"/>
                    <a:pt x="16891" y="0"/>
                  </a:cubicBezTo>
                  <a:moveTo>
                    <a:pt x="16891" y="33909"/>
                  </a:moveTo>
                  <a:lnTo>
                    <a:pt x="16891" y="16891"/>
                  </a:lnTo>
                  <a:lnTo>
                    <a:pt x="33909" y="16891"/>
                  </a:lnTo>
                  <a:lnTo>
                    <a:pt x="33909" y="699643"/>
                  </a:lnTo>
                  <a:lnTo>
                    <a:pt x="16891" y="699643"/>
                  </a:lnTo>
                  <a:lnTo>
                    <a:pt x="16891" y="682752"/>
                  </a:lnTo>
                  <a:lnTo>
                    <a:pt x="3430651" y="682752"/>
                  </a:lnTo>
                  <a:lnTo>
                    <a:pt x="3430651" y="699643"/>
                  </a:lnTo>
                  <a:lnTo>
                    <a:pt x="3413760" y="699643"/>
                  </a:lnTo>
                  <a:lnTo>
                    <a:pt x="3413760" y="16891"/>
                  </a:lnTo>
                  <a:lnTo>
                    <a:pt x="3430651" y="16891"/>
                  </a:lnTo>
                  <a:lnTo>
                    <a:pt x="3430651" y="33909"/>
                  </a:lnTo>
                  <a:lnTo>
                    <a:pt x="16891" y="33909"/>
                  </a:lnTo>
                  <a:close/>
                </a:path>
              </a:pathLst>
            </a:custGeom>
            <a:solidFill>
              <a:srgbClr val="000000"/>
            </a:solidFill>
          </p:spPr>
        </p:sp>
      </p:grpSp>
      <p:grpSp>
        <p:nvGrpSpPr>
          <p:cNvPr name="Group 52" id="52"/>
          <p:cNvGrpSpPr/>
          <p:nvPr/>
        </p:nvGrpSpPr>
        <p:grpSpPr>
          <a:xfrm rot="0">
            <a:off x="14813280" y="3054096"/>
            <a:ext cx="2560320" cy="512064"/>
            <a:chOff x="0" y="0"/>
            <a:chExt cx="3413760" cy="682752"/>
          </a:xfrm>
        </p:grpSpPr>
        <p:sp>
          <p:nvSpPr>
            <p:cNvPr name="Freeform 53" id="53"/>
            <p:cNvSpPr/>
            <p:nvPr/>
          </p:nvSpPr>
          <p:spPr>
            <a:xfrm flipH="false" flipV="false" rot="0">
              <a:off x="0" y="0"/>
              <a:ext cx="3413760" cy="682752"/>
            </a:xfrm>
            <a:custGeom>
              <a:avLst/>
              <a:gdLst/>
              <a:ahLst/>
              <a:cxnLst/>
              <a:rect r="r" b="b" t="t" l="l"/>
              <a:pathLst>
                <a:path h="682752" w="3413760">
                  <a:moveTo>
                    <a:pt x="0" y="0"/>
                  </a:moveTo>
                  <a:lnTo>
                    <a:pt x="3413760" y="0"/>
                  </a:lnTo>
                  <a:lnTo>
                    <a:pt x="3413760" y="682752"/>
                  </a:lnTo>
                  <a:lnTo>
                    <a:pt x="0" y="682752"/>
                  </a:lnTo>
                  <a:close/>
                </a:path>
              </a:pathLst>
            </a:custGeom>
            <a:blipFill>
              <a:blip r:embed="rId3">
                <a:alphaModFix amt="0"/>
              </a:blip>
              <a:stretch>
                <a:fillRect l="0" t="-47425" r="0" b="-47425"/>
              </a:stretch>
            </a:blipFill>
          </p:spPr>
        </p:sp>
        <p:sp>
          <p:nvSpPr>
            <p:cNvPr name="TextBox 54" id="54"/>
            <p:cNvSpPr txBox="true"/>
            <p:nvPr/>
          </p:nvSpPr>
          <p:spPr>
            <a:xfrm>
              <a:off x="0" y="-38100"/>
              <a:ext cx="3413760" cy="72085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Object completeness</a:t>
              </a:r>
            </a:p>
          </p:txBody>
        </p:sp>
      </p:grpSp>
      <p:grpSp>
        <p:nvGrpSpPr>
          <p:cNvPr name="Group 55" id="55"/>
          <p:cNvGrpSpPr/>
          <p:nvPr/>
        </p:nvGrpSpPr>
        <p:grpSpPr>
          <a:xfrm rot="0">
            <a:off x="9509760" y="3529584"/>
            <a:ext cx="7863840" cy="457200"/>
            <a:chOff x="0" y="0"/>
            <a:chExt cx="10485120" cy="609600"/>
          </a:xfrm>
        </p:grpSpPr>
        <p:sp>
          <p:nvSpPr>
            <p:cNvPr name="Freeform 56" id="56"/>
            <p:cNvSpPr/>
            <p:nvPr/>
          </p:nvSpPr>
          <p:spPr>
            <a:xfrm flipH="false" flipV="false" rot="0">
              <a:off x="0" y="0"/>
              <a:ext cx="10485120" cy="609600"/>
            </a:xfrm>
            <a:custGeom>
              <a:avLst/>
              <a:gdLst/>
              <a:ahLst/>
              <a:cxnLst/>
              <a:rect r="r" b="b" t="t" l="l"/>
              <a:pathLst>
                <a:path h="609600" w="10485120">
                  <a:moveTo>
                    <a:pt x="0" y="0"/>
                  </a:moveTo>
                  <a:lnTo>
                    <a:pt x="10485120" y="0"/>
                  </a:lnTo>
                  <a:lnTo>
                    <a:pt x="10485120" y="609600"/>
                  </a:lnTo>
                  <a:lnTo>
                    <a:pt x="0" y="609600"/>
                  </a:lnTo>
                  <a:close/>
                </a:path>
              </a:pathLst>
            </a:custGeom>
            <a:blipFill>
              <a:blip r:embed="rId3">
                <a:alphaModFix amt="0"/>
              </a:blip>
              <a:stretch>
                <a:fillRect l="0" t="-285142" r="0" b="-285142"/>
              </a:stretch>
            </a:blipFill>
          </p:spPr>
        </p:sp>
        <p:sp>
          <p:nvSpPr>
            <p:cNvPr name="TextBox 57" id="57"/>
            <p:cNvSpPr txBox="true"/>
            <p:nvPr/>
          </p:nvSpPr>
          <p:spPr>
            <a:xfrm>
              <a:off x="0" y="-38100"/>
              <a:ext cx="10485120" cy="647700"/>
            </a:xfrm>
            <a:prstGeom prst="rect">
              <a:avLst/>
            </a:prstGeom>
          </p:spPr>
          <p:txBody>
            <a:bodyPr anchor="ctr" rtlCol="false" tIns="0" lIns="0" bIns="0" rIns="0"/>
            <a:lstStyle/>
            <a:p>
              <a:pPr algn="l">
                <a:lnSpc>
                  <a:spcPts val="2039"/>
                </a:lnSpc>
              </a:pPr>
              <a:r>
                <a:rPr lang="en-US" sz="1700" b="true">
                  <a:solidFill>
                    <a:srgbClr val="94A3B8"/>
                  </a:solidFill>
                  <a:latin typeface="Calibri (MS) Bold"/>
                  <a:ea typeface="Calibri (MS) Bold"/>
                  <a:cs typeface="Calibri (MS) Bold"/>
                  <a:sym typeface="Calibri (MS) Bold"/>
                </a:rPr>
                <a:t>GT:  </a:t>
              </a:r>
              <a:r>
                <a:rPr lang="en-US" sz="1700">
                  <a:solidFill>
                    <a:srgbClr val="94A3B8"/>
                  </a:solidFill>
                  <a:latin typeface="Calibri (MS)"/>
                  <a:ea typeface="Calibri (MS)"/>
                  <a:cs typeface="Calibri (MS)"/>
                  <a:sym typeface="Calibri (MS)"/>
                </a:rPr>
                <a:t>Many buildings and some green trees are in a commercial area.</a:t>
              </a:r>
            </a:p>
          </p:txBody>
        </p:sp>
      </p:grpSp>
      <p:grpSp>
        <p:nvGrpSpPr>
          <p:cNvPr name="Group 58" id="58"/>
          <p:cNvGrpSpPr/>
          <p:nvPr/>
        </p:nvGrpSpPr>
        <p:grpSpPr>
          <a:xfrm rot="0">
            <a:off x="9509760" y="3986784"/>
            <a:ext cx="7863840" cy="457200"/>
            <a:chOff x="0" y="0"/>
            <a:chExt cx="10485120" cy="609600"/>
          </a:xfrm>
        </p:grpSpPr>
        <p:sp>
          <p:nvSpPr>
            <p:cNvPr name="Freeform 59" id="59"/>
            <p:cNvSpPr/>
            <p:nvPr/>
          </p:nvSpPr>
          <p:spPr>
            <a:xfrm flipH="false" flipV="false" rot="0">
              <a:off x="0" y="0"/>
              <a:ext cx="10485120" cy="609600"/>
            </a:xfrm>
            <a:custGeom>
              <a:avLst/>
              <a:gdLst/>
              <a:ahLst/>
              <a:cxnLst/>
              <a:rect r="r" b="b" t="t" l="l"/>
              <a:pathLst>
                <a:path h="609600" w="10485120">
                  <a:moveTo>
                    <a:pt x="0" y="0"/>
                  </a:moveTo>
                  <a:lnTo>
                    <a:pt x="10485120" y="0"/>
                  </a:lnTo>
                  <a:lnTo>
                    <a:pt x="10485120" y="609600"/>
                  </a:lnTo>
                  <a:lnTo>
                    <a:pt x="0" y="609600"/>
                  </a:lnTo>
                  <a:close/>
                </a:path>
              </a:pathLst>
            </a:custGeom>
            <a:blipFill>
              <a:blip r:embed="rId3">
                <a:alphaModFix amt="0"/>
              </a:blip>
              <a:stretch>
                <a:fillRect l="0" t="-285142" r="0" b="-285142"/>
              </a:stretch>
            </a:blipFill>
          </p:spPr>
        </p:sp>
        <p:sp>
          <p:nvSpPr>
            <p:cNvPr name="TextBox 60" id="60"/>
            <p:cNvSpPr txBox="true"/>
            <p:nvPr/>
          </p:nvSpPr>
          <p:spPr>
            <a:xfrm>
              <a:off x="0" y="-38100"/>
              <a:ext cx="10485120" cy="647700"/>
            </a:xfrm>
            <a:prstGeom prst="rect">
              <a:avLst/>
            </a:prstGeom>
          </p:spPr>
          <p:txBody>
            <a:bodyPr anchor="ctr" rtlCol="false" tIns="0" lIns="0" bIns="0" rIns="0"/>
            <a:lstStyle/>
            <a:p>
              <a:pPr algn="l">
                <a:lnSpc>
                  <a:spcPts val="2039"/>
                </a:lnSpc>
              </a:pPr>
              <a:r>
                <a:rPr lang="en-US" sz="1700" b="true">
                  <a:solidFill>
                    <a:srgbClr val="E05B4B"/>
                  </a:solidFill>
                  <a:latin typeface="Calibri (MS) Bold"/>
                  <a:ea typeface="Calibri (MS) Bold"/>
                  <a:cs typeface="Calibri (MS) Bold"/>
                  <a:sym typeface="Calibri (MS) Bold"/>
                </a:rPr>
                <a:t>Base:</a:t>
              </a:r>
              <a:r>
                <a:rPr lang="en-US" sz="1700">
                  <a:solidFill>
                    <a:srgbClr val="E05B4B"/>
                  </a:solidFill>
                  <a:latin typeface="Calibri (MS)"/>
                  <a:ea typeface="Calibri (MS)"/>
                  <a:cs typeface="Calibri (MS)"/>
                  <a:sym typeface="Calibri (MS)"/>
                </a:rPr>
                <a:t>  Many buildings are in a commercial area area.</a:t>
              </a:r>
            </a:p>
          </p:txBody>
        </p:sp>
      </p:grpSp>
      <p:grpSp>
        <p:nvGrpSpPr>
          <p:cNvPr name="Group 61" id="61"/>
          <p:cNvGrpSpPr/>
          <p:nvPr/>
        </p:nvGrpSpPr>
        <p:grpSpPr>
          <a:xfrm rot="0">
            <a:off x="9509760" y="4443984"/>
            <a:ext cx="7863840" cy="512064"/>
            <a:chOff x="0" y="0"/>
            <a:chExt cx="10485120" cy="682752"/>
          </a:xfrm>
        </p:grpSpPr>
        <p:sp>
          <p:nvSpPr>
            <p:cNvPr name="Freeform 62" id="62"/>
            <p:cNvSpPr/>
            <p:nvPr/>
          </p:nvSpPr>
          <p:spPr>
            <a:xfrm flipH="false" flipV="false" rot="0">
              <a:off x="0" y="0"/>
              <a:ext cx="10485120" cy="682752"/>
            </a:xfrm>
            <a:custGeom>
              <a:avLst/>
              <a:gdLst/>
              <a:ahLst/>
              <a:cxnLst/>
              <a:rect r="r" b="b" t="t" l="l"/>
              <a:pathLst>
                <a:path h="682752" w="10485120">
                  <a:moveTo>
                    <a:pt x="0" y="0"/>
                  </a:moveTo>
                  <a:lnTo>
                    <a:pt x="10485120" y="0"/>
                  </a:lnTo>
                  <a:lnTo>
                    <a:pt x="10485120" y="682752"/>
                  </a:lnTo>
                  <a:lnTo>
                    <a:pt x="0" y="682752"/>
                  </a:lnTo>
                  <a:close/>
                </a:path>
              </a:pathLst>
            </a:custGeom>
            <a:blipFill>
              <a:blip r:embed="rId3">
                <a:alphaModFix amt="0"/>
              </a:blip>
              <a:stretch>
                <a:fillRect l="0" t="-249234" r="0" b="-249234"/>
              </a:stretch>
            </a:blipFill>
          </p:spPr>
        </p:sp>
        <p:sp>
          <p:nvSpPr>
            <p:cNvPr name="TextBox 63" id="63"/>
            <p:cNvSpPr txBox="true"/>
            <p:nvPr/>
          </p:nvSpPr>
          <p:spPr>
            <a:xfrm>
              <a:off x="0" y="-38100"/>
              <a:ext cx="10485120" cy="720852"/>
            </a:xfrm>
            <a:prstGeom prst="rect">
              <a:avLst/>
            </a:prstGeom>
          </p:spPr>
          <p:txBody>
            <a:bodyPr anchor="ctr" rtlCol="false" tIns="0" lIns="0" bIns="0" rIns="0"/>
            <a:lstStyle/>
            <a:p>
              <a:pPr algn="l">
                <a:lnSpc>
                  <a:spcPts val="2039"/>
                </a:lnSpc>
              </a:pPr>
              <a:r>
                <a:rPr lang="en-US" sz="1700" b="true">
                  <a:solidFill>
                    <a:srgbClr val="0D9488"/>
                  </a:solidFill>
                  <a:latin typeface="Calibri (MS) Bold"/>
                  <a:ea typeface="Calibri (MS) Bold"/>
                  <a:cs typeface="Calibri (MS) Bold"/>
                  <a:sym typeface="Calibri (MS) Bold"/>
                </a:rPr>
                <a:t>TSFE:</a:t>
              </a:r>
              <a:r>
                <a:rPr lang="en-US" sz="1700">
                  <a:solidFill>
                    <a:srgbClr val="0D9488"/>
                  </a:solidFill>
                  <a:latin typeface="Calibri (MS)"/>
                  <a:ea typeface="Calibri (MS)"/>
                  <a:cs typeface="Calibri (MS)"/>
                  <a:sym typeface="Calibri (MS)"/>
                </a:rPr>
                <a:t>  Many buildings and some green trees are in a commercial area.</a:t>
              </a:r>
            </a:p>
          </p:txBody>
        </p:sp>
      </p:grpSp>
      <p:grpSp>
        <p:nvGrpSpPr>
          <p:cNvPr name="Group 64" id="64"/>
          <p:cNvGrpSpPr/>
          <p:nvPr/>
        </p:nvGrpSpPr>
        <p:grpSpPr>
          <a:xfrm rot="0">
            <a:off x="725167" y="5297167"/>
            <a:ext cx="8242297" cy="2115817"/>
            <a:chOff x="0" y="0"/>
            <a:chExt cx="10989729" cy="2821089"/>
          </a:xfrm>
        </p:grpSpPr>
        <p:sp>
          <p:nvSpPr>
            <p:cNvPr name="Freeform 65" id="65"/>
            <p:cNvSpPr/>
            <p:nvPr/>
          </p:nvSpPr>
          <p:spPr>
            <a:xfrm flipH="false" flipV="false" rot="0">
              <a:off x="8509" y="8509"/>
              <a:ext cx="10972800" cy="2804160"/>
            </a:xfrm>
            <a:custGeom>
              <a:avLst/>
              <a:gdLst/>
              <a:ahLst/>
              <a:cxnLst/>
              <a:rect r="r" b="b" t="t" l="l"/>
              <a:pathLst>
                <a:path h="2804160" w="10972800">
                  <a:moveTo>
                    <a:pt x="0" y="0"/>
                  </a:moveTo>
                  <a:lnTo>
                    <a:pt x="10972800" y="0"/>
                  </a:lnTo>
                  <a:lnTo>
                    <a:pt x="10972800" y="2804160"/>
                  </a:lnTo>
                  <a:lnTo>
                    <a:pt x="0" y="2804160"/>
                  </a:lnTo>
                  <a:close/>
                </a:path>
              </a:pathLst>
            </a:custGeom>
            <a:solidFill>
              <a:srgbClr val="FFFFFF"/>
            </a:solidFill>
          </p:spPr>
        </p:sp>
        <p:sp>
          <p:nvSpPr>
            <p:cNvPr name="Freeform 66" id="66"/>
            <p:cNvSpPr/>
            <p:nvPr/>
          </p:nvSpPr>
          <p:spPr>
            <a:xfrm flipH="false" flipV="false" rot="0">
              <a:off x="0" y="0"/>
              <a:ext cx="10989818" cy="2821178"/>
            </a:xfrm>
            <a:custGeom>
              <a:avLst/>
              <a:gdLst/>
              <a:ahLst/>
              <a:cxnLst/>
              <a:rect r="r" b="b" t="t" l="l"/>
              <a:pathLst>
                <a:path h="2821178" w="10989818">
                  <a:moveTo>
                    <a:pt x="8509" y="0"/>
                  </a:moveTo>
                  <a:lnTo>
                    <a:pt x="10981309" y="0"/>
                  </a:lnTo>
                  <a:cubicBezTo>
                    <a:pt x="10986008" y="0"/>
                    <a:pt x="10989818" y="3810"/>
                    <a:pt x="10989818" y="8509"/>
                  </a:cubicBezTo>
                  <a:lnTo>
                    <a:pt x="10989818" y="2812669"/>
                  </a:lnTo>
                  <a:cubicBezTo>
                    <a:pt x="10989818" y="2817368"/>
                    <a:pt x="10986008" y="2821178"/>
                    <a:pt x="10981309" y="2821178"/>
                  </a:cubicBezTo>
                  <a:lnTo>
                    <a:pt x="8509" y="2821178"/>
                  </a:lnTo>
                  <a:cubicBezTo>
                    <a:pt x="3810" y="2821178"/>
                    <a:pt x="0" y="2817368"/>
                    <a:pt x="0" y="2812669"/>
                  </a:cubicBezTo>
                  <a:lnTo>
                    <a:pt x="0" y="8509"/>
                  </a:lnTo>
                  <a:cubicBezTo>
                    <a:pt x="0" y="3810"/>
                    <a:pt x="3810" y="0"/>
                    <a:pt x="8509" y="0"/>
                  </a:cubicBezTo>
                  <a:moveTo>
                    <a:pt x="8509" y="16891"/>
                  </a:moveTo>
                  <a:lnTo>
                    <a:pt x="8509" y="8509"/>
                  </a:lnTo>
                  <a:lnTo>
                    <a:pt x="17018" y="8509"/>
                  </a:lnTo>
                  <a:lnTo>
                    <a:pt x="17018" y="2812669"/>
                  </a:lnTo>
                  <a:lnTo>
                    <a:pt x="8509" y="2812669"/>
                  </a:lnTo>
                  <a:lnTo>
                    <a:pt x="8509" y="2804160"/>
                  </a:lnTo>
                  <a:lnTo>
                    <a:pt x="10981309" y="2804160"/>
                  </a:lnTo>
                  <a:lnTo>
                    <a:pt x="10981309" y="2812669"/>
                  </a:lnTo>
                  <a:lnTo>
                    <a:pt x="10972800" y="2812669"/>
                  </a:lnTo>
                  <a:lnTo>
                    <a:pt x="10972800" y="8509"/>
                  </a:lnTo>
                  <a:lnTo>
                    <a:pt x="10981309" y="8509"/>
                  </a:lnTo>
                  <a:lnTo>
                    <a:pt x="10981309" y="17018"/>
                  </a:lnTo>
                  <a:lnTo>
                    <a:pt x="8509" y="17018"/>
                  </a:lnTo>
                  <a:close/>
                </a:path>
              </a:pathLst>
            </a:custGeom>
            <a:solidFill>
              <a:srgbClr val="E2E8F0"/>
            </a:solidFill>
          </p:spPr>
        </p:sp>
      </p:grpSp>
      <p:grpSp>
        <p:nvGrpSpPr>
          <p:cNvPr name="Group 67" id="67"/>
          <p:cNvGrpSpPr/>
          <p:nvPr/>
        </p:nvGrpSpPr>
        <p:grpSpPr>
          <a:xfrm rot="0">
            <a:off x="718823" y="5290823"/>
            <a:ext cx="8255003" cy="500891"/>
            <a:chOff x="0" y="0"/>
            <a:chExt cx="11006671" cy="667855"/>
          </a:xfrm>
        </p:grpSpPr>
        <p:sp>
          <p:nvSpPr>
            <p:cNvPr name="Freeform 68" id="68"/>
            <p:cNvSpPr/>
            <p:nvPr/>
          </p:nvSpPr>
          <p:spPr>
            <a:xfrm flipH="false" flipV="false" rot="0">
              <a:off x="16891" y="16891"/>
              <a:ext cx="10972800" cy="633984"/>
            </a:xfrm>
            <a:custGeom>
              <a:avLst/>
              <a:gdLst/>
              <a:ahLst/>
              <a:cxnLst/>
              <a:rect r="r" b="b" t="t" l="l"/>
              <a:pathLst>
                <a:path h="633984" w="10972800">
                  <a:moveTo>
                    <a:pt x="0" y="0"/>
                  </a:moveTo>
                  <a:lnTo>
                    <a:pt x="10972800" y="0"/>
                  </a:lnTo>
                  <a:lnTo>
                    <a:pt x="10972800" y="633984"/>
                  </a:lnTo>
                  <a:lnTo>
                    <a:pt x="0" y="633984"/>
                  </a:lnTo>
                  <a:close/>
                </a:path>
              </a:pathLst>
            </a:custGeom>
            <a:solidFill>
              <a:srgbClr val="0D1B3E"/>
            </a:solidFill>
          </p:spPr>
        </p:sp>
        <p:sp>
          <p:nvSpPr>
            <p:cNvPr name="Freeform 69" id="69"/>
            <p:cNvSpPr/>
            <p:nvPr/>
          </p:nvSpPr>
          <p:spPr>
            <a:xfrm flipH="false" flipV="false" rot="0">
              <a:off x="0" y="0"/>
              <a:ext cx="11006582" cy="667768"/>
            </a:xfrm>
            <a:custGeom>
              <a:avLst/>
              <a:gdLst/>
              <a:ahLst/>
              <a:cxnLst/>
              <a:rect r="r" b="b" t="t" l="l"/>
              <a:pathLst>
                <a:path h="667768" w="11006582">
                  <a:moveTo>
                    <a:pt x="16891" y="0"/>
                  </a:moveTo>
                  <a:lnTo>
                    <a:pt x="10989691" y="0"/>
                  </a:lnTo>
                  <a:cubicBezTo>
                    <a:pt x="10999089" y="0"/>
                    <a:pt x="11006582" y="7620"/>
                    <a:pt x="11006582" y="16891"/>
                  </a:cubicBezTo>
                  <a:lnTo>
                    <a:pt x="11006582" y="650875"/>
                  </a:lnTo>
                  <a:cubicBezTo>
                    <a:pt x="11006582" y="660273"/>
                    <a:pt x="10998962" y="667766"/>
                    <a:pt x="10989691" y="667766"/>
                  </a:cubicBezTo>
                  <a:lnTo>
                    <a:pt x="16891" y="667766"/>
                  </a:lnTo>
                  <a:cubicBezTo>
                    <a:pt x="7620" y="667893"/>
                    <a:pt x="0" y="660273"/>
                    <a:pt x="0" y="650875"/>
                  </a:cubicBezTo>
                  <a:lnTo>
                    <a:pt x="0" y="16891"/>
                  </a:lnTo>
                  <a:cubicBezTo>
                    <a:pt x="0" y="7620"/>
                    <a:pt x="7620" y="0"/>
                    <a:pt x="16891" y="0"/>
                  </a:cubicBezTo>
                  <a:moveTo>
                    <a:pt x="16891" y="33909"/>
                  </a:moveTo>
                  <a:lnTo>
                    <a:pt x="16891" y="16891"/>
                  </a:lnTo>
                  <a:lnTo>
                    <a:pt x="33909" y="16891"/>
                  </a:lnTo>
                  <a:lnTo>
                    <a:pt x="33909" y="650875"/>
                  </a:lnTo>
                  <a:lnTo>
                    <a:pt x="16891" y="650875"/>
                  </a:lnTo>
                  <a:lnTo>
                    <a:pt x="16891" y="633984"/>
                  </a:lnTo>
                  <a:lnTo>
                    <a:pt x="10989691" y="633984"/>
                  </a:lnTo>
                  <a:lnTo>
                    <a:pt x="10989691" y="650875"/>
                  </a:lnTo>
                  <a:lnTo>
                    <a:pt x="10972800" y="650875"/>
                  </a:lnTo>
                  <a:lnTo>
                    <a:pt x="10972800" y="16891"/>
                  </a:lnTo>
                  <a:lnTo>
                    <a:pt x="10989691" y="16891"/>
                  </a:lnTo>
                  <a:lnTo>
                    <a:pt x="10989691" y="33909"/>
                  </a:lnTo>
                  <a:lnTo>
                    <a:pt x="16891" y="33909"/>
                  </a:lnTo>
                  <a:close/>
                </a:path>
              </a:pathLst>
            </a:custGeom>
            <a:solidFill>
              <a:srgbClr val="0D1B3E"/>
            </a:solidFill>
          </p:spPr>
        </p:sp>
      </p:grpSp>
      <p:grpSp>
        <p:nvGrpSpPr>
          <p:cNvPr name="Group 70" id="70"/>
          <p:cNvGrpSpPr/>
          <p:nvPr/>
        </p:nvGrpSpPr>
        <p:grpSpPr>
          <a:xfrm rot="0">
            <a:off x="877824" y="5303520"/>
            <a:ext cx="5120640" cy="475488"/>
            <a:chOff x="0" y="0"/>
            <a:chExt cx="6827520" cy="633984"/>
          </a:xfrm>
        </p:grpSpPr>
        <p:sp>
          <p:nvSpPr>
            <p:cNvPr name="Freeform 71" id="71"/>
            <p:cNvSpPr/>
            <p:nvPr/>
          </p:nvSpPr>
          <p:spPr>
            <a:xfrm flipH="false" flipV="false" rot="0">
              <a:off x="0" y="0"/>
              <a:ext cx="6827520" cy="633984"/>
            </a:xfrm>
            <a:custGeom>
              <a:avLst/>
              <a:gdLst/>
              <a:ahLst/>
              <a:cxnLst/>
              <a:rect r="r" b="b" t="t" l="l"/>
              <a:pathLst>
                <a:path h="633984" w="6827520">
                  <a:moveTo>
                    <a:pt x="0" y="0"/>
                  </a:moveTo>
                  <a:lnTo>
                    <a:pt x="6827520" y="0"/>
                  </a:lnTo>
                  <a:lnTo>
                    <a:pt x="6827520" y="633984"/>
                  </a:lnTo>
                  <a:lnTo>
                    <a:pt x="0" y="633984"/>
                  </a:lnTo>
                  <a:close/>
                </a:path>
              </a:pathLst>
            </a:custGeom>
            <a:blipFill>
              <a:blip r:embed="rId3">
                <a:alphaModFix amt="0"/>
              </a:blip>
              <a:stretch>
                <a:fillRect l="0" t="-159838" r="0" b="-159838"/>
              </a:stretch>
            </a:blipFill>
          </p:spPr>
        </p:sp>
        <p:sp>
          <p:nvSpPr>
            <p:cNvPr name="TextBox 72" id="72"/>
            <p:cNvSpPr txBox="true"/>
            <p:nvPr/>
          </p:nvSpPr>
          <p:spPr>
            <a:xfrm>
              <a:off x="0" y="-38100"/>
              <a:ext cx="6827520" cy="672084"/>
            </a:xfrm>
            <a:prstGeom prst="rect">
              <a:avLst/>
            </a:prstGeom>
          </p:spPr>
          <p:txBody>
            <a:bodyPr anchor="ctr" rtlCol="false" tIns="0" lIns="0" bIns="0" rIns="0"/>
            <a:lstStyle/>
            <a:p>
              <a:pPr algn="l">
                <a:lnSpc>
                  <a:spcPts val="2400"/>
                </a:lnSpc>
              </a:pPr>
              <a:r>
                <a:rPr lang="en-US" sz="2000" b="true">
                  <a:solidFill>
                    <a:srgbClr val="FFFFFF"/>
                  </a:solidFill>
                  <a:latin typeface="Calibri (MS) Bold"/>
                  <a:ea typeface="Calibri (MS) Bold"/>
                  <a:cs typeface="Calibri (MS) Bold"/>
                  <a:sym typeface="Calibri (MS) Bold"/>
                </a:rPr>
                <a:t>Curved river</a:t>
              </a:r>
            </a:p>
          </p:txBody>
        </p:sp>
      </p:grpSp>
      <p:grpSp>
        <p:nvGrpSpPr>
          <p:cNvPr name="Group 73" id="73"/>
          <p:cNvGrpSpPr/>
          <p:nvPr/>
        </p:nvGrpSpPr>
        <p:grpSpPr>
          <a:xfrm rot="0">
            <a:off x="6205223" y="5327399"/>
            <a:ext cx="2585723" cy="537467"/>
            <a:chOff x="0" y="0"/>
            <a:chExt cx="3447631" cy="716623"/>
          </a:xfrm>
        </p:grpSpPr>
        <p:sp>
          <p:nvSpPr>
            <p:cNvPr name="Freeform 74" id="74"/>
            <p:cNvSpPr/>
            <p:nvPr/>
          </p:nvSpPr>
          <p:spPr>
            <a:xfrm flipH="false" flipV="false" rot="0">
              <a:off x="16891" y="16891"/>
              <a:ext cx="3413760" cy="682752"/>
            </a:xfrm>
            <a:custGeom>
              <a:avLst/>
              <a:gdLst/>
              <a:ahLst/>
              <a:cxnLst/>
              <a:rect r="r" b="b" t="t" l="l"/>
              <a:pathLst>
                <a:path h="682752" w="3413760">
                  <a:moveTo>
                    <a:pt x="0" y="0"/>
                  </a:moveTo>
                  <a:lnTo>
                    <a:pt x="3413760" y="0"/>
                  </a:lnTo>
                  <a:lnTo>
                    <a:pt x="3413760" y="682752"/>
                  </a:lnTo>
                  <a:lnTo>
                    <a:pt x="0" y="682752"/>
                  </a:lnTo>
                  <a:close/>
                </a:path>
              </a:pathLst>
            </a:custGeom>
            <a:solidFill>
              <a:srgbClr val="000000"/>
            </a:solidFill>
          </p:spPr>
        </p:sp>
        <p:sp>
          <p:nvSpPr>
            <p:cNvPr name="Freeform 75" id="75"/>
            <p:cNvSpPr/>
            <p:nvPr/>
          </p:nvSpPr>
          <p:spPr>
            <a:xfrm flipH="false" flipV="false" rot="0">
              <a:off x="0" y="0"/>
              <a:ext cx="3447542" cy="716536"/>
            </a:xfrm>
            <a:custGeom>
              <a:avLst/>
              <a:gdLst/>
              <a:ahLst/>
              <a:cxnLst/>
              <a:rect r="r" b="b" t="t" l="l"/>
              <a:pathLst>
                <a:path h="716536" w="3447542">
                  <a:moveTo>
                    <a:pt x="16891" y="0"/>
                  </a:moveTo>
                  <a:lnTo>
                    <a:pt x="3430651" y="0"/>
                  </a:lnTo>
                  <a:cubicBezTo>
                    <a:pt x="3440049" y="0"/>
                    <a:pt x="3447542" y="7620"/>
                    <a:pt x="3447542" y="16891"/>
                  </a:cubicBezTo>
                  <a:lnTo>
                    <a:pt x="3447542" y="699643"/>
                  </a:lnTo>
                  <a:cubicBezTo>
                    <a:pt x="3447542" y="709041"/>
                    <a:pt x="3439922" y="716534"/>
                    <a:pt x="3430651" y="716534"/>
                  </a:cubicBezTo>
                  <a:lnTo>
                    <a:pt x="16891" y="716534"/>
                  </a:lnTo>
                  <a:cubicBezTo>
                    <a:pt x="7620" y="716661"/>
                    <a:pt x="0" y="709041"/>
                    <a:pt x="0" y="699643"/>
                  </a:cubicBezTo>
                  <a:lnTo>
                    <a:pt x="0" y="16891"/>
                  </a:lnTo>
                  <a:cubicBezTo>
                    <a:pt x="0" y="7620"/>
                    <a:pt x="7620" y="0"/>
                    <a:pt x="16891" y="0"/>
                  </a:cubicBezTo>
                  <a:moveTo>
                    <a:pt x="16891" y="33909"/>
                  </a:moveTo>
                  <a:lnTo>
                    <a:pt x="16891" y="16891"/>
                  </a:lnTo>
                  <a:lnTo>
                    <a:pt x="33909" y="16891"/>
                  </a:lnTo>
                  <a:lnTo>
                    <a:pt x="33909" y="699643"/>
                  </a:lnTo>
                  <a:lnTo>
                    <a:pt x="16891" y="699643"/>
                  </a:lnTo>
                  <a:lnTo>
                    <a:pt x="16891" y="682752"/>
                  </a:lnTo>
                  <a:lnTo>
                    <a:pt x="3430651" y="682752"/>
                  </a:lnTo>
                  <a:lnTo>
                    <a:pt x="3430651" y="699643"/>
                  </a:lnTo>
                  <a:lnTo>
                    <a:pt x="3413760" y="699643"/>
                  </a:lnTo>
                  <a:lnTo>
                    <a:pt x="3413760" y="16891"/>
                  </a:lnTo>
                  <a:lnTo>
                    <a:pt x="3430651" y="16891"/>
                  </a:lnTo>
                  <a:lnTo>
                    <a:pt x="3430651" y="33909"/>
                  </a:lnTo>
                  <a:lnTo>
                    <a:pt x="16891" y="33909"/>
                  </a:lnTo>
                  <a:close/>
                </a:path>
              </a:pathLst>
            </a:custGeom>
            <a:solidFill>
              <a:srgbClr val="000000"/>
            </a:solidFill>
          </p:spPr>
        </p:sp>
      </p:grpSp>
      <p:grpSp>
        <p:nvGrpSpPr>
          <p:cNvPr name="Group 76" id="76"/>
          <p:cNvGrpSpPr/>
          <p:nvPr/>
        </p:nvGrpSpPr>
        <p:grpSpPr>
          <a:xfrm rot="0">
            <a:off x="6217920" y="5340096"/>
            <a:ext cx="2560320" cy="512064"/>
            <a:chOff x="0" y="0"/>
            <a:chExt cx="3413760" cy="682752"/>
          </a:xfrm>
        </p:grpSpPr>
        <p:sp>
          <p:nvSpPr>
            <p:cNvPr name="Freeform 77" id="77"/>
            <p:cNvSpPr/>
            <p:nvPr/>
          </p:nvSpPr>
          <p:spPr>
            <a:xfrm flipH="false" flipV="false" rot="0">
              <a:off x="0" y="0"/>
              <a:ext cx="3413760" cy="682752"/>
            </a:xfrm>
            <a:custGeom>
              <a:avLst/>
              <a:gdLst/>
              <a:ahLst/>
              <a:cxnLst/>
              <a:rect r="r" b="b" t="t" l="l"/>
              <a:pathLst>
                <a:path h="682752" w="3413760">
                  <a:moveTo>
                    <a:pt x="0" y="0"/>
                  </a:moveTo>
                  <a:lnTo>
                    <a:pt x="3413760" y="0"/>
                  </a:lnTo>
                  <a:lnTo>
                    <a:pt x="3413760" y="682752"/>
                  </a:lnTo>
                  <a:lnTo>
                    <a:pt x="0" y="682752"/>
                  </a:lnTo>
                  <a:close/>
                </a:path>
              </a:pathLst>
            </a:custGeom>
            <a:blipFill>
              <a:blip r:embed="rId3">
                <a:alphaModFix amt="0"/>
              </a:blip>
              <a:stretch>
                <a:fillRect l="0" t="-47425" r="0" b="-47425"/>
              </a:stretch>
            </a:blipFill>
          </p:spPr>
        </p:sp>
        <p:sp>
          <p:nvSpPr>
            <p:cNvPr name="TextBox 78" id="78"/>
            <p:cNvSpPr txBox="true"/>
            <p:nvPr/>
          </p:nvSpPr>
          <p:spPr>
            <a:xfrm>
              <a:off x="0" y="-38100"/>
              <a:ext cx="3413760" cy="72085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Spatial relationship</a:t>
              </a:r>
            </a:p>
          </p:txBody>
        </p:sp>
      </p:grpSp>
      <p:grpSp>
        <p:nvGrpSpPr>
          <p:cNvPr name="Group 79" id="79"/>
          <p:cNvGrpSpPr/>
          <p:nvPr/>
        </p:nvGrpSpPr>
        <p:grpSpPr>
          <a:xfrm rot="0">
            <a:off x="914400" y="5815584"/>
            <a:ext cx="7863840" cy="457200"/>
            <a:chOff x="0" y="0"/>
            <a:chExt cx="10485120" cy="609600"/>
          </a:xfrm>
        </p:grpSpPr>
        <p:sp>
          <p:nvSpPr>
            <p:cNvPr name="Freeform 80" id="80"/>
            <p:cNvSpPr/>
            <p:nvPr/>
          </p:nvSpPr>
          <p:spPr>
            <a:xfrm flipH="false" flipV="false" rot="0">
              <a:off x="0" y="0"/>
              <a:ext cx="10485120" cy="609600"/>
            </a:xfrm>
            <a:custGeom>
              <a:avLst/>
              <a:gdLst/>
              <a:ahLst/>
              <a:cxnLst/>
              <a:rect r="r" b="b" t="t" l="l"/>
              <a:pathLst>
                <a:path h="609600" w="10485120">
                  <a:moveTo>
                    <a:pt x="0" y="0"/>
                  </a:moveTo>
                  <a:lnTo>
                    <a:pt x="10485120" y="0"/>
                  </a:lnTo>
                  <a:lnTo>
                    <a:pt x="10485120" y="609600"/>
                  </a:lnTo>
                  <a:lnTo>
                    <a:pt x="0" y="609600"/>
                  </a:lnTo>
                  <a:close/>
                </a:path>
              </a:pathLst>
            </a:custGeom>
            <a:blipFill>
              <a:blip r:embed="rId3">
                <a:alphaModFix amt="0"/>
              </a:blip>
              <a:stretch>
                <a:fillRect l="0" t="-285142" r="0" b="-285142"/>
              </a:stretch>
            </a:blipFill>
          </p:spPr>
        </p:sp>
        <p:sp>
          <p:nvSpPr>
            <p:cNvPr name="TextBox 81" id="81"/>
            <p:cNvSpPr txBox="true"/>
            <p:nvPr/>
          </p:nvSpPr>
          <p:spPr>
            <a:xfrm>
              <a:off x="0" y="-38100"/>
              <a:ext cx="10485120" cy="647700"/>
            </a:xfrm>
            <a:prstGeom prst="rect">
              <a:avLst/>
            </a:prstGeom>
          </p:spPr>
          <p:txBody>
            <a:bodyPr anchor="ctr" rtlCol="false" tIns="0" lIns="0" bIns="0" rIns="0"/>
            <a:lstStyle/>
            <a:p>
              <a:pPr algn="l">
                <a:lnSpc>
                  <a:spcPts val="2039"/>
                </a:lnSpc>
              </a:pPr>
              <a:r>
                <a:rPr lang="en-US" sz="1700" b="true">
                  <a:solidFill>
                    <a:srgbClr val="94A3B8"/>
                  </a:solidFill>
                  <a:latin typeface="Calibri (MS) Bold"/>
                  <a:ea typeface="Calibri (MS) Bold"/>
                  <a:cs typeface="Calibri (MS) Bold"/>
                  <a:sym typeface="Calibri (MS) Bold"/>
                </a:rPr>
                <a:t>GT:  </a:t>
              </a:r>
              <a:r>
                <a:rPr lang="en-US" sz="1700">
                  <a:solidFill>
                    <a:srgbClr val="94A3B8"/>
                  </a:solidFill>
                  <a:latin typeface="Calibri (MS)"/>
                  <a:ea typeface="Calibri (MS)"/>
                  <a:cs typeface="Calibri (MS)"/>
                  <a:sym typeface="Calibri (MS)"/>
                </a:rPr>
                <a:t>Many green plants are in two sides of a curved river.</a:t>
              </a:r>
            </a:p>
          </p:txBody>
        </p:sp>
      </p:grpSp>
      <p:grpSp>
        <p:nvGrpSpPr>
          <p:cNvPr name="Group 82" id="82"/>
          <p:cNvGrpSpPr/>
          <p:nvPr/>
        </p:nvGrpSpPr>
        <p:grpSpPr>
          <a:xfrm rot="0">
            <a:off x="914400" y="6272784"/>
            <a:ext cx="7863840" cy="457200"/>
            <a:chOff x="0" y="0"/>
            <a:chExt cx="10485120" cy="609600"/>
          </a:xfrm>
        </p:grpSpPr>
        <p:sp>
          <p:nvSpPr>
            <p:cNvPr name="Freeform 83" id="83"/>
            <p:cNvSpPr/>
            <p:nvPr/>
          </p:nvSpPr>
          <p:spPr>
            <a:xfrm flipH="false" flipV="false" rot="0">
              <a:off x="0" y="0"/>
              <a:ext cx="10485120" cy="609600"/>
            </a:xfrm>
            <a:custGeom>
              <a:avLst/>
              <a:gdLst/>
              <a:ahLst/>
              <a:cxnLst/>
              <a:rect r="r" b="b" t="t" l="l"/>
              <a:pathLst>
                <a:path h="609600" w="10485120">
                  <a:moveTo>
                    <a:pt x="0" y="0"/>
                  </a:moveTo>
                  <a:lnTo>
                    <a:pt x="10485120" y="0"/>
                  </a:lnTo>
                  <a:lnTo>
                    <a:pt x="10485120" y="609600"/>
                  </a:lnTo>
                  <a:lnTo>
                    <a:pt x="0" y="609600"/>
                  </a:lnTo>
                  <a:close/>
                </a:path>
              </a:pathLst>
            </a:custGeom>
            <a:blipFill>
              <a:blip r:embed="rId3">
                <a:alphaModFix amt="0"/>
              </a:blip>
              <a:stretch>
                <a:fillRect l="0" t="-285142" r="0" b="-285142"/>
              </a:stretch>
            </a:blipFill>
          </p:spPr>
        </p:sp>
        <p:sp>
          <p:nvSpPr>
            <p:cNvPr name="TextBox 84" id="84"/>
            <p:cNvSpPr txBox="true"/>
            <p:nvPr/>
          </p:nvSpPr>
          <p:spPr>
            <a:xfrm>
              <a:off x="0" y="-38100"/>
              <a:ext cx="10485120" cy="647700"/>
            </a:xfrm>
            <a:prstGeom prst="rect">
              <a:avLst/>
            </a:prstGeom>
          </p:spPr>
          <p:txBody>
            <a:bodyPr anchor="ctr" rtlCol="false" tIns="0" lIns="0" bIns="0" rIns="0"/>
            <a:lstStyle/>
            <a:p>
              <a:pPr algn="l">
                <a:lnSpc>
                  <a:spcPts val="2039"/>
                </a:lnSpc>
              </a:pPr>
              <a:r>
                <a:rPr lang="en-US" sz="1700" b="true">
                  <a:solidFill>
                    <a:srgbClr val="E05B4B"/>
                  </a:solidFill>
                  <a:latin typeface="Calibri (MS) Bold"/>
                  <a:ea typeface="Calibri (MS) Bold"/>
                  <a:cs typeface="Calibri (MS) Bold"/>
                  <a:sym typeface="Calibri (MS) Bold"/>
                </a:rPr>
                <a:t>Base:</a:t>
              </a:r>
              <a:r>
                <a:rPr lang="en-US" sz="1700">
                  <a:solidFill>
                    <a:srgbClr val="E05B4B"/>
                  </a:solidFill>
                  <a:latin typeface="Calibri (MS)"/>
                  <a:ea typeface="Calibri (MS)"/>
                  <a:cs typeface="Calibri (MS)"/>
                  <a:sym typeface="Calibri (MS)"/>
                </a:rPr>
                <a:t>  Many green trees are in a sides of a river.</a:t>
              </a:r>
            </a:p>
          </p:txBody>
        </p:sp>
      </p:grpSp>
      <p:grpSp>
        <p:nvGrpSpPr>
          <p:cNvPr name="Group 85" id="85"/>
          <p:cNvGrpSpPr/>
          <p:nvPr/>
        </p:nvGrpSpPr>
        <p:grpSpPr>
          <a:xfrm rot="0">
            <a:off x="914400" y="6729984"/>
            <a:ext cx="7863840" cy="512064"/>
            <a:chOff x="0" y="0"/>
            <a:chExt cx="10485120" cy="682752"/>
          </a:xfrm>
        </p:grpSpPr>
        <p:sp>
          <p:nvSpPr>
            <p:cNvPr name="Freeform 86" id="86"/>
            <p:cNvSpPr/>
            <p:nvPr/>
          </p:nvSpPr>
          <p:spPr>
            <a:xfrm flipH="false" flipV="false" rot="0">
              <a:off x="0" y="0"/>
              <a:ext cx="10485120" cy="682752"/>
            </a:xfrm>
            <a:custGeom>
              <a:avLst/>
              <a:gdLst/>
              <a:ahLst/>
              <a:cxnLst/>
              <a:rect r="r" b="b" t="t" l="l"/>
              <a:pathLst>
                <a:path h="682752" w="10485120">
                  <a:moveTo>
                    <a:pt x="0" y="0"/>
                  </a:moveTo>
                  <a:lnTo>
                    <a:pt x="10485120" y="0"/>
                  </a:lnTo>
                  <a:lnTo>
                    <a:pt x="10485120" y="682752"/>
                  </a:lnTo>
                  <a:lnTo>
                    <a:pt x="0" y="682752"/>
                  </a:lnTo>
                  <a:close/>
                </a:path>
              </a:pathLst>
            </a:custGeom>
            <a:blipFill>
              <a:blip r:embed="rId3">
                <a:alphaModFix amt="0"/>
              </a:blip>
              <a:stretch>
                <a:fillRect l="0" t="-249234" r="0" b="-249234"/>
              </a:stretch>
            </a:blipFill>
          </p:spPr>
        </p:sp>
        <p:sp>
          <p:nvSpPr>
            <p:cNvPr name="TextBox 87" id="87"/>
            <p:cNvSpPr txBox="true"/>
            <p:nvPr/>
          </p:nvSpPr>
          <p:spPr>
            <a:xfrm>
              <a:off x="0" y="-38100"/>
              <a:ext cx="10485120" cy="720852"/>
            </a:xfrm>
            <a:prstGeom prst="rect">
              <a:avLst/>
            </a:prstGeom>
          </p:spPr>
          <p:txBody>
            <a:bodyPr anchor="ctr" rtlCol="false" tIns="0" lIns="0" bIns="0" rIns="0"/>
            <a:lstStyle/>
            <a:p>
              <a:pPr algn="l">
                <a:lnSpc>
                  <a:spcPts val="2039"/>
                </a:lnSpc>
              </a:pPr>
              <a:r>
                <a:rPr lang="en-US" sz="1700" b="true">
                  <a:solidFill>
                    <a:srgbClr val="0D9488"/>
                  </a:solidFill>
                  <a:latin typeface="Calibri (MS) Bold"/>
                  <a:ea typeface="Calibri (MS) Bold"/>
                  <a:cs typeface="Calibri (MS) Bold"/>
                  <a:sym typeface="Calibri (MS) Bold"/>
                </a:rPr>
                <a:t>TSFE:</a:t>
              </a:r>
              <a:r>
                <a:rPr lang="en-US" sz="1700">
                  <a:solidFill>
                    <a:srgbClr val="0D9488"/>
                  </a:solidFill>
                  <a:latin typeface="Calibri (MS)"/>
                  <a:ea typeface="Calibri (MS)"/>
                  <a:cs typeface="Calibri (MS)"/>
                  <a:sym typeface="Calibri (MS)"/>
                </a:rPr>
                <a:t>  Many green trees are in two sides of a curved river.</a:t>
              </a:r>
            </a:p>
          </p:txBody>
        </p:sp>
      </p:grpSp>
      <p:grpSp>
        <p:nvGrpSpPr>
          <p:cNvPr name="Group 88" id="88"/>
          <p:cNvGrpSpPr/>
          <p:nvPr/>
        </p:nvGrpSpPr>
        <p:grpSpPr>
          <a:xfrm rot="0">
            <a:off x="9320527" y="5297167"/>
            <a:ext cx="8242297" cy="2115817"/>
            <a:chOff x="0" y="0"/>
            <a:chExt cx="10989729" cy="2821089"/>
          </a:xfrm>
        </p:grpSpPr>
        <p:sp>
          <p:nvSpPr>
            <p:cNvPr name="Freeform 89" id="89"/>
            <p:cNvSpPr/>
            <p:nvPr/>
          </p:nvSpPr>
          <p:spPr>
            <a:xfrm flipH="false" flipV="false" rot="0">
              <a:off x="8509" y="8509"/>
              <a:ext cx="10972800" cy="2804160"/>
            </a:xfrm>
            <a:custGeom>
              <a:avLst/>
              <a:gdLst/>
              <a:ahLst/>
              <a:cxnLst/>
              <a:rect r="r" b="b" t="t" l="l"/>
              <a:pathLst>
                <a:path h="2804160" w="10972800">
                  <a:moveTo>
                    <a:pt x="0" y="0"/>
                  </a:moveTo>
                  <a:lnTo>
                    <a:pt x="10972800" y="0"/>
                  </a:lnTo>
                  <a:lnTo>
                    <a:pt x="10972800" y="2804160"/>
                  </a:lnTo>
                  <a:lnTo>
                    <a:pt x="0" y="2804160"/>
                  </a:lnTo>
                  <a:close/>
                </a:path>
              </a:pathLst>
            </a:custGeom>
            <a:solidFill>
              <a:srgbClr val="FFFFFF"/>
            </a:solidFill>
          </p:spPr>
        </p:sp>
        <p:sp>
          <p:nvSpPr>
            <p:cNvPr name="Freeform 90" id="90"/>
            <p:cNvSpPr/>
            <p:nvPr/>
          </p:nvSpPr>
          <p:spPr>
            <a:xfrm flipH="false" flipV="false" rot="0">
              <a:off x="0" y="0"/>
              <a:ext cx="10989818" cy="2821178"/>
            </a:xfrm>
            <a:custGeom>
              <a:avLst/>
              <a:gdLst/>
              <a:ahLst/>
              <a:cxnLst/>
              <a:rect r="r" b="b" t="t" l="l"/>
              <a:pathLst>
                <a:path h="2821178" w="10989818">
                  <a:moveTo>
                    <a:pt x="8509" y="0"/>
                  </a:moveTo>
                  <a:lnTo>
                    <a:pt x="10981309" y="0"/>
                  </a:lnTo>
                  <a:cubicBezTo>
                    <a:pt x="10986008" y="0"/>
                    <a:pt x="10989818" y="3810"/>
                    <a:pt x="10989818" y="8509"/>
                  </a:cubicBezTo>
                  <a:lnTo>
                    <a:pt x="10989818" y="2812669"/>
                  </a:lnTo>
                  <a:cubicBezTo>
                    <a:pt x="10989818" y="2817368"/>
                    <a:pt x="10986008" y="2821178"/>
                    <a:pt x="10981309" y="2821178"/>
                  </a:cubicBezTo>
                  <a:lnTo>
                    <a:pt x="8509" y="2821178"/>
                  </a:lnTo>
                  <a:cubicBezTo>
                    <a:pt x="3810" y="2821178"/>
                    <a:pt x="0" y="2817368"/>
                    <a:pt x="0" y="2812669"/>
                  </a:cubicBezTo>
                  <a:lnTo>
                    <a:pt x="0" y="8509"/>
                  </a:lnTo>
                  <a:cubicBezTo>
                    <a:pt x="0" y="3810"/>
                    <a:pt x="3810" y="0"/>
                    <a:pt x="8509" y="0"/>
                  </a:cubicBezTo>
                  <a:moveTo>
                    <a:pt x="8509" y="16891"/>
                  </a:moveTo>
                  <a:lnTo>
                    <a:pt x="8509" y="8509"/>
                  </a:lnTo>
                  <a:lnTo>
                    <a:pt x="17018" y="8509"/>
                  </a:lnTo>
                  <a:lnTo>
                    <a:pt x="17018" y="2812669"/>
                  </a:lnTo>
                  <a:lnTo>
                    <a:pt x="8509" y="2812669"/>
                  </a:lnTo>
                  <a:lnTo>
                    <a:pt x="8509" y="2804160"/>
                  </a:lnTo>
                  <a:lnTo>
                    <a:pt x="10981309" y="2804160"/>
                  </a:lnTo>
                  <a:lnTo>
                    <a:pt x="10981309" y="2812669"/>
                  </a:lnTo>
                  <a:lnTo>
                    <a:pt x="10972800" y="2812669"/>
                  </a:lnTo>
                  <a:lnTo>
                    <a:pt x="10972800" y="8509"/>
                  </a:lnTo>
                  <a:lnTo>
                    <a:pt x="10981309" y="8509"/>
                  </a:lnTo>
                  <a:lnTo>
                    <a:pt x="10981309" y="17018"/>
                  </a:lnTo>
                  <a:lnTo>
                    <a:pt x="8509" y="17018"/>
                  </a:lnTo>
                  <a:close/>
                </a:path>
              </a:pathLst>
            </a:custGeom>
            <a:solidFill>
              <a:srgbClr val="E2E8F0"/>
            </a:solidFill>
          </p:spPr>
        </p:sp>
      </p:grpSp>
      <p:grpSp>
        <p:nvGrpSpPr>
          <p:cNvPr name="Group 91" id="91"/>
          <p:cNvGrpSpPr/>
          <p:nvPr/>
        </p:nvGrpSpPr>
        <p:grpSpPr>
          <a:xfrm rot="0">
            <a:off x="9314183" y="5290823"/>
            <a:ext cx="8255003" cy="500891"/>
            <a:chOff x="0" y="0"/>
            <a:chExt cx="11006671" cy="667855"/>
          </a:xfrm>
        </p:grpSpPr>
        <p:sp>
          <p:nvSpPr>
            <p:cNvPr name="Freeform 92" id="92"/>
            <p:cNvSpPr/>
            <p:nvPr/>
          </p:nvSpPr>
          <p:spPr>
            <a:xfrm flipH="false" flipV="false" rot="0">
              <a:off x="16891" y="16891"/>
              <a:ext cx="10972800" cy="633984"/>
            </a:xfrm>
            <a:custGeom>
              <a:avLst/>
              <a:gdLst/>
              <a:ahLst/>
              <a:cxnLst/>
              <a:rect r="r" b="b" t="t" l="l"/>
              <a:pathLst>
                <a:path h="633984" w="10972800">
                  <a:moveTo>
                    <a:pt x="0" y="0"/>
                  </a:moveTo>
                  <a:lnTo>
                    <a:pt x="10972800" y="0"/>
                  </a:lnTo>
                  <a:lnTo>
                    <a:pt x="10972800" y="633984"/>
                  </a:lnTo>
                  <a:lnTo>
                    <a:pt x="0" y="633984"/>
                  </a:lnTo>
                  <a:close/>
                </a:path>
              </a:pathLst>
            </a:custGeom>
            <a:solidFill>
              <a:srgbClr val="0D1B3E"/>
            </a:solidFill>
          </p:spPr>
        </p:sp>
        <p:sp>
          <p:nvSpPr>
            <p:cNvPr name="Freeform 93" id="93"/>
            <p:cNvSpPr/>
            <p:nvPr/>
          </p:nvSpPr>
          <p:spPr>
            <a:xfrm flipH="false" flipV="false" rot="0">
              <a:off x="0" y="0"/>
              <a:ext cx="11006582" cy="667768"/>
            </a:xfrm>
            <a:custGeom>
              <a:avLst/>
              <a:gdLst/>
              <a:ahLst/>
              <a:cxnLst/>
              <a:rect r="r" b="b" t="t" l="l"/>
              <a:pathLst>
                <a:path h="667768" w="11006582">
                  <a:moveTo>
                    <a:pt x="16891" y="0"/>
                  </a:moveTo>
                  <a:lnTo>
                    <a:pt x="10989691" y="0"/>
                  </a:lnTo>
                  <a:cubicBezTo>
                    <a:pt x="10999089" y="0"/>
                    <a:pt x="11006582" y="7620"/>
                    <a:pt x="11006582" y="16891"/>
                  </a:cubicBezTo>
                  <a:lnTo>
                    <a:pt x="11006582" y="650875"/>
                  </a:lnTo>
                  <a:cubicBezTo>
                    <a:pt x="11006582" y="660273"/>
                    <a:pt x="10998962" y="667766"/>
                    <a:pt x="10989691" y="667766"/>
                  </a:cubicBezTo>
                  <a:lnTo>
                    <a:pt x="16891" y="667766"/>
                  </a:lnTo>
                  <a:cubicBezTo>
                    <a:pt x="7620" y="667893"/>
                    <a:pt x="0" y="660273"/>
                    <a:pt x="0" y="650875"/>
                  </a:cubicBezTo>
                  <a:lnTo>
                    <a:pt x="0" y="16891"/>
                  </a:lnTo>
                  <a:cubicBezTo>
                    <a:pt x="0" y="7620"/>
                    <a:pt x="7620" y="0"/>
                    <a:pt x="16891" y="0"/>
                  </a:cubicBezTo>
                  <a:moveTo>
                    <a:pt x="16891" y="33909"/>
                  </a:moveTo>
                  <a:lnTo>
                    <a:pt x="16891" y="16891"/>
                  </a:lnTo>
                  <a:lnTo>
                    <a:pt x="33909" y="16891"/>
                  </a:lnTo>
                  <a:lnTo>
                    <a:pt x="33909" y="650875"/>
                  </a:lnTo>
                  <a:lnTo>
                    <a:pt x="16891" y="650875"/>
                  </a:lnTo>
                  <a:lnTo>
                    <a:pt x="16891" y="633984"/>
                  </a:lnTo>
                  <a:lnTo>
                    <a:pt x="10989691" y="633984"/>
                  </a:lnTo>
                  <a:lnTo>
                    <a:pt x="10989691" y="650875"/>
                  </a:lnTo>
                  <a:lnTo>
                    <a:pt x="10972800" y="650875"/>
                  </a:lnTo>
                  <a:lnTo>
                    <a:pt x="10972800" y="16891"/>
                  </a:lnTo>
                  <a:lnTo>
                    <a:pt x="10989691" y="16891"/>
                  </a:lnTo>
                  <a:lnTo>
                    <a:pt x="10989691" y="33909"/>
                  </a:lnTo>
                  <a:lnTo>
                    <a:pt x="16891" y="33909"/>
                  </a:lnTo>
                  <a:close/>
                </a:path>
              </a:pathLst>
            </a:custGeom>
            <a:solidFill>
              <a:srgbClr val="0D1B3E"/>
            </a:solidFill>
          </p:spPr>
        </p:sp>
      </p:grpSp>
      <p:grpSp>
        <p:nvGrpSpPr>
          <p:cNvPr name="Group 94" id="94"/>
          <p:cNvGrpSpPr/>
          <p:nvPr/>
        </p:nvGrpSpPr>
        <p:grpSpPr>
          <a:xfrm rot="0">
            <a:off x="9473184" y="5303520"/>
            <a:ext cx="5120640" cy="475488"/>
            <a:chOff x="0" y="0"/>
            <a:chExt cx="6827520" cy="633984"/>
          </a:xfrm>
        </p:grpSpPr>
        <p:sp>
          <p:nvSpPr>
            <p:cNvPr name="Freeform 95" id="95"/>
            <p:cNvSpPr/>
            <p:nvPr/>
          </p:nvSpPr>
          <p:spPr>
            <a:xfrm flipH="false" flipV="false" rot="0">
              <a:off x="0" y="0"/>
              <a:ext cx="6827520" cy="633984"/>
            </a:xfrm>
            <a:custGeom>
              <a:avLst/>
              <a:gdLst/>
              <a:ahLst/>
              <a:cxnLst/>
              <a:rect r="r" b="b" t="t" l="l"/>
              <a:pathLst>
                <a:path h="633984" w="6827520">
                  <a:moveTo>
                    <a:pt x="0" y="0"/>
                  </a:moveTo>
                  <a:lnTo>
                    <a:pt x="6827520" y="0"/>
                  </a:lnTo>
                  <a:lnTo>
                    <a:pt x="6827520" y="633984"/>
                  </a:lnTo>
                  <a:lnTo>
                    <a:pt x="0" y="633984"/>
                  </a:lnTo>
                  <a:close/>
                </a:path>
              </a:pathLst>
            </a:custGeom>
            <a:blipFill>
              <a:blip r:embed="rId3">
                <a:alphaModFix amt="0"/>
              </a:blip>
              <a:stretch>
                <a:fillRect l="0" t="-159838" r="0" b="-159838"/>
              </a:stretch>
            </a:blipFill>
          </p:spPr>
        </p:sp>
        <p:sp>
          <p:nvSpPr>
            <p:cNvPr name="TextBox 96" id="96"/>
            <p:cNvSpPr txBox="true"/>
            <p:nvPr/>
          </p:nvSpPr>
          <p:spPr>
            <a:xfrm>
              <a:off x="0" y="-38100"/>
              <a:ext cx="6827520" cy="672084"/>
            </a:xfrm>
            <a:prstGeom prst="rect">
              <a:avLst/>
            </a:prstGeom>
          </p:spPr>
          <p:txBody>
            <a:bodyPr anchor="ctr" rtlCol="false" tIns="0" lIns="0" bIns="0" rIns="0"/>
            <a:lstStyle/>
            <a:p>
              <a:pPr algn="l">
                <a:lnSpc>
                  <a:spcPts val="2400"/>
                </a:lnSpc>
              </a:pPr>
              <a:r>
                <a:rPr lang="en-US" sz="2000" b="true">
                  <a:solidFill>
                    <a:srgbClr val="FFFFFF"/>
                  </a:solidFill>
                  <a:latin typeface="Calibri (MS) Bold"/>
                  <a:ea typeface="Calibri (MS) Bold"/>
                  <a:cs typeface="Calibri (MS) Bold"/>
                  <a:sym typeface="Calibri (MS) Bold"/>
                </a:rPr>
                <a:t>Storage tanks</a:t>
              </a:r>
            </a:p>
          </p:txBody>
        </p:sp>
      </p:grpSp>
      <p:grpSp>
        <p:nvGrpSpPr>
          <p:cNvPr name="Group 97" id="97"/>
          <p:cNvGrpSpPr/>
          <p:nvPr/>
        </p:nvGrpSpPr>
        <p:grpSpPr>
          <a:xfrm rot="0">
            <a:off x="14800583" y="5327399"/>
            <a:ext cx="2585723" cy="537467"/>
            <a:chOff x="0" y="0"/>
            <a:chExt cx="3447631" cy="716623"/>
          </a:xfrm>
        </p:grpSpPr>
        <p:sp>
          <p:nvSpPr>
            <p:cNvPr name="Freeform 98" id="98"/>
            <p:cNvSpPr/>
            <p:nvPr/>
          </p:nvSpPr>
          <p:spPr>
            <a:xfrm flipH="false" flipV="false" rot="0">
              <a:off x="16891" y="16891"/>
              <a:ext cx="3413760" cy="682752"/>
            </a:xfrm>
            <a:custGeom>
              <a:avLst/>
              <a:gdLst/>
              <a:ahLst/>
              <a:cxnLst/>
              <a:rect r="r" b="b" t="t" l="l"/>
              <a:pathLst>
                <a:path h="682752" w="3413760">
                  <a:moveTo>
                    <a:pt x="0" y="0"/>
                  </a:moveTo>
                  <a:lnTo>
                    <a:pt x="3413760" y="0"/>
                  </a:lnTo>
                  <a:lnTo>
                    <a:pt x="3413760" y="682752"/>
                  </a:lnTo>
                  <a:lnTo>
                    <a:pt x="0" y="682752"/>
                  </a:lnTo>
                  <a:close/>
                </a:path>
              </a:pathLst>
            </a:custGeom>
            <a:solidFill>
              <a:srgbClr val="000000"/>
            </a:solidFill>
          </p:spPr>
        </p:sp>
        <p:sp>
          <p:nvSpPr>
            <p:cNvPr name="Freeform 99" id="99"/>
            <p:cNvSpPr/>
            <p:nvPr/>
          </p:nvSpPr>
          <p:spPr>
            <a:xfrm flipH="false" flipV="false" rot="0">
              <a:off x="0" y="0"/>
              <a:ext cx="3447542" cy="716536"/>
            </a:xfrm>
            <a:custGeom>
              <a:avLst/>
              <a:gdLst/>
              <a:ahLst/>
              <a:cxnLst/>
              <a:rect r="r" b="b" t="t" l="l"/>
              <a:pathLst>
                <a:path h="716536" w="3447542">
                  <a:moveTo>
                    <a:pt x="16891" y="0"/>
                  </a:moveTo>
                  <a:lnTo>
                    <a:pt x="3430651" y="0"/>
                  </a:lnTo>
                  <a:cubicBezTo>
                    <a:pt x="3440049" y="0"/>
                    <a:pt x="3447542" y="7620"/>
                    <a:pt x="3447542" y="16891"/>
                  </a:cubicBezTo>
                  <a:lnTo>
                    <a:pt x="3447542" y="699643"/>
                  </a:lnTo>
                  <a:cubicBezTo>
                    <a:pt x="3447542" y="709041"/>
                    <a:pt x="3439922" y="716534"/>
                    <a:pt x="3430651" y="716534"/>
                  </a:cubicBezTo>
                  <a:lnTo>
                    <a:pt x="16891" y="716534"/>
                  </a:lnTo>
                  <a:cubicBezTo>
                    <a:pt x="7620" y="716661"/>
                    <a:pt x="0" y="709041"/>
                    <a:pt x="0" y="699643"/>
                  </a:cubicBezTo>
                  <a:lnTo>
                    <a:pt x="0" y="16891"/>
                  </a:lnTo>
                  <a:cubicBezTo>
                    <a:pt x="0" y="7620"/>
                    <a:pt x="7620" y="0"/>
                    <a:pt x="16891" y="0"/>
                  </a:cubicBezTo>
                  <a:moveTo>
                    <a:pt x="16891" y="33909"/>
                  </a:moveTo>
                  <a:lnTo>
                    <a:pt x="16891" y="16891"/>
                  </a:lnTo>
                  <a:lnTo>
                    <a:pt x="33909" y="16891"/>
                  </a:lnTo>
                  <a:lnTo>
                    <a:pt x="33909" y="699643"/>
                  </a:lnTo>
                  <a:lnTo>
                    <a:pt x="16891" y="699643"/>
                  </a:lnTo>
                  <a:lnTo>
                    <a:pt x="16891" y="682752"/>
                  </a:lnTo>
                  <a:lnTo>
                    <a:pt x="3430651" y="682752"/>
                  </a:lnTo>
                  <a:lnTo>
                    <a:pt x="3430651" y="699643"/>
                  </a:lnTo>
                  <a:lnTo>
                    <a:pt x="3413760" y="699643"/>
                  </a:lnTo>
                  <a:lnTo>
                    <a:pt x="3413760" y="16891"/>
                  </a:lnTo>
                  <a:lnTo>
                    <a:pt x="3430651" y="16891"/>
                  </a:lnTo>
                  <a:lnTo>
                    <a:pt x="3430651" y="33909"/>
                  </a:lnTo>
                  <a:lnTo>
                    <a:pt x="16891" y="33909"/>
                  </a:lnTo>
                  <a:close/>
                </a:path>
              </a:pathLst>
            </a:custGeom>
            <a:solidFill>
              <a:srgbClr val="000000"/>
            </a:solidFill>
          </p:spPr>
        </p:sp>
      </p:grpSp>
      <p:grpSp>
        <p:nvGrpSpPr>
          <p:cNvPr name="Group 100" id="100"/>
          <p:cNvGrpSpPr/>
          <p:nvPr/>
        </p:nvGrpSpPr>
        <p:grpSpPr>
          <a:xfrm rot="0">
            <a:off x="14813280" y="5340096"/>
            <a:ext cx="2560320" cy="512064"/>
            <a:chOff x="0" y="0"/>
            <a:chExt cx="3413760" cy="682752"/>
          </a:xfrm>
        </p:grpSpPr>
        <p:sp>
          <p:nvSpPr>
            <p:cNvPr name="Freeform 101" id="101"/>
            <p:cNvSpPr/>
            <p:nvPr/>
          </p:nvSpPr>
          <p:spPr>
            <a:xfrm flipH="false" flipV="false" rot="0">
              <a:off x="0" y="0"/>
              <a:ext cx="3413760" cy="682752"/>
            </a:xfrm>
            <a:custGeom>
              <a:avLst/>
              <a:gdLst/>
              <a:ahLst/>
              <a:cxnLst/>
              <a:rect r="r" b="b" t="t" l="l"/>
              <a:pathLst>
                <a:path h="682752" w="3413760">
                  <a:moveTo>
                    <a:pt x="0" y="0"/>
                  </a:moveTo>
                  <a:lnTo>
                    <a:pt x="3413760" y="0"/>
                  </a:lnTo>
                  <a:lnTo>
                    <a:pt x="3413760" y="682752"/>
                  </a:lnTo>
                  <a:lnTo>
                    <a:pt x="0" y="682752"/>
                  </a:lnTo>
                  <a:close/>
                </a:path>
              </a:pathLst>
            </a:custGeom>
            <a:blipFill>
              <a:blip r:embed="rId3">
                <a:alphaModFix amt="0"/>
              </a:blip>
              <a:stretch>
                <a:fillRect l="0" t="-47425" r="0" b="-47425"/>
              </a:stretch>
            </a:blipFill>
          </p:spPr>
        </p:sp>
        <p:sp>
          <p:nvSpPr>
            <p:cNvPr name="TextBox 102" id="102"/>
            <p:cNvSpPr txBox="true"/>
            <p:nvPr/>
          </p:nvSpPr>
          <p:spPr>
            <a:xfrm>
              <a:off x="0" y="-38100"/>
              <a:ext cx="3413760" cy="72085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Correct identification</a:t>
              </a:r>
            </a:p>
          </p:txBody>
        </p:sp>
      </p:grpSp>
      <p:grpSp>
        <p:nvGrpSpPr>
          <p:cNvPr name="Group 103" id="103"/>
          <p:cNvGrpSpPr/>
          <p:nvPr/>
        </p:nvGrpSpPr>
        <p:grpSpPr>
          <a:xfrm rot="0">
            <a:off x="9509760" y="5815584"/>
            <a:ext cx="7863840" cy="457200"/>
            <a:chOff x="0" y="0"/>
            <a:chExt cx="10485120" cy="609600"/>
          </a:xfrm>
        </p:grpSpPr>
        <p:sp>
          <p:nvSpPr>
            <p:cNvPr name="Freeform 104" id="104"/>
            <p:cNvSpPr/>
            <p:nvPr/>
          </p:nvSpPr>
          <p:spPr>
            <a:xfrm flipH="false" flipV="false" rot="0">
              <a:off x="0" y="0"/>
              <a:ext cx="10485120" cy="609600"/>
            </a:xfrm>
            <a:custGeom>
              <a:avLst/>
              <a:gdLst/>
              <a:ahLst/>
              <a:cxnLst/>
              <a:rect r="r" b="b" t="t" l="l"/>
              <a:pathLst>
                <a:path h="609600" w="10485120">
                  <a:moveTo>
                    <a:pt x="0" y="0"/>
                  </a:moveTo>
                  <a:lnTo>
                    <a:pt x="10485120" y="0"/>
                  </a:lnTo>
                  <a:lnTo>
                    <a:pt x="10485120" y="609600"/>
                  </a:lnTo>
                  <a:lnTo>
                    <a:pt x="0" y="609600"/>
                  </a:lnTo>
                  <a:close/>
                </a:path>
              </a:pathLst>
            </a:custGeom>
            <a:blipFill>
              <a:blip r:embed="rId3">
                <a:alphaModFix amt="0"/>
              </a:blip>
              <a:stretch>
                <a:fillRect l="0" t="-285142" r="0" b="-285142"/>
              </a:stretch>
            </a:blipFill>
          </p:spPr>
        </p:sp>
        <p:sp>
          <p:nvSpPr>
            <p:cNvPr name="TextBox 105" id="105"/>
            <p:cNvSpPr txBox="true"/>
            <p:nvPr/>
          </p:nvSpPr>
          <p:spPr>
            <a:xfrm>
              <a:off x="0" y="-38100"/>
              <a:ext cx="10485120" cy="647700"/>
            </a:xfrm>
            <a:prstGeom prst="rect">
              <a:avLst/>
            </a:prstGeom>
          </p:spPr>
          <p:txBody>
            <a:bodyPr anchor="ctr" rtlCol="false" tIns="0" lIns="0" bIns="0" rIns="0"/>
            <a:lstStyle/>
            <a:p>
              <a:pPr algn="l">
                <a:lnSpc>
                  <a:spcPts val="2039"/>
                </a:lnSpc>
              </a:pPr>
              <a:r>
                <a:rPr lang="en-US" sz="1700" b="true">
                  <a:solidFill>
                    <a:srgbClr val="94A3B8"/>
                  </a:solidFill>
                  <a:latin typeface="Calibri (MS) Bold"/>
                  <a:ea typeface="Calibri (MS) Bold"/>
                  <a:cs typeface="Calibri (MS) Bold"/>
                  <a:sym typeface="Calibri (MS) Bold"/>
                </a:rPr>
                <a:t>GT:  </a:t>
              </a:r>
              <a:r>
                <a:rPr lang="en-US" sz="1700">
                  <a:solidFill>
                    <a:srgbClr val="94A3B8"/>
                  </a:solidFill>
                  <a:latin typeface="Calibri (MS)"/>
                  <a:ea typeface="Calibri (MS)"/>
                  <a:cs typeface="Calibri (MS)"/>
                  <a:sym typeface="Calibri (MS)"/>
                </a:rPr>
                <a:t>Two storage tanks are surrounded by several buildings and bare land.</a:t>
              </a:r>
            </a:p>
          </p:txBody>
        </p:sp>
      </p:grpSp>
      <p:grpSp>
        <p:nvGrpSpPr>
          <p:cNvPr name="Group 106" id="106"/>
          <p:cNvGrpSpPr/>
          <p:nvPr/>
        </p:nvGrpSpPr>
        <p:grpSpPr>
          <a:xfrm rot="0">
            <a:off x="9509760" y="6272784"/>
            <a:ext cx="7863840" cy="457200"/>
            <a:chOff x="0" y="0"/>
            <a:chExt cx="10485120" cy="609600"/>
          </a:xfrm>
        </p:grpSpPr>
        <p:sp>
          <p:nvSpPr>
            <p:cNvPr name="Freeform 107" id="107"/>
            <p:cNvSpPr/>
            <p:nvPr/>
          </p:nvSpPr>
          <p:spPr>
            <a:xfrm flipH="false" flipV="false" rot="0">
              <a:off x="0" y="0"/>
              <a:ext cx="10485120" cy="609600"/>
            </a:xfrm>
            <a:custGeom>
              <a:avLst/>
              <a:gdLst/>
              <a:ahLst/>
              <a:cxnLst/>
              <a:rect r="r" b="b" t="t" l="l"/>
              <a:pathLst>
                <a:path h="609600" w="10485120">
                  <a:moveTo>
                    <a:pt x="0" y="0"/>
                  </a:moveTo>
                  <a:lnTo>
                    <a:pt x="10485120" y="0"/>
                  </a:lnTo>
                  <a:lnTo>
                    <a:pt x="10485120" y="609600"/>
                  </a:lnTo>
                  <a:lnTo>
                    <a:pt x="0" y="609600"/>
                  </a:lnTo>
                  <a:close/>
                </a:path>
              </a:pathLst>
            </a:custGeom>
            <a:blipFill>
              <a:blip r:embed="rId3">
                <a:alphaModFix amt="0"/>
              </a:blip>
              <a:stretch>
                <a:fillRect l="0" t="-285142" r="0" b="-285142"/>
              </a:stretch>
            </a:blipFill>
          </p:spPr>
        </p:sp>
        <p:sp>
          <p:nvSpPr>
            <p:cNvPr name="TextBox 108" id="108"/>
            <p:cNvSpPr txBox="true"/>
            <p:nvPr/>
          </p:nvSpPr>
          <p:spPr>
            <a:xfrm>
              <a:off x="0" y="-38100"/>
              <a:ext cx="10485120" cy="647700"/>
            </a:xfrm>
            <a:prstGeom prst="rect">
              <a:avLst/>
            </a:prstGeom>
          </p:spPr>
          <p:txBody>
            <a:bodyPr anchor="ctr" rtlCol="false" tIns="0" lIns="0" bIns="0" rIns="0"/>
            <a:lstStyle/>
            <a:p>
              <a:pPr algn="l">
                <a:lnSpc>
                  <a:spcPts val="2039"/>
                </a:lnSpc>
              </a:pPr>
              <a:r>
                <a:rPr lang="en-US" sz="1700" b="true">
                  <a:solidFill>
                    <a:srgbClr val="E05B4B"/>
                  </a:solidFill>
                  <a:latin typeface="Calibri (MS) Bold"/>
                  <a:ea typeface="Calibri (MS) Bold"/>
                  <a:cs typeface="Calibri (MS) Bold"/>
                  <a:sym typeface="Calibri (MS) Bold"/>
                </a:rPr>
                <a:t>Base:</a:t>
              </a:r>
              <a:r>
                <a:rPr lang="en-US" sz="1700">
                  <a:solidFill>
                    <a:srgbClr val="E05B4B"/>
                  </a:solidFill>
                  <a:latin typeface="Calibri (MS)"/>
                  <a:ea typeface="Calibri (MS)"/>
                  <a:cs typeface="Calibri (MS)"/>
                  <a:sym typeface="Calibri (MS)"/>
                </a:rPr>
                <a:t>  Many storage tanks are near a bridge.</a:t>
              </a:r>
            </a:p>
          </p:txBody>
        </p:sp>
      </p:grpSp>
      <p:grpSp>
        <p:nvGrpSpPr>
          <p:cNvPr name="Group 109" id="109"/>
          <p:cNvGrpSpPr/>
          <p:nvPr/>
        </p:nvGrpSpPr>
        <p:grpSpPr>
          <a:xfrm rot="0">
            <a:off x="9509760" y="6729984"/>
            <a:ext cx="7863840" cy="512064"/>
            <a:chOff x="0" y="0"/>
            <a:chExt cx="10485120" cy="682752"/>
          </a:xfrm>
        </p:grpSpPr>
        <p:sp>
          <p:nvSpPr>
            <p:cNvPr name="Freeform 110" id="110"/>
            <p:cNvSpPr/>
            <p:nvPr/>
          </p:nvSpPr>
          <p:spPr>
            <a:xfrm flipH="false" flipV="false" rot="0">
              <a:off x="0" y="0"/>
              <a:ext cx="10485120" cy="682752"/>
            </a:xfrm>
            <a:custGeom>
              <a:avLst/>
              <a:gdLst/>
              <a:ahLst/>
              <a:cxnLst/>
              <a:rect r="r" b="b" t="t" l="l"/>
              <a:pathLst>
                <a:path h="682752" w="10485120">
                  <a:moveTo>
                    <a:pt x="0" y="0"/>
                  </a:moveTo>
                  <a:lnTo>
                    <a:pt x="10485120" y="0"/>
                  </a:lnTo>
                  <a:lnTo>
                    <a:pt x="10485120" y="682752"/>
                  </a:lnTo>
                  <a:lnTo>
                    <a:pt x="0" y="682752"/>
                  </a:lnTo>
                  <a:close/>
                </a:path>
              </a:pathLst>
            </a:custGeom>
            <a:blipFill>
              <a:blip r:embed="rId3">
                <a:alphaModFix amt="0"/>
              </a:blip>
              <a:stretch>
                <a:fillRect l="0" t="-249234" r="0" b="-249234"/>
              </a:stretch>
            </a:blipFill>
          </p:spPr>
        </p:sp>
        <p:sp>
          <p:nvSpPr>
            <p:cNvPr name="TextBox 111" id="111"/>
            <p:cNvSpPr txBox="true"/>
            <p:nvPr/>
          </p:nvSpPr>
          <p:spPr>
            <a:xfrm>
              <a:off x="0" y="-38100"/>
              <a:ext cx="10485120" cy="720852"/>
            </a:xfrm>
            <a:prstGeom prst="rect">
              <a:avLst/>
            </a:prstGeom>
          </p:spPr>
          <p:txBody>
            <a:bodyPr anchor="ctr" rtlCol="false" tIns="0" lIns="0" bIns="0" rIns="0"/>
            <a:lstStyle/>
            <a:p>
              <a:pPr algn="l">
                <a:lnSpc>
                  <a:spcPts val="2039"/>
                </a:lnSpc>
              </a:pPr>
              <a:r>
                <a:rPr lang="en-US" sz="1700" b="true">
                  <a:solidFill>
                    <a:srgbClr val="0D9488"/>
                  </a:solidFill>
                  <a:latin typeface="Calibri (MS) Bold"/>
                  <a:ea typeface="Calibri (MS) Bold"/>
                  <a:cs typeface="Calibri (MS) Bold"/>
                  <a:sym typeface="Calibri (MS) Bold"/>
                </a:rPr>
                <a:t>TSFE:</a:t>
              </a:r>
              <a:r>
                <a:rPr lang="en-US" sz="1700">
                  <a:solidFill>
                    <a:srgbClr val="0D9488"/>
                  </a:solidFill>
                  <a:latin typeface="Calibri (MS)"/>
                  <a:ea typeface="Calibri (MS)"/>
                  <a:cs typeface="Calibri (MS)"/>
                  <a:sym typeface="Calibri (MS)"/>
                </a:rPr>
                <a:t>  Several storage tanks are near several buildings and bare land.</a:t>
              </a:r>
            </a:p>
          </p:txBody>
        </p:sp>
      </p:grpSp>
      <p:grpSp>
        <p:nvGrpSpPr>
          <p:cNvPr name="Group 112" id="112"/>
          <p:cNvGrpSpPr/>
          <p:nvPr/>
        </p:nvGrpSpPr>
        <p:grpSpPr>
          <a:xfrm rot="0">
            <a:off x="725167" y="7583167"/>
            <a:ext cx="8242297" cy="2115817"/>
            <a:chOff x="0" y="0"/>
            <a:chExt cx="10989729" cy="2821089"/>
          </a:xfrm>
        </p:grpSpPr>
        <p:sp>
          <p:nvSpPr>
            <p:cNvPr name="Freeform 113" id="113"/>
            <p:cNvSpPr/>
            <p:nvPr/>
          </p:nvSpPr>
          <p:spPr>
            <a:xfrm flipH="false" flipV="false" rot="0">
              <a:off x="8509" y="8509"/>
              <a:ext cx="10972800" cy="2804160"/>
            </a:xfrm>
            <a:custGeom>
              <a:avLst/>
              <a:gdLst/>
              <a:ahLst/>
              <a:cxnLst/>
              <a:rect r="r" b="b" t="t" l="l"/>
              <a:pathLst>
                <a:path h="2804160" w="10972800">
                  <a:moveTo>
                    <a:pt x="0" y="0"/>
                  </a:moveTo>
                  <a:lnTo>
                    <a:pt x="10972800" y="0"/>
                  </a:lnTo>
                  <a:lnTo>
                    <a:pt x="10972800" y="2804160"/>
                  </a:lnTo>
                  <a:lnTo>
                    <a:pt x="0" y="2804160"/>
                  </a:lnTo>
                  <a:close/>
                </a:path>
              </a:pathLst>
            </a:custGeom>
            <a:solidFill>
              <a:srgbClr val="FFFFFF"/>
            </a:solidFill>
          </p:spPr>
        </p:sp>
        <p:sp>
          <p:nvSpPr>
            <p:cNvPr name="Freeform 114" id="114"/>
            <p:cNvSpPr/>
            <p:nvPr/>
          </p:nvSpPr>
          <p:spPr>
            <a:xfrm flipH="false" flipV="false" rot="0">
              <a:off x="0" y="0"/>
              <a:ext cx="10989818" cy="2821178"/>
            </a:xfrm>
            <a:custGeom>
              <a:avLst/>
              <a:gdLst/>
              <a:ahLst/>
              <a:cxnLst/>
              <a:rect r="r" b="b" t="t" l="l"/>
              <a:pathLst>
                <a:path h="2821178" w="10989818">
                  <a:moveTo>
                    <a:pt x="8509" y="0"/>
                  </a:moveTo>
                  <a:lnTo>
                    <a:pt x="10981309" y="0"/>
                  </a:lnTo>
                  <a:cubicBezTo>
                    <a:pt x="10986008" y="0"/>
                    <a:pt x="10989818" y="3810"/>
                    <a:pt x="10989818" y="8509"/>
                  </a:cubicBezTo>
                  <a:lnTo>
                    <a:pt x="10989818" y="2812669"/>
                  </a:lnTo>
                  <a:cubicBezTo>
                    <a:pt x="10989818" y="2817368"/>
                    <a:pt x="10986008" y="2821178"/>
                    <a:pt x="10981309" y="2821178"/>
                  </a:cubicBezTo>
                  <a:lnTo>
                    <a:pt x="8509" y="2821178"/>
                  </a:lnTo>
                  <a:cubicBezTo>
                    <a:pt x="3810" y="2821178"/>
                    <a:pt x="0" y="2817368"/>
                    <a:pt x="0" y="2812669"/>
                  </a:cubicBezTo>
                  <a:lnTo>
                    <a:pt x="0" y="8509"/>
                  </a:lnTo>
                  <a:cubicBezTo>
                    <a:pt x="0" y="3810"/>
                    <a:pt x="3810" y="0"/>
                    <a:pt x="8509" y="0"/>
                  </a:cubicBezTo>
                  <a:moveTo>
                    <a:pt x="8509" y="16891"/>
                  </a:moveTo>
                  <a:lnTo>
                    <a:pt x="8509" y="8509"/>
                  </a:lnTo>
                  <a:lnTo>
                    <a:pt x="17018" y="8509"/>
                  </a:lnTo>
                  <a:lnTo>
                    <a:pt x="17018" y="2812669"/>
                  </a:lnTo>
                  <a:lnTo>
                    <a:pt x="8509" y="2812669"/>
                  </a:lnTo>
                  <a:lnTo>
                    <a:pt x="8509" y="2804160"/>
                  </a:lnTo>
                  <a:lnTo>
                    <a:pt x="10981309" y="2804160"/>
                  </a:lnTo>
                  <a:lnTo>
                    <a:pt x="10981309" y="2812669"/>
                  </a:lnTo>
                  <a:lnTo>
                    <a:pt x="10972800" y="2812669"/>
                  </a:lnTo>
                  <a:lnTo>
                    <a:pt x="10972800" y="8509"/>
                  </a:lnTo>
                  <a:lnTo>
                    <a:pt x="10981309" y="8509"/>
                  </a:lnTo>
                  <a:lnTo>
                    <a:pt x="10981309" y="17018"/>
                  </a:lnTo>
                  <a:lnTo>
                    <a:pt x="8509" y="17018"/>
                  </a:lnTo>
                  <a:close/>
                </a:path>
              </a:pathLst>
            </a:custGeom>
            <a:solidFill>
              <a:srgbClr val="E2E8F0"/>
            </a:solidFill>
          </p:spPr>
        </p:sp>
      </p:grpSp>
      <p:grpSp>
        <p:nvGrpSpPr>
          <p:cNvPr name="Group 115" id="115"/>
          <p:cNvGrpSpPr/>
          <p:nvPr/>
        </p:nvGrpSpPr>
        <p:grpSpPr>
          <a:xfrm rot="0">
            <a:off x="718823" y="7576823"/>
            <a:ext cx="8255003" cy="500891"/>
            <a:chOff x="0" y="0"/>
            <a:chExt cx="11006671" cy="667855"/>
          </a:xfrm>
        </p:grpSpPr>
        <p:sp>
          <p:nvSpPr>
            <p:cNvPr name="Freeform 116" id="116"/>
            <p:cNvSpPr/>
            <p:nvPr/>
          </p:nvSpPr>
          <p:spPr>
            <a:xfrm flipH="false" flipV="false" rot="0">
              <a:off x="16891" y="16891"/>
              <a:ext cx="10972800" cy="633984"/>
            </a:xfrm>
            <a:custGeom>
              <a:avLst/>
              <a:gdLst/>
              <a:ahLst/>
              <a:cxnLst/>
              <a:rect r="r" b="b" t="t" l="l"/>
              <a:pathLst>
                <a:path h="633984" w="10972800">
                  <a:moveTo>
                    <a:pt x="0" y="0"/>
                  </a:moveTo>
                  <a:lnTo>
                    <a:pt x="10972800" y="0"/>
                  </a:lnTo>
                  <a:lnTo>
                    <a:pt x="10972800" y="633984"/>
                  </a:lnTo>
                  <a:lnTo>
                    <a:pt x="0" y="633984"/>
                  </a:lnTo>
                  <a:close/>
                </a:path>
              </a:pathLst>
            </a:custGeom>
            <a:solidFill>
              <a:srgbClr val="0D1B3E"/>
            </a:solidFill>
          </p:spPr>
        </p:sp>
        <p:sp>
          <p:nvSpPr>
            <p:cNvPr name="Freeform 117" id="117"/>
            <p:cNvSpPr/>
            <p:nvPr/>
          </p:nvSpPr>
          <p:spPr>
            <a:xfrm flipH="false" flipV="false" rot="0">
              <a:off x="0" y="0"/>
              <a:ext cx="11006582" cy="667768"/>
            </a:xfrm>
            <a:custGeom>
              <a:avLst/>
              <a:gdLst/>
              <a:ahLst/>
              <a:cxnLst/>
              <a:rect r="r" b="b" t="t" l="l"/>
              <a:pathLst>
                <a:path h="667768" w="11006582">
                  <a:moveTo>
                    <a:pt x="16891" y="0"/>
                  </a:moveTo>
                  <a:lnTo>
                    <a:pt x="10989691" y="0"/>
                  </a:lnTo>
                  <a:cubicBezTo>
                    <a:pt x="10999089" y="0"/>
                    <a:pt x="11006582" y="7620"/>
                    <a:pt x="11006582" y="16891"/>
                  </a:cubicBezTo>
                  <a:lnTo>
                    <a:pt x="11006582" y="650875"/>
                  </a:lnTo>
                  <a:cubicBezTo>
                    <a:pt x="11006582" y="660273"/>
                    <a:pt x="10998962" y="667766"/>
                    <a:pt x="10989691" y="667766"/>
                  </a:cubicBezTo>
                  <a:lnTo>
                    <a:pt x="16891" y="667766"/>
                  </a:lnTo>
                  <a:cubicBezTo>
                    <a:pt x="7620" y="667893"/>
                    <a:pt x="0" y="660273"/>
                    <a:pt x="0" y="650875"/>
                  </a:cubicBezTo>
                  <a:lnTo>
                    <a:pt x="0" y="16891"/>
                  </a:lnTo>
                  <a:cubicBezTo>
                    <a:pt x="0" y="7620"/>
                    <a:pt x="7620" y="0"/>
                    <a:pt x="16891" y="0"/>
                  </a:cubicBezTo>
                  <a:moveTo>
                    <a:pt x="16891" y="33909"/>
                  </a:moveTo>
                  <a:lnTo>
                    <a:pt x="16891" y="16891"/>
                  </a:lnTo>
                  <a:lnTo>
                    <a:pt x="33909" y="16891"/>
                  </a:lnTo>
                  <a:lnTo>
                    <a:pt x="33909" y="650875"/>
                  </a:lnTo>
                  <a:lnTo>
                    <a:pt x="16891" y="650875"/>
                  </a:lnTo>
                  <a:lnTo>
                    <a:pt x="16891" y="633984"/>
                  </a:lnTo>
                  <a:lnTo>
                    <a:pt x="10989691" y="633984"/>
                  </a:lnTo>
                  <a:lnTo>
                    <a:pt x="10989691" y="650875"/>
                  </a:lnTo>
                  <a:lnTo>
                    <a:pt x="10972800" y="650875"/>
                  </a:lnTo>
                  <a:lnTo>
                    <a:pt x="10972800" y="16891"/>
                  </a:lnTo>
                  <a:lnTo>
                    <a:pt x="10989691" y="16891"/>
                  </a:lnTo>
                  <a:lnTo>
                    <a:pt x="10989691" y="33909"/>
                  </a:lnTo>
                  <a:lnTo>
                    <a:pt x="16891" y="33909"/>
                  </a:lnTo>
                  <a:close/>
                </a:path>
              </a:pathLst>
            </a:custGeom>
            <a:solidFill>
              <a:srgbClr val="0D1B3E"/>
            </a:solidFill>
          </p:spPr>
        </p:sp>
      </p:grpSp>
      <p:grpSp>
        <p:nvGrpSpPr>
          <p:cNvPr name="Group 118" id="118"/>
          <p:cNvGrpSpPr/>
          <p:nvPr/>
        </p:nvGrpSpPr>
        <p:grpSpPr>
          <a:xfrm rot="0">
            <a:off x="877824" y="7589520"/>
            <a:ext cx="5120640" cy="475488"/>
            <a:chOff x="0" y="0"/>
            <a:chExt cx="6827520" cy="633984"/>
          </a:xfrm>
        </p:grpSpPr>
        <p:sp>
          <p:nvSpPr>
            <p:cNvPr name="Freeform 119" id="119"/>
            <p:cNvSpPr/>
            <p:nvPr/>
          </p:nvSpPr>
          <p:spPr>
            <a:xfrm flipH="false" flipV="false" rot="0">
              <a:off x="0" y="0"/>
              <a:ext cx="6827520" cy="633984"/>
            </a:xfrm>
            <a:custGeom>
              <a:avLst/>
              <a:gdLst/>
              <a:ahLst/>
              <a:cxnLst/>
              <a:rect r="r" b="b" t="t" l="l"/>
              <a:pathLst>
                <a:path h="633984" w="6827520">
                  <a:moveTo>
                    <a:pt x="0" y="0"/>
                  </a:moveTo>
                  <a:lnTo>
                    <a:pt x="6827520" y="0"/>
                  </a:lnTo>
                  <a:lnTo>
                    <a:pt x="6827520" y="633984"/>
                  </a:lnTo>
                  <a:lnTo>
                    <a:pt x="0" y="633984"/>
                  </a:lnTo>
                  <a:close/>
                </a:path>
              </a:pathLst>
            </a:custGeom>
            <a:blipFill>
              <a:blip r:embed="rId3">
                <a:alphaModFix amt="0"/>
              </a:blip>
              <a:stretch>
                <a:fillRect l="0" t="-159838" r="0" b="-159838"/>
              </a:stretch>
            </a:blipFill>
          </p:spPr>
        </p:sp>
        <p:sp>
          <p:nvSpPr>
            <p:cNvPr name="TextBox 120" id="120"/>
            <p:cNvSpPr txBox="true"/>
            <p:nvPr/>
          </p:nvSpPr>
          <p:spPr>
            <a:xfrm>
              <a:off x="0" y="-38100"/>
              <a:ext cx="6827520" cy="672084"/>
            </a:xfrm>
            <a:prstGeom prst="rect">
              <a:avLst/>
            </a:prstGeom>
          </p:spPr>
          <p:txBody>
            <a:bodyPr anchor="ctr" rtlCol="false" tIns="0" lIns="0" bIns="0" rIns="0"/>
            <a:lstStyle/>
            <a:p>
              <a:pPr algn="l">
                <a:lnSpc>
                  <a:spcPts val="2400"/>
                </a:lnSpc>
              </a:pPr>
              <a:r>
                <a:rPr lang="en-US" sz="2000" b="true">
                  <a:solidFill>
                    <a:srgbClr val="FFFFFF"/>
                  </a:solidFill>
                  <a:latin typeface="Calibri (MS) Bold"/>
                  <a:ea typeface="Calibri (MS) Bold"/>
                  <a:cs typeface="Calibri (MS) Bold"/>
                  <a:sym typeface="Calibri (MS) Bold"/>
                </a:rPr>
                <a:t>Building shape</a:t>
              </a:r>
            </a:p>
          </p:txBody>
        </p:sp>
      </p:grpSp>
      <p:grpSp>
        <p:nvGrpSpPr>
          <p:cNvPr name="Group 121" id="121"/>
          <p:cNvGrpSpPr/>
          <p:nvPr/>
        </p:nvGrpSpPr>
        <p:grpSpPr>
          <a:xfrm rot="0">
            <a:off x="6205223" y="7613399"/>
            <a:ext cx="2585723" cy="537467"/>
            <a:chOff x="0" y="0"/>
            <a:chExt cx="3447631" cy="716623"/>
          </a:xfrm>
        </p:grpSpPr>
        <p:sp>
          <p:nvSpPr>
            <p:cNvPr name="Freeform 122" id="122"/>
            <p:cNvSpPr/>
            <p:nvPr/>
          </p:nvSpPr>
          <p:spPr>
            <a:xfrm flipH="false" flipV="false" rot="0">
              <a:off x="16891" y="16891"/>
              <a:ext cx="3413760" cy="682752"/>
            </a:xfrm>
            <a:custGeom>
              <a:avLst/>
              <a:gdLst/>
              <a:ahLst/>
              <a:cxnLst/>
              <a:rect r="r" b="b" t="t" l="l"/>
              <a:pathLst>
                <a:path h="682752" w="3413760">
                  <a:moveTo>
                    <a:pt x="0" y="0"/>
                  </a:moveTo>
                  <a:lnTo>
                    <a:pt x="3413760" y="0"/>
                  </a:lnTo>
                  <a:lnTo>
                    <a:pt x="3413760" y="682752"/>
                  </a:lnTo>
                  <a:lnTo>
                    <a:pt x="0" y="682752"/>
                  </a:lnTo>
                  <a:close/>
                </a:path>
              </a:pathLst>
            </a:custGeom>
            <a:solidFill>
              <a:srgbClr val="000000"/>
            </a:solidFill>
          </p:spPr>
        </p:sp>
        <p:sp>
          <p:nvSpPr>
            <p:cNvPr name="Freeform 123" id="123"/>
            <p:cNvSpPr/>
            <p:nvPr/>
          </p:nvSpPr>
          <p:spPr>
            <a:xfrm flipH="false" flipV="false" rot="0">
              <a:off x="0" y="0"/>
              <a:ext cx="3447542" cy="716536"/>
            </a:xfrm>
            <a:custGeom>
              <a:avLst/>
              <a:gdLst/>
              <a:ahLst/>
              <a:cxnLst/>
              <a:rect r="r" b="b" t="t" l="l"/>
              <a:pathLst>
                <a:path h="716536" w="3447542">
                  <a:moveTo>
                    <a:pt x="16891" y="0"/>
                  </a:moveTo>
                  <a:lnTo>
                    <a:pt x="3430651" y="0"/>
                  </a:lnTo>
                  <a:cubicBezTo>
                    <a:pt x="3440049" y="0"/>
                    <a:pt x="3447542" y="7620"/>
                    <a:pt x="3447542" y="16891"/>
                  </a:cubicBezTo>
                  <a:lnTo>
                    <a:pt x="3447542" y="699643"/>
                  </a:lnTo>
                  <a:cubicBezTo>
                    <a:pt x="3447542" y="709041"/>
                    <a:pt x="3439922" y="716534"/>
                    <a:pt x="3430651" y="716534"/>
                  </a:cubicBezTo>
                  <a:lnTo>
                    <a:pt x="16891" y="716534"/>
                  </a:lnTo>
                  <a:cubicBezTo>
                    <a:pt x="7620" y="716661"/>
                    <a:pt x="0" y="709041"/>
                    <a:pt x="0" y="699643"/>
                  </a:cubicBezTo>
                  <a:lnTo>
                    <a:pt x="0" y="16891"/>
                  </a:lnTo>
                  <a:cubicBezTo>
                    <a:pt x="0" y="7620"/>
                    <a:pt x="7620" y="0"/>
                    <a:pt x="16891" y="0"/>
                  </a:cubicBezTo>
                  <a:moveTo>
                    <a:pt x="16891" y="33909"/>
                  </a:moveTo>
                  <a:lnTo>
                    <a:pt x="16891" y="16891"/>
                  </a:lnTo>
                  <a:lnTo>
                    <a:pt x="33909" y="16891"/>
                  </a:lnTo>
                  <a:lnTo>
                    <a:pt x="33909" y="699643"/>
                  </a:lnTo>
                  <a:lnTo>
                    <a:pt x="16891" y="699643"/>
                  </a:lnTo>
                  <a:lnTo>
                    <a:pt x="16891" y="682752"/>
                  </a:lnTo>
                  <a:lnTo>
                    <a:pt x="3430651" y="682752"/>
                  </a:lnTo>
                  <a:lnTo>
                    <a:pt x="3430651" y="699643"/>
                  </a:lnTo>
                  <a:lnTo>
                    <a:pt x="3413760" y="699643"/>
                  </a:lnTo>
                  <a:lnTo>
                    <a:pt x="3413760" y="16891"/>
                  </a:lnTo>
                  <a:lnTo>
                    <a:pt x="3430651" y="16891"/>
                  </a:lnTo>
                  <a:lnTo>
                    <a:pt x="3430651" y="33909"/>
                  </a:lnTo>
                  <a:lnTo>
                    <a:pt x="16891" y="33909"/>
                  </a:lnTo>
                  <a:close/>
                </a:path>
              </a:pathLst>
            </a:custGeom>
            <a:solidFill>
              <a:srgbClr val="000000"/>
            </a:solidFill>
          </p:spPr>
        </p:sp>
      </p:grpSp>
      <p:grpSp>
        <p:nvGrpSpPr>
          <p:cNvPr name="Group 124" id="124"/>
          <p:cNvGrpSpPr/>
          <p:nvPr/>
        </p:nvGrpSpPr>
        <p:grpSpPr>
          <a:xfrm rot="0">
            <a:off x="6217920" y="7626096"/>
            <a:ext cx="2560320" cy="512064"/>
            <a:chOff x="0" y="0"/>
            <a:chExt cx="3413760" cy="682752"/>
          </a:xfrm>
        </p:grpSpPr>
        <p:sp>
          <p:nvSpPr>
            <p:cNvPr name="Freeform 125" id="125"/>
            <p:cNvSpPr/>
            <p:nvPr/>
          </p:nvSpPr>
          <p:spPr>
            <a:xfrm flipH="false" flipV="false" rot="0">
              <a:off x="0" y="0"/>
              <a:ext cx="3413760" cy="682752"/>
            </a:xfrm>
            <a:custGeom>
              <a:avLst/>
              <a:gdLst/>
              <a:ahLst/>
              <a:cxnLst/>
              <a:rect r="r" b="b" t="t" l="l"/>
              <a:pathLst>
                <a:path h="682752" w="3413760">
                  <a:moveTo>
                    <a:pt x="0" y="0"/>
                  </a:moveTo>
                  <a:lnTo>
                    <a:pt x="3413760" y="0"/>
                  </a:lnTo>
                  <a:lnTo>
                    <a:pt x="3413760" y="682752"/>
                  </a:lnTo>
                  <a:lnTo>
                    <a:pt x="0" y="682752"/>
                  </a:lnTo>
                  <a:close/>
                </a:path>
              </a:pathLst>
            </a:custGeom>
            <a:blipFill>
              <a:blip r:embed="rId3">
                <a:alphaModFix amt="0"/>
              </a:blip>
              <a:stretch>
                <a:fillRect l="0" t="-47425" r="0" b="-47425"/>
              </a:stretch>
            </a:blipFill>
          </p:spPr>
        </p:sp>
        <p:sp>
          <p:nvSpPr>
            <p:cNvPr name="TextBox 126" id="126"/>
            <p:cNvSpPr txBox="true"/>
            <p:nvPr/>
          </p:nvSpPr>
          <p:spPr>
            <a:xfrm>
              <a:off x="0" y="-38100"/>
              <a:ext cx="3413760" cy="72085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Color/shape accuracy</a:t>
              </a:r>
            </a:p>
          </p:txBody>
        </p:sp>
      </p:grpSp>
      <p:grpSp>
        <p:nvGrpSpPr>
          <p:cNvPr name="Group 127" id="127"/>
          <p:cNvGrpSpPr/>
          <p:nvPr/>
        </p:nvGrpSpPr>
        <p:grpSpPr>
          <a:xfrm rot="0">
            <a:off x="914400" y="8101584"/>
            <a:ext cx="7863840" cy="457200"/>
            <a:chOff x="0" y="0"/>
            <a:chExt cx="10485120" cy="609600"/>
          </a:xfrm>
        </p:grpSpPr>
        <p:sp>
          <p:nvSpPr>
            <p:cNvPr name="Freeform 128" id="128"/>
            <p:cNvSpPr/>
            <p:nvPr/>
          </p:nvSpPr>
          <p:spPr>
            <a:xfrm flipH="false" flipV="false" rot="0">
              <a:off x="0" y="0"/>
              <a:ext cx="10485120" cy="609600"/>
            </a:xfrm>
            <a:custGeom>
              <a:avLst/>
              <a:gdLst/>
              <a:ahLst/>
              <a:cxnLst/>
              <a:rect r="r" b="b" t="t" l="l"/>
              <a:pathLst>
                <a:path h="609600" w="10485120">
                  <a:moveTo>
                    <a:pt x="0" y="0"/>
                  </a:moveTo>
                  <a:lnTo>
                    <a:pt x="10485120" y="0"/>
                  </a:lnTo>
                  <a:lnTo>
                    <a:pt x="10485120" y="609600"/>
                  </a:lnTo>
                  <a:lnTo>
                    <a:pt x="0" y="609600"/>
                  </a:lnTo>
                  <a:close/>
                </a:path>
              </a:pathLst>
            </a:custGeom>
            <a:blipFill>
              <a:blip r:embed="rId3">
                <a:alphaModFix amt="0"/>
              </a:blip>
              <a:stretch>
                <a:fillRect l="0" t="-285142" r="0" b="-285142"/>
              </a:stretch>
            </a:blipFill>
          </p:spPr>
        </p:sp>
        <p:sp>
          <p:nvSpPr>
            <p:cNvPr name="TextBox 129" id="129"/>
            <p:cNvSpPr txBox="true"/>
            <p:nvPr/>
          </p:nvSpPr>
          <p:spPr>
            <a:xfrm>
              <a:off x="0" y="-38100"/>
              <a:ext cx="10485120" cy="647700"/>
            </a:xfrm>
            <a:prstGeom prst="rect">
              <a:avLst/>
            </a:prstGeom>
          </p:spPr>
          <p:txBody>
            <a:bodyPr anchor="ctr" rtlCol="false" tIns="0" lIns="0" bIns="0" rIns="0"/>
            <a:lstStyle/>
            <a:p>
              <a:pPr algn="l">
                <a:lnSpc>
                  <a:spcPts val="2039"/>
                </a:lnSpc>
              </a:pPr>
              <a:r>
                <a:rPr lang="en-US" sz="1700" b="true">
                  <a:solidFill>
                    <a:srgbClr val="94A3B8"/>
                  </a:solidFill>
                  <a:latin typeface="Calibri (MS) Bold"/>
                  <a:ea typeface="Calibri (MS) Bold"/>
                  <a:cs typeface="Calibri (MS) Bold"/>
                  <a:sym typeface="Calibri (MS) Bold"/>
                </a:rPr>
                <a:t>GT:  </a:t>
              </a:r>
              <a:r>
                <a:rPr lang="en-US" sz="1700">
                  <a:solidFill>
                    <a:srgbClr val="94A3B8"/>
                  </a:solidFill>
                  <a:latin typeface="Calibri (MS)"/>
                  <a:ea typeface="Calibri (MS)"/>
                  <a:cs typeface="Calibri (MS)"/>
                  <a:sym typeface="Calibri (MS)"/>
                </a:rPr>
                <a:t>Some green trees are near an oval white building.</a:t>
              </a:r>
            </a:p>
          </p:txBody>
        </p:sp>
      </p:grpSp>
      <p:grpSp>
        <p:nvGrpSpPr>
          <p:cNvPr name="Group 130" id="130"/>
          <p:cNvGrpSpPr/>
          <p:nvPr/>
        </p:nvGrpSpPr>
        <p:grpSpPr>
          <a:xfrm rot="0">
            <a:off x="914400" y="8558784"/>
            <a:ext cx="7863840" cy="457200"/>
            <a:chOff x="0" y="0"/>
            <a:chExt cx="10485120" cy="609600"/>
          </a:xfrm>
        </p:grpSpPr>
        <p:sp>
          <p:nvSpPr>
            <p:cNvPr name="Freeform 131" id="131"/>
            <p:cNvSpPr/>
            <p:nvPr/>
          </p:nvSpPr>
          <p:spPr>
            <a:xfrm flipH="false" flipV="false" rot="0">
              <a:off x="0" y="0"/>
              <a:ext cx="10485120" cy="609600"/>
            </a:xfrm>
            <a:custGeom>
              <a:avLst/>
              <a:gdLst/>
              <a:ahLst/>
              <a:cxnLst/>
              <a:rect r="r" b="b" t="t" l="l"/>
              <a:pathLst>
                <a:path h="609600" w="10485120">
                  <a:moveTo>
                    <a:pt x="0" y="0"/>
                  </a:moveTo>
                  <a:lnTo>
                    <a:pt x="10485120" y="0"/>
                  </a:lnTo>
                  <a:lnTo>
                    <a:pt x="10485120" y="609600"/>
                  </a:lnTo>
                  <a:lnTo>
                    <a:pt x="0" y="609600"/>
                  </a:lnTo>
                  <a:close/>
                </a:path>
              </a:pathLst>
            </a:custGeom>
            <a:blipFill>
              <a:blip r:embed="rId3">
                <a:alphaModFix amt="0"/>
              </a:blip>
              <a:stretch>
                <a:fillRect l="0" t="-285142" r="0" b="-285142"/>
              </a:stretch>
            </a:blipFill>
          </p:spPr>
        </p:sp>
        <p:sp>
          <p:nvSpPr>
            <p:cNvPr name="TextBox 132" id="132"/>
            <p:cNvSpPr txBox="true"/>
            <p:nvPr/>
          </p:nvSpPr>
          <p:spPr>
            <a:xfrm>
              <a:off x="0" y="-38100"/>
              <a:ext cx="10485120" cy="647700"/>
            </a:xfrm>
            <a:prstGeom prst="rect">
              <a:avLst/>
            </a:prstGeom>
          </p:spPr>
          <p:txBody>
            <a:bodyPr anchor="ctr" rtlCol="false" tIns="0" lIns="0" bIns="0" rIns="0"/>
            <a:lstStyle/>
            <a:p>
              <a:pPr algn="l">
                <a:lnSpc>
                  <a:spcPts val="2039"/>
                </a:lnSpc>
              </a:pPr>
              <a:r>
                <a:rPr lang="en-US" sz="1700" b="true">
                  <a:solidFill>
                    <a:srgbClr val="E05B4B"/>
                  </a:solidFill>
                  <a:latin typeface="Calibri (MS) Bold"/>
                  <a:ea typeface="Calibri (MS) Bold"/>
                  <a:cs typeface="Calibri (MS) Bold"/>
                  <a:sym typeface="Calibri (MS) Bold"/>
                </a:rPr>
                <a:t>Base:</a:t>
              </a:r>
              <a:r>
                <a:rPr lang="en-US" sz="1700">
                  <a:solidFill>
                    <a:srgbClr val="E05B4B"/>
                  </a:solidFill>
                  <a:latin typeface="Calibri (MS)"/>
                  <a:ea typeface="Calibri (MS)"/>
                  <a:cs typeface="Calibri (MS)"/>
                  <a:sym typeface="Calibri (MS)"/>
                </a:rPr>
                <a:t>  Many green trees are around a rectangular building.</a:t>
              </a:r>
            </a:p>
          </p:txBody>
        </p:sp>
      </p:grpSp>
      <p:grpSp>
        <p:nvGrpSpPr>
          <p:cNvPr name="Group 133" id="133"/>
          <p:cNvGrpSpPr/>
          <p:nvPr/>
        </p:nvGrpSpPr>
        <p:grpSpPr>
          <a:xfrm rot="0">
            <a:off x="914400" y="9015984"/>
            <a:ext cx="7863840" cy="512064"/>
            <a:chOff x="0" y="0"/>
            <a:chExt cx="10485120" cy="682752"/>
          </a:xfrm>
        </p:grpSpPr>
        <p:sp>
          <p:nvSpPr>
            <p:cNvPr name="Freeform 134" id="134"/>
            <p:cNvSpPr/>
            <p:nvPr/>
          </p:nvSpPr>
          <p:spPr>
            <a:xfrm flipH="false" flipV="false" rot="0">
              <a:off x="0" y="0"/>
              <a:ext cx="10485120" cy="682752"/>
            </a:xfrm>
            <a:custGeom>
              <a:avLst/>
              <a:gdLst/>
              <a:ahLst/>
              <a:cxnLst/>
              <a:rect r="r" b="b" t="t" l="l"/>
              <a:pathLst>
                <a:path h="682752" w="10485120">
                  <a:moveTo>
                    <a:pt x="0" y="0"/>
                  </a:moveTo>
                  <a:lnTo>
                    <a:pt x="10485120" y="0"/>
                  </a:lnTo>
                  <a:lnTo>
                    <a:pt x="10485120" y="682752"/>
                  </a:lnTo>
                  <a:lnTo>
                    <a:pt x="0" y="682752"/>
                  </a:lnTo>
                  <a:close/>
                </a:path>
              </a:pathLst>
            </a:custGeom>
            <a:blipFill>
              <a:blip r:embed="rId3">
                <a:alphaModFix amt="0"/>
              </a:blip>
              <a:stretch>
                <a:fillRect l="0" t="-249234" r="0" b="-249234"/>
              </a:stretch>
            </a:blipFill>
          </p:spPr>
        </p:sp>
        <p:sp>
          <p:nvSpPr>
            <p:cNvPr name="TextBox 135" id="135"/>
            <p:cNvSpPr txBox="true"/>
            <p:nvPr/>
          </p:nvSpPr>
          <p:spPr>
            <a:xfrm>
              <a:off x="0" y="-38100"/>
              <a:ext cx="10485120" cy="720852"/>
            </a:xfrm>
            <a:prstGeom prst="rect">
              <a:avLst/>
            </a:prstGeom>
          </p:spPr>
          <p:txBody>
            <a:bodyPr anchor="ctr" rtlCol="false" tIns="0" lIns="0" bIns="0" rIns="0"/>
            <a:lstStyle/>
            <a:p>
              <a:pPr algn="l">
                <a:lnSpc>
                  <a:spcPts val="2039"/>
                </a:lnSpc>
              </a:pPr>
              <a:r>
                <a:rPr lang="en-US" sz="1700" b="true">
                  <a:solidFill>
                    <a:srgbClr val="0D9488"/>
                  </a:solidFill>
                  <a:latin typeface="Calibri (MS) Bold"/>
                  <a:ea typeface="Calibri (MS) Bold"/>
                  <a:cs typeface="Calibri (MS) Bold"/>
                  <a:sym typeface="Calibri (MS) Bold"/>
                </a:rPr>
                <a:t>TSFE:</a:t>
              </a:r>
              <a:r>
                <a:rPr lang="en-US" sz="1700">
                  <a:solidFill>
                    <a:srgbClr val="0D9488"/>
                  </a:solidFill>
                  <a:latin typeface="Calibri (MS)"/>
                  <a:ea typeface="Calibri (MS)"/>
                  <a:cs typeface="Calibri (MS)"/>
                  <a:sym typeface="Calibri (MS)"/>
                </a:rPr>
                <a:t>  Many green trees are around a white building.</a:t>
              </a:r>
            </a:p>
          </p:txBody>
        </p:sp>
      </p:grpSp>
      <p:grpSp>
        <p:nvGrpSpPr>
          <p:cNvPr name="Group 136" id="136"/>
          <p:cNvGrpSpPr/>
          <p:nvPr/>
        </p:nvGrpSpPr>
        <p:grpSpPr>
          <a:xfrm rot="0">
            <a:off x="9320527" y="7583167"/>
            <a:ext cx="8242297" cy="2115817"/>
            <a:chOff x="0" y="0"/>
            <a:chExt cx="10989729" cy="2821089"/>
          </a:xfrm>
        </p:grpSpPr>
        <p:sp>
          <p:nvSpPr>
            <p:cNvPr name="Freeform 137" id="137"/>
            <p:cNvSpPr/>
            <p:nvPr/>
          </p:nvSpPr>
          <p:spPr>
            <a:xfrm flipH="false" flipV="false" rot="0">
              <a:off x="8509" y="8509"/>
              <a:ext cx="10972800" cy="2804160"/>
            </a:xfrm>
            <a:custGeom>
              <a:avLst/>
              <a:gdLst/>
              <a:ahLst/>
              <a:cxnLst/>
              <a:rect r="r" b="b" t="t" l="l"/>
              <a:pathLst>
                <a:path h="2804160" w="10972800">
                  <a:moveTo>
                    <a:pt x="0" y="0"/>
                  </a:moveTo>
                  <a:lnTo>
                    <a:pt x="10972800" y="0"/>
                  </a:lnTo>
                  <a:lnTo>
                    <a:pt x="10972800" y="2804160"/>
                  </a:lnTo>
                  <a:lnTo>
                    <a:pt x="0" y="2804160"/>
                  </a:lnTo>
                  <a:close/>
                </a:path>
              </a:pathLst>
            </a:custGeom>
            <a:solidFill>
              <a:srgbClr val="FFFFFF"/>
            </a:solidFill>
          </p:spPr>
        </p:sp>
        <p:sp>
          <p:nvSpPr>
            <p:cNvPr name="Freeform 138" id="138"/>
            <p:cNvSpPr/>
            <p:nvPr/>
          </p:nvSpPr>
          <p:spPr>
            <a:xfrm flipH="false" flipV="false" rot="0">
              <a:off x="0" y="0"/>
              <a:ext cx="10989818" cy="2821178"/>
            </a:xfrm>
            <a:custGeom>
              <a:avLst/>
              <a:gdLst/>
              <a:ahLst/>
              <a:cxnLst/>
              <a:rect r="r" b="b" t="t" l="l"/>
              <a:pathLst>
                <a:path h="2821178" w="10989818">
                  <a:moveTo>
                    <a:pt x="8509" y="0"/>
                  </a:moveTo>
                  <a:lnTo>
                    <a:pt x="10981309" y="0"/>
                  </a:lnTo>
                  <a:cubicBezTo>
                    <a:pt x="10986008" y="0"/>
                    <a:pt x="10989818" y="3810"/>
                    <a:pt x="10989818" y="8509"/>
                  </a:cubicBezTo>
                  <a:lnTo>
                    <a:pt x="10989818" y="2812669"/>
                  </a:lnTo>
                  <a:cubicBezTo>
                    <a:pt x="10989818" y="2817368"/>
                    <a:pt x="10986008" y="2821178"/>
                    <a:pt x="10981309" y="2821178"/>
                  </a:cubicBezTo>
                  <a:lnTo>
                    <a:pt x="8509" y="2821178"/>
                  </a:lnTo>
                  <a:cubicBezTo>
                    <a:pt x="3810" y="2821178"/>
                    <a:pt x="0" y="2817368"/>
                    <a:pt x="0" y="2812669"/>
                  </a:cubicBezTo>
                  <a:lnTo>
                    <a:pt x="0" y="8509"/>
                  </a:lnTo>
                  <a:cubicBezTo>
                    <a:pt x="0" y="3810"/>
                    <a:pt x="3810" y="0"/>
                    <a:pt x="8509" y="0"/>
                  </a:cubicBezTo>
                  <a:moveTo>
                    <a:pt x="8509" y="16891"/>
                  </a:moveTo>
                  <a:lnTo>
                    <a:pt x="8509" y="8509"/>
                  </a:lnTo>
                  <a:lnTo>
                    <a:pt x="17018" y="8509"/>
                  </a:lnTo>
                  <a:lnTo>
                    <a:pt x="17018" y="2812669"/>
                  </a:lnTo>
                  <a:lnTo>
                    <a:pt x="8509" y="2812669"/>
                  </a:lnTo>
                  <a:lnTo>
                    <a:pt x="8509" y="2804160"/>
                  </a:lnTo>
                  <a:lnTo>
                    <a:pt x="10981309" y="2804160"/>
                  </a:lnTo>
                  <a:lnTo>
                    <a:pt x="10981309" y="2812669"/>
                  </a:lnTo>
                  <a:lnTo>
                    <a:pt x="10972800" y="2812669"/>
                  </a:lnTo>
                  <a:lnTo>
                    <a:pt x="10972800" y="8509"/>
                  </a:lnTo>
                  <a:lnTo>
                    <a:pt x="10981309" y="8509"/>
                  </a:lnTo>
                  <a:lnTo>
                    <a:pt x="10981309" y="17018"/>
                  </a:lnTo>
                  <a:lnTo>
                    <a:pt x="8509" y="17018"/>
                  </a:lnTo>
                  <a:close/>
                </a:path>
              </a:pathLst>
            </a:custGeom>
            <a:solidFill>
              <a:srgbClr val="E2E8F0"/>
            </a:solidFill>
          </p:spPr>
        </p:sp>
      </p:grpSp>
      <p:grpSp>
        <p:nvGrpSpPr>
          <p:cNvPr name="Group 139" id="139"/>
          <p:cNvGrpSpPr/>
          <p:nvPr/>
        </p:nvGrpSpPr>
        <p:grpSpPr>
          <a:xfrm rot="0">
            <a:off x="9314183" y="7576823"/>
            <a:ext cx="8255003" cy="500891"/>
            <a:chOff x="0" y="0"/>
            <a:chExt cx="11006671" cy="667855"/>
          </a:xfrm>
        </p:grpSpPr>
        <p:sp>
          <p:nvSpPr>
            <p:cNvPr name="Freeform 140" id="140"/>
            <p:cNvSpPr/>
            <p:nvPr/>
          </p:nvSpPr>
          <p:spPr>
            <a:xfrm flipH="false" flipV="false" rot="0">
              <a:off x="16891" y="16891"/>
              <a:ext cx="10972800" cy="633984"/>
            </a:xfrm>
            <a:custGeom>
              <a:avLst/>
              <a:gdLst/>
              <a:ahLst/>
              <a:cxnLst/>
              <a:rect r="r" b="b" t="t" l="l"/>
              <a:pathLst>
                <a:path h="633984" w="10972800">
                  <a:moveTo>
                    <a:pt x="0" y="0"/>
                  </a:moveTo>
                  <a:lnTo>
                    <a:pt x="10972800" y="0"/>
                  </a:lnTo>
                  <a:lnTo>
                    <a:pt x="10972800" y="633984"/>
                  </a:lnTo>
                  <a:lnTo>
                    <a:pt x="0" y="633984"/>
                  </a:lnTo>
                  <a:close/>
                </a:path>
              </a:pathLst>
            </a:custGeom>
            <a:solidFill>
              <a:srgbClr val="0D1B3E"/>
            </a:solidFill>
          </p:spPr>
        </p:sp>
        <p:sp>
          <p:nvSpPr>
            <p:cNvPr name="Freeform 141" id="141"/>
            <p:cNvSpPr/>
            <p:nvPr/>
          </p:nvSpPr>
          <p:spPr>
            <a:xfrm flipH="false" flipV="false" rot="0">
              <a:off x="0" y="0"/>
              <a:ext cx="11006582" cy="667768"/>
            </a:xfrm>
            <a:custGeom>
              <a:avLst/>
              <a:gdLst/>
              <a:ahLst/>
              <a:cxnLst/>
              <a:rect r="r" b="b" t="t" l="l"/>
              <a:pathLst>
                <a:path h="667768" w="11006582">
                  <a:moveTo>
                    <a:pt x="16891" y="0"/>
                  </a:moveTo>
                  <a:lnTo>
                    <a:pt x="10989691" y="0"/>
                  </a:lnTo>
                  <a:cubicBezTo>
                    <a:pt x="10999089" y="0"/>
                    <a:pt x="11006582" y="7620"/>
                    <a:pt x="11006582" y="16891"/>
                  </a:cubicBezTo>
                  <a:lnTo>
                    <a:pt x="11006582" y="650875"/>
                  </a:lnTo>
                  <a:cubicBezTo>
                    <a:pt x="11006582" y="660273"/>
                    <a:pt x="10998962" y="667766"/>
                    <a:pt x="10989691" y="667766"/>
                  </a:cubicBezTo>
                  <a:lnTo>
                    <a:pt x="16891" y="667766"/>
                  </a:lnTo>
                  <a:cubicBezTo>
                    <a:pt x="7620" y="667893"/>
                    <a:pt x="0" y="660273"/>
                    <a:pt x="0" y="650875"/>
                  </a:cubicBezTo>
                  <a:lnTo>
                    <a:pt x="0" y="16891"/>
                  </a:lnTo>
                  <a:cubicBezTo>
                    <a:pt x="0" y="7620"/>
                    <a:pt x="7620" y="0"/>
                    <a:pt x="16891" y="0"/>
                  </a:cubicBezTo>
                  <a:moveTo>
                    <a:pt x="16891" y="33909"/>
                  </a:moveTo>
                  <a:lnTo>
                    <a:pt x="16891" y="16891"/>
                  </a:lnTo>
                  <a:lnTo>
                    <a:pt x="33909" y="16891"/>
                  </a:lnTo>
                  <a:lnTo>
                    <a:pt x="33909" y="650875"/>
                  </a:lnTo>
                  <a:lnTo>
                    <a:pt x="16891" y="650875"/>
                  </a:lnTo>
                  <a:lnTo>
                    <a:pt x="16891" y="633984"/>
                  </a:lnTo>
                  <a:lnTo>
                    <a:pt x="10989691" y="633984"/>
                  </a:lnTo>
                  <a:lnTo>
                    <a:pt x="10989691" y="650875"/>
                  </a:lnTo>
                  <a:lnTo>
                    <a:pt x="10972800" y="650875"/>
                  </a:lnTo>
                  <a:lnTo>
                    <a:pt x="10972800" y="16891"/>
                  </a:lnTo>
                  <a:lnTo>
                    <a:pt x="10989691" y="16891"/>
                  </a:lnTo>
                  <a:lnTo>
                    <a:pt x="10989691" y="33909"/>
                  </a:lnTo>
                  <a:lnTo>
                    <a:pt x="16891" y="33909"/>
                  </a:lnTo>
                  <a:close/>
                </a:path>
              </a:pathLst>
            </a:custGeom>
            <a:solidFill>
              <a:srgbClr val="0D1B3E"/>
            </a:solidFill>
          </p:spPr>
        </p:sp>
      </p:grpSp>
      <p:grpSp>
        <p:nvGrpSpPr>
          <p:cNvPr name="Group 142" id="142"/>
          <p:cNvGrpSpPr/>
          <p:nvPr/>
        </p:nvGrpSpPr>
        <p:grpSpPr>
          <a:xfrm rot="0">
            <a:off x="9473184" y="7589520"/>
            <a:ext cx="5120640" cy="475488"/>
            <a:chOff x="0" y="0"/>
            <a:chExt cx="6827520" cy="633984"/>
          </a:xfrm>
        </p:grpSpPr>
        <p:sp>
          <p:nvSpPr>
            <p:cNvPr name="Freeform 143" id="143"/>
            <p:cNvSpPr/>
            <p:nvPr/>
          </p:nvSpPr>
          <p:spPr>
            <a:xfrm flipH="false" flipV="false" rot="0">
              <a:off x="0" y="0"/>
              <a:ext cx="6827520" cy="633984"/>
            </a:xfrm>
            <a:custGeom>
              <a:avLst/>
              <a:gdLst/>
              <a:ahLst/>
              <a:cxnLst/>
              <a:rect r="r" b="b" t="t" l="l"/>
              <a:pathLst>
                <a:path h="633984" w="6827520">
                  <a:moveTo>
                    <a:pt x="0" y="0"/>
                  </a:moveTo>
                  <a:lnTo>
                    <a:pt x="6827520" y="0"/>
                  </a:lnTo>
                  <a:lnTo>
                    <a:pt x="6827520" y="633984"/>
                  </a:lnTo>
                  <a:lnTo>
                    <a:pt x="0" y="633984"/>
                  </a:lnTo>
                  <a:close/>
                </a:path>
              </a:pathLst>
            </a:custGeom>
            <a:blipFill>
              <a:blip r:embed="rId3">
                <a:alphaModFix amt="0"/>
              </a:blip>
              <a:stretch>
                <a:fillRect l="0" t="-159838" r="0" b="-159838"/>
              </a:stretch>
            </a:blipFill>
          </p:spPr>
        </p:sp>
        <p:sp>
          <p:nvSpPr>
            <p:cNvPr name="TextBox 144" id="144"/>
            <p:cNvSpPr txBox="true"/>
            <p:nvPr/>
          </p:nvSpPr>
          <p:spPr>
            <a:xfrm>
              <a:off x="0" y="-38100"/>
              <a:ext cx="6827520" cy="672084"/>
            </a:xfrm>
            <a:prstGeom prst="rect">
              <a:avLst/>
            </a:prstGeom>
          </p:spPr>
          <p:txBody>
            <a:bodyPr anchor="ctr" rtlCol="false" tIns="0" lIns="0" bIns="0" rIns="0"/>
            <a:lstStyle/>
            <a:p>
              <a:pPr algn="l">
                <a:lnSpc>
                  <a:spcPts val="2400"/>
                </a:lnSpc>
              </a:pPr>
              <a:r>
                <a:rPr lang="en-US" sz="2000" b="true">
                  <a:solidFill>
                    <a:srgbClr val="FFFFFF"/>
                  </a:solidFill>
                  <a:latin typeface="Calibri (MS) Bold"/>
                  <a:ea typeface="Calibri (MS) Bold"/>
                  <a:cs typeface="Calibri (MS) Bold"/>
                  <a:sym typeface="Calibri (MS) Bold"/>
                </a:rPr>
                <a:t>Bridge &amp; trees</a:t>
              </a:r>
            </a:p>
          </p:txBody>
        </p:sp>
      </p:grpSp>
      <p:grpSp>
        <p:nvGrpSpPr>
          <p:cNvPr name="Group 145" id="145"/>
          <p:cNvGrpSpPr/>
          <p:nvPr/>
        </p:nvGrpSpPr>
        <p:grpSpPr>
          <a:xfrm rot="0">
            <a:off x="14800583" y="7613399"/>
            <a:ext cx="2585723" cy="537467"/>
            <a:chOff x="0" y="0"/>
            <a:chExt cx="3447631" cy="716623"/>
          </a:xfrm>
        </p:grpSpPr>
        <p:sp>
          <p:nvSpPr>
            <p:cNvPr name="Freeform 146" id="146"/>
            <p:cNvSpPr/>
            <p:nvPr/>
          </p:nvSpPr>
          <p:spPr>
            <a:xfrm flipH="false" flipV="false" rot="0">
              <a:off x="16891" y="16891"/>
              <a:ext cx="3413760" cy="682752"/>
            </a:xfrm>
            <a:custGeom>
              <a:avLst/>
              <a:gdLst/>
              <a:ahLst/>
              <a:cxnLst/>
              <a:rect r="r" b="b" t="t" l="l"/>
              <a:pathLst>
                <a:path h="682752" w="3413760">
                  <a:moveTo>
                    <a:pt x="0" y="0"/>
                  </a:moveTo>
                  <a:lnTo>
                    <a:pt x="3413760" y="0"/>
                  </a:lnTo>
                  <a:lnTo>
                    <a:pt x="3413760" y="682752"/>
                  </a:lnTo>
                  <a:lnTo>
                    <a:pt x="0" y="682752"/>
                  </a:lnTo>
                  <a:close/>
                </a:path>
              </a:pathLst>
            </a:custGeom>
            <a:solidFill>
              <a:srgbClr val="000000"/>
            </a:solidFill>
          </p:spPr>
        </p:sp>
        <p:sp>
          <p:nvSpPr>
            <p:cNvPr name="Freeform 147" id="147"/>
            <p:cNvSpPr/>
            <p:nvPr/>
          </p:nvSpPr>
          <p:spPr>
            <a:xfrm flipH="false" flipV="false" rot="0">
              <a:off x="0" y="0"/>
              <a:ext cx="3447542" cy="716536"/>
            </a:xfrm>
            <a:custGeom>
              <a:avLst/>
              <a:gdLst/>
              <a:ahLst/>
              <a:cxnLst/>
              <a:rect r="r" b="b" t="t" l="l"/>
              <a:pathLst>
                <a:path h="716536" w="3447542">
                  <a:moveTo>
                    <a:pt x="16891" y="0"/>
                  </a:moveTo>
                  <a:lnTo>
                    <a:pt x="3430651" y="0"/>
                  </a:lnTo>
                  <a:cubicBezTo>
                    <a:pt x="3440049" y="0"/>
                    <a:pt x="3447542" y="7620"/>
                    <a:pt x="3447542" y="16891"/>
                  </a:cubicBezTo>
                  <a:lnTo>
                    <a:pt x="3447542" y="699643"/>
                  </a:lnTo>
                  <a:cubicBezTo>
                    <a:pt x="3447542" y="709041"/>
                    <a:pt x="3439922" y="716534"/>
                    <a:pt x="3430651" y="716534"/>
                  </a:cubicBezTo>
                  <a:lnTo>
                    <a:pt x="16891" y="716534"/>
                  </a:lnTo>
                  <a:cubicBezTo>
                    <a:pt x="7620" y="716661"/>
                    <a:pt x="0" y="709041"/>
                    <a:pt x="0" y="699643"/>
                  </a:cubicBezTo>
                  <a:lnTo>
                    <a:pt x="0" y="16891"/>
                  </a:lnTo>
                  <a:cubicBezTo>
                    <a:pt x="0" y="7620"/>
                    <a:pt x="7620" y="0"/>
                    <a:pt x="16891" y="0"/>
                  </a:cubicBezTo>
                  <a:moveTo>
                    <a:pt x="16891" y="33909"/>
                  </a:moveTo>
                  <a:lnTo>
                    <a:pt x="16891" y="16891"/>
                  </a:lnTo>
                  <a:lnTo>
                    <a:pt x="33909" y="16891"/>
                  </a:lnTo>
                  <a:lnTo>
                    <a:pt x="33909" y="699643"/>
                  </a:lnTo>
                  <a:lnTo>
                    <a:pt x="16891" y="699643"/>
                  </a:lnTo>
                  <a:lnTo>
                    <a:pt x="16891" y="682752"/>
                  </a:lnTo>
                  <a:lnTo>
                    <a:pt x="3430651" y="682752"/>
                  </a:lnTo>
                  <a:lnTo>
                    <a:pt x="3430651" y="699643"/>
                  </a:lnTo>
                  <a:lnTo>
                    <a:pt x="3413760" y="699643"/>
                  </a:lnTo>
                  <a:lnTo>
                    <a:pt x="3413760" y="16891"/>
                  </a:lnTo>
                  <a:lnTo>
                    <a:pt x="3430651" y="16891"/>
                  </a:lnTo>
                  <a:lnTo>
                    <a:pt x="3430651" y="33909"/>
                  </a:lnTo>
                  <a:lnTo>
                    <a:pt x="16891" y="33909"/>
                  </a:lnTo>
                  <a:close/>
                </a:path>
              </a:pathLst>
            </a:custGeom>
            <a:solidFill>
              <a:srgbClr val="000000"/>
            </a:solidFill>
          </p:spPr>
        </p:sp>
      </p:grpSp>
      <p:grpSp>
        <p:nvGrpSpPr>
          <p:cNvPr name="Group 148" id="148"/>
          <p:cNvGrpSpPr/>
          <p:nvPr/>
        </p:nvGrpSpPr>
        <p:grpSpPr>
          <a:xfrm rot="0">
            <a:off x="14813280" y="7626096"/>
            <a:ext cx="2560320" cy="512064"/>
            <a:chOff x="0" y="0"/>
            <a:chExt cx="3413760" cy="682752"/>
          </a:xfrm>
        </p:grpSpPr>
        <p:sp>
          <p:nvSpPr>
            <p:cNvPr name="Freeform 149" id="149"/>
            <p:cNvSpPr/>
            <p:nvPr/>
          </p:nvSpPr>
          <p:spPr>
            <a:xfrm flipH="false" flipV="false" rot="0">
              <a:off x="0" y="0"/>
              <a:ext cx="3413760" cy="682752"/>
            </a:xfrm>
            <a:custGeom>
              <a:avLst/>
              <a:gdLst/>
              <a:ahLst/>
              <a:cxnLst/>
              <a:rect r="r" b="b" t="t" l="l"/>
              <a:pathLst>
                <a:path h="682752" w="3413760">
                  <a:moveTo>
                    <a:pt x="0" y="0"/>
                  </a:moveTo>
                  <a:lnTo>
                    <a:pt x="3413760" y="0"/>
                  </a:lnTo>
                  <a:lnTo>
                    <a:pt x="3413760" y="682752"/>
                  </a:lnTo>
                  <a:lnTo>
                    <a:pt x="0" y="682752"/>
                  </a:lnTo>
                  <a:close/>
                </a:path>
              </a:pathLst>
            </a:custGeom>
            <a:blipFill>
              <a:blip r:embed="rId3">
                <a:alphaModFix amt="0"/>
              </a:blip>
              <a:stretch>
                <a:fillRect l="0" t="-47425" r="0" b="-47425"/>
              </a:stretch>
            </a:blipFill>
          </p:spPr>
        </p:sp>
        <p:sp>
          <p:nvSpPr>
            <p:cNvPr name="TextBox 150" id="150"/>
            <p:cNvSpPr txBox="true"/>
            <p:nvPr/>
          </p:nvSpPr>
          <p:spPr>
            <a:xfrm>
              <a:off x="0" y="-38100"/>
              <a:ext cx="3413760" cy="72085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Positional detail</a:t>
              </a:r>
            </a:p>
          </p:txBody>
        </p:sp>
      </p:grpSp>
      <p:grpSp>
        <p:nvGrpSpPr>
          <p:cNvPr name="Group 151" id="151"/>
          <p:cNvGrpSpPr/>
          <p:nvPr/>
        </p:nvGrpSpPr>
        <p:grpSpPr>
          <a:xfrm rot="0">
            <a:off x="9509760" y="8101584"/>
            <a:ext cx="7863840" cy="457200"/>
            <a:chOff x="0" y="0"/>
            <a:chExt cx="10485120" cy="609600"/>
          </a:xfrm>
        </p:grpSpPr>
        <p:sp>
          <p:nvSpPr>
            <p:cNvPr name="Freeform 152" id="152"/>
            <p:cNvSpPr/>
            <p:nvPr/>
          </p:nvSpPr>
          <p:spPr>
            <a:xfrm flipH="false" flipV="false" rot="0">
              <a:off x="0" y="0"/>
              <a:ext cx="10485120" cy="609600"/>
            </a:xfrm>
            <a:custGeom>
              <a:avLst/>
              <a:gdLst/>
              <a:ahLst/>
              <a:cxnLst/>
              <a:rect r="r" b="b" t="t" l="l"/>
              <a:pathLst>
                <a:path h="609600" w="10485120">
                  <a:moveTo>
                    <a:pt x="0" y="0"/>
                  </a:moveTo>
                  <a:lnTo>
                    <a:pt x="10485120" y="0"/>
                  </a:lnTo>
                  <a:lnTo>
                    <a:pt x="10485120" y="609600"/>
                  </a:lnTo>
                  <a:lnTo>
                    <a:pt x="0" y="609600"/>
                  </a:lnTo>
                  <a:close/>
                </a:path>
              </a:pathLst>
            </a:custGeom>
            <a:blipFill>
              <a:blip r:embed="rId3">
                <a:alphaModFix amt="0"/>
              </a:blip>
              <a:stretch>
                <a:fillRect l="0" t="-285142" r="0" b="-285142"/>
              </a:stretch>
            </a:blipFill>
          </p:spPr>
        </p:sp>
        <p:sp>
          <p:nvSpPr>
            <p:cNvPr name="TextBox 153" id="153"/>
            <p:cNvSpPr txBox="true"/>
            <p:nvPr/>
          </p:nvSpPr>
          <p:spPr>
            <a:xfrm>
              <a:off x="0" y="-38100"/>
              <a:ext cx="10485120" cy="647700"/>
            </a:xfrm>
            <a:prstGeom prst="rect">
              <a:avLst/>
            </a:prstGeom>
          </p:spPr>
          <p:txBody>
            <a:bodyPr anchor="ctr" rtlCol="false" tIns="0" lIns="0" bIns="0" rIns="0"/>
            <a:lstStyle/>
            <a:p>
              <a:pPr algn="l">
                <a:lnSpc>
                  <a:spcPts val="2039"/>
                </a:lnSpc>
              </a:pPr>
              <a:r>
                <a:rPr lang="en-US" sz="1700" b="true">
                  <a:solidFill>
                    <a:srgbClr val="94A3B8"/>
                  </a:solidFill>
                  <a:latin typeface="Calibri (MS) Bold"/>
                  <a:ea typeface="Calibri (MS) Bold"/>
                  <a:cs typeface="Calibri (MS) Bold"/>
                  <a:sym typeface="Calibri (MS) Bold"/>
                </a:rPr>
                <a:t>GT:  </a:t>
              </a:r>
              <a:r>
                <a:rPr lang="en-US" sz="1700">
                  <a:solidFill>
                    <a:srgbClr val="94A3B8"/>
                  </a:solidFill>
                  <a:latin typeface="Calibri (MS)"/>
                  <a:ea typeface="Calibri (MS)"/>
                  <a:cs typeface="Calibri (MS)"/>
                  <a:sym typeface="Calibri (MS)"/>
                </a:rPr>
                <a:t>Several green trees are in two sides of a river with a bridge over it.</a:t>
              </a:r>
            </a:p>
          </p:txBody>
        </p:sp>
      </p:grpSp>
      <p:grpSp>
        <p:nvGrpSpPr>
          <p:cNvPr name="Group 154" id="154"/>
          <p:cNvGrpSpPr/>
          <p:nvPr/>
        </p:nvGrpSpPr>
        <p:grpSpPr>
          <a:xfrm rot="0">
            <a:off x="9509760" y="8558784"/>
            <a:ext cx="7863840" cy="457200"/>
            <a:chOff x="0" y="0"/>
            <a:chExt cx="10485120" cy="609600"/>
          </a:xfrm>
        </p:grpSpPr>
        <p:sp>
          <p:nvSpPr>
            <p:cNvPr name="Freeform 155" id="155"/>
            <p:cNvSpPr/>
            <p:nvPr/>
          </p:nvSpPr>
          <p:spPr>
            <a:xfrm flipH="false" flipV="false" rot="0">
              <a:off x="0" y="0"/>
              <a:ext cx="10485120" cy="609600"/>
            </a:xfrm>
            <a:custGeom>
              <a:avLst/>
              <a:gdLst/>
              <a:ahLst/>
              <a:cxnLst/>
              <a:rect r="r" b="b" t="t" l="l"/>
              <a:pathLst>
                <a:path h="609600" w="10485120">
                  <a:moveTo>
                    <a:pt x="0" y="0"/>
                  </a:moveTo>
                  <a:lnTo>
                    <a:pt x="10485120" y="0"/>
                  </a:lnTo>
                  <a:lnTo>
                    <a:pt x="10485120" y="609600"/>
                  </a:lnTo>
                  <a:lnTo>
                    <a:pt x="0" y="609600"/>
                  </a:lnTo>
                  <a:close/>
                </a:path>
              </a:pathLst>
            </a:custGeom>
            <a:blipFill>
              <a:blip r:embed="rId3">
                <a:alphaModFix amt="0"/>
              </a:blip>
              <a:stretch>
                <a:fillRect l="0" t="-285142" r="0" b="-285142"/>
              </a:stretch>
            </a:blipFill>
          </p:spPr>
        </p:sp>
        <p:sp>
          <p:nvSpPr>
            <p:cNvPr name="TextBox 156" id="156"/>
            <p:cNvSpPr txBox="true"/>
            <p:nvPr/>
          </p:nvSpPr>
          <p:spPr>
            <a:xfrm>
              <a:off x="0" y="-38100"/>
              <a:ext cx="10485120" cy="647700"/>
            </a:xfrm>
            <a:prstGeom prst="rect">
              <a:avLst/>
            </a:prstGeom>
          </p:spPr>
          <p:txBody>
            <a:bodyPr anchor="ctr" rtlCol="false" tIns="0" lIns="0" bIns="0" rIns="0"/>
            <a:lstStyle/>
            <a:p>
              <a:pPr algn="l">
                <a:lnSpc>
                  <a:spcPts val="2039"/>
                </a:lnSpc>
              </a:pPr>
              <a:r>
                <a:rPr lang="en-US" sz="1700" b="true">
                  <a:solidFill>
                    <a:srgbClr val="E05B4B"/>
                  </a:solidFill>
                  <a:latin typeface="Calibri (MS) Bold"/>
                  <a:ea typeface="Calibri (MS) Bold"/>
                  <a:cs typeface="Calibri (MS) Bold"/>
                  <a:sym typeface="Calibri (MS) Bold"/>
                </a:rPr>
                <a:t>Base:</a:t>
              </a:r>
              <a:r>
                <a:rPr lang="en-US" sz="1700">
                  <a:solidFill>
                    <a:srgbClr val="E05B4B"/>
                  </a:solidFill>
                  <a:latin typeface="Calibri (MS)"/>
                  <a:ea typeface="Calibri (MS)"/>
                  <a:cs typeface="Calibri (MS)"/>
                  <a:sym typeface="Calibri (MS)"/>
                </a:rPr>
                <a:t>  A bridge is near a river with some green trees.</a:t>
              </a:r>
            </a:p>
          </p:txBody>
        </p:sp>
      </p:grpSp>
      <p:grpSp>
        <p:nvGrpSpPr>
          <p:cNvPr name="Group 157" id="157"/>
          <p:cNvGrpSpPr/>
          <p:nvPr/>
        </p:nvGrpSpPr>
        <p:grpSpPr>
          <a:xfrm rot="0">
            <a:off x="9509760" y="9015984"/>
            <a:ext cx="7863840" cy="512064"/>
            <a:chOff x="0" y="0"/>
            <a:chExt cx="10485120" cy="682752"/>
          </a:xfrm>
        </p:grpSpPr>
        <p:sp>
          <p:nvSpPr>
            <p:cNvPr name="Freeform 158" id="158"/>
            <p:cNvSpPr/>
            <p:nvPr/>
          </p:nvSpPr>
          <p:spPr>
            <a:xfrm flipH="false" flipV="false" rot="0">
              <a:off x="0" y="0"/>
              <a:ext cx="10485120" cy="682752"/>
            </a:xfrm>
            <a:custGeom>
              <a:avLst/>
              <a:gdLst/>
              <a:ahLst/>
              <a:cxnLst/>
              <a:rect r="r" b="b" t="t" l="l"/>
              <a:pathLst>
                <a:path h="682752" w="10485120">
                  <a:moveTo>
                    <a:pt x="0" y="0"/>
                  </a:moveTo>
                  <a:lnTo>
                    <a:pt x="10485120" y="0"/>
                  </a:lnTo>
                  <a:lnTo>
                    <a:pt x="10485120" y="682752"/>
                  </a:lnTo>
                  <a:lnTo>
                    <a:pt x="0" y="682752"/>
                  </a:lnTo>
                  <a:close/>
                </a:path>
              </a:pathLst>
            </a:custGeom>
            <a:blipFill>
              <a:blip r:embed="rId3">
                <a:alphaModFix amt="0"/>
              </a:blip>
              <a:stretch>
                <a:fillRect l="0" t="-249234" r="0" b="-249234"/>
              </a:stretch>
            </a:blipFill>
          </p:spPr>
        </p:sp>
        <p:sp>
          <p:nvSpPr>
            <p:cNvPr name="TextBox 159" id="159"/>
            <p:cNvSpPr txBox="true"/>
            <p:nvPr/>
          </p:nvSpPr>
          <p:spPr>
            <a:xfrm>
              <a:off x="0" y="-38100"/>
              <a:ext cx="10485120" cy="720852"/>
            </a:xfrm>
            <a:prstGeom prst="rect">
              <a:avLst/>
            </a:prstGeom>
          </p:spPr>
          <p:txBody>
            <a:bodyPr anchor="ctr" rtlCol="false" tIns="0" lIns="0" bIns="0" rIns="0"/>
            <a:lstStyle/>
            <a:p>
              <a:pPr algn="l">
                <a:lnSpc>
                  <a:spcPts val="2039"/>
                </a:lnSpc>
              </a:pPr>
              <a:r>
                <a:rPr lang="en-US" sz="1700" b="true">
                  <a:solidFill>
                    <a:srgbClr val="0D9488"/>
                  </a:solidFill>
                  <a:latin typeface="Calibri (MS) Bold"/>
                  <a:ea typeface="Calibri (MS) Bold"/>
                  <a:cs typeface="Calibri (MS) Bold"/>
                  <a:sym typeface="Calibri (MS) Bold"/>
                </a:rPr>
                <a:t>TSFE:</a:t>
              </a:r>
              <a:r>
                <a:rPr lang="en-US" sz="1700">
                  <a:solidFill>
                    <a:srgbClr val="0D9488"/>
                  </a:solidFill>
                  <a:latin typeface="Calibri (MS)"/>
                  <a:ea typeface="Calibri (MS)"/>
                  <a:cs typeface="Calibri (MS)"/>
                  <a:sym typeface="Calibri (MS)"/>
                </a:rPr>
                <a:t>  A bridge is on a river with some green trees in two sides of it.</a:t>
              </a:r>
            </a:p>
          </p:txBody>
        </p:sp>
      </p:grpSp>
      <p:grpSp>
        <p:nvGrpSpPr>
          <p:cNvPr name="Group 160" id="160"/>
          <p:cNvGrpSpPr/>
          <p:nvPr/>
        </p:nvGrpSpPr>
        <p:grpSpPr>
          <a:xfrm rot="0">
            <a:off x="731520" y="9784080"/>
            <a:ext cx="16824960" cy="365760"/>
            <a:chOff x="0" y="0"/>
            <a:chExt cx="22433280" cy="487680"/>
          </a:xfrm>
        </p:grpSpPr>
        <p:sp>
          <p:nvSpPr>
            <p:cNvPr name="Freeform 161" id="161"/>
            <p:cNvSpPr/>
            <p:nvPr/>
          </p:nvSpPr>
          <p:spPr>
            <a:xfrm flipH="false" flipV="false" rot="0">
              <a:off x="0" y="0"/>
              <a:ext cx="22433280" cy="487680"/>
            </a:xfrm>
            <a:custGeom>
              <a:avLst/>
              <a:gdLst/>
              <a:ahLst/>
              <a:cxnLst/>
              <a:rect r="r" b="b" t="t" l="l"/>
              <a:pathLst>
                <a:path h="487680" w="22433280">
                  <a:moveTo>
                    <a:pt x="0" y="0"/>
                  </a:moveTo>
                  <a:lnTo>
                    <a:pt x="22433280" y="0"/>
                  </a:lnTo>
                  <a:lnTo>
                    <a:pt x="22433280" y="487680"/>
                  </a:lnTo>
                  <a:lnTo>
                    <a:pt x="0" y="487680"/>
                  </a:lnTo>
                  <a:close/>
                </a:path>
              </a:pathLst>
            </a:custGeom>
            <a:blipFill>
              <a:blip r:embed="rId3">
                <a:alphaModFix amt="0"/>
              </a:blip>
              <a:stretch>
                <a:fillRect l="0" t="-846311" r="0" b="-846311"/>
              </a:stretch>
            </a:blipFill>
          </p:spPr>
        </p:sp>
        <p:sp>
          <p:nvSpPr>
            <p:cNvPr name="TextBox 162" id="162"/>
            <p:cNvSpPr txBox="true"/>
            <p:nvPr/>
          </p:nvSpPr>
          <p:spPr>
            <a:xfrm>
              <a:off x="0" y="-38100"/>
              <a:ext cx="22433280" cy="525780"/>
            </a:xfrm>
            <a:prstGeom prst="rect">
              <a:avLst/>
            </a:prstGeom>
          </p:spPr>
          <p:txBody>
            <a:bodyPr anchor="ctr" rtlCol="false" tIns="0" lIns="0" bIns="0" rIns="0"/>
            <a:lstStyle/>
            <a:p>
              <a:pPr algn="ctr">
                <a:lnSpc>
                  <a:spcPts val="2039"/>
                </a:lnSpc>
              </a:pPr>
              <a:r>
                <a:rPr lang="en-US" sz="1700">
                  <a:solidFill>
                    <a:srgbClr val="94A3B8"/>
                  </a:solidFill>
                  <a:latin typeface="Calibri (MS)"/>
                  <a:ea typeface="Calibri (MS)"/>
                  <a:cs typeface="Calibri (MS)"/>
                  <a:sym typeface="Calibri (MS)"/>
                </a:rPr>
                <a:t>GT = Ground Truth reference caption  ·  Red = Baseline output  ·  Green = TSFE output</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718823" y="316487"/>
            <a:ext cx="2951483" cy="574043"/>
            <a:chOff x="0" y="0"/>
            <a:chExt cx="3935311" cy="765391"/>
          </a:xfrm>
        </p:grpSpPr>
        <p:sp>
          <p:nvSpPr>
            <p:cNvPr name="Freeform 3" id="3"/>
            <p:cNvSpPr/>
            <p:nvPr/>
          </p:nvSpPr>
          <p:spPr>
            <a:xfrm flipH="false" flipV="false" rot="0">
              <a:off x="16891" y="16891"/>
              <a:ext cx="3901440" cy="731520"/>
            </a:xfrm>
            <a:custGeom>
              <a:avLst/>
              <a:gdLst/>
              <a:ahLst/>
              <a:cxnLst/>
              <a:rect r="r" b="b" t="t" l="l"/>
              <a:pathLst>
                <a:path h="731520" w="3901440">
                  <a:moveTo>
                    <a:pt x="0" y="0"/>
                  </a:moveTo>
                  <a:lnTo>
                    <a:pt x="3901440" y="0"/>
                  </a:lnTo>
                  <a:lnTo>
                    <a:pt x="3901440" y="731520"/>
                  </a:lnTo>
                  <a:lnTo>
                    <a:pt x="0" y="731520"/>
                  </a:lnTo>
                  <a:close/>
                </a:path>
              </a:pathLst>
            </a:custGeom>
            <a:solidFill>
              <a:srgbClr val="0D9488"/>
            </a:solidFill>
          </p:spPr>
        </p:sp>
        <p:sp>
          <p:nvSpPr>
            <p:cNvPr name="Freeform 4" id="4"/>
            <p:cNvSpPr/>
            <p:nvPr/>
          </p:nvSpPr>
          <p:spPr>
            <a:xfrm flipH="false" flipV="false" rot="0">
              <a:off x="0" y="0"/>
              <a:ext cx="3935222" cy="765304"/>
            </a:xfrm>
            <a:custGeom>
              <a:avLst/>
              <a:gdLst/>
              <a:ahLst/>
              <a:cxnLst/>
              <a:rect r="r" b="b" t="t" l="l"/>
              <a:pathLst>
                <a:path h="765304" w="3935222">
                  <a:moveTo>
                    <a:pt x="16891" y="0"/>
                  </a:moveTo>
                  <a:lnTo>
                    <a:pt x="3918331" y="0"/>
                  </a:lnTo>
                  <a:cubicBezTo>
                    <a:pt x="3927729" y="0"/>
                    <a:pt x="3935222" y="7620"/>
                    <a:pt x="3935222" y="16891"/>
                  </a:cubicBezTo>
                  <a:lnTo>
                    <a:pt x="3935222" y="748411"/>
                  </a:lnTo>
                  <a:cubicBezTo>
                    <a:pt x="3935222" y="757809"/>
                    <a:pt x="3927602" y="765302"/>
                    <a:pt x="3918331" y="765302"/>
                  </a:cubicBezTo>
                  <a:lnTo>
                    <a:pt x="16891" y="765302"/>
                  </a:lnTo>
                  <a:cubicBezTo>
                    <a:pt x="7620" y="765429"/>
                    <a:pt x="0" y="757809"/>
                    <a:pt x="0" y="748411"/>
                  </a:cubicBezTo>
                  <a:lnTo>
                    <a:pt x="0" y="16891"/>
                  </a:lnTo>
                  <a:cubicBezTo>
                    <a:pt x="0" y="7620"/>
                    <a:pt x="7620" y="0"/>
                    <a:pt x="16891" y="0"/>
                  </a:cubicBezTo>
                  <a:moveTo>
                    <a:pt x="16891" y="33909"/>
                  </a:moveTo>
                  <a:lnTo>
                    <a:pt x="16891" y="16891"/>
                  </a:lnTo>
                  <a:lnTo>
                    <a:pt x="33909" y="16891"/>
                  </a:lnTo>
                  <a:lnTo>
                    <a:pt x="33909" y="748411"/>
                  </a:lnTo>
                  <a:lnTo>
                    <a:pt x="16891" y="748411"/>
                  </a:lnTo>
                  <a:lnTo>
                    <a:pt x="16891" y="731520"/>
                  </a:lnTo>
                  <a:lnTo>
                    <a:pt x="3918331" y="731520"/>
                  </a:lnTo>
                  <a:lnTo>
                    <a:pt x="3918331" y="748411"/>
                  </a:lnTo>
                  <a:lnTo>
                    <a:pt x="3901440" y="748411"/>
                  </a:lnTo>
                  <a:lnTo>
                    <a:pt x="3901440" y="16891"/>
                  </a:lnTo>
                  <a:lnTo>
                    <a:pt x="3918331" y="16891"/>
                  </a:lnTo>
                  <a:lnTo>
                    <a:pt x="3918331" y="33909"/>
                  </a:lnTo>
                  <a:lnTo>
                    <a:pt x="16891" y="33909"/>
                  </a:lnTo>
                  <a:close/>
                </a:path>
              </a:pathLst>
            </a:custGeom>
            <a:solidFill>
              <a:srgbClr val="0D9488"/>
            </a:solidFill>
          </p:spPr>
        </p:sp>
      </p:grpSp>
      <p:grpSp>
        <p:nvGrpSpPr>
          <p:cNvPr name="Group 5" id="5"/>
          <p:cNvGrpSpPr/>
          <p:nvPr/>
        </p:nvGrpSpPr>
        <p:grpSpPr>
          <a:xfrm rot="0">
            <a:off x="731520" y="329184"/>
            <a:ext cx="2926080" cy="548640"/>
            <a:chOff x="0" y="0"/>
            <a:chExt cx="3901440" cy="731520"/>
          </a:xfrm>
        </p:grpSpPr>
        <p:sp>
          <p:nvSpPr>
            <p:cNvPr name="Freeform 6" id="6"/>
            <p:cNvSpPr/>
            <p:nvPr/>
          </p:nvSpPr>
          <p:spPr>
            <a:xfrm flipH="false" flipV="false" rot="0">
              <a:off x="0" y="0"/>
              <a:ext cx="3901440" cy="731520"/>
            </a:xfrm>
            <a:custGeom>
              <a:avLst/>
              <a:gdLst/>
              <a:ahLst/>
              <a:cxnLst/>
              <a:rect r="r" b="b" t="t" l="l"/>
              <a:pathLst>
                <a:path h="731520" w="3901440">
                  <a:moveTo>
                    <a:pt x="0" y="0"/>
                  </a:moveTo>
                  <a:lnTo>
                    <a:pt x="3901440" y="0"/>
                  </a:lnTo>
                  <a:lnTo>
                    <a:pt x="3901440" y="731520"/>
                  </a:lnTo>
                  <a:lnTo>
                    <a:pt x="0" y="731520"/>
                  </a:lnTo>
                  <a:close/>
                </a:path>
              </a:pathLst>
            </a:custGeom>
            <a:blipFill>
              <a:blip r:embed="rId3">
                <a:alphaModFix amt="0"/>
              </a:blip>
              <a:stretch>
                <a:fillRect l="0" t="-53920" r="0" b="-53920"/>
              </a:stretch>
            </a:blipFill>
          </p:spPr>
        </p:sp>
        <p:sp>
          <p:nvSpPr>
            <p:cNvPr name="TextBox 7" id="7"/>
            <p:cNvSpPr txBox="true"/>
            <p:nvPr/>
          </p:nvSpPr>
          <p:spPr>
            <a:xfrm>
              <a:off x="0" y="-38100"/>
              <a:ext cx="3901440" cy="76962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09 · DESIGN RATIONALE</a:t>
              </a:r>
            </a:p>
          </p:txBody>
        </p:sp>
      </p:grpSp>
      <p:grpSp>
        <p:nvGrpSpPr>
          <p:cNvPr name="Group 8" id="8"/>
          <p:cNvGrpSpPr/>
          <p:nvPr/>
        </p:nvGrpSpPr>
        <p:grpSpPr>
          <a:xfrm rot="0">
            <a:off x="914400" y="1005840"/>
            <a:ext cx="16459200" cy="1188720"/>
            <a:chOff x="0" y="0"/>
            <a:chExt cx="21945600" cy="1584960"/>
          </a:xfrm>
        </p:grpSpPr>
        <p:sp>
          <p:nvSpPr>
            <p:cNvPr name="Freeform 9" id="9"/>
            <p:cNvSpPr/>
            <p:nvPr/>
          </p:nvSpPr>
          <p:spPr>
            <a:xfrm flipH="false" flipV="false" rot="0">
              <a:off x="0" y="0"/>
              <a:ext cx="21945600" cy="1584960"/>
            </a:xfrm>
            <a:custGeom>
              <a:avLst/>
              <a:gdLst/>
              <a:ahLst/>
              <a:cxnLst/>
              <a:rect r="r" b="b" t="t" l="l"/>
              <a:pathLst>
                <a:path h="1584960" w="21945600">
                  <a:moveTo>
                    <a:pt x="0" y="0"/>
                  </a:moveTo>
                  <a:lnTo>
                    <a:pt x="21945600" y="0"/>
                  </a:lnTo>
                  <a:lnTo>
                    <a:pt x="21945600" y="1584960"/>
                  </a:lnTo>
                  <a:lnTo>
                    <a:pt x="0" y="1584960"/>
                  </a:lnTo>
                  <a:close/>
                </a:path>
              </a:pathLst>
            </a:custGeom>
            <a:blipFill>
              <a:blip r:embed="rId3">
                <a:alphaModFix amt="0"/>
              </a:blip>
              <a:stretch>
                <a:fillRect l="0" t="-219792" r="0" b="-219792"/>
              </a:stretch>
            </a:blipFill>
          </p:spPr>
        </p:sp>
        <p:sp>
          <p:nvSpPr>
            <p:cNvPr name="TextBox 10" id="10"/>
            <p:cNvSpPr txBox="true"/>
            <p:nvPr/>
          </p:nvSpPr>
          <p:spPr>
            <a:xfrm>
              <a:off x="0" y="-104775"/>
              <a:ext cx="21945600" cy="1689735"/>
            </a:xfrm>
            <a:prstGeom prst="rect">
              <a:avLst/>
            </a:prstGeom>
          </p:spPr>
          <p:txBody>
            <a:bodyPr anchor="ctr" rtlCol="false" tIns="0" lIns="0" bIns="0" rIns="0"/>
            <a:lstStyle/>
            <a:p>
              <a:pPr algn="l">
                <a:lnSpc>
                  <a:spcPts val="6240"/>
                </a:lnSpc>
              </a:pPr>
              <a:r>
                <a:rPr lang="en-US" sz="5200" b="true">
                  <a:solidFill>
                    <a:srgbClr val="1E293B"/>
                  </a:solidFill>
                  <a:latin typeface="Calibri (MS) Bold"/>
                  <a:ea typeface="Calibri (MS) Bold"/>
                  <a:cs typeface="Calibri (MS) Bold"/>
                  <a:sym typeface="Calibri (MS) Bold"/>
                </a:rPr>
                <a:t>Key Design Choices vs Alternatives</a:t>
              </a:r>
            </a:p>
          </p:txBody>
        </p:sp>
      </p:grpSp>
      <p:grpSp>
        <p:nvGrpSpPr>
          <p:cNvPr name="Group 11" id="11"/>
          <p:cNvGrpSpPr/>
          <p:nvPr/>
        </p:nvGrpSpPr>
        <p:grpSpPr>
          <a:xfrm rot="0">
            <a:off x="725167" y="2279647"/>
            <a:ext cx="16837657" cy="12697"/>
            <a:chOff x="0" y="0"/>
            <a:chExt cx="22450209" cy="16929"/>
          </a:xfrm>
        </p:grpSpPr>
        <p:sp>
          <p:nvSpPr>
            <p:cNvPr name="Freeform 12" id="12"/>
            <p:cNvSpPr/>
            <p:nvPr/>
          </p:nvSpPr>
          <p:spPr>
            <a:xfrm flipH="false" flipV="false" rot="0">
              <a:off x="8509" y="0"/>
              <a:ext cx="22433281" cy="16891"/>
            </a:xfrm>
            <a:custGeom>
              <a:avLst/>
              <a:gdLst/>
              <a:ahLst/>
              <a:cxnLst/>
              <a:rect r="r" b="b" t="t" l="l"/>
              <a:pathLst>
                <a:path h="16891" w="22433281">
                  <a:moveTo>
                    <a:pt x="0" y="0"/>
                  </a:moveTo>
                  <a:lnTo>
                    <a:pt x="22433281" y="0"/>
                  </a:lnTo>
                  <a:lnTo>
                    <a:pt x="22433281" y="16891"/>
                  </a:lnTo>
                  <a:lnTo>
                    <a:pt x="0" y="16891"/>
                  </a:lnTo>
                  <a:close/>
                </a:path>
              </a:pathLst>
            </a:custGeom>
            <a:solidFill>
              <a:srgbClr val="E2E8F0"/>
            </a:solidFill>
          </p:spPr>
        </p:sp>
      </p:grpSp>
      <p:grpSp>
        <p:nvGrpSpPr>
          <p:cNvPr name="Group 13" id="13"/>
          <p:cNvGrpSpPr/>
          <p:nvPr/>
        </p:nvGrpSpPr>
        <p:grpSpPr>
          <a:xfrm rot="0">
            <a:off x="725167" y="2553967"/>
            <a:ext cx="16837657" cy="1347721"/>
            <a:chOff x="0" y="0"/>
            <a:chExt cx="22450209" cy="1796961"/>
          </a:xfrm>
        </p:grpSpPr>
        <p:sp>
          <p:nvSpPr>
            <p:cNvPr name="Freeform 14" id="14"/>
            <p:cNvSpPr/>
            <p:nvPr/>
          </p:nvSpPr>
          <p:spPr>
            <a:xfrm flipH="false" flipV="false" rot="0">
              <a:off x="8509" y="8509"/>
              <a:ext cx="22433281" cy="1780032"/>
            </a:xfrm>
            <a:custGeom>
              <a:avLst/>
              <a:gdLst/>
              <a:ahLst/>
              <a:cxnLst/>
              <a:rect r="r" b="b" t="t" l="l"/>
              <a:pathLst>
                <a:path h="1780032" w="22433281">
                  <a:moveTo>
                    <a:pt x="0" y="0"/>
                  </a:moveTo>
                  <a:lnTo>
                    <a:pt x="22433281" y="0"/>
                  </a:lnTo>
                  <a:lnTo>
                    <a:pt x="22433281" y="1780032"/>
                  </a:lnTo>
                  <a:lnTo>
                    <a:pt x="0" y="1780032"/>
                  </a:lnTo>
                  <a:close/>
                </a:path>
              </a:pathLst>
            </a:custGeom>
            <a:solidFill>
              <a:srgbClr val="FFFFFF"/>
            </a:solidFill>
          </p:spPr>
        </p:sp>
        <p:sp>
          <p:nvSpPr>
            <p:cNvPr name="Freeform 15" id="15"/>
            <p:cNvSpPr/>
            <p:nvPr/>
          </p:nvSpPr>
          <p:spPr>
            <a:xfrm flipH="false" flipV="false" rot="0">
              <a:off x="0" y="0"/>
              <a:ext cx="22450298" cy="1797050"/>
            </a:xfrm>
            <a:custGeom>
              <a:avLst/>
              <a:gdLst/>
              <a:ahLst/>
              <a:cxnLst/>
              <a:rect r="r" b="b" t="t" l="l"/>
              <a:pathLst>
                <a:path h="1797050" w="22450298">
                  <a:moveTo>
                    <a:pt x="8509" y="0"/>
                  </a:moveTo>
                  <a:lnTo>
                    <a:pt x="22441790" y="0"/>
                  </a:lnTo>
                  <a:cubicBezTo>
                    <a:pt x="22446489" y="0"/>
                    <a:pt x="22450298" y="3810"/>
                    <a:pt x="22450298" y="8509"/>
                  </a:cubicBezTo>
                  <a:lnTo>
                    <a:pt x="22450298" y="1788541"/>
                  </a:lnTo>
                  <a:cubicBezTo>
                    <a:pt x="22450298" y="1793240"/>
                    <a:pt x="22446489" y="1797050"/>
                    <a:pt x="22441790" y="1797050"/>
                  </a:cubicBezTo>
                  <a:lnTo>
                    <a:pt x="8509" y="1797050"/>
                  </a:lnTo>
                  <a:cubicBezTo>
                    <a:pt x="3810" y="1797050"/>
                    <a:pt x="0" y="1793240"/>
                    <a:pt x="0" y="1788541"/>
                  </a:cubicBezTo>
                  <a:lnTo>
                    <a:pt x="0" y="8509"/>
                  </a:lnTo>
                  <a:cubicBezTo>
                    <a:pt x="0" y="3810"/>
                    <a:pt x="3810" y="0"/>
                    <a:pt x="8509" y="0"/>
                  </a:cubicBezTo>
                  <a:moveTo>
                    <a:pt x="8509" y="16891"/>
                  </a:moveTo>
                  <a:lnTo>
                    <a:pt x="8509" y="8509"/>
                  </a:lnTo>
                  <a:lnTo>
                    <a:pt x="17018" y="8509"/>
                  </a:lnTo>
                  <a:lnTo>
                    <a:pt x="17018" y="1788541"/>
                  </a:lnTo>
                  <a:lnTo>
                    <a:pt x="8509" y="1788541"/>
                  </a:lnTo>
                  <a:lnTo>
                    <a:pt x="8509" y="1780032"/>
                  </a:lnTo>
                  <a:lnTo>
                    <a:pt x="22441790" y="1780032"/>
                  </a:lnTo>
                  <a:lnTo>
                    <a:pt x="22441790" y="1788541"/>
                  </a:lnTo>
                  <a:lnTo>
                    <a:pt x="22433280" y="1788541"/>
                  </a:lnTo>
                  <a:lnTo>
                    <a:pt x="22433280" y="8509"/>
                  </a:lnTo>
                  <a:lnTo>
                    <a:pt x="22441790" y="8509"/>
                  </a:lnTo>
                  <a:lnTo>
                    <a:pt x="22441790" y="17018"/>
                  </a:lnTo>
                  <a:lnTo>
                    <a:pt x="8509" y="17018"/>
                  </a:lnTo>
                  <a:close/>
                </a:path>
              </a:pathLst>
            </a:custGeom>
            <a:solidFill>
              <a:srgbClr val="E2E8F0"/>
            </a:solidFill>
          </p:spPr>
        </p:sp>
      </p:grpSp>
      <p:grpSp>
        <p:nvGrpSpPr>
          <p:cNvPr name="Group 16" id="16"/>
          <p:cNvGrpSpPr/>
          <p:nvPr/>
        </p:nvGrpSpPr>
        <p:grpSpPr>
          <a:xfrm rot="0">
            <a:off x="718823" y="2547623"/>
            <a:ext cx="135131" cy="1360427"/>
            <a:chOff x="0" y="0"/>
            <a:chExt cx="180175" cy="1813903"/>
          </a:xfrm>
        </p:grpSpPr>
        <p:sp>
          <p:nvSpPr>
            <p:cNvPr name="Freeform 17" id="17"/>
            <p:cNvSpPr/>
            <p:nvPr/>
          </p:nvSpPr>
          <p:spPr>
            <a:xfrm flipH="false" flipV="false" rot="0">
              <a:off x="16891" y="16891"/>
              <a:ext cx="146304" cy="1780032"/>
            </a:xfrm>
            <a:custGeom>
              <a:avLst/>
              <a:gdLst/>
              <a:ahLst/>
              <a:cxnLst/>
              <a:rect r="r" b="b" t="t" l="l"/>
              <a:pathLst>
                <a:path h="1780032" w="146304">
                  <a:moveTo>
                    <a:pt x="0" y="0"/>
                  </a:moveTo>
                  <a:lnTo>
                    <a:pt x="146304" y="0"/>
                  </a:lnTo>
                  <a:lnTo>
                    <a:pt x="146304" y="1780032"/>
                  </a:lnTo>
                  <a:lnTo>
                    <a:pt x="0" y="1780032"/>
                  </a:lnTo>
                  <a:close/>
                </a:path>
              </a:pathLst>
            </a:custGeom>
            <a:solidFill>
              <a:srgbClr val="0D9488"/>
            </a:solidFill>
          </p:spPr>
        </p:sp>
        <p:sp>
          <p:nvSpPr>
            <p:cNvPr name="Freeform 18" id="18"/>
            <p:cNvSpPr/>
            <p:nvPr/>
          </p:nvSpPr>
          <p:spPr>
            <a:xfrm flipH="false" flipV="false" rot="0">
              <a:off x="0" y="0"/>
              <a:ext cx="180086" cy="1813814"/>
            </a:xfrm>
            <a:custGeom>
              <a:avLst/>
              <a:gdLst/>
              <a:ahLst/>
              <a:cxnLst/>
              <a:rect r="r" b="b" t="t" l="l"/>
              <a:pathLst>
                <a:path h="1813814" w="180086">
                  <a:moveTo>
                    <a:pt x="16891" y="0"/>
                  </a:moveTo>
                  <a:lnTo>
                    <a:pt x="163195" y="0"/>
                  </a:lnTo>
                  <a:cubicBezTo>
                    <a:pt x="172593" y="0"/>
                    <a:pt x="180086" y="7620"/>
                    <a:pt x="180086" y="16891"/>
                  </a:cubicBezTo>
                  <a:lnTo>
                    <a:pt x="180086" y="1796923"/>
                  </a:lnTo>
                  <a:cubicBezTo>
                    <a:pt x="180086" y="1806321"/>
                    <a:pt x="172466" y="1813814"/>
                    <a:pt x="163195" y="1813814"/>
                  </a:cubicBezTo>
                  <a:lnTo>
                    <a:pt x="16891" y="1813814"/>
                  </a:lnTo>
                  <a:cubicBezTo>
                    <a:pt x="7493" y="1813814"/>
                    <a:pt x="0" y="1806194"/>
                    <a:pt x="0" y="1796923"/>
                  </a:cubicBezTo>
                  <a:lnTo>
                    <a:pt x="0" y="16891"/>
                  </a:lnTo>
                  <a:cubicBezTo>
                    <a:pt x="0" y="7620"/>
                    <a:pt x="7620" y="0"/>
                    <a:pt x="16891" y="0"/>
                  </a:cubicBezTo>
                  <a:moveTo>
                    <a:pt x="16891" y="33909"/>
                  </a:moveTo>
                  <a:lnTo>
                    <a:pt x="16891" y="16891"/>
                  </a:lnTo>
                  <a:lnTo>
                    <a:pt x="33909" y="16891"/>
                  </a:lnTo>
                  <a:lnTo>
                    <a:pt x="33909" y="1796923"/>
                  </a:lnTo>
                  <a:lnTo>
                    <a:pt x="16891" y="1796923"/>
                  </a:lnTo>
                  <a:lnTo>
                    <a:pt x="16891" y="1780032"/>
                  </a:lnTo>
                  <a:lnTo>
                    <a:pt x="163195" y="1780032"/>
                  </a:lnTo>
                  <a:lnTo>
                    <a:pt x="163195" y="1796923"/>
                  </a:lnTo>
                  <a:lnTo>
                    <a:pt x="146304" y="1796923"/>
                  </a:lnTo>
                  <a:lnTo>
                    <a:pt x="146304" y="16891"/>
                  </a:lnTo>
                  <a:lnTo>
                    <a:pt x="163195" y="16891"/>
                  </a:lnTo>
                  <a:lnTo>
                    <a:pt x="163195" y="33909"/>
                  </a:lnTo>
                  <a:lnTo>
                    <a:pt x="16891" y="33909"/>
                  </a:lnTo>
                  <a:close/>
                </a:path>
              </a:pathLst>
            </a:custGeom>
            <a:solidFill>
              <a:srgbClr val="0D9488"/>
            </a:solidFill>
          </p:spPr>
        </p:sp>
      </p:grpSp>
      <p:grpSp>
        <p:nvGrpSpPr>
          <p:cNvPr name="Group 19" id="19"/>
          <p:cNvGrpSpPr/>
          <p:nvPr/>
        </p:nvGrpSpPr>
        <p:grpSpPr>
          <a:xfrm rot="0">
            <a:off x="1005840" y="2633472"/>
            <a:ext cx="16459200" cy="475488"/>
            <a:chOff x="0" y="0"/>
            <a:chExt cx="21945600" cy="633984"/>
          </a:xfrm>
        </p:grpSpPr>
        <p:sp>
          <p:nvSpPr>
            <p:cNvPr name="Freeform 20" id="20"/>
            <p:cNvSpPr/>
            <p:nvPr/>
          </p:nvSpPr>
          <p:spPr>
            <a:xfrm flipH="false" flipV="false" rot="0">
              <a:off x="0" y="0"/>
              <a:ext cx="21945600" cy="633984"/>
            </a:xfrm>
            <a:custGeom>
              <a:avLst/>
              <a:gdLst/>
              <a:ahLst/>
              <a:cxnLst/>
              <a:rect r="r" b="b" t="t" l="l"/>
              <a:pathLst>
                <a:path h="633984" w="21945600">
                  <a:moveTo>
                    <a:pt x="0" y="0"/>
                  </a:moveTo>
                  <a:lnTo>
                    <a:pt x="21945600" y="0"/>
                  </a:lnTo>
                  <a:lnTo>
                    <a:pt x="21945600" y="633984"/>
                  </a:lnTo>
                  <a:lnTo>
                    <a:pt x="0" y="633984"/>
                  </a:lnTo>
                  <a:close/>
                </a:path>
              </a:pathLst>
            </a:custGeom>
            <a:blipFill>
              <a:blip r:embed="rId3">
                <a:alphaModFix amt="0"/>
              </a:blip>
              <a:stretch>
                <a:fillRect l="0" t="-624482" r="0" b="-624482"/>
              </a:stretch>
            </a:blipFill>
          </p:spPr>
        </p:sp>
        <p:sp>
          <p:nvSpPr>
            <p:cNvPr name="TextBox 21" id="21"/>
            <p:cNvSpPr txBox="true"/>
            <p:nvPr/>
          </p:nvSpPr>
          <p:spPr>
            <a:xfrm>
              <a:off x="0" y="-47625"/>
              <a:ext cx="21945600" cy="681609"/>
            </a:xfrm>
            <a:prstGeom prst="rect">
              <a:avLst/>
            </a:prstGeom>
          </p:spPr>
          <p:txBody>
            <a:bodyPr anchor="ctr" rtlCol="false" tIns="0" lIns="0" bIns="0" rIns="0"/>
            <a:lstStyle/>
            <a:p>
              <a:pPr algn="l">
                <a:lnSpc>
                  <a:spcPts val="2640"/>
                </a:lnSpc>
              </a:pPr>
              <a:r>
                <a:rPr lang="en-US" sz="2200" b="true">
                  <a:solidFill>
                    <a:srgbClr val="1E293B"/>
                  </a:solidFill>
                  <a:latin typeface="Calibri (MS) Bold"/>
                  <a:ea typeface="Calibri (MS) Bold"/>
                  <a:cs typeface="Calibri (MS) Bold"/>
                  <a:sym typeface="Calibri (MS) Bold"/>
                </a:rPr>
                <a:t>Why Swin Transformer instead of ViT?</a:t>
              </a:r>
            </a:p>
          </p:txBody>
        </p:sp>
      </p:grpSp>
      <p:grpSp>
        <p:nvGrpSpPr>
          <p:cNvPr name="Group 22" id="22"/>
          <p:cNvGrpSpPr/>
          <p:nvPr/>
        </p:nvGrpSpPr>
        <p:grpSpPr>
          <a:xfrm rot="0">
            <a:off x="1002030" y="3178302"/>
            <a:ext cx="16466820" cy="7620"/>
            <a:chOff x="0" y="0"/>
            <a:chExt cx="21955760" cy="10160"/>
          </a:xfrm>
        </p:grpSpPr>
        <p:sp>
          <p:nvSpPr>
            <p:cNvPr name="Freeform 23" id="23"/>
            <p:cNvSpPr/>
            <p:nvPr/>
          </p:nvSpPr>
          <p:spPr>
            <a:xfrm flipH="false" flipV="false" rot="0">
              <a:off x="5080" y="0"/>
              <a:ext cx="21945600" cy="10160"/>
            </a:xfrm>
            <a:custGeom>
              <a:avLst/>
              <a:gdLst/>
              <a:ahLst/>
              <a:cxnLst/>
              <a:rect r="r" b="b" t="t" l="l"/>
              <a:pathLst>
                <a:path h="10160" w="21945600">
                  <a:moveTo>
                    <a:pt x="0" y="0"/>
                  </a:moveTo>
                  <a:lnTo>
                    <a:pt x="21945600" y="0"/>
                  </a:lnTo>
                  <a:lnTo>
                    <a:pt x="21945600" y="10160"/>
                  </a:lnTo>
                  <a:lnTo>
                    <a:pt x="0" y="10160"/>
                  </a:lnTo>
                  <a:close/>
                </a:path>
              </a:pathLst>
            </a:custGeom>
            <a:solidFill>
              <a:srgbClr val="E2E8F0"/>
            </a:solidFill>
          </p:spPr>
        </p:sp>
      </p:grpSp>
      <p:grpSp>
        <p:nvGrpSpPr>
          <p:cNvPr name="Group 24" id="24"/>
          <p:cNvGrpSpPr/>
          <p:nvPr/>
        </p:nvGrpSpPr>
        <p:grpSpPr>
          <a:xfrm rot="0">
            <a:off x="1005840" y="3255264"/>
            <a:ext cx="7955280" cy="512064"/>
            <a:chOff x="0" y="0"/>
            <a:chExt cx="10607040" cy="682752"/>
          </a:xfrm>
        </p:grpSpPr>
        <p:sp>
          <p:nvSpPr>
            <p:cNvPr name="Freeform 25" id="25"/>
            <p:cNvSpPr/>
            <p:nvPr/>
          </p:nvSpPr>
          <p:spPr>
            <a:xfrm flipH="false" flipV="false" rot="0">
              <a:off x="0" y="0"/>
              <a:ext cx="10607040" cy="682752"/>
            </a:xfrm>
            <a:custGeom>
              <a:avLst/>
              <a:gdLst/>
              <a:ahLst/>
              <a:cxnLst/>
              <a:rect r="r" b="b" t="t" l="l"/>
              <a:pathLst>
                <a:path h="682752" w="10607040">
                  <a:moveTo>
                    <a:pt x="0" y="0"/>
                  </a:moveTo>
                  <a:lnTo>
                    <a:pt x="10607040" y="0"/>
                  </a:lnTo>
                  <a:lnTo>
                    <a:pt x="10607040" y="682752"/>
                  </a:lnTo>
                  <a:lnTo>
                    <a:pt x="0" y="682752"/>
                  </a:lnTo>
                  <a:close/>
                </a:path>
              </a:pathLst>
            </a:custGeom>
            <a:blipFill>
              <a:blip r:embed="rId3">
                <a:alphaModFix amt="0"/>
              </a:blip>
              <a:stretch>
                <a:fillRect l="0" t="-252713" r="0" b="-252713"/>
              </a:stretch>
            </a:blipFill>
          </p:spPr>
        </p:sp>
        <p:sp>
          <p:nvSpPr>
            <p:cNvPr name="TextBox 26" id="26"/>
            <p:cNvSpPr txBox="true"/>
            <p:nvPr/>
          </p:nvSpPr>
          <p:spPr>
            <a:xfrm>
              <a:off x="0" y="-38100"/>
              <a:ext cx="10607040" cy="720852"/>
            </a:xfrm>
            <a:prstGeom prst="rect">
              <a:avLst/>
            </a:prstGeom>
          </p:spPr>
          <p:txBody>
            <a:bodyPr anchor="ctr" rtlCol="false" tIns="0" lIns="0" bIns="0" rIns="0"/>
            <a:lstStyle/>
            <a:p>
              <a:pPr algn="l">
                <a:lnSpc>
                  <a:spcPts val="2280"/>
                </a:lnSpc>
              </a:pPr>
              <a:r>
                <a:rPr lang="en-US" sz="1900" b="true">
                  <a:solidFill>
                    <a:srgbClr val="0D9488"/>
                  </a:solidFill>
                  <a:latin typeface="Calibri (MS) Bold"/>
                  <a:ea typeface="Calibri (MS) Bold"/>
                  <a:cs typeface="Calibri (MS) Bold"/>
                  <a:sym typeface="Calibri (MS) Bold"/>
                </a:rPr>
                <a:t>✓ TSFE:  </a:t>
              </a:r>
              <a:r>
                <a:rPr lang="en-US" sz="1900">
                  <a:solidFill>
                    <a:srgbClr val="1E293B"/>
                  </a:solidFill>
                  <a:latin typeface="Calibri (MS)"/>
                  <a:ea typeface="Calibri (MS)"/>
                  <a:cs typeface="Calibri (MS)"/>
                  <a:sym typeface="Calibri (MS)"/>
                </a:rPr>
                <a:t>Swin uses windowed shifted attention → preserves 2-D spatial structure and scales efficiently to high-resolution images.</a:t>
              </a:r>
            </a:p>
          </p:txBody>
        </p:sp>
      </p:grpSp>
      <p:grpSp>
        <p:nvGrpSpPr>
          <p:cNvPr name="Group 27" id="27"/>
          <p:cNvGrpSpPr/>
          <p:nvPr/>
        </p:nvGrpSpPr>
        <p:grpSpPr>
          <a:xfrm rot="0">
            <a:off x="9140190" y="2739390"/>
            <a:ext cx="7620" cy="1031748"/>
            <a:chOff x="0" y="0"/>
            <a:chExt cx="10160" cy="1375664"/>
          </a:xfrm>
        </p:grpSpPr>
        <p:sp>
          <p:nvSpPr>
            <p:cNvPr name="Freeform 28" id="28"/>
            <p:cNvSpPr/>
            <p:nvPr/>
          </p:nvSpPr>
          <p:spPr>
            <a:xfrm flipH="false" flipV="false" rot="0">
              <a:off x="0" y="5080"/>
              <a:ext cx="10160" cy="1365504"/>
            </a:xfrm>
            <a:custGeom>
              <a:avLst/>
              <a:gdLst/>
              <a:ahLst/>
              <a:cxnLst/>
              <a:rect r="r" b="b" t="t" l="l"/>
              <a:pathLst>
                <a:path h="1365504" w="10160">
                  <a:moveTo>
                    <a:pt x="10160" y="0"/>
                  </a:moveTo>
                  <a:lnTo>
                    <a:pt x="10160" y="1365504"/>
                  </a:lnTo>
                  <a:lnTo>
                    <a:pt x="0" y="1365504"/>
                  </a:lnTo>
                  <a:lnTo>
                    <a:pt x="0" y="0"/>
                  </a:lnTo>
                  <a:close/>
                </a:path>
              </a:pathLst>
            </a:custGeom>
            <a:solidFill>
              <a:srgbClr val="E2E8F0"/>
            </a:solidFill>
          </p:spPr>
        </p:sp>
      </p:grpSp>
      <p:grpSp>
        <p:nvGrpSpPr>
          <p:cNvPr name="Group 29" id="29"/>
          <p:cNvGrpSpPr/>
          <p:nvPr/>
        </p:nvGrpSpPr>
        <p:grpSpPr>
          <a:xfrm rot="0">
            <a:off x="9290304" y="3255264"/>
            <a:ext cx="8046720" cy="512064"/>
            <a:chOff x="0" y="0"/>
            <a:chExt cx="10728960" cy="682752"/>
          </a:xfrm>
        </p:grpSpPr>
        <p:sp>
          <p:nvSpPr>
            <p:cNvPr name="Freeform 30" id="30"/>
            <p:cNvSpPr/>
            <p:nvPr/>
          </p:nvSpPr>
          <p:spPr>
            <a:xfrm flipH="false" flipV="false" rot="0">
              <a:off x="0" y="0"/>
              <a:ext cx="10728960" cy="682752"/>
            </a:xfrm>
            <a:custGeom>
              <a:avLst/>
              <a:gdLst/>
              <a:ahLst/>
              <a:cxnLst/>
              <a:rect r="r" b="b" t="t" l="l"/>
              <a:pathLst>
                <a:path h="682752" w="10728960">
                  <a:moveTo>
                    <a:pt x="0" y="0"/>
                  </a:moveTo>
                  <a:lnTo>
                    <a:pt x="10728960" y="0"/>
                  </a:lnTo>
                  <a:lnTo>
                    <a:pt x="10728960" y="682752"/>
                  </a:lnTo>
                  <a:lnTo>
                    <a:pt x="0" y="682752"/>
                  </a:lnTo>
                  <a:close/>
                </a:path>
              </a:pathLst>
            </a:custGeom>
            <a:blipFill>
              <a:blip r:embed="rId3">
                <a:alphaModFix amt="0"/>
              </a:blip>
              <a:stretch>
                <a:fillRect l="0" t="-256193" r="0" b="-256193"/>
              </a:stretch>
            </a:blipFill>
          </p:spPr>
        </p:sp>
        <p:sp>
          <p:nvSpPr>
            <p:cNvPr name="TextBox 31" id="31"/>
            <p:cNvSpPr txBox="true"/>
            <p:nvPr/>
          </p:nvSpPr>
          <p:spPr>
            <a:xfrm>
              <a:off x="0" y="-38100"/>
              <a:ext cx="10728960" cy="720852"/>
            </a:xfrm>
            <a:prstGeom prst="rect">
              <a:avLst/>
            </a:prstGeom>
          </p:spPr>
          <p:txBody>
            <a:bodyPr anchor="ctr" rtlCol="false" tIns="0" lIns="0" bIns="0" rIns="0"/>
            <a:lstStyle/>
            <a:p>
              <a:pPr algn="l">
                <a:lnSpc>
                  <a:spcPts val="2280"/>
                </a:lnSpc>
              </a:pPr>
              <a:r>
                <a:rPr lang="en-US" sz="1900" b="true">
                  <a:solidFill>
                    <a:srgbClr val="E05B4B"/>
                  </a:solidFill>
                  <a:latin typeface="Calibri (MS) Bold"/>
                  <a:ea typeface="Calibri (MS) Bold"/>
                  <a:cs typeface="Calibri (MS) Bold"/>
                  <a:sym typeface="Calibri (MS) Bold"/>
                </a:rPr>
                <a:t>✗ Alternative:  </a:t>
              </a:r>
              <a:r>
                <a:rPr lang="en-US" sz="1900">
                  <a:solidFill>
                    <a:srgbClr val="94A3B8"/>
                  </a:solidFill>
                  <a:latin typeface="Calibri (MS)"/>
                  <a:ea typeface="Calibri (MS)"/>
                  <a:cs typeface="Calibri (MS)"/>
                  <a:sym typeface="Calibri (MS)"/>
                </a:rPr>
                <a:t>ViT flattens H×W into a 1-D sequence, destroying spatial locality. O(N²) attention cost is prohibitive for large RS images.</a:t>
              </a:r>
            </a:p>
          </p:txBody>
        </p:sp>
      </p:grpSp>
      <p:grpSp>
        <p:nvGrpSpPr>
          <p:cNvPr name="Group 32" id="32"/>
          <p:cNvGrpSpPr/>
          <p:nvPr/>
        </p:nvGrpSpPr>
        <p:grpSpPr>
          <a:xfrm rot="0">
            <a:off x="725167" y="4053583"/>
            <a:ext cx="16837657" cy="1347721"/>
            <a:chOff x="0" y="0"/>
            <a:chExt cx="22450209" cy="1796961"/>
          </a:xfrm>
        </p:grpSpPr>
        <p:sp>
          <p:nvSpPr>
            <p:cNvPr name="Freeform 33" id="33"/>
            <p:cNvSpPr/>
            <p:nvPr/>
          </p:nvSpPr>
          <p:spPr>
            <a:xfrm flipH="false" flipV="false" rot="0">
              <a:off x="8509" y="8509"/>
              <a:ext cx="22433281" cy="1780032"/>
            </a:xfrm>
            <a:custGeom>
              <a:avLst/>
              <a:gdLst/>
              <a:ahLst/>
              <a:cxnLst/>
              <a:rect r="r" b="b" t="t" l="l"/>
              <a:pathLst>
                <a:path h="1780032" w="22433281">
                  <a:moveTo>
                    <a:pt x="0" y="0"/>
                  </a:moveTo>
                  <a:lnTo>
                    <a:pt x="22433281" y="0"/>
                  </a:lnTo>
                  <a:lnTo>
                    <a:pt x="22433281" y="1780032"/>
                  </a:lnTo>
                  <a:lnTo>
                    <a:pt x="0" y="1780032"/>
                  </a:lnTo>
                  <a:close/>
                </a:path>
              </a:pathLst>
            </a:custGeom>
            <a:solidFill>
              <a:srgbClr val="FFFFFF"/>
            </a:solidFill>
          </p:spPr>
        </p:sp>
        <p:sp>
          <p:nvSpPr>
            <p:cNvPr name="Freeform 34" id="34"/>
            <p:cNvSpPr/>
            <p:nvPr/>
          </p:nvSpPr>
          <p:spPr>
            <a:xfrm flipH="false" flipV="false" rot="0">
              <a:off x="0" y="0"/>
              <a:ext cx="22450298" cy="1797050"/>
            </a:xfrm>
            <a:custGeom>
              <a:avLst/>
              <a:gdLst/>
              <a:ahLst/>
              <a:cxnLst/>
              <a:rect r="r" b="b" t="t" l="l"/>
              <a:pathLst>
                <a:path h="1797050" w="22450298">
                  <a:moveTo>
                    <a:pt x="8509" y="0"/>
                  </a:moveTo>
                  <a:lnTo>
                    <a:pt x="22441790" y="0"/>
                  </a:lnTo>
                  <a:cubicBezTo>
                    <a:pt x="22446489" y="0"/>
                    <a:pt x="22450298" y="3810"/>
                    <a:pt x="22450298" y="8509"/>
                  </a:cubicBezTo>
                  <a:lnTo>
                    <a:pt x="22450298" y="1788541"/>
                  </a:lnTo>
                  <a:cubicBezTo>
                    <a:pt x="22450298" y="1793240"/>
                    <a:pt x="22446489" y="1797050"/>
                    <a:pt x="22441790" y="1797050"/>
                  </a:cubicBezTo>
                  <a:lnTo>
                    <a:pt x="8509" y="1797050"/>
                  </a:lnTo>
                  <a:cubicBezTo>
                    <a:pt x="3810" y="1797050"/>
                    <a:pt x="0" y="1793240"/>
                    <a:pt x="0" y="1788541"/>
                  </a:cubicBezTo>
                  <a:lnTo>
                    <a:pt x="0" y="8509"/>
                  </a:lnTo>
                  <a:cubicBezTo>
                    <a:pt x="0" y="3810"/>
                    <a:pt x="3810" y="0"/>
                    <a:pt x="8509" y="0"/>
                  </a:cubicBezTo>
                  <a:moveTo>
                    <a:pt x="8509" y="16891"/>
                  </a:moveTo>
                  <a:lnTo>
                    <a:pt x="8509" y="8509"/>
                  </a:lnTo>
                  <a:lnTo>
                    <a:pt x="17018" y="8509"/>
                  </a:lnTo>
                  <a:lnTo>
                    <a:pt x="17018" y="1788541"/>
                  </a:lnTo>
                  <a:lnTo>
                    <a:pt x="8509" y="1788541"/>
                  </a:lnTo>
                  <a:lnTo>
                    <a:pt x="8509" y="1780032"/>
                  </a:lnTo>
                  <a:lnTo>
                    <a:pt x="22441790" y="1780032"/>
                  </a:lnTo>
                  <a:lnTo>
                    <a:pt x="22441790" y="1788541"/>
                  </a:lnTo>
                  <a:lnTo>
                    <a:pt x="22433280" y="1788541"/>
                  </a:lnTo>
                  <a:lnTo>
                    <a:pt x="22433280" y="8509"/>
                  </a:lnTo>
                  <a:lnTo>
                    <a:pt x="22441790" y="8509"/>
                  </a:lnTo>
                  <a:lnTo>
                    <a:pt x="22441790" y="17018"/>
                  </a:lnTo>
                  <a:lnTo>
                    <a:pt x="8509" y="17018"/>
                  </a:lnTo>
                  <a:close/>
                </a:path>
              </a:pathLst>
            </a:custGeom>
            <a:solidFill>
              <a:srgbClr val="E2E8F0"/>
            </a:solidFill>
          </p:spPr>
        </p:sp>
      </p:grpSp>
      <p:grpSp>
        <p:nvGrpSpPr>
          <p:cNvPr name="Group 35" id="35"/>
          <p:cNvGrpSpPr/>
          <p:nvPr/>
        </p:nvGrpSpPr>
        <p:grpSpPr>
          <a:xfrm rot="0">
            <a:off x="718823" y="4047239"/>
            <a:ext cx="135131" cy="1360427"/>
            <a:chOff x="0" y="0"/>
            <a:chExt cx="180175" cy="1813903"/>
          </a:xfrm>
        </p:grpSpPr>
        <p:sp>
          <p:nvSpPr>
            <p:cNvPr name="Freeform 36" id="36"/>
            <p:cNvSpPr/>
            <p:nvPr/>
          </p:nvSpPr>
          <p:spPr>
            <a:xfrm flipH="false" flipV="false" rot="0">
              <a:off x="16891" y="16891"/>
              <a:ext cx="146304" cy="1780032"/>
            </a:xfrm>
            <a:custGeom>
              <a:avLst/>
              <a:gdLst/>
              <a:ahLst/>
              <a:cxnLst/>
              <a:rect r="r" b="b" t="t" l="l"/>
              <a:pathLst>
                <a:path h="1780032" w="146304">
                  <a:moveTo>
                    <a:pt x="0" y="0"/>
                  </a:moveTo>
                  <a:lnTo>
                    <a:pt x="146304" y="0"/>
                  </a:lnTo>
                  <a:lnTo>
                    <a:pt x="146304" y="1780032"/>
                  </a:lnTo>
                  <a:lnTo>
                    <a:pt x="0" y="1780032"/>
                  </a:lnTo>
                  <a:close/>
                </a:path>
              </a:pathLst>
            </a:custGeom>
            <a:solidFill>
              <a:srgbClr val="6D28D9"/>
            </a:solidFill>
          </p:spPr>
        </p:sp>
        <p:sp>
          <p:nvSpPr>
            <p:cNvPr name="Freeform 37" id="37"/>
            <p:cNvSpPr/>
            <p:nvPr/>
          </p:nvSpPr>
          <p:spPr>
            <a:xfrm flipH="false" flipV="false" rot="0">
              <a:off x="0" y="0"/>
              <a:ext cx="180086" cy="1813814"/>
            </a:xfrm>
            <a:custGeom>
              <a:avLst/>
              <a:gdLst/>
              <a:ahLst/>
              <a:cxnLst/>
              <a:rect r="r" b="b" t="t" l="l"/>
              <a:pathLst>
                <a:path h="1813814" w="180086">
                  <a:moveTo>
                    <a:pt x="16891" y="0"/>
                  </a:moveTo>
                  <a:lnTo>
                    <a:pt x="163195" y="0"/>
                  </a:lnTo>
                  <a:cubicBezTo>
                    <a:pt x="172593" y="0"/>
                    <a:pt x="180086" y="7620"/>
                    <a:pt x="180086" y="16891"/>
                  </a:cubicBezTo>
                  <a:lnTo>
                    <a:pt x="180086" y="1796923"/>
                  </a:lnTo>
                  <a:cubicBezTo>
                    <a:pt x="180086" y="1806321"/>
                    <a:pt x="172466" y="1813814"/>
                    <a:pt x="163195" y="1813814"/>
                  </a:cubicBezTo>
                  <a:lnTo>
                    <a:pt x="16891" y="1813814"/>
                  </a:lnTo>
                  <a:cubicBezTo>
                    <a:pt x="7493" y="1813814"/>
                    <a:pt x="0" y="1806194"/>
                    <a:pt x="0" y="1796923"/>
                  </a:cubicBezTo>
                  <a:lnTo>
                    <a:pt x="0" y="16891"/>
                  </a:lnTo>
                  <a:cubicBezTo>
                    <a:pt x="0" y="7620"/>
                    <a:pt x="7620" y="0"/>
                    <a:pt x="16891" y="0"/>
                  </a:cubicBezTo>
                  <a:moveTo>
                    <a:pt x="16891" y="33909"/>
                  </a:moveTo>
                  <a:lnTo>
                    <a:pt x="16891" y="16891"/>
                  </a:lnTo>
                  <a:lnTo>
                    <a:pt x="33909" y="16891"/>
                  </a:lnTo>
                  <a:lnTo>
                    <a:pt x="33909" y="1796923"/>
                  </a:lnTo>
                  <a:lnTo>
                    <a:pt x="16891" y="1796923"/>
                  </a:lnTo>
                  <a:lnTo>
                    <a:pt x="16891" y="1780032"/>
                  </a:lnTo>
                  <a:lnTo>
                    <a:pt x="163195" y="1780032"/>
                  </a:lnTo>
                  <a:lnTo>
                    <a:pt x="163195" y="1796923"/>
                  </a:lnTo>
                  <a:lnTo>
                    <a:pt x="146304" y="1796923"/>
                  </a:lnTo>
                  <a:lnTo>
                    <a:pt x="146304" y="16891"/>
                  </a:lnTo>
                  <a:lnTo>
                    <a:pt x="163195" y="16891"/>
                  </a:lnTo>
                  <a:lnTo>
                    <a:pt x="163195" y="33909"/>
                  </a:lnTo>
                  <a:lnTo>
                    <a:pt x="16891" y="33909"/>
                  </a:lnTo>
                  <a:close/>
                </a:path>
              </a:pathLst>
            </a:custGeom>
            <a:solidFill>
              <a:srgbClr val="6D28D9"/>
            </a:solidFill>
          </p:spPr>
        </p:sp>
      </p:grpSp>
      <p:grpSp>
        <p:nvGrpSpPr>
          <p:cNvPr name="Group 38" id="38"/>
          <p:cNvGrpSpPr/>
          <p:nvPr/>
        </p:nvGrpSpPr>
        <p:grpSpPr>
          <a:xfrm rot="0">
            <a:off x="1005840" y="4133088"/>
            <a:ext cx="16459200" cy="475488"/>
            <a:chOff x="0" y="0"/>
            <a:chExt cx="21945600" cy="633984"/>
          </a:xfrm>
        </p:grpSpPr>
        <p:sp>
          <p:nvSpPr>
            <p:cNvPr name="Freeform 39" id="39"/>
            <p:cNvSpPr/>
            <p:nvPr/>
          </p:nvSpPr>
          <p:spPr>
            <a:xfrm flipH="false" flipV="false" rot="0">
              <a:off x="0" y="0"/>
              <a:ext cx="21945600" cy="633984"/>
            </a:xfrm>
            <a:custGeom>
              <a:avLst/>
              <a:gdLst/>
              <a:ahLst/>
              <a:cxnLst/>
              <a:rect r="r" b="b" t="t" l="l"/>
              <a:pathLst>
                <a:path h="633984" w="21945600">
                  <a:moveTo>
                    <a:pt x="0" y="0"/>
                  </a:moveTo>
                  <a:lnTo>
                    <a:pt x="21945600" y="0"/>
                  </a:lnTo>
                  <a:lnTo>
                    <a:pt x="21945600" y="633984"/>
                  </a:lnTo>
                  <a:lnTo>
                    <a:pt x="0" y="633984"/>
                  </a:lnTo>
                  <a:close/>
                </a:path>
              </a:pathLst>
            </a:custGeom>
            <a:blipFill>
              <a:blip r:embed="rId3">
                <a:alphaModFix amt="0"/>
              </a:blip>
              <a:stretch>
                <a:fillRect l="0" t="-624482" r="0" b="-624482"/>
              </a:stretch>
            </a:blipFill>
          </p:spPr>
        </p:sp>
        <p:sp>
          <p:nvSpPr>
            <p:cNvPr name="TextBox 40" id="40"/>
            <p:cNvSpPr txBox="true"/>
            <p:nvPr/>
          </p:nvSpPr>
          <p:spPr>
            <a:xfrm>
              <a:off x="0" y="-47625"/>
              <a:ext cx="21945600" cy="681609"/>
            </a:xfrm>
            <a:prstGeom prst="rect">
              <a:avLst/>
            </a:prstGeom>
          </p:spPr>
          <p:txBody>
            <a:bodyPr anchor="ctr" rtlCol="false" tIns="0" lIns="0" bIns="0" rIns="0"/>
            <a:lstStyle/>
            <a:p>
              <a:pPr algn="l">
                <a:lnSpc>
                  <a:spcPts val="2640"/>
                </a:lnSpc>
              </a:pPr>
              <a:r>
                <a:rPr lang="en-US" sz="2200" b="true">
                  <a:solidFill>
                    <a:srgbClr val="1E293B"/>
                  </a:solidFill>
                  <a:latin typeface="Calibri (MS) Bold"/>
                  <a:ea typeface="Calibri (MS) Bold"/>
                  <a:cs typeface="Calibri (MS) Bold"/>
                  <a:sym typeface="Calibri (MS) Bold"/>
                </a:rPr>
                <a:t>Why squeeze-attention instead of full attention?</a:t>
              </a:r>
            </a:p>
          </p:txBody>
        </p:sp>
      </p:grpSp>
      <p:grpSp>
        <p:nvGrpSpPr>
          <p:cNvPr name="Group 41" id="41"/>
          <p:cNvGrpSpPr/>
          <p:nvPr/>
        </p:nvGrpSpPr>
        <p:grpSpPr>
          <a:xfrm rot="0">
            <a:off x="1002030" y="4677918"/>
            <a:ext cx="16466820" cy="7620"/>
            <a:chOff x="0" y="0"/>
            <a:chExt cx="21955760" cy="10160"/>
          </a:xfrm>
        </p:grpSpPr>
        <p:sp>
          <p:nvSpPr>
            <p:cNvPr name="Freeform 42" id="42"/>
            <p:cNvSpPr/>
            <p:nvPr/>
          </p:nvSpPr>
          <p:spPr>
            <a:xfrm flipH="false" flipV="false" rot="0">
              <a:off x="5080" y="0"/>
              <a:ext cx="21945600" cy="10160"/>
            </a:xfrm>
            <a:custGeom>
              <a:avLst/>
              <a:gdLst/>
              <a:ahLst/>
              <a:cxnLst/>
              <a:rect r="r" b="b" t="t" l="l"/>
              <a:pathLst>
                <a:path h="10160" w="21945600">
                  <a:moveTo>
                    <a:pt x="0" y="0"/>
                  </a:moveTo>
                  <a:lnTo>
                    <a:pt x="21945600" y="0"/>
                  </a:lnTo>
                  <a:lnTo>
                    <a:pt x="21945600" y="10160"/>
                  </a:lnTo>
                  <a:lnTo>
                    <a:pt x="0" y="10160"/>
                  </a:lnTo>
                  <a:close/>
                </a:path>
              </a:pathLst>
            </a:custGeom>
            <a:solidFill>
              <a:srgbClr val="E2E8F0"/>
            </a:solidFill>
          </p:spPr>
        </p:sp>
      </p:grpSp>
      <p:grpSp>
        <p:nvGrpSpPr>
          <p:cNvPr name="Group 43" id="43"/>
          <p:cNvGrpSpPr/>
          <p:nvPr/>
        </p:nvGrpSpPr>
        <p:grpSpPr>
          <a:xfrm rot="0">
            <a:off x="1005840" y="4754880"/>
            <a:ext cx="7955280" cy="512064"/>
            <a:chOff x="0" y="0"/>
            <a:chExt cx="10607040" cy="682752"/>
          </a:xfrm>
        </p:grpSpPr>
        <p:sp>
          <p:nvSpPr>
            <p:cNvPr name="Freeform 44" id="44"/>
            <p:cNvSpPr/>
            <p:nvPr/>
          </p:nvSpPr>
          <p:spPr>
            <a:xfrm flipH="false" flipV="false" rot="0">
              <a:off x="0" y="0"/>
              <a:ext cx="10607040" cy="682752"/>
            </a:xfrm>
            <a:custGeom>
              <a:avLst/>
              <a:gdLst/>
              <a:ahLst/>
              <a:cxnLst/>
              <a:rect r="r" b="b" t="t" l="l"/>
              <a:pathLst>
                <a:path h="682752" w="10607040">
                  <a:moveTo>
                    <a:pt x="0" y="0"/>
                  </a:moveTo>
                  <a:lnTo>
                    <a:pt x="10607040" y="0"/>
                  </a:lnTo>
                  <a:lnTo>
                    <a:pt x="10607040" y="682752"/>
                  </a:lnTo>
                  <a:lnTo>
                    <a:pt x="0" y="682752"/>
                  </a:lnTo>
                  <a:close/>
                </a:path>
              </a:pathLst>
            </a:custGeom>
            <a:blipFill>
              <a:blip r:embed="rId3">
                <a:alphaModFix amt="0"/>
              </a:blip>
              <a:stretch>
                <a:fillRect l="0" t="-252713" r="0" b="-252713"/>
              </a:stretch>
            </a:blipFill>
          </p:spPr>
        </p:sp>
        <p:sp>
          <p:nvSpPr>
            <p:cNvPr name="TextBox 45" id="45"/>
            <p:cNvSpPr txBox="true"/>
            <p:nvPr/>
          </p:nvSpPr>
          <p:spPr>
            <a:xfrm>
              <a:off x="0" y="-38100"/>
              <a:ext cx="10607040" cy="720852"/>
            </a:xfrm>
            <a:prstGeom prst="rect">
              <a:avLst/>
            </a:prstGeom>
          </p:spPr>
          <p:txBody>
            <a:bodyPr anchor="ctr" rtlCol="false" tIns="0" lIns="0" bIns="0" rIns="0"/>
            <a:lstStyle/>
            <a:p>
              <a:pPr algn="l">
                <a:lnSpc>
                  <a:spcPts val="2280"/>
                </a:lnSpc>
              </a:pPr>
              <a:r>
                <a:rPr lang="en-US" sz="1900" b="true">
                  <a:solidFill>
                    <a:srgbClr val="6D28D9"/>
                  </a:solidFill>
                  <a:latin typeface="Calibri (MS) Bold"/>
                  <a:ea typeface="Calibri (MS) Bold"/>
                  <a:cs typeface="Calibri (MS) Bold"/>
                  <a:sym typeface="Calibri (MS) Bold"/>
                </a:rPr>
                <a:t>✓ TSFE:  </a:t>
              </a:r>
              <a:r>
                <a:rPr lang="en-US" sz="1900">
                  <a:solidFill>
                    <a:srgbClr val="1E293B"/>
                  </a:solidFill>
                  <a:latin typeface="Calibri (MS)"/>
                  <a:ea typeface="Calibri (MS)"/>
                  <a:cs typeface="Calibri (MS)"/>
                  <a:sym typeface="Calibri (MS)"/>
                </a:rPr>
                <a:t>Horizontal + vertical squeeze reduces cost from O(H²W²) to O(H²+W²). Depthwise conv branch recovers local detail lost by squeezing.</a:t>
              </a:r>
            </a:p>
          </p:txBody>
        </p:sp>
      </p:grpSp>
      <p:grpSp>
        <p:nvGrpSpPr>
          <p:cNvPr name="Group 46" id="46"/>
          <p:cNvGrpSpPr/>
          <p:nvPr/>
        </p:nvGrpSpPr>
        <p:grpSpPr>
          <a:xfrm rot="0">
            <a:off x="9140190" y="4239006"/>
            <a:ext cx="7620" cy="1031748"/>
            <a:chOff x="0" y="0"/>
            <a:chExt cx="10160" cy="1375664"/>
          </a:xfrm>
        </p:grpSpPr>
        <p:sp>
          <p:nvSpPr>
            <p:cNvPr name="Freeform 47" id="47"/>
            <p:cNvSpPr/>
            <p:nvPr/>
          </p:nvSpPr>
          <p:spPr>
            <a:xfrm flipH="false" flipV="false" rot="0">
              <a:off x="0" y="5080"/>
              <a:ext cx="10160" cy="1365504"/>
            </a:xfrm>
            <a:custGeom>
              <a:avLst/>
              <a:gdLst/>
              <a:ahLst/>
              <a:cxnLst/>
              <a:rect r="r" b="b" t="t" l="l"/>
              <a:pathLst>
                <a:path h="1365504" w="10160">
                  <a:moveTo>
                    <a:pt x="10160" y="0"/>
                  </a:moveTo>
                  <a:lnTo>
                    <a:pt x="10160" y="1365504"/>
                  </a:lnTo>
                  <a:lnTo>
                    <a:pt x="0" y="1365504"/>
                  </a:lnTo>
                  <a:lnTo>
                    <a:pt x="0" y="0"/>
                  </a:lnTo>
                  <a:close/>
                </a:path>
              </a:pathLst>
            </a:custGeom>
            <a:solidFill>
              <a:srgbClr val="E2E8F0"/>
            </a:solidFill>
          </p:spPr>
        </p:sp>
      </p:grpSp>
      <p:grpSp>
        <p:nvGrpSpPr>
          <p:cNvPr name="Group 48" id="48"/>
          <p:cNvGrpSpPr/>
          <p:nvPr/>
        </p:nvGrpSpPr>
        <p:grpSpPr>
          <a:xfrm rot="0">
            <a:off x="9290304" y="4754880"/>
            <a:ext cx="8046720" cy="512064"/>
            <a:chOff x="0" y="0"/>
            <a:chExt cx="10728960" cy="682752"/>
          </a:xfrm>
        </p:grpSpPr>
        <p:sp>
          <p:nvSpPr>
            <p:cNvPr name="Freeform 49" id="49"/>
            <p:cNvSpPr/>
            <p:nvPr/>
          </p:nvSpPr>
          <p:spPr>
            <a:xfrm flipH="false" flipV="false" rot="0">
              <a:off x="0" y="0"/>
              <a:ext cx="10728960" cy="682752"/>
            </a:xfrm>
            <a:custGeom>
              <a:avLst/>
              <a:gdLst/>
              <a:ahLst/>
              <a:cxnLst/>
              <a:rect r="r" b="b" t="t" l="l"/>
              <a:pathLst>
                <a:path h="682752" w="10728960">
                  <a:moveTo>
                    <a:pt x="0" y="0"/>
                  </a:moveTo>
                  <a:lnTo>
                    <a:pt x="10728960" y="0"/>
                  </a:lnTo>
                  <a:lnTo>
                    <a:pt x="10728960" y="682752"/>
                  </a:lnTo>
                  <a:lnTo>
                    <a:pt x="0" y="682752"/>
                  </a:lnTo>
                  <a:close/>
                </a:path>
              </a:pathLst>
            </a:custGeom>
            <a:blipFill>
              <a:blip r:embed="rId3">
                <a:alphaModFix amt="0"/>
              </a:blip>
              <a:stretch>
                <a:fillRect l="0" t="-256193" r="0" b="-256193"/>
              </a:stretch>
            </a:blipFill>
          </p:spPr>
        </p:sp>
        <p:sp>
          <p:nvSpPr>
            <p:cNvPr name="TextBox 50" id="50"/>
            <p:cNvSpPr txBox="true"/>
            <p:nvPr/>
          </p:nvSpPr>
          <p:spPr>
            <a:xfrm>
              <a:off x="0" y="-38100"/>
              <a:ext cx="10728960" cy="720852"/>
            </a:xfrm>
            <a:prstGeom prst="rect">
              <a:avLst/>
            </a:prstGeom>
          </p:spPr>
          <p:txBody>
            <a:bodyPr anchor="ctr" rtlCol="false" tIns="0" lIns="0" bIns="0" rIns="0"/>
            <a:lstStyle/>
            <a:p>
              <a:pPr algn="l">
                <a:lnSpc>
                  <a:spcPts val="2280"/>
                </a:lnSpc>
              </a:pPr>
              <a:r>
                <a:rPr lang="en-US" sz="1900" b="true">
                  <a:solidFill>
                    <a:srgbClr val="E05B4B"/>
                  </a:solidFill>
                  <a:latin typeface="Calibri (MS) Bold"/>
                  <a:ea typeface="Calibri (MS) Bold"/>
                  <a:cs typeface="Calibri (MS) Bold"/>
                  <a:sym typeface="Calibri (MS) Bold"/>
                </a:rPr>
                <a:t>✗ Alternative:  </a:t>
              </a:r>
              <a:r>
                <a:rPr lang="en-US" sz="1900">
                  <a:solidFill>
                    <a:srgbClr val="94A3B8"/>
                  </a:solidFill>
                  <a:latin typeface="Calibri (MS)"/>
                  <a:ea typeface="Calibri (MS)"/>
                  <a:cs typeface="Calibri (MS)"/>
                  <a:sym typeface="Calibri (MS)"/>
                </a:rPr>
                <a:t>Full self-attention on the whole feature map is computationally infeasible and causes convergence difficulties.</a:t>
              </a:r>
            </a:p>
          </p:txBody>
        </p:sp>
      </p:grpSp>
      <p:grpSp>
        <p:nvGrpSpPr>
          <p:cNvPr name="Group 51" id="51"/>
          <p:cNvGrpSpPr/>
          <p:nvPr/>
        </p:nvGrpSpPr>
        <p:grpSpPr>
          <a:xfrm rot="0">
            <a:off x="725167" y="5553199"/>
            <a:ext cx="16837657" cy="1347721"/>
            <a:chOff x="0" y="0"/>
            <a:chExt cx="22450209" cy="1796961"/>
          </a:xfrm>
        </p:grpSpPr>
        <p:sp>
          <p:nvSpPr>
            <p:cNvPr name="Freeform 52" id="52"/>
            <p:cNvSpPr/>
            <p:nvPr/>
          </p:nvSpPr>
          <p:spPr>
            <a:xfrm flipH="false" flipV="false" rot="0">
              <a:off x="8509" y="8509"/>
              <a:ext cx="22433281" cy="1780032"/>
            </a:xfrm>
            <a:custGeom>
              <a:avLst/>
              <a:gdLst/>
              <a:ahLst/>
              <a:cxnLst/>
              <a:rect r="r" b="b" t="t" l="l"/>
              <a:pathLst>
                <a:path h="1780032" w="22433281">
                  <a:moveTo>
                    <a:pt x="0" y="0"/>
                  </a:moveTo>
                  <a:lnTo>
                    <a:pt x="22433281" y="0"/>
                  </a:lnTo>
                  <a:lnTo>
                    <a:pt x="22433281" y="1780032"/>
                  </a:lnTo>
                  <a:lnTo>
                    <a:pt x="0" y="1780032"/>
                  </a:lnTo>
                  <a:close/>
                </a:path>
              </a:pathLst>
            </a:custGeom>
            <a:solidFill>
              <a:srgbClr val="FFFFFF"/>
            </a:solidFill>
          </p:spPr>
        </p:sp>
        <p:sp>
          <p:nvSpPr>
            <p:cNvPr name="Freeform 53" id="53"/>
            <p:cNvSpPr/>
            <p:nvPr/>
          </p:nvSpPr>
          <p:spPr>
            <a:xfrm flipH="false" flipV="false" rot="0">
              <a:off x="0" y="0"/>
              <a:ext cx="22450298" cy="1797050"/>
            </a:xfrm>
            <a:custGeom>
              <a:avLst/>
              <a:gdLst/>
              <a:ahLst/>
              <a:cxnLst/>
              <a:rect r="r" b="b" t="t" l="l"/>
              <a:pathLst>
                <a:path h="1797050" w="22450298">
                  <a:moveTo>
                    <a:pt x="8509" y="0"/>
                  </a:moveTo>
                  <a:lnTo>
                    <a:pt x="22441790" y="0"/>
                  </a:lnTo>
                  <a:cubicBezTo>
                    <a:pt x="22446489" y="0"/>
                    <a:pt x="22450298" y="3810"/>
                    <a:pt x="22450298" y="8509"/>
                  </a:cubicBezTo>
                  <a:lnTo>
                    <a:pt x="22450298" y="1788541"/>
                  </a:lnTo>
                  <a:cubicBezTo>
                    <a:pt x="22450298" y="1793240"/>
                    <a:pt x="22446489" y="1797050"/>
                    <a:pt x="22441790" y="1797050"/>
                  </a:cubicBezTo>
                  <a:lnTo>
                    <a:pt x="8509" y="1797050"/>
                  </a:lnTo>
                  <a:cubicBezTo>
                    <a:pt x="3810" y="1797050"/>
                    <a:pt x="0" y="1793240"/>
                    <a:pt x="0" y="1788541"/>
                  </a:cubicBezTo>
                  <a:lnTo>
                    <a:pt x="0" y="8509"/>
                  </a:lnTo>
                  <a:cubicBezTo>
                    <a:pt x="0" y="3810"/>
                    <a:pt x="3810" y="0"/>
                    <a:pt x="8509" y="0"/>
                  </a:cubicBezTo>
                  <a:moveTo>
                    <a:pt x="8509" y="16891"/>
                  </a:moveTo>
                  <a:lnTo>
                    <a:pt x="8509" y="8509"/>
                  </a:lnTo>
                  <a:lnTo>
                    <a:pt x="17018" y="8509"/>
                  </a:lnTo>
                  <a:lnTo>
                    <a:pt x="17018" y="1788541"/>
                  </a:lnTo>
                  <a:lnTo>
                    <a:pt x="8509" y="1788541"/>
                  </a:lnTo>
                  <a:lnTo>
                    <a:pt x="8509" y="1780032"/>
                  </a:lnTo>
                  <a:lnTo>
                    <a:pt x="22441790" y="1780032"/>
                  </a:lnTo>
                  <a:lnTo>
                    <a:pt x="22441790" y="1788541"/>
                  </a:lnTo>
                  <a:lnTo>
                    <a:pt x="22433280" y="1788541"/>
                  </a:lnTo>
                  <a:lnTo>
                    <a:pt x="22433280" y="8509"/>
                  </a:lnTo>
                  <a:lnTo>
                    <a:pt x="22441790" y="8509"/>
                  </a:lnTo>
                  <a:lnTo>
                    <a:pt x="22441790" y="17018"/>
                  </a:lnTo>
                  <a:lnTo>
                    <a:pt x="8509" y="17018"/>
                  </a:lnTo>
                  <a:close/>
                </a:path>
              </a:pathLst>
            </a:custGeom>
            <a:solidFill>
              <a:srgbClr val="E2E8F0"/>
            </a:solidFill>
          </p:spPr>
        </p:sp>
      </p:grpSp>
      <p:grpSp>
        <p:nvGrpSpPr>
          <p:cNvPr name="Group 54" id="54"/>
          <p:cNvGrpSpPr/>
          <p:nvPr/>
        </p:nvGrpSpPr>
        <p:grpSpPr>
          <a:xfrm rot="0">
            <a:off x="718823" y="5546855"/>
            <a:ext cx="135131" cy="1360427"/>
            <a:chOff x="0" y="0"/>
            <a:chExt cx="180175" cy="1813903"/>
          </a:xfrm>
        </p:grpSpPr>
        <p:sp>
          <p:nvSpPr>
            <p:cNvPr name="Freeform 55" id="55"/>
            <p:cNvSpPr/>
            <p:nvPr/>
          </p:nvSpPr>
          <p:spPr>
            <a:xfrm flipH="false" flipV="false" rot="0">
              <a:off x="16891" y="16891"/>
              <a:ext cx="146304" cy="1780032"/>
            </a:xfrm>
            <a:custGeom>
              <a:avLst/>
              <a:gdLst/>
              <a:ahLst/>
              <a:cxnLst/>
              <a:rect r="r" b="b" t="t" l="l"/>
              <a:pathLst>
                <a:path h="1780032" w="146304">
                  <a:moveTo>
                    <a:pt x="0" y="0"/>
                  </a:moveTo>
                  <a:lnTo>
                    <a:pt x="146304" y="0"/>
                  </a:lnTo>
                  <a:lnTo>
                    <a:pt x="146304" y="1780032"/>
                  </a:lnTo>
                  <a:lnTo>
                    <a:pt x="0" y="1780032"/>
                  </a:lnTo>
                  <a:close/>
                </a:path>
              </a:pathLst>
            </a:custGeom>
            <a:solidFill>
              <a:srgbClr val="D97706"/>
            </a:solidFill>
          </p:spPr>
        </p:sp>
        <p:sp>
          <p:nvSpPr>
            <p:cNvPr name="Freeform 56" id="56"/>
            <p:cNvSpPr/>
            <p:nvPr/>
          </p:nvSpPr>
          <p:spPr>
            <a:xfrm flipH="false" flipV="false" rot="0">
              <a:off x="0" y="0"/>
              <a:ext cx="180086" cy="1813814"/>
            </a:xfrm>
            <a:custGeom>
              <a:avLst/>
              <a:gdLst/>
              <a:ahLst/>
              <a:cxnLst/>
              <a:rect r="r" b="b" t="t" l="l"/>
              <a:pathLst>
                <a:path h="1813814" w="180086">
                  <a:moveTo>
                    <a:pt x="16891" y="0"/>
                  </a:moveTo>
                  <a:lnTo>
                    <a:pt x="163195" y="0"/>
                  </a:lnTo>
                  <a:cubicBezTo>
                    <a:pt x="172593" y="0"/>
                    <a:pt x="180086" y="7620"/>
                    <a:pt x="180086" y="16891"/>
                  </a:cubicBezTo>
                  <a:lnTo>
                    <a:pt x="180086" y="1796923"/>
                  </a:lnTo>
                  <a:cubicBezTo>
                    <a:pt x="180086" y="1806321"/>
                    <a:pt x="172466" y="1813814"/>
                    <a:pt x="163195" y="1813814"/>
                  </a:cubicBezTo>
                  <a:lnTo>
                    <a:pt x="16891" y="1813814"/>
                  </a:lnTo>
                  <a:cubicBezTo>
                    <a:pt x="7493" y="1813814"/>
                    <a:pt x="0" y="1806194"/>
                    <a:pt x="0" y="1796923"/>
                  </a:cubicBezTo>
                  <a:lnTo>
                    <a:pt x="0" y="16891"/>
                  </a:lnTo>
                  <a:cubicBezTo>
                    <a:pt x="0" y="7620"/>
                    <a:pt x="7620" y="0"/>
                    <a:pt x="16891" y="0"/>
                  </a:cubicBezTo>
                  <a:moveTo>
                    <a:pt x="16891" y="33909"/>
                  </a:moveTo>
                  <a:lnTo>
                    <a:pt x="16891" y="16891"/>
                  </a:lnTo>
                  <a:lnTo>
                    <a:pt x="33909" y="16891"/>
                  </a:lnTo>
                  <a:lnTo>
                    <a:pt x="33909" y="1796923"/>
                  </a:lnTo>
                  <a:lnTo>
                    <a:pt x="16891" y="1796923"/>
                  </a:lnTo>
                  <a:lnTo>
                    <a:pt x="16891" y="1780032"/>
                  </a:lnTo>
                  <a:lnTo>
                    <a:pt x="163195" y="1780032"/>
                  </a:lnTo>
                  <a:lnTo>
                    <a:pt x="163195" y="1796923"/>
                  </a:lnTo>
                  <a:lnTo>
                    <a:pt x="146304" y="1796923"/>
                  </a:lnTo>
                  <a:lnTo>
                    <a:pt x="146304" y="16891"/>
                  </a:lnTo>
                  <a:lnTo>
                    <a:pt x="163195" y="16891"/>
                  </a:lnTo>
                  <a:lnTo>
                    <a:pt x="163195" y="33909"/>
                  </a:lnTo>
                  <a:lnTo>
                    <a:pt x="16891" y="33909"/>
                  </a:lnTo>
                  <a:close/>
                </a:path>
              </a:pathLst>
            </a:custGeom>
            <a:solidFill>
              <a:srgbClr val="D97706"/>
            </a:solidFill>
          </p:spPr>
        </p:sp>
      </p:grpSp>
      <p:grpSp>
        <p:nvGrpSpPr>
          <p:cNvPr name="Group 57" id="57"/>
          <p:cNvGrpSpPr/>
          <p:nvPr/>
        </p:nvGrpSpPr>
        <p:grpSpPr>
          <a:xfrm rot="0">
            <a:off x="1005840" y="5632704"/>
            <a:ext cx="16459200" cy="475488"/>
            <a:chOff x="0" y="0"/>
            <a:chExt cx="21945600" cy="633984"/>
          </a:xfrm>
        </p:grpSpPr>
        <p:sp>
          <p:nvSpPr>
            <p:cNvPr name="Freeform 58" id="58"/>
            <p:cNvSpPr/>
            <p:nvPr/>
          </p:nvSpPr>
          <p:spPr>
            <a:xfrm flipH="false" flipV="false" rot="0">
              <a:off x="0" y="0"/>
              <a:ext cx="21945600" cy="633984"/>
            </a:xfrm>
            <a:custGeom>
              <a:avLst/>
              <a:gdLst/>
              <a:ahLst/>
              <a:cxnLst/>
              <a:rect r="r" b="b" t="t" l="l"/>
              <a:pathLst>
                <a:path h="633984" w="21945600">
                  <a:moveTo>
                    <a:pt x="0" y="0"/>
                  </a:moveTo>
                  <a:lnTo>
                    <a:pt x="21945600" y="0"/>
                  </a:lnTo>
                  <a:lnTo>
                    <a:pt x="21945600" y="633984"/>
                  </a:lnTo>
                  <a:lnTo>
                    <a:pt x="0" y="633984"/>
                  </a:lnTo>
                  <a:close/>
                </a:path>
              </a:pathLst>
            </a:custGeom>
            <a:blipFill>
              <a:blip r:embed="rId3">
                <a:alphaModFix amt="0"/>
              </a:blip>
              <a:stretch>
                <a:fillRect l="0" t="-624482" r="0" b="-624482"/>
              </a:stretch>
            </a:blipFill>
          </p:spPr>
        </p:sp>
        <p:sp>
          <p:nvSpPr>
            <p:cNvPr name="TextBox 59" id="59"/>
            <p:cNvSpPr txBox="true"/>
            <p:nvPr/>
          </p:nvSpPr>
          <p:spPr>
            <a:xfrm>
              <a:off x="0" y="-47625"/>
              <a:ext cx="21945600" cy="681609"/>
            </a:xfrm>
            <a:prstGeom prst="rect">
              <a:avLst/>
            </a:prstGeom>
          </p:spPr>
          <p:txBody>
            <a:bodyPr anchor="ctr" rtlCol="false" tIns="0" lIns="0" bIns="0" rIns="0"/>
            <a:lstStyle/>
            <a:p>
              <a:pPr algn="l">
                <a:lnSpc>
                  <a:spcPts val="2640"/>
                </a:lnSpc>
              </a:pPr>
              <a:r>
                <a:rPr lang="en-US" sz="2200" b="true">
                  <a:solidFill>
                    <a:srgbClr val="1E293B"/>
                  </a:solidFill>
                  <a:latin typeface="Calibri (MS) Bold"/>
                  <a:ea typeface="Calibri (MS) Bold"/>
                  <a:cs typeface="Calibri (MS) Bold"/>
                  <a:sym typeface="Calibri (MS) Bold"/>
                </a:rPr>
                <a:t>Why average GloVe embeddings for fine-tuning?</a:t>
              </a:r>
            </a:p>
          </p:txBody>
        </p:sp>
      </p:grpSp>
      <p:grpSp>
        <p:nvGrpSpPr>
          <p:cNvPr name="Group 60" id="60"/>
          <p:cNvGrpSpPr/>
          <p:nvPr/>
        </p:nvGrpSpPr>
        <p:grpSpPr>
          <a:xfrm rot="0">
            <a:off x="1002030" y="6177534"/>
            <a:ext cx="16466820" cy="7620"/>
            <a:chOff x="0" y="0"/>
            <a:chExt cx="21955760" cy="10160"/>
          </a:xfrm>
        </p:grpSpPr>
        <p:sp>
          <p:nvSpPr>
            <p:cNvPr name="Freeform 61" id="61"/>
            <p:cNvSpPr/>
            <p:nvPr/>
          </p:nvSpPr>
          <p:spPr>
            <a:xfrm flipH="false" flipV="false" rot="0">
              <a:off x="5080" y="0"/>
              <a:ext cx="21945600" cy="10160"/>
            </a:xfrm>
            <a:custGeom>
              <a:avLst/>
              <a:gdLst/>
              <a:ahLst/>
              <a:cxnLst/>
              <a:rect r="r" b="b" t="t" l="l"/>
              <a:pathLst>
                <a:path h="10160" w="21945600">
                  <a:moveTo>
                    <a:pt x="0" y="0"/>
                  </a:moveTo>
                  <a:lnTo>
                    <a:pt x="21945600" y="0"/>
                  </a:lnTo>
                  <a:lnTo>
                    <a:pt x="21945600" y="10160"/>
                  </a:lnTo>
                  <a:lnTo>
                    <a:pt x="0" y="10160"/>
                  </a:lnTo>
                  <a:close/>
                </a:path>
              </a:pathLst>
            </a:custGeom>
            <a:solidFill>
              <a:srgbClr val="E2E8F0"/>
            </a:solidFill>
          </p:spPr>
        </p:sp>
      </p:grpSp>
      <p:grpSp>
        <p:nvGrpSpPr>
          <p:cNvPr name="Group 62" id="62"/>
          <p:cNvGrpSpPr/>
          <p:nvPr/>
        </p:nvGrpSpPr>
        <p:grpSpPr>
          <a:xfrm rot="0">
            <a:off x="1005840" y="6254496"/>
            <a:ext cx="7955280" cy="512064"/>
            <a:chOff x="0" y="0"/>
            <a:chExt cx="10607040" cy="682752"/>
          </a:xfrm>
        </p:grpSpPr>
        <p:sp>
          <p:nvSpPr>
            <p:cNvPr name="Freeform 63" id="63"/>
            <p:cNvSpPr/>
            <p:nvPr/>
          </p:nvSpPr>
          <p:spPr>
            <a:xfrm flipH="false" flipV="false" rot="0">
              <a:off x="0" y="0"/>
              <a:ext cx="10607040" cy="682752"/>
            </a:xfrm>
            <a:custGeom>
              <a:avLst/>
              <a:gdLst/>
              <a:ahLst/>
              <a:cxnLst/>
              <a:rect r="r" b="b" t="t" l="l"/>
              <a:pathLst>
                <a:path h="682752" w="10607040">
                  <a:moveTo>
                    <a:pt x="0" y="0"/>
                  </a:moveTo>
                  <a:lnTo>
                    <a:pt x="10607040" y="0"/>
                  </a:lnTo>
                  <a:lnTo>
                    <a:pt x="10607040" y="682752"/>
                  </a:lnTo>
                  <a:lnTo>
                    <a:pt x="0" y="682752"/>
                  </a:lnTo>
                  <a:close/>
                </a:path>
              </a:pathLst>
            </a:custGeom>
            <a:blipFill>
              <a:blip r:embed="rId3">
                <a:alphaModFix amt="0"/>
              </a:blip>
              <a:stretch>
                <a:fillRect l="0" t="-252713" r="0" b="-252713"/>
              </a:stretch>
            </a:blipFill>
          </p:spPr>
        </p:sp>
        <p:sp>
          <p:nvSpPr>
            <p:cNvPr name="TextBox 64" id="64"/>
            <p:cNvSpPr txBox="true"/>
            <p:nvPr/>
          </p:nvSpPr>
          <p:spPr>
            <a:xfrm>
              <a:off x="0" y="-38100"/>
              <a:ext cx="10607040" cy="720852"/>
            </a:xfrm>
            <a:prstGeom prst="rect">
              <a:avLst/>
            </a:prstGeom>
          </p:spPr>
          <p:txBody>
            <a:bodyPr anchor="ctr" rtlCol="false" tIns="0" lIns="0" bIns="0" rIns="0"/>
            <a:lstStyle/>
            <a:p>
              <a:pPr algn="l">
                <a:lnSpc>
                  <a:spcPts val="2280"/>
                </a:lnSpc>
              </a:pPr>
              <a:r>
                <a:rPr lang="en-US" sz="1900" b="true">
                  <a:solidFill>
                    <a:srgbClr val="D97706"/>
                  </a:solidFill>
                  <a:latin typeface="Calibri (MS) Bold"/>
                  <a:ea typeface="Calibri (MS) Bold"/>
                  <a:cs typeface="Calibri (MS) Bold"/>
                  <a:sym typeface="Calibri (MS) Bold"/>
                </a:rPr>
                <a:t>✓ TSFE:  </a:t>
              </a:r>
              <a:r>
                <a:rPr lang="en-US" sz="1900">
                  <a:solidFill>
                    <a:srgbClr val="1E293B"/>
                  </a:solidFill>
                  <a:latin typeface="Calibri (MS)"/>
                  <a:ea typeface="Calibri (MS)"/>
                  <a:cs typeface="Calibri (MS)"/>
                  <a:sym typeface="Calibri (MS)"/>
                </a:rPr>
                <a:t>Averaging over all caption words covers all objects present at all scales in the scene. More complete supervision signal.</a:t>
              </a:r>
            </a:p>
          </p:txBody>
        </p:sp>
      </p:grpSp>
      <p:grpSp>
        <p:nvGrpSpPr>
          <p:cNvPr name="Group 65" id="65"/>
          <p:cNvGrpSpPr/>
          <p:nvPr/>
        </p:nvGrpSpPr>
        <p:grpSpPr>
          <a:xfrm rot="0">
            <a:off x="9140190" y="5738622"/>
            <a:ext cx="7620" cy="1031748"/>
            <a:chOff x="0" y="0"/>
            <a:chExt cx="10160" cy="1375664"/>
          </a:xfrm>
        </p:grpSpPr>
        <p:sp>
          <p:nvSpPr>
            <p:cNvPr name="Freeform 66" id="66"/>
            <p:cNvSpPr/>
            <p:nvPr/>
          </p:nvSpPr>
          <p:spPr>
            <a:xfrm flipH="false" flipV="false" rot="0">
              <a:off x="0" y="5080"/>
              <a:ext cx="10160" cy="1365504"/>
            </a:xfrm>
            <a:custGeom>
              <a:avLst/>
              <a:gdLst/>
              <a:ahLst/>
              <a:cxnLst/>
              <a:rect r="r" b="b" t="t" l="l"/>
              <a:pathLst>
                <a:path h="1365504" w="10160">
                  <a:moveTo>
                    <a:pt x="10160" y="0"/>
                  </a:moveTo>
                  <a:lnTo>
                    <a:pt x="10160" y="1365504"/>
                  </a:lnTo>
                  <a:lnTo>
                    <a:pt x="0" y="1365504"/>
                  </a:lnTo>
                  <a:lnTo>
                    <a:pt x="0" y="0"/>
                  </a:lnTo>
                  <a:close/>
                </a:path>
              </a:pathLst>
            </a:custGeom>
            <a:solidFill>
              <a:srgbClr val="E2E8F0"/>
            </a:solidFill>
          </p:spPr>
        </p:sp>
      </p:grpSp>
      <p:grpSp>
        <p:nvGrpSpPr>
          <p:cNvPr name="Group 67" id="67"/>
          <p:cNvGrpSpPr/>
          <p:nvPr/>
        </p:nvGrpSpPr>
        <p:grpSpPr>
          <a:xfrm rot="0">
            <a:off x="9290304" y="6254496"/>
            <a:ext cx="8046720" cy="512064"/>
            <a:chOff x="0" y="0"/>
            <a:chExt cx="10728960" cy="682752"/>
          </a:xfrm>
        </p:grpSpPr>
        <p:sp>
          <p:nvSpPr>
            <p:cNvPr name="Freeform 68" id="68"/>
            <p:cNvSpPr/>
            <p:nvPr/>
          </p:nvSpPr>
          <p:spPr>
            <a:xfrm flipH="false" flipV="false" rot="0">
              <a:off x="0" y="0"/>
              <a:ext cx="10728960" cy="682752"/>
            </a:xfrm>
            <a:custGeom>
              <a:avLst/>
              <a:gdLst/>
              <a:ahLst/>
              <a:cxnLst/>
              <a:rect r="r" b="b" t="t" l="l"/>
              <a:pathLst>
                <a:path h="682752" w="10728960">
                  <a:moveTo>
                    <a:pt x="0" y="0"/>
                  </a:moveTo>
                  <a:lnTo>
                    <a:pt x="10728960" y="0"/>
                  </a:lnTo>
                  <a:lnTo>
                    <a:pt x="10728960" y="682752"/>
                  </a:lnTo>
                  <a:lnTo>
                    <a:pt x="0" y="682752"/>
                  </a:lnTo>
                  <a:close/>
                </a:path>
              </a:pathLst>
            </a:custGeom>
            <a:blipFill>
              <a:blip r:embed="rId3">
                <a:alphaModFix amt="0"/>
              </a:blip>
              <a:stretch>
                <a:fillRect l="0" t="-256193" r="0" b="-256193"/>
              </a:stretch>
            </a:blipFill>
          </p:spPr>
        </p:sp>
        <p:sp>
          <p:nvSpPr>
            <p:cNvPr name="TextBox 69" id="69"/>
            <p:cNvSpPr txBox="true"/>
            <p:nvPr/>
          </p:nvSpPr>
          <p:spPr>
            <a:xfrm>
              <a:off x="0" y="-38100"/>
              <a:ext cx="10728960" cy="720852"/>
            </a:xfrm>
            <a:prstGeom prst="rect">
              <a:avLst/>
            </a:prstGeom>
          </p:spPr>
          <p:txBody>
            <a:bodyPr anchor="ctr" rtlCol="false" tIns="0" lIns="0" bIns="0" rIns="0"/>
            <a:lstStyle/>
            <a:p>
              <a:pPr algn="l">
                <a:lnSpc>
                  <a:spcPts val="2280"/>
                </a:lnSpc>
              </a:pPr>
              <a:r>
                <a:rPr lang="en-US" sz="1900" b="true">
                  <a:solidFill>
                    <a:srgbClr val="E05B4B"/>
                  </a:solidFill>
                  <a:latin typeface="Calibri (MS) Bold"/>
                  <a:ea typeface="Calibri (MS) Bold"/>
                  <a:cs typeface="Calibri (MS) Bold"/>
                  <a:sym typeface="Calibri (MS) Bold"/>
                </a:rPr>
                <a:t>✗ Alternative:  </a:t>
              </a:r>
              <a:r>
                <a:rPr lang="en-US" sz="1900">
                  <a:solidFill>
                    <a:srgbClr val="94A3B8"/>
                  </a:solidFill>
                  <a:latin typeface="Calibri (MS)"/>
                  <a:ea typeface="Calibri (MS)"/>
                  <a:cs typeface="Calibri (MS)"/>
                  <a:sym typeface="Calibri (MS)"/>
                </a:rPr>
                <a:t>MGTN uses a single label → misses most objects in complex multi-object RS images. Limits accuracy and generalisation.</a:t>
              </a:r>
            </a:p>
          </p:txBody>
        </p:sp>
      </p:grpSp>
      <p:grpSp>
        <p:nvGrpSpPr>
          <p:cNvPr name="Group 70" id="70"/>
          <p:cNvGrpSpPr/>
          <p:nvPr/>
        </p:nvGrpSpPr>
        <p:grpSpPr>
          <a:xfrm rot="0">
            <a:off x="725167" y="7052815"/>
            <a:ext cx="16837657" cy="1347721"/>
            <a:chOff x="0" y="0"/>
            <a:chExt cx="22450209" cy="1796961"/>
          </a:xfrm>
        </p:grpSpPr>
        <p:sp>
          <p:nvSpPr>
            <p:cNvPr name="Freeform 71" id="71"/>
            <p:cNvSpPr/>
            <p:nvPr/>
          </p:nvSpPr>
          <p:spPr>
            <a:xfrm flipH="false" flipV="false" rot="0">
              <a:off x="8509" y="8509"/>
              <a:ext cx="22433281" cy="1780032"/>
            </a:xfrm>
            <a:custGeom>
              <a:avLst/>
              <a:gdLst/>
              <a:ahLst/>
              <a:cxnLst/>
              <a:rect r="r" b="b" t="t" l="l"/>
              <a:pathLst>
                <a:path h="1780032" w="22433281">
                  <a:moveTo>
                    <a:pt x="0" y="0"/>
                  </a:moveTo>
                  <a:lnTo>
                    <a:pt x="22433281" y="0"/>
                  </a:lnTo>
                  <a:lnTo>
                    <a:pt x="22433281" y="1780032"/>
                  </a:lnTo>
                  <a:lnTo>
                    <a:pt x="0" y="1780032"/>
                  </a:lnTo>
                  <a:close/>
                </a:path>
              </a:pathLst>
            </a:custGeom>
            <a:solidFill>
              <a:srgbClr val="FFFFFF"/>
            </a:solidFill>
          </p:spPr>
        </p:sp>
        <p:sp>
          <p:nvSpPr>
            <p:cNvPr name="Freeform 72" id="72"/>
            <p:cNvSpPr/>
            <p:nvPr/>
          </p:nvSpPr>
          <p:spPr>
            <a:xfrm flipH="false" flipV="false" rot="0">
              <a:off x="0" y="0"/>
              <a:ext cx="22450298" cy="1797050"/>
            </a:xfrm>
            <a:custGeom>
              <a:avLst/>
              <a:gdLst/>
              <a:ahLst/>
              <a:cxnLst/>
              <a:rect r="r" b="b" t="t" l="l"/>
              <a:pathLst>
                <a:path h="1797050" w="22450298">
                  <a:moveTo>
                    <a:pt x="8509" y="0"/>
                  </a:moveTo>
                  <a:lnTo>
                    <a:pt x="22441790" y="0"/>
                  </a:lnTo>
                  <a:cubicBezTo>
                    <a:pt x="22446489" y="0"/>
                    <a:pt x="22450298" y="3810"/>
                    <a:pt x="22450298" y="8509"/>
                  </a:cubicBezTo>
                  <a:lnTo>
                    <a:pt x="22450298" y="1788541"/>
                  </a:lnTo>
                  <a:cubicBezTo>
                    <a:pt x="22450298" y="1793240"/>
                    <a:pt x="22446489" y="1797050"/>
                    <a:pt x="22441790" y="1797050"/>
                  </a:cubicBezTo>
                  <a:lnTo>
                    <a:pt x="8509" y="1797050"/>
                  </a:lnTo>
                  <a:cubicBezTo>
                    <a:pt x="3810" y="1797050"/>
                    <a:pt x="0" y="1793240"/>
                    <a:pt x="0" y="1788541"/>
                  </a:cubicBezTo>
                  <a:lnTo>
                    <a:pt x="0" y="8509"/>
                  </a:lnTo>
                  <a:cubicBezTo>
                    <a:pt x="0" y="3810"/>
                    <a:pt x="3810" y="0"/>
                    <a:pt x="8509" y="0"/>
                  </a:cubicBezTo>
                  <a:moveTo>
                    <a:pt x="8509" y="16891"/>
                  </a:moveTo>
                  <a:lnTo>
                    <a:pt x="8509" y="8509"/>
                  </a:lnTo>
                  <a:lnTo>
                    <a:pt x="17018" y="8509"/>
                  </a:lnTo>
                  <a:lnTo>
                    <a:pt x="17018" y="1788541"/>
                  </a:lnTo>
                  <a:lnTo>
                    <a:pt x="8509" y="1788541"/>
                  </a:lnTo>
                  <a:lnTo>
                    <a:pt x="8509" y="1780032"/>
                  </a:lnTo>
                  <a:lnTo>
                    <a:pt x="22441790" y="1780032"/>
                  </a:lnTo>
                  <a:lnTo>
                    <a:pt x="22441790" y="1788541"/>
                  </a:lnTo>
                  <a:lnTo>
                    <a:pt x="22433280" y="1788541"/>
                  </a:lnTo>
                  <a:lnTo>
                    <a:pt x="22433280" y="8509"/>
                  </a:lnTo>
                  <a:lnTo>
                    <a:pt x="22441790" y="8509"/>
                  </a:lnTo>
                  <a:lnTo>
                    <a:pt x="22441790" y="17018"/>
                  </a:lnTo>
                  <a:lnTo>
                    <a:pt x="8509" y="17018"/>
                  </a:lnTo>
                  <a:close/>
                </a:path>
              </a:pathLst>
            </a:custGeom>
            <a:solidFill>
              <a:srgbClr val="E2E8F0"/>
            </a:solidFill>
          </p:spPr>
        </p:sp>
      </p:grpSp>
      <p:grpSp>
        <p:nvGrpSpPr>
          <p:cNvPr name="Group 73" id="73"/>
          <p:cNvGrpSpPr/>
          <p:nvPr/>
        </p:nvGrpSpPr>
        <p:grpSpPr>
          <a:xfrm rot="0">
            <a:off x="718823" y="7046471"/>
            <a:ext cx="135131" cy="1360427"/>
            <a:chOff x="0" y="0"/>
            <a:chExt cx="180175" cy="1813903"/>
          </a:xfrm>
        </p:grpSpPr>
        <p:sp>
          <p:nvSpPr>
            <p:cNvPr name="Freeform 74" id="74"/>
            <p:cNvSpPr/>
            <p:nvPr/>
          </p:nvSpPr>
          <p:spPr>
            <a:xfrm flipH="false" flipV="false" rot="0">
              <a:off x="16891" y="16891"/>
              <a:ext cx="146304" cy="1780032"/>
            </a:xfrm>
            <a:custGeom>
              <a:avLst/>
              <a:gdLst/>
              <a:ahLst/>
              <a:cxnLst/>
              <a:rect r="r" b="b" t="t" l="l"/>
              <a:pathLst>
                <a:path h="1780032" w="146304">
                  <a:moveTo>
                    <a:pt x="0" y="0"/>
                  </a:moveTo>
                  <a:lnTo>
                    <a:pt x="146304" y="0"/>
                  </a:lnTo>
                  <a:lnTo>
                    <a:pt x="146304" y="1780032"/>
                  </a:lnTo>
                  <a:lnTo>
                    <a:pt x="0" y="1780032"/>
                  </a:lnTo>
                  <a:close/>
                </a:path>
              </a:pathLst>
            </a:custGeom>
            <a:solidFill>
              <a:srgbClr val="E05B4B"/>
            </a:solidFill>
          </p:spPr>
        </p:sp>
        <p:sp>
          <p:nvSpPr>
            <p:cNvPr name="Freeform 75" id="75"/>
            <p:cNvSpPr/>
            <p:nvPr/>
          </p:nvSpPr>
          <p:spPr>
            <a:xfrm flipH="false" flipV="false" rot="0">
              <a:off x="0" y="0"/>
              <a:ext cx="180086" cy="1813814"/>
            </a:xfrm>
            <a:custGeom>
              <a:avLst/>
              <a:gdLst/>
              <a:ahLst/>
              <a:cxnLst/>
              <a:rect r="r" b="b" t="t" l="l"/>
              <a:pathLst>
                <a:path h="1813814" w="180086">
                  <a:moveTo>
                    <a:pt x="16891" y="0"/>
                  </a:moveTo>
                  <a:lnTo>
                    <a:pt x="163195" y="0"/>
                  </a:lnTo>
                  <a:cubicBezTo>
                    <a:pt x="172593" y="0"/>
                    <a:pt x="180086" y="7620"/>
                    <a:pt x="180086" y="16891"/>
                  </a:cubicBezTo>
                  <a:lnTo>
                    <a:pt x="180086" y="1796923"/>
                  </a:lnTo>
                  <a:cubicBezTo>
                    <a:pt x="180086" y="1806321"/>
                    <a:pt x="172466" y="1813814"/>
                    <a:pt x="163195" y="1813814"/>
                  </a:cubicBezTo>
                  <a:lnTo>
                    <a:pt x="16891" y="1813814"/>
                  </a:lnTo>
                  <a:cubicBezTo>
                    <a:pt x="7493" y="1813814"/>
                    <a:pt x="0" y="1806194"/>
                    <a:pt x="0" y="1796923"/>
                  </a:cubicBezTo>
                  <a:lnTo>
                    <a:pt x="0" y="16891"/>
                  </a:lnTo>
                  <a:cubicBezTo>
                    <a:pt x="0" y="7620"/>
                    <a:pt x="7620" y="0"/>
                    <a:pt x="16891" y="0"/>
                  </a:cubicBezTo>
                  <a:moveTo>
                    <a:pt x="16891" y="33909"/>
                  </a:moveTo>
                  <a:lnTo>
                    <a:pt x="16891" y="16891"/>
                  </a:lnTo>
                  <a:lnTo>
                    <a:pt x="33909" y="16891"/>
                  </a:lnTo>
                  <a:lnTo>
                    <a:pt x="33909" y="1796923"/>
                  </a:lnTo>
                  <a:lnTo>
                    <a:pt x="16891" y="1796923"/>
                  </a:lnTo>
                  <a:lnTo>
                    <a:pt x="16891" y="1780032"/>
                  </a:lnTo>
                  <a:lnTo>
                    <a:pt x="163195" y="1780032"/>
                  </a:lnTo>
                  <a:lnTo>
                    <a:pt x="163195" y="1796923"/>
                  </a:lnTo>
                  <a:lnTo>
                    <a:pt x="146304" y="1796923"/>
                  </a:lnTo>
                  <a:lnTo>
                    <a:pt x="146304" y="16891"/>
                  </a:lnTo>
                  <a:lnTo>
                    <a:pt x="163195" y="16891"/>
                  </a:lnTo>
                  <a:lnTo>
                    <a:pt x="163195" y="33909"/>
                  </a:lnTo>
                  <a:lnTo>
                    <a:pt x="16891" y="33909"/>
                  </a:lnTo>
                  <a:close/>
                </a:path>
              </a:pathLst>
            </a:custGeom>
            <a:solidFill>
              <a:srgbClr val="E05B4B"/>
            </a:solidFill>
          </p:spPr>
        </p:sp>
      </p:grpSp>
      <p:grpSp>
        <p:nvGrpSpPr>
          <p:cNvPr name="Group 76" id="76"/>
          <p:cNvGrpSpPr/>
          <p:nvPr/>
        </p:nvGrpSpPr>
        <p:grpSpPr>
          <a:xfrm rot="0">
            <a:off x="1005840" y="7132320"/>
            <a:ext cx="16459200" cy="475488"/>
            <a:chOff x="0" y="0"/>
            <a:chExt cx="21945600" cy="633984"/>
          </a:xfrm>
        </p:grpSpPr>
        <p:sp>
          <p:nvSpPr>
            <p:cNvPr name="Freeform 77" id="77"/>
            <p:cNvSpPr/>
            <p:nvPr/>
          </p:nvSpPr>
          <p:spPr>
            <a:xfrm flipH="false" flipV="false" rot="0">
              <a:off x="0" y="0"/>
              <a:ext cx="21945600" cy="633984"/>
            </a:xfrm>
            <a:custGeom>
              <a:avLst/>
              <a:gdLst/>
              <a:ahLst/>
              <a:cxnLst/>
              <a:rect r="r" b="b" t="t" l="l"/>
              <a:pathLst>
                <a:path h="633984" w="21945600">
                  <a:moveTo>
                    <a:pt x="0" y="0"/>
                  </a:moveTo>
                  <a:lnTo>
                    <a:pt x="21945600" y="0"/>
                  </a:lnTo>
                  <a:lnTo>
                    <a:pt x="21945600" y="633984"/>
                  </a:lnTo>
                  <a:lnTo>
                    <a:pt x="0" y="633984"/>
                  </a:lnTo>
                  <a:close/>
                </a:path>
              </a:pathLst>
            </a:custGeom>
            <a:blipFill>
              <a:blip r:embed="rId3">
                <a:alphaModFix amt="0"/>
              </a:blip>
              <a:stretch>
                <a:fillRect l="0" t="-624482" r="0" b="-624482"/>
              </a:stretch>
            </a:blipFill>
          </p:spPr>
        </p:sp>
        <p:sp>
          <p:nvSpPr>
            <p:cNvPr name="TextBox 78" id="78"/>
            <p:cNvSpPr txBox="true"/>
            <p:nvPr/>
          </p:nvSpPr>
          <p:spPr>
            <a:xfrm>
              <a:off x="0" y="-47625"/>
              <a:ext cx="21945600" cy="681609"/>
            </a:xfrm>
            <a:prstGeom prst="rect">
              <a:avLst/>
            </a:prstGeom>
          </p:spPr>
          <p:txBody>
            <a:bodyPr anchor="ctr" rtlCol="false" tIns="0" lIns="0" bIns="0" rIns="0"/>
            <a:lstStyle/>
            <a:p>
              <a:pPr algn="l">
                <a:lnSpc>
                  <a:spcPts val="2640"/>
                </a:lnSpc>
              </a:pPr>
              <a:r>
                <a:rPr lang="en-US" sz="2200" b="true">
                  <a:solidFill>
                    <a:srgbClr val="1E293B"/>
                  </a:solidFill>
                  <a:latin typeface="Calibri (MS) Bold"/>
                  <a:ea typeface="Calibri (MS) Bold"/>
                  <a:cs typeface="Calibri (MS) Bold"/>
                  <a:sym typeface="Calibri (MS) Bold"/>
                </a:rPr>
                <a:t>Why continuous output (no softmax)?</a:t>
              </a:r>
            </a:p>
          </p:txBody>
        </p:sp>
      </p:grpSp>
      <p:grpSp>
        <p:nvGrpSpPr>
          <p:cNvPr name="Group 79" id="79"/>
          <p:cNvGrpSpPr/>
          <p:nvPr/>
        </p:nvGrpSpPr>
        <p:grpSpPr>
          <a:xfrm rot="0">
            <a:off x="1002030" y="7677150"/>
            <a:ext cx="16466820" cy="7620"/>
            <a:chOff x="0" y="0"/>
            <a:chExt cx="21955760" cy="10160"/>
          </a:xfrm>
        </p:grpSpPr>
        <p:sp>
          <p:nvSpPr>
            <p:cNvPr name="Freeform 80" id="80"/>
            <p:cNvSpPr/>
            <p:nvPr/>
          </p:nvSpPr>
          <p:spPr>
            <a:xfrm flipH="false" flipV="false" rot="0">
              <a:off x="5080" y="0"/>
              <a:ext cx="21945600" cy="10160"/>
            </a:xfrm>
            <a:custGeom>
              <a:avLst/>
              <a:gdLst/>
              <a:ahLst/>
              <a:cxnLst/>
              <a:rect r="r" b="b" t="t" l="l"/>
              <a:pathLst>
                <a:path h="10160" w="21945600">
                  <a:moveTo>
                    <a:pt x="0" y="0"/>
                  </a:moveTo>
                  <a:lnTo>
                    <a:pt x="21945600" y="0"/>
                  </a:lnTo>
                  <a:lnTo>
                    <a:pt x="21945600" y="10160"/>
                  </a:lnTo>
                  <a:lnTo>
                    <a:pt x="0" y="10160"/>
                  </a:lnTo>
                  <a:close/>
                </a:path>
              </a:pathLst>
            </a:custGeom>
            <a:solidFill>
              <a:srgbClr val="E2E8F0"/>
            </a:solidFill>
          </p:spPr>
        </p:sp>
      </p:grpSp>
      <p:grpSp>
        <p:nvGrpSpPr>
          <p:cNvPr name="Group 81" id="81"/>
          <p:cNvGrpSpPr/>
          <p:nvPr/>
        </p:nvGrpSpPr>
        <p:grpSpPr>
          <a:xfrm rot="0">
            <a:off x="1005840" y="7754112"/>
            <a:ext cx="7955280" cy="512064"/>
            <a:chOff x="0" y="0"/>
            <a:chExt cx="10607040" cy="682752"/>
          </a:xfrm>
        </p:grpSpPr>
        <p:sp>
          <p:nvSpPr>
            <p:cNvPr name="Freeform 82" id="82"/>
            <p:cNvSpPr/>
            <p:nvPr/>
          </p:nvSpPr>
          <p:spPr>
            <a:xfrm flipH="false" flipV="false" rot="0">
              <a:off x="0" y="0"/>
              <a:ext cx="10607040" cy="682752"/>
            </a:xfrm>
            <a:custGeom>
              <a:avLst/>
              <a:gdLst/>
              <a:ahLst/>
              <a:cxnLst/>
              <a:rect r="r" b="b" t="t" l="l"/>
              <a:pathLst>
                <a:path h="682752" w="10607040">
                  <a:moveTo>
                    <a:pt x="0" y="0"/>
                  </a:moveTo>
                  <a:lnTo>
                    <a:pt x="10607040" y="0"/>
                  </a:lnTo>
                  <a:lnTo>
                    <a:pt x="10607040" y="682752"/>
                  </a:lnTo>
                  <a:lnTo>
                    <a:pt x="0" y="682752"/>
                  </a:lnTo>
                  <a:close/>
                </a:path>
              </a:pathLst>
            </a:custGeom>
            <a:blipFill>
              <a:blip r:embed="rId3">
                <a:alphaModFix amt="0"/>
              </a:blip>
              <a:stretch>
                <a:fillRect l="0" t="-252713" r="0" b="-252713"/>
              </a:stretch>
            </a:blipFill>
          </p:spPr>
        </p:sp>
        <p:sp>
          <p:nvSpPr>
            <p:cNvPr name="TextBox 83" id="83"/>
            <p:cNvSpPr txBox="true"/>
            <p:nvPr/>
          </p:nvSpPr>
          <p:spPr>
            <a:xfrm>
              <a:off x="0" y="-38100"/>
              <a:ext cx="10607040" cy="720852"/>
            </a:xfrm>
            <a:prstGeom prst="rect">
              <a:avLst/>
            </a:prstGeom>
          </p:spPr>
          <p:txBody>
            <a:bodyPr anchor="ctr" rtlCol="false" tIns="0" lIns="0" bIns="0" rIns="0"/>
            <a:lstStyle/>
            <a:p>
              <a:pPr algn="l">
                <a:lnSpc>
                  <a:spcPts val="2280"/>
                </a:lnSpc>
              </a:pPr>
              <a:r>
                <a:rPr lang="en-US" sz="1900" b="true">
                  <a:solidFill>
                    <a:srgbClr val="E05B4B"/>
                  </a:solidFill>
                  <a:latin typeface="Calibri (MS) Bold"/>
                  <a:ea typeface="Calibri (MS) Bold"/>
                  <a:cs typeface="Calibri (MS) Bold"/>
                  <a:sym typeface="Calibri (MS) Bold"/>
                </a:rPr>
                <a:t>✓ TSFE:  </a:t>
              </a:r>
              <a:r>
                <a:rPr lang="en-US" sz="1900">
                  <a:solidFill>
                    <a:srgbClr val="1E293B"/>
                  </a:solidFill>
                  <a:latin typeface="Calibri (MS)"/>
                  <a:ea typeface="Calibri (MS)"/>
                  <a:cs typeface="Calibri (MS)"/>
                  <a:sym typeface="Calibri (MS)"/>
                </a:rPr>
                <a:t>SmoothL1 on continuous embeddings preserves semantic distances — 'car' is closer to 'truck' than to 'river' in embedding space.</a:t>
              </a:r>
            </a:p>
          </p:txBody>
        </p:sp>
      </p:grpSp>
      <p:grpSp>
        <p:nvGrpSpPr>
          <p:cNvPr name="Group 84" id="84"/>
          <p:cNvGrpSpPr/>
          <p:nvPr/>
        </p:nvGrpSpPr>
        <p:grpSpPr>
          <a:xfrm rot="0">
            <a:off x="9140190" y="7238238"/>
            <a:ext cx="7620" cy="1031748"/>
            <a:chOff x="0" y="0"/>
            <a:chExt cx="10160" cy="1375664"/>
          </a:xfrm>
        </p:grpSpPr>
        <p:sp>
          <p:nvSpPr>
            <p:cNvPr name="Freeform 85" id="85"/>
            <p:cNvSpPr/>
            <p:nvPr/>
          </p:nvSpPr>
          <p:spPr>
            <a:xfrm flipH="false" flipV="false" rot="0">
              <a:off x="0" y="5080"/>
              <a:ext cx="10160" cy="1365504"/>
            </a:xfrm>
            <a:custGeom>
              <a:avLst/>
              <a:gdLst/>
              <a:ahLst/>
              <a:cxnLst/>
              <a:rect r="r" b="b" t="t" l="l"/>
              <a:pathLst>
                <a:path h="1365504" w="10160">
                  <a:moveTo>
                    <a:pt x="10160" y="0"/>
                  </a:moveTo>
                  <a:lnTo>
                    <a:pt x="10160" y="1365504"/>
                  </a:lnTo>
                  <a:lnTo>
                    <a:pt x="0" y="1365504"/>
                  </a:lnTo>
                  <a:lnTo>
                    <a:pt x="0" y="0"/>
                  </a:lnTo>
                  <a:close/>
                </a:path>
              </a:pathLst>
            </a:custGeom>
            <a:solidFill>
              <a:srgbClr val="E2E8F0"/>
            </a:solidFill>
          </p:spPr>
        </p:sp>
      </p:grpSp>
      <p:grpSp>
        <p:nvGrpSpPr>
          <p:cNvPr name="Group 86" id="86"/>
          <p:cNvGrpSpPr/>
          <p:nvPr/>
        </p:nvGrpSpPr>
        <p:grpSpPr>
          <a:xfrm rot="0">
            <a:off x="9290304" y="7754112"/>
            <a:ext cx="8046720" cy="512064"/>
            <a:chOff x="0" y="0"/>
            <a:chExt cx="10728960" cy="682752"/>
          </a:xfrm>
        </p:grpSpPr>
        <p:sp>
          <p:nvSpPr>
            <p:cNvPr name="Freeform 87" id="87"/>
            <p:cNvSpPr/>
            <p:nvPr/>
          </p:nvSpPr>
          <p:spPr>
            <a:xfrm flipH="false" flipV="false" rot="0">
              <a:off x="0" y="0"/>
              <a:ext cx="10728960" cy="682752"/>
            </a:xfrm>
            <a:custGeom>
              <a:avLst/>
              <a:gdLst/>
              <a:ahLst/>
              <a:cxnLst/>
              <a:rect r="r" b="b" t="t" l="l"/>
              <a:pathLst>
                <a:path h="682752" w="10728960">
                  <a:moveTo>
                    <a:pt x="0" y="0"/>
                  </a:moveTo>
                  <a:lnTo>
                    <a:pt x="10728960" y="0"/>
                  </a:lnTo>
                  <a:lnTo>
                    <a:pt x="10728960" y="682752"/>
                  </a:lnTo>
                  <a:lnTo>
                    <a:pt x="0" y="682752"/>
                  </a:lnTo>
                  <a:close/>
                </a:path>
              </a:pathLst>
            </a:custGeom>
            <a:blipFill>
              <a:blip r:embed="rId3">
                <a:alphaModFix amt="0"/>
              </a:blip>
              <a:stretch>
                <a:fillRect l="0" t="-256193" r="0" b="-256193"/>
              </a:stretch>
            </a:blipFill>
          </p:spPr>
        </p:sp>
        <p:sp>
          <p:nvSpPr>
            <p:cNvPr name="TextBox 88" id="88"/>
            <p:cNvSpPr txBox="true"/>
            <p:nvPr/>
          </p:nvSpPr>
          <p:spPr>
            <a:xfrm>
              <a:off x="0" y="-38100"/>
              <a:ext cx="10728960" cy="720852"/>
            </a:xfrm>
            <a:prstGeom prst="rect">
              <a:avLst/>
            </a:prstGeom>
          </p:spPr>
          <p:txBody>
            <a:bodyPr anchor="ctr" rtlCol="false" tIns="0" lIns="0" bIns="0" rIns="0"/>
            <a:lstStyle/>
            <a:p>
              <a:pPr algn="l">
                <a:lnSpc>
                  <a:spcPts val="2280"/>
                </a:lnSpc>
              </a:pPr>
              <a:r>
                <a:rPr lang="en-US" sz="1900" b="true">
                  <a:solidFill>
                    <a:srgbClr val="E05B4B"/>
                  </a:solidFill>
                  <a:latin typeface="Calibri (MS) Bold"/>
                  <a:ea typeface="Calibri (MS) Bold"/>
                  <a:cs typeface="Calibri (MS) Bold"/>
                  <a:sym typeface="Calibri (MS) Bold"/>
                </a:rPr>
                <a:t>✗ Alternative:  </a:t>
              </a:r>
              <a:r>
                <a:rPr lang="en-US" sz="1900">
                  <a:solidFill>
                    <a:srgbClr val="94A3B8"/>
                  </a:solidFill>
                  <a:latin typeface="Calibri (MS)"/>
                  <a:ea typeface="Calibri (MS)"/>
                  <a:cs typeface="Calibri (MS)"/>
                  <a:sym typeface="Calibri (MS)"/>
                </a:rPr>
                <a:t>Softmax cross-entropy treats all wrong words as equally bad regardless of semantic similarity. Loses global semantic coherence.</a:t>
              </a:r>
            </a:p>
          </p:txBody>
        </p:sp>
      </p:grpSp>
      <p:grpSp>
        <p:nvGrpSpPr>
          <p:cNvPr name="Group 89" id="89"/>
          <p:cNvGrpSpPr/>
          <p:nvPr/>
        </p:nvGrpSpPr>
        <p:grpSpPr>
          <a:xfrm rot="0">
            <a:off x="725167" y="8552431"/>
            <a:ext cx="16837657" cy="1347721"/>
            <a:chOff x="0" y="0"/>
            <a:chExt cx="22450209" cy="1796961"/>
          </a:xfrm>
        </p:grpSpPr>
        <p:sp>
          <p:nvSpPr>
            <p:cNvPr name="Freeform 90" id="90"/>
            <p:cNvSpPr/>
            <p:nvPr/>
          </p:nvSpPr>
          <p:spPr>
            <a:xfrm flipH="false" flipV="false" rot="0">
              <a:off x="8509" y="8509"/>
              <a:ext cx="22433281" cy="1780032"/>
            </a:xfrm>
            <a:custGeom>
              <a:avLst/>
              <a:gdLst/>
              <a:ahLst/>
              <a:cxnLst/>
              <a:rect r="r" b="b" t="t" l="l"/>
              <a:pathLst>
                <a:path h="1780032" w="22433281">
                  <a:moveTo>
                    <a:pt x="0" y="0"/>
                  </a:moveTo>
                  <a:lnTo>
                    <a:pt x="22433281" y="0"/>
                  </a:lnTo>
                  <a:lnTo>
                    <a:pt x="22433281" y="1780032"/>
                  </a:lnTo>
                  <a:lnTo>
                    <a:pt x="0" y="1780032"/>
                  </a:lnTo>
                  <a:close/>
                </a:path>
              </a:pathLst>
            </a:custGeom>
            <a:solidFill>
              <a:srgbClr val="FFFFFF"/>
            </a:solidFill>
          </p:spPr>
        </p:sp>
        <p:sp>
          <p:nvSpPr>
            <p:cNvPr name="Freeform 91" id="91"/>
            <p:cNvSpPr/>
            <p:nvPr/>
          </p:nvSpPr>
          <p:spPr>
            <a:xfrm flipH="false" flipV="false" rot="0">
              <a:off x="0" y="0"/>
              <a:ext cx="22450298" cy="1797050"/>
            </a:xfrm>
            <a:custGeom>
              <a:avLst/>
              <a:gdLst/>
              <a:ahLst/>
              <a:cxnLst/>
              <a:rect r="r" b="b" t="t" l="l"/>
              <a:pathLst>
                <a:path h="1797050" w="22450298">
                  <a:moveTo>
                    <a:pt x="8509" y="0"/>
                  </a:moveTo>
                  <a:lnTo>
                    <a:pt x="22441790" y="0"/>
                  </a:lnTo>
                  <a:cubicBezTo>
                    <a:pt x="22446489" y="0"/>
                    <a:pt x="22450298" y="3810"/>
                    <a:pt x="22450298" y="8509"/>
                  </a:cubicBezTo>
                  <a:lnTo>
                    <a:pt x="22450298" y="1788541"/>
                  </a:lnTo>
                  <a:cubicBezTo>
                    <a:pt x="22450298" y="1793240"/>
                    <a:pt x="22446489" y="1797050"/>
                    <a:pt x="22441790" y="1797050"/>
                  </a:cubicBezTo>
                  <a:lnTo>
                    <a:pt x="8509" y="1797050"/>
                  </a:lnTo>
                  <a:cubicBezTo>
                    <a:pt x="3810" y="1797050"/>
                    <a:pt x="0" y="1793240"/>
                    <a:pt x="0" y="1788541"/>
                  </a:cubicBezTo>
                  <a:lnTo>
                    <a:pt x="0" y="8509"/>
                  </a:lnTo>
                  <a:cubicBezTo>
                    <a:pt x="0" y="3810"/>
                    <a:pt x="3810" y="0"/>
                    <a:pt x="8509" y="0"/>
                  </a:cubicBezTo>
                  <a:moveTo>
                    <a:pt x="8509" y="16891"/>
                  </a:moveTo>
                  <a:lnTo>
                    <a:pt x="8509" y="8509"/>
                  </a:lnTo>
                  <a:lnTo>
                    <a:pt x="17018" y="8509"/>
                  </a:lnTo>
                  <a:lnTo>
                    <a:pt x="17018" y="1788541"/>
                  </a:lnTo>
                  <a:lnTo>
                    <a:pt x="8509" y="1788541"/>
                  </a:lnTo>
                  <a:lnTo>
                    <a:pt x="8509" y="1780032"/>
                  </a:lnTo>
                  <a:lnTo>
                    <a:pt x="22441790" y="1780032"/>
                  </a:lnTo>
                  <a:lnTo>
                    <a:pt x="22441790" y="1788541"/>
                  </a:lnTo>
                  <a:lnTo>
                    <a:pt x="22433280" y="1788541"/>
                  </a:lnTo>
                  <a:lnTo>
                    <a:pt x="22433280" y="8509"/>
                  </a:lnTo>
                  <a:lnTo>
                    <a:pt x="22441790" y="8509"/>
                  </a:lnTo>
                  <a:lnTo>
                    <a:pt x="22441790" y="17018"/>
                  </a:lnTo>
                  <a:lnTo>
                    <a:pt x="8509" y="17018"/>
                  </a:lnTo>
                  <a:close/>
                </a:path>
              </a:pathLst>
            </a:custGeom>
            <a:solidFill>
              <a:srgbClr val="E2E8F0"/>
            </a:solidFill>
          </p:spPr>
        </p:sp>
      </p:grpSp>
      <p:grpSp>
        <p:nvGrpSpPr>
          <p:cNvPr name="Group 92" id="92"/>
          <p:cNvGrpSpPr/>
          <p:nvPr/>
        </p:nvGrpSpPr>
        <p:grpSpPr>
          <a:xfrm rot="0">
            <a:off x="718823" y="8546087"/>
            <a:ext cx="135131" cy="1360427"/>
            <a:chOff x="0" y="0"/>
            <a:chExt cx="180175" cy="1813903"/>
          </a:xfrm>
        </p:grpSpPr>
        <p:sp>
          <p:nvSpPr>
            <p:cNvPr name="Freeform 93" id="93"/>
            <p:cNvSpPr/>
            <p:nvPr/>
          </p:nvSpPr>
          <p:spPr>
            <a:xfrm flipH="false" flipV="false" rot="0">
              <a:off x="16891" y="16891"/>
              <a:ext cx="146304" cy="1780032"/>
            </a:xfrm>
            <a:custGeom>
              <a:avLst/>
              <a:gdLst/>
              <a:ahLst/>
              <a:cxnLst/>
              <a:rect r="r" b="b" t="t" l="l"/>
              <a:pathLst>
                <a:path h="1780032" w="146304">
                  <a:moveTo>
                    <a:pt x="0" y="0"/>
                  </a:moveTo>
                  <a:lnTo>
                    <a:pt x="146304" y="0"/>
                  </a:lnTo>
                  <a:lnTo>
                    <a:pt x="146304" y="1780032"/>
                  </a:lnTo>
                  <a:lnTo>
                    <a:pt x="0" y="1780032"/>
                  </a:lnTo>
                  <a:close/>
                </a:path>
              </a:pathLst>
            </a:custGeom>
            <a:solidFill>
              <a:srgbClr val="0D1B3E"/>
            </a:solidFill>
          </p:spPr>
        </p:sp>
        <p:sp>
          <p:nvSpPr>
            <p:cNvPr name="Freeform 94" id="94"/>
            <p:cNvSpPr/>
            <p:nvPr/>
          </p:nvSpPr>
          <p:spPr>
            <a:xfrm flipH="false" flipV="false" rot="0">
              <a:off x="0" y="0"/>
              <a:ext cx="180086" cy="1813814"/>
            </a:xfrm>
            <a:custGeom>
              <a:avLst/>
              <a:gdLst/>
              <a:ahLst/>
              <a:cxnLst/>
              <a:rect r="r" b="b" t="t" l="l"/>
              <a:pathLst>
                <a:path h="1813814" w="180086">
                  <a:moveTo>
                    <a:pt x="16891" y="0"/>
                  </a:moveTo>
                  <a:lnTo>
                    <a:pt x="163195" y="0"/>
                  </a:lnTo>
                  <a:cubicBezTo>
                    <a:pt x="172593" y="0"/>
                    <a:pt x="180086" y="7620"/>
                    <a:pt x="180086" y="16891"/>
                  </a:cubicBezTo>
                  <a:lnTo>
                    <a:pt x="180086" y="1796923"/>
                  </a:lnTo>
                  <a:cubicBezTo>
                    <a:pt x="180086" y="1806321"/>
                    <a:pt x="172466" y="1813814"/>
                    <a:pt x="163195" y="1813814"/>
                  </a:cubicBezTo>
                  <a:lnTo>
                    <a:pt x="16891" y="1813814"/>
                  </a:lnTo>
                  <a:cubicBezTo>
                    <a:pt x="7493" y="1813814"/>
                    <a:pt x="0" y="1806194"/>
                    <a:pt x="0" y="1796923"/>
                  </a:cubicBezTo>
                  <a:lnTo>
                    <a:pt x="0" y="16891"/>
                  </a:lnTo>
                  <a:cubicBezTo>
                    <a:pt x="0" y="7620"/>
                    <a:pt x="7620" y="0"/>
                    <a:pt x="16891" y="0"/>
                  </a:cubicBezTo>
                  <a:moveTo>
                    <a:pt x="16891" y="33909"/>
                  </a:moveTo>
                  <a:lnTo>
                    <a:pt x="16891" y="16891"/>
                  </a:lnTo>
                  <a:lnTo>
                    <a:pt x="33909" y="16891"/>
                  </a:lnTo>
                  <a:lnTo>
                    <a:pt x="33909" y="1796923"/>
                  </a:lnTo>
                  <a:lnTo>
                    <a:pt x="16891" y="1796923"/>
                  </a:lnTo>
                  <a:lnTo>
                    <a:pt x="16891" y="1780032"/>
                  </a:lnTo>
                  <a:lnTo>
                    <a:pt x="163195" y="1780032"/>
                  </a:lnTo>
                  <a:lnTo>
                    <a:pt x="163195" y="1796923"/>
                  </a:lnTo>
                  <a:lnTo>
                    <a:pt x="146304" y="1796923"/>
                  </a:lnTo>
                  <a:lnTo>
                    <a:pt x="146304" y="16891"/>
                  </a:lnTo>
                  <a:lnTo>
                    <a:pt x="163195" y="16891"/>
                  </a:lnTo>
                  <a:lnTo>
                    <a:pt x="163195" y="33909"/>
                  </a:lnTo>
                  <a:lnTo>
                    <a:pt x="16891" y="33909"/>
                  </a:lnTo>
                  <a:close/>
                </a:path>
              </a:pathLst>
            </a:custGeom>
            <a:solidFill>
              <a:srgbClr val="0D1B3E"/>
            </a:solidFill>
          </p:spPr>
        </p:sp>
      </p:grpSp>
      <p:grpSp>
        <p:nvGrpSpPr>
          <p:cNvPr name="Group 95" id="95"/>
          <p:cNvGrpSpPr/>
          <p:nvPr/>
        </p:nvGrpSpPr>
        <p:grpSpPr>
          <a:xfrm rot="0">
            <a:off x="1005840" y="8631936"/>
            <a:ext cx="16459200" cy="475488"/>
            <a:chOff x="0" y="0"/>
            <a:chExt cx="21945600" cy="633984"/>
          </a:xfrm>
        </p:grpSpPr>
        <p:sp>
          <p:nvSpPr>
            <p:cNvPr name="Freeform 96" id="96"/>
            <p:cNvSpPr/>
            <p:nvPr/>
          </p:nvSpPr>
          <p:spPr>
            <a:xfrm flipH="false" flipV="false" rot="0">
              <a:off x="0" y="0"/>
              <a:ext cx="21945600" cy="633984"/>
            </a:xfrm>
            <a:custGeom>
              <a:avLst/>
              <a:gdLst/>
              <a:ahLst/>
              <a:cxnLst/>
              <a:rect r="r" b="b" t="t" l="l"/>
              <a:pathLst>
                <a:path h="633984" w="21945600">
                  <a:moveTo>
                    <a:pt x="0" y="0"/>
                  </a:moveTo>
                  <a:lnTo>
                    <a:pt x="21945600" y="0"/>
                  </a:lnTo>
                  <a:lnTo>
                    <a:pt x="21945600" y="633984"/>
                  </a:lnTo>
                  <a:lnTo>
                    <a:pt x="0" y="633984"/>
                  </a:lnTo>
                  <a:close/>
                </a:path>
              </a:pathLst>
            </a:custGeom>
            <a:blipFill>
              <a:blip r:embed="rId3">
                <a:alphaModFix amt="0"/>
              </a:blip>
              <a:stretch>
                <a:fillRect l="0" t="-624482" r="0" b="-624482"/>
              </a:stretch>
            </a:blipFill>
          </p:spPr>
        </p:sp>
        <p:sp>
          <p:nvSpPr>
            <p:cNvPr name="TextBox 97" id="97"/>
            <p:cNvSpPr txBox="true"/>
            <p:nvPr/>
          </p:nvSpPr>
          <p:spPr>
            <a:xfrm>
              <a:off x="0" y="-47625"/>
              <a:ext cx="21945600" cy="681609"/>
            </a:xfrm>
            <a:prstGeom prst="rect">
              <a:avLst/>
            </a:prstGeom>
          </p:spPr>
          <p:txBody>
            <a:bodyPr anchor="ctr" rtlCol="false" tIns="0" lIns="0" bIns="0" rIns="0"/>
            <a:lstStyle/>
            <a:p>
              <a:pPr algn="l">
                <a:lnSpc>
                  <a:spcPts val="2640"/>
                </a:lnSpc>
              </a:pPr>
              <a:r>
                <a:rPr lang="en-US" sz="2200" b="true">
                  <a:solidFill>
                    <a:srgbClr val="1E293B"/>
                  </a:solidFill>
                  <a:latin typeface="Calibri (MS) Bold"/>
                  <a:ea typeface="Calibri (MS) Bold"/>
                  <a:cs typeface="Calibri (MS) Bold"/>
                  <a:sym typeface="Calibri (MS) Bold"/>
                </a:rPr>
                <a:t>Why GAP on V_local (not on F4)?</a:t>
              </a:r>
            </a:p>
          </p:txBody>
        </p:sp>
      </p:grpSp>
      <p:grpSp>
        <p:nvGrpSpPr>
          <p:cNvPr name="Group 98" id="98"/>
          <p:cNvGrpSpPr/>
          <p:nvPr/>
        </p:nvGrpSpPr>
        <p:grpSpPr>
          <a:xfrm rot="0">
            <a:off x="1002030" y="9176766"/>
            <a:ext cx="16466820" cy="7620"/>
            <a:chOff x="0" y="0"/>
            <a:chExt cx="21955760" cy="10160"/>
          </a:xfrm>
        </p:grpSpPr>
        <p:sp>
          <p:nvSpPr>
            <p:cNvPr name="Freeform 99" id="99"/>
            <p:cNvSpPr/>
            <p:nvPr/>
          </p:nvSpPr>
          <p:spPr>
            <a:xfrm flipH="false" flipV="false" rot="0">
              <a:off x="5080" y="0"/>
              <a:ext cx="21945600" cy="10160"/>
            </a:xfrm>
            <a:custGeom>
              <a:avLst/>
              <a:gdLst/>
              <a:ahLst/>
              <a:cxnLst/>
              <a:rect r="r" b="b" t="t" l="l"/>
              <a:pathLst>
                <a:path h="10160" w="21945600">
                  <a:moveTo>
                    <a:pt x="0" y="0"/>
                  </a:moveTo>
                  <a:lnTo>
                    <a:pt x="21945600" y="0"/>
                  </a:lnTo>
                  <a:lnTo>
                    <a:pt x="21945600" y="10160"/>
                  </a:lnTo>
                  <a:lnTo>
                    <a:pt x="0" y="10160"/>
                  </a:lnTo>
                  <a:close/>
                </a:path>
              </a:pathLst>
            </a:custGeom>
            <a:solidFill>
              <a:srgbClr val="E2E8F0"/>
            </a:solidFill>
          </p:spPr>
        </p:sp>
      </p:grpSp>
      <p:grpSp>
        <p:nvGrpSpPr>
          <p:cNvPr name="Group 100" id="100"/>
          <p:cNvGrpSpPr/>
          <p:nvPr/>
        </p:nvGrpSpPr>
        <p:grpSpPr>
          <a:xfrm rot="0">
            <a:off x="1005840" y="9253728"/>
            <a:ext cx="7955280" cy="512064"/>
            <a:chOff x="0" y="0"/>
            <a:chExt cx="10607040" cy="682752"/>
          </a:xfrm>
        </p:grpSpPr>
        <p:sp>
          <p:nvSpPr>
            <p:cNvPr name="Freeform 101" id="101"/>
            <p:cNvSpPr/>
            <p:nvPr/>
          </p:nvSpPr>
          <p:spPr>
            <a:xfrm flipH="false" flipV="false" rot="0">
              <a:off x="0" y="0"/>
              <a:ext cx="10607040" cy="682752"/>
            </a:xfrm>
            <a:custGeom>
              <a:avLst/>
              <a:gdLst/>
              <a:ahLst/>
              <a:cxnLst/>
              <a:rect r="r" b="b" t="t" l="l"/>
              <a:pathLst>
                <a:path h="682752" w="10607040">
                  <a:moveTo>
                    <a:pt x="0" y="0"/>
                  </a:moveTo>
                  <a:lnTo>
                    <a:pt x="10607040" y="0"/>
                  </a:lnTo>
                  <a:lnTo>
                    <a:pt x="10607040" y="682752"/>
                  </a:lnTo>
                  <a:lnTo>
                    <a:pt x="0" y="682752"/>
                  </a:lnTo>
                  <a:close/>
                </a:path>
              </a:pathLst>
            </a:custGeom>
            <a:blipFill>
              <a:blip r:embed="rId3">
                <a:alphaModFix amt="0"/>
              </a:blip>
              <a:stretch>
                <a:fillRect l="0" t="-252713" r="0" b="-252713"/>
              </a:stretch>
            </a:blipFill>
          </p:spPr>
        </p:sp>
        <p:sp>
          <p:nvSpPr>
            <p:cNvPr name="TextBox 102" id="102"/>
            <p:cNvSpPr txBox="true"/>
            <p:nvPr/>
          </p:nvSpPr>
          <p:spPr>
            <a:xfrm>
              <a:off x="0" y="-38100"/>
              <a:ext cx="10607040" cy="720852"/>
            </a:xfrm>
            <a:prstGeom prst="rect">
              <a:avLst/>
            </a:prstGeom>
          </p:spPr>
          <p:txBody>
            <a:bodyPr anchor="ctr" rtlCol="false" tIns="0" lIns="0" bIns="0" rIns="0"/>
            <a:lstStyle/>
            <a:p>
              <a:pPr algn="l">
                <a:lnSpc>
                  <a:spcPts val="2280"/>
                </a:lnSpc>
              </a:pPr>
              <a:r>
                <a:rPr lang="en-US" sz="1900" b="true">
                  <a:solidFill>
                    <a:srgbClr val="0D1B3E"/>
                  </a:solidFill>
                  <a:latin typeface="Calibri (MS) Bold"/>
                  <a:ea typeface="Calibri (MS) Bold"/>
                  <a:cs typeface="Calibri (MS) Bold"/>
                  <a:sym typeface="Calibri (MS) Bold"/>
                </a:rPr>
                <a:t>✓ TSFE:  </a:t>
              </a:r>
              <a:r>
                <a:rPr lang="en-US" sz="1900">
                  <a:solidFill>
                    <a:srgbClr val="1E293B"/>
                  </a:solidFill>
                  <a:latin typeface="Calibri (MS)"/>
                  <a:ea typeface="Calibri (MS)"/>
                  <a:cs typeface="Calibri (MS)"/>
                  <a:sym typeface="Calibri (MS)"/>
                </a:rPr>
                <a:t>V_local already contains fused multi-scale features. GAP then produces a global vector that sees all object scales — small and large.</a:t>
              </a:r>
            </a:p>
          </p:txBody>
        </p:sp>
      </p:grpSp>
      <p:grpSp>
        <p:nvGrpSpPr>
          <p:cNvPr name="Group 103" id="103"/>
          <p:cNvGrpSpPr/>
          <p:nvPr/>
        </p:nvGrpSpPr>
        <p:grpSpPr>
          <a:xfrm rot="0">
            <a:off x="9140190" y="8737854"/>
            <a:ext cx="7620" cy="1031748"/>
            <a:chOff x="0" y="0"/>
            <a:chExt cx="10160" cy="1375664"/>
          </a:xfrm>
        </p:grpSpPr>
        <p:sp>
          <p:nvSpPr>
            <p:cNvPr name="Freeform 104" id="104"/>
            <p:cNvSpPr/>
            <p:nvPr/>
          </p:nvSpPr>
          <p:spPr>
            <a:xfrm flipH="false" flipV="false" rot="0">
              <a:off x="0" y="5080"/>
              <a:ext cx="10160" cy="1365504"/>
            </a:xfrm>
            <a:custGeom>
              <a:avLst/>
              <a:gdLst/>
              <a:ahLst/>
              <a:cxnLst/>
              <a:rect r="r" b="b" t="t" l="l"/>
              <a:pathLst>
                <a:path h="1365504" w="10160">
                  <a:moveTo>
                    <a:pt x="10160" y="0"/>
                  </a:moveTo>
                  <a:lnTo>
                    <a:pt x="10160" y="1365504"/>
                  </a:lnTo>
                  <a:lnTo>
                    <a:pt x="0" y="1365504"/>
                  </a:lnTo>
                  <a:lnTo>
                    <a:pt x="0" y="0"/>
                  </a:lnTo>
                  <a:close/>
                </a:path>
              </a:pathLst>
            </a:custGeom>
            <a:solidFill>
              <a:srgbClr val="E2E8F0"/>
            </a:solidFill>
          </p:spPr>
        </p:sp>
      </p:grpSp>
      <p:grpSp>
        <p:nvGrpSpPr>
          <p:cNvPr name="Group 105" id="105"/>
          <p:cNvGrpSpPr/>
          <p:nvPr/>
        </p:nvGrpSpPr>
        <p:grpSpPr>
          <a:xfrm rot="0">
            <a:off x="9290304" y="9253728"/>
            <a:ext cx="8046720" cy="512064"/>
            <a:chOff x="0" y="0"/>
            <a:chExt cx="10728960" cy="682752"/>
          </a:xfrm>
        </p:grpSpPr>
        <p:sp>
          <p:nvSpPr>
            <p:cNvPr name="Freeform 106" id="106"/>
            <p:cNvSpPr/>
            <p:nvPr/>
          </p:nvSpPr>
          <p:spPr>
            <a:xfrm flipH="false" flipV="false" rot="0">
              <a:off x="0" y="0"/>
              <a:ext cx="10728960" cy="682752"/>
            </a:xfrm>
            <a:custGeom>
              <a:avLst/>
              <a:gdLst/>
              <a:ahLst/>
              <a:cxnLst/>
              <a:rect r="r" b="b" t="t" l="l"/>
              <a:pathLst>
                <a:path h="682752" w="10728960">
                  <a:moveTo>
                    <a:pt x="0" y="0"/>
                  </a:moveTo>
                  <a:lnTo>
                    <a:pt x="10728960" y="0"/>
                  </a:lnTo>
                  <a:lnTo>
                    <a:pt x="10728960" y="682752"/>
                  </a:lnTo>
                  <a:lnTo>
                    <a:pt x="0" y="682752"/>
                  </a:lnTo>
                  <a:close/>
                </a:path>
              </a:pathLst>
            </a:custGeom>
            <a:blipFill>
              <a:blip r:embed="rId3">
                <a:alphaModFix amt="0"/>
              </a:blip>
              <a:stretch>
                <a:fillRect l="0" t="-256193" r="0" b="-256193"/>
              </a:stretch>
            </a:blipFill>
          </p:spPr>
        </p:sp>
        <p:sp>
          <p:nvSpPr>
            <p:cNvPr name="TextBox 107" id="107"/>
            <p:cNvSpPr txBox="true"/>
            <p:nvPr/>
          </p:nvSpPr>
          <p:spPr>
            <a:xfrm>
              <a:off x="0" y="-38100"/>
              <a:ext cx="10728960" cy="720852"/>
            </a:xfrm>
            <a:prstGeom prst="rect">
              <a:avLst/>
            </a:prstGeom>
          </p:spPr>
          <p:txBody>
            <a:bodyPr anchor="ctr" rtlCol="false" tIns="0" lIns="0" bIns="0" rIns="0"/>
            <a:lstStyle/>
            <a:p>
              <a:pPr algn="l">
                <a:lnSpc>
                  <a:spcPts val="2280"/>
                </a:lnSpc>
              </a:pPr>
              <a:r>
                <a:rPr lang="en-US" sz="1900" b="true">
                  <a:solidFill>
                    <a:srgbClr val="E05B4B"/>
                  </a:solidFill>
                  <a:latin typeface="Calibri (MS) Bold"/>
                  <a:ea typeface="Calibri (MS) Bold"/>
                  <a:cs typeface="Calibri (MS) Bold"/>
                  <a:sym typeface="Calibri (MS) Bold"/>
                </a:rPr>
                <a:t>✗ Alternative:  </a:t>
              </a:r>
              <a:r>
                <a:rPr lang="en-US" sz="1900">
                  <a:solidFill>
                    <a:srgbClr val="94A3B8"/>
                  </a:solidFill>
                  <a:latin typeface="Calibri (MS)"/>
                  <a:ea typeface="Calibri (MS)"/>
                  <a:cs typeface="Calibri (MS)"/>
                  <a:sym typeface="Calibri (MS)"/>
                </a:rPr>
                <a:t>GAP on F4 only sees large-scale semantics. Small objects (cars, people) are invisible to deep layers → incomplete scene context.</a:t>
              </a: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D1B3E"/>
        </a:solidFill>
      </p:bgPr>
    </p:bg>
    <p:spTree>
      <p:nvGrpSpPr>
        <p:cNvPr id="1" name=""/>
        <p:cNvGrpSpPr/>
        <p:nvPr/>
      </p:nvGrpSpPr>
      <p:grpSpPr>
        <a:xfrm>
          <a:off x="0" y="0"/>
          <a:ext cx="0" cy="0"/>
          <a:chOff x="0" y="0"/>
          <a:chExt cx="0" cy="0"/>
        </a:xfrm>
      </p:grpSpPr>
      <p:grpSp>
        <p:nvGrpSpPr>
          <p:cNvPr name="Group 2" id="2"/>
          <p:cNvGrpSpPr/>
          <p:nvPr/>
        </p:nvGrpSpPr>
        <p:grpSpPr>
          <a:xfrm rot="0">
            <a:off x="16080743" y="-12697"/>
            <a:ext cx="2219963" cy="10312403"/>
            <a:chOff x="0" y="0"/>
            <a:chExt cx="2959951" cy="13749871"/>
          </a:xfrm>
        </p:grpSpPr>
        <p:sp>
          <p:nvSpPr>
            <p:cNvPr name="Freeform 3" id="3"/>
            <p:cNvSpPr/>
            <p:nvPr/>
          </p:nvSpPr>
          <p:spPr>
            <a:xfrm flipH="false" flipV="false" rot="0">
              <a:off x="16891" y="16891"/>
              <a:ext cx="2926080" cy="13715999"/>
            </a:xfrm>
            <a:custGeom>
              <a:avLst/>
              <a:gdLst/>
              <a:ahLst/>
              <a:cxnLst/>
              <a:rect r="r" b="b" t="t" l="l"/>
              <a:pathLst>
                <a:path h="13715999" w="2926080">
                  <a:moveTo>
                    <a:pt x="0" y="0"/>
                  </a:moveTo>
                  <a:lnTo>
                    <a:pt x="2926080" y="0"/>
                  </a:lnTo>
                  <a:lnTo>
                    <a:pt x="2926080" y="13715999"/>
                  </a:lnTo>
                  <a:lnTo>
                    <a:pt x="0" y="13715999"/>
                  </a:lnTo>
                  <a:close/>
                </a:path>
              </a:pathLst>
            </a:custGeom>
            <a:solidFill>
              <a:srgbClr val="0F2354"/>
            </a:solidFill>
          </p:spPr>
        </p:sp>
        <p:sp>
          <p:nvSpPr>
            <p:cNvPr name="Freeform 4" id="4"/>
            <p:cNvSpPr/>
            <p:nvPr/>
          </p:nvSpPr>
          <p:spPr>
            <a:xfrm flipH="false" flipV="false" rot="0">
              <a:off x="0" y="0"/>
              <a:ext cx="2959862" cy="13749782"/>
            </a:xfrm>
            <a:custGeom>
              <a:avLst/>
              <a:gdLst/>
              <a:ahLst/>
              <a:cxnLst/>
              <a:rect r="r" b="b" t="t" l="l"/>
              <a:pathLst>
                <a:path h="13749782" w="2959862">
                  <a:moveTo>
                    <a:pt x="16891" y="0"/>
                  </a:moveTo>
                  <a:lnTo>
                    <a:pt x="2942971" y="0"/>
                  </a:lnTo>
                  <a:cubicBezTo>
                    <a:pt x="2952369" y="0"/>
                    <a:pt x="2959862" y="7620"/>
                    <a:pt x="2959862" y="16891"/>
                  </a:cubicBezTo>
                  <a:lnTo>
                    <a:pt x="2959862" y="13732890"/>
                  </a:lnTo>
                  <a:cubicBezTo>
                    <a:pt x="2959862" y="13742290"/>
                    <a:pt x="2952242" y="13749782"/>
                    <a:pt x="2942971" y="13749782"/>
                  </a:cubicBezTo>
                  <a:lnTo>
                    <a:pt x="16891" y="13749782"/>
                  </a:lnTo>
                  <a:cubicBezTo>
                    <a:pt x="7493" y="13749782"/>
                    <a:pt x="0" y="13742163"/>
                    <a:pt x="0" y="13732890"/>
                  </a:cubicBezTo>
                  <a:lnTo>
                    <a:pt x="0" y="16891"/>
                  </a:lnTo>
                  <a:cubicBezTo>
                    <a:pt x="0" y="7620"/>
                    <a:pt x="7620" y="0"/>
                    <a:pt x="16891" y="0"/>
                  </a:cubicBezTo>
                  <a:moveTo>
                    <a:pt x="16891" y="33909"/>
                  </a:moveTo>
                  <a:lnTo>
                    <a:pt x="16891" y="16891"/>
                  </a:lnTo>
                  <a:lnTo>
                    <a:pt x="33909" y="16891"/>
                  </a:lnTo>
                  <a:lnTo>
                    <a:pt x="33909" y="13732890"/>
                  </a:lnTo>
                  <a:lnTo>
                    <a:pt x="16891" y="13732890"/>
                  </a:lnTo>
                  <a:lnTo>
                    <a:pt x="16891" y="13716000"/>
                  </a:lnTo>
                  <a:lnTo>
                    <a:pt x="2942971" y="13716000"/>
                  </a:lnTo>
                  <a:lnTo>
                    <a:pt x="2942971" y="13732890"/>
                  </a:lnTo>
                  <a:lnTo>
                    <a:pt x="2926080" y="13732890"/>
                  </a:lnTo>
                  <a:lnTo>
                    <a:pt x="2926080" y="16891"/>
                  </a:lnTo>
                  <a:lnTo>
                    <a:pt x="2942971" y="16891"/>
                  </a:lnTo>
                  <a:lnTo>
                    <a:pt x="2942971" y="33909"/>
                  </a:lnTo>
                  <a:lnTo>
                    <a:pt x="16891" y="33909"/>
                  </a:lnTo>
                  <a:close/>
                </a:path>
              </a:pathLst>
            </a:custGeom>
            <a:solidFill>
              <a:srgbClr val="0F2354"/>
            </a:solidFill>
          </p:spPr>
        </p:sp>
      </p:grpSp>
      <p:grpSp>
        <p:nvGrpSpPr>
          <p:cNvPr name="Group 5" id="5"/>
          <p:cNvGrpSpPr/>
          <p:nvPr/>
        </p:nvGrpSpPr>
        <p:grpSpPr>
          <a:xfrm rot="0">
            <a:off x="914400" y="548640"/>
            <a:ext cx="15544800" cy="1005840"/>
            <a:chOff x="0" y="0"/>
            <a:chExt cx="20726400" cy="1341120"/>
          </a:xfrm>
        </p:grpSpPr>
        <p:sp>
          <p:nvSpPr>
            <p:cNvPr name="Freeform 6" id="6"/>
            <p:cNvSpPr/>
            <p:nvPr/>
          </p:nvSpPr>
          <p:spPr>
            <a:xfrm flipH="false" flipV="false" rot="0">
              <a:off x="0" y="0"/>
              <a:ext cx="20726400" cy="1341120"/>
            </a:xfrm>
            <a:custGeom>
              <a:avLst/>
              <a:gdLst/>
              <a:ahLst/>
              <a:cxnLst/>
              <a:rect r="r" b="b" t="t" l="l"/>
              <a:pathLst>
                <a:path h="1341120" w="20726400">
                  <a:moveTo>
                    <a:pt x="0" y="0"/>
                  </a:moveTo>
                  <a:lnTo>
                    <a:pt x="20726400" y="0"/>
                  </a:lnTo>
                  <a:lnTo>
                    <a:pt x="20726400" y="1341120"/>
                  </a:lnTo>
                  <a:lnTo>
                    <a:pt x="0" y="1341120"/>
                  </a:lnTo>
                  <a:close/>
                </a:path>
              </a:pathLst>
            </a:custGeom>
            <a:blipFill>
              <a:blip r:embed="rId3">
                <a:alphaModFix amt="0"/>
              </a:blip>
              <a:stretch>
                <a:fillRect l="0" t="-251132" r="0" b="-251132"/>
              </a:stretch>
            </a:blipFill>
          </p:spPr>
        </p:sp>
        <p:sp>
          <p:nvSpPr>
            <p:cNvPr name="TextBox 7" id="7"/>
            <p:cNvSpPr txBox="true"/>
            <p:nvPr/>
          </p:nvSpPr>
          <p:spPr>
            <a:xfrm>
              <a:off x="0" y="-114300"/>
              <a:ext cx="20726400" cy="1455420"/>
            </a:xfrm>
            <a:prstGeom prst="rect">
              <a:avLst/>
            </a:prstGeom>
          </p:spPr>
          <p:txBody>
            <a:bodyPr anchor="ctr" rtlCol="false" tIns="0" lIns="0" bIns="0" rIns="0"/>
            <a:lstStyle/>
            <a:p>
              <a:pPr algn="l">
                <a:lnSpc>
                  <a:spcPts val="6719"/>
                </a:lnSpc>
              </a:pPr>
              <a:r>
                <a:rPr lang="en-US" sz="5599" b="true">
                  <a:solidFill>
                    <a:srgbClr val="FFFFFF"/>
                  </a:solidFill>
                  <a:latin typeface="Calibri (MS) Bold"/>
                  <a:ea typeface="Calibri (MS) Bold"/>
                  <a:cs typeface="Calibri (MS) Bold"/>
                  <a:sym typeface="Calibri (MS) Bold"/>
                </a:rPr>
                <a:t>Summary &amp; Takeaways</a:t>
              </a:r>
            </a:p>
          </p:txBody>
        </p:sp>
      </p:grpSp>
      <p:grpSp>
        <p:nvGrpSpPr>
          <p:cNvPr name="Group 8" id="8"/>
          <p:cNvGrpSpPr/>
          <p:nvPr/>
        </p:nvGrpSpPr>
        <p:grpSpPr>
          <a:xfrm rot="0">
            <a:off x="718823" y="1633223"/>
            <a:ext cx="135131" cy="80267"/>
            <a:chOff x="0" y="0"/>
            <a:chExt cx="180175" cy="107023"/>
          </a:xfrm>
        </p:grpSpPr>
        <p:sp>
          <p:nvSpPr>
            <p:cNvPr name="Freeform 9" id="9"/>
            <p:cNvSpPr/>
            <p:nvPr/>
          </p:nvSpPr>
          <p:spPr>
            <a:xfrm flipH="false" flipV="false" rot="0">
              <a:off x="16891" y="16891"/>
              <a:ext cx="146304" cy="73152"/>
            </a:xfrm>
            <a:custGeom>
              <a:avLst/>
              <a:gdLst/>
              <a:ahLst/>
              <a:cxnLst/>
              <a:rect r="r" b="b" t="t" l="l"/>
              <a:pathLst>
                <a:path h="73152" w="146304">
                  <a:moveTo>
                    <a:pt x="0" y="0"/>
                  </a:moveTo>
                  <a:lnTo>
                    <a:pt x="146304" y="0"/>
                  </a:lnTo>
                  <a:lnTo>
                    <a:pt x="146304" y="73152"/>
                  </a:lnTo>
                  <a:lnTo>
                    <a:pt x="0" y="73152"/>
                  </a:lnTo>
                  <a:close/>
                </a:path>
              </a:pathLst>
            </a:custGeom>
            <a:solidFill>
              <a:srgbClr val="0D9488"/>
            </a:solidFill>
          </p:spPr>
        </p:sp>
        <p:sp>
          <p:nvSpPr>
            <p:cNvPr name="Freeform 10" id="10"/>
            <p:cNvSpPr/>
            <p:nvPr/>
          </p:nvSpPr>
          <p:spPr>
            <a:xfrm flipH="false" flipV="false" rot="0">
              <a:off x="0" y="0"/>
              <a:ext cx="180086" cy="106936"/>
            </a:xfrm>
            <a:custGeom>
              <a:avLst/>
              <a:gdLst/>
              <a:ahLst/>
              <a:cxnLst/>
              <a:rect r="r" b="b" t="t" l="l"/>
              <a:pathLst>
                <a:path h="106936" w="180086">
                  <a:moveTo>
                    <a:pt x="16891" y="0"/>
                  </a:moveTo>
                  <a:lnTo>
                    <a:pt x="163195" y="0"/>
                  </a:lnTo>
                  <a:cubicBezTo>
                    <a:pt x="172593" y="0"/>
                    <a:pt x="180086" y="7620"/>
                    <a:pt x="180086" y="16891"/>
                  </a:cubicBezTo>
                  <a:lnTo>
                    <a:pt x="180086" y="90043"/>
                  </a:lnTo>
                  <a:cubicBezTo>
                    <a:pt x="180086" y="99441"/>
                    <a:pt x="172466" y="106934"/>
                    <a:pt x="163195" y="106934"/>
                  </a:cubicBezTo>
                  <a:lnTo>
                    <a:pt x="16891" y="106934"/>
                  </a:lnTo>
                  <a:cubicBezTo>
                    <a:pt x="7620" y="107061"/>
                    <a:pt x="0" y="99441"/>
                    <a:pt x="0" y="90043"/>
                  </a:cubicBezTo>
                  <a:lnTo>
                    <a:pt x="0" y="16891"/>
                  </a:lnTo>
                  <a:cubicBezTo>
                    <a:pt x="0" y="7620"/>
                    <a:pt x="7620" y="0"/>
                    <a:pt x="16891" y="0"/>
                  </a:cubicBezTo>
                  <a:moveTo>
                    <a:pt x="16891" y="33909"/>
                  </a:moveTo>
                  <a:lnTo>
                    <a:pt x="16891" y="16891"/>
                  </a:lnTo>
                  <a:lnTo>
                    <a:pt x="33909" y="16891"/>
                  </a:lnTo>
                  <a:lnTo>
                    <a:pt x="33909" y="90043"/>
                  </a:lnTo>
                  <a:lnTo>
                    <a:pt x="16891" y="90043"/>
                  </a:lnTo>
                  <a:lnTo>
                    <a:pt x="16891" y="73152"/>
                  </a:lnTo>
                  <a:lnTo>
                    <a:pt x="163195" y="73152"/>
                  </a:lnTo>
                  <a:lnTo>
                    <a:pt x="163195" y="90043"/>
                  </a:lnTo>
                  <a:lnTo>
                    <a:pt x="146304" y="90043"/>
                  </a:lnTo>
                  <a:lnTo>
                    <a:pt x="146304" y="16891"/>
                  </a:lnTo>
                  <a:lnTo>
                    <a:pt x="163195" y="16891"/>
                  </a:lnTo>
                  <a:lnTo>
                    <a:pt x="163195" y="33909"/>
                  </a:lnTo>
                  <a:lnTo>
                    <a:pt x="16891" y="33909"/>
                  </a:lnTo>
                  <a:close/>
                </a:path>
              </a:pathLst>
            </a:custGeom>
            <a:solidFill>
              <a:srgbClr val="0D9488"/>
            </a:solidFill>
          </p:spPr>
        </p:sp>
      </p:grpSp>
      <p:grpSp>
        <p:nvGrpSpPr>
          <p:cNvPr name="Group 11" id="11"/>
          <p:cNvGrpSpPr/>
          <p:nvPr/>
        </p:nvGrpSpPr>
        <p:grpSpPr>
          <a:xfrm rot="0">
            <a:off x="725167" y="1676143"/>
            <a:ext cx="14643097" cy="12697"/>
            <a:chOff x="0" y="0"/>
            <a:chExt cx="19524129" cy="16929"/>
          </a:xfrm>
        </p:grpSpPr>
        <p:sp>
          <p:nvSpPr>
            <p:cNvPr name="Freeform 12" id="12"/>
            <p:cNvSpPr/>
            <p:nvPr/>
          </p:nvSpPr>
          <p:spPr>
            <a:xfrm flipH="false" flipV="false" rot="0">
              <a:off x="8509" y="0"/>
              <a:ext cx="19507201" cy="16891"/>
            </a:xfrm>
            <a:custGeom>
              <a:avLst/>
              <a:gdLst/>
              <a:ahLst/>
              <a:cxnLst/>
              <a:rect r="r" b="b" t="t" l="l"/>
              <a:pathLst>
                <a:path h="16891" w="19507201">
                  <a:moveTo>
                    <a:pt x="0" y="0"/>
                  </a:moveTo>
                  <a:lnTo>
                    <a:pt x="19507201" y="0"/>
                  </a:lnTo>
                  <a:lnTo>
                    <a:pt x="19507201" y="16891"/>
                  </a:lnTo>
                  <a:lnTo>
                    <a:pt x="0" y="16891"/>
                  </a:lnTo>
                  <a:close/>
                </a:path>
              </a:pathLst>
            </a:custGeom>
            <a:solidFill>
              <a:srgbClr val="1E3A6A"/>
            </a:solidFill>
          </p:spPr>
        </p:sp>
      </p:grpSp>
      <p:grpSp>
        <p:nvGrpSpPr>
          <p:cNvPr name="Group 13" id="13"/>
          <p:cNvGrpSpPr/>
          <p:nvPr/>
        </p:nvGrpSpPr>
        <p:grpSpPr>
          <a:xfrm rot="0">
            <a:off x="725167" y="1913887"/>
            <a:ext cx="7785097" cy="2390137"/>
            <a:chOff x="0" y="0"/>
            <a:chExt cx="10380129" cy="3186849"/>
          </a:xfrm>
        </p:grpSpPr>
        <p:sp>
          <p:nvSpPr>
            <p:cNvPr name="Freeform 14" id="14"/>
            <p:cNvSpPr/>
            <p:nvPr/>
          </p:nvSpPr>
          <p:spPr>
            <a:xfrm flipH="false" flipV="false" rot="0">
              <a:off x="8509" y="8509"/>
              <a:ext cx="10363200" cy="3169920"/>
            </a:xfrm>
            <a:custGeom>
              <a:avLst/>
              <a:gdLst/>
              <a:ahLst/>
              <a:cxnLst/>
              <a:rect r="r" b="b" t="t" l="l"/>
              <a:pathLst>
                <a:path h="3169920" w="10363200">
                  <a:moveTo>
                    <a:pt x="0" y="0"/>
                  </a:moveTo>
                  <a:lnTo>
                    <a:pt x="10363200" y="0"/>
                  </a:lnTo>
                  <a:lnTo>
                    <a:pt x="10363200" y="3169920"/>
                  </a:lnTo>
                  <a:lnTo>
                    <a:pt x="0" y="3169920"/>
                  </a:lnTo>
                  <a:close/>
                </a:path>
              </a:pathLst>
            </a:custGeom>
            <a:solidFill>
              <a:srgbClr val="0F2354"/>
            </a:solidFill>
          </p:spPr>
        </p:sp>
        <p:sp>
          <p:nvSpPr>
            <p:cNvPr name="Freeform 15" id="15"/>
            <p:cNvSpPr/>
            <p:nvPr/>
          </p:nvSpPr>
          <p:spPr>
            <a:xfrm flipH="false" flipV="false" rot="0">
              <a:off x="0" y="0"/>
              <a:ext cx="10380218" cy="3186938"/>
            </a:xfrm>
            <a:custGeom>
              <a:avLst/>
              <a:gdLst/>
              <a:ahLst/>
              <a:cxnLst/>
              <a:rect r="r" b="b" t="t" l="l"/>
              <a:pathLst>
                <a:path h="3186938" w="10380218">
                  <a:moveTo>
                    <a:pt x="8509" y="0"/>
                  </a:moveTo>
                  <a:lnTo>
                    <a:pt x="10371709" y="0"/>
                  </a:lnTo>
                  <a:cubicBezTo>
                    <a:pt x="10376408" y="0"/>
                    <a:pt x="10380218" y="3810"/>
                    <a:pt x="10380218" y="8509"/>
                  </a:cubicBezTo>
                  <a:lnTo>
                    <a:pt x="10380218" y="3178429"/>
                  </a:lnTo>
                  <a:cubicBezTo>
                    <a:pt x="10380218" y="3183128"/>
                    <a:pt x="10376408" y="3186938"/>
                    <a:pt x="10371709" y="3186938"/>
                  </a:cubicBezTo>
                  <a:lnTo>
                    <a:pt x="8509" y="3186938"/>
                  </a:lnTo>
                  <a:cubicBezTo>
                    <a:pt x="3810" y="3186938"/>
                    <a:pt x="0" y="3183128"/>
                    <a:pt x="0" y="3178429"/>
                  </a:cubicBezTo>
                  <a:lnTo>
                    <a:pt x="0" y="8509"/>
                  </a:lnTo>
                  <a:cubicBezTo>
                    <a:pt x="0" y="3810"/>
                    <a:pt x="3810" y="0"/>
                    <a:pt x="8509" y="0"/>
                  </a:cubicBezTo>
                  <a:moveTo>
                    <a:pt x="8509" y="16891"/>
                  </a:moveTo>
                  <a:lnTo>
                    <a:pt x="8509" y="8509"/>
                  </a:lnTo>
                  <a:lnTo>
                    <a:pt x="17018" y="8509"/>
                  </a:lnTo>
                  <a:lnTo>
                    <a:pt x="17018" y="3178429"/>
                  </a:lnTo>
                  <a:lnTo>
                    <a:pt x="8509" y="3178429"/>
                  </a:lnTo>
                  <a:lnTo>
                    <a:pt x="8509" y="3169920"/>
                  </a:lnTo>
                  <a:lnTo>
                    <a:pt x="10371709" y="3169920"/>
                  </a:lnTo>
                  <a:lnTo>
                    <a:pt x="10371709" y="3178429"/>
                  </a:lnTo>
                  <a:lnTo>
                    <a:pt x="10363200" y="3178429"/>
                  </a:lnTo>
                  <a:lnTo>
                    <a:pt x="10363200" y="8509"/>
                  </a:lnTo>
                  <a:lnTo>
                    <a:pt x="10371709" y="8509"/>
                  </a:lnTo>
                  <a:lnTo>
                    <a:pt x="10371709" y="17018"/>
                  </a:lnTo>
                  <a:lnTo>
                    <a:pt x="8509" y="17018"/>
                  </a:lnTo>
                  <a:close/>
                </a:path>
              </a:pathLst>
            </a:custGeom>
            <a:solidFill>
              <a:srgbClr val="0D9488"/>
            </a:solidFill>
          </p:spPr>
        </p:sp>
      </p:grpSp>
      <p:grpSp>
        <p:nvGrpSpPr>
          <p:cNvPr name="Group 16" id="16"/>
          <p:cNvGrpSpPr/>
          <p:nvPr/>
        </p:nvGrpSpPr>
        <p:grpSpPr>
          <a:xfrm rot="0">
            <a:off x="718823" y="1907543"/>
            <a:ext cx="756923" cy="2402843"/>
            <a:chOff x="0" y="0"/>
            <a:chExt cx="1009231" cy="3203791"/>
          </a:xfrm>
        </p:grpSpPr>
        <p:sp>
          <p:nvSpPr>
            <p:cNvPr name="Freeform 17" id="17"/>
            <p:cNvSpPr/>
            <p:nvPr/>
          </p:nvSpPr>
          <p:spPr>
            <a:xfrm flipH="false" flipV="false" rot="0">
              <a:off x="16891" y="16891"/>
              <a:ext cx="975360" cy="3169920"/>
            </a:xfrm>
            <a:custGeom>
              <a:avLst/>
              <a:gdLst/>
              <a:ahLst/>
              <a:cxnLst/>
              <a:rect r="r" b="b" t="t" l="l"/>
              <a:pathLst>
                <a:path h="3169920" w="975360">
                  <a:moveTo>
                    <a:pt x="0" y="0"/>
                  </a:moveTo>
                  <a:lnTo>
                    <a:pt x="975360" y="0"/>
                  </a:lnTo>
                  <a:lnTo>
                    <a:pt x="975360" y="3169920"/>
                  </a:lnTo>
                  <a:lnTo>
                    <a:pt x="0" y="3169920"/>
                  </a:lnTo>
                  <a:close/>
                </a:path>
              </a:pathLst>
            </a:custGeom>
            <a:solidFill>
              <a:srgbClr val="0D9488"/>
            </a:solidFill>
          </p:spPr>
        </p:sp>
        <p:sp>
          <p:nvSpPr>
            <p:cNvPr name="Freeform 18" id="18"/>
            <p:cNvSpPr/>
            <p:nvPr/>
          </p:nvSpPr>
          <p:spPr>
            <a:xfrm flipH="false" flipV="false" rot="0">
              <a:off x="0" y="0"/>
              <a:ext cx="1009142" cy="3203702"/>
            </a:xfrm>
            <a:custGeom>
              <a:avLst/>
              <a:gdLst/>
              <a:ahLst/>
              <a:cxnLst/>
              <a:rect r="r" b="b" t="t" l="l"/>
              <a:pathLst>
                <a:path h="3203702" w="1009142">
                  <a:moveTo>
                    <a:pt x="16891" y="0"/>
                  </a:moveTo>
                  <a:lnTo>
                    <a:pt x="992251" y="0"/>
                  </a:lnTo>
                  <a:cubicBezTo>
                    <a:pt x="1001649" y="0"/>
                    <a:pt x="1009142" y="7620"/>
                    <a:pt x="1009142" y="16891"/>
                  </a:cubicBezTo>
                  <a:lnTo>
                    <a:pt x="1009142" y="3186811"/>
                  </a:lnTo>
                  <a:cubicBezTo>
                    <a:pt x="1009142" y="3196209"/>
                    <a:pt x="1001522" y="3203702"/>
                    <a:pt x="992251" y="3203702"/>
                  </a:cubicBezTo>
                  <a:lnTo>
                    <a:pt x="16891" y="3203702"/>
                  </a:lnTo>
                  <a:cubicBezTo>
                    <a:pt x="7493" y="3203702"/>
                    <a:pt x="0" y="3196082"/>
                    <a:pt x="0" y="3186811"/>
                  </a:cubicBezTo>
                  <a:lnTo>
                    <a:pt x="0" y="16891"/>
                  </a:lnTo>
                  <a:cubicBezTo>
                    <a:pt x="0" y="7620"/>
                    <a:pt x="7620" y="0"/>
                    <a:pt x="16891" y="0"/>
                  </a:cubicBezTo>
                  <a:moveTo>
                    <a:pt x="16891" y="33909"/>
                  </a:moveTo>
                  <a:lnTo>
                    <a:pt x="16891" y="16891"/>
                  </a:lnTo>
                  <a:lnTo>
                    <a:pt x="33909" y="16891"/>
                  </a:lnTo>
                  <a:lnTo>
                    <a:pt x="33909" y="3186811"/>
                  </a:lnTo>
                  <a:lnTo>
                    <a:pt x="16891" y="3186811"/>
                  </a:lnTo>
                  <a:lnTo>
                    <a:pt x="16891" y="3169920"/>
                  </a:lnTo>
                  <a:lnTo>
                    <a:pt x="992251" y="3169920"/>
                  </a:lnTo>
                  <a:lnTo>
                    <a:pt x="992251" y="3186811"/>
                  </a:lnTo>
                  <a:lnTo>
                    <a:pt x="975360" y="3186811"/>
                  </a:lnTo>
                  <a:lnTo>
                    <a:pt x="975360" y="16891"/>
                  </a:lnTo>
                  <a:lnTo>
                    <a:pt x="992251" y="16891"/>
                  </a:lnTo>
                  <a:lnTo>
                    <a:pt x="992251" y="33909"/>
                  </a:lnTo>
                  <a:lnTo>
                    <a:pt x="16891" y="33909"/>
                  </a:lnTo>
                  <a:close/>
                </a:path>
              </a:pathLst>
            </a:custGeom>
            <a:solidFill>
              <a:srgbClr val="0D9488"/>
            </a:solidFill>
          </p:spPr>
        </p:sp>
      </p:grpSp>
      <p:grpSp>
        <p:nvGrpSpPr>
          <p:cNvPr name="Group 19" id="19"/>
          <p:cNvGrpSpPr/>
          <p:nvPr/>
        </p:nvGrpSpPr>
        <p:grpSpPr>
          <a:xfrm rot="0">
            <a:off x="731520" y="1920240"/>
            <a:ext cx="731520" cy="2377440"/>
            <a:chOff x="0" y="0"/>
            <a:chExt cx="975360" cy="3169920"/>
          </a:xfrm>
        </p:grpSpPr>
        <p:sp>
          <p:nvSpPr>
            <p:cNvPr name="Freeform 20" id="20"/>
            <p:cNvSpPr/>
            <p:nvPr/>
          </p:nvSpPr>
          <p:spPr>
            <a:xfrm flipH="false" flipV="false" rot="0">
              <a:off x="0" y="0"/>
              <a:ext cx="975360" cy="3169920"/>
            </a:xfrm>
            <a:custGeom>
              <a:avLst/>
              <a:gdLst/>
              <a:ahLst/>
              <a:cxnLst/>
              <a:rect r="r" b="b" t="t" l="l"/>
              <a:pathLst>
                <a:path h="3169920" w="975360">
                  <a:moveTo>
                    <a:pt x="0" y="0"/>
                  </a:moveTo>
                  <a:lnTo>
                    <a:pt x="975360" y="0"/>
                  </a:lnTo>
                  <a:lnTo>
                    <a:pt x="975360" y="3169920"/>
                  </a:lnTo>
                  <a:lnTo>
                    <a:pt x="0" y="3169920"/>
                  </a:lnTo>
                  <a:close/>
                </a:path>
              </a:pathLst>
            </a:custGeom>
            <a:blipFill>
              <a:blip r:embed="rId3">
                <a:alphaModFix amt="0"/>
              </a:blip>
              <a:stretch>
                <a:fillRect l="-366986" t="0" r="-366986" b="0"/>
              </a:stretch>
            </a:blipFill>
          </p:spPr>
        </p:sp>
        <p:sp>
          <p:nvSpPr>
            <p:cNvPr name="TextBox 21" id="21"/>
            <p:cNvSpPr txBox="true"/>
            <p:nvPr/>
          </p:nvSpPr>
          <p:spPr>
            <a:xfrm>
              <a:off x="0" y="-47625"/>
              <a:ext cx="975360" cy="3217545"/>
            </a:xfrm>
            <a:prstGeom prst="rect">
              <a:avLst/>
            </a:prstGeom>
          </p:spPr>
          <p:txBody>
            <a:bodyPr anchor="ctr" rtlCol="false" tIns="0" lIns="0" bIns="0" rIns="0"/>
            <a:lstStyle/>
            <a:p>
              <a:pPr algn="ctr">
                <a:lnSpc>
                  <a:spcPts val="3359"/>
                </a:lnSpc>
              </a:pPr>
              <a:r>
                <a:rPr lang="en-US" sz="2799" b="true">
                  <a:solidFill>
                    <a:srgbClr val="FFFFFF"/>
                  </a:solidFill>
                  <a:latin typeface="Calibri (MS) Bold"/>
                  <a:ea typeface="Calibri (MS) Bold"/>
                  <a:cs typeface="Calibri (MS) Bold"/>
                  <a:sym typeface="Calibri (MS) Bold"/>
                </a:rPr>
                <a:t>1</a:t>
              </a:r>
            </a:p>
          </p:txBody>
        </p:sp>
      </p:grpSp>
      <p:grpSp>
        <p:nvGrpSpPr>
          <p:cNvPr name="Group 22" id="22"/>
          <p:cNvGrpSpPr/>
          <p:nvPr/>
        </p:nvGrpSpPr>
        <p:grpSpPr>
          <a:xfrm rot="0">
            <a:off x="1609344" y="2103120"/>
            <a:ext cx="6675120" cy="585216"/>
            <a:chOff x="0" y="0"/>
            <a:chExt cx="8900160" cy="780288"/>
          </a:xfrm>
        </p:grpSpPr>
        <p:sp>
          <p:nvSpPr>
            <p:cNvPr name="Freeform 23" id="23"/>
            <p:cNvSpPr/>
            <p:nvPr/>
          </p:nvSpPr>
          <p:spPr>
            <a:xfrm flipH="false" flipV="false" rot="0">
              <a:off x="0" y="0"/>
              <a:ext cx="8900160" cy="780288"/>
            </a:xfrm>
            <a:custGeom>
              <a:avLst/>
              <a:gdLst/>
              <a:ahLst/>
              <a:cxnLst/>
              <a:rect r="r" b="b" t="t" l="l"/>
              <a:pathLst>
                <a:path h="780288" w="8900160">
                  <a:moveTo>
                    <a:pt x="0" y="0"/>
                  </a:moveTo>
                  <a:lnTo>
                    <a:pt x="8900160" y="0"/>
                  </a:lnTo>
                  <a:lnTo>
                    <a:pt x="8900160" y="780288"/>
                  </a:lnTo>
                  <a:lnTo>
                    <a:pt x="0" y="780288"/>
                  </a:lnTo>
                  <a:close/>
                </a:path>
              </a:pathLst>
            </a:custGeom>
            <a:blipFill>
              <a:blip r:embed="rId3">
                <a:alphaModFix amt="0"/>
              </a:blip>
              <a:stretch>
                <a:fillRect l="0" t="-172251" r="0" b="-172251"/>
              </a:stretch>
            </a:blipFill>
          </p:spPr>
        </p:sp>
        <p:sp>
          <p:nvSpPr>
            <p:cNvPr name="TextBox 24" id="24"/>
            <p:cNvSpPr txBox="true"/>
            <p:nvPr/>
          </p:nvSpPr>
          <p:spPr>
            <a:xfrm>
              <a:off x="0" y="-47625"/>
              <a:ext cx="8900160" cy="827913"/>
            </a:xfrm>
            <a:prstGeom prst="rect">
              <a:avLst/>
            </a:prstGeom>
          </p:spPr>
          <p:txBody>
            <a:bodyPr anchor="ctr" rtlCol="false" tIns="0" lIns="0" bIns="0" rIns="0"/>
            <a:lstStyle/>
            <a:p>
              <a:pPr algn="l">
                <a:lnSpc>
                  <a:spcPts val="2640"/>
                </a:lnSpc>
              </a:pPr>
              <a:r>
                <a:rPr lang="en-US" sz="2200" b="true">
                  <a:solidFill>
                    <a:srgbClr val="0D9488"/>
                  </a:solidFill>
                  <a:latin typeface="Calibri (MS) Bold"/>
                  <a:ea typeface="Calibri (MS) Bold"/>
                  <a:cs typeface="Calibri (MS) Bold"/>
                  <a:sym typeface="Calibri (MS) Bold"/>
                </a:rPr>
                <a:t>Two-stage enhancement is key</a:t>
              </a:r>
            </a:p>
          </p:txBody>
        </p:sp>
      </p:grpSp>
      <p:grpSp>
        <p:nvGrpSpPr>
          <p:cNvPr name="Group 25" id="25"/>
          <p:cNvGrpSpPr/>
          <p:nvPr/>
        </p:nvGrpSpPr>
        <p:grpSpPr>
          <a:xfrm rot="0">
            <a:off x="1609344" y="2688336"/>
            <a:ext cx="6675120" cy="1499616"/>
            <a:chOff x="0" y="0"/>
            <a:chExt cx="8900160" cy="1999488"/>
          </a:xfrm>
        </p:grpSpPr>
        <p:sp>
          <p:nvSpPr>
            <p:cNvPr name="Freeform 26" id="26"/>
            <p:cNvSpPr/>
            <p:nvPr/>
          </p:nvSpPr>
          <p:spPr>
            <a:xfrm flipH="false" flipV="false" rot="0">
              <a:off x="0" y="0"/>
              <a:ext cx="8900160" cy="1999488"/>
            </a:xfrm>
            <a:custGeom>
              <a:avLst/>
              <a:gdLst/>
              <a:ahLst/>
              <a:cxnLst/>
              <a:rect r="r" b="b" t="t" l="l"/>
              <a:pathLst>
                <a:path h="1999488" w="8900160">
                  <a:moveTo>
                    <a:pt x="0" y="0"/>
                  </a:moveTo>
                  <a:lnTo>
                    <a:pt x="8900160" y="0"/>
                  </a:lnTo>
                  <a:lnTo>
                    <a:pt x="8900160" y="1999488"/>
                  </a:lnTo>
                  <a:lnTo>
                    <a:pt x="0" y="1999488"/>
                  </a:lnTo>
                  <a:close/>
                </a:path>
              </a:pathLst>
            </a:custGeom>
            <a:blipFill>
              <a:blip r:embed="rId3">
                <a:alphaModFix amt="0"/>
              </a:blip>
              <a:stretch>
                <a:fillRect l="0" t="-36732" r="0" b="-36732"/>
              </a:stretch>
            </a:blipFill>
          </p:spPr>
        </p:sp>
        <p:sp>
          <p:nvSpPr>
            <p:cNvPr name="TextBox 27" id="27"/>
            <p:cNvSpPr txBox="true"/>
            <p:nvPr/>
          </p:nvSpPr>
          <p:spPr>
            <a:xfrm>
              <a:off x="0" y="-38100"/>
              <a:ext cx="8900160" cy="2037588"/>
            </a:xfrm>
            <a:prstGeom prst="rect">
              <a:avLst/>
            </a:prstGeom>
          </p:spPr>
          <p:txBody>
            <a:bodyPr anchor="ctr" rtlCol="false" tIns="0" lIns="0" bIns="0" rIns="0"/>
            <a:lstStyle/>
            <a:p>
              <a:pPr algn="l">
                <a:lnSpc>
                  <a:spcPts val="2280"/>
                </a:lnSpc>
              </a:pPr>
              <a:r>
                <a:rPr lang="en-US" sz="1900">
                  <a:solidFill>
                    <a:srgbClr val="A5C8E4"/>
                  </a:solidFill>
                  <a:latin typeface="Calibri (MS)"/>
                  <a:ea typeface="Calibri (MS)"/>
                  <a:cs typeface="Calibri (MS)"/>
                  <a:sym typeface="Calibri (MS)"/>
                </a:rPr>
                <a:t>Stage 1 (AMFF) gets balanced multi-scale features. Stage 2 (LFSE) learns spatial relationships. Neither alone is sufficient.</a:t>
              </a:r>
            </a:p>
          </p:txBody>
        </p:sp>
      </p:grpSp>
      <p:grpSp>
        <p:nvGrpSpPr>
          <p:cNvPr name="Group 28" id="28"/>
          <p:cNvGrpSpPr/>
          <p:nvPr/>
        </p:nvGrpSpPr>
        <p:grpSpPr>
          <a:xfrm rot="0">
            <a:off x="725167" y="4510783"/>
            <a:ext cx="7785097" cy="2390137"/>
            <a:chOff x="0" y="0"/>
            <a:chExt cx="10380129" cy="3186849"/>
          </a:xfrm>
        </p:grpSpPr>
        <p:sp>
          <p:nvSpPr>
            <p:cNvPr name="Freeform 29" id="29"/>
            <p:cNvSpPr/>
            <p:nvPr/>
          </p:nvSpPr>
          <p:spPr>
            <a:xfrm flipH="false" flipV="false" rot="0">
              <a:off x="8509" y="8509"/>
              <a:ext cx="10363200" cy="3169920"/>
            </a:xfrm>
            <a:custGeom>
              <a:avLst/>
              <a:gdLst/>
              <a:ahLst/>
              <a:cxnLst/>
              <a:rect r="r" b="b" t="t" l="l"/>
              <a:pathLst>
                <a:path h="3169920" w="10363200">
                  <a:moveTo>
                    <a:pt x="0" y="0"/>
                  </a:moveTo>
                  <a:lnTo>
                    <a:pt x="10363200" y="0"/>
                  </a:lnTo>
                  <a:lnTo>
                    <a:pt x="10363200" y="3169920"/>
                  </a:lnTo>
                  <a:lnTo>
                    <a:pt x="0" y="3169920"/>
                  </a:lnTo>
                  <a:close/>
                </a:path>
              </a:pathLst>
            </a:custGeom>
            <a:solidFill>
              <a:srgbClr val="0F2354"/>
            </a:solidFill>
          </p:spPr>
        </p:sp>
        <p:sp>
          <p:nvSpPr>
            <p:cNvPr name="Freeform 30" id="30"/>
            <p:cNvSpPr/>
            <p:nvPr/>
          </p:nvSpPr>
          <p:spPr>
            <a:xfrm flipH="false" flipV="false" rot="0">
              <a:off x="0" y="0"/>
              <a:ext cx="10380218" cy="3186938"/>
            </a:xfrm>
            <a:custGeom>
              <a:avLst/>
              <a:gdLst/>
              <a:ahLst/>
              <a:cxnLst/>
              <a:rect r="r" b="b" t="t" l="l"/>
              <a:pathLst>
                <a:path h="3186938" w="10380218">
                  <a:moveTo>
                    <a:pt x="8509" y="0"/>
                  </a:moveTo>
                  <a:lnTo>
                    <a:pt x="10371709" y="0"/>
                  </a:lnTo>
                  <a:cubicBezTo>
                    <a:pt x="10376408" y="0"/>
                    <a:pt x="10380218" y="3810"/>
                    <a:pt x="10380218" y="8509"/>
                  </a:cubicBezTo>
                  <a:lnTo>
                    <a:pt x="10380218" y="3178429"/>
                  </a:lnTo>
                  <a:cubicBezTo>
                    <a:pt x="10380218" y="3183128"/>
                    <a:pt x="10376408" y="3186938"/>
                    <a:pt x="10371709" y="3186938"/>
                  </a:cubicBezTo>
                  <a:lnTo>
                    <a:pt x="8509" y="3186938"/>
                  </a:lnTo>
                  <a:cubicBezTo>
                    <a:pt x="3810" y="3186938"/>
                    <a:pt x="0" y="3183128"/>
                    <a:pt x="0" y="3178429"/>
                  </a:cubicBezTo>
                  <a:lnTo>
                    <a:pt x="0" y="8509"/>
                  </a:lnTo>
                  <a:cubicBezTo>
                    <a:pt x="0" y="3810"/>
                    <a:pt x="3810" y="0"/>
                    <a:pt x="8509" y="0"/>
                  </a:cubicBezTo>
                  <a:moveTo>
                    <a:pt x="8509" y="16891"/>
                  </a:moveTo>
                  <a:lnTo>
                    <a:pt x="8509" y="8509"/>
                  </a:lnTo>
                  <a:lnTo>
                    <a:pt x="17018" y="8509"/>
                  </a:lnTo>
                  <a:lnTo>
                    <a:pt x="17018" y="3178429"/>
                  </a:lnTo>
                  <a:lnTo>
                    <a:pt x="8509" y="3178429"/>
                  </a:lnTo>
                  <a:lnTo>
                    <a:pt x="8509" y="3169920"/>
                  </a:lnTo>
                  <a:lnTo>
                    <a:pt x="10371709" y="3169920"/>
                  </a:lnTo>
                  <a:lnTo>
                    <a:pt x="10371709" y="3178429"/>
                  </a:lnTo>
                  <a:lnTo>
                    <a:pt x="10363200" y="3178429"/>
                  </a:lnTo>
                  <a:lnTo>
                    <a:pt x="10363200" y="8509"/>
                  </a:lnTo>
                  <a:lnTo>
                    <a:pt x="10371709" y="8509"/>
                  </a:lnTo>
                  <a:lnTo>
                    <a:pt x="10371709" y="17018"/>
                  </a:lnTo>
                  <a:lnTo>
                    <a:pt x="8509" y="17018"/>
                  </a:lnTo>
                  <a:close/>
                </a:path>
              </a:pathLst>
            </a:custGeom>
            <a:solidFill>
              <a:srgbClr val="6D28D9"/>
            </a:solidFill>
          </p:spPr>
        </p:sp>
      </p:grpSp>
      <p:grpSp>
        <p:nvGrpSpPr>
          <p:cNvPr name="Group 31" id="31"/>
          <p:cNvGrpSpPr/>
          <p:nvPr/>
        </p:nvGrpSpPr>
        <p:grpSpPr>
          <a:xfrm rot="0">
            <a:off x="718823" y="4504439"/>
            <a:ext cx="756923" cy="2402843"/>
            <a:chOff x="0" y="0"/>
            <a:chExt cx="1009231" cy="3203791"/>
          </a:xfrm>
        </p:grpSpPr>
        <p:sp>
          <p:nvSpPr>
            <p:cNvPr name="Freeform 32" id="32"/>
            <p:cNvSpPr/>
            <p:nvPr/>
          </p:nvSpPr>
          <p:spPr>
            <a:xfrm flipH="false" flipV="false" rot="0">
              <a:off x="16891" y="16891"/>
              <a:ext cx="975360" cy="3169920"/>
            </a:xfrm>
            <a:custGeom>
              <a:avLst/>
              <a:gdLst/>
              <a:ahLst/>
              <a:cxnLst/>
              <a:rect r="r" b="b" t="t" l="l"/>
              <a:pathLst>
                <a:path h="3169920" w="975360">
                  <a:moveTo>
                    <a:pt x="0" y="0"/>
                  </a:moveTo>
                  <a:lnTo>
                    <a:pt x="975360" y="0"/>
                  </a:lnTo>
                  <a:lnTo>
                    <a:pt x="975360" y="3169920"/>
                  </a:lnTo>
                  <a:lnTo>
                    <a:pt x="0" y="3169920"/>
                  </a:lnTo>
                  <a:close/>
                </a:path>
              </a:pathLst>
            </a:custGeom>
            <a:solidFill>
              <a:srgbClr val="6D28D9"/>
            </a:solidFill>
          </p:spPr>
        </p:sp>
        <p:sp>
          <p:nvSpPr>
            <p:cNvPr name="Freeform 33" id="33"/>
            <p:cNvSpPr/>
            <p:nvPr/>
          </p:nvSpPr>
          <p:spPr>
            <a:xfrm flipH="false" flipV="false" rot="0">
              <a:off x="0" y="0"/>
              <a:ext cx="1009142" cy="3203702"/>
            </a:xfrm>
            <a:custGeom>
              <a:avLst/>
              <a:gdLst/>
              <a:ahLst/>
              <a:cxnLst/>
              <a:rect r="r" b="b" t="t" l="l"/>
              <a:pathLst>
                <a:path h="3203702" w="1009142">
                  <a:moveTo>
                    <a:pt x="16891" y="0"/>
                  </a:moveTo>
                  <a:lnTo>
                    <a:pt x="992251" y="0"/>
                  </a:lnTo>
                  <a:cubicBezTo>
                    <a:pt x="1001649" y="0"/>
                    <a:pt x="1009142" y="7620"/>
                    <a:pt x="1009142" y="16891"/>
                  </a:cubicBezTo>
                  <a:lnTo>
                    <a:pt x="1009142" y="3186811"/>
                  </a:lnTo>
                  <a:cubicBezTo>
                    <a:pt x="1009142" y="3196209"/>
                    <a:pt x="1001522" y="3203702"/>
                    <a:pt x="992251" y="3203702"/>
                  </a:cubicBezTo>
                  <a:lnTo>
                    <a:pt x="16891" y="3203702"/>
                  </a:lnTo>
                  <a:cubicBezTo>
                    <a:pt x="7493" y="3203702"/>
                    <a:pt x="0" y="3196082"/>
                    <a:pt x="0" y="3186811"/>
                  </a:cubicBezTo>
                  <a:lnTo>
                    <a:pt x="0" y="16891"/>
                  </a:lnTo>
                  <a:cubicBezTo>
                    <a:pt x="0" y="7620"/>
                    <a:pt x="7620" y="0"/>
                    <a:pt x="16891" y="0"/>
                  </a:cubicBezTo>
                  <a:moveTo>
                    <a:pt x="16891" y="33909"/>
                  </a:moveTo>
                  <a:lnTo>
                    <a:pt x="16891" y="16891"/>
                  </a:lnTo>
                  <a:lnTo>
                    <a:pt x="33909" y="16891"/>
                  </a:lnTo>
                  <a:lnTo>
                    <a:pt x="33909" y="3186811"/>
                  </a:lnTo>
                  <a:lnTo>
                    <a:pt x="16891" y="3186811"/>
                  </a:lnTo>
                  <a:lnTo>
                    <a:pt x="16891" y="3169920"/>
                  </a:lnTo>
                  <a:lnTo>
                    <a:pt x="992251" y="3169920"/>
                  </a:lnTo>
                  <a:lnTo>
                    <a:pt x="992251" y="3186811"/>
                  </a:lnTo>
                  <a:lnTo>
                    <a:pt x="975360" y="3186811"/>
                  </a:lnTo>
                  <a:lnTo>
                    <a:pt x="975360" y="16891"/>
                  </a:lnTo>
                  <a:lnTo>
                    <a:pt x="992251" y="16891"/>
                  </a:lnTo>
                  <a:lnTo>
                    <a:pt x="992251" y="33909"/>
                  </a:lnTo>
                  <a:lnTo>
                    <a:pt x="16891" y="33909"/>
                  </a:lnTo>
                  <a:close/>
                </a:path>
              </a:pathLst>
            </a:custGeom>
            <a:solidFill>
              <a:srgbClr val="6D28D9"/>
            </a:solidFill>
          </p:spPr>
        </p:sp>
      </p:grpSp>
      <p:grpSp>
        <p:nvGrpSpPr>
          <p:cNvPr name="Group 34" id="34"/>
          <p:cNvGrpSpPr/>
          <p:nvPr/>
        </p:nvGrpSpPr>
        <p:grpSpPr>
          <a:xfrm rot="0">
            <a:off x="731520" y="4517136"/>
            <a:ext cx="731520" cy="2377440"/>
            <a:chOff x="0" y="0"/>
            <a:chExt cx="975360" cy="3169920"/>
          </a:xfrm>
        </p:grpSpPr>
        <p:sp>
          <p:nvSpPr>
            <p:cNvPr name="Freeform 35" id="35"/>
            <p:cNvSpPr/>
            <p:nvPr/>
          </p:nvSpPr>
          <p:spPr>
            <a:xfrm flipH="false" flipV="false" rot="0">
              <a:off x="0" y="0"/>
              <a:ext cx="975360" cy="3169920"/>
            </a:xfrm>
            <a:custGeom>
              <a:avLst/>
              <a:gdLst/>
              <a:ahLst/>
              <a:cxnLst/>
              <a:rect r="r" b="b" t="t" l="l"/>
              <a:pathLst>
                <a:path h="3169920" w="975360">
                  <a:moveTo>
                    <a:pt x="0" y="0"/>
                  </a:moveTo>
                  <a:lnTo>
                    <a:pt x="975360" y="0"/>
                  </a:lnTo>
                  <a:lnTo>
                    <a:pt x="975360" y="3169920"/>
                  </a:lnTo>
                  <a:lnTo>
                    <a:pt x="0" y="3169920"/>
                  </a:lnTo>
                  <a:close/>
                </a:path>
              </a:pathLst>
            </a:custGeom>
            <a:blipFill>
              <a:blip r:embed="rId3">
                <a:alphaModFix amt="0"/>
              </a:blip>
              <a:stretch>
                <a:fillRect l="-366986" t="0" r="-366986" b="0"/>
              </a:stretch>
            </a:blipFill>
          </p:spPr>
        </p:sp>
        <p:sp>
          <p:nvSpPr>
            <p:cNvPr name="TextBox 36" id="36"/>
            <p:cNvSpPr txBox="true"/>
            <p:nvPr/>
          </p:nvSpPr>
          <p:spPr>
            <a:xfrm>
              <a:off x="0" y="-47625"/>
              <a:ext cx="975360" cy="3217545"/>
            </a:xfrm>
            <a:prstGeom prst="rect">
              <a:avLst/>
            </a:prstGeom>
          </p:spPr>
          <p:txBody>
            <a:bodyPr anchor="ctr" rtlCol="false" tIns="0" lIns="0" bIns="0" rIns="0"/>
            <a:lstStyle/>
            <a:p>
              <a:pPr algn="ctr">
                <a:lnSpc>
                  <a:spcPts val="3359"/>
                </a:lnSpc>
              </a:pPr>
              <a:r>
                <a:rPr lang="en-US" sz="2799" b="true">
                  <a:solidFill>
                    <a:srgbClr val="FFFFFF"/>
                  </a:solidFill>
                  <a:latin typeface="Calibri (MS) Bold"/>
                  <a:ea typeface="Calibri (MS) Bold"/>
                  <a:cs typeface="Calibri (MS) Bold"/>
                  <a:sym typeface="Calibri (MS) Bold"/>
                </a:rPr>
                <a:t>2</a:t>
              </a:r>
            </a:p>
          </p:txBody>
        </p:sp>
      </p:grpSp>
      <p:grpSp>
        <p:nvGrpSpPr>
          <p:cNvPr name="Group 37" id="37"/>
          <p:cNvGrpSpPr/>
          <p:nvPr/>
        </p:nvGrpSpPr>
        <p:grpSpPr>
          <a:xfrm rot="0">
            <a:off x="1609344" y="4700016"/>
            <a:ext cx="6675120" cy="585216"/>
            <a:chOff x="0" y="0"/>
            <a:chExt cx="8900160" cy="780288"/>
          </a:xfrm>
        </p:grpSpPr>
        <p:sp>
          <p:nvSpPr>
            <p:cNvPr name="Freeform 38" id="38"/>
            <p:cNvSpPr/>
            <p:nvPr/>
          </p:nvSpPr>
          <p:spPr>
            <a:xfrm flipH="false" flipV="false" rot="0">
              <a:off x="0" y="0"/>
              <a:ext cx="8900160" cy="780288"/>
            </a:xfrm>
            <a:custGeom>
              <a:avLst/>
              <a:gdLst/>
              <a:ahLst/>
              <a:cxnLst/>
              <a:rect r="r" b="b" t="t" l="l"/>
              <a:pathLst>
                <a:path h="780288" w="8900160">
                  <a:moveTo>
                    <a:pt x="0" y="0"/>
                  </a:moveTo>
                  <a:lnTo>
                    <a:pt x="8900160" y="0"/>
                  </a:lnTo>
                  <a:lnTo>
                    <a:pt x="8900160" y="780288"/>
                  </a:lnTo>
                  <a:lnTo>
                    <a:pt x="0" y="780288"/>
                  </a:lnTo>
                  <a:close/>
                </a:path>
              </a:pathLst>
            </a:custGeom>
            <a:blipFill>
              <a:blip r:embed="rId3">
                <a:alphaModFix amt="0"/>
              </a:blip>
              <a:stretch>
                <a:fillRect l="0" t="-172251" r="0" b="-172251"/>
              </a:stretch>
            </a:blipFill>
          </p:spPr>
        </p:sp>
        <p:sp>
          <p:nvSpPr>
            <p:cNvPr name="TextBox 39" id="39"/>
            <p:cNvSpPr txBox="true"/>
            <p:nvPr/>
          </p:nvSpPr>
          <p:spPr>
            <a:xfrm>
              <a:off x="0" y="-47625"/>
              <a:ext cx="8900160" cy="827913"/>
            </a:xfrm>
            <a:prstGeom prst="rect">
              <a:avLst/>
            </a:prstGeom>
          </p:spPr>
          <p:txBody>
            <a:bodyPr anchor="ctr" rtlCol="false" tIns="0" lIns="0" bIns="0" rIns="0"/>
            <a:lstStyle/>
            <a:p>
              <a:pPr algn="l">
                <a:lnSpc>
                  <a:spcPts val="2640"/>
                </a:lnSpc>
              </a:pPr>
              <a:r>
                <a:rPr lang="en-US" sz="2200" b="true">
                  <a:solidFill>
                    <a:srgbClr val="6D28D9"/>
                  </a:solidFill>
                  <a:latin typeface="Calibri (MS) Bold"/>
                  <a:ea typeface="Calibri (MS) Bold"/>
                  <a:cs typeface="Calibri (MS) Bold"/>
                  <a:sym typeface="Calibri (MS) Bold"/>
                </a:rPr>
                <a:t>Efficient attention via squeezing</a:t>
              </a:r>
            </a:p>
          </p:txBody>
        </p:sp>
      </p:grpSp>
      <p:grpSp>
        <p:nvGrpSpPr>
          <p:cNvPr name="Group 40" id="40"/>
          <p:cNvGrpSpPr/>
          <p:nvPr/>
        </p:nvGrpSpPr>
        <p:grpSpPr>
          <a:xfrm rot="0">
            <a:off x="1609344" y="5285232"/>
            <a:ext cx="6675120" cy="1499616"/>
            <a:chOff x="0" y="0"/>
            <a:chExt cx="8900160" cy="1999488"/>
          </a:xfrm>
        </p:grpSpPr>
        <p:sp>
          <p:nvSpPr>
            <p:cNvPr name="Freeform 41" id="41"/>
            <p:cNvSpPr/>
            <p:nvPr/>
          </p:nvSpPr>
          <p:spPr>
            <a:xfrm flipH="false" flipV="false" rot="0">
              <a:off x="0" y="0"/>
              <a:ext cx="8900160" cy="1999488"/>
            </a:xfrm>
            <a:custGeom>
              <a:avLst/>
              <a:gdLst/>
              <a:ahLst/>
              <a:cxnLst/>
              <a:rect r="r" b="b" t="t" l="l"/>
              <a:pathLst>
                <a:path h="1999488" w="8900160">
                  <a:moveTo>
                    <a:pt x="0" y="0"/>
                  </a:moveTo>
                  <a:lnTo>
                    <a:pt x="8900160" y="0"/>
                  </a:lnTo>
                  <a:lnTo>
                    <a:pt x="8900160" y="1999488"/>
                  </a:lnTo>
                  <a:lnTo>
                    <a:pt x="0" y="1999488"/>
                  </a:lnTo>
                  <a:close/>
                </a:path>
              </a:pathLst>
            </a:custGeom>
            <a:blipFill>
              <a:blip r:embed="rId3">
                <a:alphaModFix amt="0"/>
              </a:blip>
              <a:stretch>
                <a:fillRect l="0" t="-36732" r="0" b="-36732"/>
              </a:stretch>
            </a:blipFill>
          </p:spPr>
        </p:sp>
        <p:sp>
          <p:nvSpPr>
            <p:cNvPr name="TextBox 42" id="42"/>
            <p:cNvSpPr txBox="true"/>
            <p:nvPr/>
          </p:nvSpPr>
          <p:spPr>
            <a:xfrm>
              <a:off x="0" y="-38100"/>
              <a:ext cx="8900160" cy="2037588"/>
            </a:xfrm>
            <a:prstGeom prst="rect">
              <a:avLst/>
            </a:prstGeom>
          </p:spPr>
          <p:txBody>
            <a:bodyPr anchor="ctr" rtlCol="false" tIns="0" lIns="0" bIns="0" rIns="0"/>
            <a:lstStyle/>
            <a:p>
              <a:pPr algn="l">
                <a:lnSpc>
                  <a:spcPts val="2280"/>
                </a:lnSpc>
              </a:pPr>
              <a:r>
                <a:rPr lang="en-US" sz="1900">
                  <a:solidFill>
                    <a:srgbClr val="A5C8E4"/>
                  </a:solidFill>
                  <a:latin typeface="Calibri (MS)"/>
                  <a:ea typeface="Calibri (MS)"/>
                  <a:cs typeface="Calibri (MS)"/>
                  <a:sym typeface="Calibri (MS)"/>
                </a:rPr>
                <a:t>H×V squeeze reduces quadratic cost to linear while the conv branch recovers local detail — a practical innovation for high-res RS images.</a:t>
              </a:r>
            </a:p>
          </p:txBody>
        </p:sp>
      </p:grpSp>
      <p:grpSp>
        <p:nvGrpSpPr>
          <p:cNvPr name="Group 43" id="43"/>
          <p:cNvGrpSpPr/>
          <p:nvPr/>
        </p:nvGrpSpPr>
        <p:grpSpPr>
          <a:xfrm rot="0">
            <a:off x="725167" y="7107679"/>
            <a:ext cx="7785097" cy="2481577"/>
            <a:chOff x="0" y="0"/>
            <a:chExt cx="10380129" cy="3308769"/>
          </a:xfrm>
        </p:grpSpPr>
        <p:sp>
          <p:nvSpPr>
            <p:cNvPr name="Freeform 44" id="44"/>
            <p:cNvSpPr/>
            <p:nvPr/>
          </p:nvSpPr>
          <p:spPr>
            <a:xfrm flipH="false" flipV="false" rot="0">
              <a:off x="8509" y="8509"/>
              <a:ext cx="10363200" cy="3291840"/>
            </a:xfrm>
            <a:custGeom>
              <a:avLst/>
              <a:gdLst/>
              <a:ahLst/>
              <a:cxnLst/>
              <a:rect r="r" b="b" t="t" l="l"/>
              <a:pathLst>
                <a:path h="3291840" w="10363200">
                  <a:moveTo>
                    <a:pt x="0" y="0"/>
                  </a:moveTo>
                  <a:lnTo>
                    <a:pt x="10363200" y="0"/>
                  </a:lnTo>
                  <a:lnTo>
                    <a:pt x="10363200" y="3291840"/>
                  </a:lnTo>
                  <a:lnTo>
                    <a:pt x="0" y="3291840"/>
                  </a:lnTo>
                  <a:close/>
                </a:path>
              </a:pathLst>
            </a:custGeom>
            <a:solidFill>
              <a:srgbClr val="0F2354"/>
            </a:solidFill>
          </p:spPr>
        </p:sp>
        <p:sp>
          <p:nvSpPr>
            <p:cNvPr name="Freeform 45" id="45"/>
            <p:cNvSpPr/>
            <p:nvPr/>
          </p:nvSpPr>
          <p:spPr>
            <a:xfrm flipH="false" flipV="false" rot="0">
              <a:off x="0" y="0"/>
              <a:ext cx="10380218" cy="3308858"/>
            </a:xfrm>
            <a:custGeom>
              <a:avLst/>
              <a:gdLst/>
              <a:ahLst/>
              <a:cxnLst/>
              <a:rect r="r" b="b" t="t" l="l"/>
              <a:pathLst>
                <a:path h="3308858" w="10380218">
                  <a:moveTo>
                    <a:pt x="8509" y="0"/>
                  </a:moveTo>
                  <a:lnTo>
                    <a:pt x="10371709" y="0"/>
                  </a:lnTo>
                  <a:cubicBezTo>
                    <a:pt x="10376408" y="0"/>
                    <a:pt x="10380218" y="3810"/>
                    <a:pt x="10380218" y="8509"/>
                  </a:cubicBezTo>
                  <a:lnTo>
                    <a:pt x="10380218" y="3300349"/>
                  </a:lnTo>
                  <a:cubicBezTo>
                    <a:pt x="10380218" y="3305048"/>
                    <a:pt x="10376408" y="3308858"/>
                    <a:pt x="10371709" y="3308858"/>
                  </a:cubicBezTo>
                  <a:lnTo>
                    <a:pt x="8509" y="3308858"/>
                  </a:lnTo>
                  <a:cubicBezTo>
                    <a:pt x="3810" y="3308858"/>
                    <a:pt x="0" y="3305048"/>
                    <a:pt x="0" y="3300349"/>
                  </a:cubicBezTo>
                  <a:lnTo>
                    <a:pt x="0" y="8509"/>
                  </a:lnTo>
                  <a:cubicBezTo>
                    <a:pt x="0" y="3810"/>
                    <a:pt x="3810" y="0"/>
                    <a:pt x="8509" y="0"/>
                  </a:cubicBezTo>
                  <a:moveTo>
                    <a:pt x="8509" y="16891"/>
                  </a:moveTo>
                  <a:lnTo>
                    <a:pt x="8509" y="8509"/>
                  </a:lnTo>
                  <a:lnTo>
                    <a:pt x="17018" y="8509"/>
                  </a:lnTo>
                  <a:lnTo>
                    <a:pt x="17018" y="3300349"/>
                  </a:lnTo>
                  <a:lnTo>
                    <a:pt x="8509" y="3300349"/>
                  </a:lnTo>
                  <a:lnTo>
                    <a:pt x="8509" y="3291840"/>
                  </a:lnTo>
                  <a:lnTo>
                    <a:pt x="10371709" y="3291840"/>
                  </a:lnTo>
                  <a:lnTo>
                    <a:pt x="10371709" y="3300349"/>
                  </a:lnTo>
                  <a:lnTo>
                    <a:pt x="10363200" y="3300349"/>
                  </a:lnTo>
                  <a:lnTo>
                    <a:pt x="10363200" y="8509"/>
                  </a:lnTo>
                  <a:lnTo>
                    <a:pt x="10371709" y="8509"/>
                  </a:lnTo>
                  <a:lnTo>
                    <a:pt x="10371709" y="17018"/>
                  </a:lnTo>
                  <a:lnTo>
                    <a:pt x="8509" y="17018"/>
                  </a:lnTo>
                  <a:close/>
                </a:path>
              </a:pathLst>
            </a:custGeom>
            <a:solidFill>
              <a:srgbClr val="E05B4B"/>
            </a:solidFill>
          </p:spPr>
        </p:sp>
      </p:grpSp>
      <p:grpSp>
        <p:nvGrpSpPr>
          <p:cNvPr name="Group 46" id="46"/>
          <p:cNvGrpSpPr/>
          <p:nvPr/>
        </p:nvGrpSpPr>
        <p:grpSpPr>
          <a:xfrm rot="0">
            <a:off x="718823" y="7101335"/>
            <a:ext cx="756923" cy="2494283"/>
            <a:chOff x="0" y="0"/>
            <a:chExt cx="1009231" cy="3325711"/>
          </a:xfrm>
        </p:grpSpPr>
        <p:sp>
          <p:nvSpPr>
            <p:cNvPr name="Freeform 47" id="47"/>
            <p:cNvSpPr/>
            <p:nvPr/>
          </p:nvSpPr>
          <p:spPr>
            <a:xfrm flipH="false" flipV="false" rot="0">
              <a:off x="16891" y="16891"/>
              <a:ext cx="975360" cy="3291840"/>
            </a:xfrm>
            <a:custGeom>
              <a:avLst/>
              <a:gdLst/>
              <a:ahLst/>
              <a:cxnLst/>
              <a:rect r="r" b="b" t="t" l="l"/>
              <a:pathLst>
                <a:path h="3291840" w="975360">
                  <a:moveTo>
                    <a:pt x="0" y="0"/>
                  </a:moveTo>
                  <a:lnTo>
                    <a:pt x="975360" y="0"/>
                  </a:lnTo>
                  <a:lnTo>
                    <a:pt x="975360" y="3291840"/>
                  </a:lnTo>
                  <a:lnTo>
                    <a:pt x="0" y="3291840"/>
                  </a:lnTo>
                  <a:close/>
                </a:path>
              </a:pathLst>
            </a:custGeom>
            <a:solidFill>
              <a:srgbClr val="E05B4B"/>
            </a:solidFill>
          </p:spPr>
        </p:sp>
        <p:sp>
          <p:nvSpPr>
            <p:cNvPr name="Freeform 48" id="48"/>
            <p:cNvSpPr/>
            <p:nvPr/>
          </p:nvSpPr>
          <p:spPr>
            <a:xfrm flipH="false" flipV="false" rot="0">
              <a:off x="0" y="0"/>
              <a:ext cx="1009142" cy="3325622"/>
            </a:xfrm>
            <a:custGeom>
              <a:avLst/>
              <a:gdLst/>
              <a:ahLst/>
              <a:cxnLst/>
              <a:rect r="r" b="b" t="t" l="l"/>
              <a:pathLst>
                <a:path h="3325622" w="1009142">
                  <a:moveTo>
                    <a:pt x="16891" y="0"/>
                  </a:moveTo>
                  <a:lnTo>
                    <a:pt x="992251" y="0"/>
                  </a:lnTo>
                  <a:cubicBezTo>
                    <a:pt x="1001649" y="0"/>
                    <a:pt x="1009142" y="7620"/>
                    <a:pt x="1009142" y="16891"/>
                  </a:cubicBezTo>
                  <a:lnTo>
                    <a:pt x="1009142" y="3308731"/>
                  </a:lnTo>
                  <a:cubicBezTo>
                    <a:pt x="1009142" y="3318129"/>
                    <a:pt x="1001522" y="3325622"/>
                    <a:pt x="992251" y="3325622"/>
                  </a:cubicBezTo>
                  <a:lnTo>
                    <a:pt x="16891" y="3325622"/>
                  </a:lnTo>
                  <a:cubicBezTo>
                    <a:pt x="7493" y="3325622"/>
                    <a:pt x="0" y="3318002"/>
                    <a:pt x="0" y="3308731"/>
                  </a:cubicBezTo>
                  <a:lnTo>
                    <a:pt x="0" y="16891"/>
                  </a:lnTo>
                  <a:cubicBezTo>
                    <a:pt x="0" y="7620"/>
                    <a:pt x="7620" y="0"/>
                    <a:pt x="16891" y="0"/>
                  </a:cubicBezTo>
                  <a:moveTo>
                    <a:pt x="16891" y="33909"/>
                  </a:moveTo>
                  <a:lnTo>
                    <a:pt x="16891" y="16891"/>
                  </a:lnTo>
                  <a:lnTo>
                    <a:pt x="33909" y="16891"/>
                  </a:lnTo>
                  <a:lnTo>
                    <a:pt x="33909" y="3308731"/>
                  </a:lnTo>
                  <a:lnTo>
                    <a:pt x="16891" y="3308731"/>
                  </a:lnTo>
                  <a:lnTo>
                    <a:pt x="16891" y="3291840"/>
                  </a:lnTo>
                  <a:lnTo>
                    <a:pt x="992251" y="3291840"/>
                  </a:lnTo>
                  <a:lnTo>
                    <a:pt x="992251" y="3308731"/>
                  </a:lnTo>
                  <a:lnTo>
                    <a:pt x="975360" y="3308731"/>
                  </a:lnTo>
                  <a:lnTo>
                    <a:pt x="975360" y="16891"/>
                  </a:lnTo>
                  <a:lnTo>
                    <a:pt x="992251" y="16891"/>
                  </a:lnTo>
                  <a:lnTo>
                    <a:pt x="992251" y="33909"/>
                  </a:lnTo>
                  <a:lnTo>
                    <a:pt x="16891" y="33909"/>
                  </a:lnTo>
                  <a:close/>
                </a:path>
              </a:pathLst>
            </a:custGeom>
            <a:solidFill>
              <a:srgbClr val="E05B4B"/>
            </a:solidFill>
          </p:spPr>
        </p:sp>
      </p:grpSp>
      <p:grpSp>
        <p:nvGrpSpPr>
          <p:cNvPr name="Group 49" id="49"/>
          <p:cNvGrpSpPr/>
          <p:nvPr/>
        </p:nvGrpSpPr>
        <p:grpSpPr>
          <a:xfrm rot="0">
            <a:off x="731520" y="7114032"/>
            <a:ext cx="731520" cy="2468880"/>
            <a:chOff x="0" y="0"/>
            <a:chExt cx="975360" cy="3291840"/>
          </a:xfrm>
        </p:grpSpPr>
        <p:sp>
          <p:nvSpPr>
            <p:cNvPr name="Freeform 50" id="50"/>
            <p:cNvSpPr/>
            <p:nvPr/>
          </p:nvSpPr>
          <p:spPr>
            <a:xfrm flipH="false" flipV="false" rot="0">
              <a:off x="0" y="0"/>
              <a:ext cx="975360" cy="3291840"/>
            </a:xfrm>
            <a:custGeom>
              <a:avLst/>
              <a:gdLst/>
              <a:ahLst/>
              <a:cxnLst/>
              <a:rect r="r" b="b" t="t" l="l"/>
              <a:pathLst>
                <a:path h="3291840" w="975360">
                  <a:moveTo>
                    <a:pt x="0" y="0"/>
                  </a:moveTo>
                  <a:lnTo>
                    <a:pt x="975360" y="0"/>
                  </a:lnTo>
                  <a:lnTo>
                    <a:pt x="975360" y="3291840"/>
                  </a:lnTo>
                  <a:lnTo>
                    <a:pt x="0" y="3291840"/>
                  </a:lnTo>
                  <a:close/>
                </a:path>
              </a:pathLst>
            </a:custGeom>
            <a:blipFill>
              <a:blip r:embed="rId3">
                <a:alphaModFix amt="0"/>
              </a:blip>
              <a:stretch>
                <a:fillRect l="-383024" t="0" r="-383024" b="0"/>
              </a:stretch>
            </a:blipFill>
          </p:spPr>
        </p:sp>
        <p:sp>
          <p:nvSpPr>
            <p:cNvPr name="TextBox 51" id="51"/>
            <p:cNvSpPr txBox="true"/>
            <p:nvPr/>
          </p:nvSpPr>
          <p:spPr>
            <a:xfrm>
              <a:off x="0" y="-47625"/>
              <a:ext cx="975360" cy="3339465"/>
            </a:xfrm>
            <a:prstGeom prst="rect">
              <a:avLst/>
            </a:prstGeom>
          </p:spPr>
          <p:txBody>
            <a:bodyPr anchor="ctr" rtlCol="false" tIns="0" lIns="0" bIns="0" rIns="0"/>
            <a:lstStyle/>
            <a:p>
              <a:pPr algn="ctr">
                <a:lnSpc>
                  <a:spcPts val="3359"/>
                </a:lnSpc>
              </a:pPr>
              <a:r>
                <a:rPr lang="en-US" sz="2799" b="true">
                  <a:solidFill>
                    <a:srgbClr val="FFFFFF"/>
                  </a:solidFill>
                  <a:latin typeface="Calibri (MS) Bold"/>
                  <a:ea typeface="Calibri (MS) Bold"/>
                  <a:cs typeface="Calibri (MS) Bold"/>
                  <a:sym typeface="Calibri (MS) Bold"/>
                </a:rPr>
                <a:t>3</a:t>
              </a:r>
            </a:p>
          </p:txBody>
        </p:sp>
      </p:grpSp>
      <p:grpSp>
        <p:nvGrpSpPr>
          <p:cNvPr name="Group 52" id="52"/>
          <p:cNvGrpSpPr/>
          <p:nvPr/>
        </p:nvGrpSpPr>
        <p:grpSpPr>
          <a:xfrm rot="0">
            <a:off x="1609344" y="7296912"/>
            <a:ext cx="6675120" cy="585216"/>
            <a:chOff x="0" y="0"/>
            <a:chExt cx="8900160" cy="780288"/>
          </a:xfrm>
        </p:grpSpPr>
        <p:sp>
          <p:nvSpPr>
            <p:cNvPr name="Freeform 53" id="53"/>
            <p:cNvSpPr/>
            <p:nvPr/>
          </p:nvSpPr>
          <p:spPr>
            <a:xfrm flipH="false" flipV="false" rot="0">
              <a:off x="0" y="0"/>
              <a:ext cx="8900160" cy="780288"/>
            </a:xfrm>
            <a:custGeom>
              <a:avLst/>
              <a:gdLst/>
              <a:ahLst/>
              <a:cxnLst/>
              <a:rect r="r" b="b" t="t" l="l"/>
              <a:pathLst>
                <a:path h="780288" w="8900160">
                  <a:moveTo>
                    <a:pt x="0" y="0"/>
                  </a:moveTo>
                  <a:lnTo>
                    <a:pt x="8900160" y="0"/>
                  </a:lnTo>
                  <a:lnTo>
                    <a:pt x="8900160" y="780288"/>
                  </a:lnTo>
                  <a:lnTo>
                    <a:pt x="0" y="780288"/>
                  </a:lnTo>
                  <a:close/>
                </a:path>
              </a:pathLst>
            </a:custGeom>
            <a:blipFill>
              <a:blip r:embed="rId3">
                <a:alphaModFix amt="0"/>
              </a:blip>
              <a:stretch>
                <a:fillRect l="0" t="-172251" r="0" b="-172251"/>
              </a:stretch>
            </a:blipFill>
          </p:spPr>
        </p:sp>
        <p:sp>
          <p:nvSpPr>
            <p:cNvPr name="TextBox 54" id="54"/>
            <p:cNvSpPr txBox="true"/>
            <p:nvPr/>
          </p:nvSpPr>
          <p:spPr>
            <a:xfrm>
              <a:off x="0" y="-47625"/>
              <a:ext cx="8900160" cy="827913"/>
            </a:xfrm>
            <a:prstGeom prst="rect">
              <a:avLst/>
            </a:prstGeom>
          </p:spPr>
          <p:txBody>
            <a:bodyPr anchor="ctr" rtlCol="false" tIns="0" lIns="0" bIns="0" rIns="0"/>
            <a:lstStyle/>
            <a:p>
              <a:pPr algn="l">
                <a:lnSpc>
                  <a:spcPts val="2640"/>
                </a:lnSpc>
              </a:pPr>
              <a:r>
                <a:rPr lang="en-US" sz="2200" b="true">
                  <a:solidFill>
                    <a:srgbClr val="E05B4B"/>
                  </a:solidFill>
                  <a:latin typeface="Calibri (MS) Bold"/>
                  <a:ea typeface="Calibri (MS) Bold"/>
                  <a:cs typeface="Calibri (MS) Bold"/>
                  <a:sym typeface="Calibri (MS) Bold"/>
                </a:rPr>
                <a:t>Global context improves coherence</a:t>
              </a:r>
            </a:p>
          </p:txBody>
        </p:sp>
      </p:grpSp>
      <p:grpSp>
        <p:nvGrpSpPr>
          <p:cNvPr name="Group 55" id="55"/>
          <p:cNvGrpSpPr/>
          <p:nvPr/>
        </p:nvGrpSpPr>
        <p:grpSpPr>
          <a:xfrm rot="0">
            <a:off x="1609344" y="7882128"/>
            <a:ext cx="6675120" cy="1499616"/>
            <a:chOff x="0" y="0"/>
            <a:chExt cx="8900160" cy="1999488"/>
          </a:xfrm>
        </p:grpSpPr>
        <p:sp>
          <p:nvSpPr>
            <p:cNvPr name="Freeform 56" id="56"/>
            <p:cNvSpPr/>
            <p:nvPr/>
          </p:nvSpPr>
          <p:spPr>
            <a:xfrm flipH="false" flipV="false" rot="0">
              <a:off x="0" y="0"/>
              <a:ext cx="8900160" cy="1999488"/>
            </a:xfrm>
            <a:custGeom>
              <a:avLst/>
              <a:gdLst/>
              <a:ahLst/>
              <a:cxnLst/>
              <a:rect r="r" b="b" t="t" l="l"/>
              <a:pathLst>
                <a:path h="1999488" w="8900160">
                  <a:moveTo>
                    <a:pt x="0" y="0"/>
                  </a:moveTo>
                  <a:lnTo>
                    <a:pt x="8900160" y="0"/>
                  </a:lnTo>
                  <a:lnTo>
                    <a:pt x="8900160" y="1999488"/>
                  </a:lnTo>
                  <a:lnTo>
                    <a:pt x="0" y="1999488"/>
                  </a:lnTo>
                  <a:close/>
                </a:path>
              </a:pathLst>
            </a:custGeom>
            <a:blipFill>
              <a:blip r:embed="rId3">
                <a:alphaModFix amt="0"/>
              </a:blip>
              <a:stretch>
                <a:fillRect l="0" t="-36732" r="0" b="-36732"/>
              </a:stretch>
            </a:blipFill>
          </p:spPr>
        </p:sp>
        <p:sp>
          <p:nvSpPr>
            <p:cNvPr name="TextBox 57" id="57"/>
            <p:cNvSpPr txBox="true"/>
            <p:nvPr/>
          </p:nvSpPr>
          <p:spPr>
            <a:xfrm>
              <a:off x="0" y="-38100"/>
              <a:ext cx="8900160" cy="2037588"/>
            </a:xfrm>
            <a:prstGeom prst="rect">
              <a:avLst/>
            </a:prstGeom>
          </p:spPr>
          <p:txBody>
            <a:bodyPr anchor="ctr" rtlCol="false" tIns="0" lIns="0" bIns="0" rIns="0"/>
            <a:lstStyle/>
            <a:p>
              <a:pPr algn="l">
                <a:lnSpc>
                  <a:spcPts val="2280"/>
                </a:lnSpc>
              </a:pPr>
              <a:r>
                <a:rPr lang="en-US" sz="1900">
                  <a:solidFill>
                    <a:srgbClr val="A5C8E4"/>
                  </a:solidFill>
                  <a:latin typeface="Calibri (MS)"/>
                  <a:ea typeface="Calibri (MS)"/>
                  <a:cs typeface="Calibri (MS)"/>
                  <a:sym typeface="Calibri (MS)"/>
                </a:rPr>
                <a:t>Injecting V_global into the LSTM decoder ensures captions stay consistent with the overall scene semantics, not just local patches.</a:t>
              </a:r>
            </a:p>
          </p:txBody>
        </p:sp>
      </p:grpSp>
      <p:grpSp>
        <p:nvGrpSpPr>
          <p:cNvPr name="Group 58" id="58"/>
          <p:cNvGrpSpPr/>
          <p:nvPr/>
        </p:nvGrpSpPr>
        <p:grpSpPr>
          <a:xfrm rot="0">
            <a:off x="8863327" y="1913887"/>
            <a:ext cx="7785097" cy="2390137"/>
            <a:chOff x="0" y="0"/>
            <a:chExt cx="10380129" cy="3186849"/>
          </a:xfrm>
        </p:grpSpPr>
        <p:sp>
          <p:nvSpPr>
            <p:cNvPr name="Freeform 59" id="59"/>
            <p:cNvSpPr/>
            <p:nvPr/>
          </p:nvSpPr>
          <p:spPr>
            <a:xfrm flipH="false" flipV="false" rot="0">
              <a:off x="8509" y="8509"/>
              <a:ext cx="10363200" cy="3169920"/>
            </a:xfrm>
            <a:custGeom>
              <a:avLst/>
              <a:gdLst/>
              <a:ahLst/>
              <a:cxnLst/>
              <a:rect r="r" b="b" t="t" l="l"/>
              <a:pathLst>
                <a:path h="3169920" w="10363200">
                  <a:moveTo>
                    <a:pt x="0" y="0"/>
                  </a:moveTo>
                  <a:lnTo>
                    <a:pt x="10363200" y="0"/>
                  </a:lnTo>
                  <a:lnTo>
                    <a:pt x="10363200" y="3169920"/>
                  </a:lnTo>
                  <a:lnTo>
                    <a:pt x="0" y="3169920"/>
                  </a:lnTo>
                  <a:close/>
                </a:path>
              </a:pathLst>
            </a:custGeom>
            <a:solidFill>
              <a:srgbClr val="0F2354"/>
            </a:solidFill>
          </p:spPr>
        </p:sp>
        <p:sp>
          <p:nvSpPr>
            <p:cNvPr name="Freeform 60" id="60"/>
            <p:cNvSpPr/>
            <p:nvPr/>
          </p:nvSpPr>
          <p:spPr>
            <a:xfrm flipH="false" flipV="false" rot="0">
              <a:off x="0" y="0"/>
              <a:ext cx="10380218" cy="3186938"/>
            </a:xfrm>
            <a:custGeom>
              <a:avLst/>
              <a:gdLst/>
              <a:ahLst/>
              <a:cxnLst/>
              <a:rect r="r" b="b" t="t" l="l"/>
              <a:pathLst>
                <a:path h="3186938" w="10380218">
                  <a:moveTo>
                    <a:pt x="8509" y="0"/>
                  </a:moveTo>
                  <a:lnTo>
                    <a:pt x="10371709" y="0"/>
                  </a:lnTo>
                  <a:cubicBezTo>
                    <a:pt x="10376408" y="0"/>
                    <a:pt x="10380218" y="3810"/>
                    <a:pt x="10380218" y="8509"/>
                  </a:cubicBezTo>
                  <a:lnTo>
                    <a:pt x="10380218" y="3178429"/>
                  </a:lnTo>
                  <a:cubicBezTo>
                    <a:pt x="10380218" y="3183128"/>
                    <a:pt x="10376408" y="3186938"/>
                    <a:pt x="10371709" y="3186938"/>
                  </a:cubicBezTo>
                  <a:lnTo>
                    <a:pt x="8509" y="3186938"/>
                  </a:lnTo>
                  <a:cubicBezTo>
                    <a:pt x="3810" y="3186938"/>
                    <a:pt x="0" y="3183128"/>
                    <a:pt x="0" y="3178429"/>
                  </a:cubicBezTo>
                  <a:lnTo>
                    <a:pt x="0" y="8509"/>
                  </a:lnTo>
                  <a:cubicBezTo>
                    <a:pt x="0" y="3810"/>
                    <a:pt x="3810" y="0"/>
                    <a:pt x="8509" y="0"/>
                  </a:cubicBezTo>
                  <a:moveTo>
                    <a:pt x="8509" y="16891"/>
                  </a:moveTo>
                  <a:lnTo>
                    <a:pt x="8509" y="8509"/>
                  </a:lnTo>
                  <a:lnTo>
                    <a:pt x="17018" y="8509"/>
                  </a:lnTo>
                  <a:lnTo>
                    <a:pt x="17018" y="3178429"/>
                  </a:lnTo>
                  <a:lnTo>
                    <a:pt x="8509" y="3178429"/>
                  </a:lnTo>
                  <a:lnTo>
                    <a:pt x="8509" y="3169920"/>
                  </a:lnTo>
                  <a:lnTo>
                    <a:pt x="10371709" y="3169920"/>
                  </a:lnTo>
                  <a:lnTo>
                    <a:pt x="10371709" y="3178429"/>
                  </a:lnTo>
                  <a:lnTo>
                    <a:pt x="10363200" y="3178429"/>
                  </a:lnTo>
                  <a:lnTo>
                    <a:pt x="10363200" y="8509"/>
                  </a:lnTo>
                  <a:lnTo>
                    <a:pt x="10371709" y="8509"/>
                  </a:lnTo>
                  <a:lnTo>
                    <a:pt x="10371709" y="17018"/>
                  </a:lnTo>
                  <a:lnTo>
                    <a:pt x="8509" y="17018"/>
                  </a:lnTo>
                  <a:close/>
                </a:path>
              </a:pathLst>
            </a:custGeom>
            <a:solidFill>
              <a:srgbClr val="D97706"/>
            </a:solidFill>
          </p:spPr>
        </p:sp>
      </p:grpSp>
      <p:grpSp>
        <p:nvGrpSpPr>
          <p:cNvPr name="Group 61" id="61"/>
          <p:cNvGrpSpPr/>
          <p:nvPr/>
        </p:nvGrpSpPr>
        <p:grpSpPr>
          <a:xfrm rot="0">
            <a:off x="8856983" y="1907543"/>
            <a:ext cx="756923" cy="2402843"/>
            <a:chOff x="0" y="0"/>
            <a:chExt cx="1009231" cy="3203791"/>
          </a:xfrm>
        </p:grpSpPr>
        <p:sp>
          <p:nvSpPr>
            <p:cNvPr name="Freeform 62" id="62"/>
            <p:cNvSpPr/>
            <p:nvPr/>
          </p:nvSpPr>
          <p:spPr>
            <a:xfrm flipH="false" flipV="false" rot="0">
              <a:off x="16891" y="16891"/>
              <a:ext cx="975360" cy="3169920"/>
            </a:xfrm>
            <a:custGeom>
              <a:avLst/>
              <a:gdLst/>
              <a:ahLst/>
              <a:cxnLst/>
              <a:rect r="r" b="b" t="t" l="l"/>
              <a:pathLst>
                <a:path h="3169920" w="975360">
                  <a:moveTo>
                    <a:pt x="0" y="0"/>
                  </a:moveTo>
                  <a:lnTo>
                    <a:pt x="975360" y="0"/>
                  </a:lnTo>
                  <a:lnTo>
                    <a:pt x="975360" y="3169920"/>
                  </a:lnTo>
                  <a:lnTo>
                    <a:pt x="0" y="3169920"/>
                  </a:lnTo>
                  <a:close/>
                </a:path>
              </a:pathLst>
            </a:custGeom>
            <a:solidFill>
              <a:srgbClr val="D97706"/>
            </a:solidFill>
          </p:spPr>
        </p:sp>
        <p:sp>
          <p:nvSpPr>
            <p:cNvPr name="Freeform 63" id="63"/>
            <p:cNvSpPr/>
            <p:nvPr/>
          </p:nvSpPr>
          <p:spPr>
            <a:xfrm flipH="false" flipV="false" rot="0">
              <a:off x="0" y="0"/>
              <a:ext cx="1009142" cy="3203702"/>
            </a:xfrm>
            <a:custGeom>
              <a:avLst/>
              <a:gdLst/>
              <a:ahLst/>
              <a:cxnLst/>
              <a:rect r="r" b="b" t="t" l="l"/>
              <a:pathLst>
                <a:path h="3203702" w="1009142">
                  <a:moveTo>
                    <a:pt x="16891" y="0"/>
                  </a:moveTo>
                  <a:lnTo>
                    <a:pt x="992251" y="0"/>
                  </a:lnTo>
                  <a:cubicBezTo>
                    <a:pt x="1001649" y="0"/>
                    <a:pt x="1009142" y="7620"/>
                    <a:pt x="1009142" y="16891"/>
                  </a:cubicBezTo>
                  <a:lnTo>
                    <a:pt x="1009142" y="3186811"/>
                  </a:lnTo>
                  <a:cubicBezTo>
                    <a:pt x="1009142" y="3196209"/>
                    <a:pt x="1001522" y="3203702"/>
                    <a:pt x="992251" y="3203702"/>
                  </a:cubicBezTo>
                  <a:lnTo>
                    <a:pt x="16891" y="3203702"/>
                  </a:lnTo>
                  <a:cubicBezTo>
                    <a:pt x="7493" y="3203702"/>
                    <a:pt x="0" y="3196082"/>
                    <a:pt x="0" y="3186811"/>
                  </a:cubicBezTo>
                  <a:lnTo>
                    <a:pt x="0" y="16891"/>
                  </a:lnTo>
                  <a:cubicBezTo>
                    <a:pt x="0" y="7620"/>
                    <a:pt x="7620" y="0"/>
                    <a:pt x="16891" y="0"/>
                  </a:cubicBezTo>
                  <a:moveTo>
                    <a:pt x="16891" y="33909"/>
                  </a:moveTo>
                  <a:lnTo>
                    <a:pt x="16891" y="16891"/>
                  </a:lnTo>
                  <a:lnTo>
                    <a:pt x="33909" y="16891"/>
                  </a:lnTo>
                  <a:lnTo>
                    <a:pt x="33909" y="3186811"/>
                  </a:lnTo>
                  <a:lnTo>
                    <a:pt x="16891" y="3186811"/>
                  </a:lnTo>
                  <a:lnTo>
                    <a:pt x="16891" y="3169920"/>
                  </a:lnTo>
                  <a:lnTo>
                    <a:pt x="992251" y="3169920"/>
                  </a:lnTo>
                  <a:lnTo>
                    <a:pt x="992251" y="3186811"/>
                  </a:lnTo>
                  <a:lnTo>
                    <a:pt x="975360" y="3186811"/>
                  </a:lnTo>
                  <a:lnTo>
                    <a:pt x="975360" y="16891"/>
                  </a:lnTo>
                  <a:lnTo>
                    <a:pt x="992251" y="16891"/>
                  </a:lnTo>
                  <a:lnTo>
                    <a:pt x="992251" y="33909"/>
                  </a:lnTo>
                  <a:lnTo>
                    <a:pt x="16891" y="33909"/>
                  </a:lnTo>
                  <a:close/>
                </a:path>
              </a:pathLst>
            </a:custGeom>
            <a:solidFill>
              <a:srgbClr val="D97706"/>
            </a:solidFill>
          </p:spPr>
        </p:sp>
      </p:grpSp>
      <p:grpSp>
        <p:nvGrpSpPr>
          <p:cNvPr name="Group 64" id="64"/>
          <p:cNvGrpSpPr/>
          <p:nvPr/>
        </p:nvGrpSpPr>
        <p:grpSpPr>
          <a:xfrm rot="0">
            <a:off x="8869680" y="1920240"/>
            <a:ext cx="731520" cy="2377440"/>
            <a:chOff x="0" y="0"/>
            <a:chExt cx="975360" cy="3169920"/>
          </a:xfrm>
        </p:grpSpPr>
        <p:sp>
          <p:nvSpPr>
            <p:cNvPr name="Freeform 65" id="65"/>
            <p:cNvSpPr/>
            <p:nvPr/>
          </p:nvSpPr>
          <p:spPr>
            <a:xfrm flipH="false" flipV="false" rot="0">
              <a:off x="0" y="0"/>
              <a:ext cx="975360" cy="3169920"/>
            </a:xfrm>
            <a:custGeom>
              <a:avLst/>
              <a:gdLst/>
              <a:ahLst/>
              <a:cxnLst/>
              <a:rect r="r" b="b" t="t" l="l"/>
              <a:pathLst>
                <a:path h="3169920" w="975360">
                  <a:moveTo>
                    <a:pt x="0" y="0"/>
                  </a:moveTo>
                  <a:lnTo>
                    <a:pt x="975360" y="0"/>
                  </a:lnTo>
                  <a:lnTo>
                    <a:pt x="975360" y="3169920"/>
                  </a:lnTo>
                  <a:lnTo>
                    <a:pt x="0" y="3169920"/>
                  </a:lnTo>
                  <a:close/>
                </a:path>
              </a:pathLst>
            </a:custGeom>
            <a:blipFill>
              <a:blip r:embed="rId3">
                <a:alphaModFix amt="0"/>
              </a:blip>
              <a:stretch>
                <a:fillRect l="-366986" t="0" r="-366986" b="0"/>
              </a:stretch>
            </a:blipFill>
          </p:spPr>
        </p:sp>
        <p:sp>
          <p:nvSpPr>
            <p:cNvPr name="TextBox 66" id="66"/>
            <p:cNvSpPr txBox="true"/>
            <p:nvPr/>
          </p:nvSpPr>
          <p:spPr>
            <a:xfrm>
              <a:off x="0" y="-47625"/>
              <a:ext cx="975360" cy="3217545"/>
            </a:xfrm>
            <a:prstGeom prst="rect">
              <a:avLst/>
            </a:prstGeom>
          </p:spPr>
          <p:txBody>
            <a:bodyPr anchor="ctr" rtlCol="false" tIns="0" lIns="0" bIns="0" rIns="0"/>
            <a:lstStyle/>
            <a:p>
              <a:pPr algn="ctr">
                <a:lnSpc>
                  <a:spcPts val="3359"/>
                </a:lnSpc>
              </a:pPr>
              <a:r>
                <a:rPr lang="en-US" sz="2799" b="true">
                  <a:solidFill>
                    <a:srgbClr val="FFFFFF"/>
                  </a:solidFill>
                  <a:latin typeface="Calibri (MS) Bold"/>
                  <a:ea typeface="Calibri (MS) Bold"/>
                  <a:cs typeface="Calibri (MS) Bold"/>
                  <a:sym typeface="Calibri (MS) Bold"/>
                </a:rPr>
                <a:t>4</a:t>
              </a:r>
            </a:p>
          </p:txBody>
        </p:sp>
      </p:grpSp>
      <p:grpSp>
        <p:nvGrpSpPr>
          <p:cNvPr name="Group 67" id="67"/>
          <p:cNvGrpSpPr/>
          <p:nvPr/>
        </p:nvGrpSpPr>
        <p:grpSpPr>
          <a:xfrm rot="0">
            <a:off x="9747504" y="2103120"/>
            <a:ext cx="6675120" cy="585216"/>
            <a:chOff x="0" y="0"/>
            <a:chExt cx="8900160" cy="780288"/>
          </a:xfrm>
        </p:grpSpPr>
        <p:sp>
          <p:nvSpPr>
            <p:cNvPr name="Freeform 68" id="68"/>
            <p:cNvSpPr/>
            <p:nvPr/>
          </p:nvSpPr>
          <p:spPr>
            <a:xfrm flipH="false" flipV="false" rot="0">
              <a:off x="0" y="0"/>
              <a:ext cx="8900160" cy="780288"/>
            </a:xfrm>
            <a:custGeom>
              <a:avLst/>
              <a:gdLst/>
              <a:ahLst/>
              <a:cxnLst/>
              <a:rect r="r" b="b" t="t" l="l"/>
              <a:pathLst>
                <a:path h="780288" w="8900160">
                  <a:moveTo>
                    <a:pt x="0" y="0"/>
                  </a:moveTo>
                  <a:lnTo>
                    <a:pt x="8900160" y="0"/>
                  </a:lnTo>
                  <a:lnTo>
                    <a:pt x="8900160" y="780288"/>
                  </a:lnTo>
                  <a:lnTo>
                    <a:pt x="0" y="780288"/>
                  </a:lnTo>
                  <a:close/>
                </a:path>
              </a:pathLst>
            </a:custGeom>
            <a:blipFill>
              <a:blip r:embed="rId3">
                <a:alphaModFix amt="0"/>
              </a:blip>
              <a:stretch>
                <a:fillRect l="0" t="-172251" r="0" b="-172251"/>
              </a:stretch>
            </a:blipFill>
          </p:spPr>
        </p:sp>
        <p:sp>
          <p:nvSpPr>
            <p:cNvPr name="TextBox 69" id="69"/>
            <p:cNvSpPr txBox="true"/>
            <p:nvPr/>
          </p:nvSpPr>
          <p:spPr>
            <a:xfrm>
              <a:off x="0" y="-47625"/>
              <a:ext cx="8900160" cy="827913"/>
            </a:xfrm>
            <a:prstGeom prst="rect">
              <a:avLst/>
            </a:prstGeom>
          </p:spPr>
          <p:txBody>
            <a:bodyPr anchor="ctr" rtlCol="false" tIns="0" lIns="0" bIns="0" rIns="0"/>
            <a:lstStyle/>
            <a:p>
              <a:pPr algn="l">
                <a:lnSpc>
                  <a:spcPts val="2640"/>
                </a:lnSpc>
              </a:pPr>
              <a:r>
                <a:rPr lang="en-US" sz="2200" b="true">
                  <a:solidFill>
                    <a:srgbClr val="D97706"/>
                  </a:solidFill>
                  <a:latin typeface="Calibri (MS) Bold"/>
                  <a:ea typeface="Calibri (MS) Bold"/>
                  <a:cs typeface="Calibri (MS) Bold"/>
                  <a:sym typeface="Calibri (MS) Bold"/>
                </a:rPr>
                <a:t>Domain + modality alignment matter</a:t>
              </a:r>
            </a:p>
          </p:txBody>
        </p:sp>
      </p:grpSp>
      <p:grpSp>
        <p:nvGrpSpPr>
          <p:cNvPr name="Group 70" id="70"/>
          <p:cNvGrpSpPr/>
          <p:nvPr/>
        </p:nvGrpSpPr>
        <p:grpSpPr>
          <a:xfrm rot="0">
            <a:off x="9747504" y="2688336"/>
            <a:ext cx="6675120" cy="1499616"/>
            <a:chOff x="0" y="0"/>
            <a:chExt cx="8900160" cy="1999488"/>
          </a:xfrm>
        </p:grpSpPr>
        <p:sp>
          <p:nvSpPr>
            <p:cNvPr name="Freeform 71" id="71"/>
            <p:cNvSpPr/>
            <p:nvPr/>
          </p:nvSpPr>
          <p:spPr>
            <a:xfrm flipH="false" flipV="false" rot="0">
              <a:off x="0" y="0"/>
              <a:ext cx="8900160" cy="1999488"/>
            </a:xfrm>
            <a:custGeom>
              <a:avLst/>
              <a:gdLst/>
              <a:ahLst/>
              <a:cxnLst/>
              <a:rect r="r" b="b" t="t" l="l"/>
              <a:pathLst>
                <a:path h="1999488" w="8900160">
                  <a:moveTo>
                    <a:pt x="0" y="0"/>
                  </a:moveTo>
                  <a:lnTo>
                    <a:pt x="8900160" y="0"/>
                  </a:lnTo>
                  <a:lnTo>
                    <a:pt x="8900160" y="1999488"/>
                  </a:lnTo>
                  <a:lnTo>
                    <a:pt x="0" y="1999488"/>
                  </a:lnTo>
                  <a:close/>
                </a:path>
              </a:pathLst>
            </a:custGeom>
            <a:blipFill>
              <a:blip r:embed="rId3">
                <a:alphaModFix amt="0"/>
              </a:blip>
              <a:stretch>
                <a:fillRect l="0" t="-36732" r="0" b="-36732"/>
              </a:stretch>
            </a:blipFill>
          </p:spPr>
        </p:sp>
        <p:sp>
          <p:nvSpPr>
            <p:cNvPr name="TextBox 72" id="72"/>
            <p:cNvSpPr txBox="true"/>
            <p:nvPr/>
          </p:nvSpPr>
          <p:spPr>
            <a:xfrm>
              <a:off x="0" y="-38100"/>
              <a:ext cx="8900160" cy="2037588"/>
            </a:xfrm>
            <a:prstGeom prst="rect">
              <a:avLst/>
            </a:prstGeom>
          </p:spPr>
          <p:txBody>
            <a:bodyPr anchor="ctr" rtlCol="false" tIns="0" lIns="0" bIns="0" rIns="0"/>
            <a:lstStyle/>
            <a:p>
              <a:pPr algn="l">
                <a:lnSpc>
                  <a:spcPts val="2280"/>
                </a:lnSpc>
              </a:pPr>
              <a:r>
                <a:rPr lang="en-US" sz="1900">
                  <a:solidFill>
                    <a:srgbClr val="A5C8E4"/>
                  </a:solidFill>
                  <a:latin typeface="Calibri (MS)"/>
                  <a:ea typeface="Calibri (MS)"/>
                  <a:cs typeface="Calibri (MS)"/>
                  <a:sym typeface="Calibri (MS)"/>
                </a:rPr>
                <a:t>Fine-tuning the encoder on RS data with GloVe targets closes both the domain gap (ImageNet→RS) and the modality gap (image→text).</a:t>
              </a:r>
            </a:p>
          </p:txBody>
        </p:sp>
      </p:grpSp>
      <p:grpSp>
        <p:nvGrpSpPr>
          <p:cNvPr name="Group 73" id="73"/>
          <p:cNvGrpSpPr/>
          <p:nvPr/>
        </p:nvGrpSpPr>
        <p:grpSpPr>
          <a:xfrm rot="0">
            <a:off x="8863327" y="4510783"/>
            <a:ext cx="7785097" cy="2390137"/>
            <a:chOff x="0" y="0"/>
            <a:chExt cx="10380129" cy="3186849"/>
          </a:xfrm>
        </p:grpSpPr>
        <p:sp>
          <p:nvSpPr>
            <p:cNvPr name="Freeform 74" id="74"/>
            <p:cNvSpPr/>
            <p:nvPr/>
          </p:nvSpPr>
          <p:spPr>
            <a:xfrm flipH="false" flipV="false" rot="0">
              <a:off x="8509" y="8509"/>
              <a:ext cx="10363200" cy="3169920"/>
            </a:xfrm>
            <a:custGeom>
              <a:avLst/>
              <a:gdLst/>
              <a:ahLst/>
              <a:cxnLst/>
              <a:rect r="r" b="b" t="t" l="l"/>
              <a:pathLst>
                <a:path h="3169920" w="10363200">
                  <a:moveTo>
                    <a:pt x="0" y="0"/>
                  </a:moveTo>
                  <a:lnTo>
                    <a:pt x="10363200" y="0"/>
                  </a:lnTo>
                  <a:lnTo>
                    <a:pt x="10363200" y="3169920"/>
                  </a:lnTo>
                  <a:lnTo>
                    <a:pt x="0" y="3169920"/>
                  </a:lnTo>
                  <a:close/>
                </a:path>
              </a:pathLst>
            </a:custGeom>
            <a:solidFill>
              <a:srgbClr val="0F2354"/>
            </a:solidFill>
          </p:spPr>
        </p:sp>
        <p:sp>
          <p:nvSpPr>
            <p:cNvPr name="Freeform 75" id="75"/>
            <p:cNvSpPr/>
            <p:nvPr/>
          </p:nvSpPr>
          <p:spPr>
            <a:xfrm flipH="false" flipV="false" rot="0">
              <a:off x="0" y="0"/>
              <a:ext cx="10380218" cy="3186938"/>
            </a:xfrm>
            <a:custGeom>
              <a:avLst/>
              <a:gdLst/>
              <a:ahLst/>
              <a:cxnLst/>
              <a:rect r="r" b="b" t="t" l="l"/>
              <a:pathLst>
                <a:path h="3186938" w="10380218">
                  <a:moveTo>
                    <a:pt x="8509" y="0"/>
                  </a:moveTo>
                  <a:lnTo>
                    <a:pt x="10371709" y="0"/>
                  </a:lnTo>
                  <a:cubicBezTo>
                    <a:pt x="10376408" y="0"/>
                    <a:pt x="10380218" y="3810"/>
                    <a:pt x="10380218" y="8509"/>
                  </a:cubicBezTo>
                  <a:lnTo>
                    <a:pt x="10380218" y="3178429"/>
                  </a:lnTo>
                  <a:cubicBezTo>
                    <a:pt x="10380218" y="3183128"/>
                    <a:pt x="10376408" y="3186938"/>
                    <a:pt x="10371709" y="3186938"/>
                  </a:cubicBezTo>
                  <a:lnTo>
                    <a:pt x="8509" y="3186938"/>
                  </a:lnTo>
                  <a:cubicBezTo>
                    <a:pt x="3810" y="3186938"/>
                    <a:pt x="0" y="3183128"/>
                    <a:pt x="0" y="3178429"/>
                  </a:cubicBezTo>
                  <a:lnTo>
                    <a:pt x="0" y="8509"/>
                  </a:lnTo>
                  <a:cubicBezTo>
                    <a:pt x="0" y="3810"/>
                    <a:pt x="3810" y="0"/>
                    <a:pt x="8509" y="0"/>
                  </a:cubicBezTo>
                  <a:moveTo>
                    <a:pt x="8509" y="16891"/>
                  </a:moveTo>
                  <a:lnTo>
                    <a:pt x="8509" y="8509"/>
                  </a:lnTo>
                  <a:lnTo>
                    <a:pt x="17018" y="8509"/>
                  </a:lnTo>
                  <a:lnTo>
                    <a:pt x="17018" y="3178429"/>
                  </a:lnTo>
                  <a:lnTo>
                    <a:pt x="8509" y="3178429"/>
                  </a:lnTo>
                  <a:lnTo>
                    <a:pt x="8509" y="3169920"/>
                  </a:lnTo>
                  <a:lnTo>
                    <a:pt x="10371709" y="3169920"/>
                  </a:lnTo>
                  <a:lnTo>
                    <a:pt x="10371709" y="3178429"/>
                  </a:lnTo>
                  <a:lnTo>
                    <a:pt x="10363200" y="3178429"/>
                  </a:lnTo>
                  <a:lnTo>
                    <a:pt x="10363200" y="8509"/>
                  </a:lnTo>
                  <a:lnTo>
                    <a:pt x="10371709" y="8509"/>
                  </a:lnTo>
                  <a:lnTo>
                    <a:pt x="10371709" y="17018"/>
                  </a:lnTo>
                  <a:lnTo>
                    <a:pt x="8509" y="17018"/>
                  </a:lnTo>
                  <a:close/>
                </a:path>
              </a:pathLst>
            </a:custGeom>
            <a:solidFill>
              <a:srgbClr val="0D9488"/>
            </a:solidFill>
          </p:spPr>
        </p:sp>
      </p:grpSp>
      <p:grpSp>
        <p:nvGrpSpPr>
          <p:cNvPr name="Group 76" id="76"/>
          <p:cNvGrpSpPr/>
          <p:nvPr/>
        </p:nvGrpSpPr>
        <p:grpSpPr>
          <a:xfrm rot="0">
            <a:off x="8856983" y="4504439"/>
            <a:ext cx="756923" cy="2402843"/>
            <a:chOff x="0" y="0"/>
            <a:chExt cx="1009231" cy="3203791"/>
          </a:xfrm>
        </p:grpSpPr>
        <p:sp>
          <p:nvSpPr>
            <p:cNvPr name="Freeform 77" id="77"/>
            <p:cNvSpPr/>
            <p:nvPr/>
          </p:nvSpPr>
          <p:spPr>
            <a:xfrm flipH="false" flipV="false" rot="0">
              <a:off x="16891" y="16891"/>
              <a:ext cx="975360" cy="3169920"/>
            </a:xfrm>
            <a:custGeom>
              <a:avLst/>
              <a:gdLst/>
              <a:ahLst/>
              <a:cxnLst/>
              <a:rect r="r" b="b" t="t" l="l"/>
              <a:pathLst>
                <a:path h="3169920" w="975360">
                  <a:moveTo>
                    <a:pt x="0" y="0"/>
                  </a:moveTo>
                  <a:lnTo>
                    <a:pt x="975360" y="0"/>
                  </a:lnTo>
                  <a:lnTo>
                    <a:pt x="975360" y="3169920"/>
                  </a:lnTo>
                  <a:lnTo>
                    <a:pt x="0" y="3169920"/>
                  </a:lnTo>
                  <a:close/>
                </a:path>
              </a:pathLst>
            </a:custGeom>
            <a:solidFill>
              <a:srgbClr val="0D9488"/>
            </a:solidFill>
          </p:spPr>
        </p:sp>
        <p:sp>
          <p:nvSpPr>
            <p:cNvPr name="Freeform 78" id="78"/>
            <p:cNvSpPr/>
            <p:nvPr/>
          </p:nvSpPr>
          <p:spPr>
            <a:xfrm flipH="false" flipV="false" rot="0">
              <a:off x="0" y="0"/>
              <a:ext cx="1009142" cy="3203702"/>
            </a:xfrm>
            <a:custGeom>
              <a:avLst/>
              <a:gdLst/>
              <a:ahLst/>
              <a:cxnLst/>
              <a:rect r="r" b="b" t="t" l="l"/>
              <a:pathLst>
                <a:path h="3203702" w="1009142">
                  <a:moveTo>
                    <a:pt x="16891" y="0"/>
                  </a:moveTo>
                  <a:lnTo>
                    <a:pt x="992251" y="0"/>
                  </a:lnTo>
                  <a:cubicBezTo>
                    <a:pt x="1001649" y="0"/>
                    <a:pt x="1009142" y="7620"/>
                    <a:pt x="1009142" y="16891"/>
                  </a:cubicBezTo>
                  <a:lnTo>
                    <a:pt x="1009142" y="3186811"/>
                  </a:lnTo>
                  <a:cubicBezTo>
                    <a:pt x="1009142" y="3196209"/>
                    <a:pt x="1001522" y="3203702"/>
                    <a:pt x="992251" y="3203702"/>
                  </a:cubicBezTo>
                  <a:lnTo>
                    <a:pt x="16891" y="3203702"/>
                  </a:lnTo>
                  <a:cubicBezTo>
                    <a:pt x="7493" y="3203702"/>
                    <a:pt x="0" y="3196082"/>
                    <a:pt x="0" y="3186811"/>
                  </a:cubicBezTo>
                  <a:lnTo>
                    <a:pt x="0" y="16891"/>
                  </a:lnTo>
                  <a:cubicBezTo>
                    <a:pt x="0" y="7620"/>
                    <a:pt x="7620" y="0"/>
                    <a:pt x="16891" y="0"/>
                  </a:cubicBezTo>
                  <a:moveTo>
                    <a:pt x="16891" y="33909"/>
                  </a:moveTo>
                  <a:lnTo>
                    <a:pt x="16891" y="16891"/>
                  </a:lnTo>
                  <a:lnTo>
                    <a:pt x="33909" y="16891"/>
                  </a:lnTo>
                  <a:lnTo>
                    <a:pt x="33909" y="3186811"/>
                  </a:lnTo>
                  <a:lnTo>
                    <a:pt x="16891" y="3186811"/>
                  </a:lnTo>
                  <a:lnTo>
                    <a:pt x="16891" y="3169920"/>
                  </a:lnTo>
                  <a:lnTo>
                    <a:pt x="992251" y="3169920"/>
                  </a:lnTo>
                  <a:lnTo>
                    <a:pt x="992251" y="3186811"/>
                  </a:lnTo>
                  <a:lnTo>
                    <a:pt x="975360" y="3186811"/>
                  </a:lnTo>
                  <a:lnTo>
                    <a:pt x="975360" y="16891"/>
                  </a:lnTo>
                  <a:lnTo>
                    <a:pt x="992251" y="16891"/>
                  </a:lnTo>
                  <a:lnTo>
                    <a:pt x="992251" y="33909"/>
                  </a:lnTo>
                  <a:lnTo>
                    <a:pt x="16891" y="33909"/>
                  </a:lnTo>
                  <a:close/>
                </a:path>
              </a:pathLst>
            </a:custGeom>
            <a:solidFill>
              <a:srgbClr val="0D9488"/>
            </a:solidFill>
          </p:spPr>
        </p:sp>
      </p:grpSp>
      <p:grpSp>
        <p:nvGrpSpPr>
          <p:cNvPr name="Group 79" id="79"/>
          <p:cNvGrpSpPr/>
          <p:nvPr/>
        </p:nvGrpSpPr>
        <p:grpSpPr>
          <a:xfrm rot="0">
            <a:off x="8869680" y="4517136"/>
            <a:ext cx="731520" cy="2377440"/>
            <a:chOff x="0" y="0"/>
            <a:chExt cx="975360" cy="3169920"/>
          </a:xfrm>
        </p:grpSpPr>
        <p:sp>
          <p:nvSpPr>
            <p:cNvPr name="Freeform 80" id="80"/>
            <p:cNvSpPr/>
            <p:nvPr/>
          </p:nvSpPr>
          <p:spPr>
            <a:xfrm flipH="false" flipV="false" rot="0">
              <a:off x="0" y="0"/>
              <a:ext cx="975360" cy="3169920"/>
            </a:xfrm>
            <a:custGeom>
              <a:avLst/>
              <a:gdLst/>
              <a:ahLst/>
              <a:cxnLst/>
              <a:rect r="r" b="b" t="t" l="l"/>
              <a:pathLst>
                <a:path h="3169920" w="975360">
                  <a:moveTo>
                    <a:pt x="0" y="0"/>
                  </a:moveTo>
                  <a:lnTo>
                    <a:pt x="975360" y="0"/>
                  </a:lnTo>
                  <a:lnTo>
                    <a:pt x="975360" y="3169920"/>
                  </a:lnTo>
                  <a:lnTo>
                    <a:pt x="0" y="3169920"/>
                  </a:lnTo>
                  <a:close/>
                </a:path>
              </a:pathLst>
            </a:custGeom>
            <a:blipFill>
              <a:blip r:embed="rId3">
                <a:alphaModFix amt="0"/>
              </a:blip>
              <a:stretch>
                <a:fillRect l="-366986" t="0" r="-366986" b="0"/>
              </a:stretch>
            </a:blipFill>
          </p:spPr>
        </p:sp>
        <p:sp>
          <p:nvSpPr>
            <p:cNvPr name="TextBox 81" id="81"/>
            <p:cNvSpPr txBox="true"/>
            <p:nvPr/>
          </p:nvSpPr>
          <p:spPr>
            <a:xfrm>
              <a:off x="0" y="-47625"/>
              <a:ext cx="975360" cy="3217545"/>
            </a:xfrm>
            <a:prstGeom prst="rect">
              <a:avLst/>
            </a:prstGeom>
          </p:spPr>
          <p:txBody>
            <a:bodyPr anchor="ctr" rtlCol="false" tIns="0" lIns="0" bIns="0" rIns="0"/>
            <a:lstStyle/>
            <a:p>
              <a:pPr algn="ctr">
                <a:lnSpc>
                  <a:spcPts val="3359"/>
                </a:lnSpc>
              </a:pPr>
              <a:r>
                <a:rPr lang="en-US" sz="2799" b="true">
                  <a:solidFill>
                    <a:srgbClr val="FFFFFF"/>
                  </a:solidFill>
                  <a:latin typeface="Calibri (MS) Bold"/>
                  <a:ea typeface="Calibri (MS) Bold"/>
                  <a:cs typeface="Calibri (MS) Bold"/>
                  <a:sym typeface="Calibri (MS) Bold"/>
                </a:rPr>
                <a:t>5</a:t>
              </a:r>
            </a:p>
          </p:txBody>
        </p:sp>
      </p:grpSp>
      <p:grpSp>
        <p:nvGrpSpPr>
          <p:cNvPr name="Group 82" id="82"/>
          <p:cNvGrpSpPr/>
          <p:nvPr/>
        </p:nvGrpSpPr>
        <p:grpSpPr>
          <a:xfrm rot="0">
            <a:off x="9747504" y="4700016"/>
            <a:ext cx="6675120" cy="585216"/>
            <a:chOff x="0" y="0"/>
            <a:chExt cx="8900160" cy="780288"/>
          </a:xfrm>
        </p:grpSpPr>
        <p:sp>
          <p:nvSpPr>
            <p:cNvPr name="Freeform 83" id="83"/>
            <p:cNvSpPr/>
            <p:nvPr/>
          </p:nvSpPr>
          <p:spPr>
            <a:xfrm flipH="false" flipV="false" rot="0">
              <a:off x="0" y="0"/>
              <a:ext cx="8900160" cy="780288"/>
            </a:xfrm>
            <a:custGeom>
              <a:avLst/>
              <a:gdLst/>
              <a:ahLst/>
              <a:cxnLst/>
              <a:rect r="r" b="b" t="t" l="l"/>
              <a:pathLst>
                <a:path h="780288" w="8900160">
                  <a:moveTo>
                    <a:pt x="0" y="0"/>
                  </a:moveTo>
                  <a:lnTo>
                    <a:pt x="8900160" y="0"/>
                  </a:lnTo>
                  <a:lnTo>
                    <a:pt x="8900160" y="780288"/>
                  </a:lnTo>
                  <a:lnTo>
                    <a:pt x="0" y="780288"/>
                  </a:lnTo>
                  <a:close/>
                </a:path>
              </a:pathLst>
            </a:custGeom>
            <a:blipFill>
              <a:blip r:embed="rId3">
                <a:alphaModFix amt="0"/>
              </a:blip>
              <a:stretch>
                <a:fillRect l="0" t="-172251" r="0" b="-172251"/>
              </a:stretch>
            </a:blipFill>
          </p:spPr>
        </p:sp>
        <p:sp>
          <p:nvSpPr>
            <p:cNvPr name="TextBox 84" id="84"/>
            <p:cNvSpPr txBox="true"/>
            <p:nvPr/>
          </p:nvSpPr>
          <p:spPr>
            <a:xfrm>
              <a:off x="0" y="-47625"/>
              <a:ext cx="8900160" cy="827913"/>
            </a:xfrm>
            <a:prstGeom prst="rect">
              <a:avLst/>
            </a:prstGeom>
          </p:spPr>
          <p:txBody>
            <a:bodyPr anchor="ctr" rtlCol="false" tIns="0" lIns="0" bIns="0" rIns="0"/>
            <a:lstStyle/>
            <a:p>
              <a:pPr algn="l">
                <a:lnSpc>
                  <a:spcPts val="2640"/>
                </a:lnSpc>
              </a:pPr>
              <a:r>
                <a:rPr lang="en-US" sz="2200" b="true">
                  <a:solidFill>
                    <a:srgbClr val="0D9488"/>
                  </a:solidFill>
                  <a:latin typeface="Calibri (MS) Bold"/>
                  <a:ea typeface="Calibri (MS) Bold"/>
                  <a:cs typeface="Calibri (MS) Bold"/>
                  <a:sym typeface="Calibri (MS) Bold"/>
                </a:rPr>
                <a:t>State-of-the-art on 3 benchmarks</a:t>
              </a:r>
            </a:p>
          </p:txBody>
        </p:sp>
      </p:grpSp>
      <p:grpSp>
        <p:nvGrpSpPr>
          <p:cNvPr name="Group 85" id="85"/>
          <p:cNvGrpSpPr/>
          <p:nvPr/>
        </p:nvGrpSpPr>
        <p:grpSpPr>
          <a:xfrm rot="0">
            <a:off x="9747504" y="5285232"/>
            <a:ext cx="6675120" cy="1499616"/>
            <a:chOff x="0" y="0"/>
            <a:chExt cx="8900160" cy="1999488"/>
          </a:xfrm>
        </p:grpSpPr>
        <p:sp>
          <p:nvSpPr>
            <p:cNvPr name="Freeform 86" id="86"/>
            <p:cNvSpPr/>
            <p:nvPr/>
          </p:nvSpPr>
          <p:spPr>
            <a:xfrm flipH="false" flipV="false" rot="0">
              <a:off x="0" y="0"/>
              <a:ext cx="8900160" cy="1999488"/>
            </a:xfrm>
            <a:custGeom>
              <a:avLst/>
              <a:gdLst/>
              <a:ahLst/>
              <a:cxnLst/>
              <a:rect r="r" b="b" t="t" l="l"/>
              <a:pathLst>
                <a:path h="1999488" w="8900160">
                  <a:moveTo>
                    <a:pt x="0" y="0"/>
                  </a:moveTo>
                  <a:lnTo>
                    <a:pt x="8900160" y="0"/>
                  </a:lnTo>
                  <a:lnTo>
                    <a:pt x="8900160" y="1999488"/>
                  </a:lnTo>
                  <a:lnTo>
                    <a:pt x="0" y="1999488"/>
                  </a:lnTo>
                  <a:close/>
                </a:path>
              </a:pathLst>
            </a:custGeom>
            <a:blipFill>
              <a:blip r:embed="rId3">
                <a:alphaModFix amt="0"/>
              </a:blip>
              <a:stretch>
                <a:fillRect l="0" t="-36732" r="0" b="-36732"/>
              </a:stretch>
            </a:blipFill>
          </p:spPr>
        </p:sp>
        <p:sp>
          <p:nvSpPr>
            <p:cNvPr name="TextBox 87" id="87"/>
            <p:cNvSpPr txBox="true"/>
            <p:nvPr/>
          </p:nvSpPr>
          <p:spPr>
            <a:xfrm>
              <a:off x="0" y="-38100"/>
              <a:ext cx="8900160" cy="2037588"/>
            </a:xfrm>
            <a:prstGeom prst="rect">
              <a:avLst/>
            </a:prstGeom>
          </p:spPr>
          <p:txBody>
            <a:bodyPr anchor="ctr" rtlCol="false" tIns="0" lIns="0" bIns="0" rIns="0"/>
            <a:lstStyle/>
            <a:p>
              <a:pPr algn="l">
                <a:lnSpc>
                  <a:spcPts val="2280"/>
                </a:lnSpc>
              </a:pPr>
              <a:r>
                <a:rPr lang="en-US" sz="1900">
                  <a:solidFill>
                    <a:srgbClr val="A5C8E4"/>
                  </a:solidFill>
                  <a:latin typeface="Calibri (MS)"/>
                  <a:ea typeface="Calibri (MS)"/>
                  <a:cs typeface="Calibri (MS)"/>
                  <a:sym typeface="Calibri (MS)"/>
                </a:rPr>
                <a:t>TSFE outperforms MGTN and 8 other methods on RSICD (largest dataset). +2.45% CIDEr on RSICD vs previous best.</a:t>
              </a:r>
            </a:p>
          </p:txBody>
        </p:sp>
      </p:grpSp>
      <p:grpSp>
        <p:nvGrpSpPr>
          <p:cNvPr name="Group 88" id="88"/>
          <p:cNvGrpSpPr/>
          <p:nvPr/>
        </p:nvGrpSpPr>
        <p:grpSpPr>
          <a:xfrm rot="0">
            <a:off x="8863327" y="8680447"/>
            <a:ext cx="7785097" cy="1018537"/>
            <a:chOff x="0" y="0"/>
            <a:chExt cx="10380129" cy="1358049"/>
          </a:xfrm>
        </p:grpSpPr>
        <p:sp>
          <p:nvSpPr>
            <p:cNvPr name="Freeform 89" id="89"/>
            <p:cNvSpPr/>
            <p:nvPr/>
          </p:nvSpPr>
          <p:spPr>
            <a:xfrm flipH="false" flipV="false" rot="0">
              <a:off x="8509" y="8509"/>
              <a:ext cx="10363200" cy="1341120"/>
            </a:xfrm>
            <a:custGeom>
              <a:avLst/>
              <a:gdLst/>
              <a:ahLst/>
              <a:cxnLst/>
              <a:rect r="r" b="b" t="t" l="l"/>
              <a:pathLst>
                <a:path h="1341120" w="10363200">
                  <a:moveTo>
                    <a:pt x="0" y="0"/>
                  </a:moveTo>
                  <a:lnTo>
                    <a:pt x="10363200" y="0"/>
                  </a:lnTo>
                  <a:lnTo>
                    <a:pt x="10363200" y="1341120"/>
                  </a:lnTo>
                  <a:lnTo>
                    <a:pt x="0" y="1341120"/>
                  </a:lnTo>
                  <a:close/>
                </a:path>
              </a:pathLst>
            </a:custGeom>
            <a:solidFill>
              <a:srgbClr val="0F2354"/>
            </a:solidFill>
          </p:spPr>
        </p:sp>
        <p:sp>
          <p:nvSpPr>
            <p:cNvPr name="Freeform 90" id="90"/>
            <p:cNvSpPr/>
            <p:nvPr/>
          </p:nvSpPr>
          <p:spPr>
            <a:xfrm flipH="false" flipV="false" rot="0">
              <a:off x="0" y="0"/>
              <a:ext cx="10380218" cy="1358138"/>
            </a:xfrm>
            <a:custGeom>
              <a:avLst/>
              <a:gdLst/>
              <a:ahLst/>
              <a:cxnLst/>
              <a:rect r="r" b="b" t="t" l="l"/>
              <a:pathLst>
                <a:path h="1358138" w="10380218">
                  <a:moveTo>
                    <a:pt x="8509" y="0"/>
                  </a:moveTo>
                  <a:lnTo>
                    <a:pt x="10371709" y="0"/>
                  </a:lnTo>
                  <a:cubicBezTo>
                    <a:pt x="10376408" y="0"/>
                    <a:pt x="10380218" y="3810"/>
                    <a:pt x="10380218" y="8509"/>
                  </a:cubicBezTo>
                  <a:lnTo>
                    <a:pt x="10380218" y="1349629"/>
                  </a:lnTo>
                  <a:cubicBezTo>
                    <a:pt x="10380218" y="1354328"/>
                    <a:pt x="10376408" y="1358138"/>
                    <a:pt x="10371709" y="1358138"/>
                  </a:cubicBezTo>
                  <a:lnTo>
                    <a:pt x="8509" y="1358138"/>
                  </a:lnTo>
                  <a:cubicBezTo>
                    <a:pt x="3810" y="1358138"/>
                    <a:pt x="0" y="1354328"/>
                    <a:pt x="0" y="1349629"/>
                  </a:cubicBezTo>
                  <a:lnTo>
                    <a:pt x="0" y="8509"/>
                  </a:lnTo>
                  <a:cubicBezTo>
                    <a:pt x="0" y="3810"/>
                    <a:pt x="3810" y="0"/>
                    <a:pt x="8509" y="0"/>
                  </a:cubicBezTo>
                  <a:moveTo>
                    <a:pt x="8509" y="16891"/>
                  </a:moveTo>
                  <a:lnTo>
                    <a:pt x="8509" y="8509"/>
                  </a:lnTo>
                  <a:lnTo>
                    <a:pt x="17018" y="8509"/>
                  </a:lnTo>
                  <a:lnTo>
                    <a:pt x="17018" y="1349629"/>
                  </a:lnTo>
                  <a:lnTo>
                    <a:pt x="8509" y="1349629"/>
                  </a:lnTo>
                  <a:lnTo>
                    <a:pt x="8509" y="1341120"/>
                  </a:lnTo>
                  <a:lnTo>
                    <a:pt x="10371709" y="1341120"/>
                  </a:lnTo>
                  <a:lnTo>
                    <a:pt x="10371709" y="1349629"/>
                  </a:lnTo>
                  <a:lnTo>
                    <a:pt x="10363200" y="1349629"/>
                  </a:lnTo>
                  <a:lnTo>
                    <a:pt x="10363200" y="8509"/>
                  </a:lnTo>
                  <a:lnTo>
                    <a:pt x="10371709" y="8509"/>
                  </a:lnTo>
                  <a:lnTo>
                    <a:pt x="10371709" y="17018"/>
                  </a:lnTo>
                  <a:lnTo>
                    <a:pt x="8509" y="17018"/>
                  </a:lnTo>
                  <a:close/>
                </a:path>
              </a:pathLst>
            </a:custGeom>
            <a:solidFill>
              <a:srgbClr val="D97706"/>
            </a:solidFill>
          </p:spPr>
        </p:sp>
      </p:grpSp>
      <p:grpSp>
        <p:nvGrpSpPr>
          <p:cNvPr name="Group 91" id="91"/>
          <p:cNvGrpSpPr/>
          <p:nvPr/>
        </p:nvGrpSpPr>
        <p:grpSpPr>
          <a:xfrm rot="0">
            <a:off x="9052560" y="8741664"/>
            <a:ext cx="7406640" cy="877824"/>
            <a:chOff x="0" y="0"/>
            <a:chExt cx="9875520" cy="1170432"/>
          </a:xfrm>
        </p:grpSpPr>
        <p:sp>
          <p:nvSpPr>
            <p:cNvPr name="Freeform 92" id="92"/>
            <p:cNvSpPr/>
            <p:nvPr/>
          </p:nvSpPr>
          <p:spPr>
            <a:xfrm flipH="false" flipV="false" rot="0">
              <a:off x="0" y="0"/>
              <a:ext cx="9875520" cy="1170432"/>
            </a:xfrm>
            <a:custGeom>
              <a:avLst/>
              <a:gdLst/>
              <a:ahLst/>
              <a:cxnLst/>
              <a:rect r="r" b="b" t="t" l="l"/>
              <a:pathLst>
                <a:path h="1170432" w="9875520">
                  <a:moveTo>
                    <a:pt x="0" y="0"/>
                  </a:moveTo>
                  <a:lnTo>
                    <a:pt x="9875520" y="0"/>
                  </a:lnTo>
                  <a:lnTo>
                    <a:pt x="9875520" y="1170432"/>
                  </a:lnTo>
                  <a:lnTo>
                    <a:pt x="0" y="1170432"/>
                  </a:lnTo>
                  <a:close/>
                </a:path>
              </a:pathLst>
            </a:custGeom>
            <a:blipFill>
              <a:blip r:embed="rId3">
                <a:alphaModFix amt="0"/>
              </a:blip>
              <a:stretch>
                <a:fillRect l="0" t="-114405" r="0" b="-114405"/>
              </a:stretch>
            </a:blipFill>
          </p:spPr>
        </p:sp>
        <p:sp>
          <p:nvSpPr>
            <p:cNvPr name="TextBox 93" id="93"/>
            <p:cNvSpPr txBox="true"/>
            <p:nvPr/>
          </p:nvSpPr>
          <p:spPr>
            <a:xfrm>
              <a:off x="0" y="-38100"/>
              <a:ext cx="9875520" cy="1208532"/>
            </a:xfrm>
            <a:prstGeom prst="rect">
              <a:avLst/>
            </a:prstGeom>
          </p:spPr>
          <p:txBody>
            <a:bodyPr anchor="ctr" rtlCol="false" tIns="0" lIns="0" bIns="0" rIns="0"/>
            <a:lstStyle/>
            <a:p>
              <a:pPr algn="l">
                <a:lnSpc>
                  <a:spcPts val="2280"/>
                </a:lnSpc>
              </a:pPr>
              <a:r>
                <a:rPr lang="en-US" sz="1900" b="true">
                  <a:solidFill>
                    <a:srgbClr val="D97706"/>
                  </a:solidFill>
                  <a:latin typeface="Calibri (MS) Bold"/>
                  <a:ea typeface="Calibri (MS) Bold"/>
                  <a:cs typeface="Calibri (MS) Bold"/>
                  <a:sym typeface="Calibri (MS) Bold"/>
                </a:rPr>
                <a:t>Future work: </a:t>
              </a:r>
              <a:r>
                <a:rPr lang="en-US" sz="1900">
                  <a:solidFill>
                    <a:srgbClr val="A5C8E4"/>
                  </a:solidFill>
                  <a:latin typeface="Calibri (MS)"/>
                  <a:ea typeface="Calibri (MS)"/>
                  <a:cs typeface="Calibri (MS)"/>
                  <a:sym typeface="Calibri (MS)"/>
                </a:rPr>
                <a:t>Integrate auxiliary tasks (object detection, scene classification) to further improve caption quality and reduce the gap between automatic metrics and human evaluation.</a:t>
              </a:r>
            </a:p>
          </p:txBody>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718823" y="316487"/>
            <a:ext cx="2951483" cy="574043"/>
            <a:chOff x="0" y="0"/>
            <a:chExt cx="3935311" cy="765391"/>
          </a:xfrm>
        </p:grpSpPr>
        <p:sp>
          <p:nvSpPr>
            <p:cNvPr name="Freeform 3" id="3"/>
            <p:cNvSpPr/>
            <p:nvPr/>
          </p:nvSpPr>
          <p:spPr>
            <a:xfrm flipH="false" flipV="false" rot="0">
              <a:off x="16891" y="16891"/>
              <a:ext cx="3901440" cy="731520"/>
            </a:xfrm>
            <a:custGeom>
              <a:avLst/>
              <a:gdLst/>
              <a:ahLst/>
              <a:cxnLst/>
              <a:rect r="r" b="b" t="t" l="l"/>
              <a:pathLst>
                <a:path h="731520" w="3901440">
                  <a:moveTo>
                    <a:pt x="0" y="0"/>
                  </a:moveTo>
                  <a:lnTo>
                    <a:pt x="3901440" y="0"/>
                  </a:lnTo>
                  <a:lnTo>
                    <a:pt x="3901440" y="731520"/>
                  </a:lnTo>
                  <a:lnTo>
                    <a:pt x="0" y="731520"/>
                  </a:lnTo>
                  <a:close/>
                </a:path>
              </a:pathLst>
            </a:custGeom>
            <a:solidFill>
              <a:srgbClr val="94A3B8"/>
            </a:solidFill>
          </p:spPr>
        </p:sp>
        <p:sp>
          <p:nvSpPr>
            <p:cNvPr name="Freeform 4" id="4"/>
            <p:cNvSpPr/>
            <p:nvPr/>
          </p:nvSpPr>
          <p:spPr>
            <a:xfrm flipH="false" flipV="false" rot="0">
              <a:off x="0" y="0"/>
              <a:ext cx="3935222" cy="765304"/>
            </a:xfrm>
            <a:custGeom>
              <a:avLst/>
              <a:gdLst/>
              <a:ahLst/>
              <a:cxnLst/>
              <a:rect r="r" b="b" t="t" l="l"/>
              <a:pathLst>
                <a:path h="765304" w="3935222">
                  <a:moveTo>
                    <a:pt x="16891" y="0"/>
                  </a:moveTo>
                  <a:lnTo>
                    <a:pt x="3918331" y="0"/>
                  </a:lnTo>
                  <a:cubicBezTo>
                    <a:pt x="3927729" y="0"/>
                    <a:pt x="3935222" y="7620"/>
                    <a:pt x="3935222" y="16891"/>
                  </a:cubicBezTo>
                  <a:lnTo>
                    <a:pt x="3935222" y="748411"/>
                  </a:lnTo>
                  <a:cubicBezTo>
                    <a:pt x="3935222" y="757809"/>
                    <a:pt x="3927602" y="765302"/>
                    <a:pt x="3918331" y="765302"/>
                  </a:cubicBezTo>
                  <a:lnTo>
                    <a:pt x="16891" y="765302"/>
                  </a:lnTo>
                  <a:cubicBezTo>
                    <a:pt x="7620" y="765429"/>
                    <a:pt x="0" y="757809"/>
                    <a:pt x="0" y="748411"/>
                  </a:cubicBezTo>
                  <a:lnTo>
                    <a:pt x="0" y="16891"/>
                  </a:lnTo>
                  <a:cubicBezTo>
                    <a:pt x="0" y="7620"/>
                    <a:pt x="7620" y="0"/>
                    <a:pt x="16891" y="0"/>
                  </a:cubicBezTo>
                  <a:moveTo>
                    <a:pt x="16891" y="33909"/>
                  </a:moveTo>
                  <a:lnTo>
                    <a:pt x="16891" y="16891"/>
                  </a:lnTo>
                  <a:lnTo>
                    <a:pt x="33909" y="16891"/>
                  </a:lnTo>
                  <a:lnTo>
                    <a:pt x="33909" y="748411"/>
                  </a:lnTo>
                  <a:lnTo>
                    <a:pt x="16891" y="748411"/>
                  </a:lnTo>
                  <a:lnTo>
                    <a:pt x="16891" y="731520"/>
                  </a:lnTo>
                  <a:lnTo>
                    <a:pt x="3918331" y="731520"/>
                  </a:lnTo>
                  <a:lnTo>
                    <a:pt x="3918331" y="748411"/>
                  </a:lnTo>
                  <a:lnTo>
                    <a:pt x="3901440" y="748411"/>
                  </a:lnTo>
                  <a:lnTo>
                    <a:pt x="3901440" y="16891"/>
                  </a:lnTo>
                  <a:lnTo>
                    <a:pt x="3918331" y="16891"/>
                  </a:lnTo>
                  <a:lnTo>
                    <a:pt x="3918331" y="33909"/>
                  </a:lnTo>
                  <a:lnTo>
                    <a:pt x="16891" y="33909"/>
                  </a:lnTo>
                  <a:close/>
                </a:path>
              </a:pathLst>
            </a:custGeom>
            <a:solidFill>
              <a:srgbClr val="94A3B8"/>
            </a:solidFill>
          </p:spPr>
        </p:sp>
      </p:grpSp>
      <p:grpSp>
        <p:nvGrpSpPr>
          <p:cNvPr name="Group 5" id="5"/>
          <p:cNvGrpSpPr/>
          <p:nvPr/>
        </p:nvGrpSpPr>
        <p:grpSpPr>
          <a:xfrm rot="0">
            <a:off x="731520" y="329184"/>
            <a:ext cx="2926080" cy="548640"/>
            <a:chOff x="0" y="0"/>
            <a:chExt cx="3901440" cy="731520"/>
          </a:xfrm>
        </p:grpSpPr>
        <p:sp>
          <p:nvSpPr>
            <p:cNvPr name="Freeform 6" id="6"/>
            <p:cNvSpPr/>
            <p:nvPr/>
          </p:nvSpPr>
          <p:spPr>
            <a:xfrm flipH="false" flipV="false" rot="0">
              <a:off x="0" y="0"/>
              <a:ext cx="3901440" cy="731520"/>
            </a:xfrm>
            <a:custGeom>
              <a:avLst/>
              <a:gdLst/>
              <a:ahLst/>
              <a:cxnLst/>
              <a:rect r="r" b="b" t="t" l="l"/>
              <a:pathLst>
                <a:path h="731520" w="3901440">
                  <a:moveTo>
                    <a:pt x="0" y="0"/>
                  </a:moveTo>
                  <a:lnTo>
                    <a:pt x="3901440" y="0"/>
                  </a:lnTo>
                  <a:lnTo>
                    <a:pt x="3901440" y="731520"/>
                  </a:lnTo>
                  <a:lnTo>
                    <a:pt x="0" y="731520"/>
                  </a:lnTo>
                  <a:close/>
                </a:path>
              </a:pathLst>
            </a:custGeom>
            <a:blipFill>
              <a:blip r:embed="rId3">
                <a:alphaModFix amt="0"/>
              </a:blip>
              <a:stretch>
                <a:fillRect l="0" t="-53920" r="0" b="-53920"/>
              </a:stretch>
            </a:blipFill>
          </p:spPr>
        </p:sp>
        <p:sp>
          <p:nvSpPr>
            <p:cNvPr name="TextBox 7" id="7"/>
            <p:cNvSpPr txBox="true"/>
            <p:nvPr/>
          </p:nvSpPr>
          <p:spPr>
            <a:xfrm>
              <a:off x="0" y="-38100"/>
              <a:ext cx="3901440" cy="76962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REFERENCE</a:t>
              </a:r>
            </a:p>
          </p:txBody>
        </p:sp>
      </p:grpSp>
      <p:grpSp>
        <p:nvGrpSpPr>
          <p:cNvPr name="Group 8" id="8"/>
          <p:cNvGrpSpPr/>
          <p:nvPr/>
        </p:nvGrpSpPr>
        <p:grpSpPr>
          <a:xfrm rot="0">
            <a:off x="914400" y="1005840"/>
            <a:ext cx="16459200" cy="1188720"/>
            <a:chOff x="0" y="0"/>
            <a:chExt cx="21945600" cy="1584960"/>
          </a:xfrm>
        </p:grpSpPr>
        <p:sp>
          <p:nvSpPr>
            <p:cNvPr name="Freeform 9" id="9"/>
            <p:cNvSpPr/>
            <p:nvPr/>
          </p:nvSpPr>
          <p:spPr>
            <a:xfrm flipH="false" flipV="false" rot="0">
              <a:off x="0" y="0"/>
              <a:ext cx="21945600" cy="1584960"/>
            </a:xfrm>
            <a:custGeom>
              <a:avLst/>
              <a:gdLst/>
              <a:ahLst/>
              <a:cxnLst/>
              <a:rect r="r" b="b" t="t" l="l"/>
              <a:pathLst>
                <a:path h="1584960" w="21945600">
                  <a:moveTo>
                    <a:pt x="0" y="0"/>
                  </a:moveTo>
                  <a:lnTo>
                    <a:pt x="21945600" y="0"/>
                  </a:lnTo>
                  <a:lnTo>
                    <a:pt x="21945600" y="1584960"/>
                  </a:lnTo>
                  <a:lnTo>
                    <a:pt x="0" y="1584960"/>
                  </a:lnTo>
                  <a:close/>
                </a:path>
              </a:pathLst>
            </a:custGeom>
            <a:blipFill>
              <a:blip r:embed="rId3">
                <a:alphaModFix amt="0"/>
              </a:blip>
              <a:stretch>
                <a:fillRect l="0" t="-219792" r="0" b="-219792"/>
              </a:stretch>
            </a:blipFill>
          </p:spPr>
        </p:sp>
        <p:sp>
          <p:nvSpPr>
            <p:cNvPr name="TextBox 10" id="10"/>
            <p:cNvSpPr txBox="true"/>
            <p:nvPr/>
          </p:nvSpPr>
          <p:spPr>
            <a:xfrm>
              <a:off x="0" y="-104775"/>
              <a:ext cx="21945600" cy="1689735"/>
            </a:xfrm>
            <a:prstGeom prst="rect">
              <a:avLst/>
            </a:prstGeom>
          </p:spPr>
          <p:txBody>
            <a:bodyPr anchor="ctr" rtlCol="false" tIns="0" lIns="0" bIns="0" rIns="0"/>
            <a:lstStyle/>
            <a:p>
              <a:pPr algn="l">
                <a:lnSpc>
                  <a:spcPts val="6240"/>
                </a:lnSpc>
              </a:pPr>
              <a:r>
                <a:rPr lang="en-US" sz="5200" b="true">
                  <a:solidFill>
                    <a:srgbClr val="1E293B"/>
                  </a:solidFill>
                  <a:latin typeface="Calibri (MS) Bold"/>
                  <a:ea typeface="Calibri (MS) Bold"/>
                  <a:cs typeface="Calibri (MS) Bold"/>
                  <a:sym typeface="Calibri (MS) Bold"/>
                </a:rPr>
                <a:t>Complete Abbreviation Glossary</a:t>
              </a:r>
            </a:p>
          </p:txBody>
        </p:sp>
      </p:grpSp>
      <p:grpSp>
        <p:nvGrpSpPr>
          <p:cNvPr name="Group 11" id="11"/>
          <p:cNvGrpSpPr/>
          <p:nvPr/>
        </p:nvGrpSpPr>
        <p:grpSpPr>
          <a:xfrm rot="0">
            <a:off x="725167" y="2279647"/>
            <a:ext cx="16837657" cy="12697"/>
            <a:chOff x="0" y="0"/>
            <a:chExt cx="22450209" cy="16929"/>
          </a:xfrm>
        </p:grpSpPr>
        <p:sp>
          <p:nvSpPr>
            <p:cNvPr name="Freeform 12" id="12"/>
            <p:cNvSpPr/>
            <p:nvPr/>
          </p:nvSpPr>
          <p:spPr>
            <a:xfrm flipH="false" flipV="false" rot="0">
              <a:off x="8509" y="0"/>
              <a:ext cx="22433281" cy="16891"/>
            </a:xfrm>
            <a:custGeom>
              <a:avLst/>
              <a:gdLst/>
              <a:ahLst/>
              <a:cxnLst/>
              <a:rect r="r" b="b" t="t" l="l"/>
              <a:pathLst>
                <a:path h="16891" w="22433281">
                  <a:moveTo>
                    <a:pt x="0" y="0"/>
                  </a:moveTo>
                  <a:lnTo>
                    <a:pt x="22433281" y="0"/>
                  </a:lnTo>
                  <a:lnTo>
                    <a:pt x="22433281" y="16891"/>
                  </a:lnTo>
                  <a:lnTo>
                    <a:pt x="0" y="16891"/>
                  </a:lnTo>
                  <a:close/>
                </a:path>
              </a:pathLst>
            </a:custGeom>
            <a:solidFill>
              <a:srgbClr val="E2E8F0"/>
            </a:solidFill>
          </p:spPr>
        </p:sp>
      </p:grpSp>
      <p:grpSp>
        <p:nvGrpSpPr>
          <p:cNvPr name="Group 13" id="13"/>
          <p:cNvGrpSpPr/>
          <p:nvPr/>
        </p:nvGrpSpPr>
        <p:grpSpPr>
          <a:xfrm rot="0">
            <a:off x="731520" y="2596896"/>
            <a:ext cx="2468880" cy="420624"/>
            <a:chOff x="0" y="0"/>
            <a:chExt cx="3291840" cy="560832"/>
          </a:xfrm>
        </p:grpSpPr>
        <p:sp>
          <p:nvSpPr>
            <p:cNvPr name="Freeform 14" id="14"/>
            <p:cNvSpPr/>
            <p:nvPr/>
          </p:nvSpPr>
          <p:spPr>
            <a:xfrm flipH="false" flipV="false" rot="0">
              <a:off x="0" y="0"/>
              <a:ext cx="3291840" cy="560832"/>
            </a:xfrm>
            <a:custGeom>
              <a:avLst/>
              <a:gdLst/>
              <a:ahLst/>
              <a:cxnLst/>
              <a:rect r="r" b="b" t="t" l="l"/>
              <a:pathLst>
                <a:path h="560832" w="3291840">
                  <a:moveTo>
                    <a:pt x="0" y="0"/>
                  </a:moveTo>
                  <a:lnTo>
                    <a:pt x="3291840" y="0"/>
                  </a:lnTo>
                  <a:lnTo>
                    <a:pt x="3291840" y="560832"/>
                  </a:lnTo>
                  <a:lnTo>
                    <a:pt x="0" y="560832"/>
                  </a:lnTo>
                  <a:close/>
                </a:path>
              </a:pathLst>
            </a:custGeom>
            <a:blipFill>
              <a:blip r:embed="rId3">
                <a:alphaModFix amt="0"/>
              </a:blip>
              <a:stretch>
                <a:fillRect l="0" t="-64368" r="0" b="-64368"/>
              </a:stretch>
            </a:blipFill>
          </p:spPr>
        </p:sp>
        <p:sp>
          <p:nvSpPr>
            <p:cNvPr name="TextBox 15" id="15"/>
            <p:cNvSpPr txBox="true"/>
            <p:nvPr/>
          </p:nvSpPr>
          <p:spPr>
            <a:xfrm>
              <a:off x="0" y="-38100"/>
              <a:ext cx="3291840" cy="598932"/>
            </a:xfrm>
            <a:prstGeom prst="rect">
              <a:avLst/>
            </a:prstGeom>
          </p:spPr>
          <p:txBody>
            <a:bodyPr anchor="ctr" rtlCol="false" tIns="0" lIns="0" bIns="0" rIns="0"/>
            <a:lstStyle/>
            <a:p>
              <a:pPr algn="l">
                <a:lnSpc>
                  <a:spcPts val="2280"/>
                </a:lnSpc>
              </a:pPr>
              <a:r>
                <a:rPr lang="en-US" sz="1900" b="true">
                  <a:solidFill>
                    <a:srgbClr val="0D1B3E"/>
                  </a:solidFill>
                  <a:latin typeface="Calibri (MS) Bold"/>
                  <a:ea typeface="Calibri (MS) Bold"/>
                  <a:cs typeface="Calibri (MS) Bold"/>
                  <a:sym typeface="Calibri (MS) Bold"/>
                </a:rPr>
                <a:t>RSIC</a:t>
              </a:r>
            </a:p>
          </p:txBody>
        </p:sp>
      </p:grpSp>
      <p:grpSp>
        <p:nvGrpSpPr>
          <p:cNvPr name="Group 16" id="16"/>
          <p:cNvGrpSpPr/>
          <p:nvPr/>
        </p:nvGrpSpPr>
        <p:grpSpPr>
          <a:xfrm rot="0">
            <a:off x="3328416" y="2596896"/>
            <a:ext cx="6400800" cy="420624"/>
            <a:chOff x="0" y="0"/>
            <a:chExt cx="8534400" cy="560832"/>
          </a:xfrm>
        </p:grpSpPr>
        <p:sp>
          <p:nvSpPr>
            <p:cNvPr name="Freeform 17" id="17"/>
            <p:cNvSpPr/>
            <p:nvPr/>
          </p:nvSpPr>
          <p:spPr>
            <a:xfrm flipH="false" flipV="false" rot="0">
              <a:off x="0" y="0"/>
              <a:ext cx="8534400" cy="560832"/>
            </a:xfrm>
            <a:custGeom>
              <a:avLst/>
              <a:gdLst/>
              <a:ahLst/>
              <a:cxnLst/>
              <a:rect r="r" b="b" t="t" l="l"/>
              <a:pathLst>
                <a:path h="560832" w="8534400">
                  <a:moveTo>
                    <a:pt x="0" y="0"/>
                  </a:moveTo>
                  <a:lnTo>
                    <a:pt x="8534400" y="0"/>
                  </a:lnTo>
                  <a:lnTo>
                    <a:pt x="8534400" y="560832"/>
                  </a:lnTo>
                  <a:lnTo>
                    <a:pt x="0" y="560832"/>
                  </a:lnTo>
                  <a:close/>
                </a:path>
              </a:pathLst>
            </a:custGeom>
            <a:blipFill>
              <a:blip r:embed="rId3">
                <a:alphaModFix amt="0"/>
              </a:blip>
              <a:stretch>
                <a:fillRect l="0" t="-246511" r="0" b="-246511"/>
              </a:stretch>
            </a:blipFill>
          </p:spPr>
        </p:sp>
        <p:sp>
          <p:nvSpPr>
            <p:cNvPr name="TextBox 18" id="18"/>
            <p:cNvSpPr txBox="true"/>
            <p:nvPr/>
          </p:nvSpPr>
          <p:spPr>
            <a:xfrm>
              <a:off x="0" y="-38100"/>
              <a:ext cx="8534400" cy="598932"/>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Remote Sensing Image Captioning</a:t>
              </a:r>
            </a:p>
          </p:txBody>
        </p:sp>
      </p:grpSp>
      <p:grpSp>
        <p:nvGrpSpPr>
          <p:cNvPr name="Group 19" id="19"/>
          <p:cNvGrpSpPr/>
          <p:nvPr/>
        </p:nvGrpSpPr>
        <p:grpSpPr>
          <a:xfrm rot="0">
            <a:off x="727710" y="3013710"/>
            <a:ext cx="8328660" cy="7620"/>
            <a:chOff x="0" y="0"/>
            <a:chExt cx="11104880" cy="10160"/>
          </a:xfrm>
        </p:grpSpPr>
        <p:sp>
          <p:nvSpPr>
            <p:cNvPr name="Freeform 20" id="20"/>
            <p:cNvSpPr/>
            <p:nvPr/>
          </p:nvSpPr>
          <p:spPr>
            <a:xfrm flipH="false" flipV="false" rot="0">
              <a:off x="5080" y="0"/>
              <a:ext cx="11094720" cy="10160"/>
            </a:xfrm>
            <a:custGeom>
              <a:avLst/>
              <a:gdLst/>
              <a:ahLst/>
              <a:cxnLst/>
              <a:rect r="r" b="b" t="t" l="l"/>
              <a:pathLst>
                <a:path h="10160" w="11094720">
                  <a:moveTo>
                    <a:pt x="0" y="0"/>
                  </a:moveTo>
                  <a:lnTo>
                    <a:pt x="11094720" y="0"/>
                  </a:lnTo>
                  <a:lnTo>
                    <a:pt x="11094720" y="10160"/>
                  </a:lnTo>
                  <a:lnTo>
                    <a:pt x="0" y="10160"/>
                  </a:lnTo>
                  <a:close/>
                </a:path>
              </a:pathLst>
            </a:custGeom>
            <a:solidFill>
              <a:srgbClr val="E2E8F0"/>
            </a:solidFill>
          </p:spPr>
        </p:sp>
      </p:grpSp>
      <p:grpSp>
        <p:nvGrpSpPr>
          <p:cNvPr name="Group 21" id="21"/>
          <p:cNvGrpSpPr/>
          <p:nvPr/>
        </p:nvGrpSpPr>
        <p:grpSpPr>
          <a:xfrm rot="0">
            <a:off x="731520" y="3054096"/>
            <a:ext cx="2468880" cy="420624"/>
            <a:chOff x="0" y="0"/>
            <a:chExt cx="3291840" cy="560832"/>
          </a:xfrm>
        </p:grpSpPr>
        <p:sp>
          <p:nvSpPr>
            <p:cNvPr name="Freeform 22" id="22"/>
            <p:cNvSpPr/>
            <p:nvPr/>
          </p:nvSpPr>
          <p:spPr>
            <a:xfrm flipH="false" flipV="false" rot="0">
              <a:off x="0" y="0"/>
              <a:ext cx="3291840" cy="560832"/>
            </a:xfrm>
            <a:custGeom>
              <a:avLst/>
              <a:gdLst/>
              <a:ahLst/>
              <a:cxnLst/>
              <a:rect r="r" b="b" t="t" l="l"/>
              <a:pathLst>
                <a:path h="560832" w="3291840">
                  <a:moveTo>
                    <a:pt x="0" y="0"/>
                  </a:moveTo>
                  <a:lnTo>
                    <a:pt x="3291840" y="0"/>
                  </a:lnTo>
                  <a:lnTo>
                    <a:pt x="3291840" y="560832"/>
                  </a:lnTo>
                  <a:lnTo>
                    <a:pt x="0" y="560832"/>
                  </a:lnTo>
                  <a:close/>
                </a:path>
              </a:pathLst>
            </a:custGeom>
            <a:blipFill>
              <a:blip r:embed="rId3">
                <a:alphaModFix amt="0"/>
              </a:blip>
              <a:stretch>
                <a:fillRect l="0" t="-64368" r="0" b="-64368"/>
              </a:stretch>
            </a:blipFill>
          </p:spPr>
        </p:sp>
        <p:sp>
          <p:nvSpPr>
            <p:cNvPr name="TextBox 23" id="23"/>
            <p:cNvSpPr txBox="true"/>
            <p:nvPr/>
          </p:nvSpPr>
          <p:spPr>
            <a:xfrm>
              <a:off x="0" y="-38100"/>
              <a:ext cx="3291840" cy="598932"/>
            </a:xfrm>
            <a:prstGeom prst="rect">
              <a:avLst/>
            </a:prstGeom>
          </p:spPr>
          <p:txBody>
            <a:bodyPr anchor="ctr" rtlCol="false" tIns="0" lIns="0" bIns="0" rIns="0"/>
            <a:lstStyle/>
            <a:p>
              <a:pPr algn="l">
                <a:lnSpc>
                  <a:spcPts val="2280"/>
                </a:lnSpc>
              </a:pPr>
              <a:r>
                <a:rPr lang="en-US" sz="1900" b="true">
                  <a:solidFill>
                    <a:srgbClr val="0D1B3E"/>
                  </a:solidFill>
                  <a:latin typeface="Calibri (MS) Bold"/>
                  <a:ea typeface="Calibri (MS) Bold"/>
                  <a:cs typeface="Calibri (MS) Bold"/>
                  <a:sym typeface="Calibri (MS) Bold"/>
                </a:rPr>
                <a:t>TSFE</a:t>
              </a:r>
            </a:p>
          </p:txBody>
        </p:sp>
      </p:grpSp>
      <p:grpSp>
        <p:nvGrpSpPr>
          <p:cNvPr name="Group 24" id="24"/>
          <p:cNvGrpSpPr/>
          <p:nvPr/>
        </p:nvGrpSpPr>
        <p:grpSpPr>
          <a:xfrm rot="0">
            <a:off x="3328416" y="3054096"/>
            <a:ext cx="6400800" cy="420624"/>
            <a:chOff x="0" y="0"/>
            <a:chExt cx="8534400" cy="560832"/>
          </a:xfrm>
        </p:grpSpPr>
        <p:sp>
          <p:nvSpPr>
            <p:cNvPr name="Freeform 25" id="25"/>
            <p:cNvSpPr/>
            <p:nvPr/>
          </p:nvSpPr>
          <p:spPr>
            <a:xfrm flipH="false" flipV="false" rot="0">
              <a:off x="0" y="0"/>
              <a:ext cx="8534400" cy="560832"/>
            </a:xfrm>
            <a:custGeom>
              <a:avLst/>
              <a:gdLst/>
              <a:ahLst/>
              <a:cxnLst/>
              <a:rect r="r" b="b" t="t" l="l"/>
              <a:pathLst>
                <a:path h="560832" w="8534400">
                  <a:moveTo>
                    <a:pt x="0" y="0"/>
                  </a:moveTo>
                  <a:lnTo>
                    <a:pt x="8534400" y="0"/>
                  </a:lnTo>
                  <a:lnTo>
                    <a:pt x="8534400" y="560832"/>
                  </a:lnTo>
                  <a:lnTo>
                    <a:pt x="0" y="560832"/>
                  </a:lnTo>
                  <a:close/>
                </a:path>
              </a:pathLst>
            </a:custGeom>
            <a:blipFill>
              <a:blip r:embed="rId3">
                <a:alphaModFix amt="0"/>
              </a:blip>
              <a:stretch>
                <a:fillRect l="0" t="-246511" r="0" b="-246511"/>
              </a:stretch>
            </a:blipFill>
          </p:spPr>
        </p:sp>
        <p:sp>
          <p:nvSpPr>
            <p:cNvPr name="TextBox 26" id="26"/>
            <p:cNvSpPr txBox="true"/>
            <p:nvPr/>
          </p:nvSpPr>
          <p:spPr>
            <a:xfrm>
              <a:off x="0" y="-38100"/>
              <a:ext cx="8534400" cy="598932"/>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Two-Stage Feature Enhancement</a:t>
              </a:r>
            </a:p>
          </p:txBody>
        </p:sp>
      </p:grpSp>
      <p:grpSp>
        <p:nvGrpSpPr>
          <p:cNvPr name="Group 27" id="27"/>
          <p:cNvGrpSpPr/>
          <p:nvPr/>
        </p:nvGrpSpPr>
        <p:grpSpPr>
          <a:xfrm rot="0">
            <a:off x="727710" y="3470910"/>
            <a:ext cx="8328660" cy="7620"/>
            <a:chOff x="0" y="0"/>
            <a:chExt cx="11104880" cy="10160"/>
          </a:xfrm>
        </p:grpSpPr>
        <p:sp>
          <p:nvSpPr>
            <p:cNvPr name="Freeform 28" id="28"/>
            <p:cNvSpPr/>
            <p:nvPr/>
          </p:nvSpPr>
          <p:spPr>
            <a:xfrm flipH="false" flipV="false" rot="0">
              <a:off x="5080" y="0"/>
              <a:ext cx="11094720" cy="10160"/>
            </a:xfrm>
            <a:custGeom>
              <a:avLst/>
              <a:gdLst/>
              <a:ahLst/>
              <a:cxnLst/>
              <a:rect r="r" b="b" t="t" l="l"/>
              <a:pathLst>
                <a:path h="10160" w="11094720">
                  <a:moveTo>
                    <a:pt x="0" y="0"/>
                  </a:moveTo>
                  <a:lnTo>
                    <a:pt x="11094720" y="0"/>
                  </a:lnTo>
                  <a:lnTo>
                    <a:pt x="11094720" y="10160"/>
                  </a:lnTo>
                  <a:lnTo>
                    <a:pt x="0" y="10160"/>
                  </a:lnTo>
                  <a:close/>
                </a:path>
              </a:pathLst>
            </a:custGeom>
            <a:solidFill>
              <a:srgbClr val="E2E8F0"/>
            </a:solidFill>
          </p:spPr>
        </p:sp>
      </p:grpSp>
      <p:grpSp>
        <p:nvGrpSpPr>
          <p:cNvPr name="Group 29" id="29"/>
          <p:cNvGrpSpPr/>
          <p:nvPr/>
        </p:nvGrpSpPr>
        <p:grpSpPr>
          <a:xfrm rot="0">
            <a:off x="731520" y="3511296"/>
            <a:ext cx="2468880" cy="420624"/>
            <a:chOff x="0" y="0"/>
            <a:chExt cx="3291840" cy="560832"/>
          </a:xfrm>
        </p:grpSpPr>
        <p:sp>
          <p:nvSpPr>
            <p:cNvPr name="Freeform 30" id="30"/>
            <p:cNvSpPr/>
            <p:nvPr/>
          </p:nvSpPr>
          <p:spPr>
            <a:xfrm flipH="false" flipV="false" rot="0">
              <a:off x="0" y="0"/>
              <a:ext cx="3291840" cy="560832"/>
            </a:xfrm>
            <a:custGeom>
              <a:avLst/>
              <a:gdLst/>
              <a:ahLst/>
              <a:cxnLst/>
              <a:rect r="r" b="b" t="t" l="l"/>
              <a:pathLst>
                <a:path h="560832" w="3291840">
                  <a:moveTo>
                    <a:pt x="0" y="0"/>
                  </a:moveTo>
                  <a:lnTo>
                    <a:pt x="3291840" y="0"/>
                  </a:lnTo>
                  <a:lnTo>
                    <a:pt x="3291840" y="560832"/>
                  </a:lnTo>
                  <a:lnTo>
                    <a:pt x="0" y="560832"/>
                  </a:lnTo>
                  <a:close/>
                </a:path>
              </a:pathLst>
            </a:custGeom>
            <a:blipFill>
              <a:blip r:embed="rId3">
                <a:alphaModFix amt="0"/>
              </a:blip>
              <a:stretch>
                <a:fillRect l="0" t="-64368" r="0" b="-64368"/>
              </a:stretch>
            </a:blipFill>
          </p:spPr>
        </p:sp>
        <p:sp>
          <p:nvSpPr>
            <p:cNvPr name="TextBox 31" id="31"/>
            <p:cNvSpPr txBox="true"/>
            <p:nvPr/>
          </p:nvSpPr>
          <p:spPr>
            <a:xfrm>
              <a:off x="0" y="-38100"/>
              <a:ext cx="3291840" cy="598932"/>
            </a:xfrm>
            <a:prstGeom prst="rect">
              <a:avLst/>
            </a:prstGeom>
          </p:spPr>
          <p:txBody>
            <a:bodyPr anchor="ctr" rtlCol="false" tIns="0" lIns="0" bIns="0" rIns="0"/>
            <a:lstStyle/>
            <a:p>
              <a:pPr algn="l">
                <a:lnSpc>
                  <a:spcPts val="2280"/>
                </a:lnSpc>
              </a:pPr>
              <a:r>
                <a:rPr lang="en-US" sz="1900" b="true">
                  <a:solidFill>
                    <a:srgbClr val="0D1B3E"/>
                  </a:solidFill>
                  <a:latin typeface="Calibri (MS) Bold"/>
                  <a:ea typeface="Calibri (MS) Bold"/>
                  <a:cs typeface="Calibri (MS) Bold"/>
                  <a:sym typeface="Calibri (MS) Bold"/>
                </a:rPr>
                <a:t>AMFF</a:t>
              </a:r>
            </a:p>
          </p:txBody>
        </p:sp>
      </p:grpSp>
      <p:grpSp>
        <p:nvGrpSpPr>
          <p:cNvPr name="Group 32" id="32"/>
          <p:cNvGrpSpPr/>
          <p:nvPr/>
        </p:nvGrpSpPr>
        <p:grpSpPr>
          <a:xfrm rot="0">
            <a:off x="3328416" y="3511296"/>
            <a:ext cx="6400800" cy="420624"/>
            <a:chOff x="0" y="0"/>
            <a:chExt cx="8534400" cy="560832"/>
          </a:xfrm>
        </p:grpSpPr>
        <p:sp>
          <p:nvSpPr>
            <p:cNvPr name="Freeform 33" id="33"/>
            <p:cNvSpPr/>
            <p:nvPr/>
          </p:nvSpPr>
          <p:spPr>
            <a:xfrm flipH="false" flipV="false" rot="0">
              <a:off x="0" y="0"/>
              <a:ext cx="8534400" cy="560832"/>
            </a:xfrm>
            <a:custGeom>
              <a:avLst/>
              <a:gdLst/>
              <a:ahLst/>
              <a:cxnLst/>
              <a:rect r="r" b="b" t="t" l="l"/>
              <a:pathLst>
                <a:path h="560832" w="8534400">
                  <a:moveTo>
                    <a:pt x="0" y="0"/>
                  </a:moveTo>
                  <a:lnTo>
                    <a:pt x="8534400" y="0"/>
                  </a:lnTo>
                  <a:lnTo>
                    <a:pt x="8534400" y="560832"/>
                  </a:lnTo>
                  <a:lnTo>
                    <a:pt x="0" y="560832"/>
                  </a:lnTo>
                  <a:close/>
                </a:path>
              </a:pathLst>
            </a:custGeom>
            <a:blipFill>
              <a:blip r:embed="rId3">
                <a:alphaModFix amt="0"/>
              </a:blip>
              <a:stretch>
                <a:fillRect l="0" t="-246511" r="0" b="-246511"/>
              </a:stretch>
            </a:blipFill>
          </p:spPr>
        </p:sp>
        <p:sp>
          <p:nvSpPr>
            <p:cNvPr name="TextBox 34" id="34"/>
            <p:cNvSpPr txBox="true"/>
            <p:nvPr/>
          </p:nvSpPr>
          <p:spPr>
            <a:xfrm>
              <a:off x="0" y="-38100"/>
              <a:ext cx="8534400" cy="598932"/>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Adaptive Multi-Scale Feature Fusion</a:t>
              </a:r>
            </a:p>
          </p:txBody>
        </p:sp>
      </p:grpSp>
      <p:grpSp>
        <p:nvGrpSpPr>
          <p:cNvPr name="Group 35" id="35"/>
          <p:cNvGrpSpPr/>
          <p:nvPr/>
        </p:nvGrpSpPr>
        <p:grpSpPr>
          <a:xfrm rot="0">
            <a:off x="727710" y="3928110"/>
            <a:ext cx="8328660" cy="7620"/>
            <a:chOff x="0" y="0"/>
            <a:chExt cx="11104880" cy="10160"/>
          </a:xfrm>
        </p:grpSpPr>
        <p:sp>
          <p:nvSpPr>
            <p:cNvPr name="Freeform 36" id="36"/>
            <p:cNvSpPr/>
            <p:nvPr/>
          </p:nvSpPr>
          <p:spPr>
            <a:xfrm flipH="false" flipV="false" rot="0">
              <a:off x="5080" y="0"/>
              <a:ext cx="11094720" cy="10160"/>
            </a:xfrm>
            <a:custGeom>
              <a:avLst/>
              <a:gdLst/>
              <a:ahLst/>
              <a:cxnLst/>
              <a:rect r="r" b="b" t="t" l="l"/>
              <a:pathLst>
                <a:path h="10160" w="11094720">
                  <a:moveTo>
                    <a:pt x="0" y="0"/>
                  </a:moveTo>
                  <a:lnTo>
                    <a:pt x="11094720" y="0"/>
                  </a:lnTo>
                  <a:lnTo>
                    <a:pt x="11094720" y="10160"/>
                  </a:lnTo>
                  <a:lnTo>
                    <a:pt x="0" y="10160"/>
                  </a:lnTo>
                  <a:close/>
                </a:path>
              </a:pathLst>
            </a:custGeom>
            <a:solidFill>
              <a:srgbClr val="E2E8F0"/>
            </a:solidFill>
          </p:spPr>
        </p:sp>
      </p:grpSp>
      <p:grpSp>
        <p:nvGrpSpPr>
          <p:cNvPr name="Group 37" id="37"/>
          <p:cNvGrpSpPr/>
          <p:nvPr/>
        </p:nvGrpSpPr>
        <p:grpSpPr>
          <a:xfrm rot="0">
            <a:off x="731520" y="3968496"/>
            <a:ext cx="2468880" cy="420624"/>
            <a:chOff x="0" y="0"/>
            <a:chExt cx="3291840" cy="560832"/>
          </a:xfrm>
        </p:grpSpPr>
        <p:sp>
          <p:nvSpPr>
            <p:cNvPr name="Freeform 38" id="38"/>
            <p:cNvSpPr/>
            <p:nvPr/>
          </p:nvSpPr>
          <p:spPr>
            <a:xfrm flipH="false" flipV="false" rot="0">
              <a:off x="0" y="0"/>
              <a:ext cx="3291840" cy="560832"/>
            </a:xfrm>
            <a:custGeom>
              <a:avLst/>
              <a:gdLst/>
              <a:ahLst/>
              <a:cxnLst/>
              <a:rect r="r" b="b" t="t" l="l"/>
              <a:pathLst>
                <a:path h="560832" w="3291840">
                  <a:moveTo>
                    <a:pt x="0" y="0"/>
                  </a:moveTo>
                  <a:lnTo>
                    <a:pt x="3291840" y="0"/>
                  </a:lnTo>
                  <a:lnTo>
                    <a:pt x="3291840" y="560832"/>
                  </a:lnTo>
                  <a:lnTo>
                    <a:pt x="0" y="560832"/>
                  </a:lnTo>
                  <a:close/>
                </a:path>
              </a:pathLst>
            </a:custGeom>
            <a:blipFill>
              <a:blip r:embed="rId3">
                <a:alphaModFix amt="0"/>
              </a:blip>
              <a:stretch>
                <a:fillRect l="0" t="-64368" r="0" b="-64368"/>
              </a:stretch>
            </a:blipFill>
          </p:spPr>
        </p:sp>
        <p:sp>
          <p:nvSpPr>
            <p:cNvPr name="TextBox 39" id="39"/>
            <p:cNvSpPr txBox="true"/>
            <p:nvPr/>
          </p:nvSpPr>
          <p:spPr>
            <a:xfrm>
              <a:off x="0" y="-38100"/>
              <a:ext cx="3291840" cy="598932"/>
            </a:xfrm>
            <a:prstGeom prst="rect">
              <a:avLst/>
            </a:prstGeom>
          </p:spPr>
          <p:txBody>
            <a:bodyPr anchor="ctr" rtlCol="false" tIns="0" lIns="0" bIns="0" rIns="0"/>
            <a:lstStyle/>
            <a:p>
              <a:pPr algn="l">
                <a:lnSpc>
                  <a:spcPts val="2280"/>
                </a:lnSpc>
              </a:pPr>
              <a:r>
                <a:rPr lang="en-US" sz="1900" b="true">
                  <a:solidFill>
                    <a:srgbClr val="0D1B3E"/>
                  </a:solidFill>
                  <a:latin typeface="Calibri (MS) Bold"/>
                  <a:ea typeface="Calibri (MS) Bold"/>
                  <a:cs typeface="Calibri (MS) Bold"/>
                  <a:sym typeface="Calibri (MS) Bold"/>
                </a:rPr>
                <a:t>LFSE</a:t>
              </a:r>
            </a:p>
          </p:txBody>
        </p:sp>
      </p:grpSp>
      <p:grpSp>
        <p:nvGrpSpPr>
          <p:cNvPr name="Group 40" id="40"/>
          <p:cNvGrpSpPr/>
          <p:nvPr/>
        </p:nvGrpSpPr>
        <p:grpSpPr>
          <a:xfrm rot="0">
            <a:off x="3328416" y="3968496"/>
            <a:ext cx="6400800" cy="420624"/>
            <a:chOff x="0" y="0"/>
            <a:chExt cx="8534400" cy="560832"/>
          </a:xfrm>
        </p:grpSpPr>
        <p:sp>
          <p:nvSpPr>
            <p:cNvPr name="Freeform 41" id="41"/>
            <p:cNvSpPr/>
            <p:nvPr/>
          </p:nvSpPr>
          <p:spPr>
            <a:xfrm flipH="false" flipV="false" rot="0">
              <a:off x="0" y="0"/>
              <a:ext cx="8534400" cy="560832"/>
            </a:xfrm>
            <a:custGeom>
              <a:avLst/>
              <a:gdLst/>
              <a:ahLst/>
              <a:cxnLst/>
              <a:rect r="r" b="b" t="t" l="l"/>
              <a:pathLst>
                <a:path h="560832" w="8534400">
                  <a:moveTo>
                    <a:pt x="0" y="0"/>
                  </a:moveTo>
                  <a:lnTo>
                    <a:pt x="8534400" y="0"/>
                  </a:lnTo>
                  <a:lnTo>
                    <a:pt x="8534400" y="560832"/>
                  </a:lnTo>
                  <a:lnTo>
                    <a:pt x="0" y="560832"/>
                  </a:lnTo>
                  <a:close/>
                </a:path>
              </a:pathLst>
            </a:custGeom>
            <a:blipFill>
              <a:blip r:embed="rId3">
                <a:alphaModFix amt="0"/>
              </a:blip>
              <a:stretch>
                <a:fillRect l="0" t="-246511" r="0" b="-246511"/>
              </a:stretch>
            </a:blipFill>
          </p:spPr>
        </p:sp>
        <p:sp>
          <p:nvSpPr>
            <p:cNvPr name="TextBox 42" id="42"/>
            <p:cNvSpPr txBox="true"/>
            <p:nvPr/>
          </p:nvSpPr>
          <p:spPr>
            <a:xfrm>
              <a:off x="0" y="-38100"/>
              <a:ext cx="8534400" cy="598932"/>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Local Feature Squeeze and Enhancement</a:t>
              </a:r>
            </a:p>
          </p:txBody>
        </p:sp>
      </p:grpSp>
      <p:grpSp>
        <p:nvGrpSpPr>
          <p:cNvPr name="Group 43" id="43"/>
          <p:cNvGrpSpPr/>
          <p:nvPr/>
        </p:nvGrpSpPr>
        <p:grpSpPr>
          <a:xfrm rot="0">
            <a:off x="727710" y="4385310"/>
            <a:ext cx="8328660" cy="7620"/>
            <a:chOff x="0" y="0"/>
            <a:chExt cx="11104880" cy="10160"/>
          </a:xfrm>
        </p:grpSpPr>
        <p:sp>
          <p:nvSpPr>
            <p:cNvPr name="Freeform 44" id="44"/>
            <p:cNvSpPr/>
            <p:nvPr/>
          </p:nvSpPr>
          <p:spPr>
            <a:xfrm flipH="false" flipV="false" rot="0">
              <a:off x="5080" y="0"/>
              <a:ext cx="11094720" cy="10160"/>
            </a:xfrm>
            <a:custGeom>
              <a:avLst/>
              <a:gdLst/>
              <a:ahLst/>
              <a:cxnLst/>
              <a:rect r="r" b="b" t="t" l="l"/>
              <a:pathLst>
                <a:path h="10160" w="11094720">
                  <a:moveTo>
                    <a:pt x="0" y="0"/>
                  </a:moveTo>
                  <a:lnTo>
                    <a:pt x="11094720" y="0"/>
                  </a:lnTo>
                  <a:lnTo>
                    <a:pt x="11094720" y="10160"/>
                  </a:lnTo>
                  <a:lnTo>
                    <a:pt x="0" y="10160"/>
                  </a:lnTo>
                  <a:close/>
                </a:path>
              </a:pathLst>
            </a:custGeom>
            <a:solidFill>
              <a:srgbClr val="E2E8F0"/>
            </a:solidFill>
          </p:spPr>
        </p:sp>
      </p:grpSp>
      <p:grpSp>
        <p:nvGrpSpPr>
          <p:cNvPr name="Group 45" id="45"/>
          <p:cNvGrpSpPr/>
          <p:nvPr/>
        </p:nvGrpSpPr>
        <p:grpSpPr>
          <a:xfrm rot="0">
            <a:off x="731520" y="4425696"/>
            <a:ext cx="2468880" cy="420624"/>
            <a:chOff x="0" y="0"/>
            <a:chExt cx="3291840" cy="560832"/>
          </a:xfrm>
        </p:grpSpPr>
        <p:sp>
          <p:nvSpPr>
            <p:cNvPr name="Freeform 46" id="46"/>
            <p:cNvSpPr/>
            <p:nvPr/>
          </p:nvSpPr>
          <p:spPr>
            <a:xfrm flipH="false" flipV="false" rot="0">
              <a:off x="0" y="0"/>
              <a:ext cx="3291840" cy="560832"/>
            </a:xfrm>
            <a:custGeom>
              <a:avLst/>
              <a:gdLst/>
              <a:ahLst/>
              <a:cxnLst/>
              <a:rect r="r" b="b" t="t" l="l"/>
              <a:pathLst>
                <a:path h="560832" w="3291840">
                  <a:moveTo>
                    <a:pt x="0" y="0"/>
                  </a:moveTo>
                  <a:lnTo>
                    <a:pt x="3291840" y="0"/>
                  </a:lnTo>
                  <a:lnTo>
                    <a:pt x="3291840" y="560832"/>
                  </a:lnTo>
                  <a:lnTo>
                    <a:pt x="0" y="560832"/>
                  </a:lnTo>
                  <a:close/>
                </a:path>
              </a:pathLst>
            </a:custGeom>
            <a:blipFill>
              <a:blip r:embed="rId3">
                <a:alphaModFix amt="0"/>
              </a:blip>
              <a:stretch>
                <a:fillRect l="0" t="-64368" r="0" b="-64368"/>
              </a:stretch>
            </a:blipFill>
          </p:spPr>
        </p:sp>
        <p:sp>
          <p:nvSpPr>
            <p:cNvPr name="TextBox 47" id="47"/>
            <p:cNvSpPr txBox="true"/>
            <p:nvPr/>
          </p:nvSpPr>
          <p:spPr>
            <a:xfrm>
              <a:off x="0" y="-38100"/>
              <a:ext cx="3291840" cy="598932"/>
            </a:xfrm>
            <a:prstGeom prst="rect">
              <a:avLst/>
            </a:prstGeom>
          </p:spPr>
          <p:txBody>
            <a:bodyPr anchor="ctr" rtlCol="false" tIns="0" lIns="0" bIns="0" rIns="0"/>
            <a:lstStyle/>
            <a:p>
              <a:pPr algn="l">
                <a:lnSpc>
                  <a:spcPts val="2280"/>
                </a:lnSpc>
              </a:pPr>
              <a:r>
                <a:rPr lang="en-US" sz="1900" b="true">
                  <a:solidFill>
                    <a:srgbClr val="0D1B3E"/>
                  </a:solidFill>
                  <a:latin typeface="Calibri (MS) Bold"/>
                  <a:ea typeface="Calibri (MS) Bold"/>
                  <a:cs typeface="Calibri (MS) Bold"/>
                  <a:sym typeface="Calibri (MS) Bold"/>
                </a:rPr>
                <a:t>FID</a:t>
              </a:r>
            </a:p>
          </p:txBody>
        </p:sp>
      </p:grpSp>
      <p:grpSp>
        <p:nvGrpSpPr>
          <p:cNvPr name="Group 48" id="48"/>
          <p:cNvGrpSpPr/>
          <p:nvPr/>
        </p:nvGrpSpPr>
        <p:grpSpPr>
          <a:xfrm rot="0">
            <a:off x="3328416" y="4425696"/>
            <a:ext cx="6400800" cy="420624"/>
            <a:chOff x="0" y="0"/>
            <a:chExt cx="8534400" cy="560832"/>
          </a:xfrm>
        </p:grpSpPr>
        <p:sp>
          <p:nvSpPr>
            <p:cNvPr name="Freeform 49" id="49"/>
            <p:cNvSpPr/>
            <p:nvPr/>
          </p:nvSpPr>
          <p:spPr>
            <a:xfrm flipH="false" flipV="false" rot="0">
              <a:off x="0" y="0"/>
              <a:ext cx="8534400" cy="560832"/>
            </a:xfrm>
            <a:custGeom>
              <a:avLst/>
              <a:gdLst/>
              <a:ahLst/>
              <a:cxnLst/>
              <a:rect r="r" b="b" t="t" l="l"/>
              <a:pathLst>
                <a:path h="560832" w="8534400">
                  <a:moveTo>
                    <a:pt x="0" y="0"/>
                  </a:moveTo>
                  <a:lnTo>
                    <a:pt x="8534400" y="0"/>
                  </a:lnTo>
                  <a:lnTo>
                    <a:pt x="8534400" y="560832"/>
                  </a:lnTo>
                  <a:lnTo>
                    <a:pt x="0" y="560832"/>
                  </a:lnTo>
                  <a:close/>
                </a:path>
              </a:pathLst>
            </a:custGeom>
            <a:blipFill>
              <a:blip r:embed="rId3">
                <a:alphaModFix amt="0"/>
              </a:blip>
              <a:stretch>
                <a:fillRect l="0" t="-246511" r="0" b="-246511"/>
              </a:stretch>
            </a:blipFill>
          </p:spPr>
        </p:sp>
        <p:sp>
          <p:nvSpPr>
            <p:cNvPr name="TextBox 50" id="50"/>
            <p:cNvSpPr txBox="true"/>
            <p:nvPr/>
          </p:nvSpPr>
          <p:spPr>
            <a:xfrm>
              <a:off x="0" y="-38100"/>
              <a:ext cx="8534400" cy="598932"/>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Feature Interaction Decoder</a:t>
              </a:r>
            </a:p>
          </p:txBody>
        </p:sp>
      </p:grpSp>
      <p:grpSp>
        <p:nvGrpSpPr>
          <p:cNvPr name="Group 51" id="51"/>
          <p:cNvGrpSpPr/>
          <p:nvPr/>
        </p:nvGrpSpPr>
        <p:grpSpPr>
          <a:xfrm rot="0">
            <a:off x="727710" y="4842510"/>
            <a:ext cx="8328660" cy="7620"/>
            <a:chOff x="0" y="0"/>
            <a:chExt cx="11104880" cy="10160"/>
          </a:xfrm>
        </p:grpSpPr>
        <p:sp>
          <p:nvSpPr>
            <p:cNvPr name="Freeform 52" id="52"/>
            <p:cNvSpPr/>
            <p:nvPr/>
          </p:nvSpPr>
          <p:spPr>
            <a:xfrm flipH="false" flipV="false" rot="0">
              <a:off x="5080" y="0"/>
              <a:ext cx="11094720" cy="10160"/>
            </a:xfrm>
            <a:custGeom>
              <a:avLst/>
              <a:gdLst/>
              <a:ahLst/>
              <a:cxnLst/>
              <a:rect r="r" b="b" t="t" l="l"/>
              <a:pathLst>
                <a:path h="10160" w="11094720">
                  <a:moveTo>
                    <a:pt x="0" y="0"/>
                  </a:moveTo>
                  <a:lnTo>
                    <a:pt x="11094720" y="0"/>
                  </a:lnTo>
                  <a:lnTo>
                    <a:pt x="11094720" y="10160"/>
                  </a:lnTo>
                  <a:lnTo>
                    <a:pt x="0" y="10160"/>
                  </a:lnTo>
                  <a:close/>
                </a:path>
              </a:pathLst>
            </a:custGeom>
            <a:solidFill>
              <a:srgbClr val="E2E8F0"/>
            </a:solidFill>
          </p:spPr>
        </p:sp>
      </p:grpSp>
      <p:grpSp>
        <p:nvGrpSpPr>
          <p:cNvPr name="Group 53" id="53"/>
          <p:cNvGrpSpPr/>
          <p:nvPr/>
        </p:nvGrpSpPr>
        <p:grpSpPr>
          <a:xfrm rot="0">
            <a:off x="731520" y="4882896"/>
            <a:ext cx="2468880" cy="420624"/>
            <a:chOff x="0" y="0"/>
            <a:chExt cx="3291840" cy="560832"/>
          </a:xfrm>
        </p:grpSpPr>
        <p:sp>
          <p:nvSpPr>
            <p:cNvPr name="Freeform 54" id="54"/>
            <p:cNvSpPr/>
            <p:nvPr/>
          </p:nvSpPr>
          <p:spPr>
            <a:xfrm flipH="false" flipV="false" rot="0">
              <a:off x="0" y="0"/>
              <a:ext cx="3291840" cy="560832"/>
            </a:xfrm>
            <a:custGeom>
              <a:avLst/>
              <a:gdLst/>
              <a:ahLst/>
              <a:cxnLst/>
              <a:rect r="r" b="b" t="t" l="l"/>
              <a:pathLst>
                <a:path h="560832" w="3291840">
                  <a:moveTo>
                    <a:pt x="0" y="0"/>
                  </a:moveTo>
                  <a:lnTo>
                    <a:pt x="3291840" y="0"/>
                  </a:lnTo>
                  <a:lnTo>
                    <a:pt x="3291840" y="560832"/>
                  </a:lnTo>
                  <a:lnTo>
                    <a:pt x="0" y="560832"/>
                  </a:lnTo>
                  <a:close/>
                </a:path>
              </a:pathLst>
            </a:custGeom>
            <a:blipFill>
              <a:blip r:embed="rId3">
                <a:alphaModFix amt="0"/>
              </a:blip>
              <a:stretch>
                <a:fillRect l="0" t="-64368" r="0" b="-64368"/>
              </a:stretch>
            </a:blipFill>
          </p:spPr>
        </p:sp>
        <p:sp>
          <p:nvSpPr>
            <p:cNvPr name="TextBox 55" id="55"/>
            <p:cNvSpPr txBox="true"/>
            <p:nvPr/>
          </p:nvSpPr>
          <p:spPr>
            <a:xfrm>
              <a:off x="0" y="-38100"/>
              <a:ext cx="3291840" cy="598932"/>
            </a:xfrm>
            <a:prstGeom prst="rect">
              <a:avLst/>
            </a:prstGeom>
          </p:spPr>
          <p:txBody>
            <a:bodyPr anchor="ctr" rtlCol="false" tIns="0" lIns="0" bIns="0" rIns="0"/>
            <a:lstStyle/>
            <a:p>
              <a:pPr algn="l">
                <a:lnSpc>
                  <a:spcPts val="2280"/>
                </a:lnSpc>
              </a:pPr>
              <a:r>
                <a:rPr lang="en-US" sz="1900" b="true">
                  <a:solidFill>
                    <a:srgbClr val="0D1B3E"/>
                  </a:solidFill>
                  <a:latin typeface="Calibri (MS) Bold"/>
                  <a:ea typeface="Calibri (MS) Bold"/>
                  <a:cs typeface="Calibri (MS) Bold"/>
                  <a:sym typeface="Calibri (MS) Bold"/>
                </a:rPr>
                <a:t>CNN</a:t>
              </a:r>
            </a:p>
          </p:txBody>
        </p:sp>
      </p:grpSp>
      <p:grpSp>
        <p:nvGrpSpPr>
          <p:cNvPr name="Group 56" id="56"/>
          <p:cNvGrpSpPr/>
          <p:nvPr/>
        </p:nvGrpSpPr>
        <p:grpSpPr>
          <a:xfrm rot="0">
            <a:off x="3328416" y="4882896"/>
            <a:ext cx="6400800" cy="420624"/>
            <a:chOff x="0" y="0"/>
            <a:chExt cx="8534400" cy="560832"/>
          </a:xfrm>
        </p:grpSpPr>
        <p:sp>
          <p:nvSpPr>
            <p:cNvPr name="Freeform 57" id="57"/>
            <p:cNvSpPr/>
            <p:nvPr/>
          </p:nvSpPr>
          <p:spPr>
            <a:xfrm flipH="false" flipV="false" rot="0">
              <a:off x="0" y="0"/>
              <a:ext cx="8534400" cy="560832"/>
            </a:xfrm>
            <a:custGeom>
              <a:avLst/>
              <a:gdLst/>
              <a:ahLst/>
              <a:cxnLst/>
              <a:rect r="r" b="b" t="t" l="l"/>
              <a:pathLst>
                <a:path h="560832" w="8534400">
                  <a:moveTo>
                    <a:pt x="0" y="0"/>
                  </a:moveTo>
                  <a:lnTo>
                    <a:pt x="8534400" y="0"/>
                  </a:lnTo>
                  <a:lnTo>
                    <a:pt x="8534400" y="560832"/>
                  </a:lnTo>
                  <a:lnTo>
                    <a:pt x="0" y="560832"/>
                  </a:lnTo>
                  <a:close/>
                </a:path>
              </a:pathLst>
            </a:custGeom>
            <a:blipFill>
              <a:blip r:embed="rId3">
                <a:alphaModFix amt="0"/>
              </a:blip>
              <a:stretch>
                <a:fillRect l="0" t="-246511" r="0" b="-246511"/>
              </a:stretch>
            </a:blipFill>
          </p:spPr>
        </p:sp>
        <p:sp>
          <p:nvSpPr>
            <p:cNvPr name="TextBox 58" id="58"/>
            <p:cNvSpPr txBox="true"/>
            <p:nvPr/>
          </p:nvSpPr>
          <p:spPr>
            <a:xfrm>
              <a:off x="0" y="-38100"/>
              <a:ext cx="8534400" cy="598932"/>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Convolutional Neural Network</a:t>
              </a:r>
            </a:p>
          </p:txBody>
        </p:sp>
      </p:grpSp>
      <p:grpSp>
        <p:nvGrpSpPr>
          <p:cNvPr name="Group 59" id="59"/>
          <p:cNvGrpSpPr/>
          <p:nvPr/>
        </p:nvGrpSpPr>
        <p:grpSpPr>
          <a:xfrm rot="0">
            <a:off x="727710" y="5299710"/>
            <a:ext cx="8328660" cy="7620"/>
            <a:chOff x="0" y="0"/>
            <a:chExt cx="11104880" cy="10160"/>
          </a:xfrm>
        </p:grpSpPr>
        <p:sp>
          <p:nvSpPr>
            <p:cNvPr name="Freeform 60" id="60"/>
            <p:cNvSpPr/>
            <p:nvPr/>
          </p:nvSpPr>
          <p:spPr>
            <a:xfrm flipH="false" flipV="false" rot="0">
              <a:off x="5080" y="0"/>
              <a:ext cx="11094720" cy="10160"/>
            </a:xfrm>
            <a:custGeom>
              <a:avLst/>
              <a:gdLst/>
              <a:ahLst/>
              <a:cxnLst/>
              <a:rect r="r" b="b" t="t" l="l"/>
              <a:pathLst>
                <a:path h="10160" w="11094720">
                  <a:moveTo>
                    <a:pt x="0" y="0"/>
                  </a:moveTo>
                  <a:lnTo>
                    <a:pt x="11094720" y="0"/>
                  </a:lnTo>
                  <a:lnTo>
                    <a:pt x="11094720" y="10160"/>
                  </a:lnTo>
                  <a:lnTo>
                    <a:pt x="0" y="10160"/>
                  </a:lnTo>
                  <a:close/>
                </a:path>
              </a:pathLst>
            </a:custGeom>
            <a:solidFill>
              <a:srgbClr val="E2E8F0"/>
            </a:solidFill>
          </p:spPr>
        </p:sp>
      </p:grpSp>
      <p:grpSp>
        <p:nvGrpSpPr>
          <p:cNvPr name="Group 61" id="61"/>
          <p:cNvGrpSpPr/>
          <p:nvPr/>
        </p:nvGrpSpPr>
        <p:grpSpPr>
          <a:xfrm rot="0">
            <a:off x="731520" y="5340096"/>
            <a:ext cx="2468880" cy="420624"/>
            <a:chOff x="0" y="0"/>
            <a:chExt cx="3291840" cy="560832"/>
          </a:xfrm>
        </p:grpSpPr>
        <p:sp>
          <p:nvSpPr>
            <p:cNvPr name="Freeform 62" id="62"/>
            <p:cNvSpPr/>
            <p:nvPr/>
          </p:nvSpPr>
          <p:spPr>
            <a:xfrm flipH="false" flipV="false" rot="0">
              <a:off x="0" y="0"/>
              <a:ext cx="3291840" cy="560832"/>
            </a:xfrm>
            <a:custGeom>
              <a:avLst/>
              <a:gdLst/>
              <a:ahLst/>
              <a:cxnLst/>
              <a:rect r="r" b="b" t="t" l="l"/>
              <a:pathLst>
                <a:path h="560832" w="3291840">
                  <a:moveTo>
                    <a:pt x="0" y="0"/>
                  </a:moveTo>
                  <a:lnTo>
                    <a:pt x="3291840" y="0"/>
                  </a:lnTo>
                  <a:lnTo>
                    <a:pt x="3291840" y="560832"/>
                  </a:lnTo>
                  <a:lnTo>
                    <a:pt x="0" y="560832"/>
                  </a:lnTo>
                  <a:close/>
                </a:path>
              </a:pathLst>
            </a:custGeom>
            <a:blipFill>
              <a:blip r:embed="rId3">
                <a:alphaModFix amt="0"/>
              </a:blip>
              <a:stretch>
                <a:fillRect l="0" t="-64368" r="0" b="-64368"/>
              </a:stretch>
            </a:blipFill>
          </p:spPr>
        </p:sp>
        <p:sp>
          <p:nvSpPr>
            <p:cNvPr name="TextBox 63" id="63"/>
            <p:cNvSpPr txBox="true"/>
            <p:nvPr/>
          </p:nvSpPr>
          <p:spPr>
            <a:xfrm>
              <a:off x="0" y="-38100"/>
              <a:ext cx="3291840" cy="598932"/>
            </a:xfrm>
            <a:prstGeom prst="rect">
              <a:avLst/>
            </a:prstGeom>
          </p:spPr>
          <p:txBody>
            <a:bodyPr anchor="ctr" rtlCol="false" tIns="0" lIns="0" bIns="0" rIns="0"/>
            <a:lstStyle/>
            <a:p>
              <a:pPr algn="l">
                <a:lnSpc>
                  <a:spcPts val="2280"/>
                </a:lnSpc>
              </a:pPr>
              <a:r>
                <a:rPr lang="en-US" sz="1900" b="true">
                  <a:solidFill>
                    <a:srgbClr val="0D1B3E"/>
                  </a:solidFill>
                  <a:latin typeface="Calibri (MS) Bold"/>
                  <a:ea typeface="Calibri (MS) Bold"/>
                  <a:cs typeface="Calibri (MS) Bold"/>
                  <a:sym typeface="Calibri (MS) Bold"/>
                </a:rPr>
                <a:t>LSTM</a:t>
              </a:r>
            </a:p>
          </p:txBody>
        </p:sp>
      </p:grpSp>
      <p:grpSp>
        <p:nvGrpSpPr>
          <p:cNvPr name="Group 64" id="64"/>
          <p:cNvGrpSpPr/>
          <p:nvPr/>
        </p:nvGrpSpPr>
        <p:grpSpPr>
          <a:xfrm rot="0">
            <a:off x="3328416" y="5340096"/>
            <a:ext cx="6400800" cy="420624"/>
            <a:chOff x="0" y="0"/>
            <a:chExt cx="8534400" cy="560832"/>
          </a:xfrm>
        </p:grpSpPr>
        <p:sp>
          <p:nvSpPr>
            <p:cNvPr name="Freeform 65" id="65"/>
            <p:cNvSpPr/>
            <p:nvPr/>
          </p:nvSpPr>
          <p:spPr>
            <a:xfrm flipH="false" flipV="false" rot="0">
              <a:off x="0" y="0"/>
              <a:ext cx="8534400" cy="560832"/>
            </a:xfrm>
            <a:custGeom>
              <a:avLst/>
              <a:gdLst/>
              <a:ahLst/>
              <a:cxnLst/>
              <a:rect r="r" b="b" t="t" l="l"/>
              <a:pathLst>
                <a:path h="560832" w="8534400">
                  <a:moveTo>
                    <a:pt x="0" y="0"/>
                  </a:moveTo>
                  <a:lnTo>
                    <a:pt x="8534400" y="0"/>
                  </a:lnTo>
                  <a:lnTo>
                    <a:pt x="8534400" y="560832"/>
                  </a:lnTo>
                  <a:lnTo>
                    <a:pt x="0" y="560832"/>
                  </a:lnTo>
                  <a:close/>
                </a:path>
              </a:pathLst>
            </a:custGeom>
            <a:blipFill>
              <a:blip r:embed="rId3">
                <a:alphaModFix amt="0"/>
              </a:blip>
              <a:stretch>
                <a:fillRect l="0" t="-246511" r="0" b="-246511"/>
              </a:stretch>
            </a:blipFill>
          </p:spPr>
        </p:sp>
        <p:sp>
          <p:nvSpPr>
            <p:cNvPr name="TextBox 66" id="66"/>
            <p:cNvSpPr txBox="true"/>
            <p:nvPr/>
          </p:nvSpPr>
          <p:spPr>
            <a:xfrm>
              <a:off x="0" y="-38100"/>
              <a:ext cx="8534400" cy="598932"/>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Long Short-Term Memory</a:t>
              </a:r>
            </a:p>
          </p:txBody>
        </p:sp>
      </p:grpSp>
      <p:grpSp>
        <p:nvGrpSpPr>
          <p:cNvPr name="Group 67" id="67"/>
          <p:cNvGrpSpPr/>
          <p:nvPr/>
        </p:nvGrpSpPr>
        <p:grpSpPr>
          <a:xfrm rot="0">
            <a:off x="727710" y="5756910"/>
            <a:ext cx="8328660" cy="7620"/>
            <a:chOff x="0" y="0"/>
            <a:chExt cx="11104880" cy="10160"/>
          </a:xfrm>
        </p:grpSpPr>
        <p:sp>
          <p:nvSpPr>
            <p:cNvPr name="Freeform 68" id="68"/>
            <p:cNvSpPr/>
            <p:nvPr/>
          </p:nvSpPr>
          <p:spPr>
            <a:xfrm flipH="false" flipV="false" rot="0">
              <a:off x="5080" y="0"/>
              <a:ext cx="11094720" cy="10160"/>
            </a:xfrm>
            <a:custGeom>
              <a:avLst/>
              <a:gdLst/>
              <a:ahLst/>
              <a:cxnLst/>
              <a:rect r="r" b="b" t="t" l="l"/>
              <a:pathLst>
                <a:path h="10160" w="11094720">
                  <a:moveTo>
                    <a:pt x="0" y="0"/>
                  </a:moveTo>
                  <a:lnTo>
                    <a:pt x="11094720" y="0"/>
                  </a:lnTo>
                  <a:lnTo>
                    <a:pt x="11094720" y="10160"/>
                  </a:lnTo>
                  <a:lnTo>
                    <a:pt x="0" y="10160"/>
                  </a:lnTo>
                  <a:close/>
                </a:path>
              </a:pathLst>
            </a:custGeom>
            <a:solidFill>
              <a:srgbClr val="E2E8F0"/>
            </a:solidFill>
          </p:spPr>
        </p:sp>
      </p:grpSp>
      <p:grpSp>
        <p:nvGrpSpPr>
          <p:cNvPr name="Group 69" id="69"/>
          <p:cNvGrpSpPr/>
          <p:nvPr/>
        </p:nvGrpSpPr>
        <p:grpSpPr>
          <a:xfrm rot="0">
            <a:off x="731520" y="5797296"/>
            <a:ext cx="2468880" cy="420624"/>
            <a:chOff x="0" y="0"/>
            <a:chExt cx="3291840" cy="560832"/>
          </a:xfrm>
        </p:grpSpPr>
        <p:sp>
          <p:nvSpPr>
            <p:cNvPr name="Freeform 70" id="70"/>
            <p:cNvSpPr/>
            <p:nvPr/>
          </p:nvSpPr>
          <p:spPr>
            <a:xfrm flipH="false" flipV="false" rot="0">
              <a:off x="0" y="0"/>
              <a:ext cx="3291840" cy="560832"/>
            </a:xfrm>
            <a:custGeom>
              <a:avLst/>
              <a:gdLst/>
              <a:ahLst/>
              <a:cxnLst/>
              <a:rect r="r" b="b" t="t" l="l"/>
              <a:pathLst>
                <a:path h="560832" w="3291840">
                  <a:moveTo>
                    <a:pt x="0" y="0"/>
                  </a:moveTo>
                  <a:lnTo>
                    <a:pt x="3291840" y="0"/>
                  </a:lnTo>
                  <a:lnTo>
                    <a:pt x="3291840" y="560832"/>
                  </a:lnTo>
                  <a:lnTo>
                    <a:pt x="0" y="560832"/>
                  </a:lnTo>
                  <a:close/>
                </a:path>
              </a:pathLst>
            </a:custGeom>
            <a:blipFill>
              <a:blip r:embed="rId3">
                <a:alphaModFix amt="0"/>
              </a:blip>
              <a:stretch>
                <a:fillRect l="0" t="-64368" r="0" b="-64368"/>
              </a:stretch>
            </a:blipFill>
          </p:spPr>
        </p:sp>
        <p:sp>
          <p:nvSpPr>
            <p:cNvPr name="TextBox 71" id="71"/>
            <p:cNvSpPr txBox="true"/>
            <p:nvPr/>
          </p:nvSpPr>
          <p:spPr>
            <a:xfrm>
              <a:off x="0" y="-38100"/>
              <a:ext cx="3291840" cy="598932"/>
            </a:xfrm>
            <a:prstGeom prst="rect">
              <a:avLst/>
            </a:prstGeom>
          </p:spPr>
          <p:txBody>
            <a:bodyPr anchor="ctr" rtlCol="false" tIns="0" lIns="0" bIns="0" rIns="0"/>
            <a:lstStyle/>
            <a:p>
              <a:pPr algn="l">
                <a:lnSpc>
                  <a:spcPts val="2280"/>
                </a:lnSpc>
              </a:pPr>
              <a:r>
                <a:rPr lang="en-US" sz="1900" b="true">
                  <a:solidFill>
                    <a:srgbClr val="0D1B3E"/>
                  </a:solidFill>
                  <a:latin typeface="Calibri (MS) Bold"/>
                  <a:ea typeface="Calibri (MS) Bold"/>
                  <a:cs typeface="Calibri (MS) Bold"/>
                  <a:sym typeface="Calibri (MS) Bold"/>
                </a:rPr>
                <a:t>RNN</a:t>
              </a:r>
            </a:p>
          </p:txBody>
        </p:sp>
      </p:grpSp>
      <p:grpSp>
        <p:nvGrpSpPr>
          <p:cNvPr name="Group 72" id="72"/>
          <p:cNvGrpSpPr/>
          <p:nvPr/>
        </p:nvGrpSpPr>
        <p:grpSpPr>
          <a:xfrm rot="0">
            <a:off x="3328416" y="5797296"/>
            <a:ext cx="6400800" cy="420624"/>
            <a:chOff x="0" y="0"/>
            <a:chExt cx="8534400" cy="560832"/>
          </a:xfrm>
        </p:grpSpPr>
        <p:sp>
          <p:nvSpPr>
            <p:cNvPr name="Freeform 73" id="73"/>
            <p:cNvSpPr/>
            <p:nvPr/>
          </p:nvSpPr>
          <p:spPr>
            <a:xfrm flipH="false" flipV="false" rot="0">
              <a:off x="0" y="0"/>
              <a:ext cx="8534400" cy="560832"/>
            </a:xfrm>
            <a:custGeom>
              <a:avLst/>
              <a:gdLst/>
              <a:ahLst/>
              <a:cxnLst/>
              <a:rect r="r" b="b" t="t" l="l"/>
              <a:pathLst>
                <a:path h="560832" w="8534400">
                  <a:moveTo>
                    <a:pt x="0" y="0"/>
                  </a:moveTo>
                  <a:lnTo>
                    <a:pt x="8534400" y="0"/>
                  </a:lnTo>
                  <a:lnTo>
                    <a:pt x="8534400" y="560832"/>
                  </a:lnTo>
                  <a:lnTo>
                    <a:pt x="0" y="560832"/>
                  </a:lnTo>
                  <a:close/>
                </a:path>
              </a:pathLst>
            </a:custGeom>
            <a:blipFill>
              <a:blip r:embed="rId3">
                <a:alphaModFix amt="0"/>
              </a:blip>
              <a:stretch>
                <a:fillRect l="0" t="-246511" r="0" b="-246511"/>
              </a:stretch>
            </a:blipFill>
          </p:spPr>
        </p:sp>
        <p:sp>
          <p:nvSpPr>
            <p:cNvPr name="TextBox 74" id="74"/>
            <p:cNvSpPr txBox="true"/>
            <p:nvPr/>
          </p:nvSpPr>
          <p:spPr>
            <a:xfrm>
              <a:off x="0" y="-38100"/>
              <a:ext cx="8534400" cy="598932"/>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Recurrent Neural Network</a:t>
              </a:r>
            </a:p>
          </p:txBody>
        </p:sp>
      </p:grpSp>
      <p:grpSp>
        <p:nvGrpSpPr>
          <p:cNvPr name="Group 75" id="75"/>
          <p:cNvGrpSpPr/>
          <p:nvPr/>
        </p:nvGrpSpPr>
        <p:grpSpPr>
          <a:xfrm rot="0">
            <a:off x="727710" y="6214110"/>
            <a:ext cx="8328660" cy="7620"/>
            <a:chOff x="0" y="0"/>
            <a:chExt cx="11104880" cy="10160"/>
          </a:xfrm>
        </p:grpSpPr>
        <p:sp>
          <p:nvSpPr>
            <p:cNvPr name="Freeform 76" id="76"/>
            <p:cNvSpPr/>
            <p:nvPr/>
          </p:nvSpPr>
          <p:spPr>
            <a:xfrm flipH="false" flipV="false" rot="0">
              <a:off x="5080" y="0"/>
              <a:ext cx="11094720" cy="10160"/>
            </a:xfrm>
            <a:custGeom>
              <a:avLst/>
              <a:gdLst/>
              <a:ahLst/>
              <a:cxnLst/>
              <a:rect r="r" b="b" t="t" l="l"/>
              <a:pathLst>
                <a:path h="10160" w="11094720">
                  <a:moveTo>
                    <a:pt x="0" y="0"/>
                  </a:moveTo>
                  <a:lnTo>
                    <a:pt x="11094720" y="0"/>
                  </a:lnTo>
                  <a:lnTo>
                    <a:pt x="11094720" y="10160"/>
                  </a:lnTo>
                  <a:lnTo>
                    <a:pt x="0" y="10160"/>
                  </a:lnTo>
                  <a:close/>
                </a:path>
              </a:pathLst>
            </a:custGeom>
            <a:solidFill>
              <a:srgbClr val="E2E8F0"/>
            </a:solidFill>
          </p:spPr>
        </p:sp>
      </p:grpSp>
      <p:grpSp>
        <p:nvGrpSpPr>
          <p:cNvPr name="Group 77" id="77"/>
          <p:cNvGrpSpPr/>
          <p:nvPr/>
        </p:nvGrpSpPr>
        <p:grpSpPr>
          <a:xfrm rot="0">
            <a:off x="731520" y="6254496"/>
            <a:ext cx="2468880" cy="420624"/>
            <a:chOff x="0" y="0"/>
            <a:chExt cx="3291840" cy="560832"/>
          </a:xfrm>
        </p:grpSpPr>
        <p:sp>
          <p:nvSpPr>
            <p:cNvPr name="Freeform 78" id="78"/>
            <p:cNvSpPr/>
            <p:nvPr/>
          </p:nvSpPr>
          <p:spPr>
            <a:xfrm flipH="false" flipV="false" rot="0">
              <a:off x="0" y="0"/>
              <a:ext cx="3291840" cy="560832"/>
            </a:xfrm>
            <a:custGeom>
              <a:avLst/>
              <a:gdLst/>
              <a:ahLst/>
              <a:cxnLst/>
              <a:rect r="r" b="b" t="t" l="l"/>
              <a:pathLst>
                <a:path h="560832" w="3291840">
                  <a:moveTo>
                    <a:pt x="0" y="0"/>
                  </a:moveTo>
                  <a:lnTo>
                    <a:pt x="3291840" y="0"/>
                  </a:lnTo>
                  <a:lnTo>
                    <a:pt x="3291840" y="560832"/>
                  </a:lnTo>
                  <a:lnTo>
                    <a:pt x="0" y="560832"/>
                  </a:lnTo>
                  <a:close/>
                </a:path>
              </a:pathLst>
            </a:custGeom>
            <a:blipFill>
              <a:blip r:embed="rId3">
                <a:alphaModFix amt="0"/>
              </a:blip>
              <a:stretch>
                <a:fillRect l="0" t="-64368" r="0" b="-64368"/>
              </a:stretch>
            </a:blipFill>
          </p:spPr>
        </p:sp>
        <p:sp>
          <p:nvSpPr>
            <p:cNvPr name="TextBox 79" id="79"/>
            <p:cNvSpPr txBox="true"/>
            <p:nvPr/>
          </p:nvSpPr>
          <p:spPr>
            <a:xfrm>
              <a:off x="0" y="-38100"/>
              <a:ext cx="3291840" cy="598932"/>
            </a:xfrm>
            <a:prstGeom prst="rect">
              <a:avLst/>
            </a:prstGeom>
          </p:spPr>
          <p:txBody>
            <a:bodyPr anchor="ctr" rtlCol="false" tIns="0" lIns="0" bIns="0" rIns="0"/>
            <a:lstStyle/>
            <a:p>
              <a:pPr algn="l">
                <a:lnSpc>
                  <a:spcPts val="2280"/>
                </a:lnSpc>
              </a:pPr>
              <a:r>
                <a:rPr lang="en-US" sz="1900" b="true">
                  <a:solidFill>
                    <a:srgbClr val="0D1B3E"/>
                  </a:solidFill>
                  <a:latin typeface="Calibri (MS) Bold"/>
                  <a:ea typeface="Calibri (MS) Bold"/>
                  <a:cs typeface="Calibri (MS) Bold"/>
                  <a:sym typeface="Calibri (MS) Bold"/>
                </a:rPr>
                <a:t>GAP</a:t>
              </a:r>
            </a:p>
          </p:txBody>
        </p:sp>
      </p:grpSp>
      <p:grpSp>
        <p:nvGrpSpPr>
          <p:cNvPr name="Group 80" id="80"/>
          <p:cNvGrpSpPr/>
          <p:nvPr/>
        </p:nvGrpSpPr>
        <p:grpSpPr>
          <a:xfrm rot="0">
            <a:off x="3328416" y="6254496"/>
            <a:ext cx="6400800" cy="420624"/>
            <a:chOff x="0" y="0"/>
            <a:chExt cx="8534400" cy="560832"/>
          </a:xfrm>
        </p:grpSpPr>
        <p:sp>
          <p:nvSpPr>
            <p:cNvPr name="Freeform 81" id="81"/>
            <p:cNvSpPr/>
            <p:nvPr/>
          </p:nvSpPr>
          <p:spPr>
            <a:xfrm flipH="false" flipV="false" rot="0">
              <a:off x="0" y="0"/>
              <a:ext cx="8534400" cy="560832"/>
            </a:xfrm>
            <a:custGeom>
              <a:avLst/>
              <a:gdLst/>
              <a:ahLst/>
              <a:cxnLst/>
              <a:rect r="r" b="b" t="t" l="l"/>
              <a:pathLst>
                <a:path h="560832" w="8534400">
                  <a:moveTo>
                    <a:pt x="0" y="0"/>
                  </a:moveTo>
                  <a:lnTo>
                    <a:pt x="8534400" y="0"/>
                  </a:lnTo>
                  <a:lnTo>
                    <a:pt x="8534400" y="560832"/>
                  </a:lnTo>
                  <a:lnTo>
                    <a:pt x="0" y="560832"/>
                  </a:lnTo>
                  <a:close/>
                </a:path>
              </a:pathLst>
            </a:custGeom>
            <a:blipFill>
              <a:blip r:embed="rId3">
                <a:alphaModFix amt="0"/>
              </a:blip>
              <a:stretch>
                <a:fillRect l="0" t="-246511" r="0" b="-246511"/>
              </a:stretch>
            </a:blipFill>
          </p:spPr>
        </p:sp>
        <p:sp>
          <p:nvSpPr>
            <p:cNvPr name="TextBox 82" id="82"/>
            <p:cNvSpPr txBox="true"/>
            <p:nvPr/>
          </p:nvSpPr>
          <p:spPr>
            <a:xfrm>
              <a:off x="0" y="-38100"/>
              <a:ext cx="8534400" cy="598932"/>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Global Average Pooling</a:t>
              </a:r>
            </a:p>
          </p:txBody>
        </p:sp>
      </p:grpSp>
      <p:grpSp>
        <p:nvGrpSpPr>
          <p:cNvPr name="Group 83" id="83"/>
          <p:cNvGrpSpPr/>
          <p:nvPr/>
        </p:nvGrpSpPr>
        <p:grpSpPr>
          <a:xfrm rot="0">
            <a:off x="727710" y="6671310"/>
            <a:ext cx="8328660" cy="7620"/>
            <a:chOff x="0" y="0"/>
            <a:chExt cx="11104880" cy="10160"/>
          </a:xfrm>
        </p:grpSpPr>
        <p:sp>
          <p:nvSpPr>
            <p:cNvPr name="Freeform 84" id="84"/>
            <p:cNvSpPr/>
            <p:nvPr/>
          </p:nvSpPr>
          <p:spPr>
            <a:xfrm flipH="false" flipV="false" rot="0">
              <a:off x="5080" y="0"/>
              <a:ext cx="11094720" cy="10160"/>
            </a:xfrm>
            <a:custGeom>
              <a:avLst/>
              <a:gdLst/>
              <a:ahLst/>
              <a:cxnLst/>
              <a:rect r="r" b="b" t="t" l="l"/>
              <a:pathLst>
                <a:path h="10160" w="11094720">
                  <a:moveTo>
                    <a:pt x="0" y="0"/>
                  </a:moveTo>
                  <a:lnTo>
                    <a:pt x="11094720" y="0"/>
                  </a:lnTo>
                  <a:lnTo>
                    <a:pt x="11094720" y="10160"/>
                  </a:lnTo>
                  <a:lnTo>
                    <a:pt x="0" y="10160"/>
                  </a:lnTo>
                  <a:close/>
                </a:path>
              </a:pathLst>
            </a:custGeom>
            <a:solidFill>
              <a:srgbClr val="E2E8F0"/>
            </a:solidFill>
          </p:spPr>
        </p:sp>
      </p:grpSp>
      <p:grpSp>
        <p:nvGrpSpPr>
          <p:cNvPr name="Group 85" id="85"/>
          <p:cNvGrpSpPr/>
          <p:nvPr/>
        </p:nvGrpSpPr>
        <p:grpSpPr>
          <a:xfrm rot="0">
            <a:off x="731520" y="6711696"/>
            <a:ext cx="2468880" cy="420624"/>
            <a:chOff x="0" y="0"/>
            <a:chExt cx="3291840" cy="560832"/>
          </a:xfrm>
        </p:grpSpPr>
        <p:sp>
          <p:nvSpPr>
            <p:cNvPr name="Freeform 86" id="86"/>
            <p:cNvSpPr/>
            <p:nvPr/>
          </p:nvSpPr>
          <p:spPr>
            <a:xfrm flipH="false" flipV="false" rot="0">
              <a:off x="0" y="0"/>
              <a:ext cx="3291840" cy="560832"/>
            </a:xfrm>
            <a:custGeom>
              <a:avLst/>
              <a:gdLst/>
              <a:ahLst/>
              <a:cxnLst/>
              <a:rect r="r" b="b" t="t" l="l"/>
              <a:pathLst>
                <a:path h="560832" w="3291840">
                  <a:moveTo>
                    <a:pt x="0" y="0"/>
                  </a:moveTo>
                  <a:lnTo>
                    <a:pt x="3291840" y="0"/>
                  </a:lnTo>
                  <a:lnTo>
                    <a:pt x="3291840" y="560832"/>
                  </a:lnTo>
                  <a:lnTo>
                    <a:pt x="0" y="560832"/>
                  </a:lnTo>
                  <a:close/>
                </a:path>
              </a:pathLst>
            </a:custGeom>
            <a:blipFill>
              <a:blip r:embed="rId3">
                <a:alphaModFix amt="0"/>
              </a:blip>
              <a:stretch>
                <a:fillRect l="0" t="-64368" r="0" b="-64368"/>
              </a:stretch>
            </a:blipFill>
          </p:spPr>
        </p:sp>
        <p:sp>
          <p:nvSpPr>
            <p:cNvPr name="TextBox 87" id="87"/>
            <p:cNvSpPr txBox="true"/>
            <p:nvPr/>
          </p:nvSpPr>
          <p:spPr>
            <a:xfrm>
              <a:off x="0" y="-38100"/>
              <a:ext cx="3291840" cy="598932"/>
            </a:xfrm>
            <a:prstGeom prst="rect">
              <a:avLst/>
            </a:prstGeom>
          </p:spPr>
          <p:txBody>
            <a:bodyPr anchor="ctr" rtlCol="false" tIns="0" lIns="0" bIns="0" rIns="0"/>
            <a:lstStyle/>
            <a:p>
              <a:pPr algn="l">
                <a:lnSpc>
                  <a:spcPts val="2280"/>
                </a:lnSpc>
              </a:pPr>
              <a:r>
                <a:rPr lang="en-US" sz="1900" b="true">
                  <a:solidFill>
                    <a:srgbClr val="0D1B3E"/>
                  </a:solidFill>
                  <a:latin typeface="Calibri (MS) Bold"/>
                  <a:ea typeface="Calibri (MS) Bold"/>
                  <a:cs typeface="Calibri (MS) Bold"/>
                  <a:sym typeface="Calibri (MS) Bold"/>
                </a:rPr>
                <a:t>ViT</a:t>
              </a:r>
            </a:p>
          </p:txBody>
        </p:sp>
      </p:grpSp>
      <p:grpSp>
        <p:nvGrpSpPr>
          <p:cNvPr name="Group 88" id="88"/>
          <p:cNvGrpSpPr/>
          <p:nvPr/>
        </p:nvGrpSpPr>
        <p:grpSpPr>
          <a:xfrm rot="0">
            <a:off x="3328416" y="6711696"/>
            <a:ext cx="6400800" cy="420624"/>
            <a:chOff x="0" y="0"/>
            <a:chExt cx="8534400" cy="560832"/>
          </a:xfrm>
        </p:grpSpPr>
        <p:sp>
          <p:nvSpPr>
            <p:cNvPr name="Freeform 89" id="89"/>
            <p:cNvSpPr/>
            <p:nvPr/>
          </p:nvSpPr>
          <p:spPr>
            <a:xfrm flipH="false" flipV="false" rot="0">
              <a:off x="0" y="0"/>
              <a:ext cx="8534400" cy="560832"/>
            </a:xfrm>
            <a:custGeom>
              <a:avLst/>
              <a:gdLst/>
              <a:ahLst/>
              <a:cxnLst/>
              <a:rect r="r" b="b" t="t" l="l"/>
              <a:pathLst>
                <a:path h="560832" w="8534400">
                  <a:moveTo>
                    <a:pt x="0" y="0"/>
                  </a:moveTo>
                  <a:lnTo>
                    <a:pt x="8534400" y="0"/>
                  </a:lnTo>
                  <a:lnTo>
                    <a:pt x="8534400" y="560832"/>
                  </a:lnTo>
                  <a:lnTo>
                    <a:pt x="0" y="560832"/>
                  </a:lnTo>
                  <a:close/>
                </a:path>
              </a:pathLst>
            </a:custGeom>
            <a:blipFill>
              <a:blip r:embed="rId3">
                <a:alphaModFix amt="0"/>
              </a:blip>
              <a:stretch>
                <a:fillRect l="0" t="-246511" r="0" b="-246511"/>
              </a:stretch>
            </a:blipFill>
          </p:spPr>
        </p:sp>
        <p:sp>
          <p:nvSpPr>
            <p:cNvPr name="TextBox 90" id="90"/>
            <p:cNvSpPr txBox="true"/>
            <p:nvPr/>
          </p:nvSpPr>
          <p:spPr>
            <a:xfrm>
              <a:off x="0" y="-38100"/>
              <a:ext cx="8534400" cy="598932"/>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Vision Transformer</a:t>
              </a:r>
            </a:p>
          </p:txBody>
        </p:sp>
      </p:grpSp>
      <p:grpSp>
        <p:nvGrpSpPr>
          <p:cNvPr name="Group 91" id="91"/>
          <p:cNvGrpSpPr/>
          <p:nvPr/>
        </p:nvGrpSpPr>
        <p:grpSpPr>
          <a:xfrm rot="0">
            <a:off x="727710" y="7128510"/>
            <a:ext cx="8328660" cy="7620"/>
            <a:chOff x="0" y="0"/>
            <a:chExt cx="11104880" cy="10160"/>
          </a:xfrm>
        </p:grpSpPr>
        <p:sp>
          <p:nvSpPr>
            <p:cNvPr name="Freeform 92" id="92"/>
            <p:cNvSpPr/>
            <p:nvPr/>
          </p:nvSpPr>
          <p:spPr>
            <a:xfrm flipH="false" flipV="false" rot="0">
              <a:off x="5080" y="0"/>
              <a:ext cx="11094720" cy="10160"/>
            </a:xfrm>
            <a:custGeom>
              <a:avLst/>
              <a:gdLst/>
              <a:ahLst/>
              <a:cxnLst/>
              <a:rect r="r" b="b" t="t" l="l"/>
              <a:pathLst>
                <a:path h="10160" w="11094720">
                  <a:moveTo>
                    <a:pt x="0" y="0"/>
                  </a:moveTo>
                  <a:lnTo>
                    <a:pt x="11094720" y="0"/>
                  </a:lnTo>
                  <a:lnTo>
                    <a:pt x="11094720" y="10160"/>
                  </a:lnTo>
                  <a:lnTo>
                    <a:pt x="0" y="10160"/>
                  </a:lnTo>
                  <a:close/>
                </a:path>
              </a:pathLst>
            </a:custGeom>
            <a:solidFill>
              <a:srgbClr val="E2E8F0"/>
            </a:solidFill>
          </p:spPr>
        </p:sp>
      </p:grpSp>
      <p:grpSp>
        <p:nvGrpSpPr>
          <p:cNvPr name="Group 93" id="93"/>
          <p:cNvGrpSpPr/>
          <p:nvPr/>
        </p:nvGrpSpPr>
        <p:grpSpPr>
          <a:xfrm rot="0">
            <a:off x="731520" y="7168896"/>
            <a:ext cx="2468880" cy="420624"/>
            <a:chOff x="0" y="0"/>
            <a:chExt cx="3291840" cy="560832"/>
          </a:xfrm>
        </p:grpSpPr>
        <p:sp>
          <p:nvSpPr>
            <p:cNvPr name="Freeform 94" id="94"/>
            <p:cNvSpPr/>
            <p:nvPr/>
          </p:nvSpPr>
          <p:spPr>
            <a:xfrm flipH="false" flipV="false" rot="0">
              <a:off x="0" y="0"/>
              <a:ext cx="3291840" cy="560832"/>
            </a:xfrm>
            <a:custGeom>
              <a:avLst/>
              <a:gdLst/>
              <a:ahLst/>
              <a:cxnLst/>
              <a:rect r="r" b="b" t="t" l="l"/>
              <a:pathLst>
                <a:path h="560832" w="3291840">
                  <a:moveTo>
                    <a:pt x="0" y="0"/>
                  </a:moveTo>
                  <a:lnTo>
                    <a:pt x="3291840" y="0"/>
                  </a:lnTo>
                  <a:lnTo>
                    <a:pt x="3291840" y="560832"/>
                  </a:lnTo>
                  <a:lnTo>
                    <a:pt x="0" y="560832"/>
                  </a:lnTo>
                  <a:close/>
                </a:path>
              </a:pathLst>
            </a:custGeom>
            <a:blipFill>
              <a:blip r:embed="rId3">
                <a:alphaModFix amt="0"/>
              </a:blip>
              <a:stretch>
                <a:fillRect l="0" t="-64368" r="0" b="-64368"/>
              </a:stretch>
            </a:blipFill>
          </p:spPr>
        </p:sp>
        <p:sp>
          <p:nvSpPr>
            <p:cNvPr name="TextBox 95" id="95"/>
            <p:cNvSpPr txBox="true"/>
            <p:nvPr/>
          </p:nvSpPr>
          <p:spPr>
            <a:xfrm>
              <a:off x="0" y="-38100"/>
              <a:ext cx="3291840" cy="598932"/>
            </a:xfrm>
            <a:prstGeom prst="rect">
              <a:avLst/>
            </a:prstGeom>
          </p:spPr>
          <p:txBody>
            <a:bodyPr anchor="ctr" rtlCol="false" tIns="0" lIns="0" bIns="0" rIns="0"/>
            <a:lstStyle/>
            <a:p>
              <a:pPr algn="l">
                <a:lnSpc>
                  <a:spcPts val="2280"/>
                </a:lnSpc>
              </a:pPr>
              <a:r>
                <a:rPr lang="en-US" sz="1900" b="true">
                  <a:solidFill>
                    <a:srgbClr val="0D1B3E"/>
                  </a:solidFill>
                  <a:latin typeface="Calibri (MS) Bold"/>
                  <a:ea typeface="Calibri (MS) Bold"/>
                  <a:cs typeface="Calibri (MS) Bold"/>
                  <a:sym typeface="Calibri (MS) Bold"/>
                </a:rPr>
                <a:t>ST</a:t>
              </a:r>
            </a:p>
          </p:txBody>
        </p:sp>
      </p:grpSp>
      <p:grpSp>
        <p:nvGrpSpPr>
          <p:cNvPr name="Group 96" id="96"/>
          <p:cNvGrpSpPr/>
          <p:nvPr/>
        </p:nvGrpSpPr>
        <p:grpSpPr>
          <a:xfrm rot="0">
            <a:off x="3328416" y="7168896"/>
            <a:ext cx="6400800" cy="420624"/>
            <a:chOff x="0" y="0"/>
            <a:chExt cx="8534400" cy="560832"/>
          </a:xfrm>
        </p:grpSpPr>
        <p:sp>
          <p:nvSpPr>
            <p:cNvPr name="Freeform 97" id="97"/>
            <p:cNvSpPr/>
            <p:nvPr/>
          </p:nvSpPr>
          <p:spPr>
            <a:xfrm flipH="false" flipV="false" rot="0">
              <a:off x="0" y="0"/>
              <a:ext cx="8534400" cy="560832"/>
            </a:xfrm>
            <a:custGeom>
              <a:avLst/>
              <a:gdLst/>
              <a:ahLst/>
              <a:cxnLst/>
              <a:rect r="r" b="b" t="t" l="l"/>
              <a:pathLst>
                <a:path h="560832" w="8534400">
                  <a:moveTo>
                    <a:pt x="0" y="0"/>
                  </a:moveTo>
                  <a:lnTo>
                    <a:pt x="8534400" y="0"/>
                  </a:lnTo>
                  <a:lnTo>
                    <a:pt x="8534400" y="560832"/>
                  </a:lnTo>
                  <a:lnTo>
                    <a:pt x="0" y="560832"/>
                  </a:lnTo>
                  <a:close/>
                </a:path>
              </a:pathLst>
            </a:custGeom>
            <a:blipFill>
              <a:blip r:embed="rId3">
                <a:alphaModFix amt="0"/>
              </a:blip>
              <a:stretch>
                <a:fillRect l="0" t="-246511" r="0" b="-246511"/>
              </a:stretch>
            </a:blipFill>
          </p:spPr>
        </p:sp>
        <p:sp>
          <p:nvSpPr>
            <p:cNvPr name="TextBox 98" id="98"/>
            <p:cNvSpPr txBox="true"/>
            <p:nvPr/>
          </p:nvSpPr>
          <p:spPr>
            <a:xfrm>
              <a:off x="0" y="-38100"/>
              <a:ext cx="8534400" cy="598932"/>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Swin Transformer</a:t>
              </a:r>
            </a:p>
          </p:txBody>
        </p:sp>
      </p:grpSp>
      <p:grpSp>
        <p:nvGrpSpPr>
          <p:cNvPr name="Group 99" id="99"/>
          <p:cNvGrpSpPr/>
          <p:nvPr/>
        </p:nvGrpSpPr>
        <p:grpSpPr>
          <a:xfrm rot="0">
            <a:off x="727710" y="7585710"/>
            <a:ext cx="8328660" cy="7620"/>
            <a:chOff x="0" y="0"/>
            <a:chExt cx="11104880" cy="10160"/>
          </a:xfrm>
        </p:grpSpPr>
        <p:sp>
          <p:nvSpPr>
            <p:cNvPr name="Freeform 100" id="100"/>
            <p:cNvSpPr/>
            <p:nvPr/>
          </p:nvSpPr>
          <p:spPr>
            <a:xfrm flipH="false" flipV="false" rot="0">
              <a:off x="5080" y="0"/>
              <a:ext cx="11094720" cy="10160"/>
            </a:xfrm>
            <a:custGeom>
              <a:avLst/>
              <a:gdLst/>
              <a:ahLst/>
              <a:cxnLst/>
              <a:rect r="r" b="b" t="t" l="l"/>
              <a:pathLst>
                <a:path h="10160" w="11094720">
                  <a:moveTo>
                    <a:pt x="0" y="0"/>
                  </a:moveTo>
                  <a:lnTo>
                    <a:pt x="11094720" y="0"/>
                  </a:lnTo>
                  <a:lnTo>
                    <a:pt x="11094720" y="10160"/>
                  </a:lnTo>
                  <a:lnTo>
                    <a:pt x="0" y="10160"/>
                  </a:lnTo>
                  <a:close/>
                </a:path>
              </a:pathLst>
            </a:custGeom>
            <a:solidFill>
              <a:srgbClr val="E2E8F0"/>
            </a:solidFill>
          </p:spPr>
        </p:sp>
      </p:grpSp>
      <p:grpSp>
        <p:nvGrpSpPr>
          <p:cNvPr name="Group 101" id="101"/>
          <p:cNvGrpSpPr/>
          <p:nvPr/>
        </p:nvGrpSpPr>
        <p:grpSpPr>
          <a:xfrm rot="0">
            <a:off x="731520" y="7626096"/>
            <a:ext cx="2468880" cy="420624"/>
            <a:chOff x="0" y="0"/>
            <a:chExt cx="3291840" cy="560832"/>
          </a:xfrm>
        </p:grpSpPr>
        <p:sp>
          <p:nvSpPr>
            <p:cNvPr name="Freeform 102" id="102"/>
            <p:cNvSpPr/>
            <p:nvPr/>
          </p:nvSpPr>
          <p:spPr>
            <a:xfrm flipH="false" flipV="false" rot="0">
              <a:off x="0" y="0"/>
              <a:ext cx="3291840" cy="560832"/>
            </a:xfrm>
            <a:custGeom>
              <a:avLst/>
              <a:gdLst/>
              <a:ahLst/>
              <a:cxnLst/>
              <a:rect r="r" b="b" t="t" l="l"/>
              <a:pathLst>
                <a:path h="560832" w="3291840">
                  <a:moveTo>
                    <a:pt x="0" y="0"/>
                  </a:moveTo>
                  <a:lnTo>
                    <a:pt x="3291840" y="0"/>
                  </a:lnTo>
                  <a:lnTo>
                    <a:pt x="3291840" y="560832"/>
                  </a:lnTo>
                  <a:lnTo>
                    <a:pt x="0" y="560832"/>
                  </a:lnTo>
                  <a:close/>
                </a:path>
              </a:pathLst>
            </a:custGeom>
            <a:blipFill>
              <a:blip r:embed="rId3">
                <a:alphaModFix amt="0"/>
              </a:blip>
              <a:stretch>
                <a:fillRect l="0" t="-64368" r="0" b="-64368"/>
              </a:stretch>
            </a:blipFill>
          </p:spPr>
        </p:sp>
        <p:sp>
          <p:nvSpPr>
            <p:cNvPr name="TextBox 103" id="103"/>
            <p:cNvSpPr txBox="true"/>
            <p:nvPr/>
          </p:nvSpPr>
          <p:spPr>
            <a:xfrm>
              <a:off x="0" y="-38100"/>
              <a:ext cx="3291840" cy="598932"/>
            </a:xfrm>
            <a:prstGeom prst="rect">
              <a:avLst/>
            </a:prstGeom>
          </p:spPr>
          <p:txBody>
            <a:bodyPr anchor="ctr" rtlCol="false" tIns="0" lIns="0" bIns="0" rIns="0"/>
            <a:lstStyle/>
            <a:p>
              <a:pPr algn="l">
                <a:lnSpc>
                  <a:spcPts val="2280"/>
                </a:lnSpc>
              </a:pPr>
              <a:r>
                <a:rPr lang="en-US" sz="1900" b="true">
                  <a:solidFill>
                    <a:srgbClr val="0D1B3E"/>
                  </a:solidFill>
                  <a:latin typeface="Calibri (MS) Bold"/>
                  <a:ea typeface="Calibri (MS) Bold"/>
                  <a:cs typeface="Calibri (MS) Bold"/>
                  <a:sym typeface="Calibri (MS) Bold"/>
                </a:rPr>
                <a:t>SENet</a:t>
              </a:r>
            </a:p>
          </p:txBody>
        </p:sp>
      </p:grpSp>
      <p:grpSp>
        <p:nvGrpSpPr>
          <p:cNvPr name="Group 104" id="104"/>
          <p:cNvGrpSpPr/>
          <p:nvPr/>
        </p:nvGrpSpPr>
        <p:grpSpPr>
          <a:xfrm rot="0">
            <a:off x="3328416" y="7626096"/>
            <a:ext cx="6400800" cy="420624"/>
            <a:chOff x="0" y="0"/>
            <a:chExt cx="8534400" cy="560832"/>
          </a:xfrm>
        </p:grpSpPr>
        <p:sp>
          <p:nvSpPr>
            <p:cNvPr name="Freeform 105" id="105"/>
            <p:cNvSpPr/>
            <p:nvPr/>
          </p:nvSpPr>
          <p:spPr>
            <a:xfrm flipH="false" flipV="false" rot="0">
              <a:off x="0" y="0"/>
              <a:ext cx="8534400" cy="560832"/>
            </a:xfrm>
            <a:custGeom>
              <a:avLst/>
              <a:gdLst/>
              <a:ahLst/>
              <a:cxnLst/>
              <a:rect r="r" b="b" t="t" l="l"/>
              <a:pathLst>
                <a:path h="560832" w="8534400">
                  <a:moveTo>
                    <a:pt x="0" y="0"/>
                  </a:moveTo>
                  <a:lnTo>
                    <a:pt x="8534400" y="0"/>
                  </a:lnTo>
                  <a:lnTo>
                    <a:pt x="8534400" y="560832"/>
                  </a:lnTo>
                  <a:lnTo>
                    <a:pt x="0" y="560832"/>
                  </a:lnTo>
                  <a:close/>
                </a:path>
              </a:pathLst>
            </a:custGeom>
            <a:blipFill>
              <a:blip r:embed="rId3">
                <a:alphaModFix amt="0"/>
              </a:blip>
              <a:stretch>
                <a:fillRect l="0" t="-246511" r="0" b="-246511"/>
              </a:stretch>
            </a:blipFill>
          </p:spPr>
        </p:sp>
        <p:sp>
          <p:nvSpPr>
            <p:cNvPr name="TextBox 106" id="106"/>
            <p:cNvSpPr txBox="true"/>
            <p:nvPr/>
          </p:nvSpPr>
          <p:spPr>
            <a:xfrm>
              <a:off x="0" y="-38100"/>
              <a:ext cx="8534400" cy="598932"/>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Squeeze-and-Excitation Network</a:t>
              </a:r>
            </a:p>
          </p:txBody>
        </p:sp>
      </p:grpSp>
      <p:grpSp>
        <p:nvGrpSpPr>
          <p:cNvPr name="Group 107" id="107"/>
          <p:cNvGrpSpPr/>
          <p:nvPr/>
        </p:nvGrpSpPr>
        <p:grpSpPr>
          <a:xfrm rot="0">
            <a:off x="727710" y="8042910"/>
            <a:ext cx="8328660" cy="7620"/>
            <a:chOff x="0" y="0"/>
            <a:chExt cx="11104880" cy="10160"/>
          </a:xfrm>
        </p:grpSpPr>
        <p:sp>
          <p:nvSpPr>
            <p:cNvPr name="Freeform 108" id="108"/>
            <p:cNvSpPr/>
            <p:nvPr/>
          </p:nvSpPr>
          <p:spPr>
            <a:xfrm flipH="false" flipV="false" rot="0">
              <a:off x="5080" y="0"/>
              <a:ext cx="11094720" cy="10160"/>
            </a:xfrm>
            <a:custGeom>
              <a:avLst/>
              <a:gdLst/>
              <a:ahLst/>
              <a:cxnLst/>
              <a:rect r="r" b="b" t="t" l="l"/>
              <a:pathLst>
                <a:path h="10160" w="11094720">
                  <a:moveTo>
                    <a:pt x="0" y="0"/>
                  </a:moveTo>
                  <a:lnTo>
                    <a:pt x="11094720" y="0"/>
                  </a:lnTo>
                  <a:lnTo>
                    <a:pt x="11094720" y="10160"/>
                  </a:lnTo>
                  <a:lnTo>
                    <a:pt x="0" y="10160"/>
                  </a:lnTo>
                  <a:close/>
                </a:path>
              </a:pathLst>
            </a:custGeom>
            <a:solidFill>
              <a:srgbClr val="E2E8F0"/>
            </a:solidFill>
          </p:spPr>
        </p:sp>
      </p:grpSp>
      <p:grpSp>
        <p:nvGrpSpPr>
          <p:cNvPr name="Group 109" id="109"/>
          <p:cNvGrpSpPr/>
          <p:nvPr/>
        </p:nvGrpSpPr>
        <p:grpSpPr>
          <a:xfrm rot="0">
            <a:off x="731520" y="8083296"/>
            <a:ext cx="2468880" cy="420624"/>
            <a:chOff x="0" y="0"/>
            <a:chExt cx="3291840" cy="560832"/>
          </a:xfrm>
        </p:grpSpPr>
        <p:sp>
          <p:nvSpPr>
            <p:cNvPr name="Freeform 110" id="110"/>
            <p:cNvSpPr/>
            <p:nvPr/>
          </p:nvSpPr>
          <p:spPr>
            <a:xfrm flipH="false" flipV="false" rot="0">
              <a:off x="0" y="0"/>
              <a:ext cx="3291840" cy="560832"/>
            </a:xfrm>
            <a:custGeom>
              <a:avLst/>
              <a:gdLst/>
              <a:ahLst/>
              <a:cxnLst/>
              <a:rect r="r" b="b" t="t" l="l"/>
              <a:pathLst>
                <a:path h="560832" w="3291840">
                  <a:moveTo>
                    <a:pt x="0" y="0"/>
                  </a:moveTo>
                  <a:lnTo>
                    <a:pt x="3291840" y="0"/>
                  </a:lnTo>
                  <a:lnTo>
                    <a:pt x="3291840" y="560832"/>
                  </a:lnTo>
                  <a:lnTo>
                    <a:pt x="0" y="560832"/>
                  </a:lnTo>
                  <a:close/>
                </a:path>
              </a:pathLst>
            </a:custGeom>
            <a:blipFill>
              <a:blip r:embed="rId3">
                <a:alphaModFix amt="0"/>
              </a:blip>
              <a:stretch>
                <a:fillRect l="0" t="-64368" r="0" b="-64368"/>
              </a:stretch>
            </a:blipFill>
          </p:spPr>
        </p:sp>
        <p:sp>
          <p:nvSpPr>
            <p:cNvPr name="TextBox 111" id="111"/>
            <p:cNvSpPr txBox="true"/>
            <p:nvPr/>
          </p:nvSpPr>
          <p:spPr>
            <a:xfrm>
              <a:off x="0" y="-38100"/>
              <a:ext cx="3291840" cy="598932"/>
            </a:xfrm>
            <a:prstGeom prst="rect">
              <a:avLst/>
            </a:prstGeom>
          </p:spPr>
          <p:txBody>
            <a:bodyPr anchor="ctr" rtlCol="false" tIns="0" lIns="0" bIns="0" rIns="0"/>
            <a:lstStyle/>
            <a:p>
              <a:pPr algn="l">
                <a:lnSpc>
                  <a:spcPts val="2280"/>
                </a:lnSpc>
              </a:pPr>
              <a:r>
                <a:rPr lang="en-US" sz="1900" b="true">
                  <a:solidFill>
                    <a:srgbClr val="0D1B3E"/>
                  </a:solidFill>
                  <a:latin typeface="Calibri (MS) Bold"/>
                  <a:ea typeface="Calibri (MS) Bold"/>
                  <a:cs typeface="Calibri (MS) Bold"/>
                  <a:sym typeface="Calibri (MS) Bold"/>
                </a:rPr>
                <a:t>MLP</a:t>
              </a:r>
            </a:p>
          </p:txBody>
        </p:sp>
      </p:grpSp>
      <p:grpSp>
        <p:nvGrpSpPr>
          <p:cNvPr name="Group 112" id="112"/>
          <p:cNvGrpSpPr/>
          <p:nvPr/>
        </p:nvGrpSpPr>
        <p:grpSpPr>
          <a:xfrm rot="0">
            <a:off x="3328416" y="8083296"/>
            <a:ext cx="6400800" cy="420624"/>
            <a:chOff x="0" y="0"/>
            <a:chExt cx="8534400" cy="560832"/>
          </a:xfrm>
        </p:grpSpPr>
        <p:sp>
          <p:nvSpPr>
            <p:cNvPr name="Freeform 113" id="113"/>
            <p:cNvSpPr/>
            <p:nvPr/>
          </p:nvSpPr>
          <p:spPr>
            <a:xfrm flipH="false" flipV="false" rot="0">
              <a:off x="0" y="0"/>
              <a:ext cx="8534400" cy="560832"/>
            </a:xfrm>
            <a:custGeom>
              <a:avLst/>
              <a:gdLst/>
              <a:ahLst/>
              <a:cxnLst/>
              <a:rect r="r" b="b" t="t" l="l"/>
              <a:pathLst>
                <a:path h="560832" w="8534400">
                  <a:moveTo>
                    <a:pt x="0" y="0"/>
                  </a:moveTo>
                  <a:lnTo>
                    <a:pt x="8534400" y="0"/>
                  </a:lnTo>
                  <a:lnTo>
                    <a:pt x="8534400" y="560832"/>
                  </a:lnTo>
                  <a:lnTo>
                    <a:pt x="0" y="560832"/>
                  </a:lnTo>
                  <a:close/>
                </a:path>
              </a:pathLst>
            </a:custGeom>
            <a:blipFill>
              <a:blip r:embed="rId3">
                <a:alphaModFix amt="0"/>
              </a:blip>
              <a:stretch>
                <a:fillRect l="0" t="-246511" r="0" b="-246511"/>
              </a:stretch>
            </a:blipFill>
          </p:spPr>
        </p:sp>
        <p:sp>
          <p:nvSpPr>
            <p:cNvPr name="TextBox 114" id="114"/>
            <p:cNvSpPr txBox="true"/>
            <p:nvPr/>
          </p:nvSpPr>
          <p:spPr>
            <a:xfrm>
              <a:off x="0" y="-38100"/>
              <a:ext cx="8534400" cy="598932"/>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Multi-Layer Perceptron</a:t>
              </a:r>
            </a:p>
          </p:txBody>
        </p:sp>
      </p:grpSp>
      <p:grpSp>
        <p:nvGrpSpPr>
          <p:cNvPr name="Group 115" id="115"/>
          <p:cNvGrpSpPr/>
          <p:nvPr/>
        </p:nvGrpSpPr>
        <p:grpSpPr>
          <a:xfrm rot="0">
            <a:off x="727710" y="8500110"/>
            <a:ext cx="8328660" cy="7620"/>
            <a:chOff x="0" y="0"/>
            <a:chExt cx="11104880" cy="10160"/>
          </a:xfrm>
        </p:grpSpPr>
        <p:sp>
          <p:nvSpPr>
            <p:cNvPr name="Freeform 116" id="116"/>
            <p:cNvSpPr/>
            <p:nvPr/>
          </p:nvSpPr>
          <p:spPr>
            <a:xfrm flipH="false" flipV="false" rot="0">
              <a:off x="5080" y="0"/>
              <a:ext cx="11094720" cy="10160"/>
            </a:xfrm>
            <a:custGeom>
              <a:avLst/>
              <a:gdLst/>
              <a:ahLst/>
              <a:cxnLst/>
              <a:rect r="r" b="b" t="t" l="l"/>
              <a:pathLst>
                <a:path h="10160" w="11094720">
                  <a:moveTo>
                    <a:pt x="0" y="0"/>
                  </a:moveTo>
                  <a:lnTo>
                    <a:pt x="11094720" y="0"/>
                  </a:lnTo>
                  <a:lnTo>
                    <a:pt x="11094720" y="10160"/>
                  </a:lnTo>
                  <a:lnTo>
                    <a:pt x="0" y="10160"/>
                  </a:lnTo>
                  <a:close/>
                </a:path>
              </a:pathLst>
            </a:custGeom>
            <a:solidFill>
              <a:srgbClr val="E2E8F0"/>
            </a:solidFill>
          </p:spPr>
        </p:sp>
      </p:grpSp>
      <p:grpSp>
        <p:nvGrpSpPr>
          <p:cNvPr name="Group 117" id="117"/>
          <p:cNvGrpSpPr/>
          <p:nvPr/>
        </p:nvGrpSpPr>
        <p:grpSpPr>
          <a:xfrm rot="0">
            <a:off x="731520" y="8540496"/>
            <a:ext cx="2468880" cy="420624"/>
            <a:chOff x="0" y="0"/>
            <a:chExt cx="3291840" cy="560832"/>
          </a:xfrm>
        </p:grpSpPr>
        <p:sp>
          <p:nvSpPr>
            <p:cNvPr name="Freeform 118" id="118"/>
            <p:cNvSpPr/>
            <p:nvPr/>
          </p:nvSpPr>
          <p:spPr>
            <a:xfrm flipH="false" flipV="false" rot="0">
              <a:off x="0" y="0"/>
              <a:ext cx="3291840" cy="560832"/>
            </a:xfrm>
            <a:custGeom>
              <a:avLst/>
              <a:gdLst/>
              <a:ahLst/>
              <a:cxnLst/>
              <a:rect r="r" b="b" t="t" l="l"/>
              <a:pathLst>
                <a:path h="560832" w="3291840">
                  <a:moveTo>
                    <a:pt x="0" y="0"/>
                  </a:moveTo>
                  <a:lnTo>
                    <a:pt x="3291840" y="0"/>
                  </a:lnTo>
                  <a:lnTo>
                    <a:pt x="3291840" y="560832"/>
                  </a:lnTo>
                  <a:lnTo>
                    <a:pt x="0" y="560832"/>
                  </a:lnTo>
                  <a:close/>
                </a:path>
              </a:pathLst>
            </a:custGeom>
            <a:blipFill>
              <a:blip r:embed="rId3">
                <a:alphaModFix amt="0"/>
              </a:blip>
              <a:stretch>
                <a:fillRect l="0" t="-64368" r="0" b="-64368"/>
              </a:stretch>
            </a:blipFill>
          </p:spPr>
        </p:sp>
        <p:sp>
          <p:nvSpPr>
            <p:cNvPr name="TextBox 119" id="119"/>
            <p:cNvSpPr txBox="true"/>
            <p:nvPr/>
          </p:nvSpPr>
          <p:spPr>
            <a:xfrm>
              <a:off x="0" y="-38100"/>
              <a:ext cx="3291840" cy="598932"/>
            </a:xfrm>
            <a:prstGeom prst="rect">
              <a:avLst/>
            </a:prstGeom>
          </p:spPr>
          <p:txBody>
            <a:bodyPr anchor="ctr" rtlCol="false" tIns="0" lIns="0" bIns="0" rIns="0"/>
            <a:lstStyle/>
            <a:p>
              <a:pPr algn="l">
                <a:lnSpc>
                  <a:spcPts val="2280"/>
                </a:lnSpc>
              </a:pPr>
              <a:r>
                <a:rPr lang="en-US" sz="1900" b="true">
                  <a:solidFill>
                    <a:srgbClr val="0D1B3E"/>
                  </a:solidFill>
                  <a:latin typeface="Calibri (MS) Bold"/>
                  <a:ea typeface="Calibri (MS) Bold"/>
                  <a:cs typeface="Calibri (MS) Bold"/>
                  <a:sym typeface="Calibri (MS) Bold"/>
                </a:rPr>
                <a:t>BN</a:t>
              </a:r>
            </a:p>
          </p:txBody>
        </p:sp>
      </p:grpSp>
      <p:grpSp>
        <p:nvGrpSpPr>
          <p:cNvPr name="Group 120" id="120"/>
          <p:cNvGrpSpPr/>
          <p:nvPr/>
        </p:nvGrpSpPr>
        <p:grpSpPr>
          <a:xfrm rot="0">
            <a:off x="3328416" y="8540496"/>
            <a:ext cx="6400800" cy="420624"/>
            <a:chOff x="0" y="0"/>
            <a:chExt cx="8534400" cy="560832"/>
          </a:xfrm>
        </p:grpSpPr>
        <p:sp>
          <p:nvSpPr>
            <p:cNvPr name="Freeform 121" id="121"/>
            <p:cNvSpPr/>
            <p:nvPr/>
          </p:nvSpPr>
          <p:spPr>
            <a:xfrm flipH="false" flipV="false" rot="0">
              <a:off x="0" y="0"/>
              <a:ext cx="8534400" cy="560832"/>
            </a:xfrm>
            <a:custGeom>
              <a:avLst/>
              <a:gdLst/>
              <a:ahLst/>
              <a:cxnLst/>
              <a:rect r="r" b="b" t="t" l="l"/>
              <a:pathLst>
                <a:path h="560832" w="8534400">
                  <a:moveTo>
                    <a:pt x="0" y="0"/>
                  </a:moveTo>
                  <a:lnTo>
                    <a:pt x="8534400" y="0"/>
                  </a:lnTo>
                  <a:lnTo>
                    <a:pt x="8534400" y="560832"/>
                  </a:lnTo>
                  <a:lnTo>
                    <a:pt x="0" y="560832"/>
                  </a:lnTo>
                  <a:close/>
                </a:path>
              </a:pathLst>
            </a:custGeom>
            <a:blipFill>
              <a:blip r:embed="rId3">
                <a:alphaModFix amt="0"/>
              </a:blip>
              <a:stretch>
                <a:fillRect l="0" t="-246511" r="0" b="-246511"/>
              </a:stretch>
            </a:blipFill>
          </p:spPr>
        </p:sp>
        <p:sp>
          <p:nvSpPr>
            <p:cNvPr name="TextBox 122" id="122"/>
            <p:cNvSpPr txBox="true"/>
            <p:nvPr/>
          </p:nvSpPr>
          <p:spPr>
            <a:xfrm>
              <a:off x="0" y="-38100"/>
              <a:ext cx="8534400" cy="598932"/>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Batch Normalization</a:t>
              </a:r>
            </a:p>
          </p:txBody>
        </p:sp>
      </p:grpSp>
      <p:grpSp>
        <p:nvGrpSpPr>
          <p:cNvPr name="Group 123" id="123"/>
          <p:cNvGrpSpPr/>
          <p:nvPr/>
        </p:nvGrpSpPr>
        <p:grpSpPr>
          <a:xfrm rot="0">
            <a:off x="727710" y="8957310"/>
            <a:ext cx="8328660" cy="7620"/>
            <a:chOff x="0" y="0"/>
            <a:chExt cx="11104880" cy="10160"/>
          </a:xfrm>
        </p:grpSpPr>
        <p:sp>
          <p:nvSpPr>
            <p:cNvPr name="Freeform 124" id="124"/>
            <p:cNvSpPr/>
            <p:nvPr/>
          </p:nvSpPr>
          <p:spPr>
            <a:xfrm flipH="false" flipV="false" rot="0">
              <a:off x="5080" y="0"/>
              <a:ext cx="11094720" cy="10160"/>
            </a:xfrm>
            <a:custGeom>
              <a:avLst/>
              <a:gdLst/>
              <a:ahLst/>
              <a:cxnLst/>
              <a:rect r="r" b="b" t="t" l="l"/>
              <a:pathLst>
                <a:path h="10160" w="11094720">
                  <a:moveTo>
                    <a:pt x="0" y="0"/>
                  </a:moveTo>
                  <a:lnTo>
                    <a:pt x="11094720" y="0"/>
                  </a:lnTo>
                  <a:lnTo>
                    <a:pt x="11094720" y="10160"/>
                  </a:lnTo>
                  <a:lnTo>
                    <a:pt x="0" y="10160"/>
                  </a:lnTo>
                  <a:close/>
                </a:path>
              </a:pathLst>
            </a:custGeom>
            <a:solidFill>
              <a:srgbClr val="E2E8F0"/>
            </a:solidFill>
          </p:spPr>
        </p:sp>
      </p:grpSp>
      <p:grpSp>
        <p:nvGrpSpPr>
          <p:cNvPr name="Group 125" id="125"/>
          <p:cNvGrpSpPr/>
          <p:nvPr/>
        </p:nvGrpSpPr>
        <p:grpSpPr>
          <a:xfrm rot="0">
            <a:off x="731520" y="8997696"/>
            <a:ext cx="2468880" cy="420624"/>
            <a:chOff x="0" y="0"/>
            <a:chExt cx="3291840" cy="560832"/>
          </a:xfrm>
        </p:grpSpPr>
        <p:sp>
          <p:nvSpPr>
            <p:cNvPr name="Freeform 126" id="126"/>
            <p:cNvSpPr/>
            <p:nvPr/>
          </p:nvSpPr>
          <p:spPr>
            <a:xfrm flipH="false" flipV="false" rot="0">
              <a:off x="0" y="0"/>
              <a:ext cx="3291840" cy="560832"/>
            </a:xfrm>
            <a:custGeom>
              <a:avLst/>
              <a:gdLst/>
              <a:ahLst/>
              <a:cxnLst/>
              <a:rect r="r" b="b" t="t" l="l"/>
              <a:pathLst>
                <a:path h="560832" w="3291840">
                  <a:moveTo>
                    <a:pt x="0" y="0"/>
                  </a:moveTo>
                  <a:lnTo>
                    <a:pt x="3291840" y="0"/>
                  </a:lnTo>
                  <a:lnTo>
                    <a:pt x="3291840" y="560832"/>
                  </a:lnTo>
                  <a:lnTo>
                    <a:pt x="0" y="560832"/>
                  </a:lnTo>
                  <a:close/>
                </a:path>
              </a:pathLst>
            </a:custGeom>
            <a:blipFill>
              <a:blip r:embed="rId3">
                <a:alphaModFix amt="0"/>
              </a:blip>
              <a:stretch>
                <a:fillRect l="0" t="-64368" r="0" b="-64368"/>
              </a:stretch>
            </a:blipFill>
          </p:spPr>
        </p:sp>
        <p:sp>
          <p:nvSpPr>
            <p:cNvPr name="TextBox 127" id="127"/>
            <p:cNvSpPr txBox="true"/>
            <p:nvPr/>
          </p:nvSpPr>
          <p:spPr>
            <a:xfrm>
              <a:off x="0" y="-38100"/>
              <a:ext cx="3291840" cy="598932"/>
            </a:xfrm>
            <a:prstGeom prst="rect">
              <a:avLst/>
            </a:prstGeom>
          </p:spPr>
          <p:txBody>
            <a:bodyPr anchor="ctr" rtlCol="false" tIns="0" lIns="0" bIns="0" rIns="0"/>
            <a:lstStyle/>
            <a:p>
              <a:pPr algn="l">
                <a:lnSpc>
                  <a:spcPts val="2280"/>
                </a:lnSpc>
              </a:pPr>
              <a:r>
                <a:rPr lang="en-US" sz="1900" b="true">
                  <a:solidFill>
                    <a:srgbClr val="0D1B3E"/>
                  </a:solidFill>
                  <a:latin typeface="Calibri (MS) Bold"/>
                  <a:ea typeface="Calibri (MS) Bold"/>
                  <a:cs typeface="Calibri (MS) Bold"/>
                  <a:sym typeface="Calibri (MS) Bold"/>
                </a:rPr>
                <a:t>DW-conv</a:t>
              </a:r>
            </a:p>
          </p:txBody>
        </p:sp>
      </p:grpSp>
      <p:grpSp>
        <p:nvGrpSpPr>
          <p:cNvPr name="Group 128" id="128"/>
          <p:cNvGrpSpPr/>
          <p:nvPr/>
        </p:nvGrpSpPr>
        <p:grpSpPr>
          <a:xfrm rot="0">
            <a:off x="3328416" y="8997696"/>
            <a:ext cx="6400800" cy="420624"/>
            <a:chOff x="0" y="0"/>
            <a:chExt cx="8534400" cy="560832"/>
          </a:xfrm>
        </p:grpSpPr>
        <p:sp>
          <p:nvSpPr>
            <p:cNvPr name="Freeform 129" id="129"/>
            <p:cNvSpPr/>
            <p:nvPr/>
          </p:nvSpPr>
          <p:spPr>
            <a:xfrm flipH="false" flipV="false" rot="0">
              <a:off x="0" y="0"/>
              <a:ext cx="8534400" cy="560832"/>
            </a:xfrm>
            <a:custGeom>
              <a:avLst/>
              <a:gdLst/>
              <a:ahLst/>
              <a:cxnLst/>
              <a:rect r="r" b="b" t="t" l="l"/>
              <a:pathLst>
                <a:path h="560832" w="8534400">
                  <a:moveTo>
                    <a:pt x="0" y="0"/>
                  </a:moveTo>
                  <a:lnTo>
                    <a:pt x="8534400" y="0"/>
                  </a:lnTo>
                  <a:lnTo>
                    <a:pt x="8534400" y="560832"/>
                  </a:lnTo>
                  <a:lnTo>
                    <a:pt x="0" y="560832"/>
                  </a:lnTo>
                  <a:close/>
                </a:path>
              </a:pathLst>
            </a:custGeom>
            <a:blipFill>
              <a:blip r:embed="rId3">
                <a:alphaModFix amt="0"/>
              </a:blip>
              <a:stretch>
                <a:fillRect l="0" t="-246511" r="0" b="-246511"/>
              </a:stretch>
            </a:blipFill>
          </p:spPr>
        </p:sp>
        <p:sp>
          <p:nvSpPr>
            <p:cNvPr name="TextBox 130" id="130"/>
            <p:cNvSpPr txBox="true"/>
            <p:nvPr/>
          </p:nvSpPr>
          <p:spPr>
            <a:xfrm>
              <a:off x="0" y="-38100"/>
              <a:ext cx="8534400" cy="598932"/>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Depthwise Separable Convolution</a:t>
              </a:r>
            </a:p>
          </p:txBody>
        </p:sp>
      </p:grpSp>
      <p:grpSp>
        <p:nvGrpSpPr>
          <p:cNvPr name="Group 131" id="131"/>
          <p:cNvGrpSpPr/>
          <p:nvPr/>
        </p:nvGrpSpPr>
        <p:grpSpPr>
          <a:xfrm rot="0">
            <a:off x="727710" y="9414510"/>
            <a:ext cx="8328660" cy="7620"/>
            <a:chOff x="0" y="0"/>
            <a:chExt cx="11104880" cy="10160"/>
          </a:xfrm>
        </p:grpSpPr>
        <p:sp>
          <p:nvSpPr>
            <p:cNvPr name="Freeform 132" id="132"/>
            <p:cNvSpPr/>
            <p:nvPr/>
          </p:nvSpPr>
          <p:spPr>
            <a:xfrm flipH="false" flipV="false" rot="0">
              <a:off x="5080" y="0"/>
              <a:ext cx="11094720" cy="10160"/>
            </a:xfrm>
            <a:custGeom>
              <a:avLst/>
              <a:gdLst/>
              <a:ahLst/>
              <a:cxnLst/>
              <a:rect r="r" b="b" t="t" l="l"/>
              <a:pathLst>
                <a:path h="10160" w="11094720">
                  <a:moveTo>
                    <a:pt x="0" y="0"/>
                  </a:moveTo>
                  <a:lnTo>
                    <a:pt x="11094720" y="0"/>
                  </a:lnTo>
                  <a:lnTo>
                    <a:pt x="11094720" y="10160"/>
                  </a:lnTo>
                  <a:lnTo>
                    <a:pt x="0" y="10160"/>
                  </a:lnTo>
                  <a:close/>
                </a:path>
              </a:pathLst>
            </a:custGeom>
            <a:solidFill>
              <a:srgbClr val="E2E8F0"/>
            </a:solidFill>
          </p:spPr>
        </p:sp>
      </p:grpSp>
      <p:grpSp>
        <p:nvGrpSpPr>
          <p:cNvPr name="Group 133" id="133"/>
          <p:cNvGrpSpPr/>
          <p:nvPr/>
        </p:nvGrpSpPr>
        <p:grpSpPr>
          <a:xfrm rot="0">
            <a:off x="731520" y="9454896"/>
            <a:ext cx="2468880" cy="420624"/>
            <a:chOff x="0" y="0"/>
            <a:chExt cx="3291840" cy="560832"/>
          </a:xfrm>
        </p:grpSpPr>
        <p:sp>
          <p:nvSpPr>
            <p:cNvPr name="Freeform 134" id="134"/>
            <p:cNvSpPr/>
            <p:nvPr/>
          </p:nvSpPr>
          <p:spPr>
            <a:xfrm flipH="false" flipV="false" rot="0">
              <a:off x="0" y="0"/>
              <a:ext cx="3291840" cy="560832"/>
            </a:xfrm>
            <a:custGeom>
              <a:avLst/>
              <a:gdLst/>
              <a:ahLst/>
              <a:cxnLst/>
              <a:rect r="r" b="b" t="t" l="l"/>
              <a:pathLst>
                <a:path h="560832" w="3291840">
                  <a:moveTo>
                    <a:pt x="0" y="0"/>
                  </a:moveTo>
                  <a:lnTo>
                    <a:pt x="3291840" y="0"/>
                  </a:lnTo>
                  <a:lnTo>
                    <a:pt x="3291840" y="560832"/>
                  </a:lnTo>
                  <a:lnTo>
                    <a:pt x="0" y="560832"/>
                  </a:lnTo>
                  <a:close/>
                </a:path>
              </a:pathLst>
            </a:custGeom>
            <a:blipFill>
              <a:blip r:embed="rId3">
                <a:alphaModFix amt="0"/>
              </a:blip>
              <a:stretch>
                <a:fillRect l="0" t="-64368" r="0" b="-64368"/>
              </a:stretch>
            </a:blipFill>
          </p:spPr>
        </p:sp>
        <p:sp>
          <p:nvSpPr>
            <p:cNvPr name="TextBox 135" id="135"/>
            <p:cNvSpPr txBox="true"/>
            <p:nvPr/>
          </p:nvSpPr>
          <p:spPr>
            <a:xfrm>
              <a:off x="0" y="-38100"/>
              <a:ext cx="3291840" cy="598932"/>
            </a:xfrm>
            <a:prstGeom prst="rect">
              <a:avLst/>
            </a:prstGeom>
          </p:spPr>
          <p:txBody>
            <a:bodyPr anchor="ctr" rtlCol="false" tIns="0" lIns="0" bIns="0" rIns="0"/>
            <a:lstStyle/>
            <a:p>
              <a:pPr algn="l">
                <a:lnSpc>
                  <a:spcPts val="2280"/>
                </a:lnSpc>
              </a:pPr>
              <a:r>
                <a:rPr lang="en-US" sz="1900" b="true">
                  <a:solidFill>
                    <a:srgbClr val="0D1B3E"/>
                  </a:solidFill>
                  <a:latin typeface="Calibri (MS) Bold"/>
                  <a:ea typeface="Calibri (MS) Bold"/>
                  <a:cs typeface="Calibri (MS) Bold"/>
                  <a:sym typeface="Calibri (MS) Bold"/>
                </a:rPr>
                <a:t>Q/K/V</a:t>
              </a:r>
            </a:p>
          </p:txBody>
        </p:sp>
      </p:grpSp>
      <p:grpSp>
        <p:nvGrpSpPr>
          <p:cNvPr name="Group 136" id="136"/>
          <p:cNvGrpSpPr/>
          <p:nvPr/>
        </p:nvGrpSpPr>
        <p:grpSpPr>
          <a:xfrm rot="0">
            <a:off x="3328416" y="9454896"/>
            <a:ext cx="6400800" cy="420624"/>
            <a:chOff x="0" y="0"/>
            <a:chExt cx="8534400" cy="560832"/>
          </a:xfrm>
        </p:grpSpPr>
        <p:sp>
          <p:nvSpPr>
            <p:cNvPr name="Freeform 137" id="137"/>
            <p:cNvSpPr/>
            <p:nvPr/>
          </p:nvSpPr>
          <p:spPr>
            <a:xfrm flipH="false" flipV="false" rot="0">
              <a:off x="0" y="0"/>
              <a:ext cx="8534400" cy="560832"/>
            </a:xfrm>
            <a:custGeom>
              <a:avLst/>
              <a:gdLst/>
              <a:ahLst/>
              <a:cxnLst/>
              <a:rect r="r" b="b" t="t" l="l"/>
              <a:pathLst>
                <a:path h="560832" w="8534400">
                  <a:moveTo>
                    <a:pt x="0" y="0"/>
                  </a:moveTo>
                  <a:lnTo>
                    <a:pt x="8534400" y="0"/>
                  </a:lnTo>
                  <a:lnTo>
                    <a:pt x="8534400" y="560832"/>
                  </a:lnTo>
                  <a:lnTo>
                    <a:pt x="0" y="560832"/>
                  </a:lnTo>
                  <a:close/>
                </a:path>
              </a:pathLst>
            </a:custGeom>
            <a:blipFill>
              <a:blip r:embed="rId3">
                <a:alphaModFix amt="0"/>
              </a:blip>
              <a:stretch>
                <a:fillRect l="0" t="-246511" r="0" b="-246511"/>
              </a:stretch>
            </a:blipFill>
          </p:spPr>
        </p:sp>
        <p:sp>
          <p:nvSpPr>
            <p:cNvPr name="TextBox 138" id="138"/>
            <p:cNvSpPr txBox="true"/>
            <p:nvPr/>
          </p:nvSpPr>
          <p:spPr>
            <a:xfrm>
              <a:off x="0" y="-38100"/>
              <a:ext cx="8534400" cy="598932"/>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Query / Key / Value (attention projections)</a:t>
              </a:r>
            </a:p>
          </p:txBody>
        </p:sp>
      </p:grpSp>
      <p:grpSp>
        <p:nvGrpSpPr>
          <p:cNvPr name="Group 139" id="139"/>
          <p:cNvGrpSpPr/>
          <p:nvPr/>
        </p:nvGrpSpPr>
        <p:grpSpPr>
          <a:xfrm rot="0">
            <a:off x="727710" y="9871710"/>
            <a:ext cx="8328660" cy="7620"/>
            <a:chOff x="0" y="0"/>
            <a:chExt cx="11104880" cy="10160"/>
          </a:xfrm>
        </p:grpSpPr>
        <p:sp>
          <p:nvSpPr>
            <p:cNvPr name="Freeform 140" id="140"/>
            <p:cNvSpPr/>
            <p:nvPr/>
          </p:nvSpPr>
          <p:spPr>
            <a:xfrm flipH="false" flipV="false" rot="0">
              <a:off x="5080" y="0"/>
              <a:ext cx="11094720" cy="10160"/>
            </a:xfrm>
            <a:custGeom>
              <a:avLst/>
              <a:gdLst/>
              <a:ahLst/>
              <a:cxnLst/>
              <a:rect r="r" b="b" t="t" l="l"/>
              <a:pathLst>
                <a:path h="10160" w="11094720">
                  <a:moveTo>
                    <a:pt x="0" y="0"/>
                  </a:moveTo>
                  <a:lnTo>
                    <a:pt x="11094720" y="0"/>
                  </a:lnTo>
                  <a:lnTo>
                    <a:pt x="11094720" y="10160"/>
                  </a:lnTo>
                  <a:lnTo>
                    <a:pt x="0" y="10160"/>
                  </a:lnTo>
                  <a:close/>
                </a:path>
              </a:pathLst>
            </a:custGeom>
            <a:solidFill>
              <a:srgbClr val="E2E8F0"/>
            </a:solidFill>
          </p:spPr>
        </p:sp>
      </p:grpSp>
      <p:grpSp>
        <p:nvGrpSpPr>
          <p:cNvPr name="Group 141" id="141"/>
          <p:cNvGrpSpPr/>
          <p:nvPr/>
        </p:nvGrpSpPr>
        <p:grpSpPr>
          <a:xfrm rot="0">
            <a:off x="731520" y="9912096"/>
            <a:ext cx="2468880" cy="420624"/>
            <a:chOff x="0" y="0"/>
            <a:chExt cx="3291840" cy="560832"/>
          </a:xfrm>
        </p:grpSpPr>
        <p:sp>
          <p:nvSpPr>
            <p:cNvPr name="Freeform 142" id="142"/>
            <p:cNvSpPr/>
            <p:nvPr/>
          </p:nvSpPr>
          <p:spPr>
            <a:xfrm flipH="false" flipV="false" rot="0">
              <a:off x="0" y="0"/>
              <a:ext cx="3291840" cy="560832"/>
            </a:xfrm>
            <a:custGeom>
              <a:avLst/>
              <a:gdLst/>
              <a:ahLst/>
              <a:cxnLst/>
              <a:rect r="r" b="b" t="t" l="l"/>
              <a:pathLst>
                <a:path h="560832" w="3291840">
                  <a:moveTo>
                    <a:pt x="0" y="0"/>
                  </a:moveTo>
                  <a:lnTo>
                    <a:pt x="3291840" y="0"/>
                  </a:lnTo>
                  <a:lnTo>
                    <a:pt x="3291840" y="560832"/>
                  </a:lnTo>
                  <a:lnTo>
                    <a:pt x="0" y="560832"/>
                  </a:lnTo>
                  <a:close/>
                </a:path>
              </a:pathLst>
            </a:custGeom>
            <a:blipFill>
              <a:blip r:embed="rId3">
                <a:alphaModFix amt="0"/>
              </a:blip>
              <a:stretch>
                <a:fillRect l="0" t="-64368" r="0" b="-64368"/>
              </a:stretch>
            </a:blipFill>
          </p:spPr>
        </p:sp>
        <p:sp>
          <p:nvSpPr>
            <p:cNvPr name="TextBox 143" id="143"/>
            <p:cNvSpPr txBox="true"/>
            <p:nvPr/>
          </p:nvSpPr>
          <p:spPr>
            <a:xfrm>
              <a:off x="0" y="-38100"/>
              <a:ext cx="3291840" cy="598932"/>
            </a:xfrm>
            <a:prstGeom prst="rect">
              <a:avLst/>
            </a:prstGeom>
          </p:spPr>
          <p:txBody>
            <a:bodyPr anchor="ctr" rtlCol="false" tIns="0" lIns="0" bIns="0" rIns="0"/>
            <a:lstStyle/>
            <a:p>
              <a:pPr algn="l">
                <a:lnSpc>
                  <a:spcPts val="2280"/>
                </a:lnSpc>
              </a:pPr>
              <a:r>
                <a:rPr lang="en-US" sz="1900" b="true">
                  <a:solidFill>
                    <a:srgbClr val="0D1B3E"/>
                  </a:solidFill>
                  <a:latin typeface="Calibri (MS) Bold"/>
                  <a:ea typeface="Calibri (MS) Bold"/>
                  <a:cs typeface="Calibri (MS) Bold"/>
                  <a:sym typeface="Calibri (MS) Bold"/>
                </a:rPr>
                <a:t>GloVe</a:t>
              </a:r>
            </a:p>
          </p:txBody>
        </p:sp>
      </p:grpSp>
      <p:grpSp>
        <p:nvGrpSpPr>
          <p:cNvPr name="Group 144" id="144"/>
          <p:cNvGrpSpPr/>
          <p:nvPr/>
        </p:nvGrpSpPr>
        <p:grpSpPr>
          <a:xfrm rot="0">
            <a:off x="3328416" y="9912096"/>
            <a:ext cx="6400800" cy="420624"/>
            <a:chOff x="0" y="0"/>
            <a:chExt cx="8534400" cy="560832"/>
          </a:xfrm>
        </p:grpSpPr>
        <p:sp>
          <p:nvSpPr>
            <p:cNvPr name="Freeform 145" id="145"/>
            <p:cNvSpPr/>
            <p:nvPr/>
          </p:nvSpPr>
          <p:spPr>
            <a:xfrm flipH="false" flipV="false" rot="0">
              <a:off x="0" y="0"/>
              <a:ext cx="8534400" cy="560832"/>
            </a:xfrm>
            <a:custGeom>
              <a:avLst/>
              <a:gdLst/>
              <a:ahLst/>
              <a:cxnLst/>
              <a:rect r="r" b="b" t="t" l="l"/>
              <a:pathLst>
                <a:path h="560832" w="8534400">
                  <a:moveTo>
                    <a:pt x="0" y="0"/>
                  </a:moveTo>
                  <a:lnTo>
                    <a:pt x="8534400" y="0"/>
                  </a:lnTo>
                  <a:lnTo>
                    <a:pt x="8534400" y="560832"/>
                  </a:lnTo>
                  <a:lnTo>
                    <a:pt x="0" y="560832"/>
                  </a:lnTo>
                  <a:close/>
                </a:path>
              </a:pathLst>
            </a:custGeom>
            <a:blipFill>
              <a:blip r:embed="rId3">
                <a:alphaModFix amt="0"/>
              </a:blip>
              <a:stretch>
                <a:fillRect l="0" t="-246511" r="0" b="-246511"/>
              </a:stretch>
            </a:blipFill>
          </p:spPr>
        </p:sp>
        <p:sp>
          <p:nvSpPr>
            <p:cNvPr name="TextBox 146" id="146"/>
            <p:cNvSpPr txBox="true"/>
            <p:nvPr/>
          </p:nvSpPr>
          <p:spPr>
            <a:xfrm>
              <a:off x="0" y="-38100"/>
              <a:ext cx="8534400" cy="598932"/>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Global Vectors for Word Representation (word embedding)</a:t>
              </a:r>
            </a:p>
          </p:txBody>
        </p:sp>
      </p:grpSp>
      <p:grpSp>
        <p:nvGrpSpPr>
          <p:cNvPr name="Group 147" id="147"/>
          <p:cNvGrpSpPr/>
          <p:nvPr/>
        </p:nvGrpSpPr>
        <p:grpSpPr>
          <a:xfrm rot="0">
            <a:off x="727710" y="10328910"/>
            <a:ext cx="8328660" cy="7620"/>
            <a:chOff x="0" y="0"/>
            <a:chExt cx="11104880" cy="10160"/>
          </a:xfrm>
        </p:grpSpPr>
        <p:sp>
          <p:nvSpPr>
            <p:cNvPr name="Freeform 148" id="148"/>
            <p:cNvSpPr/>
            <p:nvPr/>
          </p:nvSpPr>
          <p:spPr>
            <a:xfrm flipH="false" flipV="false" rot="0">
              <a:off x="5080" y="0"/>
              <a:ext cx="11094720" cy="10160"/>
            </a:xfrm>
            <a:custGeom>
              <a:avLst/>
              <a:gdLst/>
              <a:ahLst/>
              <a:cxnLst/>
              <a:rect r="r" b="b" t="t" l="l"/>
              <a:pathLst>
                <a:path h="10160" w="11094720">
                  <a:moveTo>
                    <a:pt x="0" y="0"/>
                  </a:moveTo>
                  <a:lnTo>
                    <a:pt x="11094720" y="0"/>
                  </a:lnTo>
                  <a:lnTo>
                    <a:pt x="11094720" y="10160"/>
                  </a:lnTo>
                  <a:lnTo>
                    <a:pt x="0" y="10160"/>
                  </a:lnTo>
                  <a:close/>
                </a:path>
              </a:pathLst>
            </a:custGeom>
            <a:solidFill>
              <a:srgbClr val="E2E8F0"/>
            </a:solidFill>
          </p:spPr>
        </p:sp>
      </p:grpSp>
      <p:grpSp>
        <p:nvGrpSpPr>
          <p:cNvPr name="Group 149" id="149"/>
          <p:cNvGrpSpPr/>
          <p:nvPr/>
        </p:nvGrpSpPr>
        <p:grpSpPr>
          <a:xfrm rot="0">
            <a:off x="731520" y="10369296"/>
            <a:ext cx="2468880" cy="420624"/>
            <a:chOff x="0" y="0"/>
            <a:chExt cx="3291840" cy="560832"/>
          </a:xfrm>
        </p:grpSpPr>
        <p:sp>
          <p:nvSpPr>
            <p:cNvPr name="Freeform 150" id="150"/>
            <p:cNvSpPr/>
            <p:nvPr/>
          </p:nvSpPr>
          <p:spPr>
            <a:xfrm flipH="false" flipV="false" rot="0">
              <a:off x="0" y="0"/>
              <a:ext cx="3291840" cy="560832"/>
            </a:xfrm>
            <a:custGeom>
              <a:avLst/>
              <a:gdLst/>
              <a:ahLst/>
              <a:cxnLst/>
              <a:rect r="r" b="b" t="t" l="l"/>
              <a:pathLst>
                <a:path h="560832" w="3291840">
                  <a:moveTo>
                    <a:pt x="0" y="0"/>
                  </a:moveTo>
                  <a:lnTo>
                    <a:pt x="3291840" y="0"/>
                  </a:lnTo>
                  <a:lnTo>
                    <a:pt x="3291840" y="560832"/>
                  </a:lnTo>
                  <a:lnTo>
                    <a:pt x="0" y="560832"/>
                  </a:lnTo>
                  <a:close/>
                </a:path>
              </a:pathLst>
            </a:custGeom>
            <a:blipFill>
              <a:blip r:embed="rId3">
                <a:alphaModFix amt="0"/>
              </a:blip>
              <a:stretch>
                <a:fillRect l="0" t="-64368" r="0" b="-64368"/>
              </a:stretch>
            </a:blipFill>
          </p:spPr>
        </p:sp>
        <p:sp>
          <p:nvSpPr>
            <p:cNvPr name="TextBox 151" id="151"/>
            <p:cNvSpPr txBox="true"/>
            <p:nvPr/>
          </p:nvSpPr>
          <p:spPr>
            <a:xfrm>
              <a:off x="0" y="-38100"/>
              <a:ext cx="3291840" cy="598932"/>
            </a:xfrm>
            <a:prstGeom prst="rect">
              <a:avLst/>
            </a:prstGeom>
          </p:spPr>
          <p:txBody>
            <a:bodyPr anchor="ctr" rtlCol="false" tIns="0" lIns="0" bIns="0" rIns="0"/>
            <a:lstStyle/>
            <a:p>
              <a:pPr algn="l">
                <a:lnSpc>
                  <a:spcPts val="2280"/>
                </a:lnSpc>
              </a:pPr>
              <a:r>
                <a:rPr lang="en-US" sz="1900" b="true">
                  <a:solidFill>
                    <a:srgbClr val="0D1B3E"/>
                  </a:solidFill>
                  <a:latin typeface="Calibri (MS) Bold"/>
                  <a:ea typeface="Calibri (MS) Bold"/>
                  <a:cs typeface="Calibri (MS) Bold"/>
                  <a:sym typeface="Calibri (MS) Bold"/>
                </a:rPr>
                <a:t>NIC</a:t>
              </a:r>
            </a:p>
          </p:txBody>
        </p:sp>
      </p:grpSp>
      <p:grpSp>
        <p:nvGrpSpPr>
          <p:cNvPr name="Group 152" id="152"/>
          <p:cNvGrpSpPr/>
          <p:nvPr/>
        </p:nvGrpSpPr>
        <p:grpSpPr>
          <a:xfrm rot="0">
            <a:off x="3328416" y="10369296"/>
            <a:ext cx="6400800" cy="420624"/>
            <a:chOff x="0" y="0"/>
            <a:chExt cx="8534400" cy="560832"/>
          </a:xfrm>
        </p:grpSpPr>
        <p:sp>
          <p:nvSpPr>
            <p:cNvPr name="Freeform 153" id="153"/>
            <p:cNvSpPr/>
            <p:nvPr/>
          </p:nvSpPr>
          <p:spPr>
            <a:xfrm flipH="false" flipV="false" rot="0">
              <a:off x="0" y="0"/>
              <a:ext cx="8534400" cy="560832"/>
            </a:xfrm>
            <a:custGeom>
              <a:avLst/>
              <a:gdLst/>
              <a:ahLst/>
              <a:cxnLst/>
              <a:rect r="r" b="b" t="t" l="l"/>
              <a:pathLst>
                <a:path h="560832" w="8534400">
                  <a:moveTo>
                    <a:pt x="0" y="0"/>
                  </a:moveTo>
                  <a:lnTo>
                    <a:pt x="8534400" y="0"/>
                  </a:lnTo>
                  <a:lnTo>
                    <a:pt x="8534400" y="560832"/>
                  </a:lnTo>
                  <a:lnTo>
                    <a:pt x="0" y="560832"/>
                  </a:lnTo>
                  <a:close/>
                </a:path>
              </a:pathLst>
            </a:custGeom>
            <a:blipFill>
              <a:blip r:embed="rId3">
                <a:alphaModFix amt="0"/>
              </a:blip>
              <a:stretch>
                <a:fillRect l="0" t="-246511" r="0" b="-246511"/>
              </a:stretch>
            </a:blipFill>
          </p:spPr>
        </p:sp>
        <p:sp>
          <p:nvSpPr>
            <p:cNvPr name="TextBox 154" id="154"/>
            <p:cNvSpPr txBox="true"/>
            <p:nvPr/>
          </p:nvSpPr>
          <p:spPr>
            <a:xfrm>
              <a:off x="0" y="-38100"/>
              <a:ext cx="8534400" cy="598932"/>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Natural Image Captioning</a:t>
              </a:r>
            </a:p>
          </p:txBody>
        </p:sp>
      </p:grpSp>
      <p:grpSp>
        <p:nvGrpSpPr>
          <p:cNvPr name="Group 155" id="155"/>
          <p:cNvGrpSpPr/>
          <p:nvPr/>
        </p:nvGrpSpPr>
        <p:grpSpPr>
          <a:xfrm rot="0">
            <a:off x="9326880" y="2596896"/>
            <a:ext cx="2468880" cy="420624"/>
            <a:chOff x="0" y="0"/>
            <a:chExt cx="3291840" cy="560832"/>
          </a:xfrm>
        </p:grpSpPr>
        <p:sp>
          <p:nvSpPr>
            <p:cNvPr name="Freeform 156" id="156"/>
            <p:cNvSpPr/>
            <p:nvPr/>
          </p:nvSpPr>
          <p:spPr>
            <a:xfrm flipH="false" flipV="false" rot="0">
              <a:off x="0" y="0"/>
              <a:ext cx="3291840" cy="560832"/>
            </a:xfrm>
            <a:custGeom>
              <a:avLst/>
              <a:gdLst/>
              <a:ahLst/>
              <a:cxnLst/>
              <a:rect r="r" b="b" t="t" l="l"/>
              <a:pathLst>
                <a:path h="560832" w="3291840">
                  <a:moveTo>
                    <a:pt x="0" y="0"/>
                  </a:moveTo>
                  <a:lnTo>
                    <a:pt x="3291840" y="0"/>
                  </a:lnTo>
                  <a:lnTo>
                    <a:pt x="3291840" y="560832"/>
                  </a:lnTo>
                  <a:lnTo>
                    <a:pt x="0" y="560832"/>
                  </a:lnTo>
                  <a:close/>
                </a:path>
              </a:pathLst>
            </a:custGeom>
            <a:blipFill>
              <a:blip r:embed="rId3">
                <a:alphaModFix amt="0"/>
              </a:blip>
              <a:stretch>
                <a:fillRect l="0" t="-64368" r="0" b="-64368"/>
              </a:stretch>
            </a:blipFill>
          </p:spPr>
        </p:sp>
        <p:sp>
          <p:nvSpPr>
            <p:cNvPr name="TextBox 157" id="157"/>
            <p:cNvSpPr txBox="true"/>
            <p:nvPr/>
          </p:nvSpPr>
          <p:spPr>
            <a:xfrm>
              <a:off x="0" y="-38100"/>
              <a:ext cx="3291840" cy="598932"/>
            </a:xfrm>
            <a:prstGeom prst="rect">
              <a:avLst/>
            </a:prstGeom>
          </p:spPr>
          <p:txBody>
            <a:bodyPr anchor="ctr" rtlCol="false" tIns="0" lIns="0" bIns="0" rIns="0"/>
            <a:lstStyle/>
            <a:p>
              <a:pPr algn="l">
                <a:lnSpc>
                  <a:spcPts val="2280"/>
                </a:lnSpc>
              </a:pPr>
              <a:r>
                <a:rPr lang="en-US" sz="1900" b="true">
                  <a:solidFill>
                    <a:srgbClr val="0D1B3E"/>
                  </a:solidFill>
                  <a:latin typeface="Calibri (MS) Bold"/>
                  <a:ea typeface="Calibri (MS) Bold"/>
                  <a:cs typeface="Calibri (MS) Bold"/>
                  <a:sym typeface="Calibri (MS) Bold"/>
                </a:rPr>
                <a:t>MLA</a:t>
              </a:r>
            </a:p>
          </p:txBody>
        </p:sp>
      </p:grpSp>
      <p:grpSp>
        <p:nvGrpSpPr>
          <p:cNvPr name="Group 158" id="158"/>
          <p:cNvGrpSpPr/>
          <p:nvPr/>
        </p:nvGrpSpPr>
        <p:grpSpPr>
          <a:xfrm rot="0">
            <a:off x="11923776" y="2596896"/>
            <a:ext cx="6400800" cy="420624"/>
            <a:chOff x="0" y="0"/>
            <a:chExt cx="8534400" cy="560832"/>
          </a:xfrm>
        </p:grpSpPr>
        <p:sp>
          <p:nvSpPr>
            <p:cNvPr name="Freeform 159" id="159"/>
            <p:cNvSpPr/>
            <p:nvPr/>
          </p:nvSpPr>
          <p:spPr>
            <a:xfrm flipH="false" flipV="false" rot="0">
              <a:off x="0" y="0"/>
              <a:ext cx="8534400" cy="560832"/>
            </a:xfrm>
            <a:custGeom>
              <a:avLst/>
              <a:gdLst/>
              <a:ahLst/>
              <a:cxnLst/>
              <a:rect r="r" b="b" t="t" l="l"/>
              <a:pathLst>
                <a:path h="560832" w="8534400">
                  <a:moveTo>
                    <a:pt x="0" y="0"/>
                  </a:moveTo>
                  <a:lnTo>
                    <a:pt x="8534400" y="0"/>
                  </a:lnTo>
                  <a:lnTo>
                    <a:pt x="8534400" y="560832"/>
                  </a:lnTo>
                  <a:lnTo>
                    <a:pt x="0" y="560832"/>
                  </a:lnTo>
                  <a:close/>
                </a:path>
              </a:pathLst>
            </a:custGeom>
            <a:blipFill>
              <a:blip r:embed="rId3">
                <a:alphaModFix amt="0"/>
              </a:blip>
              <a:stretch>
                <a:fillRect l="0" t="-246511" r="0" b="-246511"/>
              </a:stretch>
            </a:blipFill>
          </p:spPr>
        </p:sp>
        <p:sp>
          <p:nvSpPr>
            <p:cNvPr name="TextBox 160" id="160"/>
            <p:cNvSpPr txBox="true"/>
            <p:nvPr/>
          </p:nvSpPr>
          <p:spPr>
            <a:xfrm>
              <a:off x="0" y="-38100"/>
              <a:ext cx="8534400" cy="598932"/>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Multi-Level Attention</a:t>
              </a:r>
            </a:p>
          </p:txBody>
        </p:sp>
      </p:grpSp>
      <p:grpSp>
        <p:nvGrpSpPr>
          <p:cNvPr name="Group 161" id="161"/>
          <p:cNvGrpSpPr/>
          <p:nvPr/>
        </p:nvGrpSpPr>
        <p:grpSpPr>
          <a:xfrm rot="0">
            <a:off x="9323070" y="3013710"/>
            <a:ext cx="8328660" cy="7620"/>
            <a:chOff x="0" y="0"/>
            <a:chExt cx="11104880" cy="10160"/>
          </a:xfrm>
        </p:grpSpPr>
        <p:sp>
          <p:nvSpPr>
            <p:cNvPr name="Freeform 162" id="162"/>
            <p:cNvSpPr/>
            <p:nvPr/>
          </p:nvSpPr>
          <p:spPr>
            <a:xfrm flipH="false" flipV="false" rot="0">
              <a:off x="5080" y="0"/>
              <a:ext cx="11094720" cy="10160"/>
            </a:xfrm>
            <a:custGeom>
              <a:avLst/>
              <a:gdLst/>
              <a:ahLst/>
              <a:cxnLst/>
              <a:rect r="r" b="b" t="t" l="l"/>
              <a:pathLst>
                <a:path h="10160" w="11094720">
                  <a:moveTo>
                    <a:pt x="0" y="0"/>
                  </a:moveTo>
                  <a:lnTo>
                    <a:pt x="11094720" y="0"/>
                  </a:lnTo>
                  <a:lnTo>
                    <a:pt x="11094720" y="10160"/>
                  </a:lnTo>
                  <a:lnTo>
                    <a:pt x="0" y="10160"/>
                  </a:lnTo>
                  <a:close/>
                </a:path>
              </a:pathLst>
            </a:custGeom>
            <a:solidFill>
              <a:srgbClr val="E2E8F0"/>
            </a:solidFill>
          </p:spPr>
        </p:sp>
      </p:grpSp>
      <p:grpSp>
        <p:nvGrpSpPr>
          <p:cNvPr name="Group 163" id="163"/>
          <p:cNvGrpSpPr/>
          <p:nvPr/>
        </p:nvGrpSpPr>
        <p:grpSpPr>
          <a:xfrm rot="0">
            <a:off x="9326880" y="3054096"/>
            <a:ext cx="2468880" cy="420624"/>
            <a:chOff x="0" y="0"/>
            <a:chExt cx="3291840" cy="560832"/>
          </a:xfrm>
        </p:grpSpPr>
        <p:sp>
          <p:nvSpPr>
            <p:cNvPr name="Freeform 164" id="164"/>
            <p:cNvSpPr/>
            <p:nvPr/>
          </p:nvSpPr>
          <p:spPr>
            <a:xfrm flipH="false" flipV="false" rot="0">
              <a:off x="0" y="0"/>
              <a:ext cx="3291840" cy="560832"/>
            </a:xfrm>
            <a:custGeom>
              <a:avLst/>
              <a:gdLst/>
              <a:ahLst/>
              <a:cxnLst/>
              <a:rect r="r" b="b" t="t" l="l"/>
              <a:pathLst>
                <a:path h="560832" w="3291840">
                  <a:moveTo>
                    <a:pt x="0" y="0"/>
                  </a:moveTo>
                  <a:lnTo>
                    <a:pt x="3291840" y="0"/>
                  </a:lnTo>
                  <a:lnTo>
                    <a:pt x="3291840" y="560832"/>
                  </a:lnTo>
                  <a:lnTo>
                    <a:pt x="0" y="560832"/>
                  </a:lnTo>
                  <a:close/>
                </a:path>
              </a:pathLst>
            </a:custGeom>
            <a:blipFill>
              <a:blip r:embed="rId3">
                <a:alphaModFix amt="0"/>
              </a:blip>
              <a:stretch>
                <a:fillRect l="0" t="-64368" r="0" b="-64368"/>
              </a:stretch>
            </a:blipFill>
          </p:spPr>
        </p:sp>
        <p:sp>
          <p:nvSpPr>
            <p:cNvPr name="TextBox 165" id="165"/>
            <p:cNvSpPr txBox="true"/>
            <p:nvPr/>
          </p:nvSpPr>
          <p:spPr>
            <a:xfrm>
              <a:off x="0" y="-38100"/>
              <a:ext cx="3291840" cy="598932"/>
            </a:xfrm>
            <a:prstGeom prst="rect">
              <a:avLst/>
            </a:prstGeom>
          </p:spPr>
          <p:txBody>
            <a:bodyPr anchor="ctr" rtlCol="false" tIns="0" lIns="0" bIns="0" rIns="0"/>
            <a:lstStyle/>
            <a:p>
              <a:pPr algn="l">
                <a:lnSpc>
                  <a:spcPts val="2280"/>
                </a:lnSpc>
              </a:pPr>
              <a:r>
                <a:rPr lang="en-US" sz="1900" b="true">
                  <a:solidFill>
                    <a:srgbClr val="0D1B3E"/>
                  </a:solidFill>
                  <a:latin typeface="Calibri (MS) Bold"/>
                  <a:ea typeface="Calibri (MS) Bold"/>
                  <a:cs typeface="Calibri (MS) Bold"/>
                  <a:sym typeface="Calibri (MS) Bold"/>
                </a:rPr>
                <a:t>LAM</a:t>
              </a:r>
            </a:p>
          </p:txBody>
        </p:sp>
      </p:grpSp>
      <p:grpSp>
        <p:nvGrpSpPr>
          <p:cNvPr name="Group 166" id="166"/>
          <p:cNvGrpSpPr/>
          <p:nvPr/>
        </p:nvGrpSpPr>
        <p:grpSpPr>
          <a:xfrm rot="0">
            <a:off x="11923776" y="3054096"/>
            <a:ext cx="6400800" cy="420624"/>
            <a:chOff x="0" y="0"/>
            <a:chExt cx="8534400" cy="560832"/>
          </a:xfrm>
        </p:grpSpPr>
        <p:sp>
          <p:nvSpPr>
            <p:cNvPr name="Freeform 167" id="167"/>
            <p:cNvSpPr/>
            <p:nvPr/>
          </p:nvSpPr>
          <p:spPr>
            <a:xfrm flipH="false" flipV="false" rot="0">
              <a:off x="0" y="0"/>
              <a:ext cx="8534400" cy="560832"/>
            </a:xfrm>
            <a:custGeom>
              <a:avLst/>
              <a:gdLst/>
              <a:ahLst/>
              <a:cxnLst/>
              <a:rect r="r" b="b" t="t" l="l"/>
              <a:pathLst>
                <a:path h="560832" w="8534400">
                  <a:moveTo>
                    <a:pt x="0" y="0"/>
                  </a:moveTo>
                  <a:lnTo>
                    <a:pt x="8534400" y="0"/>
                  </a:lnTo>
                  <a:lnTo>
                    <a:pt x="8534400" y="560832"/>
                  </a:lnTo>
                  <a:lnTo>
                    <a:pt x="0" y="560832"/>
                  </a:lnTo>
                  <a:close/>
                </a:path>
              </a:pathLst>
            </a:custGeom>
            <a:blipFill>
              <a:blip r:embed="rId3">
                <a:alphaModFix amt="0"/>
              </a:blip>
              <a:stretch>
                <a:fillRect l="0" t="-246511" r="0" b="-246511"/>
              </a:stretch>
            </a:blipFill>
          </p:spPr>
        </p:sp>
        <p:sp>
          <p:nvSpPr>
            <p:cNvPr name="TextBox 168" id="168"/>
            <p:cNvSpPr txBox="true"/>
            <p:nvPr/>
          </p:nvSpPr>
          <p:spPr>
            <a:xfrm>
              <a:off x="0" y="-38100"/>
              <a:ext cx="8534400" cy="598932"/>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Label-Attention Mechanism</a:t>
              </a:r>
            </a:p>
          </p:txBody>
        </p:sp>
      </p:grpSp>
      <p:grpSp>
        <p:nvGrpSpPr>
          <p:cNvPr name="Group 169" id="169"/>
          <p:cNvGrpSpPr/>
          <p:nvPr/>
        </p:nvGrpSpPr>
        <p:grpSpPr>
          <a:xfrm rot="0">
            <a:off x="9323070" y="3470910"/>
            <a:ext cx="8328660" cy="7620"/>
            <a:chOff x="0" y="0"/>
            <a:chExt cx="11104880" cy="10160"/>
          </a:xfrm>
        </p:grpSpPr>
        <p:sp>
          <p:nvSpPr>
            <p:cNvPr name="Freeform 170" id="170"/>
            <p:cNvSpPr/>
            <p:nvPr/>
          </p:nvSpPr>
          <p:spPr>
            <a:xfrm flipH="false" flipV="false" rot="0">
              <a:off x="5080" y="0"/>
              <a:ext cx="11094720" cy="10160"/>
            </a:xfrm>
            <a:custGeom>
              <a:avLst/>
              <a:gdLst/>
              <a:ahLst/>
              <a:cxnLst/>
              <a:rect r="r" b="b" t="t" l="l"/>
              <a:pathLst>
                <a:path h="10160" w="11094720">
                  <a:moveTo>
                    <a:pt x="0" y="0"/>
                  </a:moveTo>
                  <a:lnTo>
                    <a:pt x="11094720" y="0"/>
                  </a:lnTo>
                  <a:lnTo>
                    <a:pt x="11094720" y="10160"/>
                  </a:lnTo>
                  <a:lnTo>
                    <a:pt x="0" y="10160"/>
                  </a:lnTo>
                  <a:close/>
                </a:path>
              </a:pathLst>
            </a:custGeom>
            <a:solidFill>
              <a:srgbClr val="E2E8F0"/>
            </a:solidFill>
          </p:spPr>
        </p:sp>
      </p:grpSp>
      <p:grpSp>
        <p:nvGrpSpPr>
          <p:cNvPr name="Group 171" id="171"/>
          <p:cNvGrpSpPr/>
          <p:nvPr/>
        </p:nvGrpSpPr>
        <p:grpSpPr>
          <a:xfrm rot="0">
            <a:off x="9326880" y="3511296"/>
            <a:ext cx="2468880" cy="420624"/>
            <a:chOff x="0" y="0"/>
            <a:chExt cx="3291840" cy="560832"/>
          </a:xfrm>
        </p:grpSpPr>
        <p:sp>
          <p:nvSpPr>
            <p:cNvPr name="Freeform 172" id="172"/>
            <p:cNvSpPr/>
            <p:nvPr/>
          </p:nvSpPr>
          <p:spPr>
            <a:xfrm flipH="false" flipV="false" rot="0">
              <a:off x="0" y="0"/>
              <a:ext cx="3291840" cy="560832"/>
            </a:xfrm>
            <a:custGeom>
              <a:avLst/>
              <a:gdLst/>
              <a:ahLst/>
              <a:cxnLst/>
              <a:rect r="r" b="b" t="t" l="l"/>
              <a:pathLst>
                <a:path h="560832" w="3291840">
                  <a:moveTo>
                    <a:pt x="0" y="0"/>
                  </a:moveTo>
                  <a:lnTo>
                    <a:pt x="3291840" y="0"/>
                  </a:lnTo>
                  <a:lnTo>
                    <a:pt x="3291840" y="560832"/>
                  </a:lnTo>
                  <a:lnTo>
                    <a:pt x="0" y="560832"/>
                  </a:lnTo>
                  <a:close/>
                </a:path>
              </a:pathLst>
            </a:custGeom>
            <a:blipFill>
              <a:blip r:embed="rId3">
                <a:alphaModFix amt="0"/>
              </a:blip>
              <a:stretch>
                <a:fillRect l="0" t="-64368" r="0" b="-64368"/>
              </a:stretch>
            </a:blipFill>
          </p:spPr>
        </p:sp>
        <p:sp>
          <p:nvSpPr>
            <p:cNvPr name="TextBox 173" id="173"/>
            <p:cNvSpPr txBox="true"/>
            <p:nvPr/>
          </p:nvSpPr>
          <p:spPr>
            <a:xfrm>
              <a:off x="0" y="-38100"/>
              <a:ext cx="3291840" cy="598932"/>
            </a:xfrm>
            <a:prstGeom prst="rect">
              <a:avLst/>
            </a:prstGeom>
          </p:spPr>
          <p:txBody>
            <a:bodyPr anchor="ctr" rtlCol="false" tIns="0" lIns="0" bIns="0" rIns="0"/>
            <a:lstStyle/>
            <a:p>
              <a:pPr algn="l">
                <a:lnSpc>
                  <a:spcPts val="2280"/>
                </a:lnSpc>
              </a:pPr>
              <a:r>
                <a:rPr lang="en-US" sz="1900" b="true">
                  <a:solidFill>
                    <a:srgbClr val="0D1B3E"/>
                  </a:solidFill>
                  <a:latin typeface="Calibri (MS) Bold"/>
                  <a:ea typeface="Calibri (MS) Bold"/>
                  <a:cs typeface="Calibri (MS) Bold"/>
                  <a:sym typeface="Calibri (MS) Bold"/>
                </a:rPr>
                <a:t>GVFGA</a:t>
              </a:r>
            </a:p>
          </p:txBody>
        </p:sp>
      </p:grpSp>
      <p:grpSp>
        <p:nvGrpSpPr>
          <p:cNvPr name="Group 174" id="174"/>
          <p:cNvGrpSpPr/>
          <p:nvPr/>
        </p:nvGrpSpPr>
        <p:grpSpPr>
          <a:xfrm rot="0">
            <a:off x="11923776" y="3511296"/>
            <a:ext cx="6400800" cy="420624"/>
            <a:chOff x="0" y="0"/>
            <a:chExt cx="8534400" cy="560832"/>
          </a:xfrm>
        </p:grpSpPr>
        <p:sp>
          <p:nvSpPr>
            <p:cNvPr name="Freeform 175" id="175"/>
            <p:cNvSpPr/>
            <p:nvPr/>
          </p:nvSpPr>
          <p:spPr>
            <a:xfrm flipH="false" flipV="false" rot="0">
              <a:off x="0" y="0"/>
              <a:ext cx="8534400" cy="560832"/>
            </a:xfrm>
            <a:custGeom>
              <a:avLst/>
              <a:gdLst/>
              <a:ahLst/>
              <a:cxnLst/>
              <a:rect r="r" b="b" t="t" l="l"/>
              <a:pathLst>
                <a:path h="560832" w="8534400">
                  <a:moveTo>
                    <a:pt x="0" y="0"/>
                  </a:moveTo>
                  <a:lnTo>
                    <a:pt x="8534400" y="0"/>
                  </a:lnTo>
                  <a:lnTo>
                    <a:pt x="8534400" y="560832"/>
                  </a:lnTo>
                  <a:lnTo>
                    <a:pt x="0" y="560832"/>
                  </a:lnTo>
                  <a:close/>
                </a:path>
              </a:pathLst>
            </a:custGeom>
            <a:blipFill>
              <a:blip r:embed="rId3">
                <a:alphaModFix amt="0"/>
              </a:blip>
              <a:stretch>
                <a:fillRect l="0" t="-246511" r="0" b="-246511"/>
              </a:stretch>
            </a:blipFill>
          </p:spPr>
        </p:sp>
        <p:sp>
          <p:nvSpPr>
            <p:cNvPr name="TextBox 176" id="176"/>
            <p:cNvSpPr txBox="true"/>
            <p:nvPr/>
          </p:nvSpPr>
          <p:spPr>
            <a:xfrm>
              <a:off x="0" y="-38100"/>
              <a:ext cx="8534400" cy="598932"/>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Global Visual Feature-Guided Attention</a:t>
              </a:r>
            </a:p>
          </p:txBody>
        </p:sp>
      </p:grpSp>
      <p:grpSp>
        <p:nvGrpSpPr>
          <p:cNvPr name="Group 177" id="177"/>
          <p:cNvGrpSpPr/>
          <p:nvPr/>
        </p:nvGrpSpPr>
        <p:grpSpPr>
          <a:xfrm rot="0">
            <a:off x="9323070" y="3928110"/>
            <a:ext cx="8328660" cy="7620"/>
            <a:chOff x="0" y="0"/>
            <a:chExt cx="11104880" cy="10160"/>
          </a:xfrm>
        </p:grpSpPr>
        <p:sp>
          <p:nvSpPr>
            <p:cNvPr name="Freeform 178" id="178"/>
            <p:cNvSpPr/>
            <p:nvPr/>
          </p:nvSpPr>
          <p:spPr>
            <a:xfrm flipH="false" flipV="false" rot="0">
              <a:off x="5080" y="0"/>
              <a:ext cx="11094720" cy="10160"/>
            </a:xfrm>
            <a:custGeom>
              <a:avLst/>
              <a:gdLst/>
              <a:ahLst/>
              <a:cxnLst/>
              <a:rect r="r" b="b" t="t" l="l"/>
              <a:pathLst>
                <a:path h="10160" w="11094720">
                  <a:moveTo>
                    <a:pt x="0" y="0"/>
                  </a:moveTo>
                  <a:lnTo>
                    <a:pt x="11094720" y="0"/>
                  </a:lnTo>
                  <a:lnTo>
                    <a:pt x="11094720" y="10160"/>
                  </a:lnTo>
                  <a:lnTo>
                    <a:pt x="0" y="10160"/>
                  </a:lnTo>
                  <a:close/>
                </a:path>
              </a:pathLst>
            </a:custGeom>
            <a:solidFill>
              <a:srgbClr val="E2E8F0"/>
            </a:solidFill>
          </p:spPr>
        </p:sp>
      </p:grpSp>
      <p:grpSp>
        <p:nvGrpSpPr>
          <p:cNvPr name="Group 179" id="179"/>
          <p:cNvGrpSpPr/>
          <p:nvPr/>
        </p:nvGrpSpPr>
        <p:grpSpPr>
          <a:xfrm rot="0">
            <a:off x="9326880" y="3968496"/>
            <a:ext cx="2468880" cy="420624"/>
            <a:chOff x="0" y="0"/>
            <a:chExt cx="3291840" cy="560832"/>
          </a:xfrm>
        </p:grpSpPr>
        <p:sp>
          <p:nvSpPr>
            <p:cNvPr name="Freeform 180" id="180"/>
            <p:cNvSpPr/>
            <p:nvPr/>
          </p:nvSpPr>
          <p:spPr>
            <a:xfrm flipH="false" flipV="false" rot="0">
              <a:off x="0" y="0"/>
              <a:ext cx="3291840" cy="560832"/>
            </a:xfrm>
            <a:custGeom>
              <a:avLst/>
              <a:gdLst/>
              <a:ahLst/>
              <a:cxnLst/>
              <a:rect r="r" b="b" t="t" l="l"/>
              <a:pathLst>
                <a:path h="560832" w="3291840">
                  <a:moveTo>
                    <a:pt x="0" y="0"/>
                  </a:moveTo>
                  <a:lnTo>
                    <a:pt x="3291840" y="0"/>
                  </a:lnTo>
                  <a:lnTo>
                    <a:pt x="3291840" y="560832"/>
                  </a:lnTo>
                  <a:lnTo>
                    <a:pt x="0" y="560832"/>
                  </a:lnTo>
                  <a:close/>
                </a:path>
              </a:pathLst>
            </a:custGeom>
            <a:blipFill>
              <a:blip r:embed="rId3">
                <a:alphaModFix amt="0"/>
              </a:blip>
              <a:stretch>
                <a:fillRect l="0" t="-64368" r="0" b="-64368"/>
              </a:stretch>
            </a:blipFill>
          </p:spPr>
        </p:sp>
        <p:sp>
          <p:nvSpPr>
            <p:cNvPr name="TextBox 181" id="181"/>
            <p:cNvSpPr txBox="true"/>
            <p:nvPr/>
          </p:nvSpPr>
          <p:spPr>
            <a:xfrm>
              <a:off x="0" y="-38100"/>
              <a:ext cx="3291840" cy="598932"/>
            </a:xfrm>
            <a:prstGeom prst="rect">
              <a:avLst/>
            </a:prstGeom>
          </p:spPr>
          <p:txBody>
            <a:bodyPr anchor="ctr" rtlCol="false" tIns="0" lIns="0" bIns="0" rIns="0"/>
            <a:lstStyle/>
            <a:p>
              <a:pPr algn="l">
                <a:lnSpc>
                  <a:spcPts val="2280"/>
                </a:lnSpc>
              </a:pPr>
              <a:r>
                <a:rPr lang="en-US" sz="1900" b="true">
                  <a:solidFill>
                    <a:srgbClr val="0D1B3E"/>
                  </a:solidFill>
                  <a:latin typeface="Calibri (MS) Bold"/>
                  <a:ea typeface="Calibri (MS) Bold"/>
                  <a:cs typeface="Calibri (MS) Bold"/>
                  <a:sym typeface="Calibri (MS) Bold"/>
                </a:rPr>
                <a:t>GLCM</a:t>
              </a:r>
            </a:p>
          </p:txBody>
        </p:sp>
      </p:grpSp>
      <p:grpSp>
        <p:nvGrpSpPr>
          <p:cNvPr name="Group 182" id="182"/>
          <p:cNvGrpSpPr/>
          <p:nvPr/>
        </p:nvGrpSpPr>
        <p:grpSpPr>
          <a:xfrm rot="0">
            <a:off x="11923776" y="3968496"/>
            <a:ext cx="6400800" cy="420624"/>
            <a:chOff x="0" y="0"/>
            <a:chExt cx="8534400" cy="560832"/>
          </a:xfrm>
        </p:grpSpPr>
        <p:sp>
          <p:nvSpPr>
            <p:cNvPr name="Freeform 183" id="183"/>
            <p:cNvSpPr/>
            <p:nvPr/>
          </p:nvSpPr>
          <p:spPr>
            <a:xfrm flipH="false" flipV="false" rot="0">
              <a:off x="0" y="0"/>
              <a:ext cx="8534400" cy="560832"/>
            </a:xfrm>
            <a:custGeom>
              <a:avLst/>
              <a:gdLst/>
              <a:ahLst/>
              <a:cxnLst/>
              <a:rect r="r" b="b" t="t" l="l"/>
              <a:pathLst>
                <a:path h="560832" w="8534400">
                  <a:moveTo>
                    <a:pt x="0" y="0"/>
                  </a:moveTo>
                  <a:lnTo>
                    <a:pt x="8534400" y="0"/>
                  </a:lnTo>
                  <a:lnTo>
                    <a:pt x="8534400" y="560832"/>
                  </a:lnTo>
                  <a:lnTo>
                    <a:pt x="0" y="560832"/>
                  </a:lnTo>
                  <a:close/>
                </a:path>
              </a:pathLst>
            </a:custGeom>
            <a:blipFill>
              <a:blip r:embed="rId3">
                <a:alphaModFix amt="0"/>
              </a:blip>
              <a:stretch>
                <a:fillRect l="0" t="-246511" r="0" b="-246511"/>
              </a:stretch>
            </a:blipFill>
          </p:spPr>
        </p:sp>
        <p:sp>
          <p:nvSpPr>
            <p:cNvPr name="TextBox 184" id="184"/>
            <p:cNvSpPr txBox="true"/>
            <p:nvPr/>
          </p:nvSpPr>
          <p:spPr>
            <a:xfrm>
              <a:off x="0" y="-38100"/>
              <a:ext cx="8534400" cy="598932"/>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Global–Local Captioning Model</a:t>
              </a:r>
            </a:p>
          </p:txBody>
        </p:sp>
      </p:grpSp>
      <p:grpSp>
        <p:nvGrpSpPr>
          <p:cNvPr name="Group 185" id="185"/>
          <p:cNvGrpSpPr/>
          <p:nvPr/>
        </p:nvGrpSpPr>
        <p:grpSpPr>
          <a:xfrm rot="0">
            <a:off x="9323070" y="4385310"/>
            <a:ext cx="8328660" cy="7620"/>
            <a:chOff x="0" y="0"/>
            <a:chExt cx="11104880" cy="10160"/>
          </a:xfrm>
        </p:grpSpPr>
        <p:sp>
          <p:nvSpPr>
            <p:cNvPr name="Freeform 186" id="186"/>
            <p:cNvSpPr/>
            <p:nvPr/>
          </p:nvSpPr>
          <p:spPr>
            <a:xfrm flipH="false" flipV="false" rot="0">
              <a:off x="5080" y="0"/>
              <a:ext cx="11094720" cy="10160"/>
            </a:xfrm>
            <a:custGeom>
              <a:avLst/>
              <a:gdLst/>
              <a:ahLst/>
              <a:cxnLst/>
              <a:rect r="r" b="b" t="t" l="l"/>
              <a:pathLst>
                <a:path h="10160" w="11094720">
                  <a:moveTo>
                    <a:pt x="0" y="0"/>
                  </a:moveTo>
                  <a:lnTo>
                    <a:pt x="11094720" y="0"/>
                  </a:lnTo>
                  <a:lnTo>
                    <a:pt x="11094720" y="10160"/>
                  </a:lnTo>
                  <a:lnTo>
                    <a:pt x="0" y="10160"/>
                  </a:lnTo>
                  <a:close/>
                </a:path>
              </a:pathLst>
            </a:custGeom>
            <a:solidFill>
              <a:srgbClr val="E2E8F0"/>
            </a:solidFill>
          </p:spPr>
        </p:sp>
      </p:grpSp>
      <p:grpSp>
        <p:nvGrpSpPr>
          <p:cNvPr name="Group 187" id="187"/>
          <p:cNvGrpSpPr/>
          <p:nvPr/>
        </p:nvGrpSpPr>
        <p:grpSpPr>
          <a:xfrm rot="0">
            <a:off x="9326880" y="4425696"/>
            <a:ext cx="2468880" cy="420624"/>
            <a:chOff x="0" y="0"/>
            <a:chExt cx="3291840" cy="560832"/>
          </a:xfrm>
        </p:grpSpPr>
        <p:sp>
          <p:nvSpPr>
            <p:cNvPr name="Freeform 188" id="188"/>
            <p:cNvSpPr/>
            <p:nvPr/>
          </p:nvSpPr>
          <p:spPr>
            <a:xfrm flipH="false" flipV="false" rot="0">
              <a:off x="0" y="0"/>
              <a:ext cx="3291840" cy="560832"/>
            </a:xfrm>
            <a:custGeom>
              <a:avLst/>
              <a:gdLst/>
              <a:ahLst/>
              <a:cxnLst/>
              <a:rect r="r" b="b" t="t" l="l"/>
              <a:pathLst>
                <a:path h="560832" w="3291840">
                  <a:moveTo>
                    <a:pt x="0" y="0"/>
                  </a:moveTo>
                  <a:lnTo>
                    <a:pt x="3291840" y="0"/>
                  </a:lnTo>
                  <a:lnTo>
                    <a:pt x="3291840" y="560832"/>
                  </a:lnTo>
                  <a:lnTo>
                    <a:pt x="0" y="560832"/>
                  </a:lnTo>
                  <a:close/>
                </a:path>
              </a:pathLst>
            </a:custGeom>
            <a:blipFill>
              <a:blip r:embed="rId3">
                <a:alphaModFix amt="0"/>
              </a:blip>
              <a:stretch>
                <a:fillRect l="0" t="-64368" r="0" b="-64368"/>
              </a:stretch>
            </a:blipFill>
          </p:spPr>
        </p:sp>
        <p:sp>
          <p:nvSpPr>
            <p:cNvPr name="TextBox 189" id="189"/>
            <p:cNvSpPr txBox="true"/>
            <p:nvPr/>
          </p:nvSpPr>
          <p:spPr>
            <a:xfrm>
              <a:off x="0" y="-38100"/>
              <a:ext cx="3291840" cy="598932"/>
            </a:xfrm>
            <a:prstGeom prst="rect">
              <a:avLst/>
            </a:prstGeom>
          </p:spPr>
          <p:txBody>
            <a:bodyPr anchor="ctr" rtlCol="false" tIns="0" lIns="0" bIns="0" rIns="0"/>
            <a:lstStyle/>
            <a:p>
              <a:pPr algn="l">
                <a:lnSpc>
                  <a:spcPts val="2280"/>
                </a:lnSpc>
              </a:pPr>
              <a:r>
                <a:rPr lang="en-US" sz="1900" b="true">
                  <a:solidFill>
                    <a:srgbClr val="0D1B3E"/>
                  </a:solidFill>
                  <a:latin typeface="Calibri (MS) Bold"/>
                  <a:ea typeface="Calibri (MS) Bold"/>
                  <a:cs typeface="Calibri (MS) Bold"/>
                  <a:sym typeface="Calibri (MS) Bold"/>
                </a:rPr>
                <a:t>MLAT</a:t>
              </a:r>
            </a:p>
          </p:txBody>
        </p:sp>
      </p:grpSp>
      <p:grpSp>
        <p:nvGrpSpPr>
          <p:cNvPr name="Group 190" id="190"/>
          <p:cNvGrpSpPr/>
          <p:nvPr/>
        </p:nvGrpSpPr>
        <p:grpSpPr>
          <a:xfrm rot="0">
            <a:off x="11923776" y="4425696"/>
            <a:ext cx="6400800" cy="420624"/>
            <a:chOff x="0" y="0"/>
            <a:chExt cx="8534400" cy="560832"/>
          </a:xfrm>
        </p:grpSpPr>
        <p:sp>
          <p:nvSpPr>
            <p:cNvPr name="Freeform 191" id="191"/>
            <p:cNvSpPr/>
            <p:nvPr/>
          </p:nvSpPr>
          <p:spPr>
            <a:xfrm flipH="false" flipV="false" rot="0">
              <a:off x="0" y="0"/>
              <a:ext cx="8534400" cy="560832"/>
            </a:xfrm>
            <a:custGeom>
              <a:avLst/>
              <a:gdLst/>
              <a:ahLst/>
              <a:cxnLst/>
              <a:rect r="r" b="b" t="t" l="l"/>
              <a:pathLst>
                <a:path h="560832" w="8534400">
                  <a:moveTo>
                    <a:pt x="0" y="0"/>
                  </a:moveTo>
                  <a:lnTo>
                    <a:pt x="8534400" y="0"/>
                  </a:lnTo>
                  <a:lnTo>
                    <a:pt x="8534400" y="560832"/>
                  </a:lnTo>
                  <a:lnTo>
                    <a:pt x="0" y="560832"/>
                  </a:lnTo>
                  <a:close/>
                </a:path>
              </a:pathLst>
            </a:custGeom>
            <a:blipFill>
              <a:blip r:embed="rId3">
                <a:alphaModFix amt="0"/>
              </a:blip>
              <a:stretch>
                <a:fillRect l="0" t="-246511" r="0" b="-246511"/>
              </a:stretch>
            </a:blipFill>
          </p:spPr>
        </p:sp>
        <p:sp>
          <p:nvSpPr>
            <p:cNvPr name="TextBox 192" id="192"/>
            <p:cNvSpPr txBox="true"/>
            <p:nvPr/>
          </p:nvSpPr>
          <p:spPr>
            <a:xfrm>
              <a:off x="0" y="-38100"/>
              <a:ext cx="8534400" cy="598932"/>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Multi-Layer Aggregated Transformer</a:t>
              </a:r>
            </a:p>
          </p:txBody>
        </p:sp>
      </p:grpSp>
      <p:grpSp>
        <p:nvGrpSpPr>
          <p:cNvPr name="Group 193" id="193"/>
          <p:cNvGrpSpPr/>
          <p:nvPr/>
        </p:nvGrpSpPr>
        <p:grpSpPr>
          <a:xfrm rot="0">
            <a:off x="9323070" y="4842510"/>
            <a:ext cx="8328660" cy="7620"/>
            <a:chOff x="0" y="0"/>
            <a:chExt cx="11104880" cy="10160"/>
          </a:xfrm>
        </p:grpSpPr>
        <p:sp>
          <p:nvSpPr>
            <p:cNvPr name="Freeform 194" id="194"/>
            <p:cNvSpPr/>
            <p:nvPr/>
          </p:nvSpPr>
          <p:spPr>
            <a:xfrm flipH="false" flipV="false" rot="0">
              <a:off x="5080" y="0"/>
              <a:ext cx="11094720" cy="10160"/>
            </a:xfrm>
            <a:custGeom>
              <a:avLst/>
              <a:gdLst/>
              <a:ahLst/>
              <a:cxnLst/>
              <a:rect r="r" b="b" t="t" l="l"/>
              <a:pathLst>
                <a:path h="10160" w="11094720">
                  <a:moveTo>
                    <a:pt x="0" y="0"/>
                  </a:moveTo>
                  <a:lnTo>
                    <a:pt x="11094720" y="0"/>
                  </a:lnTo>
                  <a:lnTo>
                    <a:pt x="11094720" y="10160"/>
                  </a:lnTo>
                  <a:lnTo>
                    <a:pt x="0" y="10160"/>
                  </a:lnTo>
                  <a:close/>
                </a:path>
              </a:pathLst>
            </a:custGeom>
            <a:solidFill>
              <a:srgbClr val="E2E8F0"/>
            </a:solidFill>
          </p:spPr>
        </p:sp>
      </p:grpSp>
      <p:grpSp>
        <p:nvGrpSpPr>
          <p:cNvPr name="Group 195" id="195"/>
          <p:cNvGrpSpPr/>
          <p:nvPr/>
        </p:nvGrpSpPr>
        <p:grpSpPr>
          <a:xfrm rot="0">
            <a:off x="9326880" y="4882896"/>
            <a:ext cx="2468880" cy="420624"/>
            <a:chOff x="0" y="0"/>
            <a:chExt cx="3291840" cy="560832"/>
          </a:xfrm>
        </p:grpSpPr>
        <p:sp>
          <p:nvSpPr>
            <p:cNvPr name="Freeform 196" id="196"/>
            <p:cNvSpPr/>
            <p:nvPr/>
          </p:nvSpPr>
          <p:spPr>
            <a:xfrm flipH="false" flipV="false" rot="0">
              <a:off x="0" y="0"/>
              <a:ext cx="3291840" cy="560832"/>
            </a:xfrm>
            <a:custGeom>
              <a:avLst/>
              <a:gdLst/>
              <a:ahLst/>
              <a:cxnLst/>
              <a:rect r="r" b="b" t="t" l="l"/>
              <a:pathLst>
                <a:path h="560832" w="3291840">
                  <a:moveTo>
                    <a:pt x="0" y="0"/>
                  </a:moveTo>
                  <a:lnTo>
                    <a:pt x="3291840" y="0"/>
                  </a:lnTo>
                  <a:lnTo>
                    <a:pt x="3291840" y="560832"/>
                  </a:lnTo>
                  <a:lnTo>
                    <a:pt x="0" y="560832"/>
                  </a:lnTo>
                  <a:close/>
                </a:path>
              </a:pathLst>
            </a:custGeom>
            <a:blipFill>
              <a:blip r:embed="rId3">
                <a:alphaModFix amt="0"/>
              </a:blip>
              <a:stretch>
                <a:fillRect l="0" t="-64368" r="0" b="-64368"/>
              </a:stretch>
            </a:blipFill>
          </p:spPr>
        </p:sp>
        <p:sp>
          <p:nvSpPr>
            <p:cNvPr name="TextBox 197" id="197"/>
            <p:cNvSpPr txBox="true"/>
            <p:nvPr/>
          </p:nvSpPr>
          <p:spPr>
            <a:xfrm>
              <a:off x="0" y="-38100"/>
              <a:ext cx="3291840" cy="598932"/>
            </a:xfrm>
            <a:prstGeom prst="rect">
              <a:avLst/>
            </a:prstGeom>
          </p:spPr>
          <p:txBody>
            <a:bodyPr anchor="ctr" rtlCol="false" tIns="0" lIns="0" bIns="0" rIns="0"/>
            <a:lstStyle/>
            <a:p>
              <a:pPr algn="l">
                <a:lnSpc>
                  <a:spcPts val="2280"/>
                </a:lnSpc>
              </a:pPr>
              <a:r>
                <a:rPr lang="en-US" sz="1900" b="true">
                  <a:solidFill>
                    <a:srgbClr val="0D1B3E"/>
                  </a:solidFill>
                  <a:latin typeface="Calibri (MS) Bold"/>
                  <a:ea typeface="Calibri (MS) Bold"/>
                  <a:cs typeface="Calibri (MS) Bold"/>
                  <a:sym typeface="Calibri (MS) Bold"/>
                </a:rPr>
                <a:t>RASG</a:t>
              </a:r>
            </a:p>
          </p:txBody>
        </p:sp>
      </p:grpSp>
      <p:grpSp>
        <p:nvGrpSpPr>
          <p:cNvPr name="Group 198" id="198"/>
          <p:cNvGrpSpPr/>
          <p:nvPr/>
        </p:nvGrpSpPr>
        <p:grpSpPr>
          <a:xfrm rot="0">
            <a:off x="11923776" y="4882896"/>
            <a:ext cx="6400800" cy="420624"/>
            <a:chOff x="0" y="0"/>
            <a:chExt cx="8534400" cy="560832"/>
          </a:xfrm>
        </p:grpSpPr>
        <p:sp>
          <p:nvSpPr>
            <p:cNvPr name="Freeform 199" id="199"/>
            <p:cNvSpPr/>
            <p:nvPr/>
          </p:nvSpPr>
          <p:spPr>
            <a:xfrm flipH="false" flipV="false" rot="0">
              <a:off x="0" y="0"/>
              <a:ext cx="8534400" cy="560832"/>
            </a:xfrm>
            <a:custGeom>
              <a:avLst/>
              <a:gdLst/>
              <a:ahLst/>
              <a:cxnLst/>
              <a:rect r="r" b="b" t="t" l="l"/>
              <a:pathLst>
                <a:path h="560832" w="8534400">
                  <a:moveTo>
                    <a:pt x="0" y="0"/>
                  </a:moveTo>
                  <a:lnTo>
                    <a:pt x="8534400" y="0"/>
                  </a:lnTo>
                  <a:lnTo>
                    <a:pt x="8534400" y="560832"/>
                  </a:lnTo>
                  <a:lnTo>
                    <a:pt x="0" y="560832"/>
                  </a:lnTo>
                  <a:close/>
                </a:path>
              </a:pathLst>
            </a:custGeom>
            <a:blipFill>
              <a:blip r:embed="rId3">
                <a:alphaModFix amt="0"/>
              </a:blip>
              <a:stretch>
                <a:fillRect l="0" t="-246511" r="0" b="-246511"/>
              </a:stretch>
            </a:blipFill>
          </p:spPr>
        </p:sp>
        <p:sp>
          <p:nvSpPr>
            <p:cNvPr name="TextBox 200" id="200"/>
            <p:cNvSpPr txBox="true"/>
            <p:nvPr/>
          </p:nvSpPr>
          <p:spPr>
            <a:xfrm>
              <a:off x="0" y="-38100"/>
              <a:ext cx="8534400" cy="598932"/>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Recurrent Attention and Semantic Gate</a:t>
              </a:r>
            </a:p>
          </p:txBody>
        </p:sp>
      </p:grpSp>
      <p:grpSp>
        <p:nvGrpSpPr>
          <p:cNvPr name="Group 201" id="201"/>
          <p:cNvGrpSpPr/>
          <p:nvPr/>
        </p:nvGrpSpPr>
        <p:grpSpPr>
          <a:xfrm rot="0">
            <a:off x="9323070" y="5299710"/>
            <a:ext cx="8328660" cy="7620"/>
            <a:chOff x="0" y="0"/>
            <a:chExt cx="11104880" cy="10160"/>
          </a:xfrm>
        </p:grpSpPr>
        <p:sp>
          <p:nvSpPr>
            <p:cNvPr name="Freeform 202" id="202"/>
            <p:cNvSpPr/>
            <p:nvPr/>
          </p:nvSpPr>
          <p:spPr>
            <a:xfrm flipH="false" flipV="false" rot="0">
              <a:off x="5080" y="0"/>
              <a:ext cx="11094720" cy="10160"/>
            </a:xfrm>
            <a:custGeom>
              <a:avLst/>
              <a:gdLst/>
              <a:ahLst/>
              <a:cxnLst/>
              <a:rect r="r" b="b" t="t" l="l"/>
              <a:pathLst>
                <a:path h="10160" w="11094720">
                  <a:moveTo>
                    <a:pt x="0" y="0"/>
                  </a:moveTo>
                  <a:lnTo>
                    <a:pt x="11094720" y="0"/>
                  </a:lnTo>
                  <a:lnTo>
                    <a:pt x="11094720" y="10160"/>
                  </a:lnTo>
                  <a:lnTo>
                    <a:pt x="0" y="10160"/>
                  </a:lnTo>
                  <a:close/>
                </a:path>
              </a:pathLst>
            </a:custGeom>
            <a:solidFill>
              <a:srgbClr val="E2E8F0"/>
            </a:solidFill>
          </p:spPr>
        </p:sp>
      </p:grpSp>
      <p:grpSp>
        <p:nvGrpSpPr>
          <p:cNvPr name="Group 203" id="203"/>
          <p:cNvGrpSpPr/>
          <p:nvPr/>
        </p:nvGrpSpPr>
        <p:grpSpPr>
          <a:xfrm rot="0">
            <a:off x="9326880" y="5340096"/>
            <a:ext cx="2468880" cy="420624"/>
            <a:chOff x="0" y="0"/>
            <a:chExt cx="3291840" cy="560832"/>
          </a:xfrm>
        </p:grpSpPr>
        <p:sp>
          <p:nvSpPr>
            <p:cNvPr name="Freeform 204" id="204"/>
            <p:cNvSpPr/>
            <p:nvPr/>
          </p:nvSpPr>
          <p:spPr>
            <a:xfrm flipH="false" flipV="false" rot="0">
              <a:off x="0" y="0"/>
              <a:ext cx="3291840" cy="560832"/>
            </a:xfrm>
            <a:custGeom>
              <a:avLst/>
              <a:gdLst/>
              <a:ahLst/>
              <a:cxnLst/>
              <a:rect r="r" b="b" t="t" l="l"/>
              <a:pathLst>
                <a:path h="560832" w="3291840">
                  <a:moveTo>
                    <a:pt x="0" y="0"/>
                  </a:moveTo>
                  <a:lnTo>
                    <a:pt x="3291840" y="0"/>
                  </a:lnTo>
                  <a:lnTo>
                    <a:pt x="3291840" y="560832"/>
                  </a:lnTo>
                  <a:lnTo>
                    <a:pt x="0" y="560832"/>
                  </a:lnTo>
                  <a:close/>
                </a:path>
              </a:pathLst>
            </a:custGeom>
            <a:blipFill>
              <a:blip r:embed="rId3">
                <a:alphaModFix amt="0"/>
              </a:blip>
              <a:stretch>
                <a:fillRect l="0" t="-64368" r="0" b="-64368"/>
              </a:stretch>
            </a:blipFill>
          </p:spPr>
        </p:sp>
        <p:sp>
          <p:nvSpPr>
            <p:cNvPr name="TextBox 205" id="205"/>
            <p:cNvSpPr txBox="true"/>
            <p:nvPr/>
          </p:nvSpPr>
          <p:spPr>
            <a:xfrm>
              <a:off x="0" y="-38100"/>
              <a:ext cx="3291840" cy="598932"/>
            </a:xfrm>
            <a:prstGeom prst="rect">
              <a:avLst/>
            </a:prstGeom>
          </p:spPr>
          <p:txBody>
            <a:bodyPr anchor="ctr" rtlCol="false" tIns="0" lIns="0" bIns="0" rIns="0"/>
            <a:lstStyle/>
            <a:p>
              <a:pPr algn="l">
                <a:lnSpc>
                  <a:spcPts val="2280"/>
                </a:lnSpc>
              </a:pPr>
              <a:r>
                <a:rPr lang="en-US" sz="1900" b="true">
                  <a:solidFill>
                    <a:srgbClr val="0D1B3E"/>
                  </a:solidFill>
                  <a:latin typeface="Calibri (MS) Bold"/>
                  <a:ea typeface="Calibri (MS) Bold"/>
                  <a:cs typeface="Calibri (MS) Bold"/>
                  <a:sym typeface="Calibri (MS) Bold"/>
                </a:rPr>
                <a:t>MSISA</a:t>
              </a:r>
            </a:p>
          </p:txBody>
        </p:sp>
      </p:grpSp>
      <p:grpSp>
        <p:nvGrpSpPr>
          <p:cNvPr name="Group 206" id="206"/>
          <p:cNvGrpSpPr/>
          <p:nvPr/>
        </p:nvGrpSpPr>
        <p:grpSpPr>
          <a:xfrm rot="0">
            <a:off x="11923776" y="5340096"/>
            <a:ext cx="6400800" cy="420624"/>
            <a:chOff x="0" y="0"/>
            <a:chExt cx="8534400" cy="560832"/>
          </a:xfrm>
        </p:grpSpPr>
        <p:sp>
          <p:nvSpPr>
            <p:cNvPr name="Freeform 207" id="207"/>
            <p:cNvSpPr/>
            <p:nvPr/>
          </p:nvSpPr>
          <p:spPr>
            <a:xfrm flipH="false" flipV="false" rot="0">
              <a:off x="0" y="0"/>
              <a:ext cx="8534400" cy="560832"/>
            </a:xfrm>
            <a:custGeom>
              <a:avLst/>
              <a:gdLst/>
              <a:ahLst/>
              <a:cxnLst/>
              <a:rect r="r" b="b" t="t" l="l"/>
              <a:pathLst>
                <a:path h="560832" w="8534400">
                  <a:moveTo>
                    <a:pt x="0" y="0"/>
                  </a:moveTo>
                  <a:lnTo>
                    <a:pt x="8534400" y="0"/>
                  </a:lnTo>
                  <a:lnTo>
                    <a:pt x="8534400" y="560832"/>
                  </a:lnTo>
                  <a:lnTo>
                    <a:pt x="0" y="560832"/>
                  </a:lnTo>
                  <a:close/>
                </a:path>
              </a:pathLst>
            </a:custGeom>
            <a:blipFill>
              <a:blip r:embed="rId3">
                <a:alphaModFix amt="0"/>
              </a:blip>
              <a:stretch>
                <a:fillRect l="0" t="-246511" r="0" b="-246511"/>
              </a:stretch>
            </a:blipFill>
          </p:spPr>
        </p:sp>
        <p:sp>
          <p:nvSpPr>
            <p:cNvPr name="TextBox 208" id="208"/>
            <p:cNvSpPr txBox="true"/>
            <p:nvPr/>
          </p:nvSpPr>
          <p:spPr>
            <a:xfrm>
              <a:off x="0" y="-38100"/>
              <a:ext cx="8534400" cy="598932"/>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Multi-Source Interactive Stair Attention</a:t>
              </a:r>
            </a:p>
          </p:txBody>
        </p:sp>
      </p:grpSp>
      <p:grpSp>
        <p:nvGrpSpPr>
          <p:cNvPr name="Group 209" id="209"/>
          <p:cNvGrpSpPr/>
          <p:nvPr/>
        </p:nvGrpSpPr>
        <p:grpSpPr>
          <a:xfrm rot="0">
            <a:off x="9323070" y="5756910"/>
            <a:ext cx="8328660" cy="7620"/>
            <a:chOff x="0" y="0"/>
            <a:chExt cx="11104880" cy="10160"/>
          </a:xfrm>
        </p:grpSpPr>
        <p:sp>
          <p:nvSpPr>
            <p:cNvPr name="Freeform 210" id="210"/>
            <p:cNvSpPr/>
            <p:nvPr/>
          </p:nvSpPr>
          <p:spPr>
            <a:xfrm flipH="false" flipV="false" rot="0">
              <a:off x="5080" y="0"/>
              <a:ext cx="11094720" cy="10160"/>
            </a:xfrm>
            <a:custGeom>
              <a:avLst/>
              <a:gdLst/>
              <a:ahLst/>
              <a:cxnLst/>
              <a:rect r="r" b="b" t="t" l="l"/>
              <a:pathLst>
                <a:path h="10160" w="11094720">
                  <a:moveTo>
                    <a:pt x="0" y="0"/>
                  </a:moveTo>
                  <a:lnTo>
                    <a:pt x="11094720" y="0"/>
                  </a:lnTo>
                  <a:lnTo>
                    <a:pt x="11094720" y="10160"/>
                  </a:lnTo>
                  <a:lnTo>
                    <a:pt x="0" y="10160"/>
                  </a:lnTo>
                  <a:close/>
                </a:path>
              </a:pathLst>
            </a:custGeom>
            <a:solidFill>
              <a:srgbClr val="E2E8F0"/>
            </a:solidFill>
          </p:spPr>
        </p:sp>
      </p:grpSp>
      <p:grpSp>
        <p:nvGrpSpPr>
          <p:cNvPr name="Group 211" id="211"/>
          <p:cNvGrpSpPr/>
          <p:nvPr/>
        </p:nvGrpSpPr>
        <p:grpSpPr>
          <a:xfrm rot="0">
            <a:off x="9326880" y="5797296"/>
            <a:ext cx="2468880" cy="420624"/>
            <a:chOff x="0" y="0"/>
            <a:chExt cx="3291840" cy="560832"/>
          </a:xfrm>
        </p:grpSpPr>
        <p:sp>
          <p:nvSpPr>
            <p:cNvPr name="Freeform 212" id="212"/>
            <p:cNvSpPr/>
            <p:nvPr/>
          </p:nvSpPr>
          <p:spPr>
            <a:xfrm flipH="false" flipV="false" rot="0">
              <a:off x="0" y="0"/>
              <a:ext cx="3291840" cy="560832"/>
            </a:xfrm>
            <a:custGeom>
              <a:avLst/>
              <a:gdLst/>
              <a:ahLst/>
              <a:cxnLst/>
              <a:rect r="r" b="b" t="t" l="l"/>
              <a:pathLst>
                <a:path h="560832" w="3291840">
                  <a:moveTo>
                    <a:pt x="0" y="0"/>
                  </a:moveTo>
                  <a:lnTo>
                    <a:pt x="3291840" y="0"/>
                  </a:lnTo>
                  <a:lnTo>
                    <a:pt x="3291840" y="560832"/>
                  </a:lnTo>
                  <a:lnTo>
                    <a:pt x="0" y="560832"/>
                  </a:lnTo>
                  <a:close/>
                </a:path>
              </a:pathLst>
            </a:custGeom>
            <a:blipFill>
              <a:blip r:embed="rId3">
                <a:alphaModFix amt="0"/>
              </a:blip>
              <a:stretch>
                <a:fillRect l="0" t="-64368" r="0" b="-64368"/>
              </a:stretch>
            </a:blipFill>
          </p:spPr>
        </p:sp>
        <p:sp>
          <p:nvSpPr>
            <p:cNvPr name="TextBox 213" id="213"/>
            <p:cNvSpPr txBox="true"/>
            <p:nvPr/>
          </p:nvSpPr>
          <p:spPr>
            <a:xfrm>
              <a:off x="0" y="-38100"/>
              <a:ext cx="3291840" cy="598932"/>
            </a:xfrm>
            <a:prstGeom prst="rect">
              <a:avLst/>
            </a:prstGeom>
          </p:spPr>
          <p:txBody>
            <a:bodyPr anchor="ctr" rtlCol="false" tIns="0" lIns="0" bIns="0" rIns="0"/>
            <a:lstStyle/>
            <a:p>
              <a:pPr algn="l">
                <a:lnSpc>
                  <a:spcPts val="2280"/>
                </a:lnSpc>
              </a:pPr>
              <a:r>
                <a:rPr lang="en-US" sz="1900" b="true">
                  <a:solidFill>
                    <a:srgbClr val="0D1B3E"/>
                  </a:solidFill>
                  <a:latin typeface="Calibri (MS) Bold"/>
                  <a:ea typeface="Calibri (MS) Bold"/>
                  <a:cs typeface="Calibri (MS) Bold"/>
                  <a:sym typeface="Calibri (MS) Bold"/>
                </a:rPr>
                <a:t>VRTMM</a:t>
              </a:r>
            </a:p>
          </p:txBody>
        </p:sp>
      </p:grpSp>
      <p:grpSp>
        <p:nvGrpSpPr>
          <p:cNvPr name="Group 214" id="214"/>
          <p:cNvGrpSpPr/>
          <p:nvPr/>
        </p:nvGrpSpPr>
        <p:grpSpPr>
          <a:xfrm rot="0">
            <a:off x="11923776" y="5797296"/>
            <a:ext cx="6400800" cy="420624"/>
            <a:chOff x="0" y="0"/>
            <a:chExt cx="8534400" cy="560832"/>
          </a:xfrm>
        </p:grpSpPr>
        <p:sp>
          <p:nvSpPr>
            <p:cNvPr name="Freeform 215" id="215"/>
            <p:cNvSpPr/>
            <p:nvPr/>
          </p:nvSpPr>
          <p:spPr>
            <a:xfrm flipH="false" flipV="false" rot="0">
              <a:off x="0" y="0"/>
              <a:ext cx="8534400" cy="560832"/>
            </a:xfrm>
            <a:custGeom>
              <a:avLst/>
              <a:gdLst/>
              <a:ahLst/>
              <a:cxnLst/>
              <a:rect r="r" b="b" t="t" l="l"/>
              <a:pathLst>
                <a:path h="560832" w="8534400">
                  <a:moveTo>
                    <a:pt x="0" y="0"/>
                  </a:moveTo>
                  <a:lnTo>
                    <a:pt x="8534400" y="0"/>
                  </a:lnTo>
                  <a:lnTo>
                    <a:pt x="8534400" y="560832"/>
                  </a:lnTo>
                  <a:lnTo>
                    <a:pt x="0" y="560832"/>
                  </a:lnTo>
                  <a:close/>
                </a:path>
              </a:pathLst>
            </a:custGeom>
            <a:blipFill>
              <a:blip r:embed="rId3">
                <a:alphaModFix amt="0"/>
              </a:blip>
              <a:stretch>
                <a:fillRect l="0" t="-246511" r="0" b="-246511"/>
              </a:stretch>
            </a:blipFill>
          </p:spPr>
        </p:sp>
        <p:sp>
          <p:nvSpPr>
            <p:cNvPr name="TextBox 216" id="216"/>
            <p:cNvSpPr txBox="true"/>
            <p:nvPr/>
          </p:nvSpPr>
          <p:spPr>
            <a:xfrm>
              <a:off x="0" y="-38100"/>
              <a:ext cx="8534400" cy="598932"/>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Variational Autoencoder + RL Two-stage Multi-task Model</a:t>
              </a:r>
            </a:p>
          </p:txBody>
        </p:sp>
      </p:grpSp>
      <p:grpSp>
        <p:nvGrpSpPr>
          <p:cNvPr name="Group 217" id="217"/>
          <p:cNvGrpSpPr/>
          <p:nvPr/>
        </p:nvGrpSpPr>
        <p:grpSpPr>
          <a:xfrm rot="0">
            <a:off x="9323070" y="6214110"/>
            <a:ext cx="8328660" cy="7620"/>
            <a:chOff x="0" y="0"/>
            <a:chExt cx="11104880" cy="10160"/>
          </a:xfrm>
        </p:grpSpPr>
        <p:sp>
          <p:nvSpPr>
            <p:cNvPr name="Freeform 218" id="218"/>
            <p:cNvSpPr/>
            <p:nvPr/>
          </p:nvSpPr>
          <p:spPr>
            <a:xfrm flipH="false" flipV="false" rot="0">
              <a:off x="5080" y="0"/>
              <a:ext cx="11094720" cy="10160"/>
            </a:xfrm>
            <a:custGeom>
              <a:avLst/>
              <a:gdLst/>
              <a:ahLst/>
              <a:cxnLst/>
              <a:rect r="r" b="b" t="t" l="l"/>
              <a:pathLst>
                <a:path h="10160" w="11094720">
                  <a:moveTo>
                    <a:pt x="0" y="0"/>
                  </a:moveTo>
                  <a:lnTo>
                    <a:pt x="11094720" y="0"/>
                  </a:lnTo>
                  <a:lnTo>
                    <a:pt x="11094720" y="10160"/>
                  </a:lnTo>
                  <a:lnTo>
                    <a:pt x="0" y="10160"/>
                  </a:lnTo>
                  <a:close/>
                </a:path>
              </a:pathLst>
            </a:custGeom>
            <a:solidFill>
              <a:srgbClr val="E2E8F0"/>
            </a:solidFill>
          </p:spPr>
        </p:sp>
      </p:grpSp>
      <p:grpSp>
        <p:nvGrpSpPr>
          <p:cNvPr name="Group 219" id="219"/>
          <p:cNvGrpSpPr/>
          <p:nvPr/>
        </p:nvGrpSpPr>
        <p:grpSpPr>
          <a:xfrm rot="0">
            <a:off x="9326880" y="6254496"/>
            <a:ext cx="2468880" cy="420624"/>
            <a:chOff x="0" y="0"/>
            <a:chExt cx="3291840" cy="560832"/>
          </a:xfrm>
        </p:grpSpPr>
        <p:sp>
          <p:nvSpPr>
            <p:cNvPr name="Freeform 220" id="220"/>
            <p:cNvSpPr/>
            <p:nvPr/>
          </p:nvSpPr>
          <p:spPr>
            <a:xfrm flipH="false" flipV="false" rot="0">
              <a:off x="0" y="0"/>
              <a:ext cx="3291840" cy="560832"/>
            </a:xfrm>
            <a:custGeom>
              <a:avLst/>
              <a:gdLst/>
              <a:ahLst/>
              <a:cxnLst/>
              <a:rect r="r" b="b" t="t" l="l"/>
              <a:pathLst>
                <a:path h="560832" w="3291840">
                  <a:moveTo>
                    <a:pt x="0" y="0"/>
                  </a:moveTo>
                  <a:lnTo>
                    <a:pt x="3291840" y="0"/>
                  </a:lnTo>
                  <a:lnTo>
                    <a:pt x="3291840" y="560832"/>
                  </a:lnTo>
                  <a:lnTo>
                    <a:pt x="0" y="560832"/>
                  </a:lnTo>
                  <a:close/>
                </a:path>
              </a:pathLst>
            </a:custGeom>
            <a:blipFill>
              <a:blip r:embed="rId3">
                <a:alphaModFix amt="0"/>
              </a:blip>
              <a:stretch>
                <a:fillRect l="0" t="-64368" r="0" b="-64368"/>
              </a:stretch>
            </a:blipFill>
          </p:spPr>
        </p:sp>
        <p:sp>
          <p:nvSpPr>
            <p:cNvPr name="TextBox 221" id="221"/>
            <p:cNvSpPr txBox="true"/>
            <p:nvPr/>
          </p:nvSpPr>
          <p:spPr>
            <a:xfrm>
              <a:off x="0" y="-38100"/>
              <a:ext cx="3291840" cy="598932"/>
            </a:xfrm>
            <a:prstGeom prst="rect">
              <a:avLst/>
            </a:prstGeom>
          </p:spPr>
          <p:txBody>
            <a:bodyPr anchor="ctr" rtlCol="false" tIns="0" lIns="0" bIns="0" rIns="0"/>
            <a:lstStyle/>
            <a:p>
              <a:pPr algn="l">
                <a:lnSpc>
                  <a:spcPts val="2280"/>
                </a:lnSpc>
              </a:pPr>
              <a:r>
                <a:rPr lang="en-US" sz="1900" b="true">
                  <a:solidFill>
                    <a:srgbClr val="0D1B3E"/>
                  </a:solidFill>
                  <a:latin typeface="Calibri (MS) Bold"/>
                  <a:ea typeface="Calibri (MS) Bold"/>
                  <a:cs typeface="Calibri (MS) Bold"/>
                  <a:sym typeface="Calibri (MS) Bold"/>
                </a:rPr>
                <a:t>CASK</a:t>
              </a:r>
            </a:p>
          </p:txBody>
        </p:sp>
      </p:grpSp>
      <p:grpSp>
        <p:nvGrpSpPr>
          <p:cNvPr name="Group 222" id="222"/>
          <p:cNvGrpSpPr/>
          <p:nvPr/>
        </p:nvGrpSpPr>
        <p:grpSpPr>
          <a:xfrm rot="0">
            <a:off x="11923776" y="6254496"/>
            <a:ext cx="6400800" cy="420624"/>
            <a:chOff x="0" y="0"/>
            <a:chExt cx="8534400" cy="560832"/>
          </a:xfrm>
        </p:grpSpPr>
        <p:sp>
          <p:nvSpPr>
            <p:cNvPr name="Freeform 223" id="223"/>
            <p:cNvSpPr/>
            <p:nvPr/>
          </p:nvSpPr>
          <p:spPr>
            <a:xfrm flipH="false" flipV="false" rot="0">
              <a:off x="0" y="0"/>
              <a:ext cx="8534400" cy="560832"/>
            </a:xfrm>
            <a:custGeom>
              <a:avLst/>
              <a:gdLst/>
              <a:ahLst/>
              <a:cxnLst/>
              <a:rect r="r" b="b" t="t" l="l"/>
              <a:pathLst>
                <a:path h="560832" w="8534400">
                  <a:moveTo>
                    <a:pt x="0" y="0"/>
                  </a:moveTo>
                  <a:lnTo>
                    <a:pt x="8534400" y="0"/>
                  </a:lnTo>
                  <a:lnTo>
                    <a:pt x="8534400" y="560832"/>
                  </a:lnTo>
                  <a:lnTo>
                    <a:pt x="0" y="560832"/>
                  </a:lnTo>
                  <a:close/>
                </a:path>
              </a:pathLst>
            </a:custGeom>
            <a:blipFill>
              <a:blip r:embed="rId3">
                <a:alphaModFix amt="0"/>
              </a:blip>
              <a:stretch>
                <a:fillRect l="0" t="-246511" r="0" b="-246511"/>
              </a:stretch>
            </a:blipFill>
          </p:spPr>
        </p:sp>
        <p:sp>
          <p:nvSpPr>
            <p:cNvPr name="TextBox 224" id="224"/>
            <p:cNvSpPr txBox="true"/>
            <p:nvPr/>
          </p:nvSpPr>
          <p:spPr>
            <a:xfrm>
              <a:off x="0" y="-38100"/>
              <a:ext cx="8534400" cy="598932"/>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Consensus-Aware Semantic Knowledge</a:t>
              </a:r>
            </a:p>
          </p:txBody>
        </p:sp>
      </p:grpSp>
      <p:grpSp>
        <p:nvGrpSpPr>
          <p:cNvPr name="Group 225" id="225"/>
          <p:cNvGrpSpPr/>
          <p:nvPr/>
        </p:nvGrpSpPr>
        <p:grpSpPr>
          <a:xfrm rot="0">
            <a:off x="9323070" y="6671310"/>
            <a:ext cx="8328660" cy="7620"/>
            <a:chOff x="0" y="0"/>
            <a:chExt cx="11104880" cy="10160"/>
          </a:xfrm>
        </p:grpSpPr>
        <p:sp>
          <p:nvSpPr>
            <p:cNvPr name="Freeform 226" id="226"/>
            <p:cNvSpPr/>
            <p:nvPr/>
          </p:nvSpPr>
          <p:spPr>
            <a:xfrm flipH="false" flipV="false" rot="0">
              <a:off x="5080" y="0"/>
              <a:ext cx="11094720" cy="10160"/>
            </a:xfrm>
            <a:custGeom>
              <a:avLst/>
              <a:gdLst/>
              <a:ahLst/>
              <a:cxnLst/>
              <a:rect r="r" b="b" t="t" l="l"/>
              <a:pathLst>
                <a:path h="10160" w="11094720">
                  <a:moveTo>
                    <a:pt x="0" y="0"/>
                  </a:moveTo>
                  <a:lnTo>
                    <a:pt x="11094720" y="0"/>
                  </a:lnTo>
                  <a:lnTo>
                    <a:pt x="11094720" y="10160"/>
                  </a:lnTo>
                  <a:lnTo>
                    <a:pt x="0" y="10160"/>
                  </a:lnTo>
                  <a:close/>
                </a:path>
              </a:pathLst>
            </a:custGeom>
            <a:solidFill>
              <a:srgbClr val="E2E8F0"/>
            </a:solidFill>
          </p:spPr>
        </p:sp>
      </p:grpSp>
      <p:grpSp>
        <p:nvGrpSpPr>
          <p:cNvPr name="Group 227" id="227"/>
          <p:cNvGrpSpPr/>
          <p:nvPr/>
        </p:nvGrpSpPr>
        <p:grpSpPr>
          <a:xfrm rot="0">
            <a:off x="9326880" y="6711696"/>
            <a:ext cx="2468880" cy="420624"/>
            <a:chOff x="0" y="0"/>
            <a:chExt cx="3291840" cy="560832"/>
          </a:xfrm>
        </p:grpSpPr>
        <p:sp>
          <p:nvSpPr>
            <p:cNvPr name="Freeform 228" id="228"/>
            <p:cNvSpPr/>
            <p:nvPr/>
          </p:nvSpPr>
          <p:spPr>
            <a:xfrm flipH="false" flipV="false" rot="0">
              <a:off x="0" y="0"/>
              <a:ext cx="3291840" cy="560832"/>
            </a:xfrm>
            <a:custGeom>
              <a:avLst/>
              <a:gdLst/>
              <a:ahLst/>
              <a:cxnLst/>
              <a:rect r="r" b="b" t="t" l="l"/>
              <a:pathLst>
                <a:path h="560832" w="3291840">
                  <a:moveTo>
                    <a:pt x="0" y="0"/>
                  </a:moveTo>
                  <a:lnTo>
                    <a:pt x="3291840" y="0"/>
                  </a:lnTo>
                  <a:lnTo>
                    <a:pt x="3291840" y="560832"/>
                  </a:lnTo>
                  <a:lnTo>
                    <a:pt x="0" y="560832"/>
                  </a:lnTo>
                  <a:close/>
                </a:path>
              </a:pathLst>
            </a:custGeom>
            <a:blipFill>
              <a:blip r:embed="rId3">
                <a:alphaModFix amt="0"/>
              </a:blip>
              <a:stretch>
                <a:fillRect l="0" t="-64368" r="0" b="-64368"/>
              </a:stretch>
            </a:blipFill>
          </p:spPr>
        </p:sp>
        <p:sp>
          <p:nvSpPr>
            <p:cNvPr name="TextBox 229" id="229"/>
            <p:cNvSpPr txBox="true"/>
            <p:nvPr/>
          </p:nvSpPr>
          <p:spPr>
            <a:xfrm>
              <a:off x="0" y="-38100"/>
              <a:ext cx="3291840" cy="598932"/>
            </a:xfrm>
            <a:prstGeom prst="rect">
              <a:avLst/>
            </a:prstGeom>
          </p:spPr>
          <p:txBody>
            <a:bodyPr anchor="ctr" rtlCol="false" tIns="0" lIns="0" bIns="0" rIns="0"/>
            <a:lstStyle/>
            <a:p>
              <a:pPr algn="l">
                <a:lnSpc>
                  <a:spcPts val="2280"/>
                </a:lnSpc>
              </a:pPr>
              <a:r>
                <a:rPr lang="en-US" sz="1900" b="true">
                  <a:solidFill>
                    <a:srgbClr val="0D1B3E"/>
                  </a:solidFill>
                  <a:latin typeface="Calibri (MS) Bold"/>
                  <a:ea typeface="Calibri (MS) Bold"/>
                  <a:cs typeface="Calibri (MS) Bold"/>
                  <a:sym typeface="Calibri (MS) Bold"/>
                </a:rPr>
                <a:t>MGTN</a:t>
              </a:r>
            </a:p>
          </p:txBody>
        </p:sp>
      </p:grpSp>
      <p:grpSp>
        <p:nvGrpSpPr>
          <p:cNvPr name="Group 230" id="230"/>
          <p:cNvGrpSpPr/>
          <p:nvPr/>
        </p:nvGrpSpPr>
        <p:grpSpPr>
          <a:xfrm rot="0">
            <a:off x="11923776" y="6711696"/>
            <a:ext cx="6400800" cy="420624"/>
            <a:chOff x="0" y="0"/>
            <a:chExt cx="8534400" cy="560832"/>
          </a:xfrm>
        </p:grpSpPr>
        <p:sp>
          <p:nvSpPr>
            <p:cNvPr name="Freeform 231" id="231"/>
            <p:cNvSpPr/>
            <p:nvPr/>
          </p:nvSpPr>
          <p:spPr>
            <a:xfrm flipH="false" flipV="false" rot="0">
              <a:off x="0" y="0"/>
              <a:ext cx="8534400" cy="560832"/>
            </a:xfrm>
            <a:custGeom>
              <a:avLst/>
              <a:gdLst/>
              <a:ahLst/>
              <a:cxnLst/>
              <a:rect r="r" b="b" t="t" l="l"/>
              <a:pathLst>
                <a:path h="560832" w="8534400">
                  <a:moveTo>
                    <a:pt x="0" y="0"/>
                  </a:moveTo>
                  <a:lnTo>
                    <a:pt x="8534400" y="0"/>
                  </a:lnTo>
                  <a:lnTo>
                    <a:pt x="8534400" y="560832"/>
                  </a:lnTo>
                  <a:lnTo>
                    <a:pt x="0" y="560832"/>
                  </a:lnTo>
                  <a:close/>
                </a:path>
              </a:pathLst>
            </a:custGeom>
            <a:blipFill>
              <a:blip r:embed="rId3">
                <a:alphaModFix amt="0"/>
              </a:blip>
              <a:stretch>
                <a:fillRect l="0" t="-246511" r="0" b="-246511"/>
              </a:stretch>
            </a:blipFill>
          </p:spPr>
        </p:sp>
        <p:sp>
          <p:nvSpPr>
            <p:cNvPr name="TextBox 232" id="232"/>
            <p:cNvSpPr txBox="true"/>
            <p:nvPr/>
          </p:nvSpPr>
          <p:spPr>
            <a:xfrm>
              <a:off x="0" y="-38100"/>
              <a:ext cx="8534400" cy="598932"/>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Mask-Guided Transformer Network</a:t>
              </a:r>
            </a:p>
          </p:txBody>
        </p:sp>
      </p:grpSp>
      <p:grpSp>
        <p:nvGrpSpPr>
          <p:cNvPr name="Group 233" id="233"/>
          <p:cNvGrpSpPr/>
          <p:nvPr/>
        </p:nvGrpSpPr>
        <p:grpSpPr>
          <a:xfrm rot="0">
            <a:off x="9323070" y="7128510"/>
            <a:ext cx="8328660" cy="7620"/>
            <a:chOff x="0" y="0"/>
            <a:chExt cx="11104880" cy="10160"/>
          </a:xfrm>
        </p:grpSpPr>
        <p:sp>
          <p:nvSpPr>
            <p:cNvPr name="Freeform 234" id="234"/>
            <p:cNvSpPr/>
            <p:nvPr/>
          </p:nvSpPr>
          <p:spPr>
            <a:xfrm flipH="false" flipV="false" rot="0">
              <a:off x="5080" y="0"/>
              <a:ext cx="11094720" cy="10160"/>
            </a:xfrm>
            <a:custGeom>
              <a:avLst/>
              <a:gdLst/>
              <a:ahLst/>
              <a:cxnLst/>
              <a:rect r="r" b="b" t="t" l="l"/>
              <a:pathLst>
                <a:path h="10160" w="11094720">
                  <a:moveTo>
                    <a:pt x="0" y="0"/>
                  </a:moveTo>
                  <a:lnTo>
                    <a:pt x="11094720" y="0"/>
                  </a:lnTo>
                  <a:lnTo>
                    <a:pt x="11094720" y="10160"/>
                  </a:lnTo>
                  <a:lnTo>
                    <a:pt x="0" y="10160"/>
                  </a:lnTo>
                  <a:close/>
                </a:path>
              </a:pathLst>
            </a:custGeom>
            <a:solidFill>
              <a:srgbClr val="E2E8F0"/>
            </a:solidFill>
          </p:spPr>
        </p:sp>
      </p:grpSp>
      <p:grpSp>
        <p:nvGrpSpPr>
          <p:cNvPr name="Group 235" id="235"/>
          <p:cNvGrpSpPr/>
          <p:nvPr/>
        </p:nvGrpSpPr>
        <p:grpSpPr>
          <a:xfrm rot="0">
            <a:off x="9326880" y="7168896"/>
            <a:ext cx="2468880" cy="420624"/>
            <a:chOff x="0" y="0"/>
            <a:chExt cx="3291840" cy="560832"/>
          </a:xfrm>
        </p:grpSpPr>
        <p:sp>
          <p:nvSpPr>
            <p:cNvPr name="Freeform 236" id="236"/>
            <p:cNvSpPr/>
            <p:nvPr/>
          </p:nvSpPr>
          <p:spPr>
            <a:xfrm flipH="false" flipV="false" rot="0">
              <a:off x="0" y="0"/>
              <a:ext cx="3291840" cy="560832"/>
            </a:xfrm>
            <a:custGeom>
              <a:avLst/>
              <a:gdLst/>
              <a:ahLst/>
              <a:cxnLst/>
              <a:rect r="r" b="b" t="t" l="l"/>
              <a:pathLst>
                <a:path h="560832" w="3291840">
                  <a:moveTo>
                    <a:pt x="0" y="0"/>
                  </a:moveTo>
                  <a:lnTo>
                    <a:pt x="3291840" y="0"/>
                  </a:lnTo>
                  <a:lnTo>
                    <a:pt x="3291840" y="560832"/>
                  </a:lnTo>
                  <a:lnTo>
                    <a:pt x="0" y="560832"/>
                  </a:lnTo>
                  <a:close/>
                </a:path>
              </a:pathLst>
            </a:custGeom>
            <a:blipFill>
              <a:blip r:embed="rId3">
                <a:alphaModFix amt="0"/>
              </a:blip>
              <a:stretch>
                <a:fillRect l="0" t="-64368" r="0" b="-64368"/>
              </a:stretch>
            </a:blipFill>
          </p:spPr>
        </p:sp>
        <p:sp>
          <p:nvSpPr>
            <p:cNvPr name="TextBox 237" id="237"/>
            <p:cNvSpPr txBox="true"/>
            <p:nvPr/>
          </p:nvSpPr>
          <p:spPr>
            <a:xfrm>
              <a:off x="0" y="-38100"/>
              <a:ext cx="3291840" cy="598932"/>
            </a:xfrm>
            <a:prstGeom prst="rect">
              <a:avLst/>
            </a:prstGeom>
          </p:spPr>
          <p:txBody>
            <a:bodyPr anchor="ctr" rtlCol="false" tIns="0" lIns="0" bIns="0" rIns="0"/>
            <a:lstStyle/>
            <a:p>
              <a:pPr algn="l">
                <a:lnSpc>
                  <a:spcPts val="2280"/>
                </a:lnSpc>
              </a:pPr>
              <a:r>
                <a:rPr lang="en-US" sz="1900" b="true">
                  <a:solidFill>
                    <a:srgbClr val="0D1B3E"/>
                  </a:solidFill>
                  <a:latin typeface="Calibri (MS) Bold"/>
                  <a:ea typeface="Calibri (MS) Bold"/>
                  <a:cs typeface="Calibri (MS) Bold"/>
                  <a:sym typeface="Calibri (MS) Bold"/>
                </a:rPr>
                <a:t>BLEU</a:t>
              </a:r>
            </a:p>
          </p:txBody>
        </p:sp>
      </p:grpSp>
      <p:grpSp>
        <p:nvGrpSpPr>
          <p:cNvPr name="Group 238" id="238"/>
          <p:cNvGrpSpPr/>
          <p:nvPr/>
        </p:nvGrpSpPr>
        <p:grpSpPr>
          <a:xfrm rot="0">
            <a:off x="11923776" y="7168896"/>
            <a:ext cx="6400800" cy="420624"/>
            <a:chOff x="0" y="0"/>
            <a:chExt cx="8534400" cy="560832"/>
          </a:xfrm>
        </p:grpSpPr>
        <p:sp>
          <p:nvSpPr>
            <p:cNvPr name="Freeform 239" id="239"/>
            <p:cNvSpPr/>
            <p:nvPr/>
          </p:nvSpPr>
          <p:spPr>
            <a:xfrm flipH="false" flipV="false" rot="0">
              <a:off x="0" y="0"/>
              <a:ext cx="8534400" cy="560832"/>
            </a:xfrm>
            <a:custGeom>
              <a:avLst/>
              <a:gdLst/>
              <a:ahLst/>
              <a:cxnLst/>
              <a:rect r="r" b="b" t="t" l="l"/>
              <a:pathLst>
                <a:path h="560832" w="8534400">
                  <a:moveTo>
                    <a:pt x="0" y="0"/>
                  </a:moveTo>
                  <a:lnTo>
                    <a:pt x="8534400" y="0"/>
                  </a:lnTo>
                  <a:lnTo>
                    <a:pt x="8534400" y="560832"/>
                  </a:lnTo>
                  <a:lnTo>
                    <a:pt x="0" y="560832"/>
                  </a:lnTo>
                  <a:close/>
                </a:path>
              </a:pathLst>
            </a:custGeom>
            <a:blipFill>
              <a:blip r:embed="rId3">
                <a:alphaModFix amt="0"/>
              </a:blip>
              <a:stretch>
                <a:fillRect l="0" t="-246511" r="0" b="-246511"/>
              </a:stretch>
            </a:blipFill>
          </p:spPr>
        </p:sp>
        <p:sp>
          <p:nvSpPr>
            <p:cNvPr name="TextBox 240" id="240"/>
            <p:cNvSpPr txBox="true"/>
            <p:nvPr/>
          </p:nvSpPr>
          <p:spPr>
            <a:xfrm>
              <a:off x="0" y="-38100"/>
              <a:ext cx="8534400" cy="598932"/>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Bilingual Evaluation Understudy (N-gram precision metric)</a:t>
              </a:r>
            </a:p>
          </p:txBody>
        </p:sp>
      </p:grpSp>
      <p:grpSp>
        <p:nvGrpSpPr>
          <p:cNvPr name="Group 241" id="241"/>
          <p:cNvGrpSpPr/>
          <p:nvPr/>
        </p:nvGrpSpPr>
        <p:grpSpPr>
          <a:xfrm rot="0">
            <a:off x="9323070" y="7585710"/>
            <a:ext cx="8328660" cy="7620"/>
            <a:chOff x="0" y="0"/>
            <a:chExt cx="11104880" cy="10160"/>
          </a:xfrm>
        </p:grpSpPr>
        <p:sp>
          <p:nvSpPr>
            <p:cNvPr name="Freeform 242" id="242"/>
            <p:cNvSpPr/>
            <p:nvPr/>
          </p:nvSpPr>
          <p:spPr>
            <a:xfrm flipH="false" flipV="false" rot="0">
              <a:off x="5080" y="0"/>
              <a:ext cx="11094720" cy="10160"/>
            </a:xfrm>
            <a:custGeom>
              <a:avLst/>
              <a:gdLst/>
              <a:ahLst/>
              <a:cxnLst/>
              <a:rect r="r" b="b" t="t" l="l"/>
              <a:pathLst>
                <a:path h="10160" w="11094720">
                  <a:moveTo>
                    <a:pt x="0" y="0"/>
                  </a:moveTo>
                  <a:lnTo>
                    <a:pt x="11094720" y="0"/>
                  </a:lnTo>
                  <a:lnTo>
                    <a:pt x="11094720" y="10160"/>
                  </a:lnTo>
                  <a:lnTo>
                    <a:pt x="0" y="10160"/>
                  </a:lnTo>
                  <a:close/>
                </a:path>
              </a:pathLst>
            </a:custGeom>
            <a:solidFill>
              <a:srgbClr val="E2E8F0"/>
            </a:solidFill>
          </p:spPr>
        </p:sp>
      </p:grpSp>
      <p:grpSp>
        <p:nvGrpSpPr>
          <p:cNvPr name="Group 243" id="243"/>
          <p:cNvGrpSpPr/>
          <p:nvPr/>
        </p:nvGrpSpPr>
        <p:grpSpPr>
          <a:xfrm rot="0">
            <a:off x="9326880" y="7626096"/>
            <a:ext cx="2468880" cy="420624"/>
            <a:chOff x="0" y="0"/>
            <a:chExt cx="3291840" cy="560832"/>
          </a:xfrm>
        </p:grpSpPr>
        <p:sp>
          <p:nvSpPr>
            <p:cNvPr name="Freeform 244" id="244"/>
            <p:cNvSpPr/>
            <p:nvPr/>
          </p:nvSpPr>
          <p:spPr>
            <a:xfrm flipH="false" flipV="false" rot="0">
              <a:off x="0" y="0"/>
              <a:ext cx="3291840" cy="560832"/>
            </a:xfrm>
            <a:custGeom>
              <a:avLst/>
              <a:gdLst/>
              <a:ahLst/>
              <a:cxnLst/>
              <a:rect r="r" b="b" t="t" l="l"/>
              <a:pathLst>
                <a:path h="560832" w="3291840">
                  <a:moveTo>
                    <a:pt x="0" y="0"/>
                  </a:moveTo>
                  <a:lnTo>
                    <a:pt x="3291840" y="0"/>
                  </a:lnTo>
                  <a:lnTo>
                    <a:pt x="3291840" y="560832"/>
                  </a:lnTo>
                  <a:lnTo>
                    <a:pt x="0" y="560832"/>
                  </a:lnTo>
                  <a:close/>
                </a:path>
              </a:pathLst>
            </a:custGeom>
            <a:blipFill>
              <a:blip r:embed="rId3">
                <a:alphaModFix amt="0"/>
              </a:blip>
              <a:stretch>
                <a:fillRect l="0" t="-64368" r="0" b="-64368"/>
              </a:stretch>
            </a:blipFill>
          </p:spPr>
        </p:sp>
        <p:sp>
          <p:nvSpPr>
            <p:cNvPr name="TextBox 245" id="245"/>
            <p:cNvSpPr txBox="true"/>
            <p:nvPr/>
          </p:nvSpPr>
          <p:spPr>
            <a:xfrm>
              <a:off x="0" y="-38100"/>
              <a:ext cx="3291840" cy="598932"/>
            </a:xfrm>
            <a:prstGeom prst="rect">
              <a:avLst/>
            </a:prstGeom>
          </p:spPr>
          <p:txBody>
            <a:bodyPr anchor="ctr" rtlCol="false" tIns="0" lIns="0" bIns="0" rIns="0"/>
            <a:lstStyle/>
            <a:p>
              <a:pPr algn="l">
                <a:lnSpc>
                  <a:spcPts val="2280"/>
                </a:lnSpc>
              </a:pPr>
              <a:r>
                <a:rPr lang="en-US" sz="1900" b="true">
                  <a:solidFill>
                    <a:srgbClr val="0D1B3E"/>
                  </a:solidFill>
                  <a:latin typeface="Calibri (MS) Bold"/>
                  <a:ea typeface="Calibri (MS) Bold"/>
                  <a:cs typeface="Calibri (MS) Bold"/>
                  <a:sym typeface="Calibri (MS) Bold"/>
                </a:rPr>
                <a:t>ROUGE-L</a:t>
              </a:r>
            </a:p>
          </p:txBody>
        </p:sp>
      </p:grpSp>
      <p:grpSp>
        <p:nvGrpSpPr>
          <p:cNvPr name="Group 246" id="246"/>
          <p:cNvGrpSpPr/>
          <p:nvPr/>
        </p:nvGrpSpPr>
        <p:grpSpPr>
          <a:xfrm rot="0">
            <a:off x="11923776" y="7626096"/>
            <a:ext cx="6400800" cy="420624"/>
            <a:chOff x="0" y="0"/>
            <a:chExt cx="8534400" cy="560832"/>
          </a:xfrm>
        </p:grpSpPr>
        <p:sp>
          <p:nvSpPr>
            <p:cNvPr name="Freeform 247" id="247"/>
            <p:cNvSpPr/>
            <p:nvPr/>
          </p:nvSpPr>
          <p:spPr>
            <a:xfrm flipH="false" flipV="false" rot="0">
              <a:off x="0" y="0"/>
              <a:ext cx="8534400" cy="560832"/>
            </a:xfrm>
            <a:custGeom>
              <a:avLst/>
              <a:gdLst/>
              <a:ahLst/>
              <a:cxnLst/>
              <a:rect r="r" b="b" t="t" l="l"/>
              <a:pathLst>
                <a:path h="560832" w="8534400">
                  <a:moveTo>
                    <a:pt x="0" y="0"/>
                  </a:moveTo>
                  <a:lnTo>
                    <a:pt x="8534400" y="0"/>
                  </a:lnTo>
                  <a:lnTo>
                    <a:pt x="8534400" y="560832"/>
                  </a:lnTo>
                  <a:lnTo>
                    <a:pt x="0" y="560832"/>
                  </a:lnTo>
                  <a:close/>
                </a:path>
              </a:pathLst>
            </a:custGeom>
            <a:blipFill>
              <a:blip r:embed="rId3">
                <a:alphaModFix amt="0"/>
              </a:blip>
              <a:stretch>
                <a:fillRect l="0" t="-246511" r="0" b="-246511"/>
              </a:stretch>
            </a:blipFill>
          </p:spPr>
        </p:sp>
        <p:sp>
          <p:nvSpPr>
            <p:cNvPr name="TextBox 248" id="248"/>
            <p:cNvSpPr txBox="true"/>
            <p:nvPr/>
          </p:nvSpPr>
          <p:spPr>
            <a:xfrm>
              <a:off x="0" y="-38100"/>
              <a:ext cx="8534400" cy="598932"/>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Recall-Oriented Understudy — Longest Common Subsequence</a:t>
              </a:r>
            </a:p>
          </p:txBody>
        </p:sp>
      </p:grpSp>
      <p:grpSp>
        <p:nvGrpSpPr>
          <p:cNvPr name="Group 249" id="249"/>
          <p:cNvGrpSpPr/>
          <p:nvPr/>
        </p:nvGrpSpPr>
        <p:grpSpPr>
          <a:xfrm rot="0">
            <a:off x="9323070" y="8042910"/>
            <a:ext cx="8328660" cy="7620"/>
            <a:chOff x="0" y="0"/>
            <a:chExt cx="11104880" cy="10160"/>
          </a:xfrm>
        </p:grpSpPr>
        <p:sp>
          <p:nvSpPr>
            <p:cNvPr name="Freeform 250" id="250"/>
            <p:cNvSpPr/>
            <p:nvPr/>
          </p:nvSpPr>
          <p:spPr>
            <a:xfrm flipH="false" flipV="false" rot="0">
              <a:off x="5080" y="0"/>
              <a:ext cx="11094720" cy="10160"/>
            </a:xfrm>
            <a:custGeom>
              <a:avLst/>
              <a:gdLst/>
              <a:ahLst/>
              <a:cxnLst/>
              <a:rect r="r" b="b" t="t" l="l"/>
              <a:pathLst>
                <a:path h="10160" w="11094720">
                  <a:moveTo>
                    <a:pt x="0" y="0"/>
                  </a:moveTo>
                  <a:lnTo>
                    <a:pt x="11094720" y="0"/>
                  </a:lnTo>
                  <a:lnTo>
                    <a:pt x="11094720" y="10160"/>
                  </a:lnTo>
                  <a:lnTo>
                    <a:pt x="0" y="10160"/>
                  </a:lnTo>
                  <a:close/>
                </a:path>
              </a:pathLst>
            </a:custGeom>
            <a:solidFill>
              <a:srgbClr val="E2E8F0"/>
            </a:solidFill>
          </p:spPr>
        </p:sp>
      </p:grpSp>
      <p:grpSp>
        <p:nvGrpSpPr>
          <p:cNvPr name="Group 251" id="251"/>
          <p:cNvGrpSpPr/>
          <p:nvPr/>
        </p:nvGrpSpPr>
        <p:grpSpPr>
          <a:xfrm rot="0">
            <a:off x="9326880" y="8083296"/>
            <a:ext cx="2468880" cy="420624"/>
            <a:chOff x="0" y="0"/>
            <a:chExt cx="3291840" cy="560832"/>
          </a:xfrm>
        </p:grpSpPr>
        <p:sp>
          <p:nvSpPr>
            <p:cNvPr name="Freeform 252" id="252"/>
            <p:cNvSpPr/>
            <p:nvPr/>
          </p:nvSpPr>
          <p:spPr>
            <a:xfrm flipH="false" flipV="false" rot="0">
              <a:off x="0" y="0"/>
              <a:ext cx="3291840" cy="560832"/>
            </a:xfrm>
            <a:custGeom>
              <a:avLst/>
              <a:gdLst/>
              <a:ahLst/>
              <a:cxnLst/>
              <a:rect r="r" b="b" t="t" l="l"/>
              <a:pathLst>
                <a:path h="560832" w="3291840">
                  <a:moveTo>
                    <a:pt x="0" y="0"/>
                  </a:moveTo>
                  <a:lnTo>
                    <a:pt x="3291840" y="0"/>
                  </a:lnTo>
                  <a:lnTo>
                    <a:pt x="3291840" y="560832"/>
                  </a:lnTo>
                  <a:lnTo>
                    <a:pt x="0" y="560832"/>
                  </a:lnTo>
                  <a:close/>
                </a:path>
              </a:pathLst>
            </a:custGeom>
            <a:blipFill>
              <a:blip r:embed="rId3">
                <a:alphaModFix amt="0"/>
              </a:blip>
              <a:stretch>
                <a:fillRect l="0" t="-64368" r="0" b="-64368"/>
              </a:stretch>
            </a:blipFill>
          </p:spPr>
        </p:sp>
        <p:sp>
          <p:nvSpPr>
            <p:cNvPr name="TextBox 253" id="253"/>
            <p:cNvSpPr txBox="true"/>
            <p:nvPr/>
          </p:nvSpPr>
          <p:spPr>
            <a:xfrm>
              <a:off x="0" y="-38100"/>
              <a:ext cx="3291840" cy="598932"/>
            </a:xfrm>
            <a:prstGeom prst="rect">
              <a:avLst/>
            </a:prstGeom>
          </p:spPr>
          <p:txBody>
            <a:bodyPr anchor="ctr" rtlCol="false" tIns="0" lIns="0" bIns="0" rIns="0"/>
            <a:lstStyle/>
            <a:p>
              <a:pPr algn="l">
                <a:lnSpc>
                  <a:spcPts val="2280"/>
                </a:lnSpc>
              </a:pPr>
              <a:r>
                <a:rPr lang="en-US" sz="1900" b="true">
                  <a:solidFill>
                    <a:srgbClr val="0D1B3E"/>
                  </a:solidFill>
                  <a:latin typeface="Calibri (MS) Bold"/>
                  <a:ea typeface="Calibri (MS) Bold"/>
                  <a:cs typeface="Calibri (MS) Bold"/>
                  <a:sym typeface="Calibri (MS) Bold"/>
                </a:rPr>
                <a:t>METEOR</a:t>
              </a:r>
            </a:p>
          </p:txBody>
        </p:sp>
      </p:grpSp>
      <p:grpSp>
        <p:nvGrpSpPr>
          <p:cNvPr name="Group 254" id="254"/>
          <p:cNvGrpSpPr/>
          <p:nvPr/>
        </p:nvGrpSpPr>
        <p:grpSpPr>
          <a:xfrm rot="0">
            <a:off x="11923776" y="8083296"/>
            <a:ext cx="6400800" cy="420624"/>
            <a:chOff x="0" y="0"/>
            <a:chExt cx="8534400" cy="560832"/>
          </a:xfrm>
        </p:grpSpPr>
        <p:sp>
          <p:nvSpPr>
            <p:cNvPr name="Freeform 255" id="255"/>
            <p:cNvSpPr/>
            <p:nvPr/>
          </p:nvSpPr>
          <p:spPr>
            <a:xfrm flipH="false" flipV="false" rot="0">
              <a:off x="0" y="0"/>
              <a:ext cx="8534400" cy="560832"/>
            </a:xfrm>
            <a:custGeom>
              <a:avLst/>
              <a:gdLst/>
              <a:ahLst/>
              <a:cxnLst/>
              <a:rect r="r" b="b" t="t" l="l"/>
              <a:pathLst>
                <a:path h="560832" w="8534400">
                  <a:moveTo>
                    <a:pt x="0" y="0"/>
                  </a:moveTo>
                  <a:lnTo>
                    <a:pt x="8534400" y="0"/>
                  </a:lnTo>
                  <a:lnTo>
                    <a:pt x="8534400" y="560832"/>
                  </a:lnTo>
                  <a:lnTo>
                    <a:pt x="0" y="560832"/>
                  </a:lnTo>
                  <a:close/>
                </a:path>
              </a:pathLst>
            </a:custGeom>
            <a:blipFill>
              <a:blip r:embed="rId3">
                <a:alphaModFix amt="0"/>
              </a:blip>
              <a:stretch>
                <a:fillRect l="0" t="-246511" r="0" b="-246511"/>
              </a:stretch>
            </a:blipFill>
          </p:spPr>
        </p:sp>
        <p:sp>
          <p:nvSpPr>
            <p:cNvPr name="TextBox 256" id="256"/>
            <p:cNvSpPr txBox="true"/>
            <p:nvPr/>
          </p:nvSpPr>
          <p:spPr>
            <a:xfrm>
              <a:off x="0" y="-38100"/>
              <a:ext cx="8534400" cy="598932"/>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Metric for Evaluation of Translation with Explicit ORdering</a:t>
              </a:r>
            </a:p>
          </p:txBody>
        </p:sp>
      </p:grpSp>
      <p:grpSp>
        <p:nvGrpSpPr>
          <p:cNvPr name="Group 257" id="257"/>
          <p:cNvGrpSpPr/>
          <p:nvPr/>
        </p:nvGrpSpPr>
        <p:grpSpPr>
          <a:xfrm rot="0">
            <a:off x="9323070" y="8500110"/>
            <a:ext cx="8328660" cy="7620"/>
            <a:chOff x="0" y="0"/>
            <a:chExt cx="11104880" cy="10160"/>
          </a:xfrm>
        </p:grpSpPr>
        <p:sp>
          <p:nvSpPr>
            <p:cNvPr name="Freeform 258" id="258"/>
            <p:cNvSpPr/>
            <p:nvPr/>
          </p:nvSpPr>
          <p:spPr>
            <a:xfrm flipH="false" flipV="false" rot="0">
              <a:off x="5080" y="0"/>
              <a:ext cx="11094720" cy="10160"/>
            </a:xfrm>
            <a:custGeom>
              <a:avLst/>
              <a:gdLst/>
              <a:ahLst/>
              <a:cxnLst/>
              <a:rect r="r" b="b" t="t" l="l"/>
              <a:pathLst>
                <a:path h="10160" w="11094720">
                  <a:moveTo>
                    <a:pt x="0" y="0"/>
                  </a:moveTo>
                  <a:lnTo>
                    <a:pt x="11094720" y="0"/>
                  </a:lnTo>
                  <a:lnTo>
                    <a:pt x="11094720" y="10160"/>
                  </a:lnTo>
                  <a:lnTo>
                    <a:pt x="0" y="10160"/>
                  </a:lnTo>
                  <a:close/>
                </a:path>
              </a:pathLst>
            </a:custGeom>
            <a:solidFill>
              <a:srgbClr val="E2E8F0"/>
            </a:solidFill>
          </p:spPr>
        </p:sp>
      </p:grpSp>
      <p:grpSp>
        <p:nvGrpSpPr>
          <p:cNvPr name="Group 259" id="259"/>
          <p:cNvGrpSpPr/>
          <p:nvPr/>
        </p:nvGrpSpPr>
        <p:grpSpPr>
          <a:xfrm rot="0">
            <a:off x="9326880" y="8540496"/>
            <a:ext cx="2468880" cy="420624"/>
            <a:chOff x="0" y="0"/>
            <a:chExt cx="3291840" cy="560832"/>
          </a:xfrm>
        </p:grpSpPr>
        <p:sp>
          <p:nvSpPr>
            <p:cNvPr name="Freeform 260" id="260"/>
            <p:cNvSpPr/>
            <p:nvPr/>
          </p:nvSpPr>
          <p:spPr>
            <a:xfrm flipH="false" flipV="false" rot="0">
              <a:off x="0" y="0"/>
              <a:ext cx="3291840" cy="560832"/>
            </a:xfrm>
            <a:custGeom>
              <a:avLst/>
              <a:gdLst/>
              <a:ahLst/>
              <a:cxnLst/>
              <a:rect r="r" b="b" t="t" l="l"/>
              <a:pathLst>
                <a:path h="560832" w="3291840">
                  <a:moveTo>
                    <a:pt x="0" y="0"/>
                  </a:moveTo>
                  <a:lnTo>
                    <a:pt x="3291840" y="0"/>
                  </a:lnTo>
                  <a:lnTo>
                    <a:pt x="3291840" y="560832"/>
                  </a:lnTo>
                  <a:lnTo>
                    <a:pt x="0" y="560832"/>
                  </a:lnTo>
                  <a:close/>
                </a:path>
              </a:pathLst>
            </a:custGeom>
            <a:blipFill>
              <a:blip r:embed="rId3">
                <a:alphaModFix amt="0"/>
              </a:blip>
              <a:stretch>
                <a:fillRect l="0" t="-64368" r="0" b="-64368"/>
              </a:stretch>
            </a:blipFill>
          </p:spPr>
        </p:sp>
        <p:sp>
          <p:nvSpPr>
            <p:cNvPr name="TextBox 261" id="261"/>
            <p:cNvSpPr txBox="true"/>
            <p:nvPr/>
          </p:nvSpPr>
          <p:spPr>
            <a:xfrm>
              <a:off x="0" y="-38100"/>
              <a:ext cx="3291840" cy="598932"/>
            </a:xfrm>
            <a:prstGeom prst="rect">
              <a:avLst/>
            </a:prstGeom>
          </p:spPr>
          <p:txBody>
            <a:bodyPr anchor="ctr" rtlCol="false" tIns="0" lIns="0" bIns="0" rIns="0"/>
            <a:lstStyle/>
            <a:p>
              <a:pPr algn="l">
                <a:lnSpc>
                  <a:spcPts val="2280"/>
                </a:lnSpc>
              </a:pPr>
              <a:r>
                <a:rPr lang="en-US" sz="1900" b="true">
                  <a:solidFill>
                    <a:srgbClr val="0D1B3E"/>
                  </a:solidFill>
                  <a:latin typeface="Calibri (MS) Bold"/>
                  <a:ea typeface="Calibri (MS) Bold"/>
                  <a:cs typeface="Calibri (MS) Bold"/>
                  <a:sym typeface="Calibri (MS) Bold"/>
                </a:rPr>
                <a:t>CIDEr</a:t>
              </a:r>
            </a:p>
          </p:txBody>
        </p:sp>
      </p:grpSp>
      <p:grpSp>
        <p:nvGrpSpPr>
          <p:cNvPr name="Group 262" id="262"/>
          <p:cNvGrpSpPr/>
          <p:nvPr/>
        </p:nvGrpSpPr>
        <p:grpSpPr>
          <a:xfrm rot="0">
            <a:off x="11923776" y="8540496"/>
            <a:ext cx="6400800" cy="420624"/>
            <a:chOff x="0" y="0"/>
            <a:chExt cx="8534400" cy="560832"/>
          </a:xfrm>
        </p:grpSpPr>
        <p:sp>
          <p:nvSpPr>
            <p:cNvPr name="Freeform 263" id="263"/>
            <p:cNvSpPr/>
            <p:nvPr/>
          </p:nvSpPr>
          <p:spPr>
            <a:xfrm flipH="false" flipV="false" rot="0">
              <a:off x="0" y="0"/>
              <a:ext cx="8534400" cy="560832"/>
            </a:xfrm>
            <a:custGeom>
              <a:avLst/>
              <a:gdLst/>
              <a:ahLst/>
              <a:cxnLst/>
              <a:rect r="r" b="b" t="t" l="l"/>
              <a:pathLst>
                <a:path h="560832" w="8534400">
                  <a:moveTo>
                    <a:pt x="0" y="0"/>
                  </a:moveTo>
                  <a:lnTo>
                    <a:pt x="8534400" y="0"/>
                  </a:lnTo>
                  <a:lnTo>
                    <a:pt x="8534400" y="560832"/>
                  </a:lnTo>
                  <a:lnTo>
                    <a:pt x="0" y="560832"/>
                  </a:lnTo>
                  <a:close/>
                </a:path>
              </a:pathLst>
            </a:custGeom>
            <a:blipFill>
              <a:blip r:embed="rId3">
                <a:alphaModFix amt="0"/>
              </a:blip>
              <a:stretch>
                <a:fillRect l="0" t="-246511" r="0" b="-246511"/>
              </a:stretch>
            </a:blipFill>
          </p:spPr>
        </p:sp>
        <p:sp>
          <p:nvSpPr>
            <p:cNvPr name="TextBox 264" id="264"/>
            <p:cNvSpPr txBox="true"/>
            <p:nvPr/>
          </p:nvSpPr>
          <p:spPr>
            <a:xfrm>
              <a:off x="0" y="-38100"/>
              <a:ext cx="8534400" cy="598932"/>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Consensus-based Image Description Evaluation</a:t>
              </a:r>
            </a:p>
          </p:txBody>
        </p:sp>
      </p:grpSp>
      <p:grpSp>
        <p:nvGrpSpPr>
          <p:cNvPr name="Group 265" id="265"/>
          <p:cNvGrpSpPr/>
          <p:nvPr/>
        </p:nvGrpSpPr>
        <p:grpSpPr>
          <a:xfrm rot="0">
            <a:off x="9323070" y="8957310"/>
            <a:ext cx="8328660" cy="7620"/>
            <a:chOff x="0" y="0"/>
            <a:chExt cx="11104880" cy="10160"/>
          </a:xfrm>
        </p:grpSpPr>
        <p:sp>
          <p:nvSpPr>
            <p:cNvPr name="Freeform 266" id="266"/>
            <p:cNvSpPr/>
            <p:nvPr/>
          </p:nvSpPr>
          <p:spPr>
            <a:xfrm flipH="false" flipV="false" rot="0">
              <a:off x="5080" y="0"/>
              <a:ext cx="11094720" cy="10160"/>
            </a:xfrm>
            <a:custGeom>
              <a:avLst/>
              <a:gdLst/>
              <a:ahLst/>
              <a:cxnLst/>
              <a:rect r="r" b="b" t="t" l="l"/>
              <a:pathLst>
                <a:path h="10160" w="11094720">
                  <a:moveTo>
                    <a:pt x="0" y="0"/>
                  </a:moveTo>
                  <a:lnTo>
                    <a:pt x="11094720" y="0"/>
                  </a:lnTo>
                  <a:lnTo>
                    <a:pt x="11094720" y="10160"/>
                  </a:lnTo>
                  <a:lnTo>
                    <a:pt x="0" y="10160"/>
                  </a:lnTo>
                  <a:close/>
                </a:path>
              </a:pathLst>
            </a:custGeom>
            <a:solidFill>
              <a:srgbClr val="E2E8F0"/>
            </a:solidFill>
          </p:spPr>
        </p:sp>
      </p:grpSp>
      <p:grpSp>
        <p:nvGrpSpPr>
          <p:cNvPr name="Group 267" id="267"/>
          <p:cNvGrpSpPr/>
          <p:nvPr/>
        </p:nvGrpSpPr>
        <p:grpSpPr>
          <a:xfrm rot="0">
            <a:off x="9326880" y="8997696"/>
            <a:ext cx="2468880" cy="420624"/>
            <a:chOff x="0" y="0"/>
            <a:chExt cx="3291840" cy="560832"/>
          </a:xfrm>
        </p:grpSpPr>
        <p:sp>
          <p:nvSpPr>
            <p:cNvPr name="Freeform 268" id="268"/>
            <p:cNvSpPr/>
            <p:nvPr/>
          </p:nvSpPr>
          <p:spPr>
            <a:xfrm flipH="false" flipV="false" rot="0">
              <a:off x="0" y="0"/>
              <a:ext cx="3291840" cy="560832"/>
            </a:xfrm>
            <a:custGeom>
              <a:avLst/>
              <a:gdLst/>
              <a:ahLst/>
              <a:cxnLst/>
              <a:rect r="r" b="b" t="t" l="l"/>
              <a:pathLst>
                <a:path h="560832" w="3291840">
                  <a:moveTo>
                    <a:pt x="0" y="0"/>
                  </a:moveTo>
                  <a:lnTo>
                    <a:pt x="3291840" y="0"/>
                  </a:lnTo>
                  <a:lnTo>
                    <a:pt x="3291840" y="560832"/>
                  </a:lnTo>
                  <a:lnTo>
                    <a:pt x="0" y="560832"/>
                  </a:lnTo>
                  <a:close/>
                </a:path>
              </a:pathLst>
            </a:custGeom>
            <a:blipFill>
              <a:blip r:embed="rId3">
                <a:alphaModFix amt="0"/>
              </a:blip>
              <a:stretch>
                <a:fillRect l="0" t="-64368" r="0" b="-64368"/>
              </a:stretch>
            </a:blipFill>
          </p:spPr>
        </p:sp>
        <p:sp>
          <p:nvSpPr>
            <p:cNvPr name="TextBox 269" id="269"/>
            <p:cNvSpPr txBox="true"/>
            <p:nvPr/>
          </p:nvSpPr>
          <p:spPr>
            <a:xfrm>
              <a:off x="0" y="-38100"/>
              <a:ext cx="3291840" cy="598932"/>
            </a:xfrm>
            <a:prstGeom prst="rect">
              <a:avLst/>
            </a:prstGeom>
          </p:spPr>
          <p:txBody>
            <a:bodyPr anchor="ctr" rtlCol="false" tIns="0" lIns="0" bIns="0" rIns="0"/>
            <a:lstStyle/>
            <a:p>
              <a:pPr algn="l">
                <a:lnSpc>
                  <a:spcPts val="2280"/>
                </a:lnSpc>
              </a:pPr>
              <a:r>
                <a:rPr lang="en-US" sz="1900" b="true">
                  <a:solidFill>
                    <a:srgbClr val="0D1B3E"/>
                  </a:solidFill>
                  <a:latin typeface="Calibri (MS) Bold"/>
                  <a:ea typeface="Calibri (MS) Bold"/>
                  <a:cs typeface="Calibri (MS) Bold"/>
                  <a:sym typeface="Calibri (MS) Bold"/>
                </a:rPr>
                <a:t>GradNorm</a:t>
              </a:r>
            </a:p>
          </p:txBody>
        </p:sp>
      </p:grpSp>
      <p:grpSp>
        <p:nvGrpSpPr>
          <p:cNvPr name="Group 270" id="270"/>
          <p:cNvGrpSpPr/>
          <p:nvPr/>
        </p:nvGrpSpPr>
        <p:grpSpPr>
          <a:xfrm rot="0">
            <a:off x="11923776" y="8997696"/>
            <a:ext cx="6400800" cy="420624"/>
            <a:chOff x="0" y="0"/>
            <a:chExt cx="8534400" cy="560832"/>
          </a:xfrm>
        </p:grpSpPr>
        <p:sp>
          <p:nvSpPr>
            <p:cNvPr name="Freeform 271" id="271"/>
            <p:cNvSpPr/>
            <p:nvPr/>
          </p:nvSpPr>
          <p:spPr>
            <a:xfrm flipH="false" flipV="false" rot="0">
              <a:off x="0" y="0"/>
              <a:ext cx="8534400" cy="560832"/>
            </a:xfrm>
            <a:custGeom>
              <a:avLst/>
              <a:gdLst/>
              <a:ahLst/>
              <a:cxnLst/>
              <a:rect r="r" b="b" t="t" l="l"/>
              <a:pathLst>
                <a:path h="560832" w="8534400">
                  <a:moveTo>
                    <a:pt x="0" y="0"/>
                  </a:moveTo>
                  <a:lnTo>
                    <a:pt x="8534400" y="0"/>
                  </a:lnTo>
                  <a:lnTo>
                    <a:pt x="8534400" y="560832"/>
                  </a:lnTo>
                  <a:lnTo>
                    <a:pt x="0" y="560832"/>
                  </a:lnTo>
                  <a:close/>
                </a:path>
              </a:pathLst>
            </a:custGeom>
            <a:blipFill>
              <a:blip r:embed="rId3">
                <a:alphaModFix amt="0"/>
              </a:blip>
              <a:stretch>
                <a:fillRect l="0" t="-246511" r="0" b="-246511"/>
              </a:stretch>
            </a:blipFill>
          </p:spPr>
        </p:sp>
        <p:sp>
          <p:nvSpPr>
            <p:cNvPr name="TextBox 272" id="272"/>
            <p:cNvSpPr txBox="true"/>
            <p:nvPr/>
          </p:nvSpPr>
          <p:spPr>
            <a:xfrm>
              <a:off x="0" y="-38100"/>
              <a:ext cx="8534400" cy="598932"/>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Gradient Normalization for adaptive loss balancing</a:t>
              </a:r>
            </a:p>
          </p:txBody>
        </p:sp>
      </p:grpSp>
      <p:grpSp>
        <p:nvGrpSpPr>
          <p:cNvPr name="Group 273" id="273"/>
          <p:cNvGrpSpPr/>
          <p:nvPr/>
        </p:nvGrpSpPr>
        <p:grpSpPr>
          <a:xfrm rot="0">
            <a:off x="9323070" y="9414510"/>
            <a:ext cx="8328660" cy="7620"/>
            <a:chOff x="0" y="0"/>
            <a:chExt cx="11104880" cy="10160"/>
          </a:xfrm>
        </p:grpSpPr>
        <p:sp>
          <p:nvSpPr>
            <p:cNvPr name="Freeform 274" id="274"/>
            <p:cNvSpPr/>
            <p:nvPr/>
          </p:nvSpPr>
          <p:spPr>
            <a:xfrm flipH="false" flipV="false" rot="0">
              <a:off x="5080" y="0"/>
              <a:ext cx="11094720" cy="10160"/>
            </a:xfrm>
            <a:custGeom>
              <a:avLst/>
              <a:gdLst/>
              <a:ahLst/>
              <a:cxnLst/>
              <a:rect r="r" b="b" t="t" l="l"/>
              <a:pathLst>
                <a:path h="10160" w="11094720">
                  <a:moveTo>
                    <a:pt x="0" y="0"/>
                  </a:moveTo>
                  <a:lnTo>
                    <a:pt x="11094720" y="0"/>
                  </a:lnTo>
                  <a:lnTo>
                    <a:pt x="11094720" y="10160"/>
                  </a:lnTo>
                  <a:lnTo>
                    <a:pt x="0" y="10160"/>
                  </a:lnTo>
                  <a:close/>
                </a:path>
              </a:pathLst>
            </a:custGeom>
            <a:solidFill>
              <a:srgbClr val="E2E8F0"/>
            </a:solidFill>
          </p:spPr>
        </p:sp>
      </p:grpSp>
      <p:grpSp>
        <p:nvGrpSpPr>
          <p:cNvPr name="Group 275" id="275"/>
          <p:cNvGrpSpPr/>
          <p:nvPr/>
        </p:nvGrpSpPr>
        <p:grpSpPr>
          <a:xfrm rot="0">
            <a:off x="9326880" y="9454896"/>
            <a:ext cx="2468880" cy="420624"/>
            <a:chOff x="0" y="0"/>
            <a:chExt cx="3291840" cy="560832"/>
          </a:xfrm>
        </p:grpSpPr>
        <p:sp>
          <p:nvSpPr>
            <p:cNvPr name="Freeform 276" id="276"/>
            <p:cNvSpPr/>
            <p:nvPr/>
          </p:nvSpPr>
          <p:spPr>
            <a:xfrm flipH="false" flipV="false" rot="0">
              <a:off x="0" y="0"/>
              <a:ext cx="3291840" cy="560832"/>
            </a:xfrm>
            <a:custGeom>
              <a:avLst/>
              <a:gdLst/>
              <a:ahLst/>
              <a:cxnLst/>
              <a:rect r="r" b="b" t="t" l="l"/>
              <a:pathLst>
                <a:path h="560832" w="3291840">
                  <a:moveTo>
                    <a:pt x="0" y="0"/>
                  </a:moveTo>
                  <a:lnTo>
                    <a:pt x="3291840" y="0"/>
                  </a:lnTo>
                  <a:lnTo>
                    <a:pt x="3291840" y="560832"/>
                  </a:lnTo>
                  <a:lnTo>
                    <a:pt x="0" y="560832"/>
                  </a:lnTo>
                  <a:close/>
                </a:path>
              </a:pathLst>
            </a:custGeom>
            <a:blipFill>
              <a:blip r:embed="rId3">
                <a:alphaModFix amt="0"/>
              </a:blip>
              <a:stretch>
                <a:fillRect l="0" t="-64368" r="0" b="-64368"/>
              </a:stretch>
            </a:blipFill>
          </p:spPr>
        </p:sp>
        <p:sp>
          <p:nvSpPr>
            <p:cNvPr name="TextBox 277" id="277"/>
            <p:cNvSpPr txBox="true"/>
            <p:nvPr/>
          </p:nvSpPr>
          <p:spPr>
            <a:xfrm>
              <a:off x="0" y="-38100"/>
              <a:ext cx="3291840" cy="598932"/>
            </a:xfrm>
            <a:prstGeom prst="rect">
              <a:avLst/>
            </a:prstGeom>
          </p:spPr>
          <p:txBody>
            <a:bodyPr anchor="ctr" rtlCol="false" tIns="0" lIns="0" bIns="0" rIns="0"/>
            <a:lstStyle/>
            <a:p>
              <a:pPr algn="l">
                <a:lnSpc>
                  <a:spcPts val="2280"/>
                </a:lnSpc>
              </a:pPr>
              <a:r>
                <a:rPr lang="en-US" sz="1900" b="true">
                  <a:solidFill>
                    <a:srgbClr val="0D1B3E"/>
                  </a:solidFill>
                  <a:latin typeface="Calibri (MS) Bold"/>
                  <a:ea typeface="Calibri (MS) Bold"/>
                  <a:cs typeface="Calibri (MS) Bold"/>
                  <a:sym typeface="Calibri (MS) Bold"/>
                </a:rPr>
                <a:t>Adam</a:t>
              </a:r>
            </a:p>
          </p:txBody>
        </p:sp>
      </p:grpSp>
      <p:grpSp>
        <p:nvGrpSpPr>
          <p:cNvPr name="Group 278" id="278"/>
          <p:cNvGrpSpPr/>
          <p:nvPr/>
        </p:nvGrpSpPr>
        <p:grpSpPr>
          <a:xfrm rot="0">
            <a:off x="11923776" y="9454896"/>
            <a:ext cx="6400800" cy="420624"/>
            <a:chOff x="0" y="0"/>
            <a:chExt cx="8534400" cy="560832"/>
          </a:xfrm>
        </p:grpSpPr>
        <p:sp>
          <p:nvSpPr>
            <p:cNvPr name="Freeform 279" id="279"/>
            <p:cNvSpPr/>
            <p:nvPr/>
          </p:nvSpPr>
          <p:spPr>
            <a:xfrm flipH="false" flipV="false" rot="0">
              <a:off x="0" y="0"/>
              <a:ext cx="8534400" cy="560832"/>
            </a:xfrm>
            <a:custGeom>
              <a:avLst/>
              <a:gdLst/>
              <a:ahLst/>
              <a:cxnLst/>
              <a:rect r="r" b="b" t="t" l="l"/>
              <a:pathLst>
                <a:path h="560832" w="8534400">
                  <a:moveTo>
                    <a:pt x="0" y="0"/>
                  </a:moveTo>
                  <a:lnTo>
                    <a:pt x="8534400" y="0"/>
                  </a:lnTo>
                  <a:lnTo>
                    <a:pt x="8534400" y="560832"/>
                  </a:lnTo>
                  <a:lnTo>
                    <a:pt x="0" y="560832"/>
                  </a:lnTo>
                  <a:close/>
                </a:path>
              </a:pathLst>
            </a:custGeom>
            <a:blipFill>
              <a:blip r:embed="rId3">
                <a:alphaModFix amt="0"/>
              </a:blip>
              <a:stretch>
                <a:fillRect l="0" t="-246511" r="0" b="-246511"/>
              </a:stretch>
            </a:blipFill>
          </p:spPr>
        </p:sp>
        <p:sp>
          <p:nvSpPr>
            <p:cNvPr name="TextBox 280" id="280"/>
            <p:cNvSpPr txBox="true"/>
            <p:nvPr/>
          </p:nvSpPr>
          <p:spPr>
            <a:xfrm>
              <a:off x="0" y="-38100"/>
              <a:ext cx="8534400" cy="598932"/>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Adaptive Moment Estimation (optimizer)</a:t>
              </a:r>
            </a:p>
          </p:txBody>
        </p:sp>
      </p:grpSp>
      <p:grpSp>
        <p:nvGrpSpPr>
          <p:cNvPr name="Group 281" id="281"/>
          <p:cNvGrpSpPr/>
          <p:nvPr/>
        </p:nvGrpSpPr>
        <p:grpSpPr>
          <a:xfrm rot="0">
            <a:off x="9323070" y="9871710"/>
            <a:ext cx="8328660" cy="7620"/>
            <a:chOff x="0" y="0"/>
            <a:chExt cx="11104880" cy="10160"/>
          </a:xfrm>
        </p:grpSpPr>
        <p:sp>
          <p:nvSpPr>
            <p:cNvPr name="Freeform 282" id="282"/>
            <p:cNvSpPr/>
            <p:nvPr/>
          </p:nvSpPr>
          <p:spPr>
            <a:xfrm flipH="false" flipV="false" rot="0">
              <a:off x="5080" y="0"/>
              <a:ext cx="11094720" cy="10160"/>
            </a:xfrm>
            <a:custGeom>
              <a:avLst/>
              <a:gdLst/>
              <a:ahLst/>
              <a:cxnLst/>
              <a:rect r="r" b="b" t="t" l="l"/>
              <a:pathLst>
                <a:path h="10160" w="11094720">
                  <a:moveTo>
                    <a:pt x="0" y="0"/>
                  </a:moveTo>
                  <a:lnTo>
                    <a:pt x="11094720" y="0"/>
                  </a:lnTo>
                  <a:lnTo>
                    <a:pt x="11094720" y="10160"/>
                  </a:lnTo>
                  <a:lnTo>
                    <a:pt x="0" y="10160"/>
                  </a:lnTo>
                  <a:close/>
                </a:path>
              </a:pathLst>
            </a:custGeom>
            <a:solidFill>
              <a:srgbClr val="E2E8F0"/>
            </a:solidFill>
          </p:spPr>
        </p:sp>
      </p:grpSp>
      <p:grpSp>
        <p:nvGrpSpPr>
          <p:cNvPr name="Group 283" id="283"/>
          <p:cNvGrpSpPr/>
          <p:nvPr/>
        </p:nvGrpSpPr>
        <p:grpSpPr>
          <a:xfrm rot="0">
            <a:off x="9326880" y="9912096"/>
            <a:ext cx="2468880" cy="420624"/>
            <a:chOff x="0" y="0"/>
            <a:chExt cx="3291840" cy="560832"/>
          </a:xfrm>
        </p:grpSpPr>
        <p:sp>
          <p:nvSpPr>
            <p:cNvPr name="Freeform 284" id="284"/>
            <p:cNvSpPr/>
            <p:nvPr/>
          </p:nvSpPr>
          <p:spPr>
            <a:xfrm flipH="false" flipV="false" rot="0">
              <a:off x="0" y="0"/>
              <a:ext cx="3291840" cy="560832"/>
            </a:xfrm>
            <a:custGeom>
              <a:avLst/>
              <a:gdLst/>
              <a:ahLst/>
              <a:cxnLst/>
              <a:rect r="r" b="b" t="t" l="l"/>
              <a:pathLst>
                <a:path h="560832" w="3291840">
                  <a:moveTo>
                    <a:pt x="0" y="0"/>
                  </a:moveTo>
                  <a:lnTo>
                    <a:pt x="3291840" y="0"/>
                  </a:lnTo>
                  <a:lnTo>
                    <a:pt x="3291840" y="560832"/>
                  </a:lnTo>
                  <a:lnTo>
                    <a:pt x="0" y="560832"/>
                  </a:lnTo>
                  <a:close/>
                </a:path>
              </a:pathLst>
            </a:custGeom>
            <a:blipFill>
              <a:blip r:embed="rId3">
                <a:alphaModFix amt="0"/>
              </a:blip>
              <a:stretch>
                <a:fillRect l="0" t="-64368" r="0" b="-64368"/>
              </a:stretch>
            </a:blipFill>
          </p:spPr>
        </p:sp>
        <p:sp>
          <p:nvSpPr>
            <p:cNvPr name="TextBox 285" id="285"/>
            <p:cNvSpPr txBox="true"/>
            <p:nvPr/>
          </p:nvSpPr>
          <p:spPr>
            <a:xfrm>
              <a:off x="0" y="-38100"/>
              <a:ext cx="3291840" cy="598932"/>
            </a:xfrm>
            <a:prstGeom prst="rect">
              <a:avLst/>
            </a:prstGeom>
          </p:spPr>
          <p:txBody>
            <a:bodyPr anchor="ctr" rtlCol="false" tIns="0" lIns="0" bIns="0" rIns="0"/>
            <a:lstStyle/>
            <a:p>
              <a:pPr algn="l">
                <a:lnSpc>
                  <a:spcPts val="2280"/>
                </a:lnSpc>
              </a:pPr>
              <a:r>
                <a:rPr lang="en-US" sz="1900" b="true">
                  <a:solidFill>
                    <a:srgbClr val="0D1B3E"/>
                  </a:solidFill>
                  <a:latin typeface="Calibri (MS) Bold"/>
                  <a:ea typeface="Calibri (MS) Bold"/>
                  <a:cs typeface="Calibri (MS) Bold"/>
                  <a:sym typeface="Calibri (MS) Bold"/>
                </a:rPr>
                <a:t>TF-IDF</a:t>
              </a:r>
            </a:p>
          </p:txBody>
        </p:sp>
      </p:grpSp>
      <p:grpSp>
        <p:nvGrpSpPr>
          <p:cNvPr name="Group 286" id="286"/>
          <p:cNvGrpSpPr/>
          <p:nvPr/>
        </p:nvGrpSpPr>
        <p:grpSpPr>
          <a:xfrm rot="0">
            <a:off x="11923776" y="9912096"/>
            <a:ext cx="6400800" cy="420624"/>
            <a:chOff x="0" y="0"/>
            <a:chExt cx="8534400" cy="560832"/>
          </a:xfrm>
        </p:grpSpPr>
        <p:sp>
          <p:nvSpPr>
            <p:cNvPr name="Freeform 287" id="287"/>
            <p:cNvSpPr/>
            <p:nvPr/>
          </p:nvSpPr>
          <p:spPr>
            <a:xfrm flipH="false" flipV="false" rot="0">
              <a:off x="0" y="0"/>
              <a:ext cx="8534400" cy="560832"/>
            </a:xfrm>
            <a:custGeom>
              <a:avLst/>
              <a:gdLst/>
              <a:ahLst/>
              <a:cxnLst/>
              <a:rect r="r" b="b" t="t" l="l"/>
              <a:pathLst>
                <a:path h="560832" w="8534400">
                  <a:moveTo>
                    <a:pt x="0" y="0"/>
                  </a:moveTo>
                  <a:lnTo>
                    <a:pt x="8534400" y="0"/>
                  </a:lnTo>
                  <a:lnTo>
                    <a:pt x="8534400" y="560832"/>
                  </a:lnTo>
                  <a:lnTo>
                    <a:pt x="0" y="560832"/>
                  </a:lnTo>
                  <a:close/>
                </a:path>
              </a:pathLst>
            </a:custGeom>
            <a:blipFill>
              <a:blip r:embed="rId3">
                <a:alphaModFix amt="0"/>
              </a:blip>
              <a:stretch>
                <a:fillRect l="0" t="-246511" r="0" b="-246511"/>
              </a:stretch>
            </a:blipFill>
          </p:spPr>
        </p:sp>
        <p:sp>
          <p:nvSpPr>
            <p:cNvPr name="TextBox 288" id="288"/>
            <p:cNvSpPr txBox="true"/>
            <p:nvPr/>
          </p:nvSpPr>
          <p:spPr>
            <a:xfrm>
              <a:off x="0" y="-38100"/>
              <a:ext cx="8534400" cy="598932"/>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Term Frequency – Inverse Document Frequency</a:t>
              </a:r>
            </a:p>
          </p:txBody>
        </p:sp>
      </p:grpSp>
      <p:grpSp>
        <p:nvGrpSpPr>
          <p:cNvPr name="Group 289" id="289"/>
          <p:cNvGrpSpPr/>
          <p:nvPr/>
        </p:nvGrpSpPr>
        <p:grpSpPr>
          <a:xfrm rot="0">
            <a:off x="9323070" y="10328910"/>
            <a:ext cx="8328660" cy="7620"/>
            <a:chOff x="0" y="0"/>
            <a:chExt cx="11104880" cy="10160"/>
          </a:xfrm>
        </p:grpSpPr>
        <p:sp>
          <p:nvSpPr>
            <p:cNvPr name="Freeform 290" id="290"/>
            <p:cNvSpPr/>
            <p:nvPr/>
          </p:nvSpPr>
          <p:spPr>
            <a:xfrm flipH="false" flipV="false" rot="0">
              <a:off x="5080" y="0"/>
              <a:ext cx="11094720" cy="10160"/>
            </a:xfrm>
            <a:custGeom>
              <a:avLst/>
              <a:gdLst/>
              <a:ahLst/>
              <a:cxnLst/>
              <a:rect r="r" b="b" t="t" l="l"/>
              <a:pathLst>
                <a:path h="10160" w="11094720">
                  <a:moveTo>
                    <a:pt x="0" y="0"/>
                  </a:moveTo>
                  <a:lnTo>
                    <a:pt x="11094720" y="0"/>
                  </a:lnTo>
                  <a:lnTo>
                    <a:pt x="11094720" y="10160"/>
                  </a:lnTo>
                  <a:lnTo>
                    <a:pt x="0" y="10160"/>
                  </a:lnTo>
                  <a:close/>
                </a:path>
              </a:pathLst>
            </a:custGeom>
            <a:solidFill>
              <a:srgbClr val="E2E8F0"/>
            </a:solidFill>
          </p:spPr>
        </p:sp>
      </p:grpSp>
      <p:grpSp>
        <p:nvGrpSpPr>
          <p:cNvPr name="Group 291" id="291"/>
          <p:cNvGrpSpPr/>
          <p:nvPr/>
        </p:nvGrpSpPr>
        <p:grpSpPr>
          <a:xfrm rot="0">
            <a:off x="9326880" y="10369296"/>
            <a:ext cx="2468880" cy="420624"/>
            <a:chOff x="0" y="0"/>
            <a:chExt cx="3291840" cy="560832"/>
          </a:xfrm>
        </p:grpSpPr>
        <p:sp>
          <p:nvSpPr>
            <p:cNvPr name="Freeform 292" id="292"/>
            <p:cNvSpPr/>
            <p:nvPr/>
          </p:nvSpPr>
          <p:spPr>
            <a:xfrm flipH="false" flipV="false" rot="0">
              <a:off x="0" y="0"/>
              <a:ext cx="3291840" cy="560832"/>
            </a:xfrm>
            <a:custGeom>
              <a:avLst/>
              <a:gdLst/>
              <a:ahLst/>
              <a:cxnLst/>
              <a:rect r="r" b="b" t="t" l="l"/>
              <a:pathLst>
                <a:path h="560832" w="3291840">
                  <a:moveTo>
                    <a:pt x="0" y="0"/>
                  </a:moveTo>
                  <a:lnTo>
                    <a:pt x="3291840" y="0"/>
                  </a:lnTo>
                  <a:lnTo>
                    <a:pt x="3291840" y="560832"/>
                  </a:lnTo>
                  <a:lnTo>
                    <a:pt x="0" y="560832"/>
                  </a:lnTo>
                  <a:close/>
                </a:path>
              </a:pathLst>
            </a:custGeom>
            <a:blipFill>
              <a:blip r:embed="rId3">
                <a:alphaModFix amt="0"/>
              </a:blip>
              <a:stretch>
                <a:fillRect l="0" t="-64368" r="0" b="-64368"/>
              </a:stretch>
            </a:blipFill>
          </p:spPr>
        </p:sp>
        <p:sp>
          <p:nvSpPr>
            <p:cNvPr name="TextBox 293" id="293"/>
            <p:cNvSpPr txBox="true"/>
            <p:nvPr/>
          </p:nvSpPr>
          <p:spPr>
            <a:xfrm>
              <a:off x="0" y="-38100"/>
              <a:ext cx="3291840" cy="598932"/>
            </a:xfrm>
            <a:prstGeom prst="rect">
              <a:avLst/>
            </a:prstGeom>
          </p:spPr>
          <p:txBody>
            <a:bodyPr anchor="ctr" rtlCol="false" tIns="0" lIns="0" bIns="0" rIns="0"/>
            <a:lstStyle/>
            <a:p>
              <a:pPr algn="l">
                <a:lnSpc>
                  <a:spcPts val="2280"/>
                </a:lnSpc>
              </a:pPr>
              <a:r>
                <a:rPr lang="en-US" sz="1900" b="true">
                  <a:solidFill>
                    <a:srgbClr val="0D1B3E"/>
                  </a:solidFill>
                  <a:latin typeface="Calibri (MS) Bold"/>
                  <a:ea typeface="Calibri (MS) Bold"/>
                  <a:cs typeface="Calibri (MS) Bold"/>
                  <a:sym typeface="Calibri (MS) Bold"/>
                </a:rPr>
                <a:t>FC</a:t>
              </a:r>
            </a:p>
          </p:txBody>
        </p:sp>
      </p:grpSp>
      <p:grpSp>
        <p:nvGrpSpPr>
          <p:cNvPr name="Group 294" id="294"/>
          <p:cNvGrpSpPr/>
          <p:nvPr/>
        </p:nvGrpSpPr>
        <p:grpSpPr>
          <a:xfrm rot="0">
            <a:off x="11923776" y="10369296"/>
            <a:ext cx="6400800" cy="420624"/>
            <a:chOff x="0" y="0"/>
            <a:chExt cx="8534400" cy="560832"/>
          </a:xfrm>
        </p:grpSpPr>
        <p:sp>
          <p:nvSpPr>
            <p:cNvPr name="Freeform 295" id="295"/>
            <p:cNvSpPr/>
            <p:nvPr/>
          </p:nvSpPr>
          <p:spPr>
            <a:xfrm flipH="false" flipV="false" rot="0">
              <a:off x="0" y="0"/>
              <a:ext cx="8534400" cy="560832"/>
            </a:xfrm>
            <a:custGeom>
              <a:avLst/>
              <a:gdLst/>
              <a:ahLst/>
              <a:cxnLst/>
              <a:rect r="r" b="b" t="t" l="l"/>
              <a:pathLst>
                <a:path h="560832" w="8534400">
                  <a:moveTo>
                    <a:pt x="0" y="0"/>
                  </a:moveTo>
                  <a:lnTo>
                    <a:pt x="8534400" y="0"/>
                  </a:lnTo>
                  <a:lnTo>
                    <a:pt x="8534400" y="560832"/>
                  </a:lnTo>
                  <a:lnTo>
                    <a:pt x="0" y="560832"/>
                  </a:lnTo>
                  <a:close/>
                </a:path>
              </a:pathLst>
            </a:custGeom>
            <a:blipFill>
              <a:blip r:embed="rId3">
                <a:alphaModFix amt="0"/>
              </a:blip>
              <a:stretch>
                <a:fillRect l="0" t="-246511" r="0" b="-246511"/>
              </a:stretch>
            </a:blipFill>
          </p:spPr>
        </p:sp>
        <p:sp>
          <p:nvSpPr>
            <p:cNvPr name="TextBox 296" id="296"/>
            <p:cNvSpPr txBox="true"/>
            <p:nvPr/>
          </p:nvSpPr>
          <p:spPr>
            <a:xfrm>
              <a:off x="0" y="-38100"/>
              <a:ext cx="8534400" cy="598932"/>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Fully Connected (layer)</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DAHE-kePWEs</dc:identifier>
  <dcterms:modified xsi:type="dcterms:W3CDTF">2011-08-01T06:04:30Z</dcterms:modified>
  <cp:revision>1</cp:revision>
  <dc:title>TSFE.pptx</dc:title>
</cp:coreProperties>
</file>